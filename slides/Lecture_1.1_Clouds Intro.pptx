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3" r:id="rId3"/>
    <p:sldId id="284" r:id="rId4"/>
    <p:sldId id="285" r:id="rId5"/>
    <p:sldId id="286" r:id="rId6"/>
    <p:sldId id="287" r:id="rId7"/>
    <p:sldId id="259" r:id="rId8"/>
    <p:sldId id="260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258" r:id="rId25"/>
    <p:sldId id="261" r:id="rId26"/>
    <p:sldId id="264" r:id="rId2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3474" y="1532366"/>
            <a:ext cx="189357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62308"/>
            <a:ext cx="8193500" cy="3352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motherboard.vice.com/read/bitcoin-could-consume-as-much-electricity-as-denmark-by-2020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3474" y="1532366"/>
            <a:ext cx="718892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Cloud</a:t>
            </a:r>
            <a:r>
              <a:rPr lang="en-US" spc="100" dirty="0"/>
              <a:t> Computing Intro</a:t>
            </a:r>
            <a:endParaRPr spc="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147732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Intro to Cloud Computing: Agenda</a:t>
            </a:r>
            <a:endParaRPr dirty="0"/>
          </a:p>
        </p:txBody>
      </p:sp>
      <p:sp>
        <p:nvSpPr>
          <p:cNvPr id="14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381000" y="495699"/>
            <a:ext cx="7150894" cy="4175630"/>
          </a:xfrm>
          <a:prstGeom prst="rect">
            <a:avLst/>
          </a:prstGeom>
        </p:spPr>
        <p:txBody>
          <a:bodyPr/>
          <a:lstStyle/>
          <a:p>
            <a:pPr marL="514350" indent="-514350" defTabSz="678941">
              <a:spcBef>
                <a:spcPts val="675"/>
              </a:spcBef>
              <a:buFont typeface="+mj-lt"/>
              <a:buAutoNum type="arabicPeriod"/>
              <a:defRPr sz="2772">
                <a:solidFill>
                  <a:srgbClr val="FF9900"/>
                </a:solidFill>
              </a:defRPr>
            </a:pPr>
            <a:r>
              <a:rPr dirty="0"/>
              <a:t>Computing at scale</a:t>
            </a:r>
          </a:p>
          <a:p>
            <a:pPr marL="682371" lvl="1" indent="-342900" defTabSz="678941">
              <a:spcBef>
                <a:spcPts val="300"/>
              </a:spcBef>
              <a:buFont typeface="Arial" panose="020B0604020202020204" pitchFamily="34" charset="0"/>
              <a:buChar char="•"/>
              <a:defRPr sz="2376">
                <a:solidFill>
                  <a:srgbClr val="FF9900"/>
                </a:solidFill>
              </a:defRPr>
            </a:pPr>
            <a:r>
              <a:rPr dirty="0">
                <a:solidFill>
                  <a:schemeClr val="tx1"/>
                </a:solidFill>
              </a:rPr>
              <a:t>The need for scalability; scale of current services</a:t>
            </a:r>
          </a:p>
          <a:p>
            <a:pPr marL="682371" lvl="1" indent="-342900" defTabSz="678941">
              <a:spcBef>
                <a:spcPts val="300"/>
              </a:spcBef>
              <a:buFont typeface="Arial" panose="020B0604020202020204" pitchFamily="34" charset="0"/>
              <a:buChar char="•"/>
              <a:defRPr sz="2376"/>
            </a:pPr>
            <a:r>
              <a:rPr dirty="0"/>
              <a:t>Scaling up: From PCs to data centers</a:t>
            </a:r>
          </a:p>
          <a:p>
            <a:pPr marL="682371" lvl="1" indent="-342900" defTabSz="678941">
              <a:spcBef>
                <a:spcPts val="300"/>
              </a:spcBef>
              <a:buFont typeface="Arial" panose="020B0604020202020204" pitchFamily="34" charset="0"/>
              <a:buChar char="•"/>
              <a:defRPr sz="2376"/>
            </a:pPr>
            <a:r>
              <a:rPr dirty="0"/>
              <a:t>Problems with 'classical' scaling techniques </a:t>
            </a:r>
          </a:p>
          <a:p>
            <a:pPr marL="514350" indent="-514350" defTabSz="678941">
              <a:spcBef>
                <a:spcPts val="675"/>
              </a:spcBef>
              <a:buFont typeface="+mj-lt"/>
              <a:buAutoNum type="arabicPeriod"/>
              <a:defRPr sz="2772"/>
            </a:pPr>
            <a:r>
              <a:rPr dirty="0"/>
              <a:t>Utility computing and cloud computing</a:t>
            </a:r>
          </a:p>
          <a:p>
            <a:pPr marL="682371" lvl="1" indent="-342900" defTabSz="678941">
              <a:spcBef>
                <a:spcPts val="300"/>
              </a:spcBef>
              <a:buFont typeface="Arial" panose="020B0604020202020204" pitchFamily="34" charset="0"/>
              <a:buChar char="•"/>
              <a:defRPr sz="2376"/>
            </a:pPr>
            <a:r>
              <a:rPr dirty="0"/>
              <a:t>What are utility computing and cloud computing?</a:t>
            </a:r>
          </a:p>
          <a:p>
            <a:pPr marL="682371" lvl="1" indent="-342900" defTabSz="678941">
              <a:spcBef>
                <a:spcPts val="300"/>
              </a:spcBef>
              <a:buFont typeface="Arial" panose="020B0604020202020204" pitchFamily="34" charset="0"/>
              <a:buChar char="•"/>
              <a:defRPr sz="2376"/>
            </a:pPr>
            <a:r>
              <a:rPr dirty="0"/>
              <a:t>What kinds of clouds exist today?</a:t>
            </a:r>
          </a:p>
          <a:p>
            <a:pPr marL="682371" lvl="1" indent="-342900" defTabSz="678941">
              <a:spcBef>
                <a:spcPts val="300"/>
              </a:spcBef>
              <a:buFont typeface="Arial" panose="020B0604020202020204" pitchFamily="34" charset="0"/>
              <a:buChar char="•"/>
              <a:defRPr sz="2376"/>
            </a:pPr>
            <a:r>
              <a:rPr dirty="0"/>
              <a:t>What kinds of applications run on the cloud?</a:t>
            </a:r>
          </a:p>
          <a:p>
            <a:pPr marL="682371" lvl="1" indent="-342900" defTabSz="678941">
              <a:spcBef>
                <a:spcPts val="300"/>
              </a:spcBef>
              <a:buFont typeface="Arial" panose="020B0604020202020204" pitchFamily="34" charset="0"/>
              <a:buChar char="•"/>
              <a:defRPr sz="2376"/>
            </a:pPr>
            <a:r>
              <a:rPr dirty="0"/>
              <a:t>Virtualization: How clouds work 'under the hood'</a:t>
            </a:r>
          </a:p>
          <a:p>
            <a:pPr marL="682371" lvl="1" indent="-342900" defTabSz="678941">
              <a:spcBef>
                <a:spcPts val="300"/>
              </a:spcBef>
              <a:buFont typeface="Arial" panose="020B0604020202020204" pitchFamily="34" charset="0"/>
              <a:buChar char="•"/>
              <a:defRPr sz="2376"/>
            </a:pPr>
            <a:r>
              <a:rPr dirty="0"/>
              <a:t>Some cloud computing challenges</a:t>
            </a:r>
          </a:p>
        </p:txBody>
      </p:sp>
      <p:sp>
        <p:nvSpPr>
          <p:cNvPr id="14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2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0E9442D-D56A-02D3-DD5F-76E6D2B8F014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Intro to Cloud Computing: Agenda</a:t>
            </a:r>
            <a:endParaRPr lang="en-US" sz="2800" kern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1477328"/>
          </a:xfrm>
          <a:prstGeom prst="rect">
            <a:avLst/>
          </a:prstGeom>
        </p:spPr>
        <p:txBody>
          <a:bodyPr/>
          <a:lstStyle/>
          <a:p>
            <a:r>
              <a:t>How many users and objects?</a:t>
            </a:r>
          </a:p>
        </p:txBody>
      </p:sp>
      <p:sp>
        <p:nvSpPr>
          <p:cNvPr id="15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1107996"/>
          </a:xfrm>
          <a:prstGeom prst="rect">
            <a:avLst/>
          </a:prstGeom>
        </p:spPr>
        <p:txBody>
          <a:bodyPr/>
          <a:lstStyle/>
          <a:p>
            <a:r>
              <a:rPr dirty="0"/>
              <a:t>Flickr has 10 billion photos</a:t>
            </a:r>
          </a:p>
          <a:p>
            <a:r>
              <a:rPr dirty="0"/>
              <a:t>Facebook has 1.4 billion daily active users</a:t>
            </a:r>
          </a:p>
          <a:p>
            <a:r>
              <a:rPr dirty="0"/>
              <a:t>Google is serving 3.5 billion queries/day on over 130 trillion pages</a:t>
            </a:r>
          </a:p>
          <a:p>
            <a:r>
              <a:rPr dirty="0"/>
              <a:t>5 billion videos/day watched on YouTube</a:t>
            </a:r>
          </a:p>
        </p:txBody>
      </p:sp>
      <p:sp>
        <p:nvSpPr>
          <p:cNvPr id="15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3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0929954-6923-DEF3-71CF-CB62A5C9A5B7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How many users and objects?</a:t>
            </a:r>
            <a:endParaRPr lang="en-US" sz="2800" kern="0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build="p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6370737" cy="738664"/>
          </a:xfrm>
          <a:prstGeom prst="rect">
            <a:avLst/>
          </a:prstGeom>
        </p:spPr>
        <p:txBody>
          <a:bodyPr/>
          <a:lstStyle/>
          <a:p>
            <a:r>
              <a:rPr dirty="0"/>
              <a:t>How much data?</a:t>
            </a:r>
          </a:p>
        </p:txBody>
      </p:sp>
      <p:sp>
        <p:nvSpPr>
          <p:cNvPr id="15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353140" y="953550"/>
            <a:ext cx="7091075" cy="285905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rPr sz="2400" dirty="0"/>
              <a:t>Modern applications use massive data: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sz="1600" dirty="0"/>
              <a:t>Rendering 'Avatar' movie required &gt;1 petabyte of storage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sz="1600" dirty="0"/>
              <a:t>eBay has &gt;6.5 petabytes of user data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sz="1600" dirty="0"/>
              <a:t>CERN's LHC will produce about 15 petabytes of data per year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sz="1600" dirty="0"/>
              <a:t>In 2008, Google processed 20 petabytes per day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sz="1600" dirty="0"/>
              <a:t>German Climate computing center dimensioned for 60 petabytes of climate data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sz="1600" dirty="0"/>
              <a:t>Google now designing for 1 exabyte of storage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sz="1600" dirty="0"/>
              <a:t>NSA Utah Data Center is said to have 5 zettabyte </a:t>
            </a:r>
          </a:p>
          <a:p>
            <a:pPr>
              <a:lnSpc>
                <a:spcPct val="81000"/>
              </a:lnSpc>
            </a:pPr>
            <a:r>
              <a:rPr sz="2400" dirty="0"/>
              <a:t>How much is a zettabyte?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sz="1600" dirty="0"/>
              <a:t>1,000,000,000,000,000,000,000 bytes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sz="1600" dirty="0"/>
              <a:t>A stack of 1TB hard disks that is 25,400 km high</a:t>
            </a:r>
          </a:p>
        </p:txBody>
      </p:sp>
      <p:sp>
        <p:nvSpPr>
          <p:cNvPr id="15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4</a:t>
            </a:fld>
            <a:endParaRPr/>
          </a:p>
        </p:txBody>
      </p:sp>
      <p:pic>
        <p:nvPicPr>
          <p:cNvPr id="157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055" y="4034887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349" y="3756281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11" y="3470531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474" y="3170494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630" y="2920462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755" y="2613281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Picture 11" descr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598" y="2341818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Picture 12" descr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180" y="2056068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13" descr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36" y="1798893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14" descr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330" y="1477424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768" y="1205962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Picture 16" descr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186" y="963075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93" y="713044"/>
            <a:ext cx="604915" cy="50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Picture 18" descr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043" y="427293"/>
            <a:ext cx="604915" cy="50006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Group 22"/>
          <p:cNvGrpSpPr/>
          <p:nvPr/>
        </p:nvGrpSpPr>
        <p:grpSpPr>
          <a:xfrm>
            <a:off x="8670742" y="373432"/>
            <a:ext cx="230830" cy="4121945"/>
            <a:chOff x="-214" y="0"/>
            <a:chExt cx="307771" cy="5495926"/>
          </a:xfrm>
        </p:grpSpPr>
        <p:sp>
          <p:nvSpPr>
            <p:cNvPr id="171" name="Straight Arrow Connector 20"/>
            <p:cNvSpPr/>
            <p:nvPr/>
          </p:nvSpPr>
          <p:spPr>
            <a:xfrm flipV="1">
              <a:off x="31712" y="0"/>
              <a:ext cx="1589" cy="5495926"/>
            </a:xfrm>
            <a:prstGeom prst="line">
              <a:avLst/>
            </a:prstGeom>
            <a:noFill/>
            <a:ln w="19050" cap="flat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72" name="TextBox 21"/>
            <p:cNvSpPr txBox="1"/>
            <p:nvPr/>
          </p:nvSpPr>
          <p:spPr>
            <a:xfrm rot="5400000">
              <a:off x="-313549" y="2493299"/>
              <a:ext cx="934441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89" tIns="34289" rIns="34289" bIns="34289" numCol="1" anchor="t">
              <a:spAutoFit/>
            </a:bodyPr>
            <a:lstStyle>
              <a:lvl1pPr>
                <a:spcBef>
                  <a:spcPts val="300"/>
                </a:spcBef>
                <a:defRPr sz="1400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rPr sz="1050"/>
                <a:t>25,400 km</a:t>
              </a:r>
            </a:p>
          </p:txBody>
        </p:sp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3477E932-3999-E95D-A598-E32B0A5997BC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How much data?</a:t>
            </a:r>
            <a:endParaRPr lang="en-US" sz="2800" kern="0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8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1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4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7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3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6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9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build="p" animBg="1" advAuto="0"/>
      <p:bldP spid="157" grpId="0" animBg="1" advAuto="0"/>
      <p:bldP spid="158" grpId="0" animBg="1" advAuto="0"/>
      <p:bldP spid="159" grpId="0" animBg="1" advAuto="0"/>
      <p:bldP spid="160" grpId="0" animBg="1" advAuto="0"/>
      <p:bldP spid="161" grpId="0" animBg="1" advAuto="0"/>
      <p:bldP spid="162" grpId="0" animBg="1" advAuto="0"/>
      <p:bldP spid="163" grpId="0" animBg="1" advAuto="0"/>
      <p:bldP spid="164" grpId="0" animBg="1" advAuto="0"/>
      <p:bldP spid="165" grpId="0" animBg="1" advAuto="0"/>
      <p:bldP spid="166" grpId="0" animBg="1" advAuto="0"/>
      <p:bldP spid="167" grpId="0" animBg="1" advAuto="0"/>
      <p:bldP spid="168" grpId="0" animBg="1" advAuto="0"/>
      <p:bldP spid="169" grpId="0" animBg="1" advAuto="0"/>
      <p:bldP spid="170" grpId="0" animBg="1" advAuto="0"/>
      <p:bldP spid="173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78022" y="1150144"/>
            <a:ext cx="7856377" cy="350692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rPr dirty="0"/>
              <a:t>No single computer can process that much data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dirty="0"/>
              <a:t>Need many computers!</a:t>
            </a:r>
          </a:p>
          <a:p>
            <a:pPr>
              <a:lnSpc>
                <a:spcPct val="81000"/>
              </a:lnSpc>
            </a:pPr>
            <a:r>
              <a:rPr dirty="0"/>
              <a:t>How many computers do</a:t>
            </a:r>
            <a:r>
              <a:rPr lang="en-US" dirty="0"/>
              <a:t> </a:t>
            </a:r>
            <a:r>
              <a:rPr dirty="0"/>
              <a:t>modern services need?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dirty="0"/>
              <a:t>Facebook is thought to have more than 60,000 servers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dirty="0"/>
              <a:t>1&amp;1 Internet has over 70,000 servers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dirty="0"/>
              <a:t>Akamai has 95,000 servers in 71 countries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dirty="0"/>
              <a:t>Intel has ~100,000 servers in 97 data centers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dirty="0"/>
              <a:t>Microsoft reportedly had at least 200,000 servers in 2008 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dirty="0"/>
              <a:t>Google is thought to have more than 1 million servers, is planning for 10 million</a:t>
            </a:r>
          </a:p>
        </p:txBody>
      </p:sp>
      <p:sp>
        <p:nvSpPr>
          <p:cNvPr id="17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5</a:t>
            </a:fld>
            <a:endParaRPr/>
          </a:p>
        </p:txBody>
      </p:sp>
      <p:pic>
        <p:nvPicPr>
          <p:cNvPr id="178" name="Picture 22" descr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080" y="313730"/>
            <a:ext cx="2178845" cy="141856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E37852AE-3A21-FE79-3574-75C5F337A07F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How much computation?</a:t>
            </a:r>
            <a:endParaRPr lang="en-US" sz="2800" kern="0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t>Why should I care?</a:t>
            </a:r>
          </a:p>
        </p:txBody>
      </p:sp>
      <p:sp>
        <p:nvSpPr>
          <p:cNvPr id="18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89744" y="1071564"/>
            <a:ext cx="7832862" cy="395794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200"/>
            </a:pPr>
            <a:r>
              <a:rPr dirty="0"/>
              <a:t>Suppose you want to build the next Google</a:t>
            </a:r>
            <a:endParaRPr sz="1875" dirty="0"/>
          </a:p>
          <a:p>
            <a:pPr>
              <a:lnSpc>
                <a:spcPct val="81000"/>
              </a:lnSpc>
              <a:defRPr sz="2200"/>
            </a:pPr>
            <a:r>
              <a:rPr dirty="0"/>
              <a:t>How do you...</a:t>
            </a:r>
            <a:endParaRPr sz="1875" dirty="0"/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200"/>
            </a:pPr>
            <a:r>
              <a:rPr dirty="0"/>
              <a:t>... download and store billions of web pages and images?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200"/>
            </a:pPr>
            <a:r>
              <a:rPr dirty="0"/>
              <a:t>... quickly find the pages that contain a given set of terms?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200"/>
            </a:pPr>
            <a:r>
              <a:rPr dirty="0"/>
              <a:t>... find the pages that are most relevant to a given search?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200"/>
            </a:pPr>
            <a:r>
              <a:rPr dirty="0"/>
              <a:t>... answer 1.2 billion queries of this type </a:t>
            </a:r>
            <a:r>
              <a:rPr u="sng" dirty="0"/>
              <a:t>every day</a:t>
            </a:r>
            <a:r>
              <a:rPr dirty="0"/>
              <a:t>?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1600"/>
            </a:pPr>
            <a:endParaRPr dirty="0"/>
          </a:p>
          <a:p>
            <a:pPr>
              <a:lnSpc>
                <a:spcPct val="81000"/>
              </a:lnSpc>
              <a:defRPr sz="2200"/>
            </a:pPr>
            <a:r>
              <a:rPr dirty="0"/>
              <a:t>Suppose you want to build the next Facebook</a:t>
            </a:r>
            <a:endParaRPr sz="1875" dirty="0"/>
          </a:p>
          <a:p>
            <a:pPr>
              <a:lnSpc>
                <a:spcPct val="81000"/>
              </a:lnSpc>
              <a:defRPr sz="2200"/>
            </a:pPr>
            <a:r>
              <a:rPr dirty="0"/>
              <a:t>How do you...</a:t>
            </a:r>
            <a:endParaRPr sz="1875" dirty="0"/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200"/>
            </a:pPr>
            <a:r>
              <a:rPr dirty="0"/>
              <a:t>... store the profiles of over 500 million users?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200"/>
            </a:pPr>
            <a:r>
              <a:rPr dirty="0"/>
              <a:t>... avoid losing any of them?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200"/>
            </a:pPr>
            <a:r>
              <a:rPr dirty="0"/>
              <a:t>... find out which users might want to be friends?</a:t>
            </a:r>
          </a:p>
          <a:p>
            <a:pPr marL="342900" lvl="1">
              <a:lnSpc>
                <a:spcPct val="81000"/>
              </a:lnSpc>
              <a:spcBef>
                <a:spcPts val="375"/>
              </a:spcBef>
              <a:defRPr sz="2200"/>
            </a:pPr>
            <a:endParaRPr dirty="0"/>
          </a:p>
        </p:txBody>
      </p:sp>
      <p:sp>
        <p:nvSpPr>
          <p:cNvPr id="18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6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8CD4A61-31C0-C89F-023B-A98EB0AF654B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Why should I care?</a:t>
            </a:r>
            <a:endParaRPr lang="en-US" sz="2800" kern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758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0" dirty="0">
                <a:solidFill>
                  <a:srgbClr val="202729"/>
                </a:solidFill>
              </a:rPr>
              <a:t>Why</a:t>
            </a:r>
            <a:r>
              <a:rPr sz="2800" spc="-150" dirty="0">
                <a:solidFill>
                  <a:srgbClr val="202729"/>
                </a:solidFill>
              </a:rPr>
              <a:t> </a:t>
            </a:r>
            <a:r>
              <a:rPr sz="2800" spc="75" dirty="0">
                <a:solidFill>
                  <a:srgbClr val="202729"/>
                </a:solidFill>
              </a:rPr>
              <a:t>use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dirty="0">
                <a:solidFill>
                  <a:srgbClr val="202729"/>
                </a:solidFill>
              </a:rPr>
              <a:t>a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35" dirty="0">
                <a:solidFill>
                  <a:srgbClr val="202729"/>
                </a:solidFill>
              </a:rPr>
              <a:t>cloud?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035457"/>
            <a:ext cx="8592551" cy="36651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59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b="1" spc="-45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Reliability</a:t>
            </a:r>
            <a:endParaRPr dirty="0">
              <a:latin typeface="Trebuchet MS" panose="020B0603020202020204" pitchFamily="34" charset="0"/>
              <a:cs typeface="Tahoma"/>
            </a:endParaRPr>
          </a:p>
          <a:p>
            <a:pPr marL="836294" lvl="1" indent="-351790">
              <a:lnSpc>
                <a:spcPct val="100000"/>
              </a:lnSpc>
              <a:spcBef>
                <a:spcPts val="32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pc="-12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It’s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someone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else’s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responsibility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fix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broken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0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machines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dirty="0">
              <a:latin typeface="Trebuchet MS" panose="020B0603020202020204" pitchFamily="34" charset="0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pc="-12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Chea</a:t>
            </a:r>
            <a:r>
              <a:rPr spc="-114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p</a:t>
            </a:r>
            <a:r>
              <a:rPr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0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an</a:t>
            </a:r>
            <a:r>
              <a:rPr spc="-9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d</a:t>
            </a:r>
            <a:r>
              <a:rPr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14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On-Deman</a:t>
            </a:r>
            <a:r>
              <a:rPr spc="-10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d</a:t>
            </a:r>
            <a:r>
              <a:rPr spc="-14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b="1" spc="-45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Scalability</a:t>
            </a:r>
            <a:endParaRPr dirty="0">
              <a:latin typeface="Trebuchet MS" panose="020B0603020202020204" pitchFamily="34" charset="0"/>
              <a:cs typeface="Tahoma"/>
            </a:endParaRPr>
          </a:p>
          <a:p>
            <a:pPr marL="836294" lvl="1" indent="-351790">
              <a:lnSpc>
                <a:spcPct val="100000"/>
              </a:lnSpc>
              <a:spcBef>
                <a:spcPts val="32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pc="-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Pricing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is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per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14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hour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or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second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8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instead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4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2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sunk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0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hardware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cost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445"/>
              </a:spcBef>
              <a:buSzPct val="112500"/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pc="-11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Ca</a:t>
            </a:r>
            <a:r>
              <a:rPr spc="-10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n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9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creat</a:t>
            </a:r>
            <a:r>
              <a:rPr spc="-10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e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an</a:t>
            </a:r>
            <a:r>
              <a:rPr spc="-8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d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destro</a:t>
            </a:r>
            <a:r>
              <a:rPr spc="-9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y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8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node</a:t>
            </a:r>
            <a:r>
              <a:rPr spc="-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s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on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0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</a:t>
            </a:r>
            <a:r>
              <a:rPr spc="-13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i="1" spc="-10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pe</a:t>
            </a:r>
            <a:r>
              <a:rPr i="1" spc="-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r</a:t>
            </a:r>
            <a:r>
              <a:rPr i="1"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i="1" spc="-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secon</a:t>
            </a:r>
            <a:r>
              <a:rPr i="1" spc="-8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d</a:t>
            </a:r>
            <a:r>
              <a:rPr i="1"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8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basis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1293495" lvl="2" indent="-351790">
              <a:lnSpc>
                <a:spcPct val="100000"/>
              </a:lnSpc>
              <a:spcBef>
                <a:spcPts val="365"/>
              </a:spcBef>
              <a:buFont typeface="Tahoma"/>
              <a:buChar char="■"/>
              <a:tabLst>
                <a:tab pos="1293495" algn="l"/>
                <a:tab pos="1294130" algn="l"/>
              </a:tabLst>
            </a:pPr>
            <a:r>
              <a:rPr spc="-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Many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clouds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3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(GCP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8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and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2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AWS)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recently</a:t>
            </a:r>
            <a:r>
              <a:rPr spc="-15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8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switched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9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per-second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4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billing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b="1" spc="-75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Hardwar</a:t>
            </a:r>
            <a:r>
              <a:rPr b="1" spc="-65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e</a:t>
            </a:r>
            <a:r>
              <a:rPr b="1" spc="-80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 </a:t>
            </a:r>
            <a:r>
              <a:rPr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Abstraction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836294" lvl="1" indent="-351790">
              <a:lnSpc>
                <a:spcPct val="100000"/>
              </a:lnSpc>
              <a:spcBef>
                <a:spcPts val="32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pc="-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Don’t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2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have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to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0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care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about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underlying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1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hardware,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3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just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1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the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8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specs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4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14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your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3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VM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har char="○"/>
            </a:pPr>
            <a:endParaRPr dirty="0">
              <a:latin typeface="Trebuchet MS" panose="020B0603020202020204" pitchFamily="34" charset="0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pc="-9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“Specia</a:t>
            </a:r>
            <a:r>
              <a:rPr spc="-5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l</a:t>
            </a:r>
            <a:r>
              <a:rPr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3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Sauce”</a:t>
            </a:r>
            <a:endParaRPr dirty="0">
              <a:latin typeface="Trebuchet MS" panose="020B0603020202020204" pitchFamily="34" charset="0"/>
              <a:cs typeface="Verdana"/>
            </a:endParaRPr>
          </a:p>
          <a:p>
            <a:pPr marL="836294" lvl="1" indent="-351790">
              <a:lnSpc>
                <a:spcPct val="100000"/>
              </a:lnSpc>
              <a:spcBef>
                <a:spcPts val="32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Proprietary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0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features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(i.e.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8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AWS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0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DynamoDB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or</a:t>
            </a:r>
            <a:r>
              <a:rPr spc="-1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Google</a:t>
            </a:r>
            <a:r>
              <a:rPr spc="-1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pc="-11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BigQuery)</a:t>
            </a:r>
            <a:endParaRPr dirty="0">
              <a:latin typeface="Trebuchet MS" panose="020B060302020202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265" y="590550"/>
            <a:ext cx="7975469" cy="382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147732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Intro to Cloud Computing: Agenda</a:t>
            </a:r>
            <a:endParaRPr dirty="0"/>
          </a:p>
        </p:txBody>
      </p:sp>
      <p:sp>
        <p:nvSpPr>
          <p:cNvPr id="18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381000" y="602257"/>
            <a:ext cx="7111790" cy="4175630"/>
          </a:xfrm>
          <a:prstGeom prst="rect">
            <a:avLst/>
          </a:prstGeom>
        </p:spPr>
        <p:txBody>
          <a:bodyPr/>
          <a:lstStyle/>
          <a:p>
            <a:pPr marL="169735" indent="-169735" defTabSz="678941">
              <a:spcBef>
                <a:spcPts val="675"/>
              </a:spcBef>
              <a:defRPr sz="2772"/>
            </a:pPr>
            <a:r>
              <a:rPr dirty="0"/>
              <a:t>Computing at scale</a:t>
            </a:r>
          </a:p>
          <a:p>
            <a:pPr marL="509206" lvl="1" indent="-169735" defTabSz="678941">
              <a:spcBef>
                <a:spcPts val="300"/>
              </a:spcBef>
              <a:defRPr sz="2376"/>
            </a:pPr>
            <a:r>
              <a:rPr dirty="0"/>
              <a:t>The need for scalability; scale of current services</a:t>
            </a:r>
          </a:p>
          <a:p>
            <a:pPr marL="509206" lvl="1" indent="-169735" defTabSz="678941">
              <a:spcBef>
                <a:spcPts val="300"/>
              </a:spcBef>
              <a:defRPr sz="2376">
                <a:solidFill>
                  <a:srgbClr val="FF9900"/>
                </a:solidFill>
              </a:defRPr>
            </a:pPr>
            <a:r>
              <a:rPr dirty="0"/>
              <a:t>Scaling up: From PCs to data centers</a:t>
            </a:r>
          </a:p>
          <a:p>
            <a:pPr marL="509206" lvl="1" indent="-169735" defTabSz="678941">
              <a:spcBef>
                <a:spcPts val="300"/>
              </a:spcBef>
              <a:defRPr sz="2376"/>
            </a:pPr>
            <a:r>
              <a:rPr dirty="0"/>
              <a:t>Problems with 'classical' scaling techniques </a:t>
            </a:r>
            <a:endParaRPr lang="en-US" dirty="0"/>
          </a:p>
          <a:p>
            <a:pPr marL="169735" indent="-169735" defTabSz="678941">
              <a:spcBef>
                <a:spcPts val="675"/>
              </a:spcBef>
              <a:defRPr sz="2772"/>
            </a:pPr>
            <a:r>
              <a:rPr lang="en-US" dirty="0"/>
              <a:t>Utility computing and cloud computing</a:t>
            </a:r>
          </a:p>
          <a:p>
            <a:pPr marL="509206" lvl="1" indent="-169735" defTabSz="678941">
              <a:spcBef>
                <a:spcPts val="300"/>
              </a:spcBef>
              <a:defRPr sz="2376"/>
            </a:pPr>
            <a:r>
              <a:rPr dirty="0"/>
              <a:t>What are utility computing and cloud computing?</a:t>
            </a:r>
          </a:p>
          <a:p>
            <a:pPr marL="509206" lvl="1" indent="-169735" defTabSz="678941">
              <a:spcBef>
                <a:spcPts val="300"/>
              </a:spcBef>
              <a:defRPr sz="2376"/>
            </a:pPr>
            <a:r>
              <a:rPr dirty="0"/>
              <a:t>What kinds of clouds exist today?</a:t>
            </a:r>
          </a:p>
          <a:p>
            <a:pPr marL="509206" lvl="1" indent="-169735" defTabSz="678941">
              <a:spcBef>
                <a:spcPts val="300"/>
              </a:spcBef>
              <a:defRPr sz="2376"/>
            </a:pPr>
            <a:r>
              <a:rPr dirty="0"/>
              <a:t>What kinds of applications run on the cloud?</a:t>
            </a:r>
          </a:p>
          <a:p>
            <a:pPr marL="509206" lvl="1" indent="-169735" defTabSz="678941">
              <a:spcBef>
                <a:spcPts val="300"/>
              </a:spcBef>
              <a:defRPr sz="2376"/>
            </a:pPr>
            <a:r>
              <a:rPr dirty="0"/>
              <a:t>Virtualization: How clouds work 'under the hood'</a:t>
            </a:r>
          </a:p>
          <a:p>
            <a:pPr marL="509206" lvl="1" indent="-169735" defTabSz="678941">
              <a:spcBef>
                <a:spcPts val="300"/>
              </a:spcBef>
              <a:defRPr sz="2376"/>
            </a:pPr>
            <a:r>
              <a:rPr dirty="0"/>
              <a:t>Some cloud computing challenges</a:t>
            </a:r>
          </a:p>
        </p:txBody>
      </p:sp>
      <p:sp>
        <p:nvSpPr>
          <p:cNvPr id="18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9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5AE2D09-584F-F710-D4EC-628C123DCB86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Intro to Cloud Computing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t>Scaling up</a:t>
            </a:r>
          </a:p>
        </p:txBody>
      </p:sp>
      <p:sp>
        <p:nvSpPr>
          <p:cNvPr id="189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856370" y="3164682"/>
            <a:ext cx="5858880" cy="1560620"/>
          </a:xfrm>
          <a:prstGeom prst="rect">
            <a:avLst/>
          </a:prstGeom>
        </p:spPr>
        <p:txBody>
          <a:bodyPr/>
          <a:lstStyle/>
          <a:p>
            <a:pPr marL="164591" indent="-164591" defTabSz="658367">
              <a:lnSpc>
                <a:spcPct val="81000"/>
              </a:lnSpc>
              <a:spcBef>
                <a:spcPts val="675"/>
              </a:spcBef>
              <a:defRPr sz="2400"/>
            </a:pPr>
            <a:r>
              <a:t>What if one computer is not enough?</a:t>
            </a:r>
          </a:p>
          <a:p>
            <a:pPr marL="493776" lvl="1" indent="-164591" defTabSz="658367">
              <a:lnSpc>
                <a:spcPct val="81000"/>
              </a:lnSpc>
              <a:spcBef>
                <a:spcPts val="300"/>
              </a:spcBef>
              <a:defRPr sz="2112"/>
            </a:pPr>
            <a:r>
              <a:t>Buy a bigger (server-class) computer</a:t>
            </a:r>
            <a:br/>
            <a:endParaRPr/>
          </a:p>
          <a:p>
            <a:pPr marL="164591" indent="-164591" defTabSz="658367">
              <a:lnSpc>
                <a:spcPct val="81000"/>
              </a:lnSpc>
              <a:spcBef>
                <a:spcPts val="675"/>
              </a:spcBef>
              <a:defRPr sz="2400"/>
            </a:pPr>
            <a:r>
              <a:t>What if the biggest computer is not enough?</a:t>
            </a:r>
          </a:p>
          <a:p>
            <a:pPr marL="493776" lvl="1" indent="-164591" defTabSz="658367">
              <a:lnSpc>
                <a:spcPct val="81000"/>
              </a:lnSpc>
              <a:spcBef>
                <a:spcPts val="300"/>
              </a:spcBef>
              <a:defRPr sz="2112"/>
            </a:pPr>
            <a:r>
              <a:t>Buy many computers</a:t>
            </a:r>
          </a:p>
        </p:txBody>
      </p:sp>
      <p:sp>
        <p:nvSpPr>
          <p:cNvPr id="19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10</a:t>
            </a:fld>
            <a:endParaRPr/>
          </a:p>
        </p:txBody>
      </p:sp>
      <p:pic>
        <p:nvPicPr>
          <p:cNvPr id="191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1" y="1799987"/>
            <a:ext cx="640121" cy="7574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012941" y="1563269"/>
            <a:ext cx="937679" cy="10261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407542" y="448972"/>
            <a:ext cx="1521896" cy="2117128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TextBox 12"/>
          <p:cNvSpPr txBox="1"/>
          <p:nvPr/>
        </p:nvSpPr>
        <p:spPr>
          <a:xfrm>
            <a:off x="2707480" y="2657476"/>
            <a:ext cx="664370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PC</a:t>
            </a:r>
          </a:p>
        </p:txBody>
      </p:sp>
      <p:sp>
        <p:nvSpPr>
          <p:cNvPr id="195" name="TextBox 13"/>
          <p:cNvSpPr txBox="1"/>
          <p:nvPr/>
        </p:nvSpPr>
        <p:spPr>
          <a:xfrm>
            <a:off x="4043364" y="2643188"/>
            <a:ext cx="850106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Server</a:t>
            </a:r>
          </a:p>
        </p:txBody>
      </p:sp>
      <p:sp>
        <p:nvSpPr>
          <p:cNvPr id="196" name="TextBox 14"/>
          <p:cNvSpPr txBox="1"/>
          <p:nvPr/>
        </p:nvSpPr>
        <p:spPr>
          <a:xfrm>
            <a:off x="5800726" y="2650332"/>
            <a:ext cx="764381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Cluster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0E6C185-3CC7-59B9-64B5-16D1A9AD4283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Computing Size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build="p" bldLvl="5" animBg="1" advAuto="0"/>
      <p:bldP spid="192" grpId="0" animBg="1" advAuto="0"/>
      <p:bldP spid="193" grpId="0" animBg="1" advAuto="0"/>
      <p:bldP spid="195" grpId="0" animBg="1" advAuto="0"/>
      <p:bldP spid="196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09600" y="3664745"/>
            <a:ext cx="8534400" cy="1118255"/>
          </a:xfrm>
          <a:prstGeom prst="rect">
            <a:avLst/>
          </a:prstGeom>
        </p:spPr>
        <p:txBody>
          <a:bodyPr/>
          <a:lstStyle/>
          <a:p>
            <a:pPr marL="514350" lvl="1" indent="-171450">
              <a:spcBef>
                <a:spcPts val="375"/>
              </a:spcBef>
              <a:defRPr sz="2200"/>
            </a:pPr>
            <a:r>
              <a:rPr dirty="0"/>
              <a:t>Many similar machines, close interconnection (same room?)</a:t>
            </a:r>
          </a:p>
          <a:p>
            <a:pPr marL="514350" lvl="1" indent="-171450">
              <a:spcBef>
                <a:spcPts val="375"/>
              </a:spcBef>
              <a:defRPr sz="2200"/>
            </a:pPr>
            <a:r>
              <a:rPr dirty="0"/>
              <a:t>Often special, standardized hardware (racks, blades)</a:t>
            </a:r>
          </a:p>
          <a:p>
            <a:pPr marL="514350" lvl="1" indent="-171450">
              <a:spcBef>
                <a:spcPts val="375"/>
              </a:spcBef>
              <a:defRPr sz="2200"/>
            </a:pPr>
            <a:r>
              <a:rPr dirty="0"/>
              <a:t>Usually owned and used by a single organization</a:t>
            </a:r>
          </a:p>
        </p:txBody>
      </p:sp>
      <p:sp>
        <p:nvSpPr>
          <p:cNvPr id="20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11</a:t>
            </a:fld>
            <a:endParaRPr/>
          </a:p>
        </p:txBody>
      </p:sp>
      <p:pic>
        <p:nvPicPr>
          <p:cNvPr id="201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311" y="1152319"/>
            <a:ext cx="1755777" cy="244248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52" descr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2167848"/>
            <a:ext cx="1525191" cy="621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53" descr="Picture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269" y="1150144"/>
            <a:ext cx="1162050" cy="871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54" descr="Picture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2038" y="2959791"/>
            <a:ext cx="1132285" cy="583509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Straight Arrow Connector 56"/>
          <p:cNvSpPr/>
          <p:nvPr/>
        </p:nvSpPr>
        <p:spPr>
          <a:xfrm flipH="1" flipV="1">
            <a:off x="3078957" y="1485899"/>
            <a:ext cx="1738313" cy="100014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6" name="Straight Arrow Connector 58"/>
          <p:cNvSpPr/>
          <p:nvPr/>
        </p:nvSpPr>
        <p:spPr>
          <a:xfrm flipH="1" flipV="1">
            <a:off x="3093244" y="1771650"/>
            <a:ext cx="1545434" cy="700088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7" name="Straight Arrow Connector 60"/>
          <p:cNvSpPr/>
          <p:nvPr/>
        </p:nvSpPr>
        <p:spPr>
          <a:xfrm flipH="1">
            <a:off x="3100387" y="2478741"/>
            <a:ext cx="1543051" cy="357329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8" name="Straight Arrow Connector 63"/>
          <p:cNvSpPr/>
          <p:nvPr/>
        </p:nvSpPr>
        <p:spPr>
          <a:xfrm flipH="1">
            <a:off x="3086099" y="2478741"/>
            <a:ext cx="1557339" cy="35859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9" name="Straight Arrow Connector 65"/>
          <p:cNvSpPr/>
          <p:nvPr/>
        </p:nvSpPr>
        <p:spPr>
          <a:xfrm flipH="1" flipV="1">
            <a:off x="3093244" y="2286000"/>
            <a:ext cx="1550195" cy="192742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10" name="Straight Arrow Connector 68"/>
          <p:cNvSpPr/>
          <p:nvPr/>
        </p:nvSpPr>
        <p:spPr>
          <a:xfrm flipH="1" flipV="1">
            <a:off x="3086100" y="2035970"/>
            <a:ext cx="1557338" cy="442773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11" name="TextBox 76"/>
          <p:cNvSpPr txBox="1"/>
          <p:nvPr/>
        </p:nvSpPr>
        <p:spPr>
          <a:xfrm>
            <a:off x="6362382" y="2257425"/>
            <a:ext cx="1379158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Many </a:t>
            </a:r>
            <a:r>
              <a:rPr sz="1200">
                <a:solidFill>
                  <a:srgbClr val="FF9900"/>
                </a:solidFill>
              </a:rPr>
              <a:t>nodes/blades</a:t>
            </a:r>
            <a:br>
              <a:rPr sz="1200">
                <a:solidFill>
                  <a:srgbClr val="FF9900"/>
                </a:solidFill>
              </a:rPr>
            </a:br>
            <a:r>
              <a:rPr sz="1200"/>
              <a:t>(often identical)</a:t>
            </a:r>
          </a:p>
        </p:txBody>
      </p:sp>
      <p:sp>
        <p:nvSpPr>
          <p:cNvPr id="212" name="TextBox 77"/>
          <p:cNvSpPr txBox="1"/>
          <p:nvPr/>
        </p:nvSpPr>
        <p:spPr>
          <a:xfrm>
            <a:off x="6294407" y="1178719"/>
            <a:ext cx="1517080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Network </a:t>
            </a:r>
            <a:r>
              <a:rPr sz="1200">
                <a:solidFill>
                  <a:srgbClr val="FF9900"/>
                </a:solidFill>
              </a:rPr>
              <a:t>switch</a:t>
            </a:r>
            <a:br>
              <a:rPr sz="1200">
                <a:solidFill>
                  <a:srgbClr val="FF9900"/>
                </a:solidFill>
              </a:rPr>
            </a:br>
            <a:r>
              <a:rPr sz="1200"/>
              <a:t>(connects nodes with</a:t>
            </a:r>
            <a:br>
              <a:rPr sz="1200"/>
            </a:br>
            <a:r>
              <a:rPr sz="1200"/>
              <a:t>each other and </a:t>
            </a:r>
            <a:br>
              <a:rPr sz="1200"/>
            </a:br>
            <a:r>
              <a:rPr sz="1200"/>
              <a:t>with other racks)</a:t>
            </a:r>
          </a:p>
        </p:txBody>
      </p:sp>
      <p:sp>
        <p:nvSpPr>
          <p:cNvPr id="213" name="TextBox 78"/>
          <p:cNvSpPr txBox="1"/>
          <p:nvPr/>
        </p:nvSpPr>
        <p:spPr>
          <a:xfrm>
            <a:off x="6472960" y="3128963"/>
            <a:ext cx="125604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Storage device(s)</a:t>
            </a:r>
          </a:p>
        </p:txBody>
      </p:sp>
      <p:sp>
        <p:nvSpPr>
          <p:cNvPr id="214" name="Straight Arrow Connector 79"/>
          <p:cNvSpPr/>
          <p:nvPr/>
        </p:nvSpPr>
        <p:spPr>
          <a:xfrm flipH="1" flipV="1">
            <a:off x="3121819" y="3193255"/>
            <a:ext cx="1750220" cy="58291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15" name="TextBox 81"/>
          <p:cNvSpPr txBox="1"/>
          <p:nvPr/>
        </p:nvSpPr>
        <p:spPr>
          <a:xfrm>
            <a:off x="1685012" y="2221707"/>
            <a:ext cx="39170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Rack</a:t>
            </a:r>
          </a:p>
        </p:txBody>
      </p:sp>
      <p:sp>
        <p:nvSpPr>
          <p:cNvPr id="216" name="Straight Arrow Connector 82"/>
          <p:cNvSpPr/>
          <p:nvPr/>
        </p:nvSpPr>
        <p:spPr>
          <a:xfrm flipV="1">
            <a:off x="2114073" y="2343150"/>
            <a:ext cx="486253" cy="5515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06B9809E-39A8-BF89-8138-847B40C879C2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Characteristics of a cluster: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4A7185-806E-F9B9-B804-41EEC624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rPr dirty="0"/>
              <a:t>Power and cooling</a:t>
            </a:r>
          </a:p>
        </p:txBody>
      </p:sp>
      <p:sp>
        <p:nvSpPr>
          <p:cNvPr id="21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2328843"/>
          </a:xfrm>
          <a:prstGeom prst="rect">
            <a:avLst/>
          </a:prstGeom>
        </p:spPr>
        <p:txBody>
          <a:bodyPr/>
          <a:lstStyle/>
          <a:p>
            <a:pPr marL="514350" lvl="1" indent="-171450">
              <a:spcBef>
                <a:spcPts val="375"/>
              </a:spcBef>
              <a:defRPr sz="2400"/>
            </a:pPr>
            <a:r>
              <a:rPr dirty="0"/>
              <a:t>Example: 140 Watts per server</a:t>
            </a:r>
          </a:p>
          <a:p>
            <a:pPr marL="514350" lvl="1" indent="-171450">
              <a:spcBef>
                <a:spcPts val="375"/>
              </a:spcBef>
              <a:defRPr sz="2400"/>
            </a:pPr>
            <a:r>
              <a:rPr dirty="0"/>
              <a:t>Rack with 32 servers: 4.5kW (needs special power supply!)</a:t>
            </a:r>
          </a:p>
          <a:p>
            <a:pPr marL="514350" lvl="1" indent="-171450">
              <a:spcBef>
                <a:spcPts val="375"/>
              </a:spcBef>
              <a:defRPr sz="2400"/>
            </a:pPr>
            <a:r>
              <a:rPr dirty="0"/>
              <a:t>Most of this power is converted into heat</a:t>
            </a:r>
          </a:p>
          <a:p>
            <a:r>
              <a:rPr dirty="0"/>
              <a:t>Large clusters need massive cooling</a:t>
            </a:r>
          </a:p>
          <a:p>
            <a:pPr marL="514350" lvl="1" indent="-171450">
              <a:spcBef>
                <a:spcPts val="375"/>
              </a:spcBef>
              <a:defRPr sz="2400"/>
            </a:pPr>
            <a:r>
              <a:rPr dirty="0"/>
              <a:t>4.5kW is about 3 space heaters</a:t>
            </a:r>
          </a:p>
          <a:p>
            <a:pPr marL="514350" lvl="1" indent="-171450">
              <a:spcBef>
                <a:spcPts val="375"/>
              </a:spcBef>
              <a:defRPr sz="2400"/>
            </a:pPr>
            <a:r>
              <a:rPr dirty="0"/>
              <a:t>And that's just one rack!</a:t>
            </a:r>
          </a:p>
        </p:txBody>
      </p:sp>
      <p:sp>
        <p:nvSpPr>
          <p:cNvPr id="22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12</a:t>
            </a:fld>
            <a:endParaRPr/>
          </a:p>
        </p:txBody>
      </p:sp>
      <p:grpSp>
        <p:nvGrpSpPr>
          <p:cNvPr id="223" name="Group 7"/>
          <p:cNvGrpSpPr/>
          <p:nvPr/>
        </p:nvGrpSpPr>
        <p:grpSpPr>
          <a:xfrm>
            <a:off x="5301124" y="2819709"/>
            <a:ext cx="1505723" cy="735807"/>
            <a:chOff x="0" y="0"/>
            <a:chExt cx="2007630" cy="981075"/>
          </a:xfrm>
        </p:grpSpPr>
        <p:pic>
          <p:nvPicPr>
            <p:cNvPr id="221" name="Picture 5" descr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1"/>
              <a:ext cx="974579" cy="9745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2" name="Picture 6" descr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3052" y="6497"/>
              <a:ext cx="974579" cy="9745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24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870" y="2831725"/>
            <a:ext cx="730934" cy="73093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E55836BF-3B0E-62FE-96D0-B0BD43EA4059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Clusters need lots of power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build="p" animBg="1" advAuto="0"/>
      <p:bldP spid="223" grpId="0" animBg="1" advAuto="0"/>
      <p:bldP spid="224" grpId="0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t>Scaling up</a:t>
            </a:r>
          </a:p>
        </p:txBody>
      </p:sp>
      <p:sp>
        <p:nvSpPr>
          <p:cNvPr id="227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885950" y="3207545"/>
            <a:ext cx="5829300" cy="872483"/>
          </a:xfrm>
          <a:prstGeom prst="rect">
            <a:avLst/>
          </a:prstGeom>
        </p:spPr>
        <p:txBody>
          <a:bodyPr/>
          <a:lstStyle/>
          <a:p>
            <a:pPr marL="493776" lvl="1" indent="-164591" defTabSz="658367">
              <a:lnSpc>
                <a:spcPct val="81000"/>
              </a:lnSpc>
              <a:spcBef>
                <a:spcPts val="300"/>
              </a:spcBef>
              <a:defRPr sz="2112"/>
            </a:pPr>
            <a:r>
              <a:rPr dirty="0"/>
              <a:t>Build a separate building for the cluster</a:t>
            </a:r>
          </a:p>
          <a:p>
            <a:pPr marL="493776" lvl="1" indent="-164591" defTabSz="658367">
              <a:lnSpc>
                <a:spcPct val="81000"/>
              </a:lnSpc>
              <a:spcBef>
                <a:spcPts val="300"/>
              </a:spcBef>
              <a:defRPr sz="2112"/>
            </a:pPr>
            <a:r>
              <a:rPr dirty="0"/>
              <a:t>Building can have lots of cooling and power</a:t>
            </a:r>
          </a:p>
          <a:p>
            <a:pPr marL="493776" lvl="1" indent="-164591" defTabSz="658367">
              <a:lnSpc>
                <a:spcPct val="81000"/>
              </a:lnSpc>
              <a:spcBef>
                <a:spcPts val="300"/>
              </a:spcBef>
              <a:defRPr sz="2112"/>
            </a:pPr>
            <a:r>
              <a:rPr dirty="0"/>
              <a:t>Result: Data center</a:t>
            </a:r>
          </a:p>
        </p:txBody>
      </p:sp>
      <p:sp>
        <p:nvSpPr>
          <p:cNvPr id="22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13</a:t>
            </a:fld>
            <a:endParaRPr/>
          </a:p>
        </p:txBody>
      </p:sp>
      <p:pic>
        <p:nvPicPr>
          <p:cNvPr id="229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569" y="1911913"/>
            <a:ext cx="542291" cy="641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064268" y="1627142"/>
            <a:ext cx="859727" cy="9408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224428" y="1285808"/>
            <a:ext cx="919844" cy="1279606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TextBox 12"/>
          <p:cNvSpPr txBox="1"/>
          <p:nvPr/>
        </p:nvSpPr>
        <p:spPr>
          <a:xfrm>
            <a:off x="2200274" y="2657476"/>
            <a:ext cx="664370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PC</a:t>
            </a:r>
          </a:p>
        </p:txBody>
      </p:sp>
      <p:sp>
        <p:nvSpPr>
          <p:cNvPr id="233" name="TextBox 13"/>
          <p:cNvSpPr txBox="1"/>
          <p:nvPr/>
        </p:nvSpPr>
        <p:spPr>
          <a:xfrm>
            <a:off x="3064670" y="2643188"/>
            <a:ext cx="850106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Server</a:t>
            </a:r>
          </a:p>
        </p:txBody>
      </p:sp>
      <p:sp>
        <p:nvSpPr>
          <p:cNvPr id="234" name="TextBox 14"/>
          <p:cNvSpPr txBox="1"/>
          <p:nvPr/>
        </p:nvSpPr>
        <p:spPr>
          <a:xfrm>
            <a:off x="4314826" y="2650332"/>
            <a:ext cx="764381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Cluster</a:t>
            </a:r>
          </a:p>
        </p:txBody>
      </p:sp>
      <p:sp>
        <p:nvSpPr>
          <p:cNvPr id="235" name="TextBox 15"/>
          <p:cNvSpPr txBox="1"/>
          <p:nvPr/>
        </p:nvSpPr>
        <p:spPr>
          <a:xfrm>
            <a:off x="5993606" y="2650332"/>
            <a:ext cx="892970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Data center</a:t>
            </a:r>
          </a:p>
        </p:txBody>
      </p:sp>
      <p:pic>
        <p:nvPicPr>
          <p:cNvPr id="236" name="Picture 17" descr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7122" y="964406"/>
            <a:ext cx="1707357" cy="167163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8E44ACA-EFE2-FDBB-E37D-34F65E57B820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What if your cluster is too big (hot, power hungry) to fit into your office building?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build="p" bldLvl="5" animBg="1" advAuto="0"/>
      <p:bldP spid="235" grpId="0" animBg="1" advAuto="0"/>
      <p:bldP spid="236" grpId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1477328"/>
          </a:xfrm>
          <a:prstGeom prst="rect">
            <a:avLst/>
          </a:prstGeom>
        </p:spPr>
        <p:txBody>
          <a:bodyPr/>
          <a:lstStyle/>
          <a:p>
            <a:r>
              <a:t>What does a data center look like?</a:t>
            </a:r>
          </a:p>
        </p:txBody>
      </p:sp>
      <p:sp>
        <p:nvSpPr>
          <p:cNvPr id="239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016794" y="3714750"/>
            <a:ext cx="7578850" cy="731226"/>
          </a:xfrm>
          <a:prstGeom prst="rect">
            <a:avLst/>
          </a:prstGeom>
        </p:spPr>
        <p:txBody>
          <a:bodyPr/>
          <a:lstStyle>
            <a:lvl1pPr marL="226313" indent="-226313" defTabSz="905255">
              <a:spcBef>
                <a:spcPts val="900"/>
              </a:spcBef>
              <a:defRPr sz="2772"/>
            </a:lvl1pPr>
            <a:lvl2pPr marL="678941" indent="-226313" defTabSz="905255">
              <a:spcBef>
                <a:spcPts val="400"/>
              </a:spcBef>
              <a:defRPr sz="2376"/>
            </a:lvl2pPr>
          </a:lstStyle>
          <a:p>
            <a:pPr lvl="1"/>
            <a:r>
              <a:rPr dirty="0"/>
              <a:t>A single data center can easily contain 10,000 racks with 100 cores in each rack (1,000,000 cores total)</a:t>
            </a:r>
          </a:p>
        </p:txBody>
      </p:sp>
      <p:sp>
        <p:nvSpPr>
          <p:cNvPr id="24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14</a:t>
            </a:fld>
            <a:endParaRPr/>
          </a:p>
        </p:txBody>
      </p:sp>
      <p:sp>
        <p:nvSpPr>
          <p:cNvPr id="241" name="TextBox 6"/>
          <p:cNvSpPr txBox="1"/>
          <p:nvPr/>
        </p:nvSpPr>
        <p:spPr>
          <a:xfrm>
            <a:off x="4679388" y="3178970"/>
            <a:ext cx="2182006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900"/>
              <a:t>Google data center in The Dalles, Oregon</a:t>
            </a:r>
          </a:p>
        </p:txBody>
      </p:sp>
      <p:pic>
        <p:nvPicPr>
          <p:cNvPr id="242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1514475"/>
            <a:ext cx="4286250" cy="1685925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TextBox 8"/>
          <p:cNvSpPr txBox="1"/>
          <p:nvPr/>
        </p:nvSpPr>
        <p:spPr>
          <a:xfrm>
            <a:off x="1501539" y="1621632"/>
            <a:ext cx="965903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Data centers</a:t>
            </a:r>
            <a:br>
              <a:rPr sz="1200"/>
            </a:br>
            <a:r>
              <a:rPr sz="1200"/>
              <a:t>(size of a </a:t>
            </a:r>
            <a:br>
              <a:rPr sz="1200"/>
            </a:br>
            <a:r>
              <a:rPr sz="1200"/>
              <a:t>football field)</a:t>
            </a:r>
          </a:p>
        </p:txBody>
      </p:sp>
      <p:sp>
        <p:nvSpPr>
          <p:cNvPr id="244" name="TextBox 9"/>
          <p:cNvSpPr txBox="1"/>
          <p:nvPr/>
        </p:nvSpPr>
        <p:spPr>
          <a:xfrm>
            <a:off x="5047145" y="1007269"/>
            <a:ext cx="57111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Cooling</a:t>
            </a:r>
            <a:br>
              <a:rPr sz="1200"/>
            </a:br>
            <a:r>
              <a:rPr sz="1200"/>
              <a:t>plant</a:t>
            </a:r>
          </a:p>
        </p:txBody>
      </p:sp>
      <p:sp>
        <p:nvSpPr>
          <p:cNvPr id="245" name="Straight Arrow Connector 11"/>
          <p:cNvSpPr/>
          <p:nvPr/>
        </p:nvSpPr>
        <p:spPr>
          <a:xfrm>
            <a:off x="2500962" y="1933256"/>
            <a:ext cx="1813864" cy="309883"/>
          </a:xfrm>
          <a:prstGeom prst="line">
            <a:avLst/>
          </a:prstGeom>
          <a:ln w="19050">
            <a:solidFill>
              <a:srgbClr val="FF0000"/>
            </a:solidFill>
            <a:tailEnd type="triangle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46" name="Straight Arrow Connector 13"/>
          <p:cNvSpPr/>
          <p:nvPr/>
        </p:nvSpPr>
        <p:spPr>
          <a:xfrm>
            <a:off x="2478881" y="2043113"/>
            <a:ext cx="842964" cy="628651"/>
          </a:xfrm>
          <a:prstGeom prst="line">
            <a:avLst/>
          </a:prstGeom>
          <a:ln w="19050">
            <a:solidFill>
              <a:srgbClr val="FF0000"/>
            </a:solidFill>
            <a:tailEnd type="triangle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47" name="Straight Arrow Connector 15"/>
          <p:cNvSpPr/>
          <p:nvPr/>
        </p:nvSpPr>
        <p:spPr>
          <a:xfrm flipH="1">
            <a:off x="5079208" y="1443037"/>
            <a:ext cx="128588" cy="678657"/>
          </a:xfrm>
          <a:prstGeom prst="line">
            <a:avLst/>
          </a:prstGeom>
          <a:ln w="19050">
            <a:solidFill>
              <a:srgbClr val="FF0000"/>
            </a:solidFill>
            <a:tailEnd type="triangle"/>
          </a:ln>
        </p:spPr>
        <p:txBody>
          <a:bodyPr lIns="34289" rIns="34289"/>
          <a:lstStyle/>
          <a:p>
            <a:endParaRPr sz="1350"/>
          </a:p>
        </p:txBody>
      </p:sp>
      <p:pic>
        <p:nvPicPr>
          <p:cNvPr id="248" name="Picture 12" descr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837" y="292370"/>
            <a:ext cx="1973077" cy="1482923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1013C894-5661-6909-C44F-D2A5C917F5E8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A warehouse-sized computer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" grpId="0" animBg="1" advAuto="0"/>
      <p:bldP spid="243" grpId="0" animBg="1" advAuto="0"/>
      <p:bldP spid="244" grpId="0" animBg="1" advAuto="0"/>
      <p:bldP spid="245" grpId="0" animBg="1" advAuto="0"/>
      <p:bldP spid="246" grpId="0" animBg="1" advAuto="0"/>
      <p:bldP spid="247" grpId="0" animBg="1" advAuto="0"/>
      <p:bldP spid="248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t>What's in a data center?</a:t>
            </a:r>
          </a:p>
        </p:txBody>
      </p:sp>
      <p:sp>
        <p:nvSpPr>
          <p:cNvPr id="251" name="Content Placeholder 24"/>
          <p:cNvSpPr txBox="1">
            <a:spLocks noGrp="1"/>
          </p:cNvSpPr>
          <p:nvPr>
            <p:ph type="body" sz="quarter" idx="1"/>
          </p:nvPr>
        </p:nvSpPr>
        <p:spPr>
          <a:xfrm>
            <a:off x="1885950" y="4014788"/>
            <a:ext cx="5829300" cy="276999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5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15</a:t>
            </a:fld>
            <a:endParaRPr/>
          </a:p>
        </p:txBody>
      </p:sp>
      <p:pic>
        <p:nvPicPr>
          <p:cNvPr id="253" name="Picture 27" descr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963" y="1168111"/>
            <a:ext cx="3636169" cy="2418053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Picture 30" descr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358" y="1157288"/>
            <a:ext cx="1552991" cy="2428876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TextBox 32"/>
          <p:cNvSpPr txBox="1"/>
          <p:nvPr/>
        </p:nvSpPr>
        <p:spPr>
          <a:xfrm>
            <a:off x="6756230" y="3571876"/>
            <a:ext cx="696022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900"/>
              <a:t>Source: 1&amp;1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4EFE3779-10EB-0B7D-1005-848AF34F13B4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Hundreds or thousands of racks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t>What's in a data center?</a:t>
            </a:r>
          </a:p>
        </p:txBody>
      </p:sp>
      <p:sp>
        <p:nvSpPr>
          <p:cNvPr id="258" name="Content Placeholder 24"/>
          <p:cNvSpPr txBox="1">
            <a:spLocks noGrp="1"/>
          </p:cNvSpPr>
          <p:nvPr>
            <p:ph type="body" sz="quarter" idx="1"/>
          </p:nvPr>
        </p:nvSpPr>
        <p:spPr>
          <a:xfrm>
            <a:off x="1885950" y="3943350"/>
            <a:ext cx="5829300" cy="276999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5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16</a:t>
            </a:fld>
            <a:endParaRPr/>
          </a:p>
        </p:txBody>
      </p:sp>
      <p:sp>
        <p:nvSpPr>
          <p:cNvPr id="260" name="TextBox 32"/>
          <p:cNvSpPr txBox="1"/>
          <p:nvPr/>
        </p:nvSpPr>
        <p:spPr>
          <a:xfrm>
            <a:off x="6349036" y="3300413"/>
            <a:ext cx="696022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900"/>
              <a:t>Source: 1&amp;1</a:t>
            </a:r>
          </a:p>
        </p:txBody>
      </p:sp>
      <p:pic>
        <p:nvPicPr>
          <p:cNvPr id="261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920" y="1350168"/>
            <a:ext cx="2578893" cy="1934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11" descr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117" y="1335881"/>
            <a:ext cx="1475340" cy="196810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F801D4F-2FF6-8AC4-CB5D-49078AE5D3E5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Massive networking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t>What's in a data center?</a:t>
            </a:r>
          </a:p>
        </p:txBody>
      </p:sp>
      <p:sp>
        <p:nvSpPr>
          <p:cNvPr id="265" name="Content Placeholder 24"/>
          <p:cNvSpPr txBox="1">
            <a:spLocks noGrp="1"/>
          </p:cNvSpPr>
          <p:nvPr>
            <p:ph type="body" sz="quarter" idx="1"/>
          </p:nvPr>
        </p:nvSpPr>
        <p:spPr>
          <a:xfrm>
            <a:off x="1885950" y="3943350"/>
            <a:ext cx="5829300" cy="276999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6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17</a:t>
            </a:fld>
            <a:endParaRPr/>
          </a:p>
        </p:txBody>
      </p:sp>
      <p:sp>
        <p:nvSpPr>
          <p:cNvPr id="267" name="TextBox 32"/>
          <p:cNvSpPr txBox="1"/>
          <p:nvPr/>
        </p:nvSpPr>
        <p:spPr>
          <a:xfrm>
            <a:off x="7106274" y="3378995"/>
            <a:ext cx="696022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900"/>
              <a:t>Source: 1&amp;1</a:t>
            </a:r>
          </a:p>
        </p:txBody>
      </p:sp>
      <p:pic>
        <p:nvPicPr>
          <p:cNvPr id="26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8" y="1366243"/>
            <a:ext cx="2707481" cy="2030612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" name="Picture 12" descr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181" y="1364456"/>
            <a:ext cx="1531570" cy="20431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" name="Picture 13" descr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904" y="1371601"/>
            <a:ext cx="1515504" cy="202168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7F445A2-2F47-B134-1CCA-39CD6315D939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Emergency power supplies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t>What's in a data center?</a:t>
            </a:r>
          </a:p>
        </p:txBody>
      </p:sp>
      <p:sp>
        <p:nvSpPr>
          <p:cNvPr id="273" name="Content Placeholder 24"/>
          <p:cNvSpPr txBox="1">
            <a:spLocks noGrp="1"/>
          </p:cNvSpPr>
          <p:nvPr>
            <p:ph type="body" sz="quarter" idx="1"/>
          </p:nvPr>
        </p:nvSpPr>
        <p:spPr>
          <a:xfrm>
            <a:off x="1885950" y="3943350"/>
            <a:ext cx="5829300" cy="276999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7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18</a:t>
            </a:fld>
            <a:endParaRPr/>
          </a:p>
        </p:txBody>
      </p:sp>
      <p:sp>
        <p:nvSpPr>
          <p:cNvPr id="275" name="TextBox 32"/>
          <p:cNvSpPr txBox="1"/>
          <p:nvPr/>
        </p:nvSpPr>
        <p:spPr>
          <a:xfrm>
            <a:off x="6756230" y="3243263"/>
            <a:ext cx="696022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900"/>
              <a:t>Source: 1&amp;1</a:t>
            </a:r>
          </a:p>
        </p:txBody>
      </p:sp>
      <p:grpSp>
        <p:nvGrpSpPr>
          <p:cNvPr id="278" name="Group 10"/>
          <p:cNvGrpSpPr/>
          <p:nvPr/>
        </p:nvGrpSpPr>
        <p:grpSpPr>
          <a:xfrm>
            <a:off x="2264569" y="1307308"/>
            <a:ext cx="5257964" cy="1907381"/>
            <a:chOff x="0" y="0"/>
            <a:chExt cx="7010617" cy="2543174"/>
          </a:xfrm>
        </p:grpSpPr>
        <p:pic>
          <p:nvPicPr>
            <p:cNvPr id="276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202"/>
              <a:ext cx="3382631" cy="25369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7" name="Picture 9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36258" y="0"/>
              <a:ext cx="3374360" cy="25307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DCB82C82-A6DE-F961-8604-8AFE38ABE264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Massive cooling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t>Energy matters!</a:t>
            </a:r>
          </a:p>
        </p:txBody>
      </p:sp>
      <p:sp>
        <p:nvSpPr>
          <p:cNvPr id="281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28651" y="3243787"/>
            <a:ext cx="7490336" cy="1232453"/>
          </a:xfrm>
          <a:prstGeom prst="rect">
            <a:avLst/>
          </a:prstGeom>
        </p:spPr>
        <p:txBody>
          <a:bodyPr/>
          <a:lstStyle/>
          <a:p>
            <a:pPr marL="483488" lvl="1" indent="-161163" defTabSz="644652">
              <a:lnSpc>
                <a:spcPct val="72000"/>
              </a:lnSpc>
              <a:spcBef>
                <a:spcPts val="300"/>
              </a:spcBef>
              <a:defRPr sz="2068"/>
            </a:pPr>
            <a:r>
              <a:rPr dirty="0"/>
              <a:t>Makes sense to build them near sources of cheap electricity</a:t>
            </a:r>
          </a:p>
          <a:p>
            <a:pPr marL="483488" lvl="1" indent="-161163" defTabSz="644652">
              <a:lnSpc>
                <a:spcPct val="72000"/>
              </a:lnSpc>
              <a:spcBef>
                <a:spcPts val="300"/>
              </a:spcBef>
              <a:defRPr sz="2068"/>
            </a:pPr>
            <a:r>
              <a:rPr dirty="0"/>
              <a:t>Example: Price per </a:t>
            </a:r>
            <a:r>
              <a:rPr dirty="0" err="1"/>
              <a:t>KWh</a:t>
            </a:r>
            <a:r>
              <a:rPr dirty="0"/>
              <a:t> is 3.6ct in Idaho (near hydroelectric power), 10ct in California (long distance transmission), 18ct in Hawaii (must ship fuel)</a:t>
            </a:r>
          </a:p>
          <a:p>
            <a:pPr marL="483488" lvl="1" indent="-161163" defTabSz="644652">
              <a:lnSpc>
                <a:spcPct val="72000"/>
              </a:lnSpc>
              <a:spcBef>
                <a:spcPts val="300"/>
              </a:spcBef>
              <a:defRPr sz="2068"/>
            </a:pPr>
            <a:r>
              <a:rPr dirty="0"/>
              <a:t>Most of this is converted into heat 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® </a:t>
            </a:r>
            <a:r>
              <a:rPr dirty="0"/>
              <a:t>Cooling is a big issue!</a:t>
            </a:r>
          </a:p>
        </p:txBody>
      </p:sp>
      <p:sp>
        <p:nvSpPr>
          <p:cNvPr id="28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19</a:t>
            </a:fld>
            <a:endParaRPr/>
          </a:p>
        </p:txBody>
      </p:sp>
      <p:graphicFrame>
        <p:nvGraphicFramePr>
          <p:cNvPr id="283" name="Table 6"/>
          <p:cNvGraphicFramePr/>
          <p:nvPr>
            <p:extLst>
              <p:ext uri="{D42A27DB-BD31-4B8C-83A1-F6EECF244321}">
                <p14:modId xmlns:p14="http://schemas.microsoft.com/office/powerpoint/2010/main" val="2608792674"/>
              </p:ext>
            </p:extLst>
          </p:nvPr>
        </p:nvGraphicFramePr>
        <p:xfrm>
          <a:off x="1981200" y="895350"/>
          <a:ext cx="5867400" cy="2069781"/>
        </p:xfrm>
        <a:graphic>
          <a:graphicData uri="http://schemas.openxmlformats.org/drawingml/2006/table">
            <a:tbl>
              <a:tblPr firstRow="1" bandRow="1"/>
              <a:tblGrid>
                <a:gridCol w="1542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2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4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68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sym typeface="Calibri"/>
                        </a:rPr>
                        <a:t>Company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sym typeface="Calibri"/>
                        </a:rPr>
                        <a:t>Servers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sym typeface="Calibri"/>
                        </a:rPr>
                        <a:t>Electricity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sym typeface="Calibri"/>
                        </a:rPr>
                        <a:t>Cost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8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eBay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16K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r>
                        <a:rPr sz="1200"/>
                        <a:t>~0.6*10</a:t>
                      </a:r>
                      <a:r>
                        <a:rPr sz="1200" baseline="30000"/>
                        <a:t>5</a:t>
                      </a:r>
                      <a:r>
                        <a:rPr sz="1200"/>
                        <a:t> MWh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~$3.7M/yr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8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Akamai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40K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r>
                        <a:rPr sz="1200"/>
                        <a:t>~1.7*10</a:t>
                      </a:r>
                      <a:r>
                        <a:rPr sz="1200" baseline="30000"/>
                        <a:t>5</a:t>
                      </a:r>
                      <a:r>
                        <a:rPr sz="1200"/>
                        <a:t> MWh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~$10M/yr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8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Rackspace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50K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r>
                        <a:rPr sz="1200"/>
                        <a:t>~2*10</a:t>
                      </a:r>
                      <a:r>
                        <a:rPr sz="1200" baseline="30000"/>
                        <a:t>5</a:t>
                      </a:r>
                      <a:r>
                        <a:rPr sz="1200"/>
                        <a:t> MWh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200" dirty="0">
                          <a:sym typeface="Calibri"/>
                        </a:rPr>
                        <a:t>~$12M/yr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8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Microsoft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&gt;200K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r>
                        <a:rPr sz="1200"/>
                        <a:t>&gt;6*10</a:t>
                      </a:r>
                      <a:r>
                        <a:rPr sz="1200" baseline="30000"/>
                        <a:t>5</a:t>
                      </a:r>
                      <a:r>
                        <a:rPr sz="1200"/>
                        <a:t> MWh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&gt;$36M/yr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8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Google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&gt;500K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r>
                        <a:rPr sz="1200"/>
                        <a:t>&gt;6.3*10</a:t>
                      </a:r>
                      <a:r>
                        <a:rPr sz="1200" baseline="30000"/>
                        <a:t>5</a:t>
                      </a:r>
                      <a:r>
                        <a:rPr sz="1200"/>
                        <a:t> MWh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&gt;$38M/yr</a:t>
                      </a:r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8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200">
                          <a:sym typeface="Calibri"/>
                        </a:rPr>
                        <a:t>USA (2006)</a:t>
                      </a:r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endParaRPr sz="1200"/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endParaRPr sz="1200"/>
                    </a:p>
                  </a:txBody>
                  <a:tcPr marL="34290" marR="34290" marT="34290" marB="3429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endParaRPr sz="1200" dirty="0"/>
                    </a:p>
                  </a:txBody>
                  <a:tcPr marL="34290" marR="3429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4" name="TextBox 7"/>
          <p:cNvSpPr txBox="1"/>
          <p:nvPr/>
        </p:nvSpPr>
        <p:spPr>
          <a:xfrm>
            <a:off x="4844345" y="2991014"/>
            <a:ext cx="1720341" cy="207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200"/>
              </a:spcBef>
              <a:defRPr sz="1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750"/>
              <a:t>Source: Qureshi et al., SIGCOMM 2009</a:t>
            </a:r>
          </a:p>
        </p:txBody>
      </p:sp>
      <p:sp>
        <p:nvSpPr>
          <p:cNvPr id="285" name="TextBox 9"/>
          <p:cNvSpPr txBox="1"/>
          <p:nvPr/>
        </p:nvSpPr>
        <p:spPr>
          <a:xfrm>
            <a:off x="3933838" y="2719582"/>
            <a:ext cx="48442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10.9M</a:t>
            </a:r>
          </a:p>
        </p:txBody>
      </p:sp>
      <p:sp>
        <p:nvSpPr>
          <p:cNvPr id="286" name="TextBox 10"/>
          <p:cNvSpPr txBox="1"/>
          <p:nvPr/>
        </p:nvSpPr>
        <p:spPr>
          <a:xfrm>
            <a:off x="4613445" y="2699542"/>
            <a:ext cx="101822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/>
          <a:p>
            <a:pPr algn="r"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610*10</a:t>
            </a:r>
            <a:r>
              <a:rPr sz="1200" baseline="30000"/>
              <a:t>5</a:t>
            </a:r>
            <a:r>
              <a:rPr sz="1200"/>
              <a:t> MWh</a:t>
            </a:r>
          </a:p>
        </p:txBody>
      </p:sp>
      <p:sp>
        <p:nvSpPr>
          <p:cNvPr id="287" name="TextBox 11"/>
          <p:cNvSpPr txBox="1"/>
          <p:nvPr/>
        </p:nvSpPr>
        <p:spPr>
          <a:xfrm>
            <a:off x="5887899" y="2734552"/>
            <a:ext cx="64806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 algn="r"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$4.5B/yr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2CE6BDE-09DF-F53D-3F2A-8BEDEA482B2B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Data centers consume a lot of energy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 build="p" bldLvl="5" animBg="1" advAuto="0"/>
      <p:bldP spid="283" grpId="0" animBg="1" advAuto="0"/>
      <p:bldP spid="284" grpId="0" animBg="1" advAuto="0"/>
      <p:bldP spid="285" grpId="0" animBg="1" advAuto="0"/>
      <p:bldP spid="286" grpId="0" animBg="1" advAuto="0"/>
      <p:bldP spid="287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853331"/>
            <a:ext cx="8534400" cy="3005951"/>
          </a:xfrm>
          <a:prstGeom prst="rect">
            <a:avLst/>
          </a:prstGeom>
        </p:spPr>
        <p:txBody>
          <a:bodyPr/>
          <a:lstStyle/>
          <a:p>
            <a:r>
              <a:rPr sz="2400" dirty="0"/>
              <a:t>There are even bigger energy consumers:</a:t>
            </a:r>
          </a:p>
          <a:p>
            <a:pPr marL="514350" lvl="1" indent="-171450">
              <a:spcBef>
                <a:spcPts val="375"/>
              </a:spcBef>
              <a:defRPr sz="2400"/>
            </a:pPr>
            <a:r>
              <a:rPr sz="14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/>
              </a:rPr>
              <a:t>http://motherboard.vice.com/read/bitcoin-could-consume-as-much-electricity-as-denmark-by-2020</a:t>
            </a:r>
          </a:p>
          <a:p>
            <a:pPr marL="514350" lvl="1" indent="-171450">
              <a:spcBef>
                <a:spcPts val="375"/>
              </a:spcBef>
              <a:defRPr sz="2400"/>
            </a:pPr>
            <a:r>
              <a:rPr dirty="0"/>
              <a:t>2020 14 Gigawatts (Total power generation capacity of Denmark)</a:t>
            </a:r>
          </a:p>
          <a:p>
            <a:pPr marL="514350" lvl="1" indent="-171450">
              <a:spcBef>
                <a:spcPts val="375"/>
              </a:spcBef>
              <a:defRPr sz="2400"/>
            </a:pPr>
            <a:r>
              <a:rPr dirty="0"/>
              <a:t>1 Bitcoin in 2020 would consume half the annual household usage emitting 4,000 kg of CO</a:t>
            </a:r>
            <a:r>
              <a:rPr baseline="-25000" dirty="0"/>
              <a:t>2</a:t>
            </a:r>
          </a:p>
          <a:p>
            <a:pPr marL="514350" lvl="1" indent="-171450">
              <a:spcBef>
                <a:spcPts val="375"/>
              </a:spcBef>
              <a:defRPr sz="2400"/>
            </a:pPr>
            <a:r>
              <a:rPr dirty="0"/>
              <a:t>This is a big issue because of the enthusiasm for the Blockchain driving new functionality</a:t>
            </a:r>
          </a:p>
        </p:txBody>
      </p:sp>
      <p:sp>
        <p:nvSpPr>
          <p:cNvPr id="291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20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C6F6533C-243A-AEC4-7519-00B74B8C6EA5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Intro to Cloud Computing: Agenda</a:t>
            </a:r>
            <a:endParaRPr lang="en-US" sz="2800" kern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t>Scaling up</a:t>
            </a:r>
          </a:p>
        </p:txBody>
      </p:sp>
      <p:sp>
        <p:nvSpPr>
          <p:cNvPr id="294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885950" y="3307558"/>
            <a:ext cx="5829300" cy="1118255"/>
          </a:xfrm>
          <a:prstGeom prst="rect">
            <a:avLst/>
          </a:prstGeom>
        </p:spPr>
        <p:txBody>
          <a:bodyPr/>
          <a:lstStyle/>
          <a:p>
            <a:r>
              <a:t>What if even a data center is not big enough?</a:t>
            </a:r>
          </a:p>
          <a:p>
            <a:pPr marL="514350" lvl="1" indent="-171450">
              <a:spcBef>
                <a:spcPts val="375"/>
              </a:spcBef>
              <a:defRPr sz="2400"/>
            </a:pPr>
            <a:r>
              <a:t>Build additional data centers</a:t>
            </a:r>
          </a:p>
          <a:p>
            <a:pPr marL="514350" lvl="1" indent="-171450">
              <a:spcBef>
                <a:spcPts val="375"/>
              </a:spcBef>
              <a:defRPr sz="2400"/>
            </a:pPr>
            <a:r>
              <a:t>Where? How many?</a:t>
            </a:r>
          </a:p>
        </p:txBody>
      </p:sp>
      <p:sp>
        <p:nvSpPr>
          <p:cNvPr id="295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21</a:t>
            </a:fld>
            <a:endParaRPr/>
          </a:p>
        </p:txBody>
      </p:sp>
      <p:pic>
        <p:nvPicPr>
          <p:cNvPr id="296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69" y="2087403"/>
            <a:ext cx="397233" cy="4700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7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164557" y="1878806"/>
            <a:ext cx="629759" cy="689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8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014386" y="1628775"/>
            <a:ext cx="673796" cy="937324"/>
          </a:xfrm>
          <a:prstGeom prst="rect">
            <a:avLst/>
          </a:prstGeom>
          <a:ln w="12700">
            <a:miter lim="400000"/>
          </a:ln>
        </p:spPr>
      </p:pic>
      <p:sp>
        <p:nvSpPr>
          <p:cNvPr id="299" name="TextBox 12"/>
          <p:cNvSpPr txBox="1"/>
          <p:nvPr/>
        </p:nvSpPr>
        <p:spPr>
          <a:xfrm>
            <a:off x="1421605" y="2657476"/>
            <a:ext cx="664370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PC</a:t>
            </a:r>
          </a:p>
        </p:txBody>
      </p:sp>
      <p:sp>
        <p:nvSpPr>
          <p:cNvPr id="300" name="TextBox 13"/>
          <p:cNvSpPr txBox="1"/>
          <p:nvPr/>
        </p:nvSpPr>
        <p:spPr>
          <a:xfrm>
            <a:off x="2035969" y="2643188"/>
            <a:ext cx="850106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Server</a:t>
            </a:r>
          </a:p>
        </p:txBody>
      </p:sp>
      <p:sp>
        <p:nvSpPr>
          <p:cNvPr id="301" name="TextBox 14"/>
          <p:cNvSpPr txBox="1"/>
          <p:nvPr/>
        </p:nvSpPr>
        <p:spPr>
          <a:xfrm>
            <a:off x="2950369" y="2650332"/>
            <a:ext cx="764381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Cluster</a:t>
            </a:r>
          </a:p>
        </p:txBody>
      </p:sp>
      <p:sp>
        <p:nvSpPr>
          <p:cNvPr id="302" name="TextBox 15"/>
          <p:cNvSpPr txBox="1"/>
          <p:nvPr/>
        </p:nvSpPr>
        <p:spPr>
          <a:xfrm>
            <a:off x="4171949" y="2650332"/>
            <a:ext cx="892970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Data center</a:t>
            </a:r>
          </a:p>
        </p:txBody>
      </p:sp>
      <p:sp>
        <p:nvSpPr>
          <p:cNvPr id="303" name="TextBox 16"/>
          <p:cNvSpPr txBox="1"/>
          <p:nvPr/>
        </p:nvSpPr>
        <p:spPr>
          <a:xfrm>
            <a:off x="5800724" y="2643188"/>
            <a:ext cx="1785939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050"/>
              <a:t>Network of data centers</a:t>
            </a:r>
          </a:p>
        </p:txBody>
      </p:sp>
      <p:pic>
        <p:nvPicPr>
          <p:cNvPr id="304" name="Picture 17" descr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788" y="1309578"/>
            <a:ext cx="1303734" cy="127646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731" y="902384"/>
            <a:ext cx="528638" cy="5175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6" name="Picture 19" descr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902384"/>
            <a:ext cx="528638" cy="5175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" name="Picture 20" descr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019" y="902384"/>
            <a:ext cx="528638" cy="5175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8" name="Picture 21" descr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587" y="1481028"/>
            <a:ext cx="528638" cy="5175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Picture 22" descr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231" y="1481028"/>
            <a:ext cx="528638" cy="5175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0" name="Picture 23" descr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75" y="1481028"/>
            <a:ext cx="528638" cy="5175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1" name="Picture 24" descr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587" y="2059672"/>
            <a:ext cx="528638" cy="5175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25" descr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231" y="2059672"/>
            <a:ext cx="528638" cy="5175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26" descr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75" y="2059672"/>
            <a:ext cx="528638" cy="517579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578EFF1-41B2-3F4D-8F2D-4259F2A82F7B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Intro to Cloud Computing: Agenda</a:t>
            </a:r>
            <a:endParaRPr lang="en-US" sz="2800" kern="0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 build="p" bldLvl="5" animBg="1" advAuto="0"/>
      <p:bldP spid="303" grpId="0" animBg="1" advAuto="0"/>
      <p:bldP spid="305" grpId="0" animBg="1" advAuto="0"/>
      <p:bldP spid="306" grpId="0" animBg="1" advAuto="0"/>
      <p:bldP spid="307" grpId="0" animBg="1" advAuto="0"/>
      <p:bldP spid="308" grpId="0" animBg="1" advAuto="0"/>
      <p:bldP spid="309" grpId="0" animBg="1" advAuto="0"/>
      <p:bldP spid="310" grpId="0" animBg="1" advAuto="0"/>
      <p:bldP spid="311" grpId="0" animBg="1" advAuto="0"/>
      <p:bldP spid="312" grpId="0" animBg="1" advAuto="0"/>
      <p:bldP spid="313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t>Global distribution</a:t>
            </a:r>
          </a:p>
        </p:txBody>
      </p:sp>
      <p:sp>
        <p:nvSpPr>
          <p:cNvPr id="316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405257" y="2822339"/>
            <a:ext cx="7334250" cy="215629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rPr dirty="0"/>
              <a:t>Data centers are often globally distributed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dirty="0"/>
              <a:t>Example above: Google data center locations (inferred)</a:t>
            </a:r>
          </a:p>
          <a:p>
            <a:pPr>
              <a:lnSpc>
                <a:spcPct val="81000"/>
              </a:lnSpc>
            </a:pPr>
            <a:r>
              <a:rPr dirty="0"/>
              <a:t>Why?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dirty="0"/>
              <a:t>Need to be close to users (physics!)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dirty="0"/>
              <a:t>Cheaper resources</a:t>
            </a:r>
          </a:p>
          <a:p>
            <a:pPr marL="514350" lvl="1" indent="-171450">
              <a:lnSpc>
                <a:spcPct val="81000"/>
              </a:lnSpc>
              <a:spcBef>
                <a:spcPts val="375"/>
              </a:spcBef>
              <a:defRPr sz="2400"/>
            </a:pPr>
            <a:r>
              <a:rPr dirty="0"/>
              <a:t>Protection against failures</a:t>
            </a:r>
          </a:p>
        </p:txBody>
      </p:sp>
      <p:sp>
        <p:nvSpPr>
          <p:cNvPr id="31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22</a:t>
            </a:fld>
            <a:endParaRPr/>
          </a:p>
        </p:txBody>
      </p:sp>
      <p:pic>
        <p:nvPicPr>
          <p:cNvPr id="318" name="Content Placeholder 5" descr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140" y="1243013"/>
            <a:ext cx="2953367" cy="1371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9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981" y="1243013"/>
            <a:ext cx="2566221" cy="13716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0C7240D-09FB-9E34-5915-A9D8D5A5A6DF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Intro to Cloud Computing: Agenda</a:t>
            </a:r>
            <a:endParaRPr lang="en-US" sz="2800" kern="0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" grpId="0" build="p" bldLvl="5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itl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738664"/>
          </a:xfrm>
          <a:prstGeom prst="rect">
            <a:avLst/>
          </a:prstGeom>
        </p:spPr>
        <p:txBody>
          <a:bodyPr/>
          <a:lstStyle/>
          <a:p>
            <a:r>
              <a:t>Trend: Modular data center</a:t>
            </a:r>
          </a:p>
        </p:txBody>
      </p:sp>
      <p:sp>
        <p:nvSpPr>
          <p:cNvPr id="322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590884" y="3021806"/>
            <a:ext cx="7124366" cy="276999"/>
          </a:xfrm>
          <a:prstGeom prst="rect">
            <a:avLst/>
          </a:prstGeom>
        </p:spPr>
        <p:txBody>
          <a:bodyPr/>
          <a:lstStyle/>
          <a:p>
            <a:r>
              <a:t>Need more capacity? Just deploy another container!</a:t>
            </a:r>
          </a:p>
        </p:txBody>
      </p:sp>
      <p:sp>
        <p:nvSpPr>
          <p:cNvPr id="323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Tahoma"/>
                <a:ea typeface="Tahoma"/>
                <a:cs typeface="Tahoma"/>
                <a:sym typeface="Tahom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23</a:t>
            </a:fld>
            <a:endParaRPr/>
          </a:p>
        </p:txBody>
      </p:sp>
      <p:pic>
        <p:nvPicPr>
          <p:cNvPr id="324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138" y="1190625"/>
            <a:ext cx="2221706" cy="14811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196" y="1193006"/>
            <a:ext cx="2239568" cy="14930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925" y="3079960"/>
            <a:ext cx="1527014" cy="150532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F79BDF1-6D62-AA8C-E375-71EA1E4E63F1}"/>
              </a:ext>
            </a:extLst>
          </p:cNvPr>
          <p:cNvSpPr txBox="1">
            <a:spLocks/>
          </p:cNvSpPr>
          <p:nvPr/>
        </p:nvSpPr>
        <p:spPr>
          <a:xfrm>
            <a:off x="152400" y="51988"/>
            <a:ext cx="8683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55" dirty="0">
                <a:solidFill>
                  <a:srgbClr val="202729"/>
                </a:solidFill>
              </a:rPr>
              <a:t>Intro to Cloud Computing: Agenda</a:t>
            </a:r>
            <a:endParaRPr lang="en-US" sz="2800" kern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502547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solidFill>
                  <a:srgbClr val="202729"/>
                </a:solidFill>
              </a:rPr>
              <a:t>Clouds</a:t>
            </a:r>
            <a:r>
              <a:rPr lang="en-US" sz="2800" spc="55" dirty="0">
                <a:solidFill>
                  <a:srgbClr val="202729"/>
                </a:solidFill>
              </a:rPr>
              <a:t> Service models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154034" cy="25400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70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“Private</a:t>
            </a:r>
            <a:r>
              <a:rPr sz="1800" b="1" spc="-60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”</a:t>
            </a:r>
            <a:r>
              <a:rPr sz="1800" b="1" spc="-55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 </a:t>
            </a:r>
            <a:r>
              <a:rPr sz="1800" b="1" spc="-45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Clouds</a:t>
            </a:r>
            <a:endParaRPr sz="1800" dirty="0">
              <a:latin typeface="Trebuchet MS" panose="020B0603020202020204" pitchFamily="34" charset="0"/>
              <a:cs typeface="Tahom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8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Use</a:t>
            </a:r>
            <a:r>
              <a:rPr sz="1800" spc="-8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d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fo</a:t>
            </a:r>
            <a:r>
              <a:rPr sz="1800" spc="-6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r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company’</a:t>
            </a:r>
            <a:r>
              <a:rPr sz="1800"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s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interna</a:t>
            </a:r>
            <a:r>
              <a:rPr sz="1800" spc="-5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l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services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only</a:t>
            </a:r>
            <a:endParaRPr sz="1800" dirty="0">
              <a:latin typeface="Trebuchet MS" panose="020B0603020202020204" pitchFamily="34" charset="0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14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Example:</a:t>
            </a:r>
            <a:r>
              <a:rPr sz="1800" spc="-1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Internal</a:t>
            </a:r>
            <a:r>
              <a:rPr sz="1800" spc="-1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datacenters</a:t>
            </a:r>
            <a:r>
              <a:rPr sz="1800" spc="-1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z="1800" spc="-18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companies</a:t>
            </a:r>
            <a:r>
              <a:rPr sz="1800" spc="-1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like</a:t>
            </a:r>
            <a:r>
              <a:rPr sz="1800" spc="-1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Facebook,</a:t>
            </a:r>
            <a:r>
              <a:rPr sz="1800" spc="-18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Google,</a:t>
            </a:r>
            <a:r>
              <a:rPr sz="1800" spc="-1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etc.</a:t>
            </a:r>
            <a:endParaRPr sz="1800" dirty="0">
              <a:latin typeface="Trebuchet MS" panose="020B0603020202020204" pitchFamily="34" charset="0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Tahoma"/>
              <a:buChar char="○"/>
            </a:pPr>
            <a:endParaRPr sz="2250" dirty="0">
              <a:latin typeface="Trebuchet MS" panose="020B0603020202020204" pitchFamily="34" charset="0"/>
              <a:cs typeface="Verdana"/>
            </a:endParaRPr>
          </a:p>
          <a:p>
            <a:pPr marL="379095" indent="-367030">
              <a:lnSpc>
                <a:spcPct val="100000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55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“Public</a:t>
            </a:r>
            <a:r>
              <a:rPr sz="1800" b="1" spc="-50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”</a:t>
            </a:r>
            <a:r>
              <a:rPr sz="1800" b="1" spc="-55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 </a:t>
            </a:r>
            <a:r>
              <a:rPr sz="1800" b="1" spc="-45" dirty="0">
                <a:solidFill>
                  <a:srgbClr val="616161"/>
                </a:solidFill>
                <a:latin typeface="Trebuchet MS" panose="020B0603020202020204" pitchFamily="34" charset="0"/>
                <a:cs typeface="Tahoma"/>
              </a:rPr>
              <a:t>Clouds</a:t>
            </a:r>
            <a:endParaRPr sz="1800" dirty="0">
              <a:latin typeface="Trebuchet MS" panose="020B0603020202020204" pitchFamily="34" charset="0"/>
              <a:cs typeface="Tahom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10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Anyon</a:t>
            </a:r>
            <a:r>
              <a:rPr sz="1800" spc="-9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e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ca</a:t>
            </a:r>
            <a:r>
              <a:rPr sz="1800" spc="-11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n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2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purchase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resources</a:t>
            </a:r>
            <a:endParaRPr sz="1800" dirty="0">
              <a:latin typeface="Trebuchet MS" panose="020B0603020202020204" pitchFamily="34" charset="0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You</a:t>
            </a:r>
            <a:r>
              <a:rPr sz="1800" spc="-18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can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build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your</a:t>
            </a:r>
            <a:r>
              <a:rPr sz="1800" spc="-18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own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14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company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on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top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of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another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company’s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cloud</a:t>
            </a:r>
            <a:endParaRPr sz="1800" dirty="0">
              <a:latin typeface="Trebuchet MS" panose="020B0603020202020204" pitchFamily="34" charset="0"/>
              <a:cs typeface="Verdana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15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Example</a:t>
            </a:r>
            <a:r>
              <a:rPr sz="1800" spc="-11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:</a:t>
            </a:r>
            <a:r>
              <a:rPr sz="1800" spc="-18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4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AWS</a:t>
            </a:r>
            <a:r>
              <a:rPr sz="1800" spc="-6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,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55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GCP</a:t>
            </a:r>
            <a:r>
              <a:rPr sz="1800" spc="-8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,</a:t>
            </a:r>
            <a:r>
              <a:rPr sz="1800" spc="-19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Trebuchet MS" panose="020B0603020202020204" pitchFamily="34" charset="0"/>
                <a:cs typeface="Verdana"/>
              </a:rPr>
              <a:t>Azure</a:t>
            </a:r>
            <a:endParaRPr sz="1800" dirty="0">
              <a:latin typeface="Trebuchet MS" panose="020B060302020202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3474" y="1979965"/>
            <a:ext cx="42894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Cloud</a:t>
            </a:r>
            <a:r>
              <a:rPr spc="-280" dirty="0"/>
              <a:t> </a:t>
            </a:r>
            <a:r>
              <a:rPr spc="-10" dirty="0"/>
              <a:t>Providers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7037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" dirty="0">
                <a:solidFill>
                  <a:srgbClr val="202729"/>
                </a:solidFill>
              </a:rPr>
              <a:t>The</a:t>
            </a:r>
            <a:r>
              <a:rPr sz="2800" spc="-200" dirty="0">
                <a:solidFill>
                  <a:srgbClr val="202729"/>
                </a:solidFill>
              </a:rPr>
              <a:t> </a:t>
            </a:r>
            <a:r>
              <a:rPr sz="2800" spc="-30" dirty="0">
                <a:solidFill>
                  <a:srgbClr val="202729"/>
                </a:solidFill>
              </a:rPr>
              <a:t>Giants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0300" y="3170162"/>
            <a:ext cx="3028949" cy="15144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854" y="3162461"/>
            <a:ext cx="2397135" cy="13543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4532" y="1250733"/>
            <a:ext cx="4254924" cy="15926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1254</Words>
  <Application>Microsoft Office PowerPoint</Application>
  <PresentationFormat>On-screen Show (16:9)</PresentationFormat>
  <Paragraphs>226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Symbol</vt:lpstr>
      <vt:lpstr>Tahoma</vt:lpstr>
      <vt:lpstr>Trebuchet MS</vt:lpstr>
      <vt:lpstr>Office Theme</vt:lpstr>
      <vt:lpstr>Cloud Computing Intro</vt:lpstr>
      <vt:lpstr>Intro to Cloud Computing: Agenda</vt:lpstr>
      <vt:lpstr>How many users and objects?</vt:lpstr>
      <vt:lpstr>How much data?</vt:lpstr>
      <vt:lpstr>PowerPoint Presentation</vt:lpstr>
      <vt:lpstr>Why should I care?</vt:lpstr>
      <vt:lpstr>Why use a cloud?</vt:lpstr>
      <vt:lpstr>PowerPoint Presentation</vt:lpstr>
      <vt:lpstr>Intro to Cloud Computing: Agenda</vt:lpstr>
      <vt:lpstr>Scaling up</vt:lpstr>
      <vt:lpstr>PowerPoint Presentation</vt:lpstr>
      <vt:lpstr>Power and cooling</vt:lpstr>
      <vt:lpstr>Scaling up</vt:lpstr>
      <vt:lpstr>What does a data center look like?</vt:lpstr>
      <vt:lpstr>What's in a data center?</vt:lpstr>
      <vt:lpstr>What's in a data center?</vt:lpstr>
      <vt:lpstr>What's in a data center?</vt:lpstr>
      <vt:lpstr>What's in a data center?</vt:lpstr>
      <vt:lpstr>Energy matters!</vt:lpstr>
      <vt:lpstr>PowerPoint Presentation</vt:lpstr>
      <vt:lpstr>Scaling up</vt:lpstr>
      <vt:lpstr>Global distribution</vt:lpstr>
      <vt:lpstr>Trend: Modular data center</vt:lpstr>
      <vt:lpstr>Clouds Service models</vt:lpstr>
      <vt:lpstr>Cloud Providers</vt:lpstr>
      <vt:lpstr>The Giants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Trang Nguyen Thuy</cp:lastModifiedBy>
  <cp:revision>10</cp:revision>
  <dcterms:created xsi:type="dcterms:W3CDTF">2024-11-10T16:02:52Z</dcterms:created>
  <dcterms:modified xsi:type="dcterms:W3CDTF">2025-01-04T01:50:51Z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