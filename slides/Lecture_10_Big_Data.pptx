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58" r:id="rId36"/>
    <p:sldId id="259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3825"/>
            <a:ext cx="151003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313325"/>
            <a:ext cx="5518785" cy="642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76350"/>
            <a:ext cx="8108315" cy="1911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kaggle.com/cynthiarempel/amazon-us-cu" TargetMode="Externa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static.googleusercontent.com/media/research.google.com/en/pubs/archive/35179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mazon.com/Platform-Revolution-Networked-Markets-Transforming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45/1629175.1629210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0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99.png"/><Relationship Id="rId2" Type="http://schemas.openxmlformats.org/officeDocument/2006/relationships/image" Target="../media/image85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7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hyperlink" Target="http://www.reactivemanifesto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1.png"/><Relationship Id="rId7" Type="http://schemas.openxmlformats.org/officeDocument/2006/relationships/image" Target="../media/image129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jpg"/><Relationship Id="rId10" Type="http://schemas.openxmlformats.org/officeDocument/2006/relationships/image" Target="../media/image132.jpg"/><Relationship Id="rId4" Type="http://schemas.openxmlformats.org/officeDocument/2006/relationships/image" Target="../media/image126.png"/><Relationship Id="rId9" Type="http://schemas.openxmlformats.org/officeDocument/2006/relationships/image" Target="../media/image131.jp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queue.acm.org/detail.cfm?id=1971597" TargetMode="External"/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queue.acm.org/detail.cfm?id=1971597" TargetMode="External"/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image" Target="../media/image144.jpg"/><Relationship Id="rId5" Type="http://schemas.openxmlformats.org/officeDocument/2006/relationships/image" Target="../media/image138.png"/><Relationship Id="rId10" Type="http://schemas.openxmlformats.org/officeDocument/2006/relationships/image" Target="../media/image143.jpg"/><Relationship Id="rId4" Type="http://schemas.openxmlformats.org/officeDocument/2006/relationships/image" Target="../media/image137.png"/><Relationship Id="rId9" Type="http://schemas.openxmlformats.org/officeDocument/2006/relationships/image" Target="../media/image14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Relationship Id="rId9" Type="http://schemas.openxmlformats.org/officeDocument/2006/relationships/image" Target="../media/image152.jp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jp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2" Type="http://schemas.openxmlformats.org/officeDocument/2006/relationships/hyperlink" Target="http://www.thousandeyes.com/blog/aws-outage-analysis-dec-7-202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0" Type="http://schemas.openxmlformats.org/officeDocument/2006/relationships/image" Target="../media/image160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g"/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ature.com/articles/sdata201618)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1.png"/><Relationship Id="rId18" Type="http://schemas.openxmlformats.org/officeDocument/2006/relationships/image" Target="../media/image186.png"/><Relationship Id="rId3" Type="http://schemas.openxmlformats.org/officeDocument/2006/relationships/image" Target="../media/image171.png"/><Relationship Id="rId21" Type="http://schemas.openxmlformats.org/officeDocument/2006/relationships/image" Target="../media/image189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17" Type="http://schemas.openxmlformats.org/officeDocument/2006/relationships/image" Target="../media/image185.png"/><Relationship Id="rId2" Type="http://schemas.openxmlformats.org/officeDocument/2006/relationships/image" Target="../media/image170.png"/><Relationship Id="rId16" Type="http://schemas.openxmlformats.org/officeDocument/2006/relationships/image" Target="../media/image184.png"/><Relationship Id="rId20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5" Type="http://schemas.openxmlformats.org/officeDocument/2006/relationships/image" Target="../media/image183.png"/><Relationship Id="rId10" Type="http://schemas.openxmlformats.org/officeDocument/2006/relationships/image" Target="../media/image178.png"/><Relationship Id="rId19" Type="http://schemas.openxmlformats.org/officeDocument/2006/relationships/image" Target="../media/image187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Relationship Id="rId14" Type="http://schemas.openxmlformats.org/officeDocument/2006/relationships/image" Target="../media/image1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75249" y="1176350"/>
            <a:ext cx="810831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 algn="ctr">
              <a:lnSpc>
                <a:spcPct val="100000"/>
              </a:lnSpc>
              <a:spcBef>
                <a:spcPts val="15"/>
              </a:spcBef>
            </a:pPr>
            <a:r>
              <a:rPr lang="en-US" sz="4800" dirty="0">
                <a:solidFill>
                  <a:srgbClr val="FFFFFF"/>
                </a:solidFill>
              </a:rPr>
              <a:t>Big </a:t>
            </a:r>
            <a:r>
              <a:rPr sz="4800" dirty="0">
                <a:solidFill>
                  <a:srgbClr val="FFFFFF"/>
                </a:solidFill>
              </a:rPr>
              <a:t>Data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3878199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Learning</a:t>
            </a:r>
            <a:r>
              <a:rPr spc="-81" dirty="0"/>
              <a:t> </a:t>
            </a:r>
            <a:r>
              <a:rPr spc="-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722" y="1113047"/>
            <a:ext cx="8305278" cy="22552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8044" marR="104585" indent="-337185">
              <a:spcBef>
                <a:spcPts val="90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Understand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“big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data”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and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“platforms”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in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big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data </a:t>
            </a:r>
            <a:r>
              <a:rPr sz="2160" b="1" spc="-590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platforms</a:t>
            </a:r>
            <a:endParaRPr sz="2160" dirty="0"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Char char="●"/>
            </a:pPr>
            <a:endParaRPr sz="2970" dirty="0">
              <a:latin typeface="Arial"/>
              <a:cs typeface="Arial"/>
            </a:endParaRPr>
          </a:p>
          <a:p>
            <a:pPr marL="348044" marR="4572" indent="-337185">
              <a:buChar char="●"/>
              <a:tabLst>
                <a:tab pos="348044" algn="l"/>
                <a:tab pos="348615" algn="l"/>
                <a:tab pos="1536192" algn="l"/>
              </a:tabLst>
            </a:pPr>
            <a:r>
              <a:rPr sz="2160" b="1" spc="-5" dirty="0">
                <a:latin typeface="Arial"/>
                <a:cs typeface="Arial"/>
              </a:rPr>
              <a:t>Capture	high-level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views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of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big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data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platforms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and </a:t>
            </a:r>
            <a:r>
              <a:rPr sz="2160" b="1" spc="-590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understand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the</a:t>
            </a:r>
            <a:r>
              <a:rPr sz="2160" b="1" spc="-9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role of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big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data</a:t>
            </a:r>
            <a:r>
              <a:rPr sz="2160" b="1" spc="-9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platforms</a:t>
            </a:r>
            <a:endParaRPr sz="2160" dirty="0"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Char char="●"/>
            </a:pPr>
            <a:endParaRPr sz="2970" dirty="0">
              <a:latin typeface="Arial"/>
              <a:cs typeface="Arial"/>
            </a:endParaRPr>
          </a:p>
          <a:p>
            <a:pPr marL="348044" marR="818960" indent="-337185"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Understand key aspects in studying big data </a:t>
            </a:r>
            <a:r>
              <a:rPr sz="2160" b="1" spc="-590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platforms</a:t>
            </a:r>
            <a:endParaRPr sz="216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4966907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Data: facts, responses, events, </a:t>
            </a:r>
            <a:r>
              <a:rPr spc="-891" dirty="0"/>
              <a:t> </a:t>
            </a:r>
            <a:r>
              <a:rPr spc="-5" dirty="0"/>
              <a:t>measurements,</a:t>
            </a:r>
            <a:r>
              <a:rPr spc="-9" dirty="0"/>
              <a:t> </a:t>
            </a:r>
            <a:r>
              <a:rPr spc="-5" dirty="0"/>
              <a:t>etc.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9092" y="854244"/>
            <a:ext cx="3916140" cy="11232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90236" y="2000298"/>
            <a:ext cx="2124837" cy="1777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080" b="1" spc="-5" dirty="0">
                <a:latin typeface="Arial"/>
                <a:cs typeface="Arial"/>
              </a:rPr>
              <a:t>Source:</a:t>
            </a:r>
            <a:r>
              <a:rPr sz="1080" b="1" spc="-18" dirty="0">
                <a:latin typeface="Arial"/>
                <a:cs typeface="Arial"/>
              </a:rPr>
              <a:t> </a:t>
            </a:r>
            <a:r>
              <a:rPr sz="1080" spc="-5" dirty="0">
                <a:latin typeface="Arial MT"/>
                <a:cs typeface="Arial MT"/>
              </a:rPr>
              <a:t>Chicago</a:t>
            </a:r>
            <a:r>
              <a:rPr sz="1080" spc="-27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Crime,</a:t>
            </a:r>
            <a:r>
              <a:rPr sz="1080" spc="-23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BigQuery</a:t>
            </a:r>
            <a:endParaRPr sz="108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57923" y="2805436"/>
            <a:ext cx="3980498" cy="1322451"/>
            <a:chOff x="4445247" y="3117151"/>
            <a:chExt cx="4422775" cy="14693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45247" y="3127161"/>
              <a:ext cx="1914524" cy="14001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3867" y="3117151"/>
              <a:ext cx="2543879" cy="146936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7432" y="1220330"/>
            <a:ext cx="3436383" cy="15183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205838" y="4188060"/>
            <a:ext cx="3488436" cy="1777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080" b="1" spc="-5" dirty="0">
                <a:latin typeface="Arial"/>
                <a:cs typeface="Arial"/>
              </a:rPr>
              <a:t>Source:</a:t>
            </a:r>
            <a:r>
              <a:rPr sz="1080" b="1" spc="32" dirty="0">
                <a:latin typeface="Arial"/>
                <a:cs typeface="Arial"/>
              </a:rPr>
              <a:t> </a:t>
            </a:r>
            <a:r>
              <a:rPr sz="1080" spc="-9" dirty="0">
                <a:latin typeface="Arial MT"/>
                <a:cs typeface="Arial MT"/>
              </a:rPr>
              <a:t>https://maps.sensor.community/#8/52.917/8.817</a:t>
            </a:r>
            <a:endParaRPr sz="108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1610" y="3075368"/>
            <a:ext cx="3258693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080" b="1" spc="-5" dirty="0">
                <a:latin typeface="Arial"/>
                <a:cs typeface="Arial"/>
              </a:rPr>
              <a:t>Source: </a:t>
            </a:r>
            <a:r>
              <a:rPr sz="1080" b="1" dirty="0">
                <a:latin typeface="Arial"/>
                <a:cs typeface="Arial"/>
              </a:rPr>
              <a:t> </a:t>
            </a:r>
            <a:r>
              <a:rPr sz="1080" spc="-9" dirty="0">
                <a:latin typeface="Arial MT"/>
                <a:cs typeface="Arial MT"/>
                <a:hlinkClick r:id="rId6"/>
              </a:rPr>
              <a:t>https://www.kaggle.com/cynthiarempel/amazon-us-cu </a:t>
            </a:r>
            <a:r>
              <a:rPr sz="1080" spc="-288" dirty="0">
                <a:latin typeface="Arial MT"/>
                <a:cs typeface="Arial MT"/>
              </a:rPr>
              <a:t> </a:t>
            </a:r>
            <a:r>
              <a:rPr sz="1080" dirty="0">
                <a:latin typeface="Arial MT"/>
                <a:cs typeface="Arial MT"/>
              </a:rPr>
              <a:t>stomer-reviews-dataset</a:t>
            </a:r>
            <a:endParaRPr sz="108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251" y="151459"/>
            <a:ext cx="1823085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Is</a:t>
            </a:r>
            <a:r>
              <a:rPr sz="3240" b="1" spc="-36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it</a:t>
            </a:r>
            <a:r>
              <a:rPr sz="3240" b="1" spc="-36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9" dirty="0">
                <a:solidFill>
                  <a:srgbClr val="FF671F"/>
                </a:solidFill>
                <a:latin typeface="Arial"/>
                <a:cs typeface="Arial"/>
              </a:rPr>
              <a:t>big</a:t>
            </a:r>
            <a:r>
              <a:rPr sz="3240" b="1" spc="-36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dirty="0">
                <a:solidFill>
                  <a:srgbClr val="FF671F"/>
                </a:solidFill>
                <a:latin typeface="Arial"/>
                <a:cs typeface="Arial"/>
              </a:rPr>
              <a:t>?</a:t>
            </a:r>
            <a:endParaRPr sz="324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1094" y="4072781"/>
            <a:ext cx="5378387" cy="1777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080" b="1" spc="-5" dirty="0">
                <a:latin typeface="Arial"/>
                <a:cs typeface="Arial"/>
              </a:rPr>
              <a:t>Source:</a:t>
            </a:r>
            <a:r>
              <a:rPr sz="1080" b="1" spc="117" dirty="0">
                <a:latin typeface="Arial"/>
                <a:cs typeface="Arial"/>
              </a:rPr>
              <a:t> </a:t>
            </a:r>
            <a:r>
              <a:rPr sz="1080" spc="-9" dirty="0">
                <a:latin typeface="Arial MT"/>
                <a:cs typeface="Arial MT"/>
              </a:rPr>
              <a:t>https://scihub.copernicus.eu/twiki/do/view/SciHubWebPortal/AnnualReport2019</a:t>
            </a:r>
            <a:endParaRPr sz="108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331" y="828650"/>
            <a:ext cx="4601147" cy="302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742379" algn="l"/>
              </a:tabLst>
            </a:pPr>
            <a:r>
              <a:rPr sz="1890" b="1" spc="-5" dirty="0">
                <a:latin typeface="Arial"/>
                <a:cs typeface="Arial"/>
              </a:rPr>
              <a:t>From	earth</a:t>
            </a:r>
            <a:r>
              <a:rPr sz="1890" b="1" spc="-41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observation/remote</a:t>
            </a:r>
            <a:r>
              <a:rPr sz="1890" b="1" spc="-45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sensing</a:t>
            </a:r>
            <a:endParaRPr sz="189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3584" y="1130686"/>
            <a:ext cx="8203311" cy="2882646"/>
            <a:chOff x="29316" y="1256318"/>
            <a:chExt cx="9114790" cy="32029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16" y="1256318"/>
              <a:ext cx="9114682" cy="32023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9220" y="2968815"/>
              <a:ext cx="1185520" cy="1054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51920" y="3001515"/>
              <a:ext cx="1080135" cy="0"/>
            </a:xfrm>
            <a:custGeom>
              <a:avLst/>
              <a:gdLst/>
              <a:ahLst/>
              <a:cxnLst/>
              <a:rect l="l" t="t" r="r" b="b"/>
              <a:pathLst>
                <a:path w="1080135">
                  <a:moveTo>
                    <a:pt x="0" y="0"/>
                  </a:moveTo>
                  <a:lnTo>
                    <a:pt x="1080119" y="0"/>
                  </a:lnTo>
                </a:path>
              </a:pathLst>
            </a:custGeom>
            <a:ln w="25399">
              <a:solidFill>
                <a:srgbClr val="EE33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5004" y="2824800"/>
              <a:ext cx="2480895" cy="1054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907703" y="2857499"/>
              <a:ext cx="2375535" cy="0"/>
            </a:xfrm>
            <a:custGeom>
              <a:avLst/>
              <a:gdLst/>
              <a:ahLst/>
              <a:cxnLst/>
              <a:rect l="l" t="t" r="r" b="b"/>
              <a:pathLst>
                <a:path w="2375535">
                  <a:moveTo>
                    <a:pt x="0" y="0"/>
                  </a:moveTo>
                  <a:lnTo>
                    <a:pt x="2375494" y="0"/>
                  </a:lnTo>
                </a:path>
              </a:pathLst>
            </a:custGeom>
            <a:ln w="25399">
              <a:solidFill>
                <a:srgbClr val="EE33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145904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Is</a:t>
            </a:r>
            <a:r>
              <a:rPr spc="-54" dirty="0"/>
              <a:t> </a:t>
            </a:r>
            <a:r>
              <a:rPr spc="-5" dirty="0"/>
              <a:t>it</a:t>
            </a:r>
            <a:r>
              <a:rPr spc="-50" dirty="0"/>
              <a:t> </a:t>
            </a:r>
            <a:r>
              <a:rPr spc="-5" dirty="0"/>
              <a:t>big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9578" y="4143055"/>
            <a:ext cx="4654868" cy="1500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00" b="1" spc="-5" dirty="0">
                <a:latin typeface="Arial"/>
                <a:cs typeface="Arial"/>
              </a:rPr>
              <a:t>Snapshot</a:t>
            </a:r>
            <a:r>
              <a:rPr sz="900" b="1" spc="63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from:</a:t>
            </a:r>
            <a:r>
              <a:rPr sz="900" b="1" spc="86" dirty="0">
                <a:latin typeface="Arial"/>
                <a:cs typeface="Arial"/>
              </a:rPr>
              <a:t> </a:t>
            </a:r>
            <a:r>
              <a:rPr sz="810" spc="-9" dirty="0">
                <a:latin typeface="Arial MT"/>
                <a:cs typeface="Arial MT"/>
              </a:rPr>
              <a:t>https://data.cityofnewyork.us/Transportation/2018-Yellow-Taxi-Trip-Data/t29m-gskq</a:t>
            </a:r>
            <a:endParaRPr sz="81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9130" y="162842"/>
            <a:ext cx="3134678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e.g.,</a:t>
            </a:r>
            <a:r>
              <a:rPr b="1" spc="-23" dirty="0">
                <a:latin typeface="Arial"/>
                <a:cs typeface="Arial"/>
              </a:rPr>
              <a:t> </a:t>
            </a:r>
            <a:r>
              <a:rPr b="1" spc="-32" dirty="0">
                <a:latin typeface="Arial"/>
                <a:cs typeface="Arial"/>
              </a:rPr>
              <a:t>112M</a:t>
            </a:r>
            <a:r>
              <a:rPr b="1" spc="-18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rows</a:t>
            </a:r>
            <a:r>
              <a:rPr b="1" spc="-2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(2021</a:t>
            </a:r>
            <a:r>
              <a:rPr b="1" spc="-18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check)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4683" y="1021871"/>
            <a:ext cx="2699195" cy="272459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51435"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“</a:t>
            </a:r>
            <a:r>
              <a:rPr b="1" i="1" spc="-5" dirty="0">
                <a:latin typeface="Arial"/>
                <a:cs typeface="Arial"/>
              </a:rPr>
              <a:t>As</a:t>
            </a:r>
            <a:r>
              <a:rPr b="1" i="1" spc="-23" dirty="0">
                <a:latin typeface="Arial"/>
                <a:cs typeface="Arial"/>
              </a:rPr>
              <a:t> </a:t>
            </a:r>
            <a:r>
              <a:rPr b="1" i="1" spc="-5" dirty="0">
                <a:latin typeface="Arial"/>
                <a:cs typeface="Arial"/>
              </a:rPr>
              <a:t>of</a:t>
            </a:r>
            <a:r>
              <a:rPr b="1" i="1" spc="-18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today</a:t>
            </a:r>
            <a:r>
              <a:rPr b="1" i="1" spc="-18" dirty="0">
                <a:latin typeface="Arial"/>
                <a:cs typeface="Arial"/>
              </a:rPr>
              <a:t> </a:t>
            </a:r>
            <a:r>
              <a:rPr b="1" i="1" spc="-5" dirty="0">
                <a:latin typeface="Arial"/>
                <a:cs typeface="Arial"/>
              </a:rPr>
              <a:t>we</a:t>
            </a:r>
            <a:r>
              <a:rPr b="1" i="1" spc="-18" dirty="0">
                <a:latin typeface="Arial"/>
                <a:cs typeface="Arial"/>
              </a:rPr>
              <a:t> </a:t>
            </a:r>
            <a:r>
              <a:rPr b="1" i="1" spc="-5" dirty="0">
                <a:latin typeface="Arial"/>
                <a:cs typeface="Arial"/>
              </a:rPr>
              <a:t>have</a:t>
            </a:r>
            <a:r>
              <a:rPr b="1" i="1" spc="5" dirty="0"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60 </a:t>
            </a:r>
            <a:r>
              <a:rPr b="1" i="1" spc="-48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PB of query-able event </a:t>
            </a:r>
            <a:r>
              <a:rPr b="1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data </a:t>
            </a:r>
            <a:r>
              <a:rPr b="1" i="1" spc="-5" dirty="0">
                <a:latin typeface="Arial"/>
                <a:cs typeface="Arial"/>
              </a:rPr>
              <a:t>stored in an S3 </a:t>
            </a:r>
            <a:r>
              <a:rPr b="1" i="1" dirty="0">
                <a:latin typeface="Arial"/>
                <a:cs typeface="Arial"/>
              </a:rPr>
              <a:t> </a:t>
            </a:r>
            <a:r>
              <a:rPr b="1" i="1" spc="-5" dirty="0">
                <a:latin typeface="Arial"/>
                <a:cs typeface="Arial"/>
              </a:rPr>
              <a:t>based data lake and </a:t>
            </a:r>
            <a:r>
              <a:rPr b="1" i="1" dirty="0"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about 10 PB of raw data </a:t>
            </a:r>
            <a:r>
              <a:rPr b="1" i="1" spc="-49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i="1" spc="-5" dirty="0">
                <a:latin typeface="Arial"/>
                <a:cs typeface="Arial"/>
              </a:rPr>
              <a:t>is being scanned every </a:t>
            </a:r>
            <a:r>
              <a:rPr b="1" i="1" dirty="0">
                <a:latin typeface="Arial"/>
                <a:cs typeface="Arial"/>
              </a:rPr>
              <a:t> </a:t>
            </a:r>
            <a:r>
              <a:rPr b="1" i="1" spc="-5" dirty="0">
                <a:latin typeface="Arial"/>
                <a:cs typeface="Arial"/>
              </a:rPr>
              <a:t>day</a:t>
            </a:r>
            <a:r>
              <a:rPr b="1" i="1" spc="-14" dirty="0">
                <a:latin typeface="Arial"/>
                <a:cs typeface="Arial"/>
              </a:rPr>
              <a:t> </a:t>
            </a:r>
            <a:r>
              <a:rPr b="1" i="1" spc="-5" dirty="0">
                <a:latin typeface="Arial"/>
                <a:cs typeface="Arial"/>
              </a:rPr>
              <a:t>using</a:t>
            </a:r>
            <a:r>
              <a:rPr b="1" i="1" spc="-14" dirty="0">
                <a:latin typeface="Arial"/>
                <a:cs typeface="Arial"/>
              </a:rPr>
              <a:t> </a:t>
            </a:r>
            <a:r>
              <a:rPr b="1" i="1" spc="-5" dirty="0">
                <a:latin typeface="Arial"/>
                <a:cs typeface="Arial"/>
              </a:rPr>
              <a:t>Presto.”</a:t>
            </a:r>
            <a:endParaRPr>
              <a:latin typeface="Arial"/>
              <a:cs typeface="Arial"/>
            </a:endParaRPr>
          </a:p>
          <a:p>
            <a:pPr marL="11430" marR="4572">
              <a:spcBef>
                <a:spcPts val="1535"/>
              </a:spcBef>
            </a:pPr>
            <a:r>
              <a:rPr sz="1260" b="1" spc="-5" dirty="0">
                <a:latin typeface="Arial"/>
                <a:cs typeface="Arial"/>
              </a:rPr>
              <a:t>Source:</a:t>
            </a:r>
            <a:r>
              <a:rPr sz="1260" b="1" spc="5" dirty="0">
                <a:latin typeface="Arial"/>
                <a:cs typeface="Arial"/>
              </a:rPr>
              <a:t> </a:t>
            </a:r>
            <a:r>
              <a:rPr sz="1260" spc="-5" dirty="0">
                <a:latin typeface="Arial MT"/>
                <a:cs typeface="Arial MT"/>
              </a:rPr>
              <a:t>Aug,</a:t>
            </a:r>
            <a:r>
              <a:rPr sz="1260" spc="-9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2019 </a:t>
            </a:r>
            <a:r>
              <a:rPr sz="1260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https://eng.lyft.com/presto-infrastructu </a:t>
            </a:r>
            <a:r>
              <a:rPr sz="1260" spc="-338" dirty="0">
                <a:latin typeface="Arial MT"/>
                <a:cs typeface="Arial MT"/>
              </a:rPr>
              <a:t> </a:t>
            </a:r>
            <a:r>
              <a:rPr sz="1260" dirty="0">
                <a:latin typeface="Arial MT"/>
                <a:cs typeface="Arial MT"/>
              </a:rPr>
              <a:t>re-at-lyft-b10adb9db01</a:t>
            </a:r>
            <a:endParaRPr sz="126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0998" y="782279"/>
            <a:ext cx="4406889" cy="32096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1709928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Is</a:t>
            </a:r>
            <a:r>
              <a:rPr spc="-54" dirty="0"/>
              <a:t> </a:t>
            </a:r>
            <a:r>
              <a:rPr spc="-5" dirty="0"/>
              <a:t>it</a:t>
            </a:r>
            <a:r>
              <a:rPr spc="-50" dirty="0"/>
              <a:t> </a:t>
            </a:r>
            <a:r>
              <a:rPr spc="-5" dirty="0"/>
              <a:t>big?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7253" y="1114419"/>
            <a:ext cx="4746308" cy="302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890" b="1" spc="-5" dirty="0">
                <a:latin typeface="Arial"/>
                <a:cs typeface="Arial"/>
              </a:rPr>
              <a:t>From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a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network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infrastructure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monitoring</a:t>
            </a:r>
            <a:endParaRPr sz="189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7748" y="1746567"/>
            <a:ext cx="5780151" cy="929100"/>
          </a:xfrm>
          <a:prstGeom prst="rect">
            <a:avLst/>
          </a:prstGeom>
        </p:spPr>
        <p:txBody>
          <a:bodyPr vert="horz" wrap="square" lIns="0" tIns="14859" rIns="0" bIns="0" rtlCol="0">
            <a:spAutoFit/>
          </a:bodyPr>
          <a:lstStyle/>
          <a:p>
            <a:pPr marL="11430">
              <a:spcBef>
                <a:spcPts val="117"/>
              </a:spcBef>
            </a:pPr>
            <a:r>
              <a:rPr sz="2970" spc="18" dirty="0">
                <a:solidFill>
                  <a:srgbClr val="FF0000"/>
                </a:solidFill>
                <a:latin typeface="Arial MT"/>
                <a:cs typeface="Arial MT"/>
              </a:rPr>
              <a:t>5M</a:t>
            </a:r>
            <a:r>
              <a:rPr sz="2970" spc="-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970" spc="14" dirty="0">
                <a:solidFill>
                  <a:srgbClr val="FF0000"/>
                </a:solidFill>
                <a:latin typeface="Arial MT"/>
                <a:cs typeface="Arial MT"/>
              </a:rPr>
              <a:t>sensors/monitoring</a:t>
            </a:r>
            <a:r>
              <a:rPr sz="2970" spc="-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970" spc="9" dirty="0">
                <a:solidFill>
                  <a:srgbClr val="FF0000"/>
                </a:solidFill>
                <a:latin typeface="Arial MT"/>
                <a:cs typeface="Arial MT"/>
              </a:rPr>
              <a:t>points</a:t>
            </a:r>
            <a:r>
              <a:rPr sz="2970" spc="-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970" spc="5" dirty="0">
                <a:solidFill>
                  <a:srgbClr val="FF0000"/>
                </a:solidFill>
                <a:latin typeface="Arial MT"/>
                <a:cs typeface="Arial MT"/>
              </a:rPr>
              <a:t>with</a:t>
            </a:r>
            <a:endParaRPr sz="2970">
              <a:latin typeface="Arial MT"/>
              <a:cs typeface="Arial MT"/>
            </a:endParaRPr>
          </a:p>
          <a:p>
            <a:pPr marL="11430">
              <a:spcBef>
                <a:spcPts val="36"/>
              </a:spcBef>
              <a:tabLst>
                <a:tab pos="3393566" algn="l"/>
              </a:tabLst>
            </a:pPr>
            <a:r>
              <a:rPr sz="2970" spc="5" dirty="0">
                <a:solidFill>
                  <a:srgbClr val="FF0000"/>
                </a:solidFill>
                <a:latin typeface="Arial MT"/>
                <a:cs typeface="Arial MT"/>
              </a:rPr>
              <a:t>~1.4B </a:t>
            </a:r>
            <a:r>
              <a:rPr sz="2970" spc="9" dirty="0">
                <a:solidFill>
                  <a:srgbClr val="FF0000"/>
                </a:solidFill>
                <a:latin typeface="Arial MT"/>
                <a:cs typeface="Arial MT"/>
              </a:rPr>
              <a:t>events/day~	72GB/day</a:t>
            </a:r>
            <a:endParaRPr sz="297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1691068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Big</a:t>
            </a:r>
            <a:r>
              <a:rPr spc="-81" dirty="0"/>
              <a:t> </a:t>
            </a:r>
            <a:r>
              <a:rPr spc="-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3993" y="1047211"/>
            <a:ext cx="6833426" cy="3083665"/>
          </a:xfrm>
          <a:prstGeom prst="rect">
            <a:avLst/>
          </a:prstGeom>
        </p:spPr>
        <p:txBody>
          <a:bodyPr vert="horz" wrap="square" lIns="0" tIns="75438" rIns="0" bIns="0" rtlCol="0">
            <a:spAutoFit/>
          </a:bodyPr>
          <a:lstStyle/>
          <a:p>
            <a:pPr marL="273177" indent="-262319">
              <a:spcBef>
                <a:spcPts val="594"/>
              </a:spcBef>
              <a:buChar char="▪"/>
              <a:tabLst>
                <a:tab pos="273177" algn="l"/>
                <a:tab pos="273749" algn="l"/>
              </a:tabLst>
            </a:pPr>
            <a:r>
              <a:rPr sz="2520" b="1" spc="-9" dirty="0">
                <a:latin typeface="Arial"/>
                <a:cs typeface="Arial"/>
              </a:rPr>
              <a:t>Extremely</a:t>
            </a:r>
            <a:r>
              <a:rPr sz="2520" b="1" spc="-23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large,</a:t>
            </a:r>
            <a:r>
              <a:rPr sz="2520" b="1" spc="-23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complex</a:t>
            </a:r>
            <a:r>
              <a:rPr sz="2520" b="1" spc="-18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data</a:t>
            </a:r>
            <a:r>
              <a:rPr sz="2520" b="1" spc="-23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sets</a:t>
            </a:r>
            <a:endParaRPr sz="2520">
              <a:latin typeface="Arial"/>
              <a:cs typeface="Arial"/>
            </a:endParaRPr>
          </a:p>
          <a:p>
            <a:pPr marL="486918" lvl="1" indent="-262319">
              <a:spcBef>
                <a:spcPts val="504"/>
              </a:spcBef>
              <a:buFont typeface="Lucida Sans Unicode"/>
              <a:buChar char="▪"/>
              <a:tabLst>
                <a:tab pos="487490" algn="l"/>
              </a:tabLst>
            </a:pPr>
            <a:r>
              <a:rPr sz="2520" spc="-5" dirty="0">
                <a:latin typeface="Georgia"/>
                <a:cs typeface="Georgia"/>
              </a:rPr>
              <a:t>they</a:t>
            </a:r>
            <a:r>
              <a:rPr sz="2520" spc="-14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need</a:t>
            </a:r>
            <a:r>
              <a:rPr sz="2520" spc="-18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to</a:t>
            </a:r>
            <a:r>
              <a:rPr sz="2520" spc="-14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be</a:t>
            </a:r>
            <a:r>
              <a:rPr sz="2520" spc="-14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handled</a:t>
            </a:r>
            <a:r>
              <a:rPr sz="2520" spc="-9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with</a:t>
            </a:r>
            <a:r>
              <a:rPr sz="2520" spc="-14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new</a:t>
            </a:r>
            <a:r>
              <a:rPr sz="2520" spc="-18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techniques</a:t>
            </a:r>
            <a:endParaRPr sz="2520">
              <a:latin typeface="Georgia"/>
              <a:cs typeface="Georgia"/>
            </a:endParaRPr>
          </a:p>
          <a:p>
            <a:pPr marL="273177" indent="-262319">
              <a:spcBef>
                <a:spcPts val="504"/>
              </a:spcBef>
              <a:buChar char="▪"/>
              <a:tabLst>
                <a:tab pos="273177" algn="l"/>
                <a:tab pos="273749" algn="l"/>
                <a:tab pos="5612702" algn="l"/>
              </a:tabLst>
            </a:pPr>
            <a:r>
              <a:rPr sz="2520" b="1" spc="-5" dirty="0">
                <a:latin typeface="Arial"/>
                <a:cs typeface="Arial"/>
              </a:rPr>
              <a:t>Individual</a:t>
            </a:r>
            <a:r>
              <a:rPr sz="2520" b="1" spc="-9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data items can</a:t>
            </a:r>
            <a:r>
              <a:rPr sz="2520" b="1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be small	or</a:t>
            </a:r>
            <a:r>
              <a:rPr sz="2520" b="1" spc="-50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big</a:t>
            </a:r>
            <a:endParaRPr sz="2520">
              <a:latin typeface="Arial"/>
              <a:cs typeface="Arial"/>
            </a:endParaRPr>
          </a:p>
          <a:p>
            <a:pPr marL="486918" marR="248031" lvl="1" indent="-264033">
              <a:spcBef>
                <a:spcPts val="486"/>
              </a:spcBef>
              <a:buFont typeface="Lucida Sans Unicode"/>
              <a:buChar char="▪"/>
              <a:tabLst>
                <a:tab pos="486918" algn="l"/>
                <a:tab pos="487490" algn="l"/>
              </a:tabLst>
            </a:pPr>
            <a:r>
              <a:rPr sz="2430" spc="-5" dirty="0">
                <a:latin typeface="Georgia"/>
                <a:cs typeface="Georgia"/>
              </a:rPr>
              <a:t>e.g., simple sensor events versus high quality </a:t>
            </a:r>
            <a:r>
              <a:rPr sz="2430" spc="-576" dirty="0">
                <a:latin typeface="Georgia"/>
                <a:cs typeface="Georgia"/>
              </a:rPr>
              <a:t> </a:t>
            </a:r>
            <a:r>
              <a:rPr sz="2430" spc="-5" dirty="0">
                <a:latin typeface="Georgia"/>
                <a:cs typeface="Georgia"/>
              </a:rPr>
              <a:t>satellite</a:t>
            </a:r>
            <a:r>
              <a:rPr sz="2430" spc="-9" dirty="0">
                <a:latin typeface="Georgia"/>
                <a:cs typeface="Georgia"/>
              </a:rPr>
              <a:t> </a:t>
            </a:r>
            <a:r>
              <a:rPr sz="2430" spc="-5" dirty="0">
                <a:latin typeface="Georgia"/>
                <a:cs typeface="Georgia"/>
              </a:rPr>
              <a:t>images</a:t>
            </a:r>
            <a:endParaRPr sz="2430">
              <a:latin typeface="Georgia"/>
              <a:cs typeface="Georgia"/>
            </a:endParaRPr>
          </a:p>
          <a:p>
            <a:pPr marL="273177" indent="-262319">
              <a:spcBef>
                <a:spcPts val="504"/>
              </a:spcBef>
              <a:buChar char="▪"/>
              <a:tabLst>
                <a:tab pos="273177" algn="l"/>
                <a:tab pos="273749" algn="l"/>
              </a:tabLst>
            </a:pPr>
            <a:r>
              <a:rPr sz="2520" b="1" spc="-5" dirty="0">
                <a:latin typeface="Arial"/>
                <a:cs typeface="Arial"/>
              </a:rPr>
              <a:t>Often</a:t>
            </a:r>
            <a:r>
              <a:rPr sz="2520" b="1" spc="-32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characterized</a:t>
            </a:r>
            <a:r>
              <a:rPr sz="2520" b="1" spc="-23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by</a:t>
            </a:r>
            <a:r>
              <a:rPr sz="2520" b="1" spc="-27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V*</a:t>
            </a:r>
            <a:endParaRPr sz="2520">
              <a:latin typeface="Arial"/>
              <a:cs typeface="Arial"/>
            </a:endParaRPr>
          </a:p>
          <a:p>
            <a:pPr marL="486918" lvl="1" indent="-262319">
              <a:spcBef>
                <a:spcPts val="504"/>
              </a:spcBef>
              <a:buFont typeface="Lucida Sans Unicode"/>
              <a:buChar char="▪"/>
              <a:tabLst>
                <a:tab pos="487490" algn="l"/>
              </a:tabLst>
            </a:pPr>
            <a:r>
              <a:rPr sz="2520" spc="-5" dirty="0">
                <a:latin typeface="Georgia"/>
                <a:cs typeface="Georgia"/>
              </a:rPr>
              <a:t>e.g.,</a:t>
            </a:r>
            <a:r>
              <a:rPr sz="2520" spc="-18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Volume,</a:t>
            </a:r>
            <a:r>
              <a:rPr sz="2520" spc="-14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Variety,</a:t>
            </a:r>
            <a:r>
              <a:rPr sz="2520" spc="-14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Velocity,</a:t>
            </a:r>
            <a:r>
              <a:rPr sz="2520" spc="-14" dirty="0">
                <a:latin typeface="Georgia"/>
                <a:cs typeface="Georgia"/>
              </a:rPr>
              <a:t> </a:t>
            </a:r>
            <a:r>
              <a:rPr sz="2520" spc="-9" dirty="0">
                <a:latin typeface="Georgia"/>
                <a:cs typeface="Georgia"/>
              </a:rPr>
              <a:t>and</a:t>
            </a:r>
            <a:r>
              <a:rPr sz="2520" spc="-18" dirty="0">
                <a:latin typeface="Georgia"/>
                <a:cs typeface="Georgia"/>
              </a:rPr>
              <a:t> </a:t>
            </a:r>
            <a:r>
              <a:rPr sz="2520" spc="-5" dirty="0">
                <a:latin typeface="Georgia"/>
                <a:cs typeface="Georgia"/>
              </a:rPr>
              <a:t>Veracity</a:t>
            </a:r>
            <a:endParaRPr sz="252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5659565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Characterize</a:t>
            </a:r>
            <a:r>
              <a:rPr spc="-23" dirty="0"/>
              <a:t> </a:t>
            </a:r>
            <a:r>
              <a:rPr spc="-9" dirty="0"/>
              <a:t>big</a:t>
            </a:r>
            <a:r>
              <a:rPr spc="-23" dirty="0"/>
              <a:t> </a:t>
            </a:r>
            <a:r>
              <a:rPr spc="-9" dirty="0"/>
              <a:t>data</a:t>
            </a:r>
            <a:r>
              <a:rPr spc="-23" dirty="0"/>
              <a:t> </a:t>
            </a:r>
            <a:r>
              <a:rPr spc="-9" dirty="0"/>
              <a:t>with</a:t>
            </a:r>
            <a:r>
              <a:rPr spc="-23" dirty="0"/>
              <a:t> </a:t>
            </a:r>
            <a:r>
              <a:rPr spc="-5" dirty="0"/>
              <a:t>V*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48" y="1058184"/>
            <a:ext cx="7168325" cy="3085204"/>
          </a:xfrm>
          <a:prstGeom prst="rect">
            <a:avLst/>
          </a:prstGeom>
        </p:spPr>
        <p:txBody>
          <a:bodyPr vert="horz" wrap="square" lIns="0" tIns="66294" rIns="0" bIns="0" rtlCol="0">
            <a:spAutoFit/>
          </a:bodyPr>
          <a:lstStyle/>
          <a:p>
            <a:pPr marL="228029" indent="-217170">
              <a:spcBef>
                <a:spcPts val="522"/>
              </a:spcBef>
              <a:buChar char="▪"/>
              <a:tabLst>
                <a:tab pos="228029" algn="l"/>
                <a:tab pos="228600" algn="l"/>
              </a:tabLst>
            </a:pPr>
            <a:r>
              <a:rPr sz="2160" b="1" spc="-27" dirty="0">
                <a:latin typeface="Arial"/>
                <a:cs typeface="Arial"/>
              </a:rPr>
              <a:t>Volume:</a:t>
            </a:r>
            <a:endParaRPr sz="2160">
              <a:latin typeface="Arial"/>
              <a:cs typeface="Arial"/>
            </a:endParaRPr>
          </a:p>
          <a:p>
            <a:pPr marL="442341" lvl="1" indent="-217742">
              <a:spcBef>
                <a:spcPts val="432"/>
              </a:spcBef>
              <a:buFont typeface="Lucida Sans Unicode"/>
              <a:buChar char="▪"/>
              <a:tabLst>
                <a:tab pos="442913" algn="l"/>
              </a:tabLst>
            </a:pPr>
            <a:r>
              <a:rPr sz="2160" spc="-5" dirty="0">
                <a:latin typeface="Georgia"/>
                <a:cs typeface="Georgia"/>
              </a:rPr>
              <a:t>big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size,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large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data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set,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massive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of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small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data</a:t>
            </a:r>
            <a:endParaRPr sz="2160">
              <a:latin typeface="Georgia"/>
              <a:cs typeface="Georgia"/>
            </a:endParaRPr>
          </a:p>
          <a:p>
            <a:pPr marL="228029" indent="-217170">
              <a:spcBef>
                <a:spcPts val="432"/>
              </a:spcBef>
              <a:buChar char="▪"/>
              <a:tabLst>
                <a:tab pos="228029" algn="l"/>
                <a:tab pos="228600" algn="l"/>
              </a:tabLst>
            </a:pPr>
            <a:r>
              <a:rPr sz="2160" b="1" spc="-23" dirty="0">
                <a:latin typeface="Arial"/>
                <a:cs typeface="Arial"/>
              </a:rPr>
              <a:t>Variety:</a:t>
            </a:r>
            <a:endParaRPr sz="2160">
              <a:latin typeface="Arial"/>
              <a:cs typeface="Arial"/>
            </a:endParaRPr>
          </a:p>
          <a:p>
            <a:pPr marL="442341" lvl="1" indent="-217742">
              <a:spcBef>
                <a:spcPts val="432"/>
              </a:spcBef>
              <a:buClr>
                <a:srgbClr val="000000"/>
              </a:buClr>
              <a:buFont typeface="Lucida Sans Unicode"/>
              <a:buChar char="▪"/>
              <a:tabLst>
                <a:tab pos="442913" algn="l"/>
              </a:tabLst>
            </a:pPr>
            <a:r>
              <a:rPr sz="2160" spc="-5" dirty="0">
                <a:solidFill>
                  <a:srgbClr val="0000FF"/>
                </a:solidFill>
                <a:latin typeface="Georgia"/>
                <a:cs typeface="Georgia"/>
              </a:rPr>
              <a:t>complex,</a:t>
            </a:r>
            <a:r>
              <a:rPr sz="2160" spc="-9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2160" spc="-5" dirty="0">
                <a:solidFill>
                  <a:srgbClr val="0000FF"/>
                </a:solidFill>
                <a:latin typeface="Georgia"/>
                <a:cs typeface="Georgia"/>
              </a:rPr>
              <a:t>different</a:t>
            </a:r>
            <a:r>
              <a:rPr sz="2160" spc="-9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2160" spc="-5" dirty="0">
                <a:solidFill>
                  <a:srgbClr val="0000FF"/>
                </a:solidFill>
                <a:latin typeface="Georgia"/>
                <a:cs typeface="Georgia"/>
              </a:rPr>
              <a:t>formats</a:t>
            </a:r>
            <a:r>
              <a:rPr sz="2160" spc="-5" dirty="0">
                <a:latin typeface="Georgia"/>
                <a:cs typeface="Georgia"/>
              </a:rPr>
              <a:t>,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types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of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data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and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their</a:t>
            </a:r>
            <a:r>
              <a:rPr sz="2160" spc="-9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links</a:t>
            </a:r>
            <a:endParaRPr sz="2160">
              <a:latin typeface="Georgia"/>
              <a:cs typeface="Georgia"/>
            </a:endParaRPr>
          </a:p>
          <a:p>
            <a:pPr marL="228029" indent="-217170">
              <a:spcBef>
                <a:spcPts val="432"/>
              </a:spcBef>
              <a:buChar char="▪"/>
              <a:tabLst>
                <a:tab pos="228029" algn="l"/>
                <a:tab pos="228600" algn="l"/>
              </a:tabLst>
            </a:pPr>
            <a:r>
              <a:rPr sz="2160" b="1" spc="-18" dirty="0">
                <a:latin typeface="Arial"/>
                <a:cs typeface="Arial"/>
              </a:rPr>
              <a:t>Velocity:</a:t>
            </a:r>
            <a:endParaRPr sz="2160">
              <a:latin typeface="Arial"/>
              <a:cs typeface="Arial"/>
            </a:endParaRPr>
          </a:p>
          <a:p>
            <a:pPr marL="442341" lvl="1" indent="-217742">
              <a:spcBef>
                <a:spcPts val="432"/>
              </a:spcBef>
              <a:buFont typeface="Lucida Sans Unicode"/>
              <a:buChar char="▪"/>
              <a:tabLst>
                <a:tab pos="442913" algn="l"/>
              </a:tabLst>
            </a:pPr>
            <a:r>
              <a:rPr sz="2160" spc="-5" dirty="0">
                <a:latin typeface="Georgia"/>
                <a:cs typeface="Georgia"/>
              </a:rPr>
              <a:t>generating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speed,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data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movement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speed</a:t>
            </a:r>
            <a:endParaRPr sz="2160">
              <a:latin typeface="Georgia"/>
              <a:cs typeface="Georgia"/>
            </a:endParaRPr>
          </a:p>
          <a:p>
            <a:pPr marL="228029" indent="-217170">
              <a:spcBef>
                <a:spcPts val="432"/>
              </a:spcBef>
              <a:buChar char="▪"/>
              <a:tabLst>
                <a:tab pos="228029" algn="l"/>
                <a:tab pos="228600" algn="l"/>
              </a:tabLst>
            </a:pPr>
            <a:r>
              <a:rPr sz="2160" b="1" spc="-18" dirty="0">
                <a:latin typeface="Arial"/>
                <a:cs typeface="Arial"/>
              </a:rPr>
              <a:t>Veracity:</a:t>
            </a:r>
            <a:endParaRPr sz="2160">
              <a:latin typeface="Arial"/>
              <a:cs typeface="Arial"/>
            </a:endParaRPr>
          </a:p>
          <a:p>
            <a:pPr marL="442341" lvl="1" indent="-217742">
              <a:spcBef>
                <a:spcPts val="432"/>
              </a:spcBef>
              <a:buClr>
                <a:srgbClr val="000000"/>
              </a:buClr>
              <a:buFont typeface="Lucida Sans Unicode"/>
              <a:buChar char="▪"/>
              <a:tabLst>
                <a:tab pos="442913" algn="l"/>
              </a:tabLst>
            </a:pPr>
            <a:r>
              <a:rPr sz="2160" spc="-5" dirty="0">
                <a:solidFill>
                  <a:srgbClr val="0000FF"/>
                </a:solidFill>
                <a:latin typeface="Georgia"/>
                <a:cs typeface="Georgia"/>
              </a:rPr>
              <a:t>quality</a:t>
            </a:r>
            <a:r>
              <a:rPr sz="2160" spc="-9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is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very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different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dirty="0">
                <a:latin typeface="Georgia"/>
                <a:cs typeface="Georgia"/>
              </a:rPr>
              <a:t>(timeliness,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accuracy,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etc.)</a:t>
            </a:r>
            <a:endParaRPr sz="216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608819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Why</a:t>
            </a:r>
            <a:r>
              <a:rPr spc="-18" dirty="0"/>
              <a:t> </a:t>
            </a:r>
            <a:r>
              <a:rPr spc="-5" dirty="0"/>
              <a:t>do</a:t>
            </a:r>
            <a:r>
              <a:rPr spc="-18" dirty="0"/>
              <a:t> </a:t>
            </a:r>
            <a:r>
              <a:rPr spc="-5" dirty="0"/>
              <a:t>we</a:t>
            </a:r>
            <a:r>
              <a:rPr spc="-18" dirty="0"/>
              <a:t> </a:t>
            </a:r>
            <a:r>
              <a:rPr spc="-9" dirty="0"/>
              <a:t>have</a:t>
            </a:r>
            <a:r>
              <a:rPr spc="-18" dirty="0"/>
              <a:t> </a:t>
            </a:r>
            <a:r>
              <a:rPr spc="-9" dirty="0"/>
              <a:t>big</a:t>
            </a:r>
            <a:r>
              <a:rPr spc="-18" dirty="0"/>
              <a:t> </a:t>
            </a:r>
            <a:r>
              <a:rPr spc="-9" dirty="0"/>
              <a:t>data</a:t>
            </a:r>
            <a:r>
              <a:rPr spc="-18" dirty="0"/>
              <a:t> </a:t>
            </a:r>
            <a:r>
              <a:rPr spc="-5" dirty="0"/>
              <a:t>now?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4180" y="1075885"/>
            <a:ext cx="7037451" cy="3047373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77190" indent="-366331">
              <a:spcBef>
                <a:spcPts val="225"/>
              </a:spcBef>
              <a:buChar char="●"/>
              <a:tabLst>
                <a:tab pos="377190" algn="l"/>
                <a:tab pos="377761" algn="l"/>
                <a:tab pos="1854518" algn="l"/>
              </a:tabLst>
            </a:pPr>
            <a:r>
              <a:rPr sz="1755" b="1" spc="-9" dirty="0">
                <a:latin typeface="Arial"/>
                <a:cs typeface="Arial"/>
              </a:rPr>
              <a:t>Social</a:t>
            </a:r>
            <a:r>
              <a:rPr sz="1755" b="1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media	data</a:t>
            </a:r>
            <a:r>
              <a:rPr sz="1755" b="1" spc="-14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generated</a:t>
            </a:r>
            <a:r>
              <a:rPr sz="1755" b="1" spc="-18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by</a:t>
            </a:r>
            <a:r>
              <a:rPr sz="1755" b="1" spc="-18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human</a:t>
            </a:r>
            <a:r>
              <a:rPr sz="1755" b="1" spc="-18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activities</a:t>
            </a:r>
            <a:endParaRPr sz="1755">
              <a:latin typeface="Arial"/>
              <a:cs typeface="Arial"/>
            </a:endParaRPr>
          </a:p>
          <a:p>
            <a:pPr marL="634365" lvl="1" indent="-280035">
              <a:spcBef>
                <a:spcPts val="131"/>
              </a:spcBef>
              <a:buFont typeface="Arial MT"/>
              <a:buChar char="○"/>
              <a:tabLst>
                <a:tab pos="634365" algn="l"/>
                <a:tab pos="634937" algn="l"/>
              </a:tabLst>
            </a:pPr>
            <a:r>
              <a:rPr sz="1665" spc="-5" dirty="0">
                <a:latin typeface="Georgia"/>
                <a:cs typeface="Georgia"/>
              </a:rPr>
              <a:t>Meta/Facebook,</a:t>
            </a:r>
            <a:r>
              <a:rPr sz="1665" spc="-18" dirty="0">
                <a:latin typeface="Georgia"/>
                <a:cs typeface="Georgia"/>
              </a:rPr>
              <a:t> </a:t>
            </a:r>
            <a:r>
              <a:rPr sz="1665" spc="-5" dirty="0">
                <a:latin typeface="Georgia"/>
                <a:cs typeface="Georgia"/>
              </a:rPr>
              <a:t>TikTok,</a:t>
            </a:r>
            <a:r>
              <a:rPr sz="1665" spc="-18" dirty="0">
                <a:latin typeface="Georgia"/>
                <a:cs typeface="Georgia"/>
              </a:rPr>
              <a:t> </a:t>
            </a:r>
            <a:r>
              <a:rPr sz="1665" spc="-5" dirty="0">
                <a:latin typeface="Georgia"/>
                <a:cs typeface="Georgia"/>
              </a:rPr>
              <a:t>Twitter,</a:t>
            </a:r>
            <a:r>
              <a:rPr sz="1665" spc="-18" dirty="0">
                <a:latin typeface="Georgia"/>
                <a:cs typeface="Georgia"/>
              </a:rPr>
              <a:t> </a:t>
            </a:r>
            <a:r>
              <a:rPr sz="1665" spc="-5" dirty="0">
                <a:latin typeface="Georgia"/>
                <a:cs typeface="Georgia"/>
              </a:rPr>
              <a:t>Instagram,</a:t>
            </a:r>
            <a:r>
              <a:rPr sz="1665" spc="-18" dirty="0">
                <a:latin typeface="Georgia"/>
                <a:cs typeface="Georgia"/>
              </a:rPr>
              <a:t> </a:t>
            </a:r>
            <a:r>
              <a:rPr sz="1665" spc="-5" dirty="0">
                <a:latin typeface="Georgia"/>
                <a:cs typeface="Georgia"/>
              </a:rPr>
              <a:t>etc.</a:t>
            </a:r>
            <a:endParaRPr sz="1665">
              <a:latin typeface="Georgia"/>
              <a:cs typeface="Georgia"/>
            </a:endParaRPr>
          </a:p>
          <a:p>
            <a:pPr marL="377190" indent="-366331">
              <a:spcBef>
                <a:spcPts val="131"/>
              </a:spcBef>
              <a:buChar char="●"/>
              <a:tabLst>
                <a:tab pos="377190" algn="l"/>
                <a:tab pos="377761" algn="l"/>
              </a:tabLst>
            </a:pPr>
            <a:r>
              <a:rPr sz="1755" b="1" spc="-9" dirty="0">
                <a:latin typeface="Arial"/>
                <a:cs typeface="Arial"/>
              </a:rPr>
              <a:t>Internet</a:t>
            </a:r>
            <a:r>
              <a:rPr sz="1755" b="1" spc="-14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of Things</a:t>
            </a:r>
            <a:r>
              <a:rPr sz="1755" b="1" spc="-14" dirty="0">
                <a:latin typeface="Arial"/>
                <a:cs typeface="Arial"/>
              </a:rPr>
              <a:t> </a:t>
            </a:r>
            <a:r>
              <a:rPr sz="1755" b="1" spc="-5" dirty="0">
                <a:latin typeface="Arial"/>
                <a:cs typeface="Arial"/>
              </a:rPr>
              <a:t>(IoT)/Machine-to-Machine (M2M)/Industry</a:t>
            </a:r>
            <a:r>
              <a:rPr sz="1755" b="1" spc="-9" dirty="0">
                <a:latin typeface="Arial"/>
                <a:cs typeface="Arial"/>
              </a:rPr>
              <a:t> 4.0</a:t>
            </a:r>
            <a:endParaRPr sz="1755">
              <a:latin typeface="Arial"/>
              <a:cs typeface="Arial"/>
            </a:endParaRPr>
          </a:p>
          <a:p>
            <a:pPr marL="634365" marR="211455" lvl="1" indent="-279464">
              <a:lnSpc>
                <a:spcPts val="1800"/>
              </a:lnSpc>
              <a:spcBef>
                <a:spcPts val="360"/>
              </a:spcBef>
              <a:buFont typeface="Arial MT"/>
              <a:buChar char="○"/>
              <a:tabLst>
                <a:tab pos="634365" algn="l"/>
                <a:tab pos="634937" algn="l"/>
              </a:tabLst>
            </a:pPr>
            <a:r>
              <a:rPr sz="1665" spc="-5" dirty="0">
                <a:latin typeface="Georgia"/>
                <a:cs typeface="Georgia"/>
              </a:rPr>
              <a:t>data generated from monitoring of equipment, infrastructures and </a:t>
            </a:r>
            <a:r>
              <a:rPr sz="1665" spc="-391" dirty="0">
                <a:latin typeface="Georgia"/>
                <a:cs typeface="Georgia"/>
              </a:rPr>
              <a:t> </a:t>
            </a:r>
            <a:r>
              <a:rPr sz="1665" spc="-5" dirty="0">
                <a:latin typeface="Georgia"/>
                <a:cs typeface="Georgia"/>
              </a:rPr>
              <a:t>environments</a:t>
            </a:r>
            <a:endParaRPr sz="1665">
              <a:latin typeface="Georgia"/>
              <a:cs typeface="Georgia"/>
            </a:endParaRPr>
          </a:p>
          <a:p>
            <a:pPr marL="377190" indent="-366331">
              <a:spcBef>
                <a:spcPts val="103"/>
              </a:spcBef>
              <a:buChar char="●"/>
              <a:tabLst>
                <a:tab pos="377190" algn="l"/>
                <a:tab pos="377761" algn="l"/>
              </a:tabLst>
            </a:pPr>
            <a:r>
              <a:rPr sz="1755" b="1" spc="-9" dirty="0">
                <a:latin typeface="Arial"/>
                <a:cs typeface="Arial"/>
              </a:rPr>
              <a:t>Advanced sciences data</a:t>
            </a:r>
            <a:r>
              <a:rPr sz="1755" b="1" spc="-14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generated by</a:t>
            </a:r>
            <a:r>
              <a:rPr sz="1755" b="1" spc="-14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advanced instruments</a:t>
            </a:r>
            <a:endParaRPr sz="1755">
              <a:latin typeface="Arial"/>
              <a:cs typeface="Arial"/>
            </a:endParaRPr>
          </a:p>
          <a:p>
            <a:pPr marL="641795" lvl="1" indent="-416052">
              <a:spcBef>
                <a:spcPts val="135"/>
              </a:spcBef>
              <a:buFont typeface="Arial MT"/>
              <a:buChar char="○"/>
              <a:tabLst>
                <a:tab pos="641795" algn="l"/>
                <a:tab pos="642366" algn="l"/>
              </a:tabLst>
            </a:pPr>
            <a:r>
              <a:rPr sz="1665" spc="-5" dirty="0">
                <a:latin typeface="Georgia"/>
                <a:cs typeface="Georgia"/>
              </a:rPr>
              <a:t>Earth</a:t>
            </a:r>
            <a:r>
              <a:rPr sz="1665" spc="-18" dirty="0">
                <a:latin typeface="Georgia"/>
                <a:cs typeface="Georgia"/>
              </a:rPr>
              <a:t> </a:t>
            </a:r>
            <a:r>
              <a:rPr sz="1665" spc="-5" dirty="0">
                <a:latin typeface="Georgia"/>
                <a:cs typeface="Georgia"/>
              </a:rPr>
              <a:t>observation</a:t>
            </a:r>
            <a:r>
              <a:rPr sz="1665" spc="-14" dirty="0">
                <a:latin typeface="Georgia"/>
                <a:cs typeface="Georgia"/>
              </a:rPr>
              <a:t> </a:t>
            </a:r>
            <a:r>
              <a:rPr sz="1665" spc="-5" dirty="0">
                <a:latin typeface="Georgia"/>
                <a:cs typeface="Georgia"/>
              </a:rPr>
              <a:t>from</a:t>
            </a:r>
            <a:r>
              <a:rPr sz="1665" spc="-14" dirty="0">
                <a:latin typeface="Georgia"/>
                <a:cs typeface="Georgia"/>
              </a:rPr>
              <a:t> </a:t>
            </a:r>
            <a:r>
              <a:rPr sz="1665" spc="-5" dirty="0">
                <a:latin typeface="Georgia"/>
                <a:cs typeface="Georgia"/>
              </a:rPr>
              <a:t>satellites/telescopes</a:t>
            </a:r>
            <a:r>
              <a:rPr sz="1665" spc="-14" dirty="0">
                <a:latin typeface="Georgia"/>
                <a:cs typeface="Georgia"/>
              </a:rPr>
              <a:t> </a:t>
            </a:r>
            <a:r>
              <a:rPr sz="1665" dirty="0">
                <a:latin typeface="Georgia"/>
                <a:cs typeface="Georgia"/>
              </a:rPr>
              <a:t>(Sentinel,</a:t>
            </a:r>
            <a:r>
              <a:rPr sz="1665" spc="-18" dirty="0">
                <a:latin typeface="Georgia"/>
                <a:cs typeface="Georgia"/>
              </a:rPr>
              <a:t> </a:t>
            </a:r>
            <a:r>
              <a:rPr sz="1665" spc="-5" dirty="0">
                <a:latin typeface="Georgia"/>
                <a:cs typeface="Georgia"/>
              </a:rPr>
              <a:t>James</a:t>
            </a:r>
            <a:r>
              <a:rPr sz="1665" spc="-14" dirty="0">
                <a:latin typeface="Georgia"/>
                <a:cs typeface="Georgia"/>
              </a:rPr>
              <a:t> </a:t>
            </a:r>
            <a:r>
              <a:rPr sz="1665" spc="-5" dirty="0">
                <a:latin typeface="Georgia"/>
                <a:cs typeface="Georgia"/>
              </a:rPr>
              <a:t>Webb)</a:t>
            </a:r>
            <a:endParaRPr sz="1665">
              <a:latin typeface="Georgia"/>
              <a:cs typeface="Georgia"/>
            </a:endParaRPr>
          </a:p>
          <a:p>
            <a:pPr marL="377190" indent="-366331">
              <a:spcBef>
                <a:spcPts val="131"/>
              </a:spcBef>
              <a:buChar char="●"/>
              <a:tabLst>
                <a:tab pos="377190" algn="l"/>
                <a:tab pos="377761" algn="l"/>
              </a:tabLst>
            </a:pPr>
            <a:r>
              <a:rPr sz="1755" b="1" spc="-9" dirty="0">
                <a:latin typeface="Arial"/>
                <a:cs typeface="Arial"/>
              </a:rPr>
              <a:t>Personal</a:t>
            </a:r>
            <a:r>
              <a:rPr sz="1755" b="1" spc="-14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and disease</a:t>
            </a:r>
            <a:r>
              <a:rPr sz="1755" b="1" spc="-14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information </a:t>
            </a:r>
            <a:r>
              <a:rPr sz="1755" b="1" spc="-5" dirty="0">
                <a:latin typeface="Arial"/>
                <a:cs typeface="Arial"/>
              </a:rPr>
              <a:t>(e.g.,</a:t>
            </a:r>
            <a:r>
              <a:rPr sz="1755" b="1" spc="-9" dirty="0">
                <a:latin typeface="Arial"/>
                <a:cs typeface="Arial"/>
              </a:rPr>
              <a:t> healthcare)</a:t>
            </a:r>
            <a:endParaRPr sz="1755">
              <a:latin typeface="Arial"/>
              <a:cs typeface="Arial"/>
            </a:endParaRPr>
          </a:p>
          <a:p>
            <a:pPr marL="377190" indent="-366331">
              <a:spcBef>
                <a:spcPts val="131"/>
              </a:spcBef>
              <a:buChar char="●"/>
              <a:tabLst>
                <a:tab pos="377190" algn="l"/>
                <a:tab pos="377761" algn="l"/>
              </a:tabLst>
            </a:pPr>
            <a:r>
              <a:rPr sz="1755" b="1" spc="-9" dirty="0">
                <a:latin typeface="Arial"/>
                <a:cs typeface="Arial"/>
              </a:rPr>
              <a:t>Business-related</a:t>
            </a:r>
            <a:r>
              <a:rPr sz="1755" b="1" spc="-23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customer</a:t>
            </a:r>
            <a:r>
              <a:rPr sz="1755" b="1" spc="-23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data</a:t>
            </a:r>
            <a:endParaRPr sz="1755">
              <a:latin typeface="Arial"/>
              <a:cs typeface="Arial"/>
            </a:endParaRPr>
          </a:p>
          <a:p>
            <a:pPr marL="377190" indent="-366331">
              <a:spcBef>
                <a:spcPts val="131"/>
              </a:spcBef>
              <a:buChar char="●"/>
              <a:tabLst>
                <a:tab pos="377190" algn="l"/>
                <a:tab pos="377761" algn="l"/>
              </a:tabLst>
            </a:pPr>
            <a:r>
              <a:rPr sz="1755" b="1" spc="-9" dirty="0">
                <a:latin typeface="Arial"/>
                <a:cs typeface="Arial"/>
              </a:rPr>
              <a:t>Asset management and lodging</a:t>
            </a:r>
            <a:r>
              <a:rPr sz="1755" b="1" spc="-14" dirty="0">
                <a:latin typeface="Arial"/>
                <a:cs typeface="Arial"/>
              </a:rPr>
              <a:t> </a:t>
            </a:r>
            <a:r>
              <a:rPr sz="1755" b="1" spc="-5" dirty="0">
                <a:latin typeface="Arial"/>
                <a:cs typeface="Arial"/>
              </a:rPr>
              <a:t>(e.g.,</a:t>
            </a:r>
            <a:r>
              <a:rPr sz="1755" b="1" spc="-9" dirty="0">
                <a:latin typeface="Arial"/>
                <a:cs typeface="Arial"/>
              </a:rPr>
              <a:t> cars, homes)</a:t>
            </a:r>
            <a:endParaRPr sz="1755">
              <a:latin typeface="Arial"/>
              <a:cs typeface="Arial"/>
            </a:endParaRPr>
          </a:p>
          <a:p>
            <a:pPr marL="377190" indent="-366331">
              <a:spcBef>
                <a:spcPts val="135"/>
              </a:spcBef>
              <a:buChar char="●"/>
              <a:tabLst>
                <a:tab pos="377190" algn="l"/>
                <a:tab pos="377761" algn="l"/>
              </a:tabLst>
            </a:pPr>
            <a:r>
              <a:rPr sz="1755" b="1" spc="-9" dirty="0">
                <a:latin typeface="Arial"/>
                <a:cs typeface="Arial"/>
              </a:rPr>
              <a:t>Software</a:t>
            </a:r>
            <a:r>
              <a:rPr sz="1755" b="1" spc="-14" dirty="0">
                <a:latin typeface="Arial"/>
                <a:cs typeface="Arial"/>
              </a:rPr>
              <a:t> </a:t>
            </a:r>
            <a:r>
              <a:rPr sz="1755" b="1" spc="-9" dirty="0">
                <a:latin typeface="Arial"/>
                <a:cs typeface="Arial"/>
              </a:rPr>
              <a:t>systems</a:t>
            </a:r>
            <a:r>
              <a:rPr sz="1755" b="1" spc="-5" dirty="0">
                <a:latin typeface="Arial"/>
                <a:cs typeface="Arial"/>
              </a:rPr>
              <a:t> (e.g.,</a:t>
            </a:r>
            <a:r>
              <a:rPr sz="1755" b="1" spc="-9" dirty="0">
                <a:latin typeface="Arial"/>
                <a:cs typeface="Arial"/>
              </a:rPr>
              <a:t> </a:t>
            </a:r>
            <a:r>
              <a:rPr sz="1755" b="1" spc="-5" dirty="0">
                <a:latin typeface="Arial"/>
                <a:cs typeface="Arial"/>
              </a:rPr>
              <a:t>tracing, </a:t>
            </a:r>
            <a:r>
              <a:rPr sz="1755" b="1" spc="-9" dirty="0">
                <a:latin typeface="Arial"/>
                <a:cs typeface="Arial"/>
              </a:rPr>
              <a:t>logs and </a:t>
            </a:r>
            <a:r>
              <a:rPr sz="1755" b="1" spc="-5" dirty="0">
                <a:latin typeface="Arial"/>
                <a:cs typeface="Arial"/>
              </a:rPr>
              <a:t>test </a:t>
            </a:r>
            <a:r>
              <a:rPr sz="1755" b="1" spc="-9" dirty="0">
                <a:latin typeface="Arial"/>
                <a:cs typeface="Arial"/>
              </a:rPr>
              <a:t>results)</a:t>
            </a:r>
            <a:endParaRPr sz="175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7045147" cy="511487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Big</a:t>
            </a:r>
            <a:r>
              <a:rPr spc="-32" dirty="0"/>
              <a:t> </a:t>
            </a:r>
            <a:r>
              <a:rPr dirty="0"/>
              <a:t>“operational”</a:t>
            </a:r>
            <a:r>
              <a:rPr spc="-32" dirty="0"/>
              <a:t> </a:t>
            </a:r>
            <a:r>
              <a:rPr spc="-5" dirty="0"/>
              <a:t>and</a:t>
            </a:r>
            <a:r>
              <a:rPr spc="-32" dirty="0"/>
              <a:t> </a:t>
            </a:r>
            <a:r>
              <a:rPr dirty="0"/>
              <a:t>“analytical” </a:t>
            </a:r>
            <a:r>
              <a:rPr spc="-887" dirty="0"/>
              <a:t> </a:t>
            </a:r>
            <a:r>
              <a:rPr spc="-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8014" y="1114419"/>
            <a:ext cx="7337489" cy="28312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1760" indent="-350901">
              <a:spcBef>
                <a:spcPts val="90"/>
              </a:spcBef>
              <a:buChar char="●"/>
              <a:tabLst>
                <a:tab pos="361760" algn="l"/>
                <a:tab pos="362331" algn="l"/>
              </a:tabLst>
            </a:pPr>
            <a:r>
              <a:rPr sz="1890" b="1" spc="-5" dirty="0">
                <a:latin typeface="Arial"/>
                <a:cs typeface="Arial"/>
              </a:rPr>
              <a:t>Operational</a:t>
            </a:r>
            <a:r>
              <a:rPr sz="1890" b="1" spc="-50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endParaRPr sz="1890">
              <a:latin typeface="Arial"/>
              <a:cs typeface="Arial"/>
            </a:endParaRPr>
          </a:p>
          <a:p>
            <a:pPr marL="773240" marR="386906" lvl="1" indent="-344043">
              <a:buFont typeface="Arial MT"/>
              <a:buChar char="○"/>
              <a:tabLst>
                <a:tab pos="773240" algn="l"/>
                <a:tab pos="773811" algn="l"/>
              </a:tabLst>
            </a:pPr>
            <a:r>
              <a:rPr spc="-5" dirty="0">
                <a:latin typeface="Georgia"/>
                <a:cs typeface="Georgia"/>
              </a:rPr>
              <a:t>for business/system operations, reads/writes </a:t>
            </a:r>
            <a:r>
              <a:rPr dirty="0">
                <a:latin typeface="Georgia"/>
                <a:cs typeface="Georgia"/>
              </a:rPr>
              <a:t>(update), </a:t>
            </a:r>
            <a:r>
              <a:rPr spc="-5" dirty="0">
                <a:latin typeface="Georgia"/>
                <a:cs typeface="Georgia"/>
              </a:rPr>
              <a:t>OLTP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(online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transaction processing)</a:t>
            </a:r>
            <a:endParaRPr>
              <a:latin typeface="Georgia"/>
              <a:cs typeface="Georgia"/>
            </a:endParaRPr>
          </a:p>
          <a:p>
            <a:pPr marL="361760" indent="-350901">
              <a:lnSpc>
                <a:spcPts val="2264"/>
              </a:lnSpc>
              <a:buChar char="●"/>
              <a:tabLst>
                <a:tab pos="361760" algn="l"/>
                <a:tab pos="362331" algn="l"/>
              </a:tabLst>
            </a:pPr>
            <a:r>
              <a:rPr sz="1890" b="1" spc="-5" dirty="0">
                <a:latin typeface="Arial"/>
                <a:cs typeface="Arial"/>
              </a:rPr>
              <a:t>Analytical</a:t>
            </a:r>
            <a:r>
              <a:rPr sz="1890" b="1" spc="-45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endParaRPr sz="1890">
              <a:latin typeface="Arial"/>
              <a:cs typeface="Arial"/>
            </a:endParaRPr>
          </a:p>
          <a:p>
            <a:pPr marL="773240" marR="4572" lvl="1" indent="-344043">
              <a:spcBef>
                <a:spcPts val="5"/>
              </a:spcBef>
              <a:buFont typeface="Arial MT"/>
              <a:buChar char="○"/>
              <a:tabLst>
                <a:tab pos="773240" algn="l"/>
                <a:tab pos="773811" algn="l"/>
              </a:tabLst>
            </a:pPr>
            <a:r>
              <a:rPr spc="-5" dirty="0">
                <a:latin typeface="Georgia"/>
                <a:cs typeface="Georgia"/>
              </a:rPr>
              <a:t>for understanding and optimization of </a:t>
            </a:r>
            <a:r>
              <a:rPr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business/subjects/systems/behaviors, historical/integrated data,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write once/read many </a:t>
            </a:r>
            <a:r>
              <a:rPr dirty="0">
                <a:latin typeface="Georgia"/>
                <a:cs typeface="Georgia"/>
              </a:rPr>
              <a:t>(no </a:t>
            </a:r>
            <a:r>
              <a:rPr spc="-5" dirty="0">
                <a:latin typeface="Georgia"/>
                <a:cs typeface="Georgia"/>
              </a:rPr>
              <a:t>update) </a:t>
            </a:r>
            <a:r>
              <a:rPr dirty="0">
                <a:latin typeface="Georgia"/>
                <a:cs typeface="Georgia"/>
              </a:rPr>
              <a:t>, </a:t>
            </a:r>
            <a:r>
              <a:rPr spc="-5" dirty="0">
                <a:latin typeface="Georgia"/>
                <a:cs typeface="Georgia"/>
              </a:rPr>
              <a:t>OLAP </a:t>
            </a:r>
            <a:r>
              <a:rPr dirty="0">
                <a:latin typeface="Georgia"/>
                <a:cs typeface="Georgia"/>
              </a:rPr>
              <a:t>(online </a:t>
            </a:r>
            <a:r>
              <a:rPr spc="-5" dirty="0">
                <a:latin typeface="Georgia"/>
                <a:cs typeface="Georgia"/>
              </a:rPr>
              <a:t>analytical </a:t>
            </a:r>
            <a:r>
              <a:rPr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processing)</a:t>
            </a:r>
            <a:endParaRPr>
              <a:latin typeface="Georgia"/>
              <a:cs typeface="Georgia"/>
            </a:endParaRPr>
          </a:p>
          <a:p>
            <a:pPr marL="361760" indent="-350901">
              <a:lnSpc>
                <a:spcPts val="2264"/>
              </a:lnSpc>
              <a:buChar char="●"/>
              <a:tabLst>
                <a:tab pos="361760" algn="l"/>
                <a:tab pos="362331" algn="l"/>
              </a:tabLst>
            </a:pPr>
            <a:r>
              <a:rPr sz="1890" b="1" spc="-18" dirty="0">
                <a:latin typeface="Arial"/>
                <a:cs typeface="Arial"/>
              </a:rPr>
              <a:t>We </a:t>
            </a:r>
            <a:r>
              <a:rPr sz="1890" b="1" dirty="0">
                <a:latin typeface="Arial"/>
                <a:cs typeface="Arial"/>
              </a:rPr>
              <a:t>face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both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types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of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endParaRPr sz="1890">
              <a:latin typeface="Arial"/>
              <a:cs typeface="Arial"/>
            </a:endParaRPr>
          </a:p>
          <a:p>
            <a:pPr marL="773240" lvl="1" indent="-344043">
              <a:spcBef>
                <a:spcPts val="5"/>
              </a:spcBef>
              <a:buFont typeface="Arial MT"/>
              <a:buChar char="○"/>
              <a:tabLst>
                <a:tab pos="773240" algn="l"/>
                <a:tab pos="773811" algn="l"/>
              </a:tabLst>
            </a:pPr>
            <a:r>
              <a:rPr spc="-5" dirty="0">
                <a:latin typeface="Georgia"/>
                <a:cs typeface="Georgia"/>
              </a:rPr>
              <a:t>methods/techniques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will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be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different</a:t>
            </a:r>
            <a:endParaRPr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4952048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Why</a:t>
            </a:r>
            <a:r>
              <a:rPr spc="-23" dirty="0"/>
              <a:t> </a:t>
            </a:r>
            <a:r>
              <a:rPr spc="-5" dirty="0"/>
              <a:t>do</a:t>
            </a:r>
            <a:r>
              <a:rPr spc="-23" dirty="0"/>
              <a:t> </a:t>
            </a:r>
            <a:r>
              <a:rPr spc="-5" dirty="0"/>
              <a:t>we</a:t>
            </a:r>
            <a:r>
              <a:rPr spc="-23" dirty="0"/>
              <a:t> </a:t>
            </a:r>
            <a:r>
              <a:rPr spc="-9" dirty="0"/>
              <a:t>need</a:t>
            </a:r>
            <a:r>
              <a:rPr spc="-23" dirty="0"/>
              <a:t> </a:t>
            </a:r>
            <a:r>
              <a:rPr spc="-5" dirty="0"/>
              <a:t>to</a:t>
            </a:r>
            <a:r>
              <a:rPr spc="-18" dirty="0"/>
              <a:t> </a:t>
            </a:r>
            <a:r>
              <a:rPr spc="-5" dirty="0"/>
              <a:t>care?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9106" y="734745"/>
            <a:ext cx="7556373" cy="3404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2334" indent="-371475">
              <a:spcBef>
                <a:spcPts val="90"/>
              </a:spcBef>
              <a:buChar char="●"/>
              <a:tabLst>
                <a:tab pos="382334" algn="l"/>
                <a:tab pos="382905" algn="l"/>
              </a:tabLst>
            </a:pPr>
            <a:r>
              <a:rPr sz="2160" b="1" spc="-5" dirty="0">
                <a:latin typeface="Arial"/>
                <a:cs typeface="Arial"/>
              </a:rPr>
              <a:t>Because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of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the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values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of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data!</a:t>
            </a:r>
            <a:endParaRPr sz="2160">
              <a:latin typeface="Arial"/>
              <a:cs typeface="Arial"/>
            </a:endParaRPr>
          </a:p>
          <a:p>
            <a:pPr marL="752665" lvl="1" indent="-247460">
              <a:spcBef>
                <a:spcPts val="5"/>
              </a:spcBef>
              <a:buFont typeface="Arial MT"/>
              <a:buChar char="●"/>
              <a:tabLst>
                <a:tab pos="753237" algn="l"/>
              </a:tabLst>
            </a:pPr>
            <a:r>
              <a:rPr sz="1980" spc="-5" dirty="0">
                <a:latin typeface="Georgia"/>
                <a:cs typeface="Georgia"/>
              </a:rPr>
              <a:t>Current</a:t>
            </a:r>
            <a:r>
              <a:rPr sz="1980" spc="-18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hot:</a:t>
            </a:r>
            <a:r>
              <a:rPr sz="1980" spc="-18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Large-Language</a:t>
            </a:r>
            <a:r>
              <a:rPr sz="1980" spc="-18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models</a:t>
            </a:r>
            <a:r>
              <a:rPr sz="1980" spc="-18" dirty="0">
                <a:latin typeface="Georgia"/>
                <a:cs typeface="Georgia"/>
              </a:rPr>
              <a:t> </a:t>
            </a:r>
            <a:r>
              <a:rPr sz="1980" dirty="0">
                <a:latin typeface="Georgia"/>
                <a:cs typeface="Georgia"/>
              </a:rPr>
              <a:t>(LLMs)/Gen-AI</a:t>
            </a:r>
            <a:endParaRPr sz="1980">
              <a:latin typeface="Georgia"/>
              <a:cs typeface="Georgia"/>
            </a:endParaRPr>
          </a:p>
          <a:p>
            <a:pPr marL="382334" indent="-371475">
              <a:spcBef>
                <a:spcPts val="428"/>
              </a:spcBef>
              <a:buChar char="●"/>
              <a:tabLst>
                <a:tab pos="382334" algn="l"/>
                <a:tab pos="382905" algn="l"/>
              </a:tabLst>
            </a:pPr>
            <a:r>
              <a:rPr sz="2160" b="1" spc="-23" dirty="0">
                <a:latin typeface="Arial"/>
                <a:cs typeface="Arial"/>
              </a:rPr>
              <a:t>Top-down:</a:t>
            </a:r>
            <a:r>
              <a:rPr sz="2160" b="1" spc="-36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Data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economy</a:t>
            </a:r>
            <a:endParaRPr sz="2160">
              <a:latin typeface="Arial"/>
              <a:cs typeface="Arial"/>
            </a:endParaRPr>
          </a:p>
          <a:p>
            <a:pPr marL="639509" marR="32576" indent="-272034">
              <a:spcBef>
                <a:spcPts val="436"/>
              </a:spcBef>
              <a:buFont typeface="Arial MT"/>
              <a:buChar char="○"/>
              <a:tabLst>
                <a:tab pos="639509" algn="l"/>
                <a:tab pos="640080" algn="l"/>
              </a:tabLst>
            </a:pPr>
            <a:r>
              <a:rPr sz="1980" spc="-5" dirty="0">
                <a:latin typeface="Georgia"/>
                <a:cs typeface="Georgia"/>
              </a:rPr>
              <a:t>more</a:t>
            </a:r>
            <a:r>
              <a:rPr sz="1980" spc="-14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data</a:t>
            </a:r>
            <a:r>
              <a:rPr sz="1980" spc="9" dirty="0">
                <a:latin typeface="Georgia"/>
                <a:cs typeface="Georgia"/>
              </a:rPr>
              <a:t> </a:t>
            </a:r>
            <a:r>
              <a:rPr sz="1980" dirty="0">
                <a:latin typeface="MS UI Gothic"/>
                <a:cs typeface="MS UI Gothic"/>
              </a:rPr>
              <a:t>⇒</a:t>
            </a:r>
            <a:r>
              <a:rPr sz="1980" spc="-135" dirty="0">
                <a:latin typeface="MS UI Gothic"/>
                <a:cs typeface="MS UI Gothic"/>
              </a:rPr>
              <a:t> </a:t>
            </a:r>
            <a:r>
              <a:rPr sz="1980" spc="-5" dirty="0">
                <a:latin typeface="Georgia"/>
                <a:cs typeface="Georgia"/>
              </a:rPr>
              <a:t>more</a:t>
            </a:r>
            <a:r>
              <a:rPr sz="1980" spc="-14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insights</a:t>
            </a:r>
            <a:r>
              <a:rPr sz="1980" spc="32" dirty="0">
                <a:latin typeface="Georgia"/>
                <a:cs typeface="Georgia"/>
              </a:rPr>
              <a:t> </a:t>
            </a:r>
            <a:r>
              <a:rPr sz="1980" dirty="0">
                <a:latin typeface="MS UI Gothic"/>
                <a:cs typeface="MS UI Gothic"/>
              </a:rPr>
              <a:t>⇒</a:t>
            </a:r>
            <a:r>
              <a:rPr sz="1980" spc="-135" dirty="0">
                <a:latin typeface="MS UI Gothic"/>
                <a:cs typeface="MS UI Gothic"/>
              </a:rPr>
              <a:t> </a:t>
            </a:r>
            <a:r>
              <a:rPr sz="1980" spc="-5" dirty="0">
                <a:latin typeface="Georgia"/>
                <a:cs typeface="Georgia"/>
              </a:rPr>
              <a:t>better</a:t>
            </a:r>
            <a:r>
              <a:rPr sz="1980" spc="-9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decision</a:t>
            </a:r>
            <a:r>
              <a:rPr sz="1980" spc="-14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making</a:t>
            </a:r>
            <a:r>
              <a:rPr sz="1980" spc="18" dirty="0">
                <a:latin typeface="Georgia"/>
                <a:cs typeface="Georgia"/>
              </a:rPr>
              <a:t> </a:t>
            </a:r>
            <a:r>
              <a:rPr sz="1980" dirty="0">
                <a:latin typeface="MS UI Gothic"/>
                <a:cs typeface="MS UI Gothic"/>
              </a:rPr>
              <a:t>⇒</a:t>
            </a:r>
            <a:r>
              <a:rPr sz="1980" spc="-135" dirty="0">
                <a:latin typeface="MS UI Gothic"/>
                <a:cs typeface="MS UI Gothic"/>
              </a:rPr>
              <a:t> </a:t>
            </a:r>
            <a:r>
              <a:rPr sz="1980" spc="-5" dirty="0">
                <a:latin typeface="Georgia"/>
                <a:cs typeface="Georgia"/>
              </a:rPr>
              <a:t>more </a:t>
            </a:r>
            <a:r>
              <a:rPr sz="1980" spc="-464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business</a:t>
            </a:r>
            <a:r>
              <a:rPr sz="1980" spc="-9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successes</a:t>
            </a:r>
            <a:endParaRPr sz="1980">
              <a:latin typeface="Georgia"/>
              <a:cs typeface="Georgia"/>
            </a:endParaRPr>
          </a:p>
          <a:p>
            <a:pPr marL="382334" indent="-371475">
              <a:spcBef>
                <a:spcPts val="428"/>
              </a:spcBef>
              <a:buChar char="●"/>
              <a:tabLst>
                <a:tab pos="382334" algn="l"/>
                <a:tab pos="382905" algn="l"/>
              </a:tabLst>
            </a:pPr>
            <a:r>
              <a:rPr sz="2160" b="1" spc="-5" dirty="0">
                <a:latin typeface="Arial"/>
                <a:cs typeface="Arial"/>
              </a:rPr>
              <a:t>Bottom-up</a:t>
            </a:r>
            <a:endParaRPr sz="2160">
              <a:latin typeface="Arial"/>
              <a:cs typeface="Arial"/>
            </a:endParaRPr>
          </a:p>
          <a:p>
            <a:pPr marL="639509" marR="588645" lvl="1" indent="-272034">
              <a:spcBef>
                <a:spcPts val="436"/>
              </a:spcBef>
              <a:buFont typeface="Arial MT"/>
              <a:buChar char="○"/>
              <a:tabLst>
                <a:tab pos="639509" algn="l"/>
                <a:tab pos="640080" algn="l"/>
              </a:tabLst>
            </a:pPr>
            <a:r>
              <a:rPr sz="1980" spc="-5" dirty="0">
                <a:latin typeface="Georgia"/>
                <a:cs typeface="Georgia"/>
              </a:rPr>
              <a:t>understanding</a:t>
            </a:r>
            <a:r>
              <a:rPr sz="1980" spc="-9" dirty="0">
                <a:latin typeface="Georgia"/>
                <a:cs typeface="Georgia"/>
              </a:rPr>
              <a:t> </a:t>
            </a:r>
            <a:r>
              <a:rPr sz="1980" dirty="0">
                <a:latin typeface="MS UI Gothic"/>
                <a:cs typeface="MS UI Gothic"/>
              </a:rPr>
              <a:t>⇒</a:t>
            </a:r>
            <a:r>
              <a:rPr sz="1980" spc="-144" dirty="0">
                <a:latin typeface="MS UI Gothic"/>
                <a:cs typeface="MS UI Gothic"/>
              </a:rPr>
              <a:t> </a:t>
            </a:r>
            <a:r>
              <a:rPr sz="1980" spc="-5" dirty="0">
                <a:latin typeface="Georgia"/>
                <a:cs typeface="Georgia"/>
              </a:rPr>
              <a:t>optimizing</a:t>
            </a:r>
            <a:r>
              <a:rPr sz="1980" spc="-9" dirty="0">
                <a:latin typeface="Georgia"/>
                <a:cs typeface="Georgia"/>
              </a:rPr>
              <a:t> </a:t>
            </a:r>
            <a:r>
              <a:rPr sz="1980" dirty="0">
                <a:latin typeface="MS UI Gothic"/>
                <a:cs typeface="MS UI Gothic"/>
              </a:rPr>
              <a:t>⇒</a:t>
            </a:r>
            <a:r>
              <a:rPr sz="1980" spc="-140" dirty="0">
                <a:latin typeface="MS UI Gothic"/>
                <a:cs typeface="MS UI Gothic"/>
              </a:rPr>
              <a:t> </a:t>
            </a:r>
            <a:r>
              <a:rPr sz="1980" spc="-5" dirty="0">
                <a:latin typeface="Georgia"/>
                <a:cs typeface="Georgia"/>
              </a:rPr>
              <a:t>saving</a:t>
            </a:r>
            <a:r>
              <a:rPr sz="1980" spc="-18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cost/creating</a:t>
            </a:r>
            <a:r>
              <a:rPr sz="1980" spc="-14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new </a:t>
            </a:r>
            <a:r>
              <a:rPr sz="1980" spc="-468" dirty="0">
                <a:latin typeface="Georgia"/>
                <a:cs typeface="Georgia"/>
              </a:rPr>
              <a:t> </a:t>
            </a:r>
            <a:r>
              <a:rPr sz="1980" spc="-5" dirty="0">
                <a:latin typeface="Georgia"/>
                <a:cs typeface="Georgia"/>
              </a:rPr>
              <a:t>values</a:t>
            </a:r>
            <a:endParaRPr sz="1980">
              <a:latin typeface="Georgia"/>
              <a:cs typeface="Georgia"/>
            </a:endParaRPr>
          </a:p>
          <a:p>
            <a:pPr marL="382334" marR="4572" indent="-366903">
              <a:lnSpc>
                <a:spcPts val="2502"/>
              </a:lnSpc>
              <a:spcBef>
                <a:spcPts val="238"/>
              </a:spcBef>
              <a:buChar char="●"/>
              <a:tabLst>
                <a:tab pos="382334" algn="l"/>
                <a:tab pos="382905" algn="l"/>
                <a:tab pos="6172771" algn="l"/>
              </a:tabLst>
            </a:pPr>
            <a:r>
              <a:rPr b="1" dirty="0">
                <a:latin typeface="Arial"/>
                <a:cs typeface="Arial"/>
              </a:rPr>
              <a:t>“The</a:t>
            </a:r>
            <a:r>
              <a:rPr b="1" spc="-5" dirty="0">
                <a:latin typeface="Arial"/>
                <a:cs typeface="Arial"/>
              </a:rPr>
              <a:t> Unreasonable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Effectiveness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of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Data”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principle	</a:t>
            </a:r>
            <a:r>
              <a:rPr dirty="0">
                <a:latin typeface="MS PGothic"/>
                <a:cs typeface="MS PGothic"/>
              </a:rPr>
              <a:t>⇒</a:t>
            </a:r>
            <a:r>
              <a:rPr spc="-95" dirty="0">
                <a:latin typeface="MS PGothic"/>
                <a:cs typeface="MS PGothic"/>
              </a:rPr>
              <a:t> </a:t>
            </a:r>
            <a:r>
              <a:rPr b="1" spc="-5" dirty="0">
                <a:latin typeface="Arial"/>
                <a:cs typeface="Arial"/>
              </a:rPr>
              <a:t>with</a:t>
            </a:r>
            <a:r>
              <a:rPr b="1" spc="-36" dirty="0"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0000"/>
                </a:solidFill>
                <a:latin typeface="Arial"/>
                <a:cs typeface="Arial"/>
              </a:rPr>
              <a:t>more </a:t>
            </a:r>
            <a:r>
              <a:rPr b="1" spc="-48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b="1" spc="-5" dirty="0">
                <a:latin typeface="Arial"/>
                <a:cs typeface="Arial"/>
              </a:rPr>
              <a:t>,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5" dirty="0">
                <a:latin typeface="Arial"/>
                <a:cs typeface="Arial"/>
              </a:rPr>
              <a:t> same algorithm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performs much</a:t>
            </a:r>
            <a:r>
              <a:rPr b="1" spc="27" dirty="0">
                <a:latin typeface="Arial"/>
                <a:cs typeface="Arial"/>
              </a:rPr>
              <a:t> </a:t>
            </a:r>
            <a:r>
              <a:rPr sz="2160" b="1" spc="-5" dirty="0">
                <a:solidFill>
                  <a:srgbClr val="FF0000"/>
                </a:solidFill>
                <a:latin typeface="Arial"/>
                <a:cs typeface="Arial"/>
              </a:rPr>
              <a:t>better</a:t>
            </a:r>
            <a:r>
              <a:rPr sz="2160" b="1" spc="-5" dirty="0">
                <a:latin typeface="Arial"/>
                <a:cs typeface="Arial"/>
              </a:rPr>
              <a:t>!</a:t>
            </a:r>
            <a:endParaRPr sz="216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39202" y="4083001"/>
            <a:ext cx="7136892" cy="334328"/>
            <a:chOff x="535558" y="4536668"/>
            <a:chExt cx="7929880" cy="371475"/>
          </a:xfrm>
        </p:grpSpPr>
        <p:sp>
          <p:nvSpPr>
            <p:cNvPr id="9" name="object 9"/>
            <p:cNvSpPr/>
            <p:nvPr/>
          </p:nvSpPr>
          <p:spPr>
            <a:xfrm>
              <a:off x="540320" y="4541430"/>
              <a:ext cx="7920355" cy="361950"/>
            </a:xfrm>
            <a:custGeom>
              <a:avLst/>
              <a:gdLst/>
              <a:ahLst/>
              <a:cxnLst/>
              <a:rect l="l" t="t" r="r" b="b"/>
              <a:pathLst>
                <a:path w="7920355" h="361950">
                  <a:moveTo>
                    <a:pt x="7920110" y="361637"/>
                  </a:moveTo>
                  <a:lnTo>
                    <a:pt x="0" y="361637"/>
                  </a:lnTo>
                  <a:lnTo>
                    <a:pt x="0" y="0"/>
                  </a:lnTo>
                  <a:lnTo>
                    <a:pt x="7920110" y="0"/>
                  </a:lnTo>
                  <a:lnTo>
                    <a:pt x="7920110" y="3616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0320" y="4541430"/>
              <a:ext cx="7920355" cy="361950"/>
            </a:xfrm>
            <a:custGeom>
              <a:avLst/>
              <a:gdLst/>
              <a:ahLst/>
              <a:cxnLst/>
              <a:rect l="l" t="t" r="r" b="b"/>
              <a:pathLst>
                <a:path w="7920355" h="361950">
                  <a:moveTo>
                    <a:pt x="0" y="0"/>
                  </a:moveTo>
                  <a:lnTo>
                    <a:pt x="7920110" y="0"/>
                  </a:lnTo>
                  <a:lnTo>
                    <a:pt x="7920110" y="361637"/>
                  </a:lnTo>
                  <a:lnTo>
                    <a:pt x="0" y="36163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43488" y="4087287"/>
            <a:ext cx="7128320" cy="26456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29718" rIns="0" bIns="0" rtlCol="0">
            <a:spAutoFit/>
          </a:bodyPr>
          <a:lstStyle/>
          <a:p>
            <a:pPr marL="77153" marR="714947">
              <a:lnSpc>
                <a:spcPct val="102899"/>
              </a:lnSpc>
              <a:spcBef>
                <a:spcPts val="234"/>
              </a:spcBef>
            </a:pPr>
            <a:r>
              <a:rPr sz="765" spc="5" dirty="0">
                <a:latin typeface="Arial MT"/>
                <a:cs typeface="Arial MT"/>
              </a:rPr>
              <a:t>Alon </a:t>
            </a:r>
            <a:r>
              <a:rPr sz="765" spc="-5" dirty="0">
                <a:latin typeface="Arial MT"/>
                <a:cs typeface="Arial MT"/>
              </a:rPr>
              <a:t>Halevy,</a:t>
            </a:r>
            <a:r>
              <a:rPr sz="765" spc="9" dirty="0">
                <a:latin typeface="Arial MT"/>
                <a:cs typeface="Arial MT"/>
              </a:rPr>
              <a:t> </a:t>
            </a:r>
            <a:r>
              <a:rPr sz="765" spc="5" dirty="0">
                <a:latin typeface="Arial MT"/>
                <a:cs typeface="Arial MT"/>
              </a:rPr>
              <a:t>Peter</a:t>
            </a:r>
            <a:r>
              <a:rPr sz="765" spc="9" dirty="0">
                <a:latin typeface="Arial MT"/>
                <a:cs typeface="Arial MT"/>
              </a:rPr>
              <a:t> </a:t>
            </a:r>
            <a:r>
              <a:rPr sz="765" spc="5" dirty="0">
                <a:latin typeface="Arial MT"/>
                <a:cs typeface="Arial MT"/>
              </a:rPr>
              <a:t>Norvig,</a:t>
            </a:r>
            <a:r>
              <a:rPr sz="765" spc="14" dirty="0">
                <a:latin typeface="Arial MT"/>
                <a:cs typeface="Arial MT"/>
              </a:rPr>
              <a:t> </a:t>
            </a:r>
            <a:r>
              <a:rPr sz="765" spc="9" dirty="0">
                <a:latin typeface="Arial MT"/>
                <a:cs typeface="Arial MT"/>
              </a:rPr>
              <a:t>and </a:t>
            </a:r>
            <a:r>
              <a:rPr sz="765" spc="5" dirty="0">
                <a:latin typeface="Arial MT"/>
                <a:cs typeface="Arial MT"/>
              </a:rPr>
              <a:t>Fernando</a:t>
            </a:r>
            <a:r>
              <a:rPr sz="765" spc="9" dirty="0">
                <a:latin typeface="Arial MT"/>
                <a:cs typeface="Arial MT"/>
              </a:rPr>
              <a:t> </a:t>
            </a:r>
            <a:r>
              <a:rPr sz="765" spc="5" dirty="0">
                <a:latin typeface="Arial MT"/>
                <a:cs typeface="Arial MT"/>
              </a:rPr>
              <a:t>Pereira.</a:t>
            </a:r>
            <a:r>
              <a:rPr sz="765" spc="9" dirty="0">
                <a:latin typeface="Arial MT"/>
                <a:cs typeface="Arial MT"/>
              </a:rPr>
              <a:t> </a:t>
            </a:r>
            <a:r>
              <a:rPr sz="765" spc="5" dirty="0">
                <a:latin typeface="Arial MT"/>
                <a:cs typeface="Arial MT"/>
              </a:rPr>
              <a:t>2009.</a:t>
            </a:r>
            <a:r>
              <a:rPr sz="765" dirty="0">
                <a:latin typeface="Arial MT"/>
                <a:cs typeface="Arial MT"/>
              </a:rPr>
              <a:t> </a:t>
            </a:r>
            <a:r>
              <a:rPr sz="765" spc="9" dirty="0">
                <a:latin typeface="Arial MT"/>
                <a:cs typeface="Arial MT"/>
              </a:rPr>
              <a:t>The</a:t>
            </a:r>
            <a:r>
              <a:rPr sz="765" spc="5" dirty="0">
                <a:latin typeface="Arial MT"/>
                <a:cs typeface="Arial MT"/>
              </a:rPr>
              <a:t> Unreasonable</a:t>
            </a:r>
            <a:r>
              <a:rPr sz="765" spc="14" dirty="0">
                <a:latin typeface="Arial MT"/>
                <a:cs typeface="Arial MT"/>
              </a:rPr>
              <a:t> </a:t>
            </a:r>
            <a:r>
              <a:rPr sz="765" spc="5" dirty="0">
                <a:latin typeface="Arial MT"/>
                <a:cs typeface="Arial MT"/>
              </a:rPr>
              <a:t>Effectiveness</a:t>
            </a:r>
            <a:r>
              <a:rPr sz="765" spc="9" dirty="0">
                <a:latin typeface="Arial MT"/>
                <a:cs typeface="Arial MT"/>
              </a:rPr>
              <a:t> </a:t>
            </a:r>
            <a:r>
              <a:rPr sz="765" spc="5" dirty="0">
                <a:latin typeface="Arial MT"/>
                <a:cs typeface="Arial MT"/>
              </a:rPr>
              <a:t>of</a:t>
            </a:r>
            <a:r>
              <a:rPr sz="765" spc="14" dirty="0">
                <a:latin typeface="Arial MT"/>
                <a:cs typeface="Arial MT"/>
              </a:rPr>
              <a:t> </a:t>
            </a:r>
            <a:r>
              <a:rPr sz="765" spc="5" dirty="0">
                <a:latin typeface="Arial MT"/>
                <a:cs typeface="Arial MT"/>
              </a:rPr>
              <a:t>Data.</a:t>
            </a:r>
            <a:r>
              <a:rPr sz="765" spc="14" dirty="0">
                <a:latin typeface="Arial MT"/>
                <a:cs typeface="Arial MT"/>
              </a:rPr>
              <a:t> </a:t>
            </a:r>
            <a:r>
              <a:rPr sz="765" spc="9" dirty="0">
                <a:latin typeface="Arial MT"/>
                <a:cs typeface="Arial MT"/>
              </a:rPr>
              <a:t>IEEE</a:t>
            </a:r>
            <a:r>
              <a:rPr sz="765" spc="5" dirty="0">
                <a:latin typeface="Arial MT"/>
                <a:cs typeface="Arial MT"/>
              </a:rPr>
              <a:t> Intelligent</a:t>
            </a:r>
            <a:r>
              <a:rPr sz="765" spc="9" dirty="0">
                <a:latin typeface="Arial MT"/>
                <a:cs typeface="Arial MT"/>
              </a:rPr>
              <a:t> </a:t>
            </a:r>
            <a:r>
              <a:rPr sz="765" spc="5" dirty="0">
                <a:latin typeface="Arial MT"/>
                <a:cs typeface="Arial MT"/>
              </a:rPr>
              <a:t>Systems</a:t>
            </a:r>
            <a:r>
              <a:rPr sz="765" spc="9" dirty="0">
                <a:latin typeface="Arial MT"/>
                <a:cs typeface="Arial MT"/>
              </a:rPr>
              <a:t> </a:t>
            </a:r>
            <a:r>
              <a:rPr sz="765" spc="5" dirty="0">
                <a:latin typeface="Arial MT"/>
                <a:cs typeface="Arial MT"/>
              </a:rPr>
              <a:t>24,</a:t>
            </a:r>
            <a:r>
              <a:rPr sz="765" spc="14" dirty="0">
                <a:latin typeface="Arial MT"/>
                <a:cs typeface="Arial MT"/>
              </a:rPr>
              <a:t> </a:t>
            </a:r>
            <a:r>
              <a:rPr sz="765" spc="9" dirty="0">
                <a:latin typeface="Arial MT"/>
                <a:cs typeface="Arial MT"/>
              </a:rPr>
              <a:t>2</a:t>
            </a:r>
            <a:r>
              <a:rPr sz="765" spc="14" dirty="0">
                <a:latin typeface="Arial MT"/>
                <a:cs typeface="Arial MT"/>
              </a:rPr>
              <a:t> </a:t>
            </a:r>
            <a:r>
              <a:rPr sz="765" spc="9" dirty="0">
                <a:latin typeface="Arial MT"/>
                <a:cs typeface="Arial MT"/>
              </a:rPr>
              <a:t>(March </a:t>
            </a:r>
            <a:r>
              <a:rPr sz="765" spc="5" dirty="0">
                <a:latin typeface="Arial MT"/>
                <a:cs typeface="Arial MT"/>
              </a:rPr>
              <a:t>2009). </a:t>
            </a:r>
            <a:r>
              <a:rPr sz="765" spc="9" dirty="0">
                <a:latin typeface="Arial MT"/>
                <a:cs typeface="Arial MT"/>
              </a:rPr>
              <a:t> </a:t>
            </a:r>
            <a:r>
              <a:rPr sz="765" spc="5" dirty="0">
                <a:latin typeface="Arial MT"/>
                <a:cs typeface="Arial MT"/>
                <a:hlinkClick r:id="rId2"/>
              </a:rPr>
              <a:t>http://static.googleusercontent.com/media/research.google.com/en//pubs/archive/35179.pdf</a:t>
            </a:r>
            <a:endParaRPr sz="76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943" y="2036184"/>
            <a:ext cx="399421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What</a:t>
            </a:r>
            <a:r>
              <a:rPr spc="-45" dirty="0"/>
              <a:t> </a:t>
            </a:r>
            <a:r>
              <a:rPr spc="-5" dirty="0"/>
              <a:t>are</a:t>
            </a:r>
            <a:r>
              <a:rPr spc="-41" dirty="0"/>
              <a:t> </a:t>
            </a:r>
            <a:r>
              <a:rPr spc="-5" dirty="0"/>
              <a:t>platforms?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4196525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Example</a:t>
            </a:r>
            <a:r>
              <a:rPr spc="-54" dirty="0"/>
              <a:t> </a:t>
            </a:r>
            <a:r>
              <a:rPr spc="-5" dirty="0"/>
              <a:t>of</a:t>
            </a:r>
            <a:r>
              <a:rPr spc="-45" dirty="0"/>
              <a:t> </a:t>
            </a:r>
            <a:r>
              <a:rPr spc="-5" dirty="0"/>
              <a:t>platforms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99619" y="2032262"/>
            <a:ext cx="5060061" cy="8840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890" b="1" spc="-5" dirty="0">
                <a:latin typeface="Arial"/>
                <a:cs typeface="Arial"/>
              </a:rPr>
              <a:t>Disruptive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platforms:</a:t>
            </a:r>
            <a:r>
              <a:rPr sz="1890" b="1" spc="-86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Airbnb,</a:t>
            </a:r>
            <a:r>
              <a:rPr sz="1890" b="1" spc="-90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Amazon,</a:t>
            </a:r>
            <a:r>
              <a:rPr sz="1890" b="1" spc="32" dirty="0">
                <a:latin typeface="Arial"/>
                <a:cs typeface="Arial"/>
              </a:rPr>
              <a:t> </a:t>
            </a:r>
            <a:r>
              <a:rPr sz="1890" b="1" spc="-27" dirty="0">
                <a:latin typeface="Arial"/>
                <a:cs typeface="Arial"/>
              </a:rPr>
              <a:t>Uber, </a:t>
            </a:r>
            <a:r>
              <a:rPr sz="1890" b="1" spc="-50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Alibaba, Instagram, </a:t>
            </a:r>
            <a:r>
              <a:rPr sz="1890" b="1" dirty="0">
                <a:latin typeface="Arial"/>
                <a:cs typeface="Arial"/>
              </a:rPr>
              <a:t>Meta/Facebook, </a:t>
            </a:r>
            <a:r>
              <a:rPr sz="1890" b="1" spc="5" dirty="0">
                <a:latin typeface="Arial"/>
                <a:cs typeface="Arial"/>
              </a:rPr>
              <a:t> </a:t>
            </a:r>
            <a:r>
              <a:rPr sz="1890" b="1" spc="-23" dirty="0">
                <a:latin typeface="Arial"/>
                <a:cs typeface="Arial"/>
              </a:rPr>
              <a:t>Youtube,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etc.</a:t>
            </a:r>
            <a:endParaRPr sz="189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6928" y="951780"/>
            <a:ext cx="7394639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Let</a:t>
            </a:r>
            <a:r>
              <a:rPr b="1" spc="-14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us</a:t>
            </a:r>
            <a:r>
              <a:rPr b="1" spc="-14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see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from</a:t>
            </a:r>
            <a:r>
              <a:rPr b="1" spc="-14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business</a:t>
            </a:r>
            <a:r>
              <a:rPr b="1" spc="-14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viewpoint</a:t>
            </a:r>
            <a:r>
              <a:rPr b="1" spc="-14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from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“Platform</a:t>
            </a:r>
            <a:r>
              <a:rPr b="1" spc="-14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Revolution”:</a:t>
            </a:r>
            <a:endParaRPr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640" y="1472315"/>
            <a:ext cx="1620179" cy="24214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0731" y="4016064"/>
            <a:ext cx="7027736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440" b="1" spc="-9" dirty="0">
                <a:latin typeface="Arial"/>
                <a:cs typeface="Arial"/>
                <a:hlinkClick r:id="rId3"/>
              </a:rPr>
              <a:t>https://www.amazon.com/Platform-Revolution-Networked-Markets-Transforming/</a:t>
            </a:r>
            <a:endParaRPr sz="144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2"/>
            <a:ext cx="7502347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9" dirty="0"/>
              <a:t>The </a:t>
            </a:r>
            <a:r>
              <a:rPr dirty="0"/>
              <a:t>“Platform </a:t>
            </a:r>
            <a:r>
              <a:rPr spc="-5" dirty="0"/>
              <a:t>Revolution”s </a:t>
            </a:r>
            <a:r>
              <a:rPr spc="-9" dirty="0"/>
              <a:t>definition </a:t>
            </a:r>
            <a:r>
              <a:rPr spc="-895" dirty="0"/>
              <a:t> </a:t>
            </a:r>
            <a:r>
              <a:rPr spc="-5" dirty="0"/>
              <a:t>of </a:t>
            </a:r>
            <a:r>
              <a:rPr dirty="0"/>
              <a:t>a </a:t>
            </a:r>
            <a:r>
              <a:rPr spc="-9" dirty="0"/>
              <a:t>platform </a:t>
            </a:r>
            <a:r>
              <a:rPr spc="-5" dirty="0"/>
              <a:t>(from </a:t>
            </a:r>
            <a:r>
              <a:rPr dirty="0"/>
              <a:t>a </a:t>
            </a:r>
            <a:r>
              <a:rPr spc="-9" dirty="0"/>
              <a:t>business </a:t>
            </a:r>
            <a:r>
              <a:rPr spc="-5" dirty="0"/>
              <a:t> viewpoint)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7251" y="1583151"/>
            <a:ext cx="7023164" cy="2047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890" dirty="0">
                <a:latin typeface="Arial MT"/>
                <a:cs typeface="Arial MT"/>
              </a:rPr>
              <a:t>“A </a:t>
            </a:r>
            <a:r>
              <a:rPr sz="1890" spc="-5" dirty="0">
                <a:latin typeface="Arial MT"/>
                <a:cs typeface="Arial MT"/>
              </a:rPr>
              <a:t>platform is </a:t>
            </a:r>
            <a:r>
              <a:rPr sz="1890" dirty="0">
                <a:latin typeface="Arial MT"/>
                <a:cs typeface="Arial MT"/>
              </a:rPr>
              <a:t>a </a:t>
            </a:r>
            <a:r>
              <a:rPr sz="1890" spc="-5" dirty="0">
                <a:latin typeface="Arial MT"/>
                <a:cs typeface="Arial MT"/>
              </a:rPr>
              <a:t>business based on enabling </a:t>
            </a:r>
            <a:r>
              <a:rPr sz="1890" dirty="0">
                <a:latin typeface="Arial MT"/>
                <a:cs typeface="Arial MT"/>
              </a:rPr>
              <a:t>value-creating </a:t>
            </a:r>
            <a:r>
              <a:rPr sz="1890" spc="5" dirty="0">
                <a:latin typeface="Arial MT"/>
                <a:cs typeface="Arial MT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interactions </a:t>
            </a:r>
            <a:r>
              <a:rPr sz="1890" spc="-5" dirty="0">
                <a:latin typeface="Arial MT"/>
                <a:cs typeface="Arial MT"/>
              </a:rPr>
              <a:t>between external producers and </a:t>
            </a:r>
            <a:r>
              <a:rPr sz="1890" dirty="0">
                <a:latin typeface="Arial MT"/>
                <a:cs typeface="Arial MT"/>
              </a:rPr>
              <a:t>consumers. </a:t>
            </a:r>
            <a:r>
              <a:rPr sz="1890" spc="-5" dirty="0">
                <a:latin typeface="Arial MT"/>
                <a:cs typeface="Arial MT"/>
              </a:rPr>
              <a:t>The </a:t>
            </a:r>
            <a:r>
              <a:rPr sz="1890" dirty="0">
                <a:latin typeface="Arial MT"/>
                <a:cs typeface="Arial MT"/>
              </a:rPr>
              <a:t> </a:t>
            </a:r>
            <a:r>
              <a:rPr sz="1890" spc="-5" dirty="0">
                <a:latin typeface="Arial MT"/>
                <a:cs typeface="Arial MT"/>
              </a:rPr>
              <a:t>platform</a:t>
            </a:r>
            <a:r>
              <a:rPr sz="1890" spc="-14" dirty="0">
                <a:latin typeface="Arial MT"/>
                <a:cs typeface="Arial MT"/>
              </a:rPr>
              <a:t> </a:t>
            </a:r>
            <a:r>
              <a:rPr sz="1890" spc="-5" dirty="0">
                <a:latin typeface="Arial MT"/>
                <a:cs typeface="Arial MT"/>
              </a:rPr>
              <a:t>provides</a:t>
            </a:r>
            <a:r>
              <a:rPr sz="1890" dirty="0">
                <a:latin typeface="Arial MT"/>
                <a:cs typeface="Arial MT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an</a:t>
            </a:r>
            <a:r>
              <a:rPr sz="1890" b="1" spc="-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open,</a:t>
            </a:r>
            <a:r>
              <a:rPr sz="1890" b="1" spc="-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participative</a:t>
            </a:r>
            <a:r>
              <a:rPr sz="1890" b="1" spc="-1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infrastructure</a:t>
            </a:r>
            <a:r>
              <a:rPr sz="1890" b="1" spc="7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spc="-5" dirty="0">
                <a:latin typeface="Arial MT"/>
                <a:cs typeface="Arial MT"/>
              </a:rPr>
              <a:t>for</a:t>
            </a:r>
            <a:r>
              <a:rPr sz="1890" spc="-18" dirty="0">
                <a:latin typeface="Arial MT"/>
                <a:cs typeface="Arial MT"/>
              </a:rPr>
              <a:t> </a:t>
            </a:r>
            <a:r>
              <a:rPr sz="1890" spc="-5" dirty="0">
                <a:latin typeface="Arial MT"/>
                <a:cs typeface="Arial MT"/>
              </a:rPr>
              <a:t>these </a:t>
            </a:r>
            <a:r>
              <a:rPr sz="1890" spc="-513" dirty="0">
                <a:latin typeface="Arial MT"/>
                <a:cs typeface="Arial MT"/>
              </a:rPr>
              <a:t> </a:t>
            </a:r>
            <a:r>
              <a:rPr sz="1890" spc="-5" dirty="0">
                <a:latin typeface="Arial MT"/>
                <a:cs typeface="Arial MT"/>
              </a:rPr>
              <a:t>interactions and </a:t>
            </a:r>
            <a:r>
              <a:rPr sz="1890" dirty="0">
                <a:latin typeface="Arial MT"/>
                <a:cs typeface="Arial MT"/>
              </a:rPr>
              <a:t>sets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governance conditions </a:t>
            </a:r>
            <a:r>
              <a:rPr sz="1890" spc="-5" dirty="0">
                <a:latin typeface="Arial MT"/>
                <a:cs typeface="Arial MT"/>
              </a:rPr>
              <a:t>for them. The </a:t>
            </a:r>
            <a:r>
              <a:rPr sz="1890" dirty="0">
                <a:latin typeface="Arial MT"/>
                <a:cs typeface="Arial MT"/>
              </a:rPr>
              <a:t> </a:t>
            </a:r>
            <a:r>
              <a:rPr sz="1890" spc="-9" dirty="0">
                <a:latin typeface="Arial MT"/>
                <a:cs typeface="Arial MT"/>
              </a:rPr>
              <a:t>platform’s </a:t>
            </a:r>
            <a:r>
              <a:rPr sz="1890" spc="-5" dirty="0">
                <a:latin typeface="Arial MT"/>
                <a:cs typeface="Arial MT"/>
              </a:rPr>
              <a:t>overarching purpose: to </a:t>
            </a:r>
            <a:r>
              <a:rPr sz="1890" dirty="0">
                <a:latin typeface="Arial MT"/>
                <a:cs typeface="Arial MT"/>
              </a:rPr>
              <a:t>consummate matches </a:t>
            </a:r>
            <a:r>
              <a:rPr sz="1890" spc="-5" dirty="0">
                <a:latin typeface="Arial MT"/>
                <a:cs typeface="Arial MT"/>
              </a:rPr>
              <a:t>among </a:t>
            </a:r>
            <a:r>
              <a:rPr sz="1890" dirty="0">
                <a:latin typeface="Arial MT"/>
                <a:cs typeface="Arial MT"/>
              </a:rPr>
              <a:t> </a:t>
            </a:r>
            <a:r>
              <a:rPr sz="1890" spc="-5" dirty="0">
                <a:latin typeface="Arial MT"/>
                <a:cs typeface="Arial MT"/>
              </a:rPr>
              <a:t>users and </a:t>
            </a:r>
            <a:r>
              <a:rPr sz="1890" b="1" dirty="0">
                <a:solidFill>
                  <a:srgbClr val="0000FF"/>
                </a:solidFill>
                <a:latin typeface="Arial"/>
                <a:cs typeface="Arial"/>
              </a:rPr>
              <a:t>facilitate the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exchange of </a:t>
            </a:r>
            <a:r>
              <a:rPr sz="1890" spc="-5" dirty="0">
                <a:latin typeface="Arial MT"/>
                <a:cs typeface="Arial MT"/>
              </a:rPr>
              <a:t>goods, </a:t>
            </a:r>
            <a:r>
              <a:rPr sz="1890" dirty="0">
                <a:latin typeface="Arial MT"/>
                <a:cs typeface="Arial MT"/>
              </a:rPr>
              <a:t>services, </a:t>
            </a:r>
            <a:r>
              <a:rPr sz="1890" spc="-5" dirty="0">
                <a:latin typeface="Arial MT"/>
                <a:cs typeface="Arial MT"/>
              </a:rPr>
              <a:t>or </a:t>
            </a:r>
            <a:r>
              <a:rPr sz="1890" dirty="0">
                <a:latin typeface="Arial MT"/>
                <a:cs typeface="Arial MT"/>
              </a:rPr>
              <a:t>social </a:t>
            </a:r>
            <a:r>
              <a:rPr sz="1890" spc="5" dirty="0">
                <a:latin typeface="Arial MT"/>
                <a:cs typeface="Arial MT"/>
              </a:rPr>
              <a:t> </a:t>
            </a:r>
            <a:r>
              <a:rPr sz="1890" spc="-18" dirty="0">
                <a:latin typeface="Arial MT"/>
                <a:cs typeface="Arial MT"/>
              </a:rPr>
              <a:t>currency,</a:t>
            </a:r>
            <a:r>
              <a:rPr sz="1890" spc="-14" dirty="0">
                <a:latin typeface="Arial MT"/>
                <a:cs typeface="Arial MT"/>
              </a:rPr>
              <a:t> </a:t>
            </a:r>
            <a:r>
              <a:rPr sz="1890" spc="-5" dirty="0">
                <a:latin typeface="Arial MT"/>
                <a:cs typeface="Arial MT"/>
              </a:rPr>
              <a:t>thereby</a:t>
            </a:r>
            <a:r>
              <a:rPr sz="1890" spc="-14" dirty="0">
                <a:latin typeface="Arial MT"/>
                <a:cs typeface="Arial MT"/>
              </a:rPr>
              <a:t> </a:t>
            </a:r>
            <a:r>
              <a:rPr sz="1890" spc="-5" dirty="0">
                <a:latin typeface="Arial MT"/>
                <a:cs typeface="Arial MT"/>
              </a:rPr>
              <a:t>enabling</a:t>
            </a:r>
            <a:r>
              <a:rPr sz="1890" spc="-9" dirty="0">
                <a:latin typeface="Arial MT"/>
                <a:cs typeface="Arial MT"/>
              </a:rPr>
              <a:t> </a:t>
            </a:r>
            <a:r>
              <a:rPr sz="1890" dirty="0">
                <a:latin typeface="Arial MT"/>
                <a:cs typeface="Arial MT"/>
              </a:rPr>
              <a:t>value</a:t>
            </a:r>
            <a:r>
              <a:rPr sz="1890" spc="-9" dirty="0">
                <a:latin typeface="Arial MT"/>
                <a:cs typeface="Arial MT"/>
              </a:rPr>
              <a:t> </a:t>
            </a:r>
            <a:r>
              <a:rPr sz="1890" dirty="0">
                <a:latin typeface="Arial MT"/>
                <a:cs typeface="Arial MT"/>
              </a:rPr>
              <a:t>creation</a:t>
            </a:r>
            <a:r>
              <a:rPr sz="1890" spc="-5" dirty="0">
                <a:latin typeface="Arial MT"/>
                <a:cs typeface="Arial MT"/>
              </a:rPr>
              <a:t> for</a:t>
            </a:r>
            <a:r>
              <a:rPr sz="1890" spc="-14" dirty="0">
                <a:latin typeface="Arial MT"/>
                <a:cs typeface="Arial MT"/>
              </a:rPr>
              <a:t> </a:t>
            </a:r>
            <a:r>
              <a:rPr sz="1890" spc="-5" dirty="0">
                <a:latin typeface="Arial MT"/>
                <a:cs typeface="Arial MT"/>
              </a:rPr>
              <a:t>all</a:t>
            </a:r>
            <a:r>
              <a:rPr sz="1890" spc="-9" dirty="0">
                <a:latin typeface="Arial MT"/>
                <a:cs typeface="Arial MT"/>
              </a:rPr>
              <a:t> </a:t>
            </a:r>
            <a:r>
              <a:rPr sz="1890" spc="-5" dirty="0">
                <a:latin typeface="Arial MT"/>
                <a:cs typeface="Arial MT"/>
              </a:rPr>
              <a:t>participation”</a:t>
            </a:r>
            <a:endParaRPr sz="189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239" y="3992048"/>
            <a:ext cx="7284911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900" b="1" spc="-5" dirty="0">
                <a:latin typeface="Arial"/>
                <a:cs typeface="Arial"/>
              </a:rPr>
              <a:t>Source:</a:t>
            </a:r>
            <a:r>
              <a:rPr sz="900" b="1" dirty="0">
                <a:latin typeface="Arial"/>
                <a:cs typeface="Arial"/>
              </a:rPr>
              <a:t> </a:t>
            </a:r>
            <a:r>
              <a:rPr sz="900" spc="-9" dirty="0">
                <a:latin typeface="Arial MT"/>
                <a:cs typeface="Arial MT"/>
              </a:rPr>
              <a:t>Geoffrey </a:t>
            </a:r>
            <a:r>
              <a:rPr sz="900" spc="-5" dirty="0">
                <a:latin typeface="Arial MT"/>
                <a:cs typeface="Arial MT"/>
              </a:rPr>
              <a:t>G. </a:t>
            </a:r>
            <a:r>
              <a:rPr sz="900" spc="-14" dirty="0">
                <a:latin typeface="Arial MT"/>
                <a:cs typeface="Arial MT"/>
              </a:rPr>
              <a:t>Parker, </a:t>
            </a:r>
            <a:r>
              <a:rPr sz="900" spc="-27" dirty="0">
                <a:latin typeface="Arial MT"/>
                <a:cs typeface="Arial MT"/>
              </a:rPr>
              <a:t>Van </a:t>
            </a:r>
            <a:r>
              <a:rPr sz="900" spc="-5" dirty="0">
                <a:latin typeface="Arial MT"/>
                <a:cs typeface="Arial MT"/>
              </a:rPr>
              <a:t>Alstyne, </a:t>
            </a:r>
            <a:r>
              <a:rPr sz="900" dirty="0">
                <a:latin typeface="Arial MT"/>
                <a:cs typeface="Arial MT"/>
              </a:rPr>
              <a:t>Marshall </a:t>
            </a:r>
            <a:r>
              <a:rPr sz="900" spc="-27" dirty="0">
                <a:latin typeface="Arial MT"/>
                <a:cs typeface="Arial MT"/>
              </a:rPr>
              <a:t>W. Van </a:t>
            </a:r>
            <a:r>
              <a:rPr sz="900" spc="-5" dirty="0">
                <a:latin typeface="Arial MT"/>
                <a:cs typeface="Arial MT"/>
              </a:rPr>
              <a:t>Alstyne </a:t>
            </a:r>
            <a:r>
              <a:rPr sz="900" dirty="0">
                <a:latin typeface="Arial MT"/>
                <a:cs typeface="Arial MT"/>
              </a:rPr>
              <a:t>, </a:t>
            </a:r>
            <a:r>
              <a:rPr sz="900" spc="-5" dirty="0">
                <a:latin typeface="Arial MT"/>
                <a:cs typeface="Arial MT"/>
              </a:rPr>
              <a:t>Sangeet Paul </a:t>
            </a:r>
            <a:r>
              <a:rPr sz="900" spc="-14" dirty="0">
                <a:latin typeface="Arial MT"/>
                <a:cs typeface="Arial MT"/>
              </a:rPr>
              <a:t>Choudary,</a:t>
            </a:r>
            <a:r>
              <a:rPr sz="900" spc="-9" dirty="0">
                <a:latin typeface="Arial MT"/>
                <a:cs typeface="Arial MT"/>
              </a:rPr>
              <a:t> </a:t>
            </a:r>
            <a:r>
              <a:rPr sz="900" i="1" spc="-5" dirty="0">
                <a:latin typeface="Arial"/>
                <a:cs typeface="Arial"/>
              </a:rPr>
              <a:t>Platform Revolution: How Networked </a:t>
            </a:r>
            <a:r>
              <a:rPr sz="900" i="1" dirty="0">
                <a:latin typeface="Arial"/>
                <a:cs typeface="Arial"/>
              </a:rPr>
              <a:t>Markets </a:t>
            </a:r>
            <a:r>
              <a:rPr sz="900" i="1" spc="-5" dirty="0">
                <a:latin typeface="Arial"/>
                <a:cs typeface="Arial"/>
              </a:rPr>
              <a:t>Are </a:t>
            </a:r>
            <a:r>
              <a:rPr sz="900" i="1" spc="-238" dirty="0">
                <a:latin typeface="Arial"/>
                <a:cs typeface="Arial"/>
              </a:rPr>
              <a:t> </a:t>
            </a:r>
            <a:r>
              <a:rPr sz="900" i="1" spc="-9" dirty="0">
                <a:latin typeface="Arial"/>
                <a:cs typeface="Arial"/>
              </a:rPr>
              <a:t>Transforming</a:t>
            </a:r>
            <a:r>
              <a:rPr sz="900" i="1" spc="-5" dirty="0">
                <a:latin typeface="Arial"/>
                <a:cs typeface="Arial"/>
              </a:rPr>
              <a:t> the Economy </a:t>
            </a:r>
            <a:r>
              <a:rPr sz="900" i="1" dirty="0">
                <a:latin typeface="Arial"/>
                <a:cs typeface="Arial"/>
              </a:rPr>
              <a:t>-</a:t>
            </a:r>
            <a:r>
              <a:rPr sz="900" i="1" spc="-5" dirty="0">
                <a:latin typeface="Arial"/>
                <a:cs typeface="Arial"/>
              </a:rPr>
              <a:t> and How to </a:t>
            </a:r>
            <a:r>
              <a:rPr sz="900" i="1" dirty="0">
                <a:latin typeface="Arial"/>
                <a:cs typeface="Arial"/>
              </a:rPr>
              <a:t>Make</a:t>
            </a:r>
            <a:r>
              <a:rPr sz="900" i="1" spc="-5" dirty="0">
                <a:latin typeface="Arial"/>
                <a:cs typeface="Arial"/>
              </a:rPr>
              <a:t> Them Work for</a:t>
            </a:r>
            <a:r>
              <a:rPr sz="900" i="1" spc="-23" dirty="0">
                <a:latin typeface="Arial"/>
                <a:cs typeface="Arial"/>
              </a:rPr>
              <a:t> </a:t>
            </a:r>
            <a:r>
              <a:rPr sz="900" i="1" spc="-18" dirty="0">
                <a:latin typeface="Arial"/>
                <a:cs typeface="Arial"/>
              </a:rPr>
              <a:t>You,</a:t>
            </a:r>
            <a:r>
              <a:rPr sz="900" i="1" spc="36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March</a:t>
            </a:r>
            <a:r>
              <a:rPr sz="900" spc="-5" dirty="0">
                <a:latin typeface="Arial MT"/>
                <a:cs typeface="Arial MT"/>
              </a:rPr>
              <a:t> 28, 2016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524" y="151460"/>
            <a:ext cx="7383780" cy="511487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9" dirty="0"/>
              <a:t>Our interpretation </a:t>
            </a:r>
            <a:r>
              <a:rPr spc="-5" dirty="0"/>
              <a:t>of </a:t>
            </a:r>
            <a:r>
              <a:rPr spc="-9" dirty="0"/>
              <a:t>platforms </a:t>
            </a:r>
            <a:r>
              <a:rPr spc="-5" dirty="0"/>
              <a:t>for </a:t>
            </a:r>
            <a:r>
              <a:rPr spc="-9" dirty="0"/>
              <a:t>big </a:t>
            </a:r>
            <a:r>
              <a:rPr spc="-891" dirty="0"/>
              <a:t> </a:t>
            </a:r>
            <a:r>
              <a:rPr spc="-9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297" y="1000998"/>
            <a:ext cx="7214616" cy="3272755"/>
          </a:xfrm>
          <a:prstGeom prst="rect">
            <a:avLst/>
          </a:prstGeom>
        </p:spPr>
        <p:txBody>
          <a:bodyPr vert="horz" wrap="square" lIns="0" tIns="60008" rIns="0" bIns="0" rtlCol="0">
            <a:spAutoFit/>
          </a:bodyPr>
          <a:lstStyle/>
          <a:p>
            <a:pPr marL="344615" indent="-333756">
              <a:spcBef>
                <a:spcPts val="472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Being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large-scale</a:t>
            </a:r>
            <a:r>
              <a:rPr sz="1890" b="1" spc="-1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service</a:t>
            </a:r>
            <a:r>
              <a:rPr sz="1890" b="1" spc="-1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b="1" dirty="0">
                <a:solidFill>
                  <a:srgbClr val="0000FF"/>
                </a:solidFill>
                <a:latin typeface="Arial"/>
                <a:cs typeface="Arial"/>
              </a:rPr>
              <a:t>platforms</a:t>
            </a:r>
            <a:r>
              <a:rPr sz="1890" b="1" dirty="0">
                <a:latin typeface="Arial"/>
                <a:cs typeface="Arial"/>
              </a:rPr>
              <a:t>,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e.g.</a:t>
            </a:r>
            <a:endParaRPr sz="189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On-demand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computing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platforms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for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data-centric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products</a:t>
            </a:r>
            <a:endParaRPr>
              <a:latin typeface="Georgia"/>
              <a:cs typeface="Georgia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On-demand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analytics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service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platforms</a:t>
            </a:r>
            <a:endParaRPr>
              <a:latin typeface="Georgia"/>
              <a:cs typeface="Georgia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On-demand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management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platforms</a:t>
            </a:r>
            <a:endParaRPr>
              <a:latin typeface="Georgia"/>
              <a:cs typeface="Georgia"/>
            </a:endParaRPr>
          </a:p>
          <a:p>
            <a:pPr marL="344615" marR="248603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Enabling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interactions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between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big</a:t>
            </a:r>
            <a:r>
              <a:rPr sz="1890" b="1" spc="90" dirty="0"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890" b="1" spc="-1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producers</a:t>
            </a:r>
            <a:r>
              <a:rPr sz="1890" b="1" spc="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big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890" b="1" spc="-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consumers</a:t>
            </a:r>
            <a:endParaRPr sz="189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Integration,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management,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analysis,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optimization</a:t>
            </a:r>
            <a:endParaRPr>
              <a:latin typeface="Georgia"/>
              <a:cs typeface="Georgia"/>
            </a:endParaRPr>
          </a:p>
          <a:p>
            <a:pPr marL="344615" marR="69723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Facilitating </a:t>
            </a:r>
            <a:r>
              <a:rPr sz="1890" b="1" dirty="0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exchange of big data and products centered </a:t>
            </a:r>
            <a:r>
              <a:rPr sz="1890" b="1" spc="-51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around</a:t>
            </a:r>
            <a:r>
              <a:rPr sz="1890" b="1" spc="-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endParaRPr sz="1890">
              <a:latin typeface="Arial"/>
              <a:cs typeface="Arial"/>
            </a:endParaRPr>
          </a:p>
          <a:p>
            <a:pPr marL="411480" indent="-400621">
              <a:spcBef>
                <a:spcPts val="378"/>
              </a:spcBef>
              <a:buChar char="●"/>
              <a:tabLst>
                <a:tab pos="410909" algn="l"/>
                <a:tab pos="412051" algn="l"/>
              </a:tabLst>
            </a:pPr>
            <a:r>
              <a:rPr sz="1890" b="1" spc="-5" dirty="0">
                <a:latin typeface="Arial"/>
                <a:cs typeface="Arial"/>
              </a:rPr>
              <a:t>Not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just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a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database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or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marketplace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(even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they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are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big!)</a:t>
            </a:r>
            <a:endParaRPr sz="189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6664833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9" dirty="0"/>
              <a:t>Platforms</a:t>
            </a:r>
            <a:r>
              <a:rPr spc="-32" dirty="0"/>
              <a:t> </a:t>
            </a:r>
            <a:r>
              <a:rPr spc="-5" dirty="0"/>
              <a:t>support</a:t>
            </a:r>
            <a:r>
              <a:rPr spc="-18" dirty="0"/>
              <a:t> </a:t>
            </a:r>
            <a:r>
              <a:rPr spc="-9" dirty="0"/>
              <a:t>data</a:t>
            </a:r>
            <a:r>
              <a:rPr spc="-27" dirty="0"/>
              <a:t> </a:t>
            </a:r>
            <a:r>
              <a:rPr spc="-5" dirty="0"/>
              <a:t>as</a:t>
            </a:r>
            <a:r>
              <a:rPr spc="-18" dirty="0"/>
              <a:t> </a:t>
            </a:r>
            <a:r>
              <a:rPr dirty="0"/>
              <a:t>“asset” </a:t>
            </a:r>
            <a:r>
              <a:rPr spc="-887" dirty="0"/>
              <a:t> </a:t>
            </a:r>
            <a:r>
              <a:rPr spc="-5" dirty="0"/>
              <a:t>and</a:t>
            </a:r>
            <a:r>
              <a:rPr spc="-14" dirty="0"/>
              <a:t> </a:t>
            </a:r>
            <a:r>
              <a:rPr dirty="0"/>
              <a:t>“product”</a:t>
            </a:r>
            <a:r>
              <a:rPr spc="-9" dirty="0"/>
              <a:t> </a:t>
            </a:r>
            <a:r>
              <a:rPr spc="-5" dirty="0"/>
              <a:t>perspectives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8024" y="1114410"/>
            <a:ext cx="7168325" cy="25594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1760" indent="-350901">
              <a:spcBef>
                <a:spcPts val="90"/>
              </a:spcBef>
              <a:buChar char="●"/>
              <a:tabLst>
                <a:tab pos="361760" algn="l"/>
                <a:tab pos="362331" algn="l"/>
              </a:tabLst>
            </a:pPr>
            <a:r>
              <a:rPr sz="1890" b="1" spc="-5" dirty="0">
                <a:latin typeface="Arial"/>
                <a:cs typeface="Arial"/>
              </a:rPr>
              <a:t>Known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views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about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endParaRPr sz="1890">
              <a:latin typeface="Arial"/>
              <a:cs typeface="Arial"/>
            </a:endParaRPr>
          </a:p>
          <a:p>
            <a:pPr marL="773240" lvl="1" indent="-344043">
              <a:buFont typeface="Arial MT"/>
              <a:buChar char="○"/>
              <a:tabLst>
                <a:tab pos="773240" algn="l"/>
                <a:tab pos="773811" algn="l"/>
              </a:tabLst>
            </a:pPr>
            <a:r>
              <a:rPr spc="-5" dirty="0">
                <a:latin typeface="Georgia"/>
                <a:cs typeface="Georgia"/>
              </a:rPr>
              <a:t>“data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as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asset”</a:t>
            </a:r>
            <a:endParaRPr>
              <a:latin typeface="Georgia"/>
              <a:cs typeface="Georgia"/>
            </a:endParaRPr>
          </a:p>
          <a:p>
            <a:pPr marL="773240" lvl="1" indent="-344043">
              <a:lnSpc>
                <a:spcPts val="2160"/>
              </a:lnSpc>
              <a:buFont typeface="Arial MT"/>
              <a:buChar char="○"/>
              <a:tabLst>
                <a:tab pos="773240" algn="l"/>
                <a:tab pos="773811" algn="l"/>
              </a:tabLst>
            </a:pPr>
            <a:r>
              <a:rPr spc="-5" dirty="0">
                <a:latin typeface="Georgia"/>
                <a:cs typeface="Georgia"/>
              </a:rPr>
              <a:t>“data</a:t>
            </a:r>
            <a:r>
              <a:rPr spc="-27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as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product”</a:t>
            </a:r>
            <a:endParaRPr>
              <a:latin typeface="Georgia"/>
              <a:cs typeface="Georgia"/>
            </a:endParaRPr>
          </a:p>
          <a:p>
            <a:pPr marL="361760" indent="-350901">
              <a:lnSpc>
                <a:spcPts val="2268"/>
              </a:lnSpc>
              <a:buChar char="●"/>
              <a:tabLst>
                <a:tab pos="361760" algn="l"/>
                <a:tab pos="362331" algn="l"/>
              </a:tabLst>
            </a:pPr>
            <a:r>
              <a:rPr sz="1890" b="1" dirty="0">
                <a:latin typeface="Arial"/>
                <a:cs typeface="Arial"/>
              </a:rPr>
              <a:t>“Data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as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asset”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(see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“Design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governance”)</a:t>
            </a:r>
            <a:endParaRPr sz="1890">
              <a:latin typeface="Arial"/>
              <a:cs typeface="Arial"/>
            </a:endParaRPr>
          </a:p>
          <a:p>
            <a:pPr marL="773240" marR="4572" lvl="1" indent="-344043">
              <a:spcBef>
                <a:spcPts val="5"/>
              </a:spcBef>
              <a:buFont typeface="Arial MT"/>
              <a:buChar char="○"/>
              <a:tabLst>
                <a:tab pos="773240" algn="l"/>
                <a:tab pos="773811" algn="l"/>
              </a:tabLst>
            </a:pPr>
            <a:r>
              <a:rPr spc="-5" dirty="0">
                <a:latin typeface="Georgia"/>
                <a:cs typeface="Georgia"/>
              </a:rPr>
              <a:t>something is very valuable that must be managed and exploited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for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the benefit of the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owner</a:t>
            </a:r>
            <a:endParaRPr>
              <a:latin typeface="Georgia"/>
              <a:cs typeface="Georgia"/>
            </a:endParaRPr>
          </a:p>
          <a:p>
            <a:pPr marL="361760" indent="-350901">
              <a:lnSpc>
                <a:spcPts val="2264"/>
              </a:lnSpc>
              <a:buChar char="●"/>
              <a:tabLst>
                <a:tab pos="361760" algn="l"/>
                <a:tab pos="362331" algn="l"/>
              </a:tabLst>
            </a:pPr>
            <a:r>
              <a:rPr sz="1890" b="1" dirty="0">
                <a:latin typeface="Arial"/>
                <a:cs typeface="Arial"/>
              </a:rPr>
              <a:t>“Data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as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a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product”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(see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“Data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mesh”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)</a:t>
            </a:r>
            <a:endParaRPr sz="1890">
              <a:latin typeface="Arial"/>
              <a:cs typeface="Arial"/>
            </a:endParaRPr>
          </a:p>
          <a:p>
            <a:pPr marL="773240" marR="541782" lvl="1" indent="-344043">
              <a:spcBef>
                <a:spcPts val="5"/>
              </a:spcBef>
              <a:buFont typeface="Arial MT"/>
              <a:buChar char="○"/>
              <a:tabLst>
                <a:tab pos="773240" algn="l"/>
                <a:tab pos="773811" algn="l"/>
              </a:tabLst>
            </a:pPr>
            <a:r>
              <a:rPr spc="-5" dirty="0">
                <a:latin typeface="Georgia"/>
                <a:cs typeface="Georgia"/>
              </a:rPr>
              <a:t>product thinking for how one should process, manage and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produce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to be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used and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satisfied by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the data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user</a:t>
            </a:r>
            <a:endParaRPr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6794" y="3723729"/>
            <a:ext cx="6213348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810" spc="-5" dirty="0">
                <a:latin typeface="Arial MT"/>
                <a:cs typeface="Arial MT"/>
              </a:rPr>
              <a:t>[“Data as an asset”]: </a:t>
            </a:r>
            <a:r>
              <a:rPr sz="810" spc="-9" dirty="0">
                <a:latin typeface="Arial MT"/>
                <a:cs typeface="Arial MT"/>
              </a:rPr>
              <a:t>Vijay </a:t>
            </a:r>
            <a:r>
              <a:rPr sz="810" spc="-5" dirty="0">
                <a:latin typeface="Arial MT"/>
                <a:cs typeface="Arial MT"/>
              </a:rPr>
              <a:t>Khatri and Carol </a:t>
            </a:r>
            <a:r>
              <a:rPr sz="810" spc="-41" dirty="0">
                <a:latin typeface="Arial MT"/>
                <a:cs typeface="Arial MT"/>
              </a:rPr>
              <a:t>V. </a:t>
            </a:r>
            <a:r>
              <a:rPr sz="810" spc="-5" dirty="0">
                <a:latin typeface="Arial MT"/>
                <a:cs typeface="Arial MT"/>
              </a:rPr>
              <a:t>Brown. 2010. Designing data governance. Commun. ACM 53, </a:t>
            </a:r>
            <a:r>
              <a:rPr sz="810" dirty="0">
                <a:latin typeface="Arial MT"/>
                <a:cs typeface="Arial MT"/>
              </a:rPr>
              <a:t>1 (January </a:t>
            </a:r>
            <a:r>
              <a:rPr sz="810" spc="-5" dirty="0">
                <a:latin typeface="Arial MT"/>
                <a:cs typeface="Arial MT"/>
              </a:rPr>
              <a:t>2010), 148–152. </a:t>
            </a:r>
            <a:r>
              <a:rPr sz="810" dirty="0">
                <a:latin typeface="Arial MT"/>
                <a:cs typeface="Arial MT"/>
              </a:rPr>
              <a:t> </a:t>
            </a:r>
            <a:r>
              <a:rPr sz="810" u="sng" spc="-9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https://doi.org/10.1145/1629175.1629210</a:t>
            </a:r>
            <a:endParaRPr sz="810">
              <a:latin typeface="Arial MT"/>
              <a:cs typeface="Arial MT"/>
            </a:endParaRPr>
          </a:p>
          <a:p>
            <a:pPr>
              <a:spcBef>
                <a:spcPts val="41"/>
              </a:spcBef>
            </a:pPr>
            <a:endParaRPr sz="810">
              <a:latin typeface="Arial MT"/>
              <a:cs typeface="Arial MT"/>
            </a:endParaRPr>
          </a:p>
          <a:p>
            <a:pPr marL="11430"/>
            <a:r>
              <a:rPr sz="810" spc="-5" dirty="0">
                <a:latin typeface="Arial MT"/>
                <a:cs typeface="Arial MT"/>
              </a:rPr>
              <a:t>[“Data</a:t>
            </a:r>
            <a:r>
              <a:rPr sz="810" spc="-14" dirty="0">
                <a:latin typeface="Arial MT"/>
                <a:cs typeface="Arial MT"/>
              </a:rPr>
              <a:t> </a:t>
            </a:r>
            <a:r>
              <a:rPr sz="810" spc="-5" dirty="0">
                <a:latin typeface="Arial MT"/>
                <a:cs typeface="Arial MT"/>
              </a:rPr>
              <a:t>as</a:t>
            </a:r>
            <a:r>
              <a:rPr sz="810" spc="-9" dirty="0">
                <a:latin typeface="Arial MT"/>
                <a:cs typeface="Arial MT"/>
              </a:rPr>
              <a:t> </a:t>
            </a:r>
            <a:r>
              <a:rPr sz="810" dirty="0">
                <a:latin typeface="Arial MT"/>
                <a:cs typeface="Arial MT"/>
              </a:rPr>
              <a:t>a</a:t>
            </a:r>
            <a:r>
              <a:rPr sz="810" spc="-14" dirty="0">
                <a:latin typeface="Arial MT"/>
                <a:cs typeface="Arial MT"/>
              </a:rPr>
              <a:t> </a:t>
            </a:r>
            <a:r>
              <a:rPr sz="810" spc="-5" dirty="0">
                <a:latin typeface="Arial MT"/>
                <a:cs typeface="Arial MT"/>
              </a:rPr>
              <a:t>product”]:</a:t>
            </a:r>
            <a:r>
              <a:rPr sz="810" dirty="0">
                <a:latin typeface="Arial MT"/>
                <a:cs typeface="Arial MT"/>
              </a:rPr>
              <a:t> </a:t>
            </a:r>
            <a:r>
              <a:rPr sz="810" spc="-5" dirty="0">
                <a:latin typeface="Arial MT"/>
                <a:cs typeface="Arial MT"/>
              </a:rPr>
              <a:t>Zhamak</a:t>
            </a:r>
            <a:r>
              <a:rPr sz="810" spc="-9" dirty="0">
                <a:latin typeface="Arial MT"/>
                <a:cs typeface="Arial MT"/>
              </a:rPr>
              <a:t> </a:t>
            </a:r>
            <a:r>
              <a:rPr sz="810" spc="-5" dirty="0">
                <a:latin typeface="Arial MT"/>
                <a:cs typeface="Arial MT"/>
              </a:rPr>
              <a:t>Dehghani,</a:t>
            </a:r>
            <a:r>
              <a:rPr sz="810" dirty="0">
                <a:latin typeface="Arial MT"/>
                <a:cs typeface="Arial MT"/>
              </a:rPr>
              <a:t> </a:t>
            </a:r>
            <a:r>
              <a:rPr sz="810" spc="-5" dirty="0">
                <a:latin typeface="Arial MT"/>
                <a:cs typeface="Arial MT"/>
              </a:rPr>
              <a:t>Data</a:t>
            </a:r>
            <a:r>
              <a:rPr sz="810" spc="-9" dirty="0">
                <a:latin typeface="Arial MT"/>
                <a:cs typeface="Arial MT"/>
              </a:rPr>
              <a:t> </a:t>
            </a:r>
            <a:r>
              <a:rPr sz="810" dirty="0">
                <a:latin typeface="Arial MT"/>
                <a:cs typeface="Arial MT"/>
              </a:rPr>
              <a:t>Mesh,</a:t>
            </a:r>
            <a:r>
              <a:rPr sz="810" spc="-14" dirty="0">
                <a:latin typeface="Arial MT"/>
                <a:cs typeface="Arial MT"/>
              </a:rPr>
              <a:t> </a:t>
            </a:r>
            <a:r>
              <a:rPr sz="810" spc="-5" dirty="0">
                <a:latin typeface="Arial MT"/>
                <a:cs typeface="Arial MT"/>
              </a:rPr>
              <a:t>2022</a:t>
            </a:r>
            <a:endParaRPr sz="81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362845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Big</a:t>
            </a:r>
            <a:r>
              <a:rPr spc="-41" dirty="0"/>
              <a:t> </a:t>
            </a:r>
            <a:r>
              <a:rPr spc="-9" dirty="0"/>
              <a:t>data</a:t>
            </a:r>
            <a:r>
              <a:rPr spc="-45" dirty="0"/>
              <a:t> </a:t>
            </a:r>
            <a:r>
              <a:rPr spc="-5" dirty="0"/>
              <a:t>platforms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722" y="1055988"/>
            <a:ext cx="6907148" cy="3055708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48044" indent="-337185">
              <a:spcBef>
                <a:spcPts val="540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Data-centric</a:t>
            </a:r>
            <a:r>
              <a:rPr sz="2160" b="1" spc="-45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services</a:t>
            </a:r>
            <a:endParaRPr sz="2160">
              <a:latin typeface="Arial"/>
              <a:cs typeface="Arial"/>
            </a:endParaRPr>
          </a:p>
          <a:p>
            <a:pPr marL="562356" lvl="1" indent="-333185">
              <a:spcBef>
                <a:spcPts val="374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dirty="0">
                <a:latin typeface="Georgia"/>
                <a:cs typeface="Georgia"/>
              </a:rPr>
              <a:t>a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lot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of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with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different</a:t>
            </a:r>
            <a:r>
              <a:rPr spc="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types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added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continuously</a:t>
            </a:r>
            <a:endParaRPr>
              <a:latin typeface="Georgia"/>
              <a:cs typeface="Georgia"/>
            </a:endParaRPr>
          </a:p>
          <a:p>
            <a:pPr marL="562356" lvl="1" indent="-333185">
              <a:spcBef>
                <a:spcPts val="360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pc="-5" dirty="0">
                <a:latin typeface="Georgia"/>
                <a:cs typeface="Georgia"/>
              </a:rPr>
              <a:t>complex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governance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technological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infrastructures</a:t>
            </a:r>
            <a:endParaRPr>
              <a:latin typeface="Georgia"/>
              <a:cs typeface="Georgia"/>
            </a:endParaRPr>
          </a:p>
          <a:p>
            <a:pPr marL="348044" indent="-333756">
              <a:spcBef>
                <a:spcPts val="374"/>
              </a:spcBef>
              <a:buChar char="●"/>
              <a:tabLst>
                <a:tab pos="348044" algn="l"/>
                <a:tab pos="348615" algn="l"/>
              </a:tabLst>
            </a:pPr>
            <a:r>
              <a:rPr sz="1890" b="1" spc="-5" dirty="0">
                <a:latin typeface="Arial"/>
                <a:cs typeface="Arial"/>
              </a:rPr>
              <a:t>Extensibility</a:t>
            </a:r>
            <a:endParaRPr sz="1890">
              <a:latin typeface="Arial"/>
              <a:cs typeface="Arial"/>
            </a:endParaRPr>
          </a:p>
          <a:p>
            <a:pPr marL="617220" lvl="1" indent="-388049">
              <a:spcBef>
                <a:spcPts val="365"/>
              </a:spcBef>
              <a:buFont typeface="Arial MT"/>
              <a:buChar char="○"/>
              <a:tabLst>
                <a:tab pos="617220" algn="l"/>
                <a:tab pos="617792" algn="l"/>
              </a:tabLst>
            </a:pPr>
            <a:r>
              <a:rPr spc="-5" dirty="0">
                <a:latin typeface="Georgia"/>
                <a:cs typeface="Georgia"/>
              </a:rPr>
              <a:t>allowing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new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services,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components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to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be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added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integrated</a:t>
            </a:r>
            <a:endParaRPr>
              <a:latin typeface="Georgia"/>
              <a:cs typeface="Georgia"/>
            </a:endParaRPr>
          </a:p>
          <a:p>
            <a:pPr marL="348044" indent="-333756">
              <a:spcBef>
                <a:spcPts val="374"/>
              </a:spcBef>
              <a:buChar char="●"/>
              <a:tabLst>
                <a:tab pos="348044" algn="l"/>
                <a:tab pos="348615" algn="l"/>
              </a:tabLst>
            </a:pPr>
            <a:r>
              <a:rPr sz="1890" b="1" spc="-9" dirty="0">
                <a:latin typeface="Arial"/>
                <a:cs typeface="Arial"/>
              </a:rPr>
              <a:t>With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diverse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types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of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stakeholders</a:t>
            </a:r>
            <a:endParaRPr sz="1890">
              <a:latin typeface="Arial"/>
              <a:cs typeface="Arial"/>
            </a:endParaRPr>
          </a:p>
          <a:p>
            <a:pPr marL="562356" lvl="1" indent="-333185">
              <a:spcBef>
                <a:spcPts val="365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pc="-5" dirty="0">
                <a:latin typeface="Georgia"/>
                <a:cs typeface="Georgia"/>
              </a:rPr>
              <a:t>data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consumers,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providers,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integrators</a:t>
            </a:r>
            <a:endParaRPr>
              <a:latin typeface="Georgia"/>
              <a:cs typeface="Georgia"/>
            </a:endParaRPr>
          </a:p>
          <a:p>
            <a:pPr marL="562356" lvl="1" indent="-333185">
              <a:spcBef>
                <a:spcPts val="360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pc="-5" dirty="0">
                <a:latin typeface="Georgia"/>
                <a:cs typeface="Georgia"/>
              </a:rPr>
              <a:t>service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consumers,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service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providers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service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integrators</a:t>
            </a:r>
            <a:endParaRPr>
              <a:latin typeface="Georgia"/>
              <a:cs typeface="Georgia"/>
            </a:endParaRPr>
          </a:p>
          <a:p>
            <a:pPr marL="562356" lvl="1" indent="-333185">
              <a:spcBef>
                <a:spcPts val="360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pc="-5" dirty="0">
                <a:latin typeface="Georgia"/>
                <a:cs typeface="Georgia"/>
              </a:rPr>
              <a:t>regulators/auditors,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etc.</a:t>
            </a:r>
            <a:endParaRPr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317" y="21938"/>
            <a:ext cx="3761613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Big</a:t>
            </a:r>
            <a:r>
              <a:rPr spc="-45" dirty="0"/>
              <a:t> </a:t>
            </a:r>
            <a:r>
              <a:rPr spc="-9" dirty="0"/>
              <a:t>data</a:t>
            </a:r>
            <a:r>
              <a:rPr spc="-45" dirty="0"/>
              <a:t> </a:t>
            </a:r>
            <a:r>
              <a:rPr spc="-9" dirty="0"/>
              <a:t>platforms: </a:t>
            </a:r>
            <a:r>
              <a:rPr spc="-887" dirty="0"/>
              <a:t> </a:t>
            </a:r>
            <a:r>
              <a:rPr spc="-9" dirty="0"/>
              <a:t>Onion</a:t>
            </a:r>
            <a:r>
              <a:rPr spc="-54" dirty="0"/>
              <a:t> </a:t>
            </a:r>
            <a:r>
              <a:rPr spc="-5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6676" y="476805"/>
            <a:ext cx="3782759" cy="3949065"/>
            <a:chOff x="1699417" y="529783"/>
            <a:chExt cx="4203065" cy="4387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9417" y="987357"/>
              <a:ext cx="3915727" cy="3930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4180" y="1012120"/>
              <a:ext cx="3826201" cy="38353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44180" y="1012120"/>
              <a:ext cx="3826510" cy="3841115"/>
            </a:xfrm>
            <a:custGeom>
              <a:avLst/>
              <a:gdLst/>
              <a:ahLst/>
              <a:cxnLst/>
              <a:rect l="l" t="t" r="r" b="b"/>
              <a:pathLst>
                <a:path w="3826510" h="3841115">
                  <a:moveTo>
                    <a:pt x="0" y="1920316"/>
                  </a:moveTo>
                  <a:lnTo>
                    <a:pt x="587" y="1872250"/>
                  </a:lnTo>
                  <a:lnTo>
                    <a:pt x="2341" y="1824473"/>
                  </a:lnTo>
                  <a:lnTo>
                    <a:pt x="5247" y="1777001"/>
                  </a:lnTo>
                  <a:lnTo>
                    <a:pt x="9292" y="1729847"/>
                  </a:lnTo>
                  <a:lnTo>
                    <a:pt x="14461" y="1683024"/>
                  </a:lnTo>
                  <a:lnTo>
                    <a:pt x="20742" y="1636546"/>
                  </a:lnTo>
                  <a:lnTo>
                    <a:pt x="28121" y="1590428"/>
                  </a:lnTo>
                  <a:lnTo>
                    <a:pt x="36584" y="1544682"/>
                  </a:lnTo>
                  <a:lnTo>
                    <a:pt x="46116" y="1499323"/>
                  </a:lnTo>
                  <a:lnTo>
                    <a:pt x="56705" y="1454365"/>
                  </a:lnTo>
                  <a:lnTo>
                    <a:pt x="68337" y="1409820"/>
                  </a:lnTo>
                  <a:lnTo>
                    <a:pt x="80998" y="1365704"/>
                  </a:lnTo>
                  <a:lnTo>
                    <a:pt x="94675" y="1322029"/>
                  </a:lnTo>
                  <a:lnTo>
                    <a:pt x="109353" y="1278809"/>
                  </a:lnTo>
                  <a:lnTo>
                    <a:pt x="125019" y="1236059"/>
                  </a:lnTo>
                  <a:lnTo>
                    <a:pt x="141659" y="1193791"/>
                  </a:lnTo>
                  <a:lnTo>
                    <a:pt x="159260" y="1152020"/>
                  </a:lnTo>
                  <a:lnTo>
                    <a:pt x="177808" y="1110759"/>
                  </a:lnTo>
                  <a:lnTo>
                    <a:pt x="197289" y="1070023"/>
                  </a:lnTo>
                  <a:lnTo>
                    <a:pt x="217689" y="1029824"/>
                  </a:lnTo>
                  <a:lnTo>
                    <a:pt x="238996" y="990177"/>
                  </a:lnTo>
                  <a:lnTo>
                    <a:pt x="261194" y="951096"/>
                  </a:lnTo>
                  <a:lnTo>
                    <a:pt x="284271" y="912593"/>
                  </a:lnTo>
                  <a:lnTo>
                    <a:pt x="308212" y="874684"/>
                  </a:lnTo>
                  <a:lnTo>
                    <a:pt x="333004" y="837381"/>
                  </a:lnTo>
                  <a:lnTo>
                    <a:pt x="358634" y="800698"/>
                  </a:lnTo>
                  <a:lnTo>
                    <a:pt x="385087" y="764650"/>
                  </a:lnTo>
                  <a:lnTo>
                    <a:pt x="412350" y="729250"/>
                  </a:lnTo>
                  <a:lnTo>
                    <a:pt x="440409" y="694511"/>
                  </a:lnTo>
                  <a:lnTo>
                    <a:pt x="469251" y="660448"/>
                  </a:lnTo>
                  <a:lnTo>
                    <a:pt x="498861" y="627073"/>
                  </a:lnTo>
                  <a:lnTo>
                    <a:pt x="529227" y="594402"/>
                  </a:lnTo>
                  <a:lnTo>
                    <a:pt x="560334" y="562447"/>
                  </a:lnTo>
                  <a:lnTo>
                    <a:pt x="592168" y="531223"/>
                  </a:lnTo>
                  <a:lnTo>
                    <a:pt x="624717" y="500743"/>
                  </a:lnTo>
                  <a:lnTo>
                    <a:pt x="657966" y="471021"/>
                  </a:lnTo>
                  <a:lnTo>
                    <a:pt x="691901" y="442070"/>
                  </a:lnTo>
                  <a:lnTo>
                    <a:pt x="726509" y="413905"/>
                  </a:lnTo>
                  <a:lnTo>
                    <a:pt x="761777" y="386539"/>
                  </a:lnTo>
                  <a:lnTo>
                    <a:pt x="797690" y="359987"/>
                  </a:lnTo>
                  <a:lnTo>
                    <a:pt x="834234" y="334260"/>
                  </a:lnTo>
                  <a:lnTo>
                    <a:pt x="871397" y="309374"/>
                  </a:lnTo>
                  <a:lnTo>
                    <a:pt x="909164" y="285343"/>
                  </a:lnTo>
                  <a:lnTo>
                    <a:pt x="947522" y="262179"/>
                  </a:lnTo>
                  <a:lnTo>
                    <a:pt x="986456" y="239897"/>
                  </a:lnTo>
                  <a:lnTo>
                    <a:pt x="1025954" y="218510"/>
                  </a:lnTo>
                  <a:lnTo>
                    <a:pt x="1066002" y="198033"/>
                  </a:lnTo>
                  <a:lnTo>
                    <a:pt x="1106585" y="178479"/>
                  </a:lnTo>
                  <a:lnTo>
                    <a:pt x="1147691" y="159861"/>
                  </a:lnTo>
                  <a:lnTo>
                    <a:pt x="1189305" y="142194"/>
                  </a:lnTo>
                  <a:lnTo>
                    <a:pt x="1231414" y="125490"/>
                  </a:lnTo>
                  <a:lnTo>
                    <a:pt x="1274003" y="109765"/>
                  </a:lnTo>
                  <a:lnTo>
                    <a:pt x="1317061" y="95032"/>
                  </a:lnTo>
                  <a:lnTo>
                    <a:pt x="1360572" y="81304"/>
                  </a:lnTo>
                  <a:lnTo>
                    <a:pt x="1404522" y="68595"/>
                  </a:lnTo>
                  <a:lnTo>
                    <a:pt x="1448899" y="56919"/>
                  </a:lnTo>
                  <a:lnTo>
                    <a:pt x="1493689" y="46290"/>
                  </a:lnTo>
                  <a:lnTo>
                    <a:pt x="1538878" y="36722"/>
                  </a:lnTo>
                  <a:lnTo>
                    <a:pt x="1584451" y="28227"/>
                  </a:lnTo>
                  <a:lnTo>
                    <a:pt x="1630396" y="20821"/>
                  </a:lnTo>
                  <a:lnTo>
                    <a:pt x="1676699" y="14516"/>
                  </a:lnTo>
                  <a:lnTo>
                    <a:pt x="1723346" y="9327"/>
                  </a:lnTo>
                  <a:lnTo>
                    <a:pt x="1770323" y="5267"/>
                  </a:lnTo>
                  <a:lnTo>
                    <a:pt x="1817617" y="2350"/>
                  </a:lnTo>
                  <a:lnTo>
                    <a:pt x="1865214" y="589"/>
                  </a:lnTo>
                  <a:lnTo>
                    <a:pt x="1913100" y="0"/>
                  </a:lnTo>
                  <a:lnTo>
                    <a:pt x="1963766" y="672"/>
                  </a:lnTo>
                  <a:lnTo>
                    <a:pt x="2014269" y="2684"/>
                  </a:lnTo>
                  <a:lnTo>
                    <a:pt x="2064586" y="6025"/>
                  </a:lnTo>
                  <a:lnTo>
                    <a:pt x="2114693" y="10684"/>
                  </a:lnTo>
                  <a:lnTo>
                    <a:pt x="2164566" y="16653"/>
                  </a:lnTo>
                  <a:lnTo>
                    <a:pt x="2214182" y="23922"/>
                  </a:lnTo>
                  <a:lnTo>
                    <a:pt x="2263516" y="32479"/>
                  </a:lnTo>
                  <a:lnTo>
                    <a:pt x="2312546" y="42317"/>
                  </a:lnTo>
                  <a:lnTo>
                    <a:pt x="2361246" y="53424"/>
                  </a:lnTo>
                  <a:lnTo>
                    <a:pt x="2409594" y="65791"/>
                  </a:lnTo>
                  <a:lnTo>
                    <a:pt x="2457566" y="79407"/>
                  </a:lnTo>
                  <a:lnTo>
                    <a:pt x="2505137" y="94264"/>
                  </a:lnTo>
                  <a:lnTo>
                    <a:pt x="2552285" y="110351"/>
                  </a:lnTo>
                  <a:lnTo>
                    <a:pt x="2598984" y="127658"/>
                  </a:lnTo>
                  <a:lnTo>
                    <a:pt x="2645212" y="146175"/>
                  </a:lnTo>
                  <a:lnTo>
                    <a:pt x="2690945" y="165893"/>
                  </a:lnTo>
                  <a:lnTo>
                    <a:pt x="2736158" y="186801"/>
                  </a:lnTo>
                  <a:lnTo>
                    <a:pt x="2780829" y="208890"/>
                  </a:lnTo>
                  <a:lnTo>
                    <a:pt x="2824933" y="232150"/>
                  </a:lnTo>
                  <a:lnTo>
                    <a:pt x="2868446" y="256570"/>
                  </a:lnTo>
                  <a:lnTo>
                    <a:pt x="2911345" y="282142"/>
                  </a:lnTo>
                  <a:lnTo>
                    <a:pt x="2953606" y="308854"/>
                  </a:lnTo>
                  <a:lnTo>
                    <a:pt x="2995205" y="336698"/>
                  </a:lnTo>
                  <a:lnTo>
                    <a:pt x="3036118" y="365663"/>
                  </a:lnTo>
                  <a:lnTo>
                    <a:pt x="3076322" y="395740"/>
                  </a:lnTo>
                  <a:lnTo>
                    <a:pt x="3115793" y="426918"/>
                  </a:lnTo>
                  <a:lnTo>
                    <a:pt x="3154506" y="459187"/>
                  </a:lnTo>
                  <a:lnTo>
                    <a:pt x="3192439" y="492539"/>
                  </a:lnTo>
                  <a:lnTo>
                    <a:pt x="3229567" y="526962"/>
                  </a:lnTo>
                  <a:lnTo>
                    <a:pt x="3265867" y="562447"/>
                  </a:lnTo>
                  <a:lnTo>
                    <a:pt x="3301219" y="598884"/>
                  </a:lnTo>
                  <a:lnTo>
                    <a:pt x="3335513" y="636152"/>
                  </a:lnTo>
                  <a:lnTo>
                    <a:pt x="3368739" y="674228"/>
                  </a:lnTo>
                  <a:lnTo>
                    <a:pt x="3400887" y="713088"/>
                  </a:lnTo>
                  <a:lnTo>
                    <a:pt x="3431948" y="752707"/>
                  </a:lnTo>
                  <a:lnTo>
                    <a:pt x="3461912" y="793063"/>
                  </a:lnTo>
                  <a:lnTo>
                    <a:pt x="3490768" y="834130"/>
                  </a:lnTo>
                  <a:lnTo>
                    <a:pt x="3518507" y="875886"/>
                  </a:lnTo>
                  <a:lnTo>
                    <a:pt x="3545120" y="918306"/>
                  </a:lnTo>
                  <a:lnTo>
                    <a:pt x="3570595" y="961367"/>
                  </a:lnTo>
                  <a:lnTo>
                    <a:pt x="3594924" y="1005045"/>
                  </a:lnTo>
                  <a:lnTo>
                    <a:pt x="3618096" y="1049315"/>
                  </a:lnTo>
                  <a:lnTo>
                    <a:pt x="3640102" y="1094154"/>
                  </a:lnTo>
                  <a:lnTo>
                    <a:pt x="3660932" y="1139538"/>
                  </a:lnTo>
                  <a:lnTo>
                    <a:pt x="3680575" y="1185443"/>
                  </a:lnTo>
                  <a:lnTo>
                    <a:pt x="3699023" y="1231845"/>
                  </a:lnTo>
                  <a:lnTo>
                    <a:pt x="3716265" y="1278721"/>
                  </a:lnTo>
                  <a:lnTo>
                    <a:pt x="3732291" y="1326046"/>
                  </a:lnTo>
                  <a:lnTo>
                    <a:pt x="3747092" y="1373797"/>
                  </a:lnTo>
                  <a:lnTo>
                    <a:pt x="3760658" y="1421950"/>
                  </a:lnTo>
                  <a:lnTo>
                    <a:pt x="3772978" y="1470480"/>
                  </a:lnTo>
                  <a:lnTo>
                    <a:pt x="3784043" y="1519364"/>
                  </a:lnTo>
                  <a:lnTo>
                    <a:pt x="3793844" y="1568579"/>
                  </a:lnTo>
                  <a:lnTo>
                    <a:pt x="3802369" y="1618099"/>
                  </a:lnTo>
                  <a:lnTo>
                    <a:pt x="3809610" y="1667902"/>
                  </a:lnTo>
                  <a:lnTo>
                    <a:pt x="3815557" y="1717964"/>
                  </a:lnTo>
                  <a:lnTo>
                    <a:pt x="3820199" y="1768260"/>
                  </a:lnTo>
                  <a:lnTo>
                    <a:pt x="3823527" y="1818767"/>
                  </a:lnTo>
                  <a:lnTo>
                    <a:pt x="3825531" y="1869460"/>
                  </a:lnTo>
                  <a:lnTo>
                    <a:pt x="3826201" y="1920316"/>
                  </a:lnTo>
                  <a:lnTo>
                    <a:pt x="3825614" y="1968383"/>
                  </a:lnTo>
                  <a:lnTo>
                    <a:pt x="3823860" y="2016160"/>
                  </a:lnTo>
                  <a:lnTo>
                    <a:pt x="3820954" y="2063632"/>
                  </a:lnTo>
                  <a:lnTo>
                    <a:pt x="3816909" y="2110786"/>
                  </a:lnTo>
                  <a:lnTo>
                    <a:pt x="3811740" y="2157609"/>
                  </a:lnTo>
                  <a:lnTo>
                    <a:pt x="3805459" y="2204087"/>
                  </a:lnTo>
                  <a:lnTo>
                    <a:pt x="3798080" y="2250205"/>
                  </a:lnTo>
                  <a:lnTo>
                    <a:pt x="3789617" y="2295951"/>
                  </a:lnTo>
                  <a:lnTo>
                    <a:pt x="3780085" y="2341310"/>
                  </a:lnTo>
                  <a:lnTo>
                    <a:pt x="3769496" y="2386268"/>
                  </a:lnTo>
                  <a:lnTo>
                    <a:pt x="3757864" y="2430813"/>
                  </a:lnTo>
                  <a:lnTo>
                    <a:pt x="3745203" y="2474929"/>
                  </a:lnTo>
                  <a:lnTo>
                    <a:pt x="3731526" y="2518604"/>
                  </a:lnTo>
                  <a:lnTo>
                    <a:pt x="3716848" y="2561824"/>
                  </a:lnTo>
                  <a:lnTo>
                    <a:pt x="3701182" y="2604574"/>
                  </a:lnTo>
                  <a:lnTo>
                    <a:pt x="3684542" y="2646842"/>
                  </a:lnTo>
                  <a:lnTo>
                    <a:pt x="3666941" y="2688613"/>
                  </a:lnTo>
                  <a:lnTo>
                    <a:pt x="3648393" y="2729874"/>
                  </a:lnTo>
                  <a:lnTo>
                    <a:pt x="3628912" y="2770610"/>
                  </a:lnTo>
                  <a:lnTo>
                    <a:pt x="3608512" y="2810809"/>
                  </a:lnTo>
                  <a:lnTo>
                    <a:pt x="3587205" y="2850456"/>
                  </a:lnTo>
                  <a:lnTo>
                    <a:pt x="3565007" y="2889537"/>
                  </a:lnTo>
                  <a:lnTo>
                    <a:pt x="3541930" y="2928040"/>
                  </a:lnTo>
                  <a:lnTo>
                    <a:pt x="3517989" y="2965949"/>
                  </a:lnTo>
                  <a:lnTo>
                    <a:pt x="3493197" y="3003252"/>
                  </a:lnTo>
                  <a:lnTo>
                    <a:pt x="3467567" y="3039935"/>
                  </a:lnTo>
                  <a:lnTo>
                    <a:pt x="3441114" y="3075983"/>
                  </a:lnTo>
                  <a:lnTo>
                    <a:pt x="3413851" y="3111383"/>
                  </a:lnTo>
                  <a:lnTo>
                    <a:pt x="3385792" y="3146122"/>
                  </a:lnTo>
                  <a:lnTo>
                    <a:pt x="3356950" y="3180185"/>
                  </a:lnTo>
                  <a:lnTo>
                    <a:pt x="3327340" y="3213560"/>
                  </a:lnTo>
                  <a:lnTo>
                    <a:pt x="3296974" y="3246231"/>
                  </a:lnTo>
                  <a:lnTo>
                    <a:pt x="3265867" y="3278186"/>
                  </a:lnTo>
                  <a:lnTo>
                    <a:pt x="3234033" y="3309410"/>
                  </a:lnTo>
                  <a:lnTo>
                    <a:pt x="3201484" y="3339890"/>
                  </a:lnTo>
                  <a:lnTo>
                    <a:pt x="3168235" y="3369612"/>
                  </a:lnTo>
                  <a:lnTo>
                    <a:pt x="3134300" y="3398563"/>
                  </a:lnTo>
                  <a:lnTo>
                    <a:pt x="3099692" y="3426728"/>
                  </a:lnTo>
                  <a:lnTo>
                    <a:pt x="3064424" y="3454093"/>
                  </a:lnTo>
                  <a:lnTo>
                    <a:pt x="3028511" y="3480646"/>
                  </a:lnTo>
                  <a:lnTo>
                    <a:pt x="2991967" y="3506373"/>
                  </a:lnTo>
                  <a:lnTo>
                    <a:pt x="2954804" y="3531259"/>
                  </a:lnTo>
                  <a:lnTo>
                    <a:pt x="2917037" y="3555290"/>
                  </a:lnTo>
                  <a:lnTo>
                    <a:pt x="2878679" y="3578454"/>
                  </a:lnTo>
                  <a:lnTo>
                    <a:pt x="2839744" y="3600736"/>
                  </a:lnTo>
                  <a:lnTo>
                    <a:pt x="2800246" y="3622123"/>
                  </a:lnTo>
                  <a:lnTo>
                    <a:pt x="2760199" y="3642600"/>
                  </a:lnTo>
                  <a:lnTo>
                    <a:pt x="2719616" y="3662154"/>
                  </a:lnTo>
                  <a:lnTo>
                    <a:pt x="2678510" y="3680772"/>
                  </a:lnTo>
                  <a:lnTo>
                    <a:pt x="2636896" y="3698439"/>
                  </a:lnTo>
                  <a:lnTo>
                    <a:pt x="2594787" y="3715143"/>
                  </a:lnTo>
                  <a:lnTo>
                    <a:pt x="2552197" y="3730868"/>
                  </a:lnTo>
                  <a:lnTo>
                    <a:pt x="2509140" y="3745601"/>
                  </a:lnTo>
                  <a:lnTo>
                    <a:pt x="2465629" y="3759329"/>
                  </a:lnTo>
                  <a:lnTo>
                    <a:pt x="2421678" y="3772038"/>
                  </a:lnTo>
                  <a:lnTo>
                    <a:pt x="2377301" y="3783714"/>
                  </a:lnTo>
                  <a:lnTo>
                    <a:pt x="2332512" y="3794343"/>
                  </a:lnTo>
                  <a:lnTo>
                    <a:pt x="2287323" y="3803911"/>
                  </a:lnTo>
                  <a:lnTo>
                    <a:pt x="2241749" y="3812406"/>
                  </a:lnTo>
                  <a:lnTo>
                    <a:pt x="2195804" y="3819812"/>
                  </a:lnTo>
                  <a:lnTo>
                    <a:pt x="2149501" y="3826117"/>
                  </a:lnTo>
                  <a:lnTo>
                    <a:pt x="2102855" y="3831306"/>
                  </a:lnTo>
                  <a:lnTo>
                    <a:pt x="2055877" y="3835366"/>
                  </a:lnTo>
                  <a:lnTo>
                    <a:pt x="2008583" y="3838283"/>
                  </a:lnTo>
                  <a:lnTo>
                    <a:pt x="1960986" y="3840044"/>
                  </a:lnTo>
                  <a:lnTo>
                    <a:pt x="1913100" y="3840633"/>
                  </a:lnTo>
                  <a:lnTo>
                    <a:pt x="1865214" y="3840044"/>
                  </a:lnTo>
                  <a:lnTo>
                    <a:pt x="1817617" y="3838283"/>
                  </a:lnTo>
                  <a:lnTo>
                    <a:pt x="1770323" y="3835366"/>
                  </a:lnTo>
                  <a:lnTo>
                    <a:pt x="1723346" y="3831306"/>
                  </a:lnTo>
                  <a:lnTo>
                    <a:pt x="1676699" y="3826117"/>
                  </a:lnTo>
                  <a:lnTo>
                    <a:pt x="1630396" y="3819812"/>
                  </a:lnTo>
                  <a:lnTo>
                    <a:pt x="1584451" y="3812406"/>
                  </a:lnTo>
                  <a:lnTo>
                    <a:pt x="1538878" y="3803911"/>
                  </a:lnTo>
                  <a:lnTo>
                    <a:pt x="1493689" y="3794343"/>
                  </a:lnTo>
                  <a:lnTo>
                    <a:pt x="1448899" y="3783714"/>
                  </a:lnTo>
                  <a:lnTo>
                    <a:pt x="1404522" y="3772038"/>
                  </a:lnTo>
                  <a:lnTo>
                    <a:pt x="1360572" y="3759329"/>
                  </a:lnTo>
                  <a:lnTo>
                    <a:pt x="1317061" y="3745601"/>
                  </a:lnTo>
                  <a:lnTo>
                    <a:pt x="1274003" y="3730868"/>
                  </a:lnTo>
                  <a:lnTo>
                    <a:pt x="1231414" y="3715143"/>
                  </a:lnTo>
                  <a:lnTo>
                    <a:pt x="1189305" y="3698439"/>
                  </a:lnTo>
                  <a:lnTo>
                    <a:pt x="1147691" y="3680772"/>
                  </a:lnTo>
                  <a:lnTo>
                    <a:pt x="1106585" y="3662154"/>
                  </a:lnTo>
                  <a:lnTo>
                    <a:pt x="1066002" y="3642600"/>
                  </a:lnTo>
                  <a:lnTo>
                    <a:pt x="1025954" y="3622123"/>
                  </a:lnTo>
                  <a:lnTo>
                    <a:pt x="986456" y="3600736"/>
                  </a:lnTo>
                  <a:lnTo>
                    <a:pt x="947522" y="3578454"/>
                  </a:lnTo>
                  <a:lnTo>
                    <a:pt x="909164" y="3555290"/>
                  </a:lnTo>
                  <a:lnTo>
                    <a:pt x="871397" y="3531259"/>
                  </a:lnTo>
                  <a:lnTo>
                    <a:pt x="834234" y="3506373"/>
                  </a:lnTo>
                  <a:lnTo>
                    <a:pt x="797690" y="3480646"/>
                  </a:lnTo>
                  <a:lnTo>
                    <a:pt x="761777" y="3454093"/>
                  </a:lnTo>
                  <a:lnTo>
                    <a:pt x="726509" y="3426728"/>
                  </a:lnTo>
                  <a:lnTo>
                    <a:pt x="691901" y="3398563"/>
                  </a:lnTo>
                  <a:lnTo>
                    <a:pt x="657966" y="3369612"/>
                  </a:lnTo>
                  <a:lnTo>
                    <a:pt x="624717" y="3339890"/>
                  </a:lnTo>
                  <a:lnTo>
                    <a:pt x="592168" y="3309410"/>
                  </a:lnTo>
                  <a:lnTo>
                    <a:pt x="560334" y="3278186"/>
                  </a:lnTo>
                  <a:lnTo>
                    <a:pt x="529227" y="3246231"/>
                  </a:lnTo>
                  <a:lnTo>
                    <a:pt x="498861" y="3213560"/>
                  </a:lnTo>
                  <a:lnTo>
                    <a:pt x="469251" y="3180185"/>
                  </a:lnTo>
                  <a:lnTo>
                    <a:pt x="440409" y="3146122"/>
                  </a:lnTo>
                  <a:lnTo>
                    <a:pt x="412350" y="3111383"/>
                  </a:lnTo>
                  <a:lnTo>
                    <a:pt x="385087" y="3075983"/>
                  </a:lnTo>
                  <a:lnTo>
                    <a:pt x="358634" y="3039935"/>
                  </a:lnTo>
                  <a:lnTo>
                    <a:pt x="333004" y="3003252"/>
                  </a:lnTo>
                  <a:lnTo>
                    <a:pt x="308212" y="2965949"/>
                  </a:lnTo>
                  <a:lnTo>
                    <a:pt x="284271" y="2928040"/>
                  </a:lnTo>
                  <a:lnTo>
                    <a:pt x="261194" y="2889537"/>
                  </a:lnTo>
                  <a:lnTo>
                    <a:pt x="238996" y="2850456"/>
                  </a:lnTo>
                  <a:lnTo>
                    <a:pt x="217689" y="2810809"/>
                  </a:lnTo>
                  <a:lnTo>
                    <a:pt x="197289" y="2770610"/>
                  </a:lnTo>
                  <a:lnTo>
                    <a:pt x="177808" y="2729874"/>
                  </a:lnTo>
                  <a:lnTo>
                    <a:pt x="159260" y="2688613"/>
                  </a:lnTo>
                  <a:lnTo>
                    <a:pt x="141659" y="2646842"/>
                  </a:lnTo>
                  <a:lnTo>
                    <a:pt x="125019" y="2604574"/>
                  </a:lnTo>
                  <a:lnTo>
                    <a:pt x="109353" y="2561824"/>
                  </a:lnTo>
                  <a:lnTo>
                    <a:pt x="94675" y="2518604"/>
                  </a:lnTo>
                  <a:lnTo>
                    <a:pt x="80998" y="2474929"/>
                  </a:lnTo>
                  <a:lnTo>
                    <a:pt x="68337" y="2430813"/>
                  </a:lnTo>
                  <a:lnTo>
                    <a:pt x="56705" y="2386268"/>
                  </a:lnTo>
                  <a:lnTo>
                    <a:pt x="46116" y="2341310"/>
                  </a:lnTo>
                  <a:lnTo>
                    <a:pt x="36584" y="2295951"/>
                  </a:lnTo>
                  <a:lnTo>
                    <a:pt x="28121" y="2250205"/>
                  </a:lnTo>
                  <a:lnTo>
                    <a:pt x="20742" y="2204087"/>
                  </a:lnTo>
                  <a:lnTo>
                    <a:pt x="14461" y="2157609"/>
                  </a:lnTo>
                  <a:lnTo>
                    <a:pt x="9292" y="2110786"/>
                  </a:lnTo>
                  <a:lnTo>
                    <a:pt x="5247" y="2063632"/>
                  </a:lnTo>
                  <a:lnTo>
                    <a:pt x="2341" y="2016160"/>
                  </a:lnTo>
                  <a:lnTo>
                    <a:pt x="587" y="1968383"/>
                  </a:lnTo>
                  <a:lnTo>
                    <a:pt x="0" y="1920316"/>
                  </a:lnTo>
                  <a:close/>
                </a:path>
              </a:pathLst>
            </a:custGeom>
            <a:ln w="9524">
              <a:solidFill>
                <a:srgbClr val="009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6844" y="1712000"/>
              <a:ext cx="2480873" cy="24808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1607" y="1736762"/>
              <a:ext cx="2391347" cy="23913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461607" y="1736763"/>
              <a:ext cx="2391410" cy="2391410"/>
            </a:xfrm>
            <a:custGeom>
              <a:avLst/>
              <a:gdLst/>
              <a:ahLst/>
              <a:cxnLst/>
              <a:rect l="l" t="t" r="r" b="b"/>
              <a:pathLst>
                <a:path w="2391410" h="2391410">
                  <a:moveTo>
                    <a:pt x="0" y="1195673"/>
                  </a:moveTo>
                  <a:lnTo>
                    <a:pt x="949" y="1147584"/>
                  </a:lnTo>
                  <a:lnTo>
                    <a:pt x="3773" y="1099977"/>
                  </a:lnTo>
                  <a:lnTo>
                    <a:pt x="8437" y="1052887"/>
                  </a:lnTo>
                  <a:lnTo>
                    <a:pt x="14904" y="1006351"/>
                  </a:lnTo>
                  <a:lnTo>
                    <a:pt x="23139" y="960404"/>
                  </a:lnTo>
                  <a:lnTo>
                    <a:pt x="33107" y="915081"/>
                  </a:lnTo>
                  <a:lnTo>
                    <a:pt x="44770" y="870420"/>
                  </a:lnTo>
                  <a:lnTo>
                    <a:pt x="58095" y="826454"/>
                  </a:lnTo>
                  <a:lnTo>
                    <a:pt x="73044" y="783221"/>
                  </a:lnTo>
                  <a:lnTo>
                    <a:pt x="89583" y="740755"/>
                  </a:lnTo>
                  <a:lnTo>
                    <a:pt x="107675" y="699093"/>
                  </a:lnTo>
                  <a:lnTo>
                    <a:pt x="127285" y="658270"/>
                  </a:lnTo>
                  <a:lnTo>
                    <a:pt x="148377" y="618322"/>
                  </a:lnTo>
                  <a:lnTo>
                    <a:pt x="170915" y="579285"/>
                  </a:lnTo>
                  <a:lnTo>
                    <a:pt x="194865" y="541194"/>
                  </a:lnTo>
                  <a:lnTo>
                    <a:pt x="220189" y="504085"/>
                  </a:lnTo>
                  <a:lnTo>
                    <a:pt x="246852" y="467993"/>
                  </a:lnTo>
                  <a:lnTo>
                    <a:pt x="274819" y="432955"/>
                  </a:lnTo>
                  <a:lnTo>
                    <a:pt x="304053" y="399007"/>
                  </a:lnTo>
                  <a:lnTo>
                    <a:pt x="334520" y="366183"/>
                  </a:lnTo>
                  <a:lnTo>
                    <a:pt x="366183" y="334520"/>
                  </a:lnTo>
                  <a:lnTo>
                    <a:pt x="399007" y="304053"/>
                  </a:lnTo>
                  <a:lnTo>
                    <a:pt x="432955" y="274819"/>
                  </a:lnTo>
                  <a:lnTo>
                    <a:pt x="467993" y="246852"/>
                  </a:lnTo>
                  <a:lnTo>
                    <a:pt x="504085" y="220189"/>
                  </a:lnTo>
                  <a:lnTo>
                    <a:pt x="541194" y="194865"/>
                  </a:lnTo>
                  <a:lnTo>
                    <a:pt x="579285" y="170915"/>
                  </a:lnTo>
                  <a:lnTo>
                    <a:pt x="618322" y="148377"/>
                  </a:lnTo>
                  <a:lnTo>
                    <a:pt x="658270" y="127285"/>
                  </a:lnTo>
                  <a:lnTo>
                    <a:pt x="699093" y="107675"/>
                  </a:lnTo>
                  <a:lnTo>
                    <a:pt x="740755" y="89583"/>
                  </a:lnTo>
                  <a:lnTo>
                    <a:pt x="783221" y="73044"/>
                  </a:lnTo>
                  <a:lnTo>
                    <a:pt x="826454" y="58095"/>
                  </a:lnTo>
                  <a:lnTo>
                    <a:pt x="870420" y="44770"/>
                  </a:lnTo>
                  <a:lnTo>
                    <a:pt x="915081" y="33107"/>
                  </a:lnTo>
                  <a:lnTo>
                    <a:pt x="960404" y="23139"/>
                  </a:lnTo>
                  <a:lnTo>
                    <a:pt x="1006351" y="14904"/>
                  </a:lnTo>
                  <a:lnTo>
                    <a:pt x="1052887" y="8437"/>
                  </a:lnTo>
                  <a:lnTo>
                    <a:pt x="1099977" y="3773"/>
                  </a:lnTo>
                  <a:lnTo>
                    <a:pt x="1147584" y="949"/>
                  </a:lnTo>
                  <a:lnTo>
                    <a:pt x="1195673" y="0"/>
                  </a:lnTo>
                  <a:lnTo>
                    <a:pt x="1245626" y="1042"/>
                  </a:lnTo>
                  <a:lnTo>
                    <a:pt x="1295304" y="4155"/>
                  </a:lnTo>
                  <a:lnTo>
                    <a:pt x="1344650" y="9312"/>
                  </a:lnTo>
                  <a:lnTo>
                    <a:pt x="1393604" y="16491"/>
                  </a:lnTo>
                  <a:lnTo>
                    <a:pt x="1442108" y="25666"/>
                  </a:lnTo>
                  <a:lnTo>
                    <a:pt x="1490103" y="36814"/>
                  </a:lnTo>
                  <a:lnTo>
                    <a:pt x="1537532" y="49910"/>
                  </a:lnTo>
                  <a:lnTo>
                    <a:pt x="1584335" y="64930"/>
                  </a:lnTo>
                  <a:lnTo>
                    <a:pt x="1630453" y="81850"/>
                  </a:lnTo>
                  <a:lnTo>
                    <a:pt x="1675830" y="100645"/>
                  </a:lnTo>
                  <a:lnTo>
                    <a:pt x="1720405" y="121292"/>
                  </a:lnTo>
                  <a:lnTo>
                    <a:pt x="1764120" y="143766"/>
                  </a:lnTo>
                  <a:lnTo>
                    <a:pt x="1806918" y="168043"/>
                  </a:lnTo>
                  <a:lnTo>
                    <a:pt x="1848738" y="194098"/>
                  </a:lnTo>
                  <a:lnTo>
                    <a:pt x="1889524" y="221907"/>
                  </a:lnTo>
                  <a:lnTo>
                    <a:pt x="1929215" y="251447"/>
                  </a:lnTo>
                  <a:lnTo>
                    <a:pt x="1967755" y="282693"/>
                  </a:lnTo>
                  <a:lnTo>
                    <a:pt x="2005083" y="315620"/>
                  </a:lnTo>
                  <a:lnTo>
                    <a:pt x="2041142" y="350204"/>
                  </a:lnTo>
                  <a:lnTo>
                    <a:pt x="2075727" y="386264"/>
                  </a:lnTo>
                  <a:lnTo>
                    <a:pt x="2108654" y="423592"/>
                  </a:lnTo>
                  <a:lnTo>
                    <a:pt x="2139900" y="462132"/>
                  </a:lnTo>
                  <a:lnTo>
                    <a:pt x="2169439" y="501823"/>
                  </a:lnTo>
                  <a:lnTo>
                    <a:pt x="2197249" y="542609"/>
                  </a:lnTo>
                  <a:lnTo>
                    <a:pt x="2223304" y="584429"/>
                  </a:lnTo>
                  <a:lnTo>
                    <a:pt x="2247581" y="627227"/>
                  </a:lnTo>
                  <a:lnTo>
                    <a:pt x="2270055" y="670942"/>
                  </a:lnTo>
                  <a:lnTo>
                    <a:pt x="2290702" y="715517"/>
                  </a:lnTo>
                  <a:lnTo>
                    <a:pt x="2309497" y="760894"/>
                  </a:lnTo>
                  <a:lnTo>
                    <a:pt x="2326417" y="807012"/>
                  </a:lnTo>
                  <a:lnTo>
                    <a:pt x="2341437" y="853815"/>
                  </a:lnTo>
                  <a:lnTo>
                    <a:pt x="2354533" y="901244"/>
                  </a:lnTo>
                  <a:lnTo>
                    <a:pt x="2365681" y="949239"/>
                  </a:lnTo>
                  <a:lnTo>
                    <a:pt x="2374856" y="997743"/>
                  </a:lnTo>
                  <a:lnTo>
                    <a:pt x="2382035" y="1046697"/>
                  </a:lnTo>
                  <a:lnTo>
                    <a:pt x="2387192" y="1096043"/>
                  </a:lnTo>
                  <a:lnTo>
                    <a:pt x="2390305" y="1145721"/>
                  </a:lnTo>
                  <a:lnTo>
                    <a:pt x="2391347" y="1195673"/>
                  </a:lnTo>
                  <a:lnTo>
                    <a:pt x="2390398" y="1243763"/>
                  </a:lnTo>
                  <a:lnTo>
                    <a:pt x="2387574" y="1291370"/>
                  </a:lnTo>
                  <a:lnTo>
                    <a:pt x="2382910" y="1338460"/>
                  </a:lnTo>
                  <a:lnTo>
                    <a:pt x="2376443" y="1384996"/>
                  </a:lnTo>
                  <a:lnTo>
                    <a:pt x="2368208" y="1430943"/>
                  </a:lnTo>
                  <a:lnTo>
                    <a:pt x="2358240" y="1476266"/>
                  </a:lnTo>
                  <a:lnTo>
                    <a:pt x="2346577" y="1520927"/>
                  </a:lnTo>
                  <a:lnTo>
                    <a:pt x="2333252" y="1564893"/>
                  </a:lnTo>
                  <a:lnTo>
                    <a:pt x="2318303" y="1608126"/>
                  </a:lnTo>
                  <a:lnTo>
                    <a:pt x="2301764" y="1650592"/>
                  </a:lnTo>
                  <a:lnTo>
                    <a:pt x="2283672" y="1692254"/>
                  </a:lnTo>
                  <a:lnTo>
                    <a:pt x="2264062" y="1733077"/>
                  </a:lnTo>
                  <a:lnTo>
                    <a:pt x="2242970" y="1773025"/>
                  </a:lnTo>
                  <a:lnTo>
                    <a:pt x="2220432" y="1812062"/>
                  </a:lnTo>
                  <a:lnTo>
                    <a:pt x="2196482" y="1850153"/>
                  </a:lnTo>
                  <a:lnTo>
                    <a:pt x="2171158" y="1887262"/>
                  </a:lnTo>
                  <a:lnTo>
                    <a:pt x="2144495" y="1923354"/>
                  </a:lnTo>
                  <a:lnTo>
                    <a:pt x="2116528" y="1958392"/>
                  </a:lnTo>
                  <a:lnTo>
                    <a:pt x="2087294" y="1992340"/>
                  </a:lnTo>
                  <a:lnTo>
                    <a:pt x="2056827" y="2025164"/>
                  </a:lnTo>
                  <a:lnTo>
                    <a:pt x="2025164" y="2056827"/>
                  </a:lnTo>
                  <a:lnTo>
                    <a:pt x="1992340" y="2087294"/>
                  </a:lnTo>
                  <a:lnTo>
                    <a:pt x="1958391" y="2116528"/>
                  </a:lnTo>
                  <a:lnTo>
                    <a:pt x="1923354" y="2144495"/>
                  </a:lnTo>
                  <a:lnTo>
                    <a:pt x="1887262" y="2171158"/>
                  </a:lnTo>
                  <a:lnTo>
                    <a:pt x="1850153" y="2196482"/>
                  </a:lnTo>
                  <a:lnTo>
                    <a:pt x="1812062" y="2220432"/>
                  </a:lnTo>
                  <a:lnTo>
                    <a:pt x="1773025" y="2242970"/>
                  </a:lnTo>
                  <a:lnTo>
                    <a:pt x="1733077" y="2264062"/>
                  </a:lnTo>
                  <a:lnTo>
                    <a:pt x="1692254" y="2283672"/>
                  </a:lnTo>
                  <a:lnTo>
                    <a:pt x="1650591" y="2301764"/>
                  </a:lnTo>
                  <a:lnTo>
                    <a:pt x="1608126" y="2318303"/>
                  </a:lnTo>
                  <a:lnTo>
                    <a:pt x="1564892" y="2333252"/>
                  </a:lnTo>
                  <a:lnTo>
                    <a:pt x="1520927" y="2346577"/>
                  </a:lnTo>
                  <a:lnTo>
                    <a:pt x="1476265" y="2358240"/>
                  </a:lnTo>
                  <a:lnTo>
                    <a:pt x="1430943" y="2368208"/>
                  </a:lnTo>
                  <a:lnTo>
                    <a:pt x="1384996" y="2376443"/>
                  </a:lnTo>
                  <a:lnTo>
                    <a:pt x="1338460" y="2382910"/>
                  </a:lnTo>
                  <a:lnTo>
                    <a:pt x="1291370" y="2387574"/>
                  </a:lnTo>
                  <a:lnTo>
                    <a:pt x="1243763" y="2390398"/>
                  </a:lnTo>
                  <a:lnTo>
                    <a:pt x="1195673" y="2391347"/>
                  </a:lnTo>
                  <a:lnTo>
                    <a:pt x="1147584" y="2390398"/>
                  </a:lnTo>
                  <a:lnTo>
                    <a:pt x="1099977" y="2387574"/>
                  </a:lnTo>
                  <a:lnTo>
                    <a:pt x="1052887" y="2382910"/>
                  </a:lnTo>
                  <a:lnTo>
                    <a:pt x="1006351" y="2376443"/>
                  </a:lnTo>
                  <a:lnTo>
                    <a:pt x="960404" y="2368208"/>
                  </a:lnTo>
                  <a:lnTo>
                    <a:pt x="915081" y="2358240"/>
                  </a:lnTo>
                  <a:lnTo>
                    <a:pt x="870420" y="2346577"/>
                  </a:lnTo>
                  <a:lnTo>
                    <a:pt x="826454" y="2333252"/>
                  </a:lnTo>
                  <a:lnTo>
                    <a:pt x="783221" y="2318303"/>
                  </a:lnTo>
                  <a:lnTo>
                    <a:pt x="740755" y="2301764"/>
                  </a:lnTo>
                  <a:lnTo>
                    <a:pt x="699093" y="2283672"/>
                  </a:lnTo>
                  <a:lnTo>
                    <a:pt x="658270" y="2264062"/>
                  </a:lnTo>
                  <a:lnTo>
                    <a:pt x="618322" y="2242970"/>
                  </a:lnTo>
                  <a:lnTo>
                    <a:pt x="579285" y="2220432"/>
                  </a:lnTo>
                  <a:lnTo>
                    <a:pt x="541194" y="2196482"/>
                  </a:lnTo>
                  <a:lnTo>
                    <a:pt x="504085" y="2171158"/>
                  </a:lnTo>
                  <a:lnTo>
                    <a:pt x="467993" y="2144495"/>
                  </a:lnTo>
                  <a:lnTo>
                    <a:pt x="432955" y="2116528"/>
                  </a:lnTo>
                  <a:lnTo>
                    <a:pt x="399007" y="2087294"/>
                  </a:lnTo>
                  <a:lnTo>
                    <a:pt x="366183" y="2056827"/>
                  </a:lnTo>
                  <a:lnTo>
                    <a:pt x="334520" y="2025164"/>
                  </a:lnTo>
                  <a:lnTo>
                    <a:pt x="304053" y="1992340"/>
                  </a:lnTo>
                  <a:lnTo>
                    <a:pt x="274819" y="1958392"/>
                  </a:lnTo>
                  <a:lnTo>
                    <a:pt x="246852" y="1923354"/>
                  </a:lnTo>
                  <a:lnTo>
                    <a:pt x="220189" y="1887262"/>
                  </a:lnTo>
                  <a:lnTo>
                    <a:pt x="194865" y="1850153"/>
                  </a:lnTo>
                  <a:lnTo>
                    <a:pt x="170915" y="1812062"/>
                  </a:lnTo>
                  <a:lnTo>
                    <a:pt x="148377" y="1773025"/>
                  </a:lnTo>
                  <a:lnTo>
                    <a:pt x="127285" y="1733077"/>
                  </a:lnTo>
                  <a:lnTo>
                    <a:pt x="107675" y="1692254"/>
                  </a:lnTo>
                  <a:lnTo>
                    <a:pt x="89583" y="1650592"/>
                  </a:lnTo>
                  <a:lnTo>
                    <a:pt x="73044" y="1608126"/>
                  </a:lnTo>
                  <a:lnTo>
                    <a:pt x="58095" y="1564893"/>
                  </a:lnTo>
                  <a:lnTo>
                    <a:pt x="44770" y="1520927"/>
                  </a:lnTo>
                  <a:lnTo>
                    <a:pt x="33107" y="1476266"/>
                  </a:lnTo>
                  <a:lnTo>
                    <a:pt x="23139" y="1430943"/>
                  </a:lnTo>
                  <a:lnTo>
                    <a:pt x="14904" y="1384996"/>
                  </a:lnTo>
                  <a:lnTo>
                    <a:pt x="8437" y="1338460"/>
                  </a:lnTo>
                  <a:lnTo>
                    <a:pt x="3773" y="1291370"/>
                  </a:lnTo>
                  <a:lnTo>
                    <a:pt x="949" y="1243763"/>
                  </a:lnTo>
                  <a:lnTo>
                    <a:pt x="0" y="1195673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9877" y="2215033"/>
              <a:ext cx="1435100" cy="1435100"/>
            </a:xfrm>
            <a:custGeom>
              <a:avLst/>
              <a:gdLst/>
              <a:ahLst/>
              <a:cxnLst/>
              <a:rect l="l" t="t" r="r" b="b"/>
              <a:pathLst>
                <a:path w="1435100" h="1435100">
                  <a:moveTo>
                    <a:pt x="717404" y="1434809"/>
                  </a:moveTo>
                  <a:lnTo>
                    <a:pt x="670235" y="1433283"/>
                  </a:lnTo>
                  <a:lnTo>
                    <a:pt x="623880" y="1428768"/>
                  </a:lnTo>
                  <a:lnTo>
                    <a:pt x="578434" y="1421359"/>
                  </a:lnTo>
                  <a:lnTo>
                    <a:pt x="533992" y="1411149"/>
                  </a:lnTo>
                  <a:lnTo>
                    <a:pt x="490649" y="1398235"/>
                  </a:lnTo>
                  <a:lnTo>
                    <a:pt x="448498" y="1382710"/>
                  </a:lnTo>
                  <a:lnTo>
                    <a:pt x="407635" y="1364668"/>
                  </a:lnTo>
                  <a:lnTo>
                    <a:pt x="368153" y="1344205"/>
                  </a:lnTo>
                  <a:lnTo>
                    <a:pt x="330148" y="1321414"/>
                  </a:lnTo>
                  <a:lnTo>
                    <a:pt x="293714" y="1296391"/>
                  </a:lnTo>
                  <a:lnTo>
                    <a:pt x="258946" y="1269230"/>
                  </a:lnTo>
                  <a:lnTo>
                    <a:pt x="225937" y="1240025"/>
                  </a:lnTo>
                  <a:lnTo>
                    <a:pt x="194783" y="1208871"/>
                  </a:lnTo>
                  <a:lnTo>
                    <a:pt x="165578" y="1175863"/>
                  </a:lnTo>
                  <a:lnTo>
                    <a:pt x="138417" y="1141094"/>
                  </a:lnTo>
                  <a:lnTo>
                    <a:pt x="113394" y="1104660"/>
                  </a:lnTo>
                  <a:lnTo>
                    <a:pt x="90603" y="1066655"/>
                  </a:lnTo>
                  <a:lnTo>
                    <a:pt x="70140" y="1027173"/>
                  </a:lnTo>
                  <a:lnTo>
                    <a:pt x="52099" y="986310"/>
                  </a:lnTo>
                  <a:lnTo>
                    <a:pt x="36573" y="944159"/>
                  </a:lnTo>
                  <a:lnTo>
                    <a:pt x="23659" y="900816"/>
                  </a:lnTo>
                  <a:lnTo>
                    <a:pt x="13450" y="856374"/>
                  </a:lnTo>
                  <a:lnTo>
                    <a:pt x="6040" y="810928"/>
                  </a:lnTo>
                  <a:lnTo>
                    <a:pt x="1525" y="764574"/>
                  </a:lnTo>
                  <a:lnTo>
                    <a:pt x="0" y="717404"/>
                  </a:lnTo>
                  <a:lnTo>
                    <a:pt x="1525" y="670234"/>
                  </a:lnTo>
                  <a:lnTo>
                    <a:pt x="6040" y="623880"/>
                  </a:lnTo>
                  <a:lnTo>
                    <a:pt x="13450" y="578434"/>
                  </a:lnTo>
                  <a:lnTo>
                    <a:pt x="23659" y="533992"/>
                  </a:lnTo>
                  <a:lnTo>
                    <a:pt x="36573" y="490649"/>
                  </a:lnTo>
                  <a:lnTo>
                    <a:pt x="52099" y="448498"/>
                  </a:lnTo>
                  <a:lnTo>
                    <a:pt x="70140" y="407635"/>
                  </a:lnTo>
                  <a:lnTo>
                    <a:pt x="90603" y="368153"/>
                  </a:lnTo>
                  <a:lnTo>
                    <a:pt x="113439" y="330082"/>
                  </a:lnTo>
                  <a:lnTo>
                    <a:pt x="138417" y="293714"/>
                  </a:lnTo>
                  <a:lnTo>
                    <a:pt x="165578" y="258946"/>
                  </a:lnTo>
                  <a:lnTo>
                    <a:pt x="194783" y="225937"/>
                  </a:lnTo>
                  <a:lnTo>
                    <a:pt x="225937" y="194783"/>
                  </a:lnTo>
                  <a:lnTo>
                    <a:pt x="258946" y="165578"/>
                  </a:lnTo>
                  <a:lnTo>
                    <a:pt x="293714" y="138417"/>
                  </a:lnTo>
                  <a:lnTo>
                    <a:pt x="330148" y="113394"/>
                  </a:lnTo>
                  <a:lnTo>
                    <a:pt x="368153" y="90603"/>
                  </a:lnTo>
                  <a:lnTo>
                    <a:pt x="407635" y="70140"/>
                  </a:lnTo>
                  <a:lnTo>
                    <a:pt x="448498" y="52099"/>
                  </a:lnTo>
                  <a:lnTo>
                    <a:pt x="490649" y="36573"/>
                  </a:lnTo>
                  <a:lnTo>
                    <a:pt x="533992" y="23659"/>
                  </a:lnTo>
                  <a:lnTo>
                    <a:pt x="578434" y="13450"/>
                  </a:lnTo>
                  <a:lnTo>
                    <a:pt x="623880" y="6040"/>
                  </a:lnTo>
                  <a:lnTo>
                    <a:pt x="670235" y="1525"/>
                  </a:lnTo>
                  <a:lnTo>
                    <a:pt x="717404" y="0"/>
                  </a:lnTo>
                  <a:lnTo>
                    <a:pt x="769072" y="1861"/>
                  </a:lnTo>
                  <a:lnTo>
                    <a:pt x="820172" y="7395"/>
                  </a:lnTo>
                  <a:lnTo>
                    <a:pt x="870524" y="16528"/>
                  </a:lnTo>
                  <a:lnTo>
                    <a:pt x="919947" y="29184"/>
                  </a:lnTo>
                  <a:lnTo>
                    <a:pt x="968259" y="45287"/>
                  </a:lnTo>
                  <a:lnTo>
                    <a:pt x="1015281" y="64764"/>
                  </a:lnTo>
                  <a:lnTo>
                    <a:pt x="1060830" y="87539"/>
                  </a:lnTo>
                  <a:lnTo>
                    <a:pt x="1104726" y="113537"/>
                  </a:lnTo>
                  <a:lnTo>
                    <a:pt x="1146788" y="142684"/>
                  </a:lnTo>
                  <a:lnTo>
                    <a:pt x="1186835" y="174904"/>
                  </a:lnTo>
                  <a:lnTo>
                    <a:pt x="1224686" y="210122"/>
                  </a:lnTo>
                  <a:lnTo>
                    <a:pt x="1259904" y="247973"/>
                  </a:lnTo>
                  <a:lnTo>
                    <a:pt x="1292124" y="288020"/>
                  </a:lnTo>
                  <a:lnTo>
                    <a:pt x="1321310" y="330148"/>
                  </a:lnTo>
                  <a:lnTo>
                    <a:pt x="1347269" y="373978"/>
                  </a:lnTo>
                  <a:lnTo>
                    <a:pt x="1370044" y="419527"/>
                  </a:lnTo>
                  <a:lnTo>
                    <a:pt x="1389521" y="466548"/>
                  </a:lnTo>
                  <a:lnTo>
                    <a:pt x="1405624" y="514861"/>
                  </a:lnTo>
                  <a:lnTo>
                    <a:pt x="1418280" y="564284"/>
                  </a:lnTo>
                  <a:lnTo>
                    <a:pt x="1427413" y="614636"/>
                  </a:lnTo>
                  <a:lnTo>
                    <a:pt x="1432947" y="665736"/>
                  </a:lnTo>
                  <a:lnTo>
                    <a:pt x="1434808" y="717404"/>
                  </a:lnTo>
                  <a:lnTo>
                    <a:pt x="1433283" y="764574"/>
                  </a:lnTo>
                  <a:lnTo>
                    <a:pt x="1428768" y="810928"/>
                  </a:lnTo>
                  <a:lnTo>
                    <a:pt x="1421358" y="856374"/>
                  </a:lnTo>
                  <a:lnTo>
                    <a:pt x="1411149" y="900816"/>
                  </a:lnTo>
                  <a:lnTo>
                    <a:pt x="1398235" y="944159"/>
                  </a:lnTo>
                  <a:lnTo>
                    <a:pt x="1382709" y="986310"/>
                  </a:lnTo>
                  <a:lnTo>
                    <a:pt x="1364668" y="1027173"/>
                  </a:lnTo>
                  <a:lnTo>
                    <a:pt x="1344205" y="1066655"/>
                  </a:lnTo>
                  <a:lnTo>
                    <a:pt x="1321414" y="1104660"/>
                  </a:lnTo>
                  <a:lnTo>
                    <a:pt x="1296391" y="1141094"/>
                  </a:lnTo>
                  <a:lnTo>
                    <a:pt x="1269230" y="1175863"/>
                  </a:lnTo>
                  <a:lnTo>
                    <a:pt x="1240025" y="1208871"/>
                  </a:lnTo>
                  <a:lnTo>
                    <a:pt x="1208871" y="1240025"/>
                  </a:lnTo>
                  <a:lnTo>
                    <a:pt x="1175862" y="1269230"/>
                  </a:lnTo>
                  <a:lnTo>
                    <a:pt x="1141094" y="1296391"/>
                  </a:lnTo>
                  <a:lnTo>
                    <a:pt x="1104660" y="1321414"/>
                  </a:lnTo>
                  <a:lnTo>
                    <a:pt x="1066655" y="1344205"/>
                  </a:lnTo>
                  <a:lnTo>
                    <a:pt x="1027173" y="1364668"/>
                  </a:lnTo>
                  <a:lnTo>
                    <a:pt x="986310" y="1382710"/>
                  </a:lnTo>
                  <a:lnTo>
                    <a:pt x="944159" y="1398235"/>
                  </a:lnTo>
                  <a:lnTo>
                    <a:pt x="900816" y="1411149"/>
                  </a:lnTo>
                  <a:lnTo>
                    <a:pt x="856374" y="1421359"/>
                  </a:lnTo>
                  <a:lnTo>
                    <a:pt x="810929" y="1428768"/>
                  </a:lnTo>
                  <a:lnTo>
                    <a:pt x="764574" y="1433283"/>
                  </a:lnTo>
                  <a:lnTo>
                    <a:pt x="717404" y="1434809"/>
                  </a:lnTo>
                  <a:close/>
                </a:path>
              </a:pathLst>
            </a:custGeom>
            <a:solidFill>
              <a:srgbClr val="3B9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18146" y="2693301"/>
              <a:ext cx="478790" cy="478790"/>
            </a:xfrm>
            <a:custGeom>
              <a:avLst/>
              <a:gdLst/>
              <a:ahLst/>
              <a:cxnLst/>
              <a:rect l="l" t="t" r="r" b="b"/>
              <a:pathLst>
                <a:path w="478789" h="478789">
                  <a:moveTo>
                    <a:pt x="239134" y="478268"/>
                  </a:moveTo>
                  <a:lnTo>
                    <a:pt x="190940" y="473410"/>
                  </a:lnTo>
                  <a:lnTo>
                    <a:pt x="146052" y="459476"/>
                  </a:lnTo>
                  <a:lnTo>
                    <a:pt x="105432" y="437428"/>
                  </a:lnTo>
                  <a:lnTo>
                    <a:pt x="70040" y="408228"/>
                  </a:lnTo>
                  <a:lnTo>
                    <a:pt x="40840" y="372836"/>
                  </a:lnTo>
                  <a:lnTo>
                    <a:pt x="18792" y="332216"/>
                  </a:lnTo>
                  <a:lnTo>
                    <a:pt x="4858" y="287328"/>
                  </a:lnTo>
                  <a:lnTo>
                    <a:pt x="0" y="239134"/>
                  </a:lnTo>
                  <a:lnTo>
                    <a:pt x="4858" y="190940"/>
                  </a:lnTo>
                  <a:lnTo>
                    <a:pt x="18792" y="146052"/>
                  </a:lnTo>
                  <a:lnTo>
                    <a:pt x="40840" y="105432"/>
                  </a:lnTo>
                  <a:lnTo>
                    <a:pt x="70040" y="70040"/>
                  </a:lnTo>
                  <a:lnTo>
                    <a:pt x="105432" y="40840"/>
                  </a:lnTo>
                  <a:lnTo>
                    <a:pt x="146052" y="18792"/>
                  </a:lnTo>
                  <a:lnTo>
                    <a:pt x="190940" y="4858"/>
                  </a:lnTo>
                  <a:lnTo>
                    <a:pt x="239134" y="0"/>
                  </a:lnTo>
                  <a:lnTo>
                    <a:pt x="286005" y="4637"/>
                  </a:lnTo>
                  <a:lnTo>
                    <a:pt x="330647" y="18203"/>
                  </a:lnTo>
                  <a:lnTo>
                    <a:pt x="371806" y="40177"/>
                  </a:lnTo>
                  <a:lnTo>
                    <a:pt x="408228" y="70040"/>
                  </a:lnTo>
                  <a:lnTo>
                    <a:pt x="438091" y="106462"/>
                  </a:lnTo>
                  <a:lnTo>
                    <a:pt x="460066" y="147621"/>
                  </a:lnTo>
                  <a:lnTo>
                    <a:pt x="473631" y="192263"/>
                  </a:lnTo>
                  <a:lnTo>
                    <a:pt x="478268" y="239134"/>
                  </a:lnTo>
                  <a:lnTo>
                    <a:pt x="473410" y="287328"/>
                  </a:lnTo>
                  <a:lnTo>
                    <a:pt x="459476" y="332216"/>
                  </a:lnTo>
                  <a:lnTo>
                    <a:pt x="437428" y="372836"/>
                  </a:lnTo>
                  <a:lnTo>
                    <a:pt x="408228" y="408228"/>
                  </a:lnTo>
                  <a:lnTo>
                    <a:pt x="372836" y="437428"/>
                  </a:lnTo>
                  <a:lnTo>
                    <a:pt x="332216" y="459476"/>
                  </a:lnTo>
                  <a:lnTo>
                    <a:pt x="287328" y="473410"/>
                  </a:lnTo>
                  <a:lnTo>
                    <a:pt x="239134" y="4782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18146" y="2693301"/>
              <a:ext cx="478790" cy="478790"/>
            </a:xfrm>
            <a:custGeom>
              <a:avLst/>
              <a:gdLst/>
              <a:ahLst/>
              <a:cxnLst/>
              <a:rect l="l" t="t" r="r" b="b"/>
              <a:pathLst>
                <a:path w="478789" h="478789">
                  <a:moveTo>
                    <a:pt x="0" y="239134"/>
                  </a:moveTo>
                  <a:lnTo>
                    <a:pt x="4858" y="190940"/>
                  </a:lnTo>
                  <a:lnTo>
                    <a:pt x="18792" y="146052"/>
                  </a:lnTo>
                  <a:lnTo>
                    <a:pt x="40840" y="105432"/>
                  </a:lnTo>
                  <a:lnTo>
                    <a:pt x="70040" y="70040"/>
                  </a:lnTo>
                  <a:lnTo>
                    <a:pt x="105432" y="40840"/>
                  </a:lnTo>
                  <a:lnTo>
                    <a:pt x="146052" y="18792"/>
                  </a:lnTo>
                  <a:lnTo>
                    <a:pt x="190940" y="4858"/>
                  </a:lnTo>
                  <a:lnTo>
                    <a:pt x="239134" y="0"/>
                  </a:lnTo>
                  <a:lnTo>
                    <a:pt x="286005" y="4637"/>
                  </a:lnTo>
                  <a:lnTo>
                    <a:pt x="330647" y="18203"/>
                  </a:lnTo>
                  <a:lnTo>
                    <a:pt x="371806" y="40177"/>
                  </a:lnTo>
                  <a:lnTo>
                    <a:pt x="408228" y="70040"/>
                  </a:lnTo>
                  <a:lnTo>
                    <a:pt x="438091" y="106462"/>
                  </a:lnTo>
                  <a:lnTo>
                    <a:pt x="460066" y="147621"/>
                  </a:lnTo>
                  <a:lnTo>
                    <a:pt x="473631" y="192263"/>
                  </a:lnTo>
                  <a:lnTo>
                    <a:pt x="478268" y="239134"/>
                  </a:lnTo>
                  <a:lnTo>
                    <a:pt x="473410" y="287328"/>
                  </a:lnTo>
                  <a:lnTo>
                    <a:pt x="459476" y="332216"/>
                  </a:lnTo>
                  <a:lnTo>
                    <a:pt x="437428" y="372836"/>
                  </a:lnTo>
                  <a:lnTo>
                    <a:pt x="408228" y="408228"/>
                  </a:lnTo>
                  <a:lnTo>
                    <a:pt x="372836" y="437428"/>
                  </a:lnTo>
                  <a:lnTo>
                    <a:pt x="332216" y="459476"/>
                  </a:lnTo>
                  <a:lnTo>
                    <a:pt x="287328" y="473410"/>
                  </a:lnTo>
                  <a:lnTo>
                    <a:pt x="239134" y="478268"/>
                  </a:lnTo>
                  <a:lnTo>
                    <a:pt x="190940" y="473410"/>
                  </a:lnTo>
                  <a:lnTo>
                    <a:pt x="146052" y="459476"/>
                  </a:lnTo>
                  <a:lnTo>
                    <a:pt x="105432" y="437428"/>
                  </a:lnTo>
                  <a:lnTo>
                    <a:pt x="70040" y="408228"/>
                  </a:lnTo>
                  <a:lnTo>
                    <a:pt x="40840" y="372836"/>
                  </a:lnTo>
                  <a:lnTo>
                    <a:pt x="18792" y="332216"/>
                  </a:lnTo>
                  <a:lnTo>
                    <a:pt x="4858" y="287328"/>
                  </a:lnTo>
                  <a:lnTo>
                    <a:pt x="0" y="239134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29378" y="542483"/>
              <a:ext cx="2260600" cy="3083560"/>
            </a:xfrm>
            <a:custGeom>
              <a:avLst/>
              <a:gdLst/>
              <a:ahLst/>
              <a:cxnLst/>
              <a:rect l="l" t="t" r="r" b="b"/>
              <a:pathLst>
                <a:path w="2260600" h="3083560">
                  <a:moveTo>
                    <a:pt x="1841644" y="0"/>
                  </a:moveTo>
                  <a:lnTo>
                    <a:pt x="2260199" y="0"/>
                  </a:lnTo>
                </a:path>
                <a:path w="2260600" h="3083560">
                  <a:moveTo>
                    <a:pt x="1841644" y="1394"/>
                  </a:moveTo>
                  <a:lnTo>
                    <a:pt x="0" y="2367629"/>
                  </a:lnTo>
                </a:path>
                <a:path w="2260600" h="3083560">
                  <a:moveTo>
                    <a:pt x="1840248" y="801115"/>
                  </a:moveTo>
                  <a:lnTo>
                    <a:pt x="397626" y="2744329"/>
                  </a:lnTo>
                </a:path>
                <a:path w="2260600" h="3083560">
                  <a:moveTo>
                    <a:pt x="1841644" y="1601672"/>
                  </a:moveTo>
                  <a:lnTo>
                    <a:pt x="2260199" y="1601672"/>
                  </a:lnTo>
                </a:path>
                <a:path w="2260600" h="3083560">
                  <a:moveTo>
                    <a:pt x="1841644" y="1601115"/>
                  </a:moveTo>
                  <a:lnTo>
                    <a:pt x="728286" y="3083360"/>
                  </a:lnTo>
                </a:path>
              </a:pathLst>
            </a:custGeom>
            <a:ln w="25399">
              <a:solidFill>
                <a:srgbClr val="EE33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853617" y="254423"/>
            <a:ext cx="2048256" cy="446725"/>
          </a:xfrm>
          <a:prstGeom prst="rect">
            <a:avLst/>
          </a:prstGeom>
        </p:spPr>
        <p:txBody>
          <a:bodyPr vert="horz" wrap="square" lIns="0" tIns="36005" rIns="0" bIns="0" rtlCol="0">
            <a:spAutoFit/>
          </a:bodyPr>
          <a:lstStyle/>
          <a:p>
            <a:pPr marL="11430" marR="4572">
              <a:lnSpc>
                <a:spcPts val="1557"/>
              </a:lnSpc>
              <a:spcBef>
                <a:spcPts val="284"/>
              </a:spcBef>
            </a:pPr>
            <a:r>
              <a:rPr sz="1440" b="1" spc="-5" dirty="0">
                <a:latin typeface="Arial"/>
                <a:cs typeface="Arial"/>
              </a:rPr>
              <a:t>Data-centric </a:t>
            </a:r>
            <a:r>
              <a:rPr sz="1440" b="1" spc="-9" dirty="0">
                <a:latin typeface="Arial"/>
                <a:cs typeface="Arial"/>
              </a:rPr>
              <a:t>Virtualized </a:t>
            </a:r>
            <a:r>
              <a:rPr sz="1440" b="1" spc="-387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Infrastructures</a:t>
            </a:r>
            <a:endParaRPr sz="144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69691" y="784462"/>
            <a:ext cx="3007804" cy="2268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8595">
              <a:lnSpc>
                <a:spcPts val="1643"/>
              </a:lnSpc>
              <a:spcBef>
                <a:spcPts val="90"/>
              </a:spcBef>
            </a:pPr>
            <a:r>
              <a:rPr sz="1440" b="1" dirty="0">
                <a:latin typeface="Arial"/>
                <a:cs typeface="Arial"/>
              </a:rPr>
              <a:t>Middleware</a:t>
            </a:r>
            <a:r>
              <a:rPr sz="1440" b="1" spc="-32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Platforms:</a:t>
            </a:r>
            <a:r>
              <a:rPr sz="1440" b="1" spc="338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building,</a:t>
            </a:r>
            <a:endParaRPr sz="1440">
              <a:latin typeface="Arial"/>
              <a:cs typeface="Arial"/>
            </a:endParaRPr>
          </a:p>
          <a:p>
            <a:pPr marL="188595" marR="588074" indent="-177737">
              <a:lnSpc>
                <a:spcPts val="1557"/>
              </a:lnSpc>
              <a:spcBef>
                <a:spcPts val="108"/>
              </a:spcBef>
              <a:tabLst>
                <a:tab pos="188024" algn="l"/>
              </a:tabLst>
            </a:pPr>
            <a:r>
              <a:rPr sz="1440" u="heavy" dirty="0">
                <a:uFill>
                  <a:solidFill>
                    <a:srgbClr val="EE334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440" b="1" u="heavy" spc="-5" dirty="0">
                <a:uFill>
                  <a:solidFill>
                    <a:srgbClr val="EE3340"/>
                  </a:solidFill>
                </a:uFill>
                <a:latin typeface="Arial"/>
                <a:cs typeface="Arial"/>
              </a:rPr>
              <a:t>de</a:t>
            </a:r>
            <a:r>
              <a:rPr sz="1440" b="1" spc="-5" dirty="0">
                <a:latin typeface="Arial"/>
                <a:cs typeface="Arial"/>
              </a:rPr>
              <a:t>ploying, operating and </a:t>
            </a:r>
            <a:r>
              <a:rPr sz="1440" b="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scaling reliable big data </a:t>
            </a:r>
            <a:r>
              <a:rPr sz="1440" b="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services</a:t>
            </a:r>
            <a:r>
              <a:rPr sz="1440" b="1" spc="-4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and</a:t>
            </a:r>
            <a:r>
              <a:rPr sz="1440" b="1" spc="-4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applications</a:t>
            </a:r>
            <a:endParaRPr sz="1440">
              <a:latin typeface="Arial"/>
              <a:cs typeface="Arial"/>
            </a:endParaRPr>
          </a:p>
          <a:p>
            <a:pPr marL="497205" marR="922973">
              <a:lnSpc>
                <a:spcPts val="1458"/>
              </a:lnSpc>
              <a:spcBef>
                <a:spcPts val="1031"/>
              </a:spcBef>
            </a:pPr>
            <a:r>
              <a:rPr sz="1350" b="1" spc="-5" dirty="0">
                <a:latin typeface="Arial"/>
                <a:cs typeface="Arial"/>
              </a:rPr>
              <a:t>Big</a:t>
            </a:r>
            <a:r>
              <a:rPr sz="1350" b="1" spc="-32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data</a:t>
            </a:r>
            <a:r>
              <a:rPr sz="1350" b="1" spc="-27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services</a:t>
            </a:r>
            <a:r>
              <a:rPr sz="1350" b="1" spc="-32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&amp; </a:t>
            </a:r>
            <a:r>
              <a:rPr sz="1350" b="1" spc="-360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applications</a:t>
            </a:r>
            <a:endParaRPr sz="1350">
              <a:latin typeface="Arial"/>
              <a:cs typeface="Arial"/>
            </a:endParaRPr>
          </a:p>
          <a:p>
            <a:pPr marL="584073">
              <a:lnSpc>
                <a:spcPts val="1539"/>
              </a:lnSpc>
              <a:spcBef>
                <a:spcPts val="1049"/>
              </a:spcBef>
            </a:pPr>
            <a:r>
              <a:rPr sz="1350" b="1" spc="-5" dirty="0">
                <a:latin typeface="Arial"/>
                <a:cs typeface="Arial"/>
              </a:rPr>
              <a:t>Big</a:t>
            </a:r>
            <a:r>
              <a:rPr sz="1350" b="1" spc="-32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data</a:t>
            </a:r>
            <a:r>
              <a:rPr sz="1350" b="1" spc="-32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platforms</a:t>
            </a:r>
            <a:endParaRPr sz="1350">
              <a:latin typeface="Arial"/>
              <a:cs typeface="Arial"/>
            </a:endParaRPr>
          </a:p>
          <a:p>
            <a:pPr marL="584073" marR="61722" indent="-573215">
              <a:lnSpc>
                <a:spcPts val="1458"/>
              </a:lnSpc>
              <a:spcBef>
                <a:spcPts val="103"/>
              </a:spcBef>
              <a:tabLst>
                <a:tab pos="428625" algn="l"/>
                <a:tab pos="584073" algn="l"/>
              </a:tabLst>
            </a:pPr>
            <a:r>
              <a:rPr sz="1350" u="heavy" dirty="0">
                <a:uFill>
                  <a:solidFill>
                    <a:srgbClr val="EE334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350" dirty="0">
                <a:latin typeface="Times New Roman"/>
                <a:cs typeface="Times New Roman"/>
              </a:rPr>
              <a:t>	</a:t>
            </a:r>
            <a:r>
              <a:rPr sz="1350" b="1" spc="-5" dirty="0">
                <a:latin typeface="Arial"/>
                <a:cs typeface="Arial"/>
              </a:rPr>
              <a:t>consumers and producers: </a:t>
            </a:r>
            <a:r>
              <a:rPr sz="1350" b="1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Sensors,</a:t>
            </a:r>
            <a:r>
              <a:rPr sz="1350" b="1" spc="-45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Things,</a:t>
            </a:r>
            <a:r>
              <a:rPr sz="1350" b="1" spc="-41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Equipment, </a:t>
            </a:r>
            <a:r>
              <a:rPr sz="1350" b="1" spc="-360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Industrial</a:t>
            </a:r>
            <a:r>
              <a:rPr sz="1350" b="1" spc="-36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Processes,</a:t>
            </a:r>
            <a:r>
              <a:rPr sz="1350" b="1" spc="-32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People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79203" y="2650193"/>
            <a:ext cx="700659" cy="917258"/>
          </a:xfrm>
          <a:custGeom>
            <a:avLst/>
            <a:gdLst/>
            <a:ahLst/>
            <a:cxnLst/>
            <a:rect l="l" t="t" r="r" b="b"/>
            <a:pathLst>
              <a:path w="778510" h="1019175">
                <a:moveTo>
                  <a:pt x="777954" y="0"/>
                </a:moveTo>
                <a:lnTo>
                  <a:pt x="0" y="1018820"/>
                </a:lnTo>
              </a:path>
            </a:pathLst>
          </a:custGeom>
          <a:ln w="25399">
            <a:solidFill>
              <a:srgbClr val="EE33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6800" y="2014234"/>
            <a:ext cx="7684389" cy="3088958"/>
            <a:chOff x="144000" y="2238037"/>
            <a:chExt cx="8538210" cy="3432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0662" y="2238037"/>
              <a:ext cx="1944725" cy="5659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5424" y="2262800"/>
              <a:ext cx="1855199" cy="4763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55424" y="2262800"/>
              <a:ext cx="1855470" cy="476884"/>
            </a:xfrm>
            <a:custGeom>
              <a:avLst/>
              <a:gdLst/>
              <a:ahLst/>
              <a:cxnLst/>
              <a:rect l="l" t="t" r="r" b="b"/>
              <a:pathLst>
                <a:path w="1855470" h="476885">
                  <a:moveTo>
                    <a:pt x="0" y="238199"/>
                  </a:moveTo>
                  <a:lnTo>
                    <a:pt x="2790" y="219584"/>
                  </a:lnTo>
                  <a:lnTo>
                    <a:pt x="11025" y="201361"/>
                  </a:lnTo>
                  <a:lnTo>
                    <a:pt x="43003" y="166302"/>
                  </a:lnTo>
                  <a:lnTo>
                    <a:pt x="94282" y="133445"/>
                  </a:lnTo>
                  <a:lnTo>
                    <a:pt x="163213" y="103215"/>
                  </a:lnTo>
                  <a:lnTo>
                    <a:pt x="203783" y="89218"/>
                  </a:lnTo>
                  <a:lnTo>
                    <a:pt x="248147" y="76035"/>
                  </a:lnTo>
                  <a:lnTo>
                    <a:pt x="296099" y="63722"/>
                  </a:lnTo>
                  <a:lnTo>
                    <a:pt x="347433" y="52329"/>
                  </a:lnTo>
                  <a:lnTo>
                    <a:pt x="401943" y="41911"/>
                  </a:lnTo>
                  <a:lnTo>
                    <a:pt x="459422" y="32521"/>
                  </a:lnTo>
                  <a:lnTo>
                    <a:pt x="519664" y="24210"/>
                  </a:lnTo>
                  <a:lnTo>
                    <a:pt x="582464" y="17033"/>
                  </a:lnTo>
                  <a:lnTo>
                    <a:pt x="647614" y="11042"/>
                  </a:lnTo>
                  <a:lnTo>
                    <a:pt x="714909" y="6291"/>
                  </a:lnTo>
                  <a:lnTo>
                    <a:pt x="784143" y="2831"/>
                  </a:lnTo>
                  <a:lnTo>
                    <a:pt x="855108" y="716"/>
                  </a:lnTo>
                  <a:lnTo>
                    <a:pt x="927599" y="0"/>
                  </a:lnTo>
                  <a:lnTo>
                    <a:pt x="1000091" y="716"/>
                  </a:lnTo>
                  <a:lnTo>
                    <a:pt x="1071056" y="2831"/>
                  </a:lnTo>
                  <a:lnTo>
                    <a:pt x="1140290" y="6291"/>
                  </a:lnTo>
                  <a:lnTo>
                    <a:pt x="1207585" y="11042"/>
                  </a:lnTo>
                  <a:lnTo>
                    <a:pt x="1272735" y="17033"/>
                  </a:lnTo>
                  <a:lnTo>
                    <a:pt x="1335535" y="24210"/>
                  </a:lnTo>
                  <a:lnTo>
                    <a:pt x="1395777" y="32521"/>
                  </a:lnTo>
                  <a:lnTo>
                    <a:pt x="1453256" y="41911"/>
                  </a:lnTo>
                  <a:lnTo>
                    <a:pt x="1507766" y="52329"/>
                  </a:lnTo>
                  <a:lnTo>
                    <a:pt x="1559100" y="63722"/>
                  </a:lnTo>
                  <a:lnTo>
                    <a:pt x="1607052" y="76035"/>
                  </a:lnTo>
                  <a:lnTo>
                    <a:pt x="1651416" y="89218"/>
                  </a:lnTo>
                  <a:lnTo>
                    <a:pt x="1691986" y="103215"/>
                  </a:lnTo>
                  <a:lnTo>
                    <a:pt x="1728555" y="117975"/>
                  </a:lnTo>
                  <a:lnTo>
                    <a:pt x="1788866" y="149572"/>
                  </a:lnTo>
                  <a:lnTo>
                    <a:pt x="1830701" y="183582"/>
                  </a:lnTo>
                  <a:lnTo>
                    <a:pt x="1852409" y="219584"/>
                  </a:lnTo>
                  <a:lnTo>
                    <a:pt x="1855199" y="238199"/>
                  </a:lnTo>
                  <a:lnTo>
                    <a:pt x="1844174" y="275038"/>
                  </a:lnTo>
                  <a:lnTo>
                    <a:pt x="1812196" y="310097"/>
                  </a:lnTo>
                  <a:lnTo>
                    <a:pt x="1760917" y="342954"/>
                  </a:lnTo>
                  <a:lnTo>
                    <a:pt x="1691986" y="373184"/>
                  </a:lnTo>
                  <a:lnTo>
                    <a:pt x="1651416" y="387181"/>
                  </a:lnTo>
                  <a:lnTo>
                    <a:pt x="1607052" y="400364"/>
                  </a:lnTo>
                  <a:lnTo>
                    <a:pt x="1559100" y="412677"/>
                  </a:lnTo>
                  <a:lnTo>
                    <a:pt x="1507766" y="424070"/>
                  </a:lnTo>
                  <a:lnTo>
                    <a:pt x="1453256" y="434488"/>
                  </a:lnTo>
                  <a:lnTo>
                    <a:pt x="1395777" y="443878"/>
                  </a:lnTo>
                  <a:lnTo>
                    <a:pt x="1335535" y="452189"/>
                  </a:lnTo>
                  <a:lnTo>
                    <a:pt x="1272735" y="459366"/>
                  </a:lnTo>
                  <a:lnTo>
                    <a:pt x="1207585" y="465357"/>
                  </a:lnTo>
                  <a:lnTo>
                    <a:pt x="1140290" y="470108"/>
                  </a:lnTo>
                  <a:lnTo>
                    <a:pt x="1071056" y="473568"/>
                  </a:lnTo>
                  <a:lnTo>
                    <a:pt x="1000091" y="475683"/>
                  </a:lnTo>
                  <a:lnTo>
                    <a:pt x="927599" y="476399"/>
                  </a:lnTo>
                  <a:lnTo>
                    <a:pt x="855108" y="475683"/>
                  </a:lnTo>
                  <a:lnTo>
                    <a:pt x="784143" y="473568"/>
                  </a:lnTo>
                  <a:lnTo>
                    <a:pt x="714909" y="470108"/>
                  </a:lnTo>
                  <a:lnTo>
                    <a:pt x="647614" y="465357"/>
                  </a:lnTo>
                  <a:lnTo>
                    <a:pt x="582464" y="459366"/>
                  </a:lnTo>
                  <a:lnTo>
                    <a:pt x="519664" y="452189"/>
                  </a:lnTo>
                  <a:lnTo>
                    <a:pt x="459422" y="443878"/>
                  </a:lnTo>
                  <a:lnTo>
                    <a:pt x="401943" y="434488"/>
                  </a:lnTo>
                  <a:lnTo>
                    <a:pt x="347433" y="424070"/>
                  </a:lnTo>
                  <a:lnTo>
                    <a:pt x="296099" y="412677"/>
                  </a:lnTo>
                  <a:lnTo>
                    <a:pt x="248147" y="400364"/>
                  </a:lnTo>
                  <a:lnTo>
                    <a:pt x="203783" y="387181"/>
                  </a:lnTo>
                  <a:lnTo>
                    <a:pt x="163213" y="373184"/>
                  </a:lnTo>
                  <a:lnTo>
                    <a:pt x="126644" y="358424"/>
                  </a:lnTo>
                  <a:lnTo>
                    <a:pt x="66333" y="326827"/>
                  </a:lnTo>
                  <a:lnTo>
                    <a:pt x="24498" y="292817"/>
                  </a:lnTo>
                  <a:lnTo>
                    <a:pt x="2790" y="256815"/>
                  </a:lnTo>
                  <a:lnTo>
                    <a:pt x="0" y="238199"/>
                  </a:lnTo>
                  <a:close/>
                </a:path>
              </a:pathLst>
            </a:custGeom>
            <a:ln w="9524">
              <a:solidFill>
                <a:srgbClr val="8881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6368225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Analytics</a:t>
            </a:r>
            <a:r>
              <a:rPr spc="-23" dirty="0"/>
              <a:t> </a:t>
            </a:r>
            <a:r>
              <a:rPr spc="-5" dirty="0"/>
              <a:t>and</a:t>
            </a:r>
            <a:r>
              <a:rPr spc="-18" dirty="0"/>
              <a:t> </a:t>
            </a:r>
            <a:r>
              <a:rPr spc="-9" dirty="0"/>
              <a:t>big</a:t>
            </a:r>
            <a:r>
              <a:rPr spc="-27" dirty="0"/>
              <a:t> </a:t>
            </a:r>
            <a:r>
              <a:rPr spc="-9" dirty="0"/>
              <a:t>data</a:t>
            </a:r>
            <a:r>
              <a:rPr spc="-23" dirty="0"/>
              <a:t> </a:t>
            </a:r>
            <a:r>
              <a:rPr spc="-5" dirty="0"/>
              <a:t>platforms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03837" y="2041045"/>
            <a:ext cx="1036130" cy="399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 indent="221741">
              <a:spcBef>
                <a:spcPts val="90"/>
              </a:spcBef>
            </a:pPr>
            <a:r>
              <a:rPr sz="1260" spc="-5" dirty="0">
                <a:latin typeface="Arial MT"/>
                <a:cs typeface="Arial MT"/>
              </a:rPr>
              <a:t>In-Store </a:t>
            </a:r>
            <a:r>
              <a:rPr sz="1260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Realtime</a:t>
            </a:r>
            <a:r>
              <a:rPr sz="1260" spc="-81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Data</a:t>
            </a:r>
            <a:endParaRPr sz="126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06082" y="1349476"/>
            <a:ext cx="1376744" cy="509207"/>
            <a:chOff x="1276535" y="1499418"/>
            <a:chExt cx="1529715" cy="5657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6535" y="1499418"/>
              <a:ext cx="1529644" cy="5657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1298" y="1524180"/>
              <a:ext cx="1440118" cy="4762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21298" y="1524180"/>
              <a:ext cx="1440180" cy="476250"/>
            </a:xfrm>
            <a:custGeom>
              <a:avLst/>
              <a:gdLst/>
              <a:ahLst/>
              <a:cxnLst/>
              <a:rect l="l" t="t" r="r" b="b"/>
              <a:pathLst>
                <a:path w="1440180" h="476250">
                  <a:moveTo>
                    <a:pt x="0" y="238124"/>
                  </a:moveTo>
                  <a:lnTo>
                    <a:pt x="3296" y="215191"/>
                  </a:lnTo>
                  <a:lnTo>
                    <a:pt x="12983" y="192875"/>
                  </a:lnTo>
                  <a:lnTo>
                    <a:pt x="50325" y="150492"/>
                  </a:lnTo>
                  <a:lnTo>
                    <a:pt x="109611" y="111773"/>
                  </a:lnTo>
                  <a:lnTo>
                    <a:pt x="146729" y="94038"/>
                  </a:lnTo>
                  <a:lnTo>
                    <a:pt x="188427" y="77518"/>
                  </a:lnTo>
                  <a:lnTo>
                    <a:pt x="234405" y="62313"/>
                  </a:lnTo>
                  <a:lnTo>
                    <a:pt x="284360" y="48523"/>
                  </a:lnTo>
                  <a:lnTo>
                    <a:pt x="337990" y="36248"/>
                  </a:lnTo>
                  <a:lnTo>
                    <a:pt x="394994" y="25588"/>
                  </a:lnTo>
                  <a:lnTo>
                    <a:pt x="455070" y="16642"/>
                  </a:lnTo>
                  <a:lnTo>
                    <a:pt x="517916" y="9511"/>
                  </a:lnTo>
                  <a:lnTo>
                    <a:pt x="583231" y="4293"/>
                  </a:lnTo>
                  <a:lnTo>
                    <a:pt x="650712" y="1090"/>
                  </a:lnTo>
                  <a:lnTo>
                    <a:pt x="720059" y="0"/>
                  </a:lnTo>
                  <a:lnTo>
                    <a:pt x="789406" y="1090"/>
                  </a:lnTo>
                  <a:lnTo>
                    <a:pt x="856887" y="4293"/>
                  </a:lnTo>
                  <a:lnTo>
                    <a:pt x="922202" y="9511"/>
                  </a:lnTo>
                  <a:lnTo>
                    <a:pt x="985048" y="16642"/>
                  </a:lnTo>
                  <a:lnTo>
                    <a:pt x="1045124" y="25588"/>
                  </a:lnTo>
                  <a:lnTo>
                    <a:pt x="1102128" y="36248"/>
                  </a:lnTo>
                  <a:lnTo>
                    <a:pt x="1155758" y="48523"/>
                  </a:lnTo>
                  <a:lnTo>
                    <a:pt x="1205713" y="62313"/>
                  </a:lnTo>
                  <a:lnTo>
                    <a:pt x="1251691" y="77518"/>
                  </a:lnTo>
                  <a:lnTo>
                    <a:pt x="1293389" y="94038"/>
                  </a:lnTo>
                  <a:lnTo>
                    <a:pt x="1330507" y="111773"/>
                  </a:lnTo>
                  <a:lnTo>
                    <a:pt x="1389793" y="150492"/>
                  </a:lnTo>
                  <a:lnTo>
                    <a:pt x="1427135" y="192875"/>
                  </a:lnTo>
                  <a:lnTo>
                    <a:pt x="1440118" y="238124"/>
                  </a:lnTo>
                  <a:lnTo>
                    <a:pt x="1427135" y="283374"/>
                  </a:lnTo>
                  <a:lnTo>
                    <a:pt x="1389793" y="325757"/>
                  </a:lnTo>
                  <a:lnTo>
                    <a:pt x="1330507" y="364475"/>
                  </a:lnTo>
                  <a:lnTo>
                    <a:pt x="1293389" y="382211"/>
                  </a:lnTo>
                  <a:lnTo>
                    <a:pt x="1251691" y="398731"/>
                  </a:lnTo>
                  <a:lnTo>
                    <a:pt x="1205713" y="413936"/>
                  </a:lnTo>
                  <a:lnTo>
                    <a:pt x="1155758" y="427726"/>
                  </a:lnTo>
                  <a:lnTo>
                    <a:pt x="1102128" y="440001"/>
                  </a:lnTo>
                  <a:lnTo>
                    <a:pt x="1045124" y="450661"/>
                  </a:lnTo>
                  <a:lnTo>
                    <a:pt x="985048" y="459607"/>
                  </a:lnTo>
                  <a:lnTo>
                    <a:pt x="922202" y="466738"/>
                  </a:lnTo>
                  <a:lnTo>
                    <a:pt x="856887" y="471956"/>
                  </a:lnTo>
                  <a:lnTo>
                    <a:pt x="789406" y="475159"/>
                  </a:lnTo>
                  <a:lnTo>
                    <a:pt x="720059" y="476249"/>
                  </a:lnTo>
                  <a:lnTo>
                    <a:pt x="650712" y="475159"/>
                  </a:lnTo>
                  <a:lnTo>
                    <a:pt x="583231" y="471956"/>
                  </a:lnTo>
                  <a:lnTo>
                    <a:pt x="517916" y="466738"/>
                  </a:lnTo>
                  <a:lnTo>
                    <a:pt x="455070" y="459607"/>
                  </a:lnTo>
                  <a:lnTo>
                    <a:pt x="394994" y="450661"/>
                  </a:lnTo>
                  <a:lnTo>
                    <a:pt x="337990" y="440001"/>
                  </a:lnTo>
                  <a:lnTo>
                    <a:pt x="284360" y="427726"/>
                  </a:lnTo>
                  <a:lnTo>
                    <a:pt x="234405" y="413936"/>
                  </a:lnTo>
                  <a:lnTo>
                    <a:pt x="188427" y="398731"/>
                  </a:lnTo>
                  <a:lnTo>
                    <a:pt x="146729" y="382211"/>
                  </a:lnTo>
                  <a:lnTo>
                    <a:pt x="109611" y="364475"/>
                  </a:lnTo>
                  <a:lnTo>
                    <a:pt x="50325" y="325757"/>
                  </a:lnTo>
                  <a:lnTo>
                    <a:pt x="12983" y="283374"/>
                  </a:lnTo>
                  <a:lnTo>
                    <a:pt x="3296" y="261057"/>
                  </a:lnTo>
                  <a:lnTo>
                    <a:pt x="0" y="238124"/>
                  </a:lnTo>
                  <a:close/>
                </a:path>
              </a:pathLst>
            </a:custGeom>
            <a:ln w="9524">
              <a:solidFill>
                <a:srgbClr val="8881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1320" y="1619430"/>
              <a:ext cx="360029" cy="1904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1357" y="1619430"/>
              <a:ext cx="450037" cy="2381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955111" y="1602535"/>
            <a:ext cx="502349" cy="2054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260" spc="-5" dirty="0">
                <a:latin typeface="Arial MT"/>
                <a:cs typeface="Arial MT"/>
              </a:rPr>
              <a:t>Things</a:t>
            </a:r>
            <a:endParaRPr sz="126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33850" y="2568296"/>
            <a:ext cx="1579055" cy="509207"/>
            <a:chOff x="1307389" y="2853662"/>
            <a:chExt cx="1754505" cy="56578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07389" y="2853662"/>
              <a:ext cx="1753925" cy="5656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52151" y="2878425"/>
              <a:ext cx="1664399" cy="4760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352151" y="2878425"/>
              <a:ext cx="1664970" cy="476250"/>
            </a:xfrm>
            <a:custGeom>
              <a:avLst/>
              <a:gdLst/>
              <a:ahLst/>
              <a:cxnLst/>
              <a:rect l="l" t="t" r="r" b="b"/>
              <a:pathLst>
                <a:path w="1664970" h="476250">
                  <a:moveTo>
                    <a:pt x="0" y="238049"/>
                  </a:moveTo>
                  <a:lnTo>
                    <a:pt x="3054" y="217510"/>
                  </a:lnTo>
                  <a:lnTo>
                    <a:pt x="12052" y="197455"/>
                  </a:lnTo>
                  <a:lnTo>
                    <a:pt x="46876" y="159087"/>
                  </a:lnTo>
                  <a:lnTo>
                    <a:pt x="102474" y="123517"/>
                  </a:lnTo>
                  <a:lnTo>
                    <a:pt x="137438" y="106960"/>
                  </a:lnTo>
                  <a:lnTo>
                    <a:pt x="176847" y="91317"/>
                  </a:lnTo>
                  <a:lnTo>
                    <a:pt x="220449" y="76660"/>
                  </a:lnTo>
                  <a:lnTo>
                    <a:pt x="267996" y="63059"/>
                  </a:lnTo>
                  <a:lnTo>
                    <a:pt x="319238" y="50586"/>
                  </a:lnTo>
                  <a:lnTo>
                    <a:pt x="373924" y="39314"/>
                  </a:lnTo>
                  <a:lnTo>
                    <a:pt x="431806" y="29312"/>
                  </a:lnTo>
                  <a:lnTo>
                    <a:pt x="492632" y="20653"/>
                  </a:lnTo>
                  <a:lnTo>
                    <a:pt x="556154" y="13408"/>
                  </a:lnTo>
                  <a:lnTo>
                    <a:pt x="622122" y="7649"/>
                  </a:lnTo>
                  <a:lnTo>
                    <a:pt x="690285" y="3447"/>
                  </a:lnTo>
                  <a:lnTo>
                    <a:pt x="760394" y="873"/>
                  </a:lnTo>
                  <a:lnTo>
                    <a:pt x="832199" y="0"/>
                  </a:lnTo>
                  <a:lnTo>
                    <a:pt x="904005" y="873"/>
                  </a:lnTo>
                  <a:lnTo>
                    <a:pt x="974114" y="3447"/>
                  </a:lnTo>
                  <a:lnTo>
                    <a:pt x="1042277" y="7649"/>
                  </a:lnTo>
                  <a:lnTo>
                    <a:pt x="1108245" y="13408"/>
                  </a:lnTo>
                  <a:lnTo>
                    <a:pt x="1171767" y="20653"/>
                  </a:lnTo>
                  <a:lnTo>
                    <a:pt x="1232593" y="29312"/>
                  </a:lnTo>
                  <a:lnTo>
                    <a:pt x="1290475" y="39314"/>
                  </a:lnTo>
                  <a:lnTo>
                    <a:pt x="1345161" y="50586"/>
                  </a:lnTo>
                  <a:lnTo>
                    <a:pt x="1396403" y="63059"/>
                  </a:lnTo>
                  <a:lnTo>
                    <a:pt x="1443950" y="76660"/>
                  </a:lnTo>
                  <a:lnTo>
                    <a:pt x="1487552" y="91317"/>
                  </a:lnTo>
                  <a:lnTo>
                    <a:pt x="1526961" y="106960"/>
                  </a:lnTo>
                  <a:lnTo>
                    <a:pt x="1561925" y="123517"/>
                  </a:lnTo>
                  <a:lnTo>
                    <a:pt x="1617523" y="159087"/>
                  </a:lnTo>
                  <a:lnTo>
                    <a:pt x="1652347" y="197455"/>
                  </a:lnTo>
                  <a:lnTo>
                    <a:pt x="1664399" y="238049"/>
                  </a:lnTo>
                  <a:lnTo>
                    <a:pt x="1652347" y="278644"/>
                  </a:lnTo>
                  <a:lnTo>
                    <a:pt x="1617523" y="317012"/>
                  </a:lnTo>
                  <a:lnTo>
                    <a:pt x="1561925" y="352582"/>
                  </a:lnTo>
                  <a:lnTo>
                    <a:pt x="1526961" y="369139"/>
                  </a:lnTo>
                  <a:lnTo>
                    <a:pt x="1487552" y="384782"/>
                  </a:lnTo>
                  <a:lnTo>
                    <a:pt x="1443950" y="399439"/>
                  </a:lnTo>
                  <a:lnTo>
                    <a:pt x="1396403" y="413040"/>
                  </a:lnTo>
                  <a:lnTo>
                    <a:pt x="1345161" y="425513"/>
                  </a:lnTo>
                  <a:lnTo>
                    <a:pt x="1290475" y="436785"/>
                  </a:lnTo>
                  <a:lnTo>
                    <a:pt x="1232593" y="446787"/>
                  </a:lnTo>
                  <a:lnTo>
                    <a:pt x="1171767" y="455446"/>
                  </a:lnTo>
                  <a:lnTo>
                    <a:pt x="1108245" y="462691"/>
                  </a:lnTo>
                  <a:lnTo>
                    <a:pt x="1042277" y="468450"/>
                  </a:lnTo>
                  <a:lnTo>
                    <a:pt x="974114" y="472652"/>
                  </a:lnTo>
                  <a:lnTo>
                    <a:pt x="904005" y="475226"/>
                  </a:lnTo>
                  <a:lnTo>
                    <a:pt x="832199" y="476099"/>
                  </a:lnTo>
                  <a:lnTo>
                    <a:pt x="760394" y="475226"/>
                  </a:lnTo>
                  <a:lnTo>
                    <a:pt x="690285" y="472652"/>
                  </a:lnTo>
                  <a:lnTo>
                    <a:pt x="622122" y="468450"/>
                  </a:lnTo>
                  <a:lnTo>
                    <a:pt x="556154" y="462691"/>
                  </a:lnTo>
                  <a:lnTo>
                    <a:pt x="492632" y="455446"/>
                  </a:lnTo>
                  <a:lnTo>
                    <a:pt x="431806" y="446787"/>
                  </a:lnTo>
                  <a:lnTo>
                    <a:pt x="373924" y="436785"/>
                  </a:lnTo>
                  <a:lnTo>
                    <a:pt x="319238" y="425513"/>
                  </a:lnTo>
                  <a:lnTo>
                    <a:pt x="267996" y="413040"/>
                  </a:lnTo>
                  <a:lnTo>
                    <a:pt x="220449" y="399439"/>
                  </a:lnTo>
                  <a:lnTo>
                    <a:pt x="176847" y="384782"/>
                  </a:lnTo>
                  <a:lnTo>
                    <a:pt x="137438" y="369139"/>
                  </a:lnTo>
                  <a:lnTo>
                    <a:pt x="102474" y="352582"/>
                  </a:lnTo>
                  <a:lnTo>
                    <a:pt x="46876" y="317012"/>
                  </a:lnTo>
                  <a:lnTo>
                    <a:pt x="12052" y="278644"/>
                  </a:lnTo>
                  <a:lnTo>
                    <a:pt x="3054" y="258589"/>
                  </a:lnTo>
                  <a:lnTo>
                    <a:pt x="0" y="238049"/>
                  </a:lnTo>
                  <a:close/>
                </a:path>
              </a:pathLst>
            </a:custGeom>
            <a:ln w="9524">
              <a:solidFill>
                <a:srgbClr val="8881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72460" y="2594973"/>
            <a:ext cx="701802" cy="399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006" marR="4572" indent="-33147">
              <a:spcBef>
                <a:spcPts val="90"/>
              </a:spcBef>
            </a:pPr>
            <a:r>
              <a:rPr sz="1260" spc="-50" dirty="0">
                <a:latin typeface="Arial MT"/>
                <a:cs typeface="Arial MT"/>
              </a:rPr>
              <a:t>T</a:t>
            </a:r>
            <a:r>
              <a:rPr sz="1260" dirty="0">
                <a:latin typeface="Arial MT"/>
                <a:cs typeface="Arial MT"/>
              </a:rPr>
              <a:t>ransport  </a:t>
            </a:r>
            <a:r>
              <a:rPr sz="1260" spc="-5" dirty="0">
                <a:latin typeface="Arial MT"/>
                <a:cs typeface="Arial MT"/>
              </a:rPr>
              <a:t>Systems</a:t>
            </a:r>
            <a:endParaRPr sz="126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80613" y="3129513"/>
            <a:ext cx="1639633" cy="509778"/>
            <a:chOff x="1248237" y="3477237"/>
            <a:chExt cx="1821814" cy="56642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8237" y="3477237"/>
              <a:ext cx="1821725" cy="5659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3000" y="3502000"/>
              <a:ext cx="1732199" cy="4763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93000" y="3502000"/>
              <a:ext cx="1732280" cy="476884"/>
            </a:xfrm>
            <a:custGeom>
              <a:avLst/>
              <a:gdLst/>
              <a:ahLst/>
              <a:cxnLst/>
              <a:rect l="l" t="t" r="r" b="b"/>
              <a:pathLst>
                <a:path w="1732280" h="476885">
                  <a:moveTo>
                    <a:pt x="0" y="238199"/>
                  </a:moveTo>
                  <a:lnTo>
                    <a:pt x="2871" y="218663"/>
                  </a:lnTo>
                  <a:lnTo>
                    <a:pt x="11335" y="199562"/>
                  </a:lnTo>
                  <a:lnTo>
                    <a:pt x="44154" y="162910"/>
                  </a:lnTo>
                  <a:lnTo>
                    <a:pt x="96672" y="128733"/>
                  </a:lnTo>
                  <a:lnTo>
                    <a:pt x="167107" y="97522"/>
                  </a:lnTo>
                  <a:lnTo>
                    <a:pt x="208485" y="83181"/>
                  </a:lnTo>
                  <a:lnTo>
                    <a:pt x="253674" y="69767"/>
                  </a:lnTo>
                  <a:lnTo>
                    <a:pt x="302451" y="57338"/>
                  </a:lnTo>
                  <a:lnTo>
                    <a:pt x="354592" y="45958"/>
                  </a:lnTo>
                  <a:lnTo>
                    <a:pt x="409875" y="35687"/>
                  </a:lnTo>
                  <a:lnTo>
                    <a:pt x="468077" y="26587"/>
                  </a:lnTo>
                  <a:lnTo>
                    <a:pt x="528974" y="18718"/>
                  </a:lnTo>
                  <a:lnTo>
                    <a:pt x="592345" y="12143"/>
                  </a:lnTo>
                  <a:lnTo>
                    <a:pt x="657966" y="6922"/>
                  </a:lnTo>
                  <a:lnTo>
                    <a:pt x="725613" y="3117"/>
                  </a:lnTo>
                  <a:lnTo>
                    <a:pt x="795066" y="789"/>
                  </a:lnTo>
                  <a:lnTo>
                    <a:pt x="866099" y="0"/>
                  </a:lnTo>
                  <a:lnTo>
                    <a:pt x="937133" y="789"/>
                  </a:lnTo>
                  <a:lnTo>
                    <a:pt x="1006585" y="3117"/>
                  </a:lnTo>
                  <a:lnTo>
                    <a:pt x="1074233" y="6922"/>
                  </a:lnTo>
                  <a:lnTo>
                    <a:pt x="1139854" y="12143"/>
                  </a:lnTo>
                  <a:lnTo>
                    <a:pt x="1203225" y="18718"/>
                  </a:lnTo>
                  <a:lnTo>
                    <a:pt x="1264122" y="26587"/>
                  </a:lnTo>
                  <a:lnTo>
                    <a:pt x="1322324" y="35687"/>
                  </a:lnTo>
                  <a:lnTo>
                    <a:pt x="1377607" y="45958"/>
                  </a:lnTo>
                  <a:lnTo>
                    <a:pt x="1429748" y="57338"/>
                  </a:lnTo>
                  <a:lnTo>
                    <a:pt x="1478525" y="69767"/>
                  </a:lnTo>
                  <a:lnTo>
                    <a:pt x="1523714" y="83181"/>
                  </a:lnTo>
                  <a:lnTo>
                    <a:pt x="1565092" y="97522"/>
                  </a:lnTo>
                  <a:lnTo>
                    <a:pt x="1602438" y="112726"/>
                  </a:lnTo>
                  <a:lnTo>
                    <a:pt x="1664137" y="145481"/>
                  </a:lnTo>
                  <a:lnTo>
                    <a:pt x="1707028" y="180957"/>
                  </a:lnTo>
                  <a:lnTo>
                    <a:pt x="1729328" y="218663"/>
                  </a:lnTo>
                  <a:lnTo>
                    <a:pt x="1732199" y="238199"/>
                  </a:lnTo>
                  <a:lnTo>
                    <a:pt x="1720864" y="276837"/>
                  </a:lnTo>
                  <a:lnTo>
                    <a:pt x="1688045" y="313489"/>
                  </a:lnTo>
                  <a:lnTo>
                    <a:pt x="1635527" y="347666"/>
                  </a:lnTo>
                  <a:lnTo>
                    <a:pt x="1565092" y="378877"/>
                  </a:lnTo>
                  <a:lnTo>
                    <a:pt x="1523714" y="393218"/>
                  </a:lnTo>
                  <a:lnTo>
                    <a:pt x="1478525" y="406632"/>
                  </a:lnTo>
                  <a:lnTo>
                    <a:pt x="1429748" y="419061"/>
                  </a:lnTo>
                  <a:lnTo>
                    <a:pt x="1377607" y="430441"/>
                  </a:lnTo>
                  <a:lnTo>
                    <a:pt x="1322324" y="440712"/>
                  </a:lnTo>
                  <a:lnTo>
                    <a:pt x="1264122" y="449812"/>
                  </a:lnTo>
                  <a:lnTo>
                    <a:pt x="1203225" y="457681"/>
                  </a:lnTo>
                  <a:lnTo>
                    <a:pt x="1139854" y="464256"/>
                  </a:lnTo>
                  <a:lnTo>
                    <a:pt x="1074233" y="469477"/>
                  </a:lnTo>
                  <a:lnTo>
                    <a:pt x="1006585" y="473282"/>
                  </a:lnTo>
                  <a:lnTo>
                    <a:pt x="937133" y="475610"/>
                  </a:lnTo>
                  <a:lnTo>
                    <a:pt x="866099" y="476399"/>
                  </a:lnTo>
                  <a:lnTo>
                    <a:pt x="795066" y="475610"/>
                  </a:lnTo>
                  <a:lnTo>
                    <a:pt x="725613" y="473282"/>
                  </a:lnTo>
                  <a:lnTo>
                    <a:pt x="657966" y="469477"/>
                  </a:lnTo>
                  <a:lnTo>
                    <a:pt x="592345" y="464256"/>
                  </a:lnTo>
                  <a:lnTo>
                    <a:pt x="528974" y="457681"/>
                  </a:lnTo>
                  <a:lnTo>
                    <a:pt x="468077" y="449812"/>
                  </a:lnTo>
                  <a:lnTo>
                    <a:pt x="409875" y="440712"/>
                  </a:lnTo>
                  <a:lnTo>
                    <a:pt x="354592" y="430441"/>
                  </a:lnTo>
                  <a:lnTo>
                    <a:pt x="302451" y="419061"/>
                  </a:lnTo>
                  <a:lnTo>
                    <a:pt x="253674" y="406632"/>
                  </a:lnTo>
                  <a:lnTo>
                    <a:pt x="208485" y="393218"/>
                  </a:lnTo>
                  <a:lnTo>
                    <a:pt x="167107" y="378877"/>
                  </a:lnTo>
                  <a:lnTo>
                    <a:pt x="129761" y="363673"/>
                  </a:lnTo>
                  <a:lnTo>
                    <a:pt x="68062" y="330918"/>
                  </a:lnTo>
                  <a:lnTo>
                    <a:pt x="25171" y="295442"/>
                  </a:lnTo>
                  <a:lnTo>
                    <a:pt x="2871" y="257736"/>
                  </a:lnTo>
                  <a:lnTo>
                    <a:pt x="0" y="238199"/>
                  </a:lnTo>
                  <a:close/>
                </a:path>
              </a:pathLst>
            </a:custGeom>
            <a:ln w="9524">
              <a:solidFill>
                <a:srgbClr val="8881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953446" y="3156325"/>
            <a:ext cx="894398" cy="399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spcBef>
                <a:spcPts val="90"/>
              </a:spcBef>
            </a:pPr>
            <a:r>
              <a:rPr sz="1260" spc="-5" dirty="0">
                <a:latin typeface="Arial MT"/>
                <a:cs typeface="Arial MT"/>
              </a:rPr>
              <a:t>B2B-B2C</a:t>
            </a:r>
            <a:endParaRPr sz="126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60" dirty="0">
                <a:latin typeface="Arial MT"/>
                <a:cs typeface="Arial MT"/>
              </a:rPr>
              <a:t>Market</a:t>
            </a:r>
            <a:r>
              <a:rPr sz="1260" spc="-63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Data</a:t>
            </a:r>
            <a:endParaRPr sz="126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606083" y="3741018"/>
            <a:ext cx="1407033" cy="509778"/>
            <a:chOff x="1276537" y="4156687"/>
            <a:chExt cx="1563370" cy="566420"/>
          </a:xfrm>
        </p:grpSpPr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6537" y="4156687"/>
              <a:ext cx="1563125" cy="5659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21299" y="4181450"/>
              <a:ext cx="1473600" cy="47639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321299" y="4181450"/>
              <a:ext cx="1473835" cy="476884"/>
            </a:xfrm>
            <a:custGeom>
              <a:avLst/>
              <a:gdLst/>
              <a:ahLst/>
              <a:cxnLst/>
              <a:rect l="l" t="t" r="r" b="b"/>
              <a:pathLst>
                <a:path w="1473835" h="476885">
                  <a:moveTo>
                    <a:pt x="0" y="238199"/>
                  </a:moveTo>
                  <a:lnTo>
                    <a:pt x="3372" y="215259"/>
                  </a:lnTo>
                  <a:lnTo>
                    <a:pt x="13285" y="192936"/>
                  </a:lnTo>
                  <a:lnTo>
                    <a:pt x="51495" y="150539"/>
                  </a:lnTo>
                  <a:lnTo>
                    <a:pt x="112160" y="111809"/>
                  </a:lnTo>
                  <a:lnTo>
                    <a:pt x="150140" y="94067"/>
                  </a:lnTo>
                  <a:lnTo>
                    <a:pt x="192808" y="77542"/>
                  </a:lnTo>
                  <a:lnTo>
                    <a:pt x="239854" y="62333"/>
                  </a:lnTo>
                  <a:lnTo>
                    <a:pt x="290971" y="48538"/>
                  </a:lnTo>
                  <a:lnTo>
                    <a:pt x="345848" y="36260"/>
                  </a:lnTo>
                  <a:lnTo>
                    <a:pt x="404177" y="25596"/>
                  </a:lnTo>
                  <a:lnTo>
                    <a:pt x="465650" y="16648"/>
                  </a:lnTo>
                  <a:lnTo>
                    <a:pt x="529957" y="9514"/>
                  </a:lnTo>
                  <a:lnTo>
                    <a:pt x="596790" y="4295"/>
                  </a:lnTo>
                  <a:lnTo>
                    <a:pt x="665841" y="1090"/>
                  </a:lnTo>
                  <a:lnTo>
                    <a:pt x="736800" y="0"/>
                  </a:lnTo>
                  <a:lnTo>
                    <a:pt x="807758" y="1090"/>
                  </a:lnTo>
                  <a:lnTo>
                    <a:pt x="876809" y="4295"/>
                  </a:lnTo>
                  <a:lnTo>
                    <a:pt x="943642" y="9514"/>
                  </a:lnTo>
                  <a:lnTo>
                    <a:pt x="1007949" y="16648"/>
                  </a:lnTo>
                  <a:lnTo>
                    <a:pt x="1069422" y="25596"/>
                  </a:lnTo>
                  <a:lnTo>
                    <a:pt x="1127751" y="36260"/>
                  </a:lnTo>
                  <a:lnTo>
                    <a:pt x="1182628" y="48538"/>
                  </a:lnTo>
                  <a:lnTo>
                    <a:pt x="1233745" y="62333"/>
                  </a:lnTo>
                  <a:lnTo>
                    <a:pt x="1280791" y="77542"/>
                  </a:lnTo>
                  <a:lnTo>
                    <a:pt x="1323459" y="94067"/>
                  </a:lnTo>
                  <a:lnTo>
                    <a:pt x="1361440" y="111809"/>
                  </a:lnTo>
                  <a:lnTo>
                    <a:pt x="1422104" y="150539"/>
                  </a:lnTo>
                  <a:lnTo>
                    <a:pt x="1460314" y="192936"/>
                  </a:lnTo>
                  <a:lnTo>
                    <a:pt x="1473600" y="238199"/>
                  </a:lnTo>
                  <a:lnTo>
                    <a:pt x="1460314" y="283463"/>
                  </a:lnTo>
                  <a:lnTo>
                    <a:pt x="1422104" y="325860"/>
                  </a:lnTo>
                  <a:lnTo>
                    <a:pt x="1361440" y="364590"/>
                  </a:lnTo>
                  <a:lnTo>
                    <a:pt x="1323459" y="382332"/>
                  </a:lnTo>
                  <a:lnTo>
                    <a:pt x="1280791" y="398857"/>
                  </a:lnTo>
                  <a:lnTo>
                    <a:pt x="1233745" y="414066"/>
                  </a:lnTo>
                  <a:lnTo>
                    <a:pt x="1182628" y="427861"/>
                  </a:lnTo>
                  <a:lnTo>
                    <a:pt x="1127751" y="440139"/>
                  </a:lnTo>
                  <a:lnTo>
                    <a:pt x="1069422" y="450803"/>
                  </a:lnTo>
                  <a:lnTo>
                    <a:pt x="1007949" y="459751"/>
                  </a:lnTo>
                  <a:lnTo>
                    <a:pt x="943642" y="466885"/>
                  </a:lnTo>
                  <a:lnTo>
                    <a:pt x="876809" y="472104"/>
                  </a:lnTo>
                  <a:lnTo>
                    <a:pt x="807758" y="475309"/>
                  </a:lnTo>
                  <a:lnTo>
                    <a:pt x="736800" y="476399"/>
                  </a:lnTo>
                  <a:lnTo>
                    <a:pt x="665841" y="475309"/>
                  </a:lnTo>
                  <a:lnTo>
                    <a:pt x="596790" y="472104"/>
                  </a:lnTo>
                  <a:lnTo>
                    <a:pt x="529957" y="466885"/>
                  </a:lnTo>
                  <a:lnTo>
                    <a:pt x="465650" y="459751"/>
                  </a:lnTo>
                  <a:lnTo>
                    <a:pt x="404177" y="450803"/>
                  </a:lnTo>
                  <a:lnTo>
                    <a:pt x="345848" y="440139"/>
                  </a:lnTo>
                  <a:lnTo>
                    <a:pt x="290971" y="427861"/>
                  </a:lnTo>
                  <a:lnTo>
                    <a:pt x="239854" y="414066"/>
                  </a:lnTo>
                  <a:lnTo>
                    <a:pt x="192808" y="398857"/>
                  </a:lnTo>
                  <a:lnTo>
                    <a:pt x="150140" y="382332"/>
                  </a:lnTo>
                  <a:lnTo>
                    <a:pt x="112160" y="364590"/>
                  </a:lnTo>
                  <a:lnTo>
                    <a:pt x="51495" y="325860"/>
                  </a:lnTo>
                  <a:lnTo>
                    <a:pt x="13285" y="283463"/>
                  </a:lnTo>
                  <a:lnTo>
                    <a:pt x="3372" y="261140"/>
                  </a:lnTo>
                  <a:lnTo>
                    <a:pt x="0" y="238199"/>
                  </a:lnTo>
                  <a:close/>
                </a:path>
              </a:pathLst>
            </a:custGeom>
            <a:ln w="9524">
              <a:solidFill>
                <a:srgbClr val="8881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209192" y="3863843"/>
            <a:ext cx="200597" cy="2054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260" spc="-5" dirty="0">
                <a:latin typeface="Arial MT"/>
                <a:cs typeface="Arial MT"/>
              </a:rPr>
              <a:t>....</a:t>
            </a:r>
            <a:endParaRPr sz="126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934660" y="1739848"/>
            <a:ext cx="2484311" cy="1271588"/>
          </a:xfrm>
          <a:custGeom>
            <a:avLst/>
            <a:gdLst/>
            <a:ahLst/>
            <a:cxnLst/>
            <a:rect l="l" t="t" r="r" b="b"/>
            <a:pathLst>
              <a:path w="2760345" h="1412875">
                <a:moveTo>
                  <a:pt x="0" y="0"/>
                </a:moveTo>
                <a:lnTo>
                  <a:pt x="2760299" y="0"/>
                </a:lnTo>
                <a:lnTo>
                  <a:pt x="2760299" y="1412699"/>
                </a:lnTo>
                <a:lnTo>
                  <a:pt x="0" y="14126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536542" y="1745906"/>
            <a:ext cx="1280160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5" dirty="0">
                <a:latin typeface="Arial MT"/>
                <a:cs typeface="Arial MT"/>
              </a:rPr>
              <a:t>Core</a:t>
            </a:r>
            <a:r>
              <a:rPr sz="1620" spc="-77" dirty="0">
                <a:latin typeface="Arial MT"/>
                <a:cs typeface="Arial MT"/>
              </a:rPr>
              <a:t> </a:t>
            </a:r>
            <a:r>
              <a:rPr sz="1620" dirty="0">
                <a:latin typeface="Arial MT"/>
                <a:cs typeface="Arial MT"/>
              </a:rPr>
              <a:t>services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938189" y="1581789"/>
            <a:ext cx="5136642" cy="2400300"/>
            <a:chOff x="2756654" y="1757543"/>
            <a:chExt cx="5707380" cy="2667000"/>
          </a:xfrm>
        </p:grpSpPr>
        <p:sp>
          <p:nvSpPr>
            <p:cNvPr id="33" name="object 33"/>
            <p:cNvSpPr/>
            <p:nvPr/>
          </p:nvSpPr>
          <p:spPr>
            <a:xfrm>
              <a:off x="2761417" y="1762305"/>
              <a:ext cx="1069975" cy="876300"/>
            </a:xfrm>
            <a:custGeom>
              <a:avLst/>
              <a:gdLst/>
              <a:ahLst/>
              <a:cxnLst/>
              <a:rect l="l" t="t" r="r" b="b"/>
              <a:pathLst>
                <a:path w="1069975" h="876300">
                  <a:moveTo>
                    <a:pt x="0" y="0"/>
                  </a:moveTo>
                  <a:lnTo>
                    <a:pt x="50095" y="2516"/>
                  </a:lnTo>
                  <a:lnTo>
                    <a:pt x="97162" y="9851"/>
                  </a:lnTo>
                  <a:lnTo>
                    <a:pt x="141403" y="21683"/>
                  </a:lnTo>
                  <a:lnTo>
                    <a:pt x="183020" y="37692"/>
                  </a:lnTo>
                  <a:lnTo>
                    <a:pt x="222214" y="57555"/>
                  </a:lnTo>
                  <a:lnTo>
                    <a:pt x="259188" y="80952"/>
                  </a:lnTo>
                  <a:lnTo>
                    <a:pt x="294143" y="107561"/>
                  </a:lnTo>
                  <a:lnTo>
                    <a:pt x="327281" y="137062"/>
                  </a:lnTo>
                  <a:lnTo>
                    <a:pt x="358805" y="169132"/>
                  </a:lnTo>
                  <a:lnTo>
                    <a:pt x="388916" y="203452"/>
                  </a:lnTo>
                  <a:lnTo>
                    <a:pt x="417816" y="239698"/>
                  </a:lnTo>
                  <a:lnTo>
                    <a:pt x="445707" y="277551"/>
                  </a:lnTo>
                  <a:lnTo>
                    <a:pt x="472790" y="316689"/>
                  </a:lnTo>
                  <a:lnTo>
                    <a:pt x="499268" y="356790"/>
                  </a:lnTo>
                  <a:lnTo>
                    <a:pt x="525343" y="397534"/>
                  </a:lnTo>
                  <a:lnTo>
                    <a:pt x="551216" y="438599"/>
                  </a:lnTo>
                  <a:lnTo>
                    <a:pt x="580798" y="485512"/>
                  </a:lnTo>
                  <a:lnTo>
                    <a:pt x="610682" y="531946"/>
                  </a:lnTo>
                  <a:lnTo>
                    <a:pt x="641168" y="577420"/>
                  </a:lnTo>
                  <a:lnTo>
                    <a:pt x="672559" y="621456"/>
                  </a:lnTo>
                  <a:lnTo>
                    <a:pt x="705156" y="663574"/>
                  </a:lnTo>
                  <a:lnTo>
                    <a:pt x="739260" y="703294"/>
                  </a:lnTo>
                  <a:lnTo>
                    <a:pt x="775172" y="740137"/>
                  </a:lnTo>
                  <a:lnTo>
                    <a:pt x="808316" y="769638"/>
                  </a:lnTo>
                  <a:lnTo>
                    <a:pt x="843276" y="796247"/>
                  </a:lnTo>
                  <a:lnTo>
                    <a:pt x="880255" y="819644"/>
                  </a:lnTo>
                  <a:lnTo>
                    <a:pt x="919455" y="839507"/>
                  </a:lnTo>
                  <a:lnTo>
                    <a:pt x="961078" y="855516"/>
                  </a:lnTo>
                  <a:lnTo>
                    <a:pt x="1005325" y="867348"/>
                  </a:lnTo>
                  <a:lnTo>
                    <a:pt x="1052398" y="874683"/>
                  </a:lnTo>
                  <a:lnTo>
                    <a:pt x="1064631" y="875776"/>
                  </a:lnTo>
                  <a:lnTo>
                    <a:pt x="1069874" y="876143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20238" y="2627395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12"/>
                  </a:moveTo>
                  <a:lnTo>
                    <a:pt x="11053" y="11052"/>
                  </a:lnTo>
                  <a:lnTo>
                    <a:pt x="693" y="0"/>
                  </a:lnTo>
                  <a:lnTo>
                    <a:pt x="29761" y="11658"/>
                  </a:lnTo>
                  <a:lnTo>
                    <a:pt x="0" y="21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20238" y="2627395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1053" y="11052"/>
                  </a:moveTo>
                  <a:lnTo>
                    <a:pt x="0" y="21412"/>
                  </a:lnTo>
                  <a:lnTo>
                    <a:pt x="29761" y="11658"/>
                  </a:lnTo>
                  <a:lnTo>
                    <a:pt x="693" y="0"/>
                  </a:lnTo>
                  <a:lnTo>
                    <a:pt x="11053" y="1105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10625" y="2500999"/>
              <a:ext cx="720725" cy="138430"/>
            </a:xfrm>
            <a:custGeom>
              <a:avLst/>
              <a:gdLst/>
              <a:ahLst/>
              <a:cxnLst/>
              <a:rect l="l" t="t" r="r" b="b"/>
              <a:pathLst>
                <a:path w="720725" h="138430">
                  <a:moveTo>
                    <a:pt x="0" y="0"/>
                  </a:moveTo>
                  <a:lnTo>
                    <a:pt x="66384" y="1556"/>
                  </a:lnTo>
                  <a:lnTo>
                    <a:pt x="125045" y="5955"/>
                  </a:lnTo>
                  <a:lnTo>
                    <a:pt x="177086" y="12790"/>
                  </a:lnTo>
                  <a:lnTo>
                    <a:pt x="223610" y="21656"/>
                  </a:lnTo>
                  <a:lnTo>
                    <a:pt x="265721" y="32145"/>
                  </a:lnTo>
                  <a:lnTo>
                    <a:pt x="304522" y="43853"/>
                  </a:lnTo>
                  <a:lnTo>
                    <a:pt x="341118" y="56373"/>
                  </a:lnTo>
                  <a:lnTo>
                    <a:pt x="376612" y="69299"/>
                  </a:lnTo>
                  <a:lnTo>
                    <a:pt x="412108" y="82226"/>
                  </a:lnTo>
                  <a:lnTo>
                    <a:pt x="448708" y="94746"/>
                  </a:lnTo>
                  <a:lnTo>
                    <a:pt x="487517" y="106454"/>
                  </a:lnTo>
                  <a:lnTo>
                    <a:pt x="529638" y="116943"/>
                  </a:lnTo>
                  <a:lnTo>
                    <a:pt x="576173" y="125809"/>
                  </a:lnTo>
                  <a:lnTo>
                    <a:pt x="628226" y="132644"/>
                  </a:lnTo>
                  <a:lnTo>
                    <a:pt x="671551" y="136194"/>
                  </a:lnTo>
                  <a:lnTo>
                    <a:pt x="710836" y="137982"/>
                  </a:lnTo>
                  <a:lnTo>
                    <a:pt x="719065" y="138202"/>
                  </a:lnTo>
                  <a:lnTo>
                    <a:pt x="720658" y="138235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20453" y="2628404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1"/>
                  </a:moveTo>
                  <a:lnTo>
                    <a:pt x="10830" y="10830"/>
                  </a:lnTo>
                  <a:lnTo>
                    <a:pt x="238" y="0"/>
                  </a:lnTo>
                  <a:lnTo>
                    <a:pt x="29547" y="11039"/>
                  </a:lnTo>
                  <a:lnTo>
                    <a:pt x="0" y="214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20453" y="2628404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830" y="10830"/>
                  </a:moveTo>
                  <a:lnTo>
                    <a:pt x="0" y="21421"/>
                  </a:lnTo>
                  <a:lnTo>
                    <a:pt x="29547" y="11039"/>
                  </a:lnTo>
                  <a:lnTo>
                    <a:pt x="238" y="0"/>
                  </a:lnTo>
                  <a:lnTo>
                    <a:pt x="10830" y="1083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16551" y="2640455"/>
              <a:ext cx="814705" cy="476250"/>
            </a:xfrm>
            <a:custGeom>
              <a:avLst/>
              <a:gdLst/>
              <a:ahLst/>
              <a:cxnLst/>
              <a:rect l="l" t="t" r="r" b="b"/>
              <a:pathLst>
                <a:path w="814704" h="476250">
                  <a:moveTo>
                    <a:pt x="0" y="476018"/>
                  </a:moveTo>
                  <a:lnTo>
                    <a:pt x="60475" y="472560"/>
                  </a:lnTo>
                  <a:lnTo>
                    <a:pt x="115231" y="462662"/>
                  </a:lnTo>
                  <a:lnTo>
                    <a:pt x="164904" y="447041"/>
                  </a:lnTo>
                  <a:lnTo>
                    <a:pt x="210129" y="426410"/>
                  </a:lnTo>
                  <a:lnTo>
                    <a:pt x="251541" y="401487"/>
                  </a:lnTo>
                  <a:lnTo>
                    <a:pt x="289776" y="372986"/>
                  </a:lnTo>
                  <a:lnTo>
                    <a:pt x="325468" y="341624"/>
                  </a:lnTo>
                  <a:lnTo>
                    <a:pt x="359253" y="308114"/>
                  </a:lnTo>
                  <a:lnTo>
                    <a:pt x="391766" y="273174"/>
                  </a:lnTo>
                  <a:lnTo>
                    <a:pt x="423642" y="237518"/>
                  </a:lnTo>
                  <a:lnTo>
                    <a:pt x="455518" y="201863"/>
                  </a:lnTo>
                  <a:lnTo>
                    <a:pt x="488027" y="166922"/>
                  </a:lnTo>
                  <a:lnTo>
                    <a:pt x="521806" y="133413"/>
                  </a:lnTo>
                  <a:lnTo>
                    <a:pt x="557491" y="102050"/>
                  </a:lnTo>
                  <a:lnTo>
                    <a:pt x="595716" y="73550"/>
                  </a:lnTo>
                  <a:lnTo>
                    <a:pt x="648039" y="43038"/>
                  </a:lnTo>
                  <a:lnTo>
                    <a:pt x="706567" y="19514"/>
                  </a:lnTo>
                  <a:lnTo>
                    <a:pt x="755281" y="7298"/>
                  </a:lnTo>
                  <a:lnTo>
                    <a:pt x="799452" y="1145"/>
                  </a:lnTo>
                  <a:lnTo>
                    <a:pt x="813387" y="69"/>
                  </a:lnTo>
                  <a:lnTo>
                    <a:pt x="814571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20094" y="2630070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643" y="21413"/>
                  </a:moveTo>
                  <a:lnTo>
                    <a:pt x="11028" y="10384"/>
                  </a:lnTo>
                  <a:lnTo>
                    <a:pt x="0" y="0"/>
                  </a:lnTo>
                  <a:lnTo>
                    <a:pt x="29738" y="9822"/>
                  </a:lnTo>
                  <a:lnTo>
                    <a:pt x="643" y="214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20094" y="2630070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1028" y="10384"/>
                  </a:moveTo>
                  <a:lnTo>
                    <a:pt x="643" y="21413"/>
                  </a:lnTo>
                  <a:lnTo>
                    <a:pt x="29738" y="9822"/>
                  </a:lnTo>
                  <a:lnTo>
                    <a:pt x="0" y="0"/>
                  </a:lnTo>
                  <a:lnTo>
                    <a:pt x="11028" y="1038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25200" y="2641800"/>
              <a:ext cx="806450" cy="1098550"/>
            </a:xfrm>
            <a:custGeom>
              <a:avLst/>
              <a:gdLst/>
              <a:ahLst/>
              <a:cxnLst/>
              <a:rect l="l" t="t" r="r" b="b"/>
              <a:pathLst>
                <a:path w="806450" h="1098550">
                  <a:moveTo>
                    <a:pt x="0" y="1098399"/>
                  </a:moveTo>
                  <a:lnTo>
                    <a:pt x="38109" y="1095241"/>
                  </a:lnTo>
                  <a:lnTo>
                    <a:pt x="107571" y="1071190"/>
                  </a:lnTo>
                  <a:lnTo>
                    <a:pt x="169049" y="1026179"/>
                  </a:lnTo>
                  <a:lnTo>
                    <a:pt x="197178" y="996820"/>
                  </a:lnTo>
                  <a:lnTo>
                    <a:pt x="223770" y="963431"/>
                  </a:lnTo>
                  <a:lnTo>
                    <a:pt x="248981" y="926414"/>
                  </a:lnTo>
                  <a:lnTo>
                    <a:pt x="272963" y="886173"/>
                  </a:lnTo>
                  <a:lnTo>
                    <a:pt x="295870" y="843109"/>
                  </a:lnTo>
                  <a:lnTo>
                    <a:pt x="317855" y="797628"/>
                  </a:lnTo>
                  <a:lnTo>
                    <a:pt x="339071" y="750130"/>
                  </a:lnTo>
                  <a:lnTo>
                    <a:pt x="359673" y="701021"/>
                  </a:lnTo>
                  <a:lnTo>
                    <a:pt x="379814" y="650702"/>
                  </a:lnTo>
                  <a:lnTo>
                    <a:pt x="399647" y="599577"/>
                  </a:lnTo>
                  <a:lnTo>
                    <a:pt x="419325" y="548049"/>
                  </a:lnTo>
                  <a:lnTo>
                    <a:pt x="439002" y="496521"/>
                  </a:lnTo>
                  <a:lnTo>
                    <a:pt x="458833" y="445396"/>
                  </a:lnTo>
                  <a:lnTo>
                    <a:pt x="478969" y="395077"/>
                  </a:lnTo>
                  <a:lnTo>
                    <a:pt x="499566" y="345967"/>
                  </a:lnTo>
                  <a:lnTo>
                    <a:pt x="520775" y="298470"/>
                  </a:lnTo>
                  <a:lnTo>
                    <a:pt x="542752" y="252988"/>
                  </a:lnTo>
                  <a:lnTo>
                    <a:pt x="565650" y="209925"/>
                  </a:lnTo>
                  <a:lnTo>
                    <a:pt x="589622" y="169683"/>
                  </a:lnTo>
                  <a:lnTo>
                    <a:pt x="614821" y="132666"/>
                  </a:lnTo>
                  <a:lnTo>
                    <a:pt x="641403" y="99277"/>
                  </a:lnTo>
                  <a:lnTo>
                    <a:pt x="669519" y="69919"/>
                  </a:lnTo>
                  <a:lnTo>
                    <a:pt x="699323" y="44994"/>
                  </a:lnTo>
                  <a:lnTo>
                    <a:pt x="747532" y="16803"/>
                  </a:lnTo>
                  <a:lnTo>
                    <a:pt x="791247" y="2606"/>
                  </a:lnTo>
                  <a:lnTo>
                    <a:pt x="805037" y="122"/>
                  </a:lnTo>
                  <a:lnTo>
                    <a:pt x="805938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19698" y="2631870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1510" y="21369"/>
                  </a:moveTo>
                  <a:lnTo>
                    <a:pt x="11440" y="9929"/>
                  </a:lnTo>
                  <a:lnTo>
                    <a:pt x="0" y="0"/>
                  </a:lnTo>
                  <a:lnTo>
                    <a:pt x="30111" y="8610"/>
                  </a:lnTo>
                  <a:lnTo>
                    <a:pt x="1510" y="213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19698" y="2631870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11440" y="9929"/>
                  </a:moveTo>
                  <a:lnTo>
                    <a:pt x="1510" y="21369"/>
                  </a:lnTo>
                  <a:lnTo>
                    <a:pt x="30111" y="8610"/>
                  </a:lnTo>
                  <a:lnTo>
                    <a:pt x="0" y="0"/>
                  </a:lnTo>
                  <a:lnTo>
                    <a:pt x="11440" y="992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94899" y="2641719"/>
              <a:ext cx="1036955" cy="1778000"/>
            </a:xfrm>
            <a:custGeom>
              <a:avLst/>
              <a:gdLst/>
              <a:ahLst/>
              <a:cxnLst/>
              <a:rect l="l" t="t" r="r" b="b"/>
              <a:pathLst>
                <a:path w="1036954" h="1778000">
                  <a:moveTo>
                    <a:pt x="0" y="1777930"/>
                  </a:moveTo>
                  <a:lnTo>
                    <a:pt x="64102" y="1768916"/>
                  </a:lnTo>
                  <a:lnTo>
                    <a:pt x="123102" y="1742903"/>
                  </a:lnTo>
                  <a:lnTo>
                    <a:pt x="177461" y="1701437"/>
                  </a:lnTo>
                  <a:lnTo>
                    <a:pt x="227646" y="1646064"/>
                  </a:lnTo>
                  <a:lnTo>
                    <a:pt x="251317" y="1613644"/>
                  </a:lnTo>
                  <a:lnTo>
                    <a:pt x="274119" y="1578327"/>
                  </a:lnTo>
                  <a:lnTo>
                    <a:pt x="296108" y="1540306"/>
                  </a:lnTo>
                  <a:lnTo>
                    <a:pt x="317344" y="1499774"/>
                  </a:lnTo>
                  <a:lnTo>
                    <a:pt x="337884" y="1456924"/>
                  </a:lnTo>
                  <a:lnTo>
                    <a:pt x="357785" y="1411949"/>
                  </a:lnTo>
                  <a:lnTo>
                    <a:pt x="377107" y="1365042"/>
                  </a:lnTo>
                  <a:lnTo>
                    <a:pt x="395907" y="1316397"/>
                  </a:lnTo>
                  <a:lnTo>
                    <a:pt x="414242" y="1266207"/>
                  </a:lnTo>
                  <a:lnTo>
                    <a:pt x="432172" y="1214664"/>
                  </a:lnTo>
                  <a:lnTo>
                    <a:pt x="449754" y="1161962"/>
                  </a:lnTo>
                  <a:lnTo>
                    <a:pt x="467045" y="1108295"/>
                  </a:lnTo>
                  <a:lnTo>
                    <a:pt x="484105" y="1053855"/>
                  </a:lnTo>
                  <a:lnTo>
                    <a:pt x="500990" y="998835"/>
                  </a:lnTo>
                  <a:lnTo>
                    <a:pt x="517759" y="943429"/>
                  </a:lnTo>
                  <a:lnTo>
                    <a:pt x="534471" y="887830"/>
                  </a:lnTo>
                  <a:lnTo>
                    <a:pt x="549895" y="836504"/>
                  </a:lnTo>
                  <a:lnTo>
                    <a:pt x="565365" y="785329"/>
                  </a:lnTo>
                  <a:lnTo>
                    <a:pt x="580926" y="734458"/>
                  </a:lnTo>
                  <a:lnTo>
                    <a:pt x="596624" y="684043"/>
                  </a:lnTo>
                  <a:lnTo>
                    <a:pt x="612504" y="634236"/>
                  </a:lnTo>
                  <a:lnTo>
                    <a:pt x="628612" y="585188"/>
                  </a:lnTo>
                  <a:lnTo>
                    <a:pt x="644994" y="537052"/>
                  </a:lnTo>
                  <a:lnTo>
                    <a:pt x="661695" y="489980"/>
                  </a:lnTo>
                  <a:lnTo>
                    <a:pt x="678761" y="444122"/>
                  </a:lnTo>
                  <a:lnTo>
                    <a:pt x="696237" y="399633"/>
                  </a:lnTo>
                  <a:lnTo>
                    <a:pt x="714169" y="356662"/>
                  </a:lnTo>
                  <a:lnTo>
                    <a:pt x="732603" y="315363"/>
                  </a:lnTo>
                  <a:lnTo>
                    <a:pt x="751584" y="275887"/>
                  </a:lnTo>
                  <a:lnTo>
                    <a:pt x="777153" y="227543"/>
                  </a:lnTo>
                  <a:lnTo>
                    <a:pt x="803824" y="182871"/>
                  </a:lnTo>
                  <a:lnTo>
                    <a:pt x="831698" y="142205"/>
                  </a:lnTo>
                  <a:lnTo>
                    <a:pt x="860874" y="105877"/>
                  </a:lnTo>
                  <a:lnTo>
                    <a:pt x="891453" y="74223"/>
                  </a:lnTo>
                  <a:lnTo>
                    <a:pt x="931803" y="41736"/>
                  </a:lnTo>
                  <a:lnTo>
                    <a:pt x="974696" y="17723"/>
                  </a:lnTo>
                  <a:lnTo>
                    <a:pt x="1020330" y="2837"/>
                  </a:lnTo>
                  <a:lnTo>
                    <a:pt x="1032189" y="618"/>
                  </a:lnTo>
                  <a:lnTo>
                    <a:pt x="1033185" y="459"/>
                  </a:lnTo>
                  <a:lnTo>
                    <a:pt x="1034183" y="306"/>
                  </a:lnTo>
                  <a:lnTo>
                    <a:pt x="1035183" y="160"/>
                  </a:lnTo>
                  <a:lnTo>
                    <a:pt x="1036335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819805" y="2631778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1489" y="21371"/>
                  </a:moveTo>
                  <a:lnTo>
                    <a:pt x="11430" y="9941"/>
                  </a:lnTo>
                  <a:lnTo>
                    <a:pt x="0" y="0"/>
                  </a:lnTo>
                  <a:lnTo>
                    <a:pt x="30103" y="8639"/>
                  </a:lnTo>
                  <a:lnTo>
                    <a:pt x="1489" y="213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819805" y="2631778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11430" y="9941"/>
                  </a:moveTo>
                  <a:lnTo>
                    <a:pt x="1489" y="21371"/>
                  </a:lnTo>
                  <a:lnTo>
                    <a:pt x="30103" y="8639"/>
                  </a:lnTo>
                  <a:lnTo>
                    <a:pt x="0" y="0"/>
                  </a:lnTo>
                  <a:lnTo>
                    <a:pt x="11430" y="994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24143" y="2639514"/>
              <a:ext cx="375920" cy="24765"/>
            </a:xfrm>
            <a:custGeom>
              <a:avLst/>
              <a:gdLst/>
              <a:ahLst/>
              <a:cxnLst/>
              <a:rect l="l" t="t" r="r" b="b"/>
              <a:pathLst>
                <a:path w="375920" h="24764">
                  <a:moveTo>
                    <a:pt x="0" y="0"/>
                  </a:moveTo>
                  <a:lnTo>
                    <a:pt x="67764" y="1069"/>
                  </a:lnTo>
                  <a:lnTo>
                    <a:pt x="121177" y="3890"/>
                  </a:lnTo>
                  <a:lnTo>
                    <a:pt x="165025" y="7878"/>
                  </a:lnTo>
                  <a:lnTo>
                    <a:pt x="204096" y="12449"/>
                  </a:lnTo>
                  <a:lnTo>
                    <a:pt x="223336" y="14772"/>
                  </a:lnTo>
                  <a:lnTo>
                    <a:pt x="243176" y="17021"/>
                  </a:lnTo>
                  <a:lnTo>
                    <a:pt x="287049" y="21009"/>
                  </a:lnTo>
                  <a:lnTo>
                    <a:pt x="325975" y="23266"/>
                  </a:lnTo>
                  <a:lnTo>
                    <a:pt x="372304" y="24620"/>
                  </a:lnTo>
                  <a:lnTo>
                    <a:pt x="375657" y="2466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89011" y="2653385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2"/>
                  </a:moveTo>
                  <a:lnTo>
                    <a:pt x="10789" y="10790"/>
                  </a:lnTo>
                  <a:lnTo>
                    <a:pt x="156" y="0"/>
                  </a:lnTo>
                  <a:lnTo>
                    <a:pt x="29507" y="10927"/>
                  </a:lnTo>
                  <a:lnTo>
                    <a:pt x="0" y="214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89011" y="2653385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789" y="10790"/>
                  </a:moveTo>
                  <a:lnTo>
                    <a:pt x="0" y="21422"/>
                  </a:lnTo>
                  <a:lnTo>
                    <a:pt x="29507" y="10927"/>
                  </a:lnTo>
                  <a:lnTo>
                    <a:pt x="156" y="0"/>
                  </a:lnTo>
                  <a:lnTo>
                    <a:pt x="10789" y="1079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87567" y="1975661"/>
              <a:ext cx="1476425" cy="42822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32329" y="2000423"/>
              <a:ext cx="1386899" cy="338699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6786296" y="1800382"/>
            <a:ext cx="1248728" cy="248722"/>
          </a:xfrm>
          <a:prstGeom prst="rect">
            <a:avLst/>
          </a:prstGeom>
          <a:ln w="9524">
            <a:solidFill>
              <a:srgbClr val="00955B"/>
            </a:solidFill>
          </a:ln>
        </p:spPr>
        <p:txBody>
          <a:bodyPr vert="horz" wrap="square" lIns="0" tIns="26861" rIns="0" bIns="0" rtlCol="0">
            <a:spAutoFit/>
          </a:bodyPr>
          <a:lstStyle/>
          <a:p>
            <a:pPr marL="77153">
              <a:spcBef>
                <a:spcPts val="212"/>
              </a:spcBef>
            </a:pPr>
            <a:r>
              <a:rPr sz="1440" spc="-5" dirty="0">
                <a:solidFill>
                  <a:srgbClr val="FF0000"/>
                </a:solidFill>
                <a:latin typeface="Arial MT"/>
                <a:cs typeface="Arial MT"/>
              </a:rPr>
              <a:t>Applications</a:t>
            </a:r>
            <a:endParaRPr sz="144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340486" y="2018738"/>
            <a:ext cx="1126998" cy="485775"/>
            <a:chOff x="5425873" y="2243042"/>
            <a:chExt cx="1252220" cy="539750"/>
          </a:xfrm>
        </p:grpSpPr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25873" y="2243042"/>
              <a:ext cx="1252025" cy="53952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70636" y="2267804"/>
              <a:ext cx="1162499" cy="44999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470636" y="2267804"/>
              <a:ext cx="1162685" cy="450215"/>
            </a:xfrm>
            <a:custGeom>
              <a:avLst/>
              <a:gdLst/>
              <a:ahLst/>
              <a:cxnLst/>
              <a:rect l="l" t="t" r="r" b="b"/>
              <a:pathLst>
                <a:path w="1162684" h="450214">
                  <a:moveTo>
                    <a:pt x="0" y="224999"/>
                  </a:moveTo>
                  <a:lnTo>
                    <a:pt x="3910" y="198760"/>
                  </a:lnTo>
                  <a:lnTo>
                    <a:pt x="15351" y="173409"/>
                  </a:lnTo>
                  <a:lnTo>
                    <a:pt x="59078" y="126050"/>
                  </a:lnTo>
                  <a:lnTo>
                    <a:pt x="90493" y="104380"/>
                  </a:lnTo>
                  <a:lnTo>
                    <a:pt x="127694" y="84274"/>
                  </a:lnTo>
                  <a:lnTo>
                    <a:pt x="170244" y="65900"/>
                  </a:lnTo>
                  <a:lnTo>
                    <a:pt x="217707" y="49429"/>
                  </a:lnTo>
                  <a:lnTo>
                    <a:pt x="269648" y="35029"/>
                  </a:lnTo>
                  <a:lnTo>
                    <a:pt x="325630" y="22869"/>
                  </a:lnTo>
                  <a:lnTo>
                    <a:pt x="385218" y="13117"/>
                  </a:lnTo>
                  <a:lnTo>
                    <a:pt x="447974" y="5942"/>
                  </a:lnTo>
                  <a:lnTo>
                    <a:pt x="513463" y="1513"/>
                  </a:lnTo>
                  <a:lnTo>
                    <a:pt x="581249" y="0"/>
                  </a:lnTo>
                  <a:lnTo>
                    <a:pt x="649036" y="1513"/>
                  </a:lnTo>
                  <a:lnTo>
                    <a:pt x="714525" y="5942"/>
                  </a:lnTo>
                  <a:lnTo>
                    <a:pt x="777281" y="13117"/>
                  </a:lnTo>
                  <a:lnTo>
                    <a:pt x="836869" y="22869"/>
                  </a:lnTo>
                  <a:lnTo>
                    <a:pt x="892851" y="35029"/>
                  </a:lnTo>
                  <a:lnTo>
                    <a:pt x="944792" y="49429"/>
                  </a:lnTo>
                  <a:lnTo>
                    <a:pt x="992255" y="65900"/>
                  </a:lnTo>
                  <a:lnTo>
                    <a:pt x="1034805" y="84274"/>
                  </a:lnTo>
                  <a:lnTo>
                    <a:pt x="1072006" y="104380"/>
                  </a:lnTo>
                  <a:lnTo>
                    <a:pt x="1103421" y="126050"/>
                  </a:lnTo>
                  <a:lnTo>
                    <a:pt x="1147148" y="173409"/>
                  </a:lnTo>
                  <a:lnTo>
                    <a:pt x="1162499" y="224999"/>
                  </a:lnTo>
                  <a:lnTo>
                    <a:pt x="1147148" y="276590"/>
                  </a:lnTo>
                  <a:lnTo>
                    <a:pt x="1103421" y="323949"/>
                  </a:lnTo>
                  <a:lnTo>
                    <a:pt x="1072006" y="345619"/>
                  </a:lnTo>
                  <a:lnTo>
                    <a:pt x="1034805" y="365726"/>
                  </a:lnTo>
                  <a:lnTo>
                    <a:pt x="992255" y="384099"/>
                  </a:lnTo>
                  <a:lnTo>
                    <a:pt x="944792" y="400570"/>
                  </a:lnTo>
                  <a:lnTo>
                    <a:pt x="892851" y="414970"/>
                  </a:lnTo>
                  <a:lnTo>
                    <a:pt x="836869" y="427130"/>
                  </a:lnTo>
                  <a:lnTo>
                    <a:pt x="777281" y="436882"/>
                  </a:lnTo>
                  <a:lnTo>
                    <a:pt x="714525" y="444057"/>
                  </a:lnTo>
                  <a:lnTo>
                    <a:pt x="649036" y="448486"/>
                  </a:lnTo>
                  <a:lnTo>
                    <a:pt x="581249" y="449999"/>
                  </a:lnTo>
                  <a:lnTo>
                    <a:pt x="513463" y="448486"/>
                  </a:lnTo>
                  <a:lnTo>
                    <a:pt x="447974" y="444057"/>
                  </a:lnTo>
                  <a:lnTo>
                    <a:pt x="385218" y="436882"/>
                  </a:lnTo>
                  <a:lnTo>
                    <a:pt x="325630" y="427130"/>
                  </a:lnTo>
                  <a:lnTo>
                    <a:pt x="269648" y="414970"/>
                  </a:lnTo>
                  <a:lnTo>
                    <a:pt x="217707" y="400570"/>
                  </a:lnTo>
                  <a:lnTo>
                    <a:pt x="170244" y="384099"/>
                  </a:lnTo>
                  <a:lnTo>
                    <a:pt x="127694" y="365726"/>
                  </a:lnTo>
                  <a:lnTo>
                    <a:pt x="90493" y="345619"/>
                  </a:lnTo>
                  <a:lnTo>
                    <a:pt x="59078" y="323949"/>
                  </a:lnTo>
                  <a:lnTo>
                    <a:pt x="15351" y="276590"/>
                  </a:lnTo>
                  <a:lnTo>
                    <a:pt x="3910" y="251239"/>
                  </a:lnTo>
                  <a:lnTo>
                    <a:pt x="0" y="224999"/>
                  </a:lnTo>
                  <a:close/>
                </a:path>
              </a:pathLst>
            </a:custGeom>
            <a:ln w="9524">
              <a:solidFill>
                <a:srgbClr val="FD62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619382" y="2110051"/>
            <a:ext cx="568643" cy="1500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00" spc="-5" dirty="0">
                <a:latin typeface="Arial MT"/>
                <a:cs typeface="Arial MT"/>
              </a:rPr>
              <a:t>Dat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5" dirty="0">
                <a:latin typeface="Arial MT"/>
                <a:cs typeface="Arial MT"/>
              </a:rPr>
              <a:t> Store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955730" y="1987460"/>
            <a:ext cx="1377315" cy="485775"/>
            <a:chOff x="3887255" y="2208289"/>
            <a:chExt cx="1530350" cy="539750"/>
          </a:xfrm>
        </p:grpSpPr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87255" y="2208289"/>
              <a:ext cx="1529825" cy="53952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32018" y="2233052"/>
              <a:ext cx="1440299" cy="44999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932018" y="2233052"/>
              <a:ext cx="1440815" cy="450215"/>
            </a:xfrm>
            <a:custGeom>
              <a:avLst/>
              <a:gdLst/>
              <a:ahLst/>
              <a:cxnLst/>
              <a:rect l="l" t="t" r="r" b="b"/>
              <a:pathLst>
                <a:path w="1440814" h="450214">
                  <a:moveTo>
                    <a:pt x="0" y="224999"/>
                  </a:moveTo>
                  <a:lnTo>
                    <a:pt x="3296" y="203330"/>
                  </a:lnTo>
                  <a:lnTo>
                    <a:pt x="12985" y="182244"/>
                  </a:lnTo>
                  <a:lnTo>
                    <a:pt x="50331" y="142197"/>
                  </a:lnTo>
                  <a:lnTo>
                    <a:pt x="109625" y="105613"/>
                  </a:lnTo>
                  <a:lnTo>
                    <a:pt x="146747" y="88855"/>
                  </a:lnTo>
                  <a:lnTo>
                    <a:pt x="188451" y="73245"/>
                  </a:lnTo>
                  <a:lnTo>
                    <a:pt x="234434" y="58878"/>
                  </a:lnTo>
                  <a:lnTo>
                    <a:pt x="284395" y="45849"/>
                  </a:lnTo>
                  <a:lnTo>
                    <a:pt x="338032" y="34250"/>
                  </a:lnTo>
                  <a:lnTo>
                    <a:pt x="395044" y="24178"/>
                  </a:lnTo>
                  <a:lnTo>
                    <a:pt x="455127" y="15725"/>
                  </a:lnTo>
                  <a:lnTo>
                    <a:pt x="517981" y="8987"/>
                  </a:lnTo>
                  <a:lnTo>
                    <a:pt x="583304" y="4057"/>
                  </a:lnTo>
                  <a:lnTo>
                    <a:pt x="650794" y="1029"/>
                  </a:lnTo>
                  <a:lnTo>
                    <a:pt x="720149" y="0"/>
                  </a:lnTo>
                  <a:lnTo>
                    <a:pt x="789505" y="1029"/>
                  </a:lnTo>
                  <a:lnTo>
                    <a:pt x="856995" y="4057"/>
                  </a:lnTo>
                  <a:lnTo>
                    <a:pt x="922318" y="8987"/>
                  </a:lnTo>
                  <a:lnTo>
                    <a:pt x="985172" y="15725"/>
                  </a:lnTo>
                  <a:lnTo>
                    <a:pt x="1045255" y="24178"/>
                  </a:lnTo>
                  <a:lnTo>
                    <a:pt x="1102267" y="34250"/>
                  </a:lnTo>
                  <a:lnTo>
                    <a:pt x="1155904" y="45849"/>
                  </a:lnTo>
                  <a:lnTo>
                    <a:pt x="1205865" y="58878"/>
                  </a:lnTo>
                  <a:lnTo>
                    <a:pt x="1251848" y="73245"/>
                  </a:lnTo>
                  <a:lnTo>
                    <a:pt x="1293552" y="88855"/>
                  </a:lnTo>
                  <a:lnTo>
                    <a:pt x="1330674" y="105613"/>
                  </a:lnTo>
                  <a:lnTo>
                    <a:pt x="1389968" y="142197"/>
                  </a:lnTo>
                  <a:lnTo>
                    <a:pt x="1427314" y="182244"/>
                  </a:lnTo>
                  <a:lnTo>
                    <a:pt x="1440299" y="224999"/>
                  </a:lnTo>
                  <a:lnTo>
                    <a:pt x="1427314" y="267755"/>
                  </a:lnTo>
                  <a:lnTo>
                    <a:pt x="1389968" y="307802"/>
                  </a:lnTo>
                  <a:lnTo>
                    <a:pt x="1330674" y="344386"/>
                  </a:lnTo>
                  <a:lnTo>
                    <a:pt x="1293552" y="361144"/>
                  </a:lnTo>
                  <a:lnTo>
                    <a:pt x="1251848" y="376754"/>
                  </a:lnTo>
                  <a:lnTo>
                    <a:pt x="1205865" y="391121"/>
                  </a:lnTo>
                  <a:lnTo>
                    <a:pt x="1155904" y="404150"/>
                  </a:lnTo>
                  <a:lnTo>
                    <a:pt x="1102267" y="415749"/>
                  </a:lnTo>
                  <a:lnTo>
                    <a:pt x="1045255" y="425821"/>
                  </a:lnTo>
                  <a:lnTo>
                    <a:pt x="985172" y="434274"/>
                  </a:lnTo>
                  <a:lnTo>
                    <a:pt x="922318" y="441012"/>
                  </a:lnTo>
                  <a:lnTo>
                    <a:pt x="856995" y="445942"/>
                  </a:lnTo>
                  <a:lnTo>
                    <a:pt x="789505" y="448970"/>
                  </a:lnTo>
                  <a:lnTo>
                    <a:pt x="720149" y="449999"/>
                  </a:lnTo>
                  <a:lnTo>
                    <a:pt x="650794" y="448970"/>
                  </a:lnTo>
                  <a:lnTo>
                    <a:pt x="583304" y="445942"/>
                  </a:lnTo>
                  <a:lnTo>
                    <a:pt x="517981" y="441012"/>
                  </a:lnTo>
                  <a:lnTo>
                    <a:pt x="455127" y="434274"/>
                  </a:lnTo>
                  <a:lnTo>
                    <a:pt x="395044" y="425821"/>
                  </a:lnTo>
                  <a:lnTo>
                    <a:pt x="338032" y="415749"/>
                  </a:lnTo>
                  <a:lnTo>
                    <a:pt x="284395" y="404150"/>
                  </a:lnTo>
                  <a:lnTo>
                    <a:pt x="234434" y="391121"/>
                  </a:lnTo>
                  <a:lnTo>
                    <a:pt x="188451" y="376754"/>
                  </a:lnTo>
                  <a:lnTo>
                    <a:pt x="146747" y="361144"/>
                  </a:lnTo>
                  <a:lnTo>
                    <a:pt x="109625" y="344386"/>
                  </a:lnTo>
                  <a:lnTo>
                    <a:pt x="50331" y="307802"/>
                  </a:lnTo>
                  <a:lnTo>
                    <a:pt x="12985" y="267755"/>
                  </a:lnTo>
                  <a:lnTo>
                    <a:pt x="3296" y="246668"/>
                  </a:lnTo>
                  <a:lnTo>
                    <a:pt x="0" y="224999"/>
                  </a:lnTo>
                  <a:close/>
                </a:path>
              </a:pathLst>
            </a:custGeom>
            <a:ln w="9524">
              <a:solidFill>
                <a:srgbClr val="FD62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340555" y="2078774"/>
            <a:ext cx="606933" cy="1500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00" spc="-5" dirty="0">
                <a:latin typeface="Arial MT"/>
                <a:cs typeface="Arial MT"/>
              </a:rPr>
              <a:t>Dat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5" dirty="0">
                <a:latin typeface="Arial MT"/>
                <a:cs typeface="Arial MT"/>
              </a:rPr>
              <a:t> Ingest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082257" y="2502681"/>
            <a:ext cx="1199579" cy="485775"/>
            <a:chOff x="4027841" y="2780757"/>
            <a:chExt cx="1332865" cy="539750"/>
          </a:xfrm>
        </p:grpSpPr>
        <p:pic>
          <p:nvPicPr>
            <p:cNvPr id="65" name="object 6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27841" y="2780757"/>
              <a:ext cx="1332425" cy="53952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72604" y="2805519"/>
              <a:ext cx="1242899" cy="449999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4072604" y="2805519"/>
              <a:ext cx="1243330" cy="450215"/>
            </a:xfrm>
            <a:custGeom>
              <a:avLst/>
              <a:gdLst/>
              <a:ahLst/>
              <a:cxnLst/>
              <a:rect l="l" t="t" r="r" b="b"/>
              <a:pathLst>
                <a:path w="1243329" h="450214">
                  <a:moveTo>
                    <a:pt x="0" y="224999"/>
                  </a:moveTo>
                  <a:lnTo>
                    <a:pt x="3646" y="200483"/>
                  </a:lnTo>
                  <a:lnTo>
                    <a:pt x="14333" y="176732"/>
                  </a:lnTo>
                  <a:lnTo>
                    <a:pt x="55312" y="132072"/>
                  </a:lnTo>
                  <a:lnTo>
                    <a:pt x="119903" y="92117"/>
                  </a:lnTo>
                  <a:lnTo>
                    <a:pt x="160106" y="74248"/>
                  </a:lnTo>
                  <a:lnTo>
                    <a:pt x="205074" y="57967"/>
                  </a:lnTo>
                  <a:lnTo>
                    <a:pt x="254429" y="43411"/>
                  </a:lnTo>
                  <a:lnTo>
                    <a:pt x="307792" y="30719"/>
                  </a:lnTo>
                  <a:lnTo>
                    <a:pt x="364783" y="20026"/>
                  </a:lnTo>
                  <a:lnTo>
                    <a:pt x="425023" y="11470"/>
                  </a:lnTo>
                  <a:lnTo>
                    <a:pt x="488134" y="5189"/>
                  </a:lnTo>
                  <a:lnTo>
                    <a:pt x="553736" y="1320"/>
                  </a:lnTo>
                  <a:lnTo>
                    <a:pt x="621449" y="0"/>
                  </a:lnTo>
                  <a:lnTo>
                    <a:pt x="689163" y="1320"/>
                  </a:lnTo>
                  <a:lnTo>
                    <a:pt x="754765" y="5189"/>
                  </a:lnTo>
                  <a:lnTo>
                    <a:pt x="817876" y="11470"/>
                  </a:lnTo>
                  <a:lnTo>
                    <a:pt x="878116" y="20026"/>
                  </a:lnTo>
                  <a:lnTo>
                    <a:pt x="935107" y="30719"/>
                  </a:lnTo>
                  <a:lnTo>
                    <a:pt x="988470" y="43411"/>
                  </a:lnTo>
                  <a:lnTo>
                    <a:pt x="1037825" y="57967"/>
                  </a:lnTo>
                  <a:lnTo>
                    <a:pt x="1082793" y="74248"/>
                  </a:lnTo>
                  <a:lnTo>
                    <a:pt x="1122996" y="92117"/>
                  </a:lnTo>
                  <a:lnTo>
                    <a:pt x="1158053" y="111438"/>
                  </a:lnTo>
                  <a:lnTo>
                    <a:pt x="1211218" y="153882"/>
                  </a:lnTo>
                  <a:lnTo>
                    <a:pt x="1239253" y="200483"/>
                  </a:lnTo>
                  <a:lnTo>
                    <a:pt x="1242899" y="224999"/>
                  </a:lnTo>
                  <a:lnTo>
                    <a:pt x="1228566" y="273267"/>
                  </a:lnTo>
                  <a:lnTo>
                    <a:pt x="1187587" y="317927"/>
                  </a:lnTo>
                  <a:lnTo>
                    <a:pt x="1122996" y="357882"/>
                  </a:lnTo>
                  <a:lnTo>
                    <a:pt x="1082793" y="375751"/>
                  </a:lnTo>
                  <a:lnTo>
                    <a:pt x="1037825" y="392032"/>
                  </a:lnTo>
                  <a:lnTo>
                    <a:pt x="988470" y="406588"/>
                  </a:lnTo>
                  <a:lnTo>
                    <a:pt x="935107" y="419280"/>
                  </a:lnTo>
                  <a:lnTo>
                    <a:pt x="878116" y="429973"/>
                  </a:lnTo>
                  <a:lnTo>
                    <a:pt x="817876" y="438529"/>
                  </a:lnTo>
                  <a:lnTo>
                    <a:pt x="754765" y="444810"/>
                  </a:lnTo>
                  <a:lnTo>
                    <a:pt x="689163" y="448679"/>
                  </a:lnTo>
                  <a:lnTo>
                    <a:pt x="621449" y="449999"/>
                  </a:lnTo>
                  <a:lnTo>
                    <a:pt x="553736" y="448679"/>
                  </a:lnTo>
                  <a:lnTo>
                    <a:pt x="488134" y="444810"/>
                  </a:lnTo>
                  <a:lnTo>
                    <a:pt x="425023" y="438529"/>
                  </a:lnTo>
                  <a:lnTo>
                    <a:pt x="364783" y="429973"/>
                  </a:lnTo>
                  <a:lnTo>
                    <a:pt x="307792" y="419280"/>
                  </a:lnTo>
                  <a:lnTo>
                    <a:pt x="254429" y="406588"/>
                  </a:lnTo>
                  <a:lnTo>
                    <a:pt x="205074" y="392032"/>
                  </a:lnTo>
                  <a:lnTo>
                    <a:pt x="160106" y="375751"/>
                  </a:lnTo>
                  <a:lnTo>
                    <a:pt x="119903" y="357882"/>
                  </a:lnTo>
                  <a:lnTo>
                    <a:pt x="84846" y="338561"/>
                  </a:lnTo>
                  <a:lnTo>
                    <a:pt x="31681" y="296117"/>
                  </a:lnTo>
                  <a:lnTo>
                    <a:pt x="3646" y="249516"/>
                  </a:lnTo>
                  <a:lnTo>
                    <a:pt x="0" y="224999"/>
                  </a:lnTo>
                  <a:close/>
                </a:path>
              </a:pathLst>
            </a:custGeom>
            <a:ln w="9524">
              <a:solidFill>
                <a:srgbClr val="FD62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387820" y="2593995"/>
            <a:ext cx="587502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 indent="161735">
              <a:spcBef>
                <a:spcPts val="90"/>
              </a:spcBef>
            </a:pPr>
            <a:r>
              <a:rPr sz="900" spc="-5" dirty="0">
                <a:latin typeface="Arial MT"/>
                <a:cs typeface="Arial MT"/>
              </a:rPr>
              <a:t>Data 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5" dirty="0">
                <a:latin typeface="Arial MT"/>
                <a:cs typeface="Arial MT"/>
              </a:rPr>
              <a:t>Processing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162913" y="2484332"/>
            <a:ext cx="1093280" cy="485775"/>
            <a:chOff x="5228570" y="2760369"/>
            <a:chExt cx="1214755" cy="539750"/>
          </a:xfrm>
        </p:grpSpPr>
        <p:pic>
          <p:nvPicPr>
            <p:cNvPr id="70" name="object 7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28570" y="2760369"/>
              <a:ext cx="1214525" cy="539525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73332" y="2785131"/>
              <a:ext cx="1124999" cy="449999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273332" y="2785131"/>
              <a:ext cx="1125220" cy="450215"/>
            </a:xfrm>
            <a:custGeom>
              <a:avLst/>
              <a:gdLst/>
              <a:ahLst/>
              <a:cxnLst/>
              <a:rect l="l" t="t" r="r" b="b"/>
              <a:pathLst>
                <a:path w="1125220" h="450214">
                  <a:moveTo>
                    <a:pt x="0" y="224999"/>
                  </a:moveTo>
                  <a:lnTo>
                    <a:pt x="3784" y="198760"/>
                  </a:lnTo>
                  <a:lnTo>
                    <a:pt x="14856" y="173409"/>
                  </a:lnTo>
                  <a:lnTo>
                    <a:pt x="57173" y="126050"/>
                  </a:lnTo>
                  <a:lnTo>
                    <a:pt x="123574" y="84274"/>
                  </a:lnTo>
                  <a:lnTo>
                    <a:pt x="164752" y="65900"/>
                  </a:lnTo>
                  <a:lnTo>
                    <a:pt x="210684" y="49429"/>
                  </a:lnTo>
                  <a:lnTo>
                    <a:pt x="260950" y="35029"/>
                  </a:lnTo>
                  <a:lnTo>
                    <a:pt x="315126" y="22869"/>
                  </a:lnTo>
                  <a:lnTo>
                    <a:pt x="372791" y="13117"/>
                  </a:lnTo>
                  <a:lnTo>
                    <a:pt x="433523" y="5942"/>
                  </a:lnTo>
                  <a:lnTo>
                    <a:pt x="496900" y="1513"/>
                  </a:lnTo>
                  <a:lnTo>
                    <a:pt x="562499" y="0"/>
                  </a:lnTo>
                  <a:lnTo>
                    <a:pt x="628099" y="1513"/>
                  </a:lnTo>
                  <a:lnTo>
                    <a:pt x="691476" y="5942"/>
                  </a:lnTo>
                  <a:lnTo>
                    <a:pt x="752208" y="13117"/>
                  </a:lnTo>
                  <a:lnTo>
                    <a:pt x="809873" y="22869"/>
                  </a:lnTo>
                  <a:lnTo>
                    <a:pt x="864049" y="35029"/>
                  </a:lnTo>
                  <a:lnTo>
                    <a:pt x="914315" y="49429"/>
                  </a:lnTo>
                  <a:lnTo>
                    <a:pt x="960247" y="65900"/>
                  </a:lnTo>
                  <a:lnTo>
                    <a:pt x="1001425" y="84274"/>
                  </a:lnTo>
                  <a:lnTo>
                    <a:pt x="1037425" y="104380"/>
                  </a:lnTo>
                  <a:lnTo>
                    <a:pt x="1092207" y="149116"/>
                  </a:lnTo>
                  <a:lnTo>
                    <a:pt x="1121215" y="198760"/>
                  </a:lnTo>
                  <a:lnTo>
                    <a:pt x="1124999" y="224999"/>
                  </a:lnTo>
                  <a:lnTo>
                    <a:pt x="1110143" y="276590"/>
                  </a:lnTo>
                  <a:lnTo>
                    <a:pt x="1067826" y="323949"/>
                  </a:lnTo>
                  <a:lnTo>
                    <a:pt x="1001425" y="365725"/>
                  </a:lnTo>
                  <a:lnTo>
                    <a:pt x="960247" y="384098"/>
                  </a:lnTo>
                  <a:lnTo>
                    <a:pt x="914315" y="400570"/>
                  </a:lnTo>
                  <a:lnTo>
                    <a:pt x="864049" y="414970"/>
                  </a:lnTo>
                  <a:lnTo>
                    <a:pt x="809873" y="427130"/>
                  </a:lnTo>
                  <a:lnTo>
                    <a:pt x="752208" y="436882"/>
                  </a:lnTo>
                  <a:lnTo>
                    <a:pt x="691476" y="444057"/>
                  </a:lnTo>
                  <a:lnTo>
                    <a:pt x="628099" y="448486"/>
                  </a:lnTo>
                  <a:lnTo>
                    <a:pt x="562499" y="449999"/>
                  </a:lnTo>
                  <a:lnTo>
                    <a:pt x="496900" y="448486"/>
                  </a:lnTo>
                  <a:lnTo>
                    <a:pt x="433523" y="444057"/>
                  </a:lnTo>
                  <a:lnTo>
                    <a:pt x="372791" y="436882"/>
                  </a:lnTo>
                  <a:lnTo>
                    <a:pt x="315126" y="427130"/>
                  </a:lnTo>
                  <a:lnTo>
                    <a:pt x="260950" y="414970"/>
                  </a:lnTo>
                  <a:lnTo>
                    <a:pt x="210684" y="400570"/>
                  </a:lnTo>
                  <a:lnTo>
                    <a:pt x="164752" y="384098"/>
                  </a:lnTo>
                  <a:lnTo>
                    <a:pt x="123574" y="365725"/>
                  </a:lnTo>
                  <a:lnTo>
                    <a:pt x="87574" y="345619"/>
                  </a:lnTo>
                  <a:lnTo>
                    <a:pt x="32792" y="300883"/>
                  </a:lnTo>
                  <a:lnTo>
                    <a:pt x="3784" y="251239"/>
                  </a:lnTo>
                  <a:lnTo>
                    <a:pt x="0" y="224999"/>
                  </a:lnTo>
                  <a:close/>
                </a:path>
              </a:pathLst>
            </a:custGeom>
            <a:ln w="9524">
              <a:solidFill>
                <a:srgbClr val="FD62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5542453" y="2575646"/>
            <a:ext cx="333756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 indent="34862">
              <a:spcBef>
                <a:spcPts val="90"/>
              </a:spcBef>
            </a:pPr>
            <a:r>
              <a:rPr sz="900" spc="-5" dirty="0">
                <a:latin typeface="Arial MT"/>
                <a:cs typeface="Arial MT"/>
              </a:rPr>
              <a:t>Data </a:t>
            </a:r>
            <a:r>
              <a:rPr sz="900" spc="-238" dirty="0">
                <a:latin typeface="Arial MT"/>
                <a:cs typeface="Arial MT"/>
              </a:rPr>
              <a:t> </a:t>
            </a:r>
            <a:r>
              <a:rPr sz="900" spc="-5" dirty="0">
                <a:latin typeface="Arial MT"/>
                <a:cs typeface="Arial MT"/>
              </a:rPr>
              <a:t>Query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4805811" y="2262677"/>
            <a:ext cx="490919" cy="400050"/>
            <a:chOff x="4831790" y="2514085"/>
            <a:chExt cx="545465" cy="444500"/>
          </a:xfrm>
        </p:grpSpPr>
        <p:pic>
          <p:nvPicPr>
            <p:cNvPr id="75" name="object 7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31790" y="2514085"/>
              <a:ext cx="544925" cy="44442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76553" y="2538847"/>
              <a:ext cx="455399" cy="354899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876553" y="2538847"/>
              <a:ext cx="455930" cy="354965"/>
            </a:xfrm>
            <a:custGeom>
              <a:avLst/>
              <a:gdLst/>
              <a:ahLst/>
              <a:cxnLst/>
              <a:rect l="l" t="t" r="r" b="b"/>
              <a:pathLst>
                <a:path w="455929" h="354964">
                  <a:moveTo>
                    <a:pt x="0" y="177449"/>
                  </a:moveTo>
                  <a:lnTo>
                    <a:pt x="6013" y="136762"/>
                  </a:lnTo>
                  <a:lnTo>
                    <a:pt x="23143" y="99412"/>
                  </a:lnTo>
                  <a:lnTo>
                    <a:pt x="50023" y="66464"/>
                  </a:lnTo>
                  <a:lnTo>
                    <a:pt x="85285" y="38983"/>
                  </a:lnTo>
                  <a:lnTo>
                    <a:pt x="127563" y="18036"/>
                  </a:lnTo>
                  <a:lnTo>
                    <a:pt x="175490" y="4686"/>
                  </a:lnTo>
                  <a:lnTo>
                    <a:pt x="227699" y="0"/>
                  </a:lnTo>
                  <a:lnTo>
                    <a:pt x="279909" y="4686"/>
                  </a:lnTo>
                  <a:lnTo>
                    <a:pt x="327836" y="18036"/>
                  </a:lnTo>
                  <a:lnTo>
                    <a:pt x="370114" y="38983"/>
                  </a:lnTo>
                  <a:lnTo>
                    <a:pt x="405376" y="66464"/>
                  </a:lnTo>
                  <a:lnTo>
                    <a:pt x="432256" y="99412"/>
                  </a:lnTo>
                  <a:lnTo>
                    <a:pt x="449386" y="136762"/>
                  </a:lnTo>
                  <a:lnTo>
                    <a:pt x="455399" y="177449"/>
                  </a:lnTo>
                  <a:lnTo>
                    <a:pt x="449386" y="218137"/>
                  </a:lnTo>
                  <a:lnTo>
                    <a:pt x="432256" y="255488"/>
                  </a:lnTo>
                  <a:lnTo>
                    <a:pt x="405376" y="288435"/>
                  </a:lnTo>
                  <a:lnTo>
                    <a:pt x="370114" y="315916"/>
                  </a:lnTo>
                  <a:lnTo>
                    <a:pt x="327836" y="336863"/>
                  </a:lnTo>
                  <a:lnTo>
                    <a:pt x="279909" y="350213"/>
                  </a:lnTo>
                  <a:lnTo>
                    <a:pt x="227699" y="354899"/>
                  </a:lnTo>
                  <a:lnTo>
                    <a:pt x="175490" y="350213"/>
                  </a:lnTo>
                  <a:lnTo>
                    <a:pt x="127563" y="336863"/>
                  </a:lnTo>
                  <a:lnTo>
                    <a:pt x="85285" y="315916"/>
                  </a:lnTo>
                  <a:lnTo>
                    <a:pt x="50023" y="288435"/>
                  </a:lnTo>
                  <a:lnTo>
                    <a:pt x="23143" y="255488"/>
                  </a:lnTo>
                  <a:lnTo>
                    <a:pt x="6013" y="218137"/>
                  </a:lnTo>
                  <a:lnTo>
                    <a:pt x="0" y="177449"/>
                  </a:lnTo>
                  <a:close/>
                </a:path>
              </a:pathLst>
            </a:custGeom>
            <a:ln w="9524">
              <a:solidFill>
                <a:srgbClr val="FD62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4991982" y="2341455"/>
            <a:ext cx="118301" cy="1500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00" spc="-5" dirty="0">
                <a:latin typeface="Arial MT"/>
                <a:cs typeface="Arial MT"/>
              </a:rPr>
              <a:t>...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3676614" y="1433338"/>
            <a:ext cx="2996374" cy="2763203"/>
            <a:chOff x="3577127" y="1592597"/>
            <a:chExt cx="3329304" cy="3070225"/>
          </a:xfrm>
        </p:grpSpPr>
        <p:sp>
          <p:nvSpPr>
            <p:cNvPr id="80" name="object 80"/>
            <p:cNvSpPr/>
            <p:nvPr/>
          </p:nvSpPr>
          <p:spPr>
            <a:xfrm>
              <a:off x="3581889" y="1597359"/>
              <a:ext cx="3319779" cy="3060700"/>
            </a:xfrm>
            <a:custGeom>
              <a:avLst/>
              <a:gdLst/>
              <a:ahLst/>
              <a:cxnLst/>
              <a:rect l="l" t="t" r="r" b="b"/>
              <a:pathLst>
                <a:path w="3319779" h="3060700">
                  <a:moveTo>
                    <a:pt x="0" y="0"/>
                  </a:moveTo>
                  <a:lnTo>
                    <a:pt x="44999" y="3060299"/>
                  </a:lnTo>
                </a:path>
                <a:path w="3319779" h="3060700">
                  <a:moveTo>
                    <a:pt x="3274187" y="0"/>
                  </a:moveTo>
                  <a:lnTo>
                    <a:pt x="3319187" y="3060299"/>
                  </a:lnTo>
                </a:path>
                <a:path w="3319779" h="3060700">
                  <a:moveTo>
                    <a:pt x="3319192" y="1907457"/>
                  </a:moveTo>
                  <a:lnTo>
                    <a:pt x="44992" y="1952457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39671" y="3507808"/>
              <a:ext cx="2849825" cy="82782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984433" y="3532570"/>
              <a:ext cx="2760300" cy="738299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3984433" y="3532570"/>
              <a:ext cx="2760345" cy="738505"/>
            </a:xfrm>
            <a:custGeom>
              <a:avLst/>
              <a:gdLst/>
              <a:ahLst/>
              <a:cxnLst/>
              <a:rect l="l" t="t" r="r" b="b"/>
              <a:pathLst>
                <a:path w="2760345" h="738504">
                  <a:moveTo>
                    <a:pt x="0" y="369149"/>
                  </a:moveTo>
                  <a:lnTo>
                    <a:pt x="1795" y="350153"/>
                  </a:lnTo>
                  <a:lnTo>
                    <a:pt x="7125" y="331406"/>
                  </a:lnTo>
                  <a:lnTo>
                    <a:pt x="28039" y="294753"/>
                  </a:lnTo>
                  <a:lnTo>
                    <a:pt x="62048" y="259376"/>
                  </a:lnTo>
                  <a:lnTo>
                    <a:pt x="108458" y="225460"/>
                  </a:lnTo>
                  <a:lnTo>
                    <a:pt x="166576" y="193191"/>
                  </a:lnTo>
                  <a:lnTo>
                    <a:pt x="235707" y="162754"/>
                  </a:lnTo>
                  <a:lnTo>
                    <a:pt x="274186" y="148281"/>
                  </a:lnTo>
                  <a:lnTo>
                    <a:pt x="315159" y="134336"/>
                  </a:lnTo>
                  <a:lnTo>
                    <a:pt x="358537" y="120941"/>
                  </a:lnTo>
                  <a:lnTo>
                    <a:pt x="404236" y="108121"/>
                  </a:lnTo>
                  <a:lnTo>
                    <a:pt x="452168" y="95898"/>
                  </a:lnTo>
                  <a:lnTo>
                    <a:pt x="502246" y="84295"/>
                  </a:lnTo>
                  <a:lnTo>
                    <a:pt x="554384" y="73337"/>
                  </a:lnTo>
                  <a:lnTo>
                    <a:pt x="608494" y="63044"/>
                  </a:lnTo>
                  <a:lnTo>
                    <a:pt x="664491" y="53443"/>
                  </a:lnTo>
                  <a:lnTo>
                    <a:pt x="722288" y="44554"/>
                  </a:lnTo>
                  <a:lnTo>
                    <a:pt x="781797" y="36402"/>
                  </a:lnTo>
                  <a:lnTo>
                    <a:pt x="842933" y="29009"/>
                  </a:lnTo>
                  <a:lnTo>
                    <a:pt x="905608" y="22399"/>
                  </a:lnTo>
                  <a:lnTo>
                    <a:pt x="969735" y="16596"/>
                  </a:lnTo>
                  <a:lnTo>
                    <a:pt x="1035228" y="11621"/>
                  </a:lnTo>
                  <a:lnTo>
                    <a:pt x="1102001" y="7499"/>
                  </a:lnTo>
                  <a:lnTo>
                    <a:pt x="1169966" y="4253"/>
                  </a:lnTo>
                  <a:lnTo>
                    <a:pt x="1239037" y="1905"/>
                  </a:lnTo>
                  <a:lnTo>
                    <a:pt x="1309127" y="480"/>
                  </a:lnTo>
                  <a:lnTo>
                    <a:pt x="1380149" y="0"/>
                  </a:lnTo>
                  <a:lnTo>
                    <a:pt x="1451172" y="480"/>
                  </a:lnTo>
                  <a:lnTo>
                    <a:pt x="1521262" y="1905"/>
                  </a:lnTo>
                  <a:lnTo>
                    <a:pt x="1590333" y="4253"/>
                  </a:lnTo>
                  <a:lnTo>
                    <a:pt x="1658298" y="7499"/>
                  </a:lnTo>
                  <a:lnTo>
                    <a:pt x="1725071" y="11621"/>
                  </a:lnTo>
                  <a:lnTo>
                    <a:pt x="1790564" y="16596"/>
                  </a:lnTo>
                  <a:lnTo>
                    <a:pt x="1854691" y="22399"/>
                  </a:lnTo>
                  <a:lnTo>
                    <a:pt x="1917366" y="29009"/>
                  </a:lnTo>
                  <a:lnTo>
                    <a:pt x="1978502" y="36402"/>
                  </a:lnTo>
                  <a:lnTo>
                    <a:pt x="2038011" y="44554"/>
                  </a:lnTo>
                  <a:lnTo>
                    <a:pt x="2095808" y="53443"/>
                  </a:lnTo>
                  <a:lnTo>
                    <a:pt x="2151805" y="63044"/>
                  </a:lnTo>
                  <a:lnTo>
                    <a:pt x="2205916" y="73337"/>
                  </a:lnTo>
                  <a:lnTo>
                    <a:pt x="2258053" y="84295"/>
                  </a:lnTo>
                  <a:lnTo>
                    <a:pt x="2308131" y="95898"/>
                  </a:lnTo>
                  <a:lnTo>
                    <a:pt x="2356063" y="108121"/>
                  </a:lnTo>
                  <a:lnTo>
                    <a:pt x="2401762" y="120941"/>
                  </a:lnTo>
                  <a:lnTo>
                    <a:pt x="2445141" y="134336"/>
                  </a:lnTo>
                  <a:lnTo>
                    <a:pt x="2486113" y="148281"/>
                  </a:lnTo>
                  <a:lnTo>
                    <a:pt x="2524592" y="162754"/>
                  </a:lnTo>
                  <a:lnTo>
                    <a:pt x="2560491" y="177732"/>
                  </a:lnTo>
                  <a:lnTo>
                    <a:pt x="2624202" y="209108"/>
                  </a:lnTo>
                  <a:lnTo>
                    <a:pt x="2676553" y="242223"/>
                  </a:lnTo>
                  <a:lnTo>
                    <a:pt x="2716849" y="276893"/>
                  </a:lnTo>
                  <a:lnTo>
                    <a:pt x="2744398" y="312932"/>
                  </a:lnTo>
                  <a:lnTo>
                    <a:pt x="2758504" y="350153"/>
                  </a:lnTo>
                  <a:lnTo>
                    <a:pt x="2760300" y="369149"/>
                  </a:lnTo>
                  <a:lnTo>
                    <a:pt x="2753174" y="406893"/>
                  </a:lnTo>
                  <a:lnTo>
                    <a:pt x="2732260" y="443546"/>
                  </a:lnTo>
                  <a:lnTo>
                    <a:pt x="2698251" y="478923"/>
                  </a:lnTo>
                  <a:lnTo>
                    <a:pt x="2651841" y="512839"/>
                  </a:lnTo>
                  <a:lnTo>
                    <a:pt x="2593723" y="545108"/>
                  </a:lnTo>
                  <a:lnTo>
                    <a:pt x="2524592" y="575545"/>
                  </a:lnTo>
                  <a:lnTo>
                    <a:pt x="2486113" y="590018"/>
                  </a:lnTo>
                  <a:lnTo>
                    <a:pt x="2445141" y="603963"/>
                  </a:lnTo>
                  <a:lnTo>
                    <a:pt x="2401762" y="617358"/>
                  </a:lnTo>
                  <a:lnTo>
                    <a:pt x="2356063" y="630178"/>
                  </a:lnTo>
                  <a:lnTo>
                    <a:pt x="2308131" y="642401"/>
                  </a:lnTo>
                  <a:lnTo>
                    <a:pt x="2258053" y="654004"/>
                  </a:lnTo>
                  <a:lnTo>
                    <a:pt x="2205916" y="664962"/>
                  </a:lnTo>
                  <a:lnTo>
                    <a:pt x="2151805" y="675254"/>
                  </a:lnTo>
                  <a:lnTo>
                    <a:pt x="2095808" y="684856"/>
                  </a:lnTo>
                  <a:lnTo>
                    <a:pt x="2038011" y="693745"/>
                  </a:lnTo>
                  <a:lnTo>
                    <a:pt x="1978502" y="701897"/>
                  </a:lnTo>
                  <a:lnTo>
                    <a:pt x="1917366" y="709290"/>
                  </a:lnTo>
                  <a:lnTo>
                    <a:pt x="1854691" y="715900"/>
                  </a:lnTo>
                  <a:lnTo>
                    <a:pt x="1790564" y="721703"/>
                  </a:lnTo>
                  <a:lnTo>
                    <a:pt x="1725071" y="726678"/>
                  </a:lnTo>
                  <a:lnTo>
                    <a:pt x="1658298" y="730800"/>
                  </a:lnTo>
                  <a:lnTo>
                    <a:pt x="1590333" y="734046"/>
                  </a:lnTo>
                  <a:lnTo>
                    <a:pt x="1521262" y="736394"/>
                  </a:lnTo>
                  <a:lnTo>
                    <a:pt x="1451172" y="737819"/>
                  </a:lnTo>
                  <a:lnTo>
                    <a:pt x="1380149" y="738299"/>
                  </a:lnTo>
                  <a:lnTo>
                    <a:pt x="1309127" y="737819"/>
                  </a:lnTo>
                  <a:lnTo>
                    <a:pt x="1239037" y="736394"/>
                  </a:lnTo>
                  <a:lnTo>
                    <a:pt x="1169966" y="734046"/>
                  </a:lnTo>
                  <a:lnTo>
                    <a:pt x="1102001" y="730800"/>
                  </a:lnTo>
                  <a:lnTo>
                    <a:pt x="1035228" y="726678"/>
                  </a:lnTo>
                  <a:lnTo>
                    <a:pt x="969735" y="721703"/>
                  </a:lnTo>
                  <a:lnTo>
                    <a:pt x="905608" y="715900"/>
                  </a:lnTo>
                  <a:lnTo>
                    <a:pt x="842933" y="709290"/>
                  </a:lnTo>
                  <a:lnTo>
                    <a:pt x="781797" y="701897"/>
                  </a:lnTo>
                  <a:lnTo>
                    <a:pt x="722288" y="693745"/>
                  </a:lnTo>
                  <a:lnTo>
                    <a:pt x="664491" y="684856"/>
                  </a:lnTo>
                  <a:lnTo>
                    <a:pt x="608494" y="675254"/>
                  </a:lnTo>
                  <a:lnTo>
                    <a:pt x="554384" y="664962"/>
                  </a:lnTo>
                  <a:lnTo>
                    <a:pt x="502246" y="654004"/>
                  </a:lnTo>
                  <a:lnTo>
                    <a:pt x="452168" y="642401"/>
                  </a:lnTo>
                  <a:lnTo>
                    <a:pt x="404236" y="630178"/>
                  </a:lnTo>
                  <a:lnTo>
                    <a:pt x="358537" y="617358"/>
                  </a:lnTo>
                  <a:lnTo>
                    <a:pt x="315159" y="603963"/>
                  </a:lnTo>
                  <a:lnTo>
                    <a:pt x="274186" y="590018"/>
                  </a:lnTo>
                  <a:lnTo>
                    <a:pt x="235707" y="575545"/>
                  </a:lnTo>
                  <a:lnTo>
                    <a:pt x="199808" y="560567"/>
                  </a:lnTo>
                  <a:lnTo>
                    <a:pt x="136097" y="529191"/>
                  </a:lnTo>
                  <a:lnTo>
                    <a:pt x="83747" y="496076"/>
                  </a:lnTo>
                  <a:lnTo>
                    <a:pt x="43450" y="461406"/>
                  </a:lnTo>
                  <a:lnTo>
                    <a:pt x="15902" y="425367"/>
                  </a:lnTo>
                  <a:lnTo>
                    <a:pt x="1795" y="388146"/>
                  </a:lnTo>
                  <a:lnTo>
                    <a:pt x="0" y="369149"/>
                  </a:lnTo>
                  <a:close/>
                </a:path>
              </a:pathLst>
            </a:custGeom>
            <a:ln w="9524">
              <a:solidFill>
                <a:srgbClr val="FD62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594291" y="860083"/>
            <a:ext cx="1628203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440" b="1" spc="-5" dirty="0">
                <a:latin typeface="Arial"/>
                <a:cs typeface="Arial"/>
              </a:rPr>
              <a:t>Data</a:t>
            </a:r>
            <a:r>
              <a:rPr sz="1440" b="1" spc="-4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sources</a:t>
            </a:r>
            <a:r>
              <a:rPr sz="1440" b="1" spc="-41" dirty="0">
                <a:latin typeface="Arial"/>
                <a:cs typeface="Arial"/>
              </a:rPr>
              <a:t> </a:t>
            </a:r>
            <a:r>
              <a:rPr sz="1440" b="1" dirty="0">
                <a:latin typeface="Arial"/>
                <a:cs typeface="Arial"/>
              </a:rPr>
              <a:t>from</a:t>
            </a:r>
            <a:endParaRPr sz="144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94292" y="1079538"/>
            <a:ext cx="1452753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440" b="1" spc="-5" dirty="0">
                <a:latin typeface="Arial"/>
                <a:cs typeface="Arial"/>
              </a:rPr>
              <a:t>different</a:t>
            </a:r>
            <a:r>
              <a:rPr sz="1440" b="1" spc="-72" dirty="0">
                <a:latin typeface="Arial"/>
                <a:cs typeface="Arial"/>
              </a:rPr>
              <a:t> </a:t>
            </a:r>
            <a:r>
              <a:rPr sz="1440" b="1" dirty="0">
                <a:latin typeface="Arial"/>
                <a:cs typeface="Arial"/>
              </a:rPr>
              <a:t>tenants</a:t>
            </a:r>
            <a:endParaRPr sz="144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157442" y="1150793"/>
            <a:ext cx="2027111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890" marR="4572" indent="-248031">
              <a:spcBef>
                <a:spcPts val="90"/>
              </a:spcBef>
            </a:pP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core</a:t>
            </a:r>
            <a:r>
              <a:rPr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part</a:t>
            </a:r>
            <a:r>
              <a:rPr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Big </a:t>
            </a:r>
            <a:r>
              <a:rPr spc="-486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Platforms</a:t>
            </a:r>
            <a:endParaRPr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910158" y="1056289"/>
            <a:ext cx="1089851" cy="454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440" b="1" spc="-5" dirty="0">
                <a:latin typeface="Arial"/>
                <a:cs typeface="Arial"/>
              </a:rPr>
              <a:t>Consuming </a:t>
            </a:r>
            <a:r>
              <a:rPr sz="1440" b="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applications</a:t>
            </a:r>
            <a:endParaRPr sz="144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036251" y="3284816"/>
            <a:ext cx="2300859" cy="78348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558927" marR="360045" indent="206883">
              <a:lnSpc>
                <a:spcPct val="102499"/>
              </a:lnSpc>
              <a:spcBef>
                <a:spcPts val="86"/>
              </a:spcBef>
            </a:pPr>
            <a:r>
              <a:rPr sz="1170" spc="9" dirty="0">
                <a:latin typeface="Arial MT"/>
                <a:cs typeface="Arial MT"/>
              </a:rPr>
              <a:t>Data </a:t>
            </a:r>
            <a:r>
              <a:rPr sz="1170" spc="5" dirty="0">
                <a:latin typeface="Arial MT"/>
                <a:cs typeface="Arial MT"/>
              </a:rPr>
              <a:t>Analytics </a:t>
            </a:r>
            <a:r>
              <a:rPr sz="1170" spc="9" dirty="0">
                <a:latin typeface="Arial MT"/>
                <a:cs typeface="Arial MT"/>
              </a:rPr>
              <a:t> </a:t>
            </a:r>
            <a:r>
              <a:rPr sz="1170" spc="5" dirty="0">
                <a:latin typeface="Arial MT"/>
                <a:cs typeface="Arial MT"/>
              </a:rPr>
              <a:t>Algorithms/Pipelines</a:t>
            </a:r>
            <a:endParaRPr sz="1170">
              <a:latin typeface="Arial MT"/>
              <a:cs typeface="Arial MT"/>
            </a:endParaRPr>
          </a:p>
          <a:p>
            <a:pPr marL="11430">
              <a:spcBef>
                <a:spcPts val="959"/>
              </a:spcBef>
            </a:pPr>
            <a:r>
              <a:rPr spc="-5" dirty="0">
                <a:latin typeface="Arial MT"/>
                <a:cs typeface="Arial MT"/>
              </a:rPr>
              <a:t>Algorithms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&amp;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Pipelines</a:t>
            </a:r>
            <a:endParaRPr>
              <a:latin typeface="Arial MT"/>
              <a:cs typeface="Arial MT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547414" y="2223345"/>
            <a:ext cx="4527423" cy="1406462"/>
            <a:chOff x="3433571" y="2470383"/>
            <a:chExt cx="5030470" cy="1562735"/>
          </a:xfrm>
        </p:grpSpPr>
        <p:sp>
          <p:nvSpPr>
            <p:cNvPr id="90" name="object 90"/>
            <p:cNvSpPr/>
            <p:nvPr/>
          </p:nvSpPr>
          <p:spPr>
            <a:xfrm>
              <a:off x="5196117" y="3273489"/>
              <a:ext cx="180340" cy="335280"/>
            </a:xfrm>
            <a:custGeom>
              <a:avLst/>
              <a:gdLst/>
              <a:ahLst/>
              <a:cxnLst/>
              <a:rect l="l" t="t" r="r" b="b"/>
              <a:pathLst>
                <a:path w="180339" h="335279">
                  <a:moveTo>
                    <a:pt x="134999" y="335099"/>
                  </a:moveTo>
                  <a:lnTo>
                    <a:pt x="44999" y="335099"/>
                  </a:lnTo>
                  <a:lnTo>
                    <a:pt x="44999" y="89999"/>
                  </a:lnTo>
                  <a:lnTo>
                    <a:pt x="0" y="89999"/>
                  </a:lnTo>
                  <a:lnTo>
                    <a:pt x="89999" y="0"/>
                  </a:lnTo>
                  <a:lnTo>
                    <a:pt x="179999" y="89999"/>
                  </a:lnTo>
                  <a:lnTo>
                    <a:pt x="134999" y="89999"/>
                  </a:lnTo>
                  <a:lnTo>
                    <a:pt x="134999" y="335099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196117" y="3273489"/>
              <a:ext cx="180340" cy="335280"/>
            </a:xfrm>
            <a:custGeom>
              <a:avLst/>
              <a:gdLst/>
              <a:ahLst/>
              <a:cxnLst/>
              <a:rect l="l" t="t" r="r" b="b"/>
              <a:pathLst>
                <a:path w="180339" h="335279">
                  <a:moveTo>
                    <a:pt x="0" y="89999"/>
                  </a:moveTo>
                  <a:lnTo>
                    <a:pt x="89999" y="0"/>
                  </a:lnTo>
                  <a:lnTo>
                    <a:pt x="179999" y="89999"/>
                  </a:lnTo>
                  <a:lnTo>
                    <a:pt x="134999" y="89999"/>
                  </a:lnTo>
                  <a:lnTo>
                    <a:pt x="134999" y="335099"/>
                  </a:lnTo>
                  <a:lnTo>
                    <a:pt x="44999" y="335099"/>
                  </a:lnTo>
                  <a:lnTo>
                    <a:pt x="44999" y="89999"/>
                  </a:lnTo>
                  <a:lnTo>
                    <a:pt x="0" y="899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825375" y="3755449"/>
              <a:ext cx="463550" cy="191135"/>
            </a:xfrm>
            <a:custGeom>
              <a:avLst/>
              <a:gdLst/>
              <a:ahLst/>
              <a:cxnLst/>
              <a:rect l="l" t="t" r="r" b="b"/>
              <a:pathLst>
                <a:path w="463550" h="191135">
                  <a:moveTo>
                    <a:pt x="367949" y="191099"/>
                  </a:moveTo>
                  <a:lnTo>
                    <a:pt x="367949" y="143324"/>
                  </a:lnTo>
                  <a:lnTo>
                    <a:pt x="0" y="143324"/>
                  </a:lnTo>
                  <a:lnTo>
                    <a:pt x="0" y="47774"/>
                  </a:lnTo>
                  <a:lnTo>
                    <a:pt x="367949" y="47774"/>
                  </a:lnTo>
                  <a:lnTo>
                    <a:pt x="367949" y="0"/>
                  </a:lnTo>
                  <a:lnTo>
                    <a:pt x="463499" y="95549"/>
                  </a:lnTo>
                  <a:lnTo>
                    <a:pt x="367949" y="191099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825375" y="3755449"/>
              <a:ext cx="463550" cy="191135"/>
            </a:xfrm>
            <a:custGeom>
              <a:avLst/>
              <a:gdLst/>
              <a:ahLst/>
              <a:cxnLst/>
              <a:rect l="l" t="t" r="r" b="b"/>
              <a:pathLst>
                <a:path w="463550" h="191135">
                  <a:moveTo>
                    <a:pt x="0" y="47774"/>
                  </a:moveTo>
                  <a:lnTo>
                    <a:pt x="367949" y="47774"/>
                  </a:lnTo>
                  <a:lnTo>
                    <a:pt x="367949" y="0"/>
                  </a:lnTo>
                  <a:lnTo>
                    <a:pt x="463499" y="95549"/>
                  </a:lnTo>
                  <a:lnTo>
                    <a:pt x="367949" y="191099"/>
                  </a:lnTo>
                  <a:lnTo>
                    <a:pt x="367949" y="143324"/>
                  </a:lnTo>
                  <a:lnTo>
                    <a:pt x="0" y="143324"/>
                  </a:lnTo>
                  <a:lnTo>
                    <a:pt x="0" y="4777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438333" y="3864960"/>
              <a:ext cx="463550" cy="163195"/>
            </a:xfrm>
            <a:custGeom>
              <a:avLst/>
              <a:gdLst/>
              <a:ahLst/>
              <a:cxnLst/>
              <a:rect l="l" t="t" r="r" b="b"/>
              <a:pathLst>
                <a:path w="463550" h="163195">
                  <a:moveTo>
                    <a:pt x="81449" y="162899"/>
                  </a:moveTo>
                  <a:lnTo>
                    <a:pt x="0" y="81449"/>
                  </a:lnTo>
                  <a:lnTo>
                    <a:pt x="81449" y="0"/>
                  </a:lnTo>
                  <a:lnTo>
                    <a:pt x="81449" y="40724"/>
                  </a:lnTo>
                  <a:lnTo>
                    <a:pt x="463499" y="40724"/>
                  </a:lnTo>
                  <a:lnTo>
                    <a:pt x="463499" y="122174"/>
                  </a:lnTo>
                  <a:lnTo>
                    <a:pt x="81449" y="122174"/>
                  </a:lnTo>
                  <a:lnTo>
                    <a:pt x="81449" y="162899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438333" y="3864960"/>
              <a:ext cx="463550" cy="163195"/>
            </a:xfrm>
            <a:custGeom>
              <a:avLst/>
              <a:gdLst/>
              <a:ahLst/>
              <a:cxnLst/>
              <a:rect l="l" t="t" r="r" b="b"/>
              <a:pathLst>
                <a:path w="463550" h="163195">
                  <a:moveTo>
                    <a:pt x="0" y="81449"/>
                  </a:moveTo>
                  <a:lnTo>
                    <a:pt x="81449" y="0"/>
                  </a:lnTo>
                  <a:lnTo>
                    <a:pt x="81449" y="40724"/>
                  </a:lnTo>
                  <a:lnTo>
                    <a:pt x="463499" y="40724"/>
                  </a:lnTo>
                  <a:lnTo>
                    <a:pt x="463499" y="122174"/>
                  </a:lnTo>
                  <a:lnTo>
                    <a:pt x="81449" y="122174"/>
                  </a:lnTo>
                  <a:lnTo>
                    <a:pt x="81449" y="162899"/>
                  </a:lnTo>
                  <a:lnTo>
                    <a:pt x="0" y="814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87567" y="2470383"/>
              <a:ext cx="1476425" cy="428225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32330" y="2495145"/>
              <a:ext cx="1386899" cy="338699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6786296" y="2245631"/>
            <a:ext cx="1248728" cy="248722"/>
          </a:xfrm>
          <a:prstGeom prst="rect">
            <a:avLst/>
          </a:prstGeom>
          <a:ln w="9524">
            <a:solidFill>
              <a:srgbClr val="00955B"/>
            </a:solidFill>
          </a:ln>
        </p:spPr>
        <p:txBody>
          <a:bodyPr vert="horz" wrap="square" lIns="0" tIns="26861" rIns="0" bIns="0" rtlCol="0">
            <a:spAutoFit/>
          </a:bodyPr>
          <a:lstStyle/>
          <a:p>
            <a:pPr marL="77153">
              <a:spcBef>
                <a:spcPts val="212"/>
              </a:spcBef>
            </a:pPr>
            <a:r>
              <a:rPr sz="1440" spc="-5" dirty="0">
                <a:solidFill>
                  <a:srgbClr val="FF0000"/>
                </a:solidFill>
                <a:latin typeface="Arial MT"/>
                <a:cs typeface="Arial MT"/>
              </a:rPr>
              <a:t>Applications</a:t>
            </a:r>
            <a:endParaRPr sz="1440">
              <a:latin typeface="Arial MT"/>
              <a:cs typeface="Arial MT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7000313" y="3129074"/>
            <a:ext cx="1604201" cy="742950"/>
          </a:xfrm>
          <a:custGeom>
            <a:avLst/>
            <a:gdLst/>
            <a:ahLst/>
            <a:cxnLst/>
            <a:rect l="l" t="t" r="r" b="b"/>
            <a:pathLst>
              <a:path w="1782445" h="825500">
                <a:moveTo>
                  <a:pt x="1781999" y="824999"/>
                </a:moveTo>
                <a:lnTo>
                  <a:pt x="0" y="824999"/>
                </a:lnTo>
                <a:lnTo>
                  <a:pt x="0" y="0"/>
                </a:lnTo>
                <a:lnTo>
                  <a:pt x="1781999" y="0"/>
                </a:lnTo>
                <a:lnTo>
                  <a:pt x="1781999" y="824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7000313" y="3129075"/>
            <a:ext cx="1604201" cy="753668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1153" marR="76581" algn="ctr">
              <a:spcBef>
                <a:spcPts val="45"/>
              </a:spcBef>
            </a:pPr>
            <a:r>
              <a:rPr sz="1620" spc="-5" dirty="0">
                <a:latin typeface="Arial MT"/>
                <a:cs typeface="Arial MT"/>
              </a:rPr>
              <a:t>Other</a:t>
            </a:r>
            <a:r>
              <a:rPr sz="1620" spc="-50" dirty="0">
                <a:latin typeface="Arial MT"/>
                <a:cs typeface="Arial MT"/>
              </a:rPr>
              <a:t> </a:t>
            </a:r>
            <a:r>
              <a:rPr sz="1620" dirty="0">
                <a:latin typeface="Arial MT"/>
                <a:cs typeface="Arial MT"/>
              </a:rPr>
              <a:t>(big</a:t>
            </a:r>
            <a:r>
              <a:rPr sz="1620" spc="-45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data) </a:t>
            </a:r>
            <a:r>
              <a:rPr sz="1620" spc="-436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Platforms </a:t>
            </a:r>
            <a:r>
              <a:rPr sz="1620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&amp;Services</a:t>
            </a:r>
            <a:endParaRPr sz="162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33818" y="1273919"/>
            <a:ext cx="3059239" cy="1330452"/>
          </a:xfrm>
          <a:custGeom>
            <a:avLst/>
            <a:gdLst/>
            <a:ahLst/>
            <a:cxnLst/>
            <a:rect l="l" t="t" r="r" b="b"/>
            <a:pathLst>
              <a:path w="3399154" h="1478280">
                <a:moveTo>
                  <a:pt x="0" y="739011"/>
                </a:moveTo>
                <a:lnTo>
                  <a:pt x="4879" y="682588"/>
                </a:lnTo>
                <a:lnTo>
                  <a:pt x="19284" y="627321"/>
                </a:lnTo>
                <a:lnTo>
                  <a:pt x="42861" y="573363"/>
                </a:lnTo>
                <a:lnTo>
                  <a:pt x="75258" y="520867"/>
                </a:lnTo>
                <a:lnTo>
                  <a:pt x="116124" y="469987"/>
                </a:lnTo>
                <a:lnTo>
                  <a:pt x="165107" y="420875"/>
                </a:lnTo>
                <a:lnTo>
                  <a:pt x="221853" y="373685"/>
                </a:lnTo>
                <a:lnTo>
                  <a:pt x="253028" y="350859"/>
                </a:lnTo>
                <a:lnTo>
                  <a:pt x="286012" y="328570"/>
                </a:lnTo>
                <a:lnTo>
                  <a:pt x="320761" y="306838"/>
                </a:lnTo>
                <a:lnTo>
                  <a:pt x="357231" y="285683"/>
                </a:lnTo>
                <a:lnTo>
                  <a:pt x="395378" y="265122"/>
                </a:lnTo>
                <a:lnTo>
                  <a:pt x="435158" y="245176"/>
                </a:lnTo>
                <a:lnTo>
                  <a:pt x="476527" y="225864"/>
                </a:lnTo>
                <a:lnTo>
                  <a:pt x="519441" y="207204"/>
                </a:lnTo>
                <a:lnTo>
                  <a:pt x="563855" y="189216"/>
                </a:lnTo>
                <a:lnTo>
                  <a:pt x="609727" y="171919"/>
                </a:lnTo>
                <a:lnTo>
                  <a:pt x="657012" y="155332"/>
                </a:lnTo>
                <a:lnTo>
                  <a:pt x="705665" y="139474"/>
                </a:lnTo>
                <a:lnTo>
                  <a:pt x="755644" y="124364"/>
                </a:lnTo>
                <a:lnTo>
                  <a:pt x="806903" y="110022"/>
                </a:lnTo>
                <a:lnTo>
                  <a:pt x="859400" y="96466"/>
                </a:lnTo>
                <a:lnTo>
                  <a:pt x="913089" y="83717"/>
                </a:lnTo>
                <a:lnTo>
                  <a:pt x="967927" y="71792"/>
                </a:lnTo>
                <a:lnTo>
                  <a:pt x="1023870" y="60711"/>
                </a:lnTo>
                <a:lnTo>
                  <a:pt x="1080873" y="50493"/>
                </a:lnTo>
                <a:lnTo>
                  <a:pt x="1138894" y="41158"/>
                </a:lnTo>
                <a:lnTo>
                  <a:pt x="1197887" y="32724"/>
                </a:lnTo>
                <a:lnTo>
                  <a:pt x="1257809" y="25210"/>
                </a:lnTo>
                <a:lnTo>
                  <a:pt x="1318616" y="18636"/>
                </a:lnTo>
                <a:lnTo>
                  <a:pt x="1380264" y="13022"/>
                </a:lnTo>
                <a:lnTo>
                  <a:pt x="1442708" y="8385"/>
                </a:lnTo>
                <a:lnTo>
                  <a:pt x="1505906" y="4745"/>
                </a:lnTo>
                <a:lnTo>
                  <a:pt x="1569812" y="2121"/>
                </a:lnTo>
                <a:lnTo>
                  <a:pt x="1634382" y="533"/>
                </a:lnTo>
                <a:lnTo>
                  <a:pt x="1699574" y="0"/>
                </a:lnTo>
                <a:lnTo>
                  <a:pt x="1764765" y="533"/>
                </a:lnTo>
                <a:lnTo>
                  <a:pt x="1829336" y="2121"/>
                </a:lnTo>
                <a:lnTo>
                  <a:pt x="1893242" y="4745"/>
                </a:lnTo>
                <a:lnTo>
                  <a:pt x="1956439" y="8385"/>
                </a:lnTo>
                <a:lnTo>
                  <a:pt x="2018884" y="13022"/>
                </a:lnTo>
                <a:lnTo>
                  <a:pt x="2080531" y="18636"/>
                </a:lnTo>
                <a:lnTo>
                  <a:pt x="2141338" y="25210"/>
                </a:lnTo>
                <a:lnTo>
                  <a:pt x="2201260" y="32724"/>
                </a:lnTo>
                <a:lnTo>
                  <a:pt x="2260254" y="41158"/>
                </a:lnTo>
                <a:lnTo>
                  <a:pt x="2318274" y="50493"/>
                </a:lnTo>
                <a:lnTo>
                  <a:pt x="2375278" y="60711"/>
                </a:lnTo>
                <a:lnTo>
                  <a:pt x="2431221" y="71792"/>
                </a:lnTo>
                <a:lnTo>
                  <a:pt x="2486059" y="83717"/>
                </a:lnTo>
                <a:lnTo>
                  <a:pt x="2539748" y="96466"/>
                </a:lnTo>
                <a:lnTo>
                  <a:pt x="2592244" y="110022"/>
                </a:lnTo>
                <a:lnTo>
                  <a:pt x="2643504" y="124364"/>
                </a:lnTo>
                <a:lnTo>
                  <a:pt x="2693482" y="139474"/>
                </a:lnTo>
                <a:lnTo>
                  <a:pt x="2742136" y="155332"/>
                </a:lnTo>
                <a:lnTo>
                  <a:pt x="2789420" y="171919"/>
                </a:lnTo>
                <a:lnTo>
                  <a:pt x="2835292" y="189216"/>
                </a:lnTo>
                <a:lnTo>
                  <a:pt x="2879707" y="207204"/>
                </a:lnTo>
                <a:lnTo>
                  <a:pt x="2922621" y="225864"/>
                </a:lnTo>
                <a:lnTo>
                  <a:pt x="2963990" y="245176"/>
                </a:lnTo>
                <a:lnTo>
                  <a:pt x="3003769" y="265122"/>
                </a:lnTo>
                <a:lnTo>
                  <a:pt x="3041916" y="285683"/>
                </a:lnTo>
                <a:lnTo>
                  <a:pt x="3078386" y="306838"/>
                </a:lnTo>
                <a:lnTo>
                  <a:pt x="3113135" y="328570"/>
                </a:lnTo>
                <a:lnTo>
                  <a:pt x="3146119" y="350859"/>
                </a:lnTo>
                <a:lnTo>
                  <a:pt x="3177294" y="373685"/>
                </a:lnTo>
                <a:lnTo>
                  <a:pt x="3234041" y="420875"/>
                </a:lnTo>
                <a:lnTo>
                  <a:pt x="3283023" y="469987"/>
                </a:lnTo>
                <a:lnTo>
                  <a:pt x="3323889" y="520867"/>
                </a:lnTo>
                <a:lnTo>
                  <a:pt x="3356287" y="573363"/>
                </a:lnTo>
                <a:lnTo>
                  <a:pt x="3379864" y="627321"/>
                </a:lnTo>
                <a:lnTo>
                  <a:pt x="3394268" y="682588"/>
                </a:lnTo>
                <a:lnTo>
                  <a:pt x="3399148" y="739011"/>
                </a:lnTo>
                <a:lnTo>
                  <a:pt x="3397920" y="767358"/>
                </a:lnTo>
                <a:lnTo>
                  <a:pt x="3388234" y="823223"/>
                </a:lnTo>
                <a:lnTo>
                  <a:pt x="3369200" y="877854"/>
                </a:lnTo>
                <a:lnTo>
                  <a:pt x="3341168" y="931100"/>
                </a:lnTo>
                <a:lnTo>
                  <a:pt x="3304493" y="982807"/>
                </a:lnTo>
                <a:lnTo>
                  <a:pt x="3259524" y="1032822"/>
                </a:lnTo>
                <a:lnTo>
                  <a:pt x="3206616" y="1080992"/>
                </a:lnTo>
                <a:lnTo>
                  <a:pt x="3146119" y="1127164"/>
                </a:lnTo>
                <a:lnTo>
                  <a:pt x="3113135" y="1149453"/>
                </a:lnTo>
                <a:lnTo>
                  <a:pt x="3078386" y="1171184"/>
                </a:lnTo>
                <a:lnTo>
                  <a:pt x="3041916" y="1192340"/>
                </a:lnTo>
                <a:lnTo>
                  <a:pt x="3003769" y="1212900"/>
                </a:lnTo>
                <a:lnTo>
                  <a:pt x="2963990" y="1232846"/>
                </a:lnTo>
                <a:lnTo>
                  <a:pt x="2922621" y="1252159"/>
                </a:lnTo>
                <a:lnTo>
                  <a:pt x="2879707" y="1270819"/>
                </a:lnTo>
                <a:lnTo>
                  <a:pt x="2835292" y="1288807"/>
                </a:lnTo>
                <a:lnTo>
                  <a:pt x="2789420" y="1306104"/>
                </a:lnTo>
                <a:lnTo>
                  <a:pt x="2742136" y="1322691"/>
                </a:lnTo>
                <a:lnTo>
                  <a:pt x="2693482" y="1338549"/>
                </a:lnTo>
                <a:lnTo>
                  <a:pt x="2643504" y="1353659"/>
                </a:lnTo>
                <a:lnTo>
                  <a:pt x="2592244" y="1368001"/>
                </a:lnTo>
                <a:lnTo>
                  <a:pt x="2539748" y="1381556"/>
                </a:lnTo>
                <a:lnTo>
                  <a:pt x="2486059" y="1394306"/>
                </a:lnTo>
                <a:lnTo>
                  <a:pt x="2431221" y="1406231"/>
                </a:lnTo>
                <a:lnTo>
                  <a:pt x="2375278" y="1417312"/>
                </a:lnTo>
                <a:lnTo>
                  <a:pt x="2318274" y="1427530"/>
                </a:lnTo>
                <a:lnTo>
                  <a:pt x="2260254" y="1436865"/>
                </a:lnTo>
                <a:lnTo>
                  <a:pt x="2201260" y="1445299"/>
                </a:lnTo>
                <a:lnTo>
                  <a:pt x="2141338" y="1452813"/>
                </a:lnTo>
                <a:lnTo>
                  <a:pt x="2080531" y="1459386"/>
                </a:lnTo>
                <a:lnTo>
                  <a:pt x="2018884" y="1465001"/>
                </a:lnTo>
                <a:lnTo>
                  <a:pt x="1956439" y="1469638"/>
                </a:lnTo>
                <a:lnTo>
                  <a:pt x="1893242" y="1473278"/>
                </a:lnTo>
                <a:lnTo>
                  <a:pt x="1829336" y="1475901"/>
                </a:lnTo>
                <a:lnTo>
                  <a:pt x="1764765" y="1477490"/>
                </a:lnTo>
                <a:lnTo>
                  <a:pt x="1699574" y="1478023"/>
                </a:lnTo>
                <a:lnTo>
                  <a:pt x="1634382" y="1477490"/>
                </a:lnTo>
                <a:lnTo>
                  <a:pt x="1569812" y="1475901"/>
                </a:lnTo>
                <a:lnTo>
                  <a:pt x="1505906" y="1473278"/>
                </a:lnTo>
                <a:lnTo>
                  <a:pt x="1442708" y="1469638"/>
                </a:lnTo>
                <a:lnTo>
                  <a:pt x="1380264" y="1465001"/>
                </a:lnTo>
                <a:lnTo>
                  <a:pt x="1318616" y="1459386"/>
                </a:lnTo>
                <a:lnTo>
                  <a:pt x="1257809" y="1452813"/>
                </a:lnTo>
                <a:lnTo>
                  <a:pt x="1197887" y="1445299"/>
                </a:lnTo>
                <a:lnTo>
                  <a:pt x="1138894" y="1436865"/>
                </a:lnTo>
                <a:lnTo>
                  <a:pt x="1080873" y="1427530"/>
                </a:lnTo>
                <a:lnTo>
                  <a:pt x="1023870" y="1417312"/>
                </a:lnTo>
                <a:lnTo>
                  <a:pt x="967927" y="1406231"/>
                </a:lnTo>
                <a:lnTo>
                  <a:pt x="913089" y="1394306"/>
                </a:lnTo>
                <a:lnTo>
                  <a:pt x="859400" y="1381556"/>
                </a:lnTo>
                <a:lnTo>
                  <a:pt x="806903" y="1368001"/>
                </a:lnTo>
                <a:lnTo>
                  <a:pt x="755644" y="1353659"/>
                </a:lnTo>
                <a:lnTo>
                  <a:pt x="705665" y="1338549"/>
                </a:lnTo>
                <a:lnTo>
                  <a:pt x="657012" y="1322691"/>
                </a:lnTo>
                <a:lnTo>
                  <a:pt x="609727" y="1306104"/>
                </a:lnTo>
                <a:lnTo>
                  <a:pt x="563855" y="1288807"/>
                </a:lnTo>
                <a:lnTo>
                  <a:pt x="519441" y="1270819"/>
                </a:lnTo>
                <a:lnTo>
                  <a:pt x="476527" y="1252159"/>
                </a:lnTo>
                <a:lnTo>
                  <a:pt x="435158" y="1232846"/>
                </a:lnTo>
                <a:lnTo>
                  <a:pt x="395378" y="1212900"/>
                </a:lnTo>
                <a:lnTo>
                  <a:pt x="357231" y="1192340"/>
                </a:lnTo>
                <a:lnTo>
                  <a:pt x="320761" y="1171184"/>
                </a:lnTo>
                <a:lnTo>
                  <a:pt x="286012" y="1149453"/>
                </a:lnTo>
                <a:lnTo>
                  <a:pt x="253028" y="1127164"/>
                </a:lnTo>
                <a:lnTo>
                  <a:pt x="221853" y="1104337"/>
                </a:lnTo>
                <a:lnTo>
                  <a:pt x="165107" y="1057147"/>
                </a:lnTo>
                <a:lnTo>
                  <a:pt x="116124" y="1008036"/>
                </a:lnTo>
                <a:lnTo>
                  <a:pt x="75258" y="957156"/>
                </a:lnTo>
                <a:lnTo>
                  <a:pt x="42861" y="904660"/>
                </a:lnTo>
                <a:lnTo>
                  <a:pt x="19284" y="850702"/>
                </a:lnTo>
                <a:lnTo>
                  <a:pt x="4879" y="795435"/>
                </a:lnTo>
                <a:lnTo>
                  <a:pt x="0" y="739011"/>
                </a:lnTo>
                <a:close/>
              </a:path>
            </a:pathLst>
          </a:custGeom>
          <a:ln w="25399">
            <a:solidFill>
              <a:srgbClr val="EE33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4966907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Core </a:t>
            </a:r>
            <a:r>
              <a:rPr spc="-9" dirty="0"/>
              <a:t>principles/techniques </a:t>
            </a:r>
            <a:r>
              <a:rPr spc="-5" dirty="0"/>
              <a:t>for Big </a:t>
            </a:r>
            <a:r>
              <a:rPr spc="-891" dirty="0"/>
              <a:t> </a:t>
            </a:r>
            <a:r>
              <a:rPr spc="-5" dirty="0"/>
              <a:t>Data</a:t>
            </a:r>
            <a:r>
              <a:rPr spc="-9" dirty="0"/>
              <a:t> </a:t>
            </a:r>
            <a:r>
              <a:rPr spc="-5" dirty="0"/>
              <a:t>Platforms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611" y="1445893"/>
            <a:ext cx="2324862" cy="933910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11430" marR="4572" indent="-2286" algn="ctr">
              <a:lnSpc>
                <a:spcPts val="2331"/>
              </a:lnSpc>
              <a:spcBef>
                <a:spcPts val="383"/>
              </a:spcBef>
            </a:pPr>
            <a:r>
              <a:rPr sz="2160" b="1" spc="-5" dirty="0">
                <a:latin typeface="Arial"/>
                <a:cs typeface="Arial"/>
              </a:rPr>
              <a:t>Programming </a:t>
            </a:r>
            <a:r>
              <a:rPr sz="2160" b="1" dirty="0">
                <a:latin typeface="Arial"/>
                <a:cs typeface="Arial"/>
              </a:rPr>
              <a:t> </a:t>
            </a:r>
            <a:r>
              <a:rPr sz="2160" dirty="0">
                <a:latin typeface="Arial MT"/>
                <a:cs typeface="Arial MT"/>
              </a:rPr>
              <a:t>models,</a:t>
            </a:r>
            <a:r>
              <a:rPr sz="2160" spc="-90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languages </a:t>
            </a:r>
            <a:r>
              <a:rPr sz="2160" spc="-585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and</a:t>
            </a:r>
            <a:r>
              <a:rPr sz="2160" spc="-23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frameworks</a:t>
            </a:r>
            <a:endParaRPr sz="216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15823" y="2659366"/>
            <a:ext cx="2971229" cy="1698498"/>
          </a:xfrm>
          <a:custGeom>
            <a:avLst/>
            <a:gdLst/>
            <a:ahLst/>
            <a:cxnLst/>
            <a:rect l="l" t="t" r="r" b="b"/>
            <a:pathLst>
              <a:path w="3301365" h="1887220">
                <a:moveTo>
                  <a:pt x="0" y="943305"/>
                </a:moveTo>
                <a:lnTo>
                  <a:pt x="4329" y="874455"/>
                </a:lnTo>
                <a:lnTo>
                  <a:pt x="17117" y="806945"/>
                </a:lnTo>
                <a:lnTo>
                  <a:pt x="38066" y="740944"/>
                </a:lnTo>
                <a:lnTo>
                  <a:pt x="66877" y="676624"/>
                </a:lnTo>
                <a:lnTo>
                  <a:pt x="103253" y="614155"/>
                </a:lnTo>
                <a:lnTo>
                  <a:pt x="146895" y="553708"/>
                </a:lnTo>
                <a:lnTo>
                  <a:pt x="171347" y="524296"/>
                </a:lnTo>
                <a:lnTo>
                  <a:pt x="197504" y="495453"/>
                </a:lnTo>
                <a:lnTo>
                  <a:pt x="225328" y="467201"/>
                </a:lnTo>
                <a:lnTo>
                  <a:pt x="254783" y="439561"/>
                </a:lnTo>
                <a:lnTo>
                  <a:pt x="285830" y="412554"/>
                </a:lnTo>
                <a:lnTo>
                  <a:pt x="318432" y="386201"/>
                </a:lnTo>
                <a:lnTo>
                  <a:pt x="352553" y="360525"/>
                </a:lnTo>
                <a:lnTo>
                  <a:pt x="388155" y="335545"/>
                </a:lnTo>
                <a:lnTo>
                  <a:pt x="425200" y="311285"/>
                </a:lnTo>
                <a:lnTo>
                  <a:pt x="463651" y="287764"/>
                </a:lnTo>
                <a:lnTo>
                  <a:pt x="503472" y="265004"/>
                </a:lnTo>
                <a:lnTo>
                  <a:pt x="544624" y="243027"/>
                </a:lnTo>
                <a:lnTo>
                  <a:pt x="587070" y="221853"/>
                </a:lnTo>
                <a:lnTo>
                  <a:pt x="630774" y="201505"/>
                </a:lnTo>
                <a:lnTo>
                  <a:pt x="675698" y="182003"/>
                </a:lnTo>
                <a:lnTo>
                  <a:pt x="721804" y="163369"/>
                </a:lnTo>
                <a:lnTo>
                  <a:pt x="769055" y="145623"/>
                </a:lnTo>
                <a:lnTo>
                  <a:pt x="817415" y="128788"/>
                </a:lnTo>
                <a:lnTo>
                  <a:pt x="866845" y="112885"/>
                </a:lnTo>
                <a:lnTo>
                  <a:pt x="917308" y="97935"/>
                </a:lnTo>
                <a:lnTo>
                  <a:pt x="968768" y="83959"/>
                </a:lnTo>
                <a:lnTo>
                  <a:pt x="1021186" y="70979"/>
                </a:lnTo>
                <a:lnTo>
                  <a:pt x="1074526" y="59015"/>
                </a:lnTo>
                <a:lnTo>
                  <a:pt x="1128750" y="48090"/>
                </a:lnTo>
                <a:lnTo>
                  <a:pt x="1183821" y="38224"/>
                </a:lnTo>
                <a:lnTo>
                  <a:pt x="1239702" y="29439"/>
                </a:lnTo>
                <a:lnTo>
                  <a:pt x="1296355" y="21757"/>
                </a:lnTo>
                <a:lnTo>
                  <a:pt x="1353744" y="15197"/>
                </a:lnTo>
                <a:lnTo>
                  <a:pt x="1411830" y="9783"/>
                </a:lnTo>
                <a:lnTo>
                  <a:pt x="1470576" y="5535"/>
                </a:lnTo>
                <a:lnTo>
                  <a:pt x="1529946" y="2474"/>
                </a:lnTo>
                <a:lnTo>
                  <a:pt x="1589902" y="622"/>
                </a:lnTo>
                <a:lnTo>
                  <a:pt x="1650406" y="0"/>
                </a:lnTo>
                <a:lnTo>
                  <a:pt x="1710911" y="622"/>
                </a:lnTo>
                <a:lnTo>
                  <a:pt x="1770867" y="2474"/>
                </a:lnTo>
                <a:lnTo>
                  <a:pt x="1830236" y="5535"/>
                </a:lnTo>
                <a:lnTo>
                  <a:pt x="1888983" y="9783"/>
                </a:lnTo>
                <a:lnTo>
                  <a:pt x="1947069" y="15197"/>
                </a:lnTo>
                <a:lnTo>
                  <a:pt x="2004458" y="21757"/>
                </a:lnTo>
                <a:lnTo>
                  <a:pt x="2061111" y="29439"/>
                </a:lnTo>
                <a:lnTo>
                  <a:pt x="2116992" y="38224"/>
                </a:lnTo>
                <a:lnTo>
                  <a:pt x="2172063" y="48090"/>
                </a:lnTo>
                <a:lnTo>
                  <a:pt x="2226287" y="59015"/>
                </a:lnTo>
                <a:lnTo>
                  <a:pt x="2279627" y="70979"/>
                </a:lnTo>
                <a:lnTo>
                  <a:pt x="2332045" y="83959"/>
                </a:lnTo>
                <a:lnTo>
                  <a:pt x="2383505" y="97935"/>
                </a:lnTo>
                <a:lnTo>
                  <a:pt x="2433968" y="112885"/>
                </a:lnTo>
                <a:lnTo>
                  <a:pt x="2483398" y="128788"/>
                </a:lnTo>
                <a:lnTo>
                  <a:pt x="2531758" y="145623"/>
                </a:lnTo>
                <a:lnTo>
                  <a:pt x="2579009" y="163369"/>
                </a:lnTo>
                <a:lnTo>
                  <a:pt x="2625115" y="182003"/>
                </a:lnTo>
                <a:lnTo>
                  <a:pt x="2670039" y="201505"/>
                </a:lnTo>
                <a:lnTo>
                  <a:pt x="2713743" y="221853"/>
                </a:lnTo>
                <a:lnTo>
                  <a:pt x="2756189" y="243027"/>
                </a:lnTo>
                <a:lnTo>
                  <a:pt x="2797341" y="265004"/>
                </a:lnTo>
                <a:lnTo>
                  <a:pt x="2837162" y="287764"/>
                </a:lnTo>
                <a:lnTo>
                  <a:pt x="2875613" y="311285"/>
                </a:lnTo>
                <a:lnTo>
                  <a:pt x="2912658" y="335545"/>
                </a:lnTo>
                <a:lnTo>
                  <a:pt x="2948260" y="360525"/>
                </a:lnTo>
                <a:lnTo>
                  <a:pt x="2982381" y="386201"/>
                </a:lnTo>
                <a:lnTo>
                  <a:pt x="3014983" y="412554"/>
                </a:lnTo>
                <a:lnTo>
                  <a:pt x="3046030" y="439561"/>
                </a:lnTo>
                <a:lnTo>
                  <a:pt x="3075485" y="467201"/>
                </a:lnTo>
                <a:lnTo>
                  <a:pt x="3103309" y="495453"/>
                </a:lnTo>
                <a:lnTo>
                  <a:pt x="3129466" y="524296"/>
                </a:lnTo>
                <a:lnTo>
                  <a:pt x="3153918" y="553708"/>
                </a:lnTo>
                <a:lnTo>
                  <a:pt x="3197560" y="614155"/>
                </a:lnTo>
                <a:lnTo>
                  <a:pt x="3233936" y="676624"/>
                </a:lnTo>
                <a:lnTo>
                  <a:pt x="3262747" y="740944"/>
                </a:lnTo>
                <a:lnTo>
                  <a:pt x="3283696" y="806945"/>
                </a:lnTo>
                <a:lnTo>
                  <a:pt x="3296484" y="874455"/>
                </a:lnTo>
                <a:lnTo>
                  <a:pt x="3300813" y="943305"/>
                </a:lnTo>
                <a:lnTo>
                  <a:pt x="3299725" y="977887"/>
                </a:lnTo>
                <a:lnTo>
                  <a:pt x="3291129" y="1046089"/>
                </a:lnTo>
                <a:lnTo>
                  <a:pt x="3274223" y="1112866"/>
                </a:lnTo>
                <a:lnTo>
                  <a:pt x="3249306" y="1178047"/>
                </a:lnTo>
                <a:lnTo>
                  <a:pt x="3216675" y="1241463"/>
                </a:lnTo>
                <a:lnTo>
                  <a:pt x="3176629" y="1302942"/>
                </a:lnTo>
                <a:lnTo>
                  <a:pt x="3129466" y="1362315"/>
                </a:lnTo>
                <a:lnTo>
                  <a:pt x="3103309" y="1391158"/>
                </a:lnTo>
                <a:lnTo>
                  <a:pt x="3075485" y="1419410"/>
                </a:lnTo>
                <a:lnTo>
                  <a:pt x="3046030" y="1447050"/>
                </a:lnTo>
                <a:lnTo>
                  <a:pt x="3014983" y="1474057"/>
                </a:lnTo>
                <a:lnTo>
                  <a:pt x="2982381" y="1500410"/>
                </a:lnTo>
                <a:lnTo>
                  <a:pt x="2948260" y="1526086"/>
                </a:lnTo>
                <a:lnTo>
                  <a:pt x="2912658" y="1551066"/>
                </a:lnTo>
                <a:lnTo>
                  <a:pt x="2875613" y="1575326"/>
                </a:lnTo>
                <a:lnTo>
                  <a:pt x="2837162" y="1598847"/>
                </a:lnTo>
                <a:lnTo>
                  <a:pt x="2797341" y="1621607"/>
                </a:lnTo>
                <a:lnTo>
                  <a:pt x="2756189" y="1643584"/>
                </a:lnTo>
                <a:lnTo>
                  <a:pt x="2713743" y="1664758"/>
                </a:lnTo>
                <a:lnTo>
                  <a:pt x="2670039" y="1685106"/>
                </a:lnTo>
                <a:lnTo>
                  <a:pt x="2625115" y="1704608"/>
                </a:lnTo>
                <a:lnTo>
                  <a:pt x="2579009" y="1723242"/>
                </a:lnTo>
                <a:lnTo>
                  <a:pt x="2531758" y="1740988"/>
                </a:lnTo>
                <a:lnTo>
                  <a:pt x="2483398" y="1757823"/>
                </a:lnTo>
                <a:lnTo>
                  <a:pt x="2433968" y="1773726"/>
                </a:lnTo>
                <a:lnTo>
                  <a:pt x="2383505" y="1788676"/>
                </a:lnTo>
                <a:lnTo>
                  <a:pt x="2332045" y="1802652"/>
                </a:lnTo>
                <a:lnTo>
                  <a:pt x="2279627" y="1815632"/>
                </a:lnTo>
                <a:lnTo>
                  <a:pt x="2226287" y="1827596"/>
                </a:lnTo>
                <a:lnTo>
                  <a:pt x="2172063" y="1838521"/>
                </a:lnTo>
                <a:lnTo>
                  <a:pt x="2116992" y="1848387"/>
                </a:lnTo>
                <a:lnTo>
                  <a:pt x="2061111" y="1857172"/>
                </a:lnTo>
                <a:lnTo>
                  <a:pt x="2004458" y="1864854"/>
                </a:lnTo>
                <a:lnTo>
                  <a:pt x="1947069" y="1871414"/>
                </a:lnTo>
                <a:lnTo>
                  <a:pt x="1888983" y="1876828"/>
                </a:lnTo>
                <a:lnTo>
                  <a:pt x="1830236" y="1881076"/>
                </a:lnTo>
                <a:lnTo>
                  <a:pt x="1770867" y="1884137"/>
                </a:lnTo>
                <a:lnTo>
                  <a:pt x="1710911" y="1885989"/>
                </a:lnTo>
                <a:lnTo>
                  <a:pt x="1650406" y="1886611"/>
                </a:lnTo>
                <a:lnTo>
                  <a:pt x="1589902" y="1885989"/>
                </a:lnTo>
                <a:lnTo>
                  <a:pt x="1529946" y="1884137"/>
                </a:lnTo>
                <a:lnTo>
                  <a:pt x="1470576" y="1881076"/>
                </a:lnTo>
                <a:lnTo>
                  <a:pt x="1411830" y="1876828"/>
                </a:lnTo>
                <a:lnTo>
                  <a:pt x="1353744" y="1871414"/>
                </a:lnTo>
                <a:lnTo>
                  <a:pt x="1296355" y="1864854"/>
                </a:lnTo>
                <a:lnTo>
                  <a:pt x="1239702" y="1857172"/>
                </a:lnTo>
                <a:lnTo>
                  <a:pt x="1183821" y="1848387"/>
                </a:lnTo>
                <a:lnTo>
                  <a:pt x="1128750" y="1838521"/>
                </a:lnTo>
                <a:lnTo>
                  <a:pt x="1074526" y="1827596"/>
                </a:lnTo>
                <a:lnTo>
                  <a:pt x="1021186" y="1815632"/>
                </a:lnTo>
                <a:lnTo>
                  <a:pt x="968768" y="1802652"/>
                </a:lnTo>
                <a:lnTo>
                  <a:pt x="917308" y="1788676"/>
                </a:lnTo>
                <a:lnTo>
                  <a:pt x="866845" y="1773726"/>
                </a:lnTo>
                <a:lnTo>
                  <a:pt x="817415" y="1757823"/>
                </a:lnTo>
                <a:lnTo>
                  <a:pt x="769055" y="1740988"/>
                </a:lnTo>
                <a:lnTo>
                  <a:pt x="721804" y="1723242"/>
                </a:lnTo>
                <a:lnTo>
                  <a:pt x="675698" y="1704608"/>
                </a:lnTo>
                <a:lnTo>
                  <a:pt x="630774" y="1685106"/>
                </a:lnTo>
                <a:lnTo>
                  <a:pt x="587070" y="1664758"/>
                </a:lnTo>
                <a:lnTo>
                  <a:pt x="544624" y="1643584"/>
                </a:lnTo>
                <a:lnTo>
                  <a:pt x="503472" y="1621607"/>
                </a:lnTo>
                <a:lnTo>
                  <a:pt x="463651" y="1598847"/>
                </a:lnTo>
                <a:lnTo>
                  <a:pt x="425200" y="1575326"/>
                </a:lnTo>
                <a:lnTo>
                  <a:pt x="388155" y="1551066"/>
                </a:lnTo>
                <a:lnTo>
                  <a:pt x="352553" y="1526086"/>
                </a:lnTo>
                <a:lnTo>
                  <a:pt x="318432" y="1500410"/>
                </a:lnTo>
                <a:lnTo>
                  <a:pt x="285830" y="1474057"/>
                </a:lnTo>
                <a:lnTo>
                  <a:pt x="254783" y="1447050"/>
                </a:lnTo>
                <a:lnTo>
                  <a:pt x="225328" y="1419410"/>
                </a:lnTo>
                <a:lnTo>
                  <a:pt x="197504" y="1391158"/>
                </a:lnTo>
                <a:lnTo>
                  <a:pt x="171347" y="1362315"/>
                </a:lnTo>
                <a:lnTo>
                  <a:pt x="146895" y="1332903"/>
                </a:lnTo>
                <a:lnTo>
                  <a:pt x="103253" y="1272456"/>
                </a:lnTo>
                <a:lnTo>
                  <a:pt x="66877" y="1209987"/>
                </a:lnTo>
                <a:lnTo>
                  <a:pt x="38066" y="1145667"/>
                </a:lnTo>
                <a:lnTo>
                  <a:pt x="17117" y="1079666"/>
                </a:lnTo>
                <a:lnTo>
                  <a:pt x="4329" y="1012156"/>
                </a:lnTo>
                <a:lnTo>
                  <a:pt x="0" y="943305"/>
                </a:lnTo>
                <a:close/>
              </a:path>
            </a:pathLst>
          </a:custGeom>
          <a:ln w="2539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4172" y="2819067"/>
            <a:ext cx="1912811" cy="1330429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11430" marR="4572" indent="-6287" algn="ctr">
              <a:lnSpc>
                <a:spcPts val="2331"/>
              </a:lnSpc>
              <a:spcBef>
                <a:spcPts val="383"/>
              </a:spcBef>
            </a:pPr>
            <a:r>
              <a:rPr sz="2160" spc="-5" dirty="0">
                <a:latin typeface="Arial MT"/>
                <a:cs typeface="Arial MT"/>
              </a:rPr>
              <a:t>Provisioning, </a:t>
            </a:r>
            <a:r>
              <a:rPr sz="2160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automation</a:t>
            </a:r>
            <a:r>
              <a:rPr sz="2160" spc="-86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and </a:t>
            </a:r>
            <a:r>
              <a:rPr sz="2160" spc="-585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analytics</a:t>
            </a:r>
            <a:endParaRPr sz="2160">
              <a:latin typeface="Arial MT"/>
              <a:cs typeface="Arial MT"/>
            </a:endParaRPr>
          </a:p>
          <a:p>
            <a:pPr algn="ctr">
              <a:spcBef>
                <a:spcPts val="468"/>
              </a:spcBef>
            </a:pPr>
            <a:r>
              <a:rPr sz="2160" b="1" spc="-5" dirty="0">
                <a:latin typeface="Arial"/>
                <a:cs typeface="Arial"/>
              </a:rPr>
              <a:t>Processes</a:t>
            </a:r>
            <a:endParaRPr sz="216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2462" y="2595638"/>
            <a:ext cx="2971229" cy="1609916"/>
          </a:xfrm>
          <a:custGeom>
            <a:avLst/>
            <a:gdLst/>
            <a:ahLst/>
            <a:cxnLst/>
            <a:rect l="l" t="t" r="r" b="b"/>
            <a:pathLst>
              <a:path w="3301365" h="1788795">
                <a:moveTo>
                  <a:pt x="0" y="894227"/>
                </a:moveTo>
                <a:lnTo>
                  <a:pt x="4526" y="827490"/>
                </a:lnTo>
                <a:lnTo>
                  <a:pt x="17894" y="762085"/>
                </a:lnTo>
                <a:lnTo>
                  <a:pt x="39784" y="698185"/>
                </a:lnTo>
                <a:lnTo>
                  <a:pt x="69876" y="635963"/>
                </a:lnTo>
                <a:lnTo>
                  <a:pt x="107852" y="575591"/>
                </a:lnTo>
                <a:lnTo>
                  <a:pt x="153392" y="517244"/>
                </a:lnTo>
                <a:lnTo>
                  <a:pt x="178900" y="488883"/>
                </a:lnTo>
                <a:lnTo>
                  <a:pt x="206178" y="461093"/>
                </a:lnTo>
                <a:lnTo>
                  <a:pt x="235188" y="433895"/>
                </a:lnTo>
                <a:lnTo>
                  <a:pt x="265890" y="407311"/>
                </a:lnTo>
                <a:lnTo>
                  <a:pt x="298244" y="381363"/>
                </a:lnTo>
                <a:lnTo>
                  <a:pt x="332209" y="356072"/>
                </a:lnTo>
                <a:lnTo>
                  <a:pt x="367747" y="331460"/>
                </a:lnTo>
                <a:lnTo>
                  <a:pt x="404816" y="307548"/>
                </a:lnTo>
                <a:lnTo>
                  <a:pt x="443378" y="284359"/>
                </a:lnTo>
                <a:lnTo>
                  <a:pt x="483392" y="261913"/>
                </a:lnTo>
                <a:lnTo>
                  <a:pt x="524819" y="240232"/>
                </a:lnTo>
                <a:lnTo>
                  <a:pt x="567618" y="219339"/>
                </a:lnTo>
                <a:lnTo>
                  <a:pt x="611750" y="199253"/>
                </a:lnTo>
                <a:lnTo>
                  <a:pt x="657174" y="179998"/>
                </a:lnTo>
                <a:lnTo>
                  <a:pt x="703852" y="161595"/>
                </a:lnTo>
                <a:lnTo>
                  <a:pt x="751742" y="144065"/>
                </a:lnTo>
                <a:lnTo>
                  <a:pt x="800806" y="127430"/>
                </a:lnTo>
                <a:lnTo>
                  <a:pt x="851003" y="111712"/>
                </a:lnTo>
                <a:lnTo>
                  <a:pt x="902293" y="96932"/>
                </a:lnTo>
                <a:lnTo>
                  <a:pt x="954636" y="83111"/>
                </a:lnTo>
                <a:lnTo>
                  <a:pt x="1007993" y="70272"/>
                </a:lnTo>
                <a:lnTo>
                  <a:pt x="1062324" y="58436"/>
                </a:lnTo>
                <a:lnTo>
                  <a:pt x="1117588" y="47625"/>
                </a:lnTo>
                <a:lnTo>
                  <a:pt x="1173747" y="37860"/>
                </a:lnTo>
                <a:lnTo>
                  <a:pt x="1230759" y="29163"/>
                </a:lnTo>
                <a:lnTo>
                  <a:pt x="1288585" y="21556"/>
                </a:lnTo>
                <a:lnTo>
                  <a:pt x="1347186" y="15059"/>
                </a:lnTo>
                <a:lnTo>
                  <a:pt x="1406521" y="9695"/>
                </a:lnTo>
                <a:lnTo>
                  <a:pt x="1466550" y="5486"/>
                </a:lnTo>
                <a:lnTo>
                  <a:pt x="1527234" y="2452"/>
                </a:lnTo>
                <a:lnTo>
                  <a:pt x="1588533" y="616"/>
                </a:lnTo>
                <a:lnTo>
                  <a:pt x="1650406" y="0"/>
                </a:lnTo>
                <a:lnTo>
                  <a:pt x="1712279" y="616"/>
                </a:lnTo>
                <a:lnTo>
                  <a:pt x="1773578" y="2452"/>
                </a:lnTo>
                <a:lnTo>
                  <a:pt x="1834262" y="5486"/>
                </a:lnTo>
                <a:lnTo>
                  <a:pt x="1894291" y="9695"/>
                </a:lnTo>
                <a:lnTo>
                  <a:pt x="1953626" y="15059"/>
                </a:lnTo>
                <a:lnTo>
                  <a:pt x="2012227" y="21556"/>
                </a:lnTo>
                <a:lnTo>
                  <a:pt x="2070053" y="29163"/>
                </a:lnTo>
                <a:lnTo>
                  <a:pt x="2127065" y="37860"/>
                </a:lnTo>
                <a:lnTo>
                  <a:pt x="2183224" y="47625"/>
                </a:lnTo>
                <a:lnTo>
                  <a:pt x="2238488" y="58436"/>
                </a:lnTo>
                <a:lnTo>
                  <a:pt x="2292819" y="70272"/>
                </a:lnTo>
                <a:lnTo>
                  <a:pt x="2346176" y="83111"/>
                </a:lnTo>
                <a:lnTo>
                  <a:pt x="2398519" y="96932"/>
                </a:lnTo>
                <a:lnTo>
                  <a:pt x="2449809" y="111712"/>
                </a:lnTo>
                <a:lnTo>
                  <a:pt x="2500006" y="127430"/>
                </a:lnTo>
                <a:lnTo>
                  <a:pt x="2549070" y="144065"/>
                </a:lnTo>
                <a:lnTo>
                  <a:pt x="2596960" y="161595"/>
                </a:lnTo>
                <a:lnTo>
                  <a:pt x="2643638" y="179998"/>
                </a:lnTo>
                <a:lnTo>
                  <a:pt x="2689062" y="199253"/>
                </a:lnTo>
                <a:lnTo>
                  <a:pt x="2733194" y="219339"/>
                </a:lnTo>
                <a:lnTo>
                  <a:pt x="2775993" y="240232"/>
                </a:lnTo>
                <a:lnTo>
                  <a:pt x="2817420" y="261913"/>
                </a:lnTo>
                <a:lnTo>
                  <a:pt x="2857434" y="284359"/>
                </a:lnTo>
                <a:lnTo>
                  <a:pt x="2895996" y="307548"/>
                </a:lnTo>
                <a:lnTo>
                  <a:pt x="2933065" y="331460"/>
                </a:lnTo>
                <a:lnTo>
                  <a:pt x="2968603" y="356072"/>
                </a:lnTo>
                <a:lnTo>
                  <a:pt x="3002568" y="381363"/>
                </a:lnTo>
                <a:lnTo>
                  <a:pt x="3034922" y="407311"/>
                </a:lnTo>
                <a:lnTo>
                  <a:pt x="3065624" y="433895"/>
                </a:lnTo>
                <a:lnTo>
                  <a:pt x="3094634" y="461093"/>
                </a:lnTo>
                <a:lnTo>
                  <a:pt x="3121912" y="488883"/>
                </a:lnTo>
                <a:lnTo>
                  <a:pt x="3147420" y="517244"/>
                </a:lnTo>
                <a:lnTo>
                  <a:pt x="3192960" y="575591"/>
                </a:lnTo>
                <a:lnTo>
                  <a:pt x="3230936" y="635963"/>
                </a:lnTo>
                <a:lnTo>
                  <a:pt x="3261028" y="698185"/>
                </a:lnTo>
                <a:lnTo>
                  <a:pt x="3282918" y="762085"/>
                </a:lnTo>
                <a:lnTo>
                  <a:pt x="3296286" y="827490"/>
                </a:lnTo>
                <a:lnTo>
                  <a:pt x="3300812" y="894227"/>
                </a:lnTo>
                <a:lnTo>
                  <a:pt x="3299674" y="927752"/>
                </a:lnTo>
                <a:lnTo>
                  <a:pt x="3290687" y="993844"/>
                </a:lnTo>
                <a:lnTo>
                  <a:pt x="3273018" y="1058519"/>
                </a:lnTo>
                <a:lnTo>
                  <a:pt x="3246987" y="1121601"/>
                </a:lnTo>
                <a:lnTo>
                  <a:pt x="3212913" y="1182920"/>
                </a:lnTo>
                <a:lnTo>
                  <a:pt x="3171115" y="1242301"/>
                </a:lnTo>
                <a:lnTo>
                  <a:pt x="3121912" y="1299572"/>
                </a:lnTo>
                <a:lnTo>
                  <a:pt x="3094634" y="1327362"/>
                </a:lnTo>
                <a:lnTo>
                  <a:pt x="3065624" y="1354560"/>
                </a:lnTo>
                <a:lnTo>
                  <a:pt x="3034922" y="1381144"/>
                </a:lnTo>
                <a:lnTo>
                  <a:pt x="3002568" y="1407092"/>
                </a:lnTo>
                <a:lnTo>
                  <a:pt x="2968603" y="1432383"/>
                </a:lnTo>
                <a:lnTo>
                  <a:pt x="2933065" y="1456995"/>
                </a:lnTo>
                <a:lnTo>
                  <a:pt x="2895996" y="1480906"/>
                </a:lnTo>
                <a:lnTo>
                  <a:pt x="2857434" y="1504096"/>
                </a:lnTo>
                <a:lnTo>
                  <a:pt x="2817420" y="1526542"/>
                </a:lnTo>
                <a:lnTo>
                  <a:pt x="2775993" y="1548222"/>
                </a:lnTo>
                <a:lnTo>
                  <a:pt x="2733194" y="1569116"/>
                </a:lnTo>
                <a:lnTo>
                  <a:pt x="2689062" y="1589201"/>
                </a:lnTo>
                <a:lnTo>
                  <a:pt x="2643638" y="1608456"/>
                </a:lnTo>
                <a:lnTo>
                  <a:pt x="2596960" y="1626860"/>
                </a:lnTo>
                <a:lnTo>
                  <a:pt x="2549070" y="1644390"/>
                </a:lnTo>
                <a:lnTo>
                  <a:pt x="2500006" y="1661024"/>
                </a:lnTo>
                <a:lnTo>
                  <a:pt x="2449809" y="1676743"/>
                </a:lnTo>
                <a:lnTo>
                  <a:pt x="2398519" y="1691523"/>
                </a:lnTo>
                <a:lnTo>
                  <a:pt x="2346176" y="1705343"/>
                </a:lnTo>
                <a:lnTo>
                  <a:pt x="2292819" y="1718182"/>
                </a:lnTo>
                <a:lnTo>
                  <a:pt x="2238488" y="1730018"/>
                </a:lnTo>
                <a:lnTo>
                  <a:pt x="2183224" y="1740829"/>
                </a:lnTo>
                <a:lnTo>
                  <a:pt x="2127065" y="1750594"/>
                </a:lnTo>
                <a:lnTo>
                  <a:pt x="2070053" y="1759292"/>
                </a:lnTo>
                <a:lnTo>
                  <a:pt x="2012227" y="1766899"/>
                </a:lnTo>
                <a:lnTo>
                  <a:pt x="1953626" y="1773396"/>
                </a:lnTo>
                <a:lnTo>
                  <a:pt x="1894291" y="1778760"/>
                </a:lnTo>
                <a:lnTo>
                  <a:pt x="1834262" y="1782969"/>
                </a:lnTo>
                <a:lnTo>
                  <a:pt x="1773578" y="1786002"/>
                </a:lnTo>
                <a:lnTo>
                  <a:pt x="1712279" y="1787838"/>
                </a:lnTo>
                <a:lnTo>
                  <a:pt x="1650406" y="1788455"/>
                </a:lnTo>
                <a:lnTo>
                  <a:pt x="1588533" y="1787838"/>
                </a:lnTo>
                <a:lnTo>
                  <a:pt x="1527234" y="1786002"/>
                </a:lnTo>
                <a:lnTo>
                  <a:pt x="1466550" y="1782969"/>
                </a:lnTo>
                <a:lnTo>
                  <a:pt x="1406521" y="1778760"/>
                </a:lnTo>
                <a:lnTo>
                  <a:pt x="1347186" y="1773396"/>
                </a:lnTo>
                <a:lnTo>
                  <a:pt x="1288585" y="1766899"/>
                </a:lnTo>
                <a:lnTo>
                  <a:pt x="1230759" y="1759292"/>
                </a:lnTo>
                <a:lnTo>
                  <a:pt x="1173747" y="1750594"/>
                </a:lnTo>
                <a:lnTo>
                  <a:pt x="1117588" y="1740829"/>
                </a:lnTo>
                <a:lnTo>
                  <a:pt x="1062324" y="1730018"/>
                </a:lnTo>
                <a:lnTo>
                  <a:pt x="1007993" y="1718182"/>
                </a:lnTo>
                <a:lnTo>
                  <a:pt x="954636" y="1705343"/>
                </a:lnTo>
                <a:lnTo>
                  <a:pt x="902293" y="1691523"/>
                </a:lnTo>
                <a:lnTo>
                  <a:pt x="851003" y="1676743"/>
                </a:lnTo>
                <a:lnTo>
                  <a:pt x="800806" y="1661024"/>
                </a:lnTo>
                <a:lnTo>
                  <a:pt x="751742" y="1644390"/>
                </a:lnTo>
                <a:lnTo>
                  <a:pt x="703852" y="1626860"/>
                </a:lnTo>
                <a:lnTo>
                  <a:pt x="657174" y="1608456"/>
                </a:lnTo>
                <a:lnTo>
                  <a:pt x="611750" y="1589201"/>
                </a:lnTo>
                <a:lnTo>
                  <a:pt x="567618" y="1569116"/>
                </a:lnTo>
                <a:lnTo>
                  <a:pt x="524819" y="1548222"/>
                </a:lnTo>
                <a:lnTo>
                  <a:pt x="483392" y="1526542"/>
                </a:lnTo>
                <a:lnTo>
                  <a:pt x="443378" y="1504096"/>
                </a:lnTo>
                <a:lnTo>
                  <a:pt x="404816" y="1480906"/>
                </a:lnTo>
                <a:lnTo>
                  <a:pt x="367747" y="1456995"/>
                </a:lnTo>
                <a:lnTo>
                  <a:pt x="332209" y="1432383"/>
                </a:lnTo>
                <a:lnTo>
                  <a:pt x="298244" y="1407092"/>
                </a:lnTo>
                <a:lnTo>
                  <a:pt x="265890" y="1381144"/>
                </a:lnTo>
                <a:lnTo>
                  <a:pt x="235188" y="1354560"/>
                </a:lnTo>
                <a:lnTo>
                  <a:pt x="206178" y="1327362"/>
                </a:lnTo>
                <a:lnTo>
                  <a:pt x="178900" y="1299572"/>
                </a:lnTo>
                <a:lnTo>
                  <a:pt x="153392" y="1271211"/>
                </a:lnTo>
                <a:lnTo>
                  <a:pt x="107852" y="1212863"/>
                </a:lnTo>
                <a:lnTo>
                  <a:pt x="69876" y="1152492"/>
                </a:lnTo>
                <a:lnTo>
                  <a:pt x="39784" y="1090270"/>
                </a:lnTo>
                <a:lnTo>
                  <a:pt x="17894" y="1026370"/>
                </a:lnTo>
                <a:lnTo>
                  <a:pt x="4526" y="960965"/>
                </a:lnTo>
                <a:lnTo>
                  <a:pt x="0" y="894227"/>
                </a:lnTo>
                <a:close/>
              </a:path>
            </a:pathLst>
          </a:custGeom>
          <a:ln w="2539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88309" y="2759174"/>
            <a:ext cx="1959102" cy="1228863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10859" marR="4572" algn="ctr">
              <a:lnSpc>
                <a:spcPts val="2331"/>
              </a:lnSpc>
              <a:spcBef>
                <a:spcPts val="383"/>
              </a:spcBef>
            </a:pPr>
            <a:r>
              <a:rPr sz="2160" dirty="0">
                <a:latin typeface="Arial MT"/>
                <a:cs typeface="Arial MT"/>
              </a:rPr>
              <a:t>(Service-based)  </a:t>
            </a:r>
            <a:r>
              <a:rPr sz="2160" spc="-5" dirty="0">
                <a:latin typeface="Arial MT"/>
                <a:cs typeface="Arial MT"/>
              </a:rPr>
              <a:t>Large-scale </a:t>
            </a:r>
            <a:r>
              <a:rPr sz="2160" dirty="0">
                <a:latin typeface="Arial MT"/>
                <a:cs typeface="Arial MT"/>
              </a:rPr>
              <a:t> computing </a:t>
            </a:r>
            <a:r>
              <a:rPr sz="2160" spc="5" dirty="0">
                <a:latin typeface="Arial MT"/>
                <a:cs typeface="Arial MT"/>
              </a:rPr>
              <a:t> </a:t>
            </a:r>
            <a:r>
              <a:rPr sz="2160" b="1" spc="-5" dirty="0">
                <a:latin typeface="Arial"/>
                <a:cs typeface="Arial"/>
              </a:rPr>
              <a:t>Platforms</a:t>
            </a:r>
            <a:endParaRPr sz="216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5770" y="1256999"/>
            <a:ext cx="3809619" cy="1353312"/>
            <a:chOff x="-12700" y="1396666"/>
            <a:chExt cx="4232910" cy="1503680"/>
          </a:xfrm>
        </p:grpSpPr>
        <p:sp>
          <p:nvSpPr>
            <p:cNvPr id="10" name="object 10"/>
            <p:cNvSpPr/>
            <p:nvPr/>
          </p:nvSpPr>
          <p:spPr>
            <a:xfrm>
              <a:off x="0" y="1409366"/>
              <a:ext cx="4207510" cy="1478280"/>
            </a:xfrm>
            <a:custGeom>
              <a:avLst/>
              <a:gdLst/>
              <a:ahLst/>
              <a:cxnLst/>
              <a:rect l="l" t="t" r="r" b="b"/>
              <a:pathLst>
                <a:path w="4207510" h="1478280">
                  <a:moveTo>
                    <a:pt x="2103595" y="1478023"/>
                  </a:moveTo>
                  <a:lnTo>
                    <a:pt x="2035514" y="1477644"/>
                  </a:lnTo>
                  <a:lnTo>
                    <a:pt x="1967973" y="1476512"/>
                  </a:lnTo>
                  <a:lnTo>
                    <a:pt x="1901005" y="1474640"/>
                  </a:lnTo>
                  <a:lnTo>
                    <a:pt x="1834642" y="1472040"/>
                  </a:lnTo>
                  <a:lnTo>
                    <a:pt x="1768917" y="1468722"/>
                  </a:lnTo>
                  <a:lnTo>
                    <a:pt x="1703863" y="1464698"/>
                  </a:lnTo>
                  <a:lnTo>
                    <a:pt x="1639512" y="1459979"/>
                  </a:lnTo>
                  <a:lnTo>
                    <a:pt x="1575897" y="1454578"/>
                  </a:lnTo>
                  <a:lnTo>
                    <a:pt x="1513051" y="1448505"/>
                  </a:lnTo>
                  <a:lnTo>
                    <a:pt x="1451006" y="1441773"/>
                  </a:lnTo>
                  <a:lnTo>
                    <a:pt x="1389795" y="1434391"/>
                  </a:lnTo>
                  <a:lnTo>
                    <a:pt x="1329451" y="1426373"/>
                  </a:lnTo>
                  <a:lnTo>
                    <a:pt x="1270005" y="1417729"/>
                  </a:lnTo>
                  <a:lnTo>
                    <a:pt x="1211492" y="1408471"/>
                  </a:lnTo>
                  <a:lnTo>
                    <a:pt x="1153943" y="1398610"/>
                  </a:lnTo>
                  <a:lnTo>
                    <a:pt x="1097392" y="1388158"/>
                  </a:lnTo>
                  <a:lnTo>
                    <a:pt x="1041870" y="1377126"/>
                  </a:lnTo>
                  <a:lnTo>
                    <a:pt x="987411" y="1365526"/>
                  </a:lnTo>
                  <a:lnTo>
                    <a:pt x="934047" y="1353370"/>
                  </a:lnTo>
                  <a:lnTo>
                    <a:pt x="881810" y="1340668"/>
                  </a:lnTo>
                  <a:lnTo>
                    <a:pt x="830734" y="1327432"/>
                  </a:lnTo>
                  <a:lnTo>
                    <a:pt x="780851" y="1313674"/>
                  </a:lnTo>
                  <a:lnTo>
                    <a:pt x="732194" y="1299404"/>
                  </a:lnTo>
                  <a:lnTo>
                    <a:pt x="684796" y="1284636"/>
                  </a:lnTo>
                  <a:lnTo>
                    <a:pt x="638688" y="1269379"/>
                  </a:lnTo>
                  <a:lnTo>
                    <a:pt x="593904" y="1253646"/>
                  </a:lnTo>
                  <a:lnTo>
                    <a:pt x="550476" y="1237448"/>
                  </a:lnTo>
                  <a:lnTo>
                    <a:pt x="508437" y="1220797"/>
                  </a:lnTo>
                  <a:lnTo>
                    <a:pt x="467820" y="1203703"/>
                  </a:lnTo>
                  <a:lnTo>
                    <a:pt x="428657" y="1186179"/>
                  </a:lnTo>
                  <a:lnTo>
                    <a:pt x="390982" y="1168235"/>
                  </a:lnTo>
                  <a:lnTo>
                    <a:pt x="354825" y="1149884"/>
                  </a:lnTo>
                  <a:lnTo>
                    <a:pt x="320221" y="1131137"/>
                  </a:lnTo>
                  <a:lnTo>
                    <a:pt x="287202" y="1112005"/>
                  </a:lnTo>
                  <a:lnTo>
                    <a:pt x="226049" y="1072632"/>
                  </a:lnTo>
                  <a:lnTo>
                    <a:pt x="171627" y="1031859"/>
                  </a:lnTo>
                  <a:lnTo>
                    <a:pt x="124198" y="989776"/>
                  </a:lnTo>
                  <a:lnTo>
                    <a:pt x="84022" y="946475"/>
                  </a:lnTo>
                  <a:lnTo>
                    <a:pt x="51361" y="902048"/>
                  </a:lnTo>
                  <a:lnTo>
                    <a:pt x="26476" y="856587"/>
                  </a:lnTo>
                  <a:lnTo>
                    <a:pt x="9629" y="810183"/>
                  </a:lnTo>
                  <a:lnTo>
                    <a:pt x="1080" y="762929"/>
                  </a:lnTo>
                  <a:lnTo>
                    <a:pt x="0" y="739011"/>
                  </a:lnTo>
                  <a:lnTo>
                    <a:pt x="1080" y="715094"/>
                  </a:lnTo>
                  <a:lnTo>
                    <a:pt x="9629" y="667840"/>
                  </a:lnTo>
                  <a:lnTo>
                    <a:pt x="26476" y="621436"/>
                  </a:lnTo>
                  <a:lnTo>
                    <a:pt x="51361" y="575975"/>
                  </a:lnTo>
                  <a:lnTo>
                    <a:pt x="84022" y="531548"/>
                  </a:lnTo>
                  <a:lnTo>
                    <a:pt x="124198" y="488247"/>
                  </a:lnTo>
                  <a:lnTo>
                    <a:pt x="171627" y="446164"/>
                  </a:lnTo>
                  <a:lnTo>
                    <a:pt x="226049" y="405390"/>
                  </a:lnTo>
                  <a:lnTo>
                    <a:pt x="287202" y="366018"/>
                  </a:lnTo>
                  <a:lnTo>
                    <a:pt x="320221" y="346886"/>
                  </a:lnTo>
                  <a:lnTo>
                    <a:pt x="354825" y="328139"/>
                  </a:lnTo>
                  <a:lnTo>
                    <a:pt x="390982" y="309788"/>
                  </a:lnTo>
                  <a:lnTo>
                    <a:pt x="428657" y="291844"/>
                  </a:lnTo>
                  <a:lnTo>
                    <a:pt x="467820" y="274320"/>
                  </a:lnTo>
                  <a:lnTo>
                    <a:pt x="508437" y="257226"/>
                  </a:lnTo>
                  <a:lnTo>
                    <a:pt x="550476" y="240575"/>
                  </a:lnTo>
                  <a:lnTo>
                    <a:pt x="593904" y="224376"/>
                  </a:lnTo>
                  <a:lnTo>
                    <a:pt x="638688" y="208643"/>
                  </a:lnTo>
                  <a:lnTo>
                    <a:pt x="684796" y="193387"/>
                  </a:lnTo>
                  <a:lnTo>
                    <a:pt x="732194" y="178618"/>
                  </a:lnTo>
                  <a:lnTo>
                    <a:pt x="780851" y="164349"/>
                  </a:lnTo>
                  <a:lnTo>
                    <a:pt x="830734" y="150591"/>
                  </a:lnTo>
                  <a:lnTo>
                    <a:pt x="881810" y="137355"/>
                  </a:lnTo>
                  <a:lnTo>
                    <a:pt x="934047" y="124653"/>
                  </a:lnTo>
                  <a:lnTo>
                    <a:pt x="987411" y="112496"/>
                  </a:lnTo>
                  <a:lnTo>
                    <a:pt x="1041870" y="100896"/>
                  </a:lnTo>
                  <a:lnTo>
                    <a:pt x="1097392" y="89865"/>
                  </a:lnTo>
                  <a:lnTo>
                    <a:pt x="1153943" y="79413"/>
                  </a:lnTo>
                  <a:lnTo>
                    <a:pt x="1211492" y="69552"/>
                  </a:lnTo>
                  <a:lnTo>
                    <a:pt x="1270005" y="60294"/>
                  </a:lnTo>
                  <a:lnTo>
                    <a:pt x="1329451" y="51650"/>
                  </a:lnTo>
                  <a:lnTo>
                    <a:pt x="1389795" y="43631"/>
                  </a:lnTo>
                  <a:lnTo>
                    <a:pt x="1451006" y="36250"/>
                  </a:lnTo>
                  <a:lnTo>
                    <a:pt x="1513051" y="29517"/>
                  </a:lnTo>
                  <a:lnTo>
                    <a:pt x="1575897" y="23445"/>
                  </a:lnTo>
                  <a:lnTo>
                    <a:pt x="1639512" y="18043"/>
                  </a:lnTo>
                  <a:lnTo>
                    <a:pt x="1703863" y="13325"/>
                  </a:lnTo>
                  <a:lnTo>
                    <a:pt x="1768917" y="9301"/>
                  </a:lnTo>
                  <a:lnTo>
                    <a:pt x="1834642" y="5983"/>
                  </a:lnTo>
                  <a:lnTo>
                    <a:pt x="1901005" y="3382"/>
                  </a:lnTo>
                  <a:lnTo>
                    <a:pt x="1967973" y="1511"/>
                  </a:lnTo>
                  <a:lnTo>
                    <a:pt x="2035514" y="379"/>
                  </a:lnTo>
                  <a:lnTo>
                    <a:pt x="2103595" y="0"/>
                  </a:lnTo>
                  <a:lnTo>
                    <a:pt x="2171676" y="379"/>
                  </a:lnTo>
                  <a:lnTo>
                    <a:pt x="2239217" y="1511"/>
                  </a:lnTo>
                  <a:lnTo>
                    <a:pt x="2306185" y="3382"/>
                  </a:lnTo>
                  <a:lnTo>
                    <a:pt x="2372548" y="5983"/>
                  </a:lnTo>
                  <a:lnTo>
                    <a:pt x="2438273" y="9301"/>
                  </a:lnTo>
                  <a:lnTo>
                    <a:pt x="2503327" y="13325"/>
                  </a:lnTo>
                  <a:lnTo>
                    <a:pt x="2567678" y="18043"/>
                  </a:lnTo>
                  <a:lnTo>
                    <a:pt x="2631293" y="23445"/>
                  </a:lnTo>
                  <a:lnTo>
                    <a:pt x="2694139" y="29517"/>
                  </a:lnTo>
                  <a:lnTo>
                    <a:pt x="2756184" y="36250"/>
                  </a:lnTo>
                  <a:lnTo>
                    <a:pt x="2817395" y="43631"/>
                  </a:lnTo>
                  <a:lnTo>
                    <a:pt x="2877739" y="51650"/>
                  </a:lnTo>
                  <a:lnTo>
                    <a:pt x="2937185" y="60294"/>
                  </a:lnTo>
                  <a:lnTo>
                    <a:pt x="2995698" y="69552"/>
                  </a:lnTo>
                  <a:lnTo>
                    <a:pt x="3053247" y="79413"/>
                  </a:lnTo>
                  <a:lnTo>
                    <a:pt x="3109798" y="89865"/>
                  </a:lnTo>
                  <a:lnTo>
                    <a:pt x="3165320" y="100896"/>
                  </a:lnTo>
                  <a:lnTo>
                    <a:pt x="3219779" y="112496"/>
                  </a:lnTo>
                  <a:lnTo>
                    <a:pt x="3273143" y="124653"/>
                  </a:lnTo>
                  <a:lnTo>
                    <a:pt x="3325380" y="137355"/>
                  </a:lnTo>
                  <a:lnTo>
                    <a:pt x="3376456" y="150591"/>
                  </a:lnTo>
                  <a:lnTo>
                    <a:pt x="3426339" y="164349"/>
                  </a:lnTo>
                  <a:lnTo>
                    <a:pt x="3474996" y="178618"/>
                  </a:lnTo>
                  <a:lnTo>
                    <a:pt x="3522394" y="193387"/>
                  </a:lnTo>
                  <a:lnTo>
                    <a:pt x="3568502" y="208643"/>
                  </a:lnTo>
                  <a:lnTo>
                    <a:pt x="3613286" y="224376"/>
                  </a:lnTo>
                  <a:lnTo>
                    <a:pt x="3656714" y="240575"/>
                  </a:lnTo>
                  <a:lnTo>
                    <a:pt x="3698753" y="257226"/>
                  </a:lnTo>
                  <a:lnTo>
                    <a:pt x="3739370" y="274320"/>
                  </a:lnTo>
                  <a:lnTo>
                    <a:pt x="3778533" y="291844"/>
                  </a:lnTo>
                  <a:lnTo>
                    <a:pt x="3816208" y="309788"/>
                  </a:lnTo>
                  <a:lnTo>
                    <a:pt x="3852365" y="328139"/>
                  </a:lnTo>
                  <a:lnTo>
                    <a:pt x="3886969" y="346886"/>
                  </a:lnTo>
                  <a:lnTo>
                    <a:pt x="3919988" y="366018"/>
                  </a:lnTo>
                  <a:lnTo>
                    <a:pt x="3981141" y="405390"/>
                  </a:lnTo>
                  <a:lnTo>
                    <a:pt x="4035563" y="446164"/>
                  </a:lnTo>
                  <a:lnTo>
                    <a:pt x="4082992" y="488247"/>
                  </a:lnTo>
                  <a:lnTo>
                    <a:pt x="4123168" y="531548"/>
                  </a:lnTo>
                  <a:lnTo>
                    <a:pt x="4155829" y="575975"/>
                  </a:lnTo>
                  <a:lnTo>
                    <a:pt x="4180713" y="621436"/>
                  </a:lnTo>
                  <a:lnTo>
                    <a:pt x="4197561" y="667840"/>
                  </a:lnTo>
                  <a:lnTo>
                    <a:pt x="4206110" y="715094"/>
                  </a:lnTo>
                  <a:lnTo>
                    <a:pt x="4207190" y="739011"/>
                  </a:lnTo>
                  <a:lnTo>
                    <a:pt x="4206110" y="762929"/>
                  </a:lnTo>
                  <a:lnTo>
                    <a:pt x="4197561" y="810183"/>
                  </a:lnTo>
                  <a:lnTo>
                    <a:pt x="4180713" y="856587"/>
                  </a:lnTo>
                  <a:lnTo>
                    <a:pt x="4155829" y="902048"/>
                  </a:lnTo>
                  <a:lnTo>
                    <a:pt x="4123168" y="946475"/>
                  </a:lnTo>
                  <a:lnTo>
                    <a:pt x="4082992" y="989776"/>
                  </a:lnTo>
                  <a:lnTo>
                    <a:pt x="4035563" y="1031859"/>
                  </a:lnTo>
                  <a:lnTo>
                    <a:pt x="3981141" y="1072632"/>
                  </a:lnTo>
                  <a:lnTo>
                    <a:pt x="3919988" y="1112005"/>
                  </a:lnTo>
                  <a:lnTo>
                    <a:pt x="3886969" y="1131137"/>
                  </a:lnTo>
                  <a:lnTo>
                    <a:pt x="3852365" y="1149884"/>
                  </a:lnTo>
                  <a:lnTo>
                    <a:pt x="3816208" y="1168235"/>
                  </a:lnTo>
                  <a:lnTo>
                    <a:pt x="3778533" y="1186179"/>
                  </a:lnTo>
                  <a:lnTo>
                    <a:pt x="3739370" y="1203703"/>
                  </a:lnTo>
                  <a:lnTo>
                    <a:pt x="3698753" y="1220797"/>
                  </a:lnTo>
                  <a:lnTo>
                    <a:pt x="3656714" y="1237448"/>
                  </a:lnTo>
                  <a:lnTo>
                    <a:pt x="3613286" y="1253646"/>
                  </a:lnTo>
                  <a:lnTo>
                    <a:pt x="3568502" y="1269379"/>
                  </a:lnTo>
                  <a:lnTo>
                    <a:pt x="3522394" y="1284636"/>
                  </a:lnTo>
                  <a:lnTo>
                    <a:pt x="3474996" y="1299404"/>
                  </a:lnTo>
                  <a:lnTo>
                    <a:pt x="3426339" y="1313674"/>
                  </a:lnTo>
                  <a:lnTo>
                    <a:pt x="3376456" y="1327432"/>
                  </a:lnTo>
                  <a:lnTo>
                    <a:pt x="3325380" y="1340668"/>
                  </a:lnTo>
                  <a:lnTo>
                    <a:pt x="3273143" y="1353370"/>
                  </a:lnTo>
                  <a:lnTo>
                    <a:pt x="3219779" y="1365526"/>
                  </a:lnTo>
                  <a:lnTo>
                    <a:pt x="3165320" y="1377126"/>
                  </a:lnTo>
                  <a:lnTo>
                    <a:pt x="3109798" y="1388158"/>
                  </a:lnTo>
                  <a:lnTo>
                    <a:pt x="3053247" y="1398610"/>
                  </a:lnTo>
                  <a:lnTo>
                    <a:pt x="2995698" y="1408471"/>
                  </a:lnTo>
                  <a:lnTo>
                    <a:pt x="2937185" y="1417729"/>
                  </a:lnTo>
                  <a:lnTo>
                    <a:pt x="2877739" y="1426373"/>
                  </a:lnTo>
                  <a:lnTo>
                    <a:pt x="2817395" y="1434391"/>
                  </a:lnTo>
                  <a:lnTo>
                    <a:pt x="2756184" y="1441773"/>
                  </a:lnTo>
                  <a:lnTo>
                    <a:pt x="2694139" y="1448505"/>
                  </a:lnTo>
                  <a:lnTo>
                    <a:pt x="2631293" y="1454578"/>
                  </a:lnTo>
                  <a:lnTo>
                    <a:pt x="2567678" y="1459979"/>
                  </a:lnTo>
                  <a:lnTo>
                    <a:pt x="2503327" y="1464698"/>
                  </a:lnTo>
                  <a:lnTo>
                    <a:pt x="2438273" y="1468722"/>
                  </a:lnTo>
                  <a:lnTo>
                    <a:pt x="2372548" y="1472040"/>
                  </a:lnTo>
                  <a:lnTo>
                    <a:pt x="2306185" y="1474640"/>
                  </a:lnTo>
                  <a:lnTo>
                    <a:pt x="2239217" y="1476512"/>
                  </a:lnTo>
                  <a:lnTo>
                    <a:pt x="2171676" y="1477644"/>
                  </a:lnTo>
                  <a:lnTo>
                    <a:pt x="2103595" y="14780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409366"/>
              <a:ext cx="4207510" cy="1478280"/>
            </a:xfrm>
            <a:custGeom>
              <a:avLst/>
              <a:gdLst/>
              <a:ahLst/>
              <a:cxnLst/>
              <a:rect l="l" t="t" r="r" b="b"/>
              <a:pathLst>
                <a:path w="4207510" h="1478280">
                  <a:moveTo>
                    <a:pt x="0" y="739011"/>
                  </a:moveTo>
                  <a:lnTo>
                    <a:pt x="4301" y="691366"/>
                  </a:lnTo>
                  <a:lnTo>
                    <a:pt x="17032" y="644526"/>
                  </a:lnTo>
                  <a:lnTo>
                    <a:pt x="37930" y="598582"/>
                  </a:lnTo>
                  <a:lnTo>
                    <a:pt x="66736" y="553627"/>
                  </a:lnTo>
                  <a:lnTo>
                    <a:pt x="103187" y="509751"/>
                  </a:lnTo>
                  <a:lnTo>
                    <a:pt x="147022" y="467048"/>
                  </a:lnTo>
                  <a:lnTo>
                    <a:pt x="197980" y="425608"/>
                  </a:lnTo>
                  <a:lnTo>
                    <a:pt x="255800" y="385523"/>
                  </a:lnTo>
                  <a:lnTo>
                    <a:pt x="320221" y="346886"/>
                  </a:lnTo>
                  <a:lnTo>
                    <a:pt x="354825" y="328139"/>
                  </a:lnTo>
                  <a:lnTo>
                    <a:pt x="390982" y="309788"/>
                  </a:lnTo>
                  <a:lnTo>
                    <a:pt x="428657" y="291844"/>
                  </a:lnTo>
                  <a:lnTo>
                    <a:pt x="467820" y="274320"/>
                  </a:lnTo>
                  <a:lnTo>
                    <a:pt x="508437" y="257226"/>
                  </a:lnTo>
                  <a:lnTo>
                    <a:pt x="550476" y="240575"/>
                  </a:lnTo>
                  <a:lnTo>
                    <a:pt x="593904" y="224376"/>
                  </a:lnTo>
                  <a:lnTo>
                    <a:pt x="638688" y="208643"/>
                  </a:lnTo>
                  <a:lnTo>
                    <a:pt x="684796" y="193387"/>
                  </a:lnTo>
                  <a:lnTo>
                    <a:pt x="732194" y="178618"/>
                  </a:lnTo>
                  <a:lnTo>
                    <a:pt x="780851" y="164349"/>
                  </a:lnTo>
                  <a:lnTo>
                    <a:pt x="830734" y="150591"/>
                  </a:lnTo>
                  <a:lnTo>
                    <a:pt x="881810" y="137355"/>
                  </a:lnTo>
                  <a:lnTo>
                    <a:pt x="934047" y="124653"/>
                  </a:lnTo>
                  <a:lnTo>
                    <a:pt x="987411" y="112496"/>
                  </a:lnTo>
                  <a:lnTo>
                    <a:pt x="1041870" y="100896"/>
                  </a:lnTo>
                  <a:lnTo>
                    <a:pt x="1097392" y="89865"/>
                  </a:lnTo>
                  <a:lnTo>
                    <a:pt x="1153943" y="79413"/>
                  </a:lnTo>
                  <a:lnTo>
                    <a:pt x="1211492" y="69552"/>
                  </a:lnTo>
                  <a:lnTo>
                    <a:pt x="1270005" y="60294"/>
                  </a:lnTo>
                  <a:lnTo>
                    <a:pt x="1329451" y="51650"/>
                  </a:lnTo>
                  <a:lnTo>
                    <a:pt x="1389795" y="43631"/>
                  </a:lnTo>
                  <a:lnTo>
                    <a:pt x="1451006" y="36250"/>
                  </a:lnTo>
                  <a:lnTo>
                    <a:pt x="1513051" y="29517"/>
                  </a:lnTo>
                  <a:lnTo>
                    <a:pt x="1575897" y="23445"/>
                  </a:lnTo>
                  <a:lnTo>
                    <a:pt x="1639512" y="18043"/>
                  </a:lnTo>
                  <a:lnTo>
                    <a:pt x="1703863" y="13325"/>
                  </a:lnTo>
                  <a:lnTo>
                    <a:pt x="1768917" y="9301"/>
                  </a:lnTo>
                  <a:lnTo>
                    <a:pt x="1834642" y="5983"/>
                  </a:lnTo>
                  <a:lnTo>
                    <a:pt x="1901005" y="3382"/>
                  </a:lnTo>
                  <a:lnTo>
                    <a:pt x="1967973" y="1511"/>
                  </a:lnTo>
                  <a:lnTo>
                    <a:pt x="2035514" y="379"/>
                  </a:lnTo>
                  <a:lnTo>
                    <a:pt x="2103595" y="0"/>
                  </a:lnTo>
                  <a:lnTo>
                    <a:pt x="2171676" y="379"/>
                  </a:lnTo>
                  <a:lnTo>
                    <a:pt x="2239217" y="1511"/>
                  </a:lnTo>
                  <a:lnTo>
                    <a:pt x="2306185" y="3382"/>
                  </a:lnTo>
                  <a:lnTo>
                    <a:pt x="2372548" y="5983"/>
                  </a:lnTo>
                  <a:lnTo>
                    <a:pt x="2438273" y="9301"/>
                  </a:lnTo>
                  <a:lnTo>
                    <a:pt x="2503327" y="13325"/>
                  </a:lnTo>
                  <a:lnTo>
                    <a:pt x="2567678" y="18043"/>
                  </a:lnTo>
                  <a:lnTo>
                    <a:pt x="2631293" y="23445"/>
                  </a:lnTo>
                  <a:lnTo>
                    <a:pt x="2694139" y="29517"/>
                  </a:lnTo>
                  <a:lnTo>
                    <a:pt x="2756184" y="36250"/>
                  </a:lnTo>
                  <a:lnTo>
                    <a:pt x="2817395" y="43631"/>
                  </a:lnTo>
                  <a:lnTo>
                    <a:pt x="2877739" y="51650"/>
                  </a:lnTo>
                  <a:lnTo>
                    <a:pt x="2937185" y="60294"/>
                  </a:lnTo>
                  <a:lnTo>
                    <a:pt x="2995698" y="69552"/>
                  </a:lnTo>
                  <a:lnTo>
                    <a:pt x="3053247" y="79413"/>
                  </a:lnTo>
                  <a:lnTo>
                    <a:pt x="3109798" y="89865"/>
                  </a:lnTo>
                  <a:lnTo>
                    <a:pt x="3165320" y="100896"/>
                  </a:lnTo>
                  <a:lnTo>
                    <a:pt x="3219779" y="112496"/>
                  </a:lnTo>
                  <a:lnTo>
                    <a:pt x="3273143" y="124653"/>
                  </a:lnTo>
                  <a:lnTo>
                    <a:pt x="3325380" y="137355"/>
                  </a:lnTo>
                  <a:lnTo>
                    <a:pt x="3376456" y="150591"/>
                  </a:lnTo>
                  <a:lnTo>
                    <a:pt x="3426339" y="164349"/>
                  </a:lnTo>
                  <a:lnTo>
                    <a:pt x="3474996" y="178618"/>
                  </a:lnTo>
                  <a:lnTo>
                    <a:pt x="3522394" y="193387"/>
                  </a:lnTo>
                  <a:lnTo>
                    <a:pt x="3568502" y="208643"/>
                  </a:lnTo>
                  <a:lnTo>
                    <a:pt x="3613286" y="224376"/>
                  </a:lnTo>
                  <a:lnTo>
                    <a:pt x="3656714" y="240575"/>
                  </a:lnTo>
                  <a:lnTo>
                    <a:pt x="3698753" y="257226"/>
                  </a:lnTo>
                  <a:lnTo>
                    <a:pt x="3739370" y="274320"/>
                  </a:lnTo>
                  <a:lnTo>
                    <a:pt x="3778533" y="291844"/>
                  </a:lnTo>
                  <a:lnTo>
                    <a:pt x="3816208" y="309788"/>
                  </a:lnTo>
                  <a:lnTo>
                    <a:pt x="3852365" y="328139"/>
                  </a:lnTo>
                  <a:lnTo>
                    <a:pt x="3886969" y="346886"/>
                  </a:lnTo>
                  <a:lnTo>
                    <a:pt x="3919988" y="366018"/>
                  </a:lnTo>
                  <a:lnTo>
                    <a:pt x="3981141" y="405390"/>
                  </a:lnTo>
                  <a:lnTo>
                    <a:pt x="4035563" y="446164"/>
                  </a:lnTo>
                  <a:lnTo>
                    <a:pt x="4082992" y="488247"/>
                  </a:lnTo>
                  <a:lnTo>
                    <a:pt x="4123168" y="531548"/>
                  </a:lnTo>
                  <a:lnTo>
                    <a:pt x="4155829" y="575975"/>
                  </a:lnTo>
                  <a:lnTo>
                    <a:pt x="4180713" y="621436"/>
                  </a:lnTo>
                  <a:lnTo>
                    <a:pt x="4197561" y="667840"/>
                  </a:lnTo>
                  <a:lnTo>
                    <a:pt x="4206110" y="715094"/>
                  </a:lnTo>
                  <a:lnTo>
                    <a:pt x="4207190" y="739011"/>
                  </a:lnTo>
                  <a:lnTo>
                    <a:pt x="4206110" y="762929"/>
                  </a:lnTo>
                  <a:lnTo>
                    <a:pt x="4197561" y="810183"/>
                  </a:lnTo>
                  <a:lnTo>
                    <a:pt x="4180713" y="856587"/>
                  </a:lnTo>
                  <a:lnTo>
                    <a:pt x="4155829" y="902048"/>
                  </a:lnTo>
                  <a:lnTo>
                    <a:pt x="4123168" y="946475"/>
                  </a:lnTo>
                  <a:lnTo>
                    <a:pt x="4082992" y="989776"/>
                  </a:lnTo>
                  <a:lnTo>
                    <a:pt x="4035563" y="1031859"/>
                  </a:lnTo>
                  <a:lnTo>
                    <a:pt x="3981141" y="1072632"/>
                  </a:lnTo>
                  <a:lnTo>
                    <a:pt x="3919988" y="1112005"/>
                  </a:lnTo>
                  <a:lnTo>
                    <a:pt x="3886969" y="1131137"/>
                  </a:lnTo>
                  <a:lnTo>
                    <a:pt x="3852365" y="1149884"/>
                  </a:lnTo>
                  <a:lnTo>
                    <a:pt x="3816208" y="1168235"/>
                  </a:lnTo>
                  <a:lnTo>
                    <a:pt x="3778533" y="1186179"/>
                  </a:lnTo>
                  <a:lnTo>
                    <a:pt x="3739370" y="1203703"/>
                  </a:lnTo>
                  <a:lnTo>
                    <a:pt x="3698753" y="1220797"/>
                  </a:lnTo>
                  <a:lnTo>
                    <a:pt x="3656714" y="1237448"/>
                  </a:lnTo>
                  <a:lnTo>
                    <a:pt x="3613286" y="1253646"/>
                  </a:lnTo>
                  <a:lnTo>
                    <a:pt x="3568502" y="1269379"/>
                  </a:lnTo>
                  <a:lnTo>
                    <a:pt x="3522394" y="1284636"/>
                  </a:lnTo>
                  <a:lnTo>
                    <a:pt x="3474996" y="1299404"/>
                  </a:lnTo>
                  <a:lnTo>
                    <a:pt x="3426339" y="1313674"/>
                  </a:lnTo>
                  <a:lnTo>
                    <a:pt x="3376456" y="1327432"/>
                  </a:lnTo>
                  <a:lnTo>
                    <a:pt x="3325380" y="1340668"/>
                  </a:lnTo>
                  <a:lnTo>
                    <a:pt x="3273143" y="1353370"/>
                  </a:lnTo>
                  <a:lnTo>
                    <a:pt x="3219779" y="1365526"/>
                  </a:lnTo>
                  <a:lnTo>
                    <a:pt x="3165320" y="1377126"/>
                  </a:lnTo>
                  <a:lnTo>
                    <a:pt x="3109798" y="1388158"/>
                  </a:lnTo>
                  <a:lnTo>
                    <a:pt x="3053247" y="1398610"/>
                  </a:lnTo>
                  <a:lnTo>
                    <a:pt x="2995698" y="1408471"/>
                  </a:lnTo>
                  <a:lnTo>
                    <a:pt x="2937185" y="1417729"/>
                  </a:lnTo>
                  <a:lnTo>
                    <a:pt x="2877739" y="1426373"/>
                  </a:lnTo>
                  <a:lnTo>
                    <a:pt x="2817395" y="1434391"/>
                  </a:lnTo>
                  <a:lnTo>
                    <a:pt x="2756184" y="1441773"/>
                  </a:lnTo>
                  <a:lnTo>
                    <a:pt x="2694139" y="1448505"/>
                  </a:lnTo>
                  <a:lnTo>
                    <a:pt x="2631293" y="1454578"/>
                  </a:lnTo>
                  <a:lnTo>
                    <a:pt x="2567678" y="1459979"/>
                  </a:lnTo>
                  <a:lnTo>
                    <a:pt x="2503327" y="1464698"/>
                  </a:lnTo>
                  <a:lnTo>
                    <a:pt x="2438273" y="1468722"/>
                  </a:lnTo>
                  <a:lnTo>
                    <a:pt x="2372548" y="1472040"/>
                  </a:lnTo>
                  <a:lnTo>
                    <a:pt x="2306185" y="1474640"/>
                  </a:lnTo>
                  <a:lnTo>
                    <a:pt x="2239217" y="1476512"/>
                  </a:lnTo>
                  <a:lnTo>
                    <a:pt x="2171676" y="1477644"/>
                  </a:lnTo>
                  <a:lnTo>
                    <a:pt x="2103595" y="1478023"/>
                  </a:lnTo>
                  <a:lnTo>
                    <a:pt x="2035514" y="1477644"/>
                  </a:lnTo>
                  <a:lnTo>
                    <a:pt x="1967973" y="1476512"/>
                  </a:lnTo>
                  <a:lnTo>
                    <a:pt x="1901005" y="1474640"/>
                  </a:lnTo>
                  <a:lnTo>
                    <a:pt x="1834642" y="1472040"/>
                  </a:lnTo>
                  <a:lnTo>
                    <a:pt x="1768917" y="1468722"/>
                  </a:lnTo>
                  <a:lnTo>
                    <a:pt x="1703863" y="1464698"/>
                  </a:lnTo>
                  <a:lnTo>
                    <a:pt x="1639512" y="1459979"/>
                  </a:lnTo>
                  <a:lnTo>
                    <a:pt x="1575897" y="1454578"/>
                  </a:lnTo>
                  <a:lnTo>
                    <a:pt x="1513051" y="1448505"/>
                  </a:lnTo>
                  <a:lnTo>
                    <a:pt x="1451006" y="1441773"/>
                  </a:lnTo>
                  <a:lnTo>
                    <a:pt x="1389795" y="1434391"/>
                  </a:lnTo>
                  <a:lnTo>
                    <a:pt x="1329451" y="1426373"/>
                  </a:lnTo>
                  <a:lnTo>
                    <a:pt x="1270005" y="1417729"/>
                  </a:lnTo>
                  <a:lnTo>
                    <a:pt x="1211492" y="1408471"/>
                  </a:lnTo>
                  <a:lnTo>
                    <a:pt x="1153943" y="1398610"/>
                  </a:lnTo>
                  <a:lnTo>
                    <a:pt x="1097392" y="1388158"/>
                  </a:lnTo>
                  <a:lnTo>
                    <a:pt x="1041870" y="1377126"/>
                  </a:lnTo>
                  <a:lnTo>
                    <a:pt x="987411" y="1365526"/>
                  </a:lnTo>
                  <a:lnTo>
                    <a:pt x="934047" y="1353370"/>
                  </a:lnTo>
                  <a:lnTo>
                    <a:pt x="881810" y="1340668"/>
                  </a:lnTo>
                  <a:lnTo>
                    <a:pt x="830734" y="1327432"/>
                  </a:lnTo>
                  <a:lnTo>
                    <a:pt x="780851" y="1313674"/>
                  </a:lnTo>
                  <a:lnTo>
                    <a:pt x="732194" y="1299404"/>
                  </a:lnTo>
                  <a:lnTo>
                    <a:pt x="684796" y="1284636"/>
                  </a:lnTo>
                  <a:lnTo>
                    <a:pt x="638688" y="1269379"/>
                  </a:lnTo>
                  <a:lnTo>
                    <a:pt x="593904" y="1253646"/>
                  </a:lnTo>
                  <a:lnTo>
                    <a:pt x="550476" y="1237448"/>
                  </a:lnTo>
                  <a:lnTo>
                    <a:pt x="508437" y="1220797"/>
                  </a:lnTo>
                  <a:lnTo>
                    <a:pt x="467820" y="1203703"/>
                  </a:lnTo>
                  <a:lnTo>
                    <a:pt x="428657" y="1186179"/>
                  </a:lnTo>
                  <a:lnTo>
                    <a:pt x="390982" y="1168235"/>
                  </a:lnTo>
                  <a:lnTo>
                    <a:pt x="354825" y="1149884"/>
                  </a:lnTo>
                  <a:lnTo>
                    <a:pt x="320221" y="1131137"/>
                  </a:lnTo>
                  <a:lnTo>
                    <a:pt x="287202" y="1112005"/>
                  </a:lnTo>
                  <a:lnTo>
                    <a:pt x="226049" y="1072632"/>
                  </a:lnTo>
                  <a:lnTo>
                    <a:pt x="171627" y="1031859"/>
                  </a:lnTo>
                  <a:lnTo>
                    <a:pt x="124198" y="989776"/>
                  </a:lnTo>
                  <a:lnTo>
                    <a:pt x="84022" y="946475"/>
                  </a:lnTo>
                  <a:lnTo>
                    <a:pt x="51361" y="902048"/>
                  </a:lnTo>
                  <a:lnTo>
                    <a:pt x="26476" y="856587"/>
                  </a:lnTo>
                  <a:lnTo>
                    <a:pt x="9629" y="810183"/>
                  </a:lnTo>
                  <a:lnTo>
                    <a:pt x="1080" y="762929"/>
                  </a:lnTo>
                  <a:lnTo>
                    <a:pt x="0" y="739011"/>
                  </a:lnTo>
                  <a:close/>
                </a:path>
              </a:pathLst>
            </a:custGeom>
            <a:ln w="25399">
              <a:solidFill>
                <a:srgbClr val="EE33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73088" y="1292270"/>
            <a:ext cx="2552891" cy="1228863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11430" marR="4572" indent="572" algn="ctr">
              <a:lnSpc>
                <a:spcPts val="2331"/>
              </a:lnSpc>
              <a:spcBef>
                <a:spcPts val="383"/>
              </a:spcBef>
            </a:pPr>
            <a:r>
              <a:rPr sz="2160" b="1" spc="-5" dirty="0">
                <a:latin typeface="Arial"/>
                <a:cs typeface="Arial"/>
              </a:rPr>
              <a:t>Data management </a:t>
            </a:r>
            <a:r>
              <a:rPr sz="2160" b="1" dirty="0">
                <a:latin typeface="Arial"/>
                <a:cs typeface="Arial"/>
              </a:rPr>
              <a:t> </a:t>
            </a:r>
            <a:r>
              <a:rPr sz="2160" dirty="0">
                <a:latin typeface="Arial MT"/>
                <a:cs typeface="Arial MT"/>
              </a:rPr>
              <a:t>models, </a:t>
            </a:r>
            <a:r>
              <a:rPr sz="2160" spc="5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languages,tools,</a:t>
            </a:r>
            <a:r>
              <a:rPr sz="2160" spc="-81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and </a:t>
            </a:r>
            <a:r>
              <a:rPr sz="2160" spc="-590" dirty="0">
                <a:latin typeface="Arial MT"/>
                <a:cs typeface="Arial MT"/>
              </a:rPr>
              <a:t> </a:t>
            </a:r>
            <a:r>
              <a:rPr sz="2160" dirty="0">
                <a:latin typeface="Arial MT"/>
                <a:cs typeface="Arial MT"/>
              </a:rPr>
              <a:t>methodologies</a:t>
            </a:r>
            <a:endParaRPr sz="216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93974" y="1921053"/>
            <a:ext cx="2350008" cy="1845373"/>
            <a:chOff x="3040860" y="2134503"/>
            <a:chExt cx="2611120" cy="2050414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0860" y="2134503"/>
              <a:ext cx="2611087" cy="205034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099910" y="2173552"/>
              <a:ext cx="2493010" cy="1932305"/>
            </a:xfrm>
            <a:custGeom>
              <a:avLst/>
              <a:gdLst/>
              <a:ahLst/>
              <a:cxnLst/>
              <a:rect l="l" t="t" r="r" b="b"/>
              <a:pathLst>
                <a:path w="2493010" h="1932304">
                  <a:moveTo>
                    <a:pt x="1246493" y="1932244"/>
                  </a:moveTo>
                  <a:lnTo>
                    <a:pt x="1192423" y="1931352"/>
                  </a:lnTo>
                  <a:lnTo>
                    <a:pt x="1138941" y="1928698"/>
                  </a:lnTo>
                  <a:lnTo>
                    <a:pt x="1086094" y="1924320"/>
                  </a:lnTo>
                  <a:lnTo>
                    <a:pt x="1033929" y="1918253"/>
                  </a:lnTo>
                  <a:lnTo>
                    <a:pt x="982493" y="1910534"/>
                  </a:lnTo>
                  <a:lnTo>
                    <a:pt x="931832" y="1901198"/>
                  </a:lnTo>
                  <a:lnTo>
                    <a:pt x="881994" y="1890283"/>
                  </a:lnTo>
                  <a:lnTo>
                    <a:pt x="833024" y="1877825"/>
                  </a:lnTo>
                  <a:lnTo>
                    <a:pt x="784970" y="1863859"/>
                  </a:lnTo>
                  <a:lnTo>
                    <a:pt x="737879" y="1848422"/>
                  </a:lnTo>
                  <a:lnTo>
                    <a:pt x="691797" y="1831550"/>
                  </a:lnTo>
                  <a:lnTo>
                    <a:pt x="646771" y="1813280"/>
                  </a:lnTo>
                  <a:lnTo>
                    <a:pt x="602848" y="1793647"/>
                  </a:lnTo>
                  <a:lnTo>
                    <a:pt x="560075" y="1772689"/>
                  </a:lnTo>
                  <a:lnTo>
                    <a:pt x="518498" y="1750440"/>
                  </a:lnTo>
                  <a:lnTo>
                    <a:pt x="478164" y="1726938"/>
                  </a:lnTo>
                  <a:lnTo>
                    <a:pt x="439120" y="1702219"/>
                  </a:lnTo>
                  <a:lnTo>
                    <a:pt x="401413" y="1676319"/>
                  </a:lnTo>
                  <a:lnTo>
                    <a:pt x="365089" y="1649274"/>
                  </a:lnTo>
                  <a:lnTo>
                    <a:pt x="330196" y="1621120"/>
                  </a:lnTo>
                  <a:lnTo>
                    <a:pt x="296779" y="1591894"/>
                  </a:lnTo>
                  <a:lnTo>
                    <a:pt x="264886" y="1561633"/>
                  </a:lnTo>
                  <a:lnTo>
                    <a:pt x="234564" y="1530371"/>
                  </a:lnTo>
                  <a:lnTo>
                    <a:pt x="205859" y="1498146"/>
                  </a:lnTo>
                  <a:lnTo>
                    <a:pt x="178818" y="1464993"/>
                  </a:lnTo>
                  <a:lnTo>
                    <a:pt x="153488" y="1430950"/>
                  </a:lnTo>
                  <a:lnTo>
                    <a:pt x="129916" y="1396051"/>
                  </a:lnTo>
                  <a:lnTo>
                    <a:pt x="108148" y="1360335"/>
                  </a:lnTo>
                  <a:lnTo>
                    <a:pt x="88231" y="1323836"/>
                  </a:lnTo>
                  <a:lnTo>
                    <a:pt x="70212" y="1286590"/>
                  </a:lnTo>
                  <a:lnTo>
                    <a:pt x="54138" y="1248635"/>
                  </a:lnTo>
                  <a:lnTo>
                    <a:pt x="40055" y="1210007"/>
                  </a:lnTo>
                  <a:lnTo>
                    <a:pt x="28011" y="1170741"/>
                  </a:lnTo>
                  <a:lnTo>
                    <a:pt x="18052" y="1130874"/>
                  </a:lnTo>
                  <a:lnTo>
                    <a:pt x="10224" y="1090443"/>
                  </a:lnTo>
                  <a:lnTo>
                    <a:pt x="4575" y="1049483"/>
                  </a:lnTo>
                  <a:lnTo>
                    <a:pt x="1151" y="1008030"/>
                  </a:lnTo>
                  <a:lnTo>
                    <a:pt x="0" y="966122"/>
                  </a:lnTo>
                  <a:lnTo>
                    <a:pt x="1151" y="924214"/>
                  </a:lnTo>
                  <a:lnTo>
                    <a:pt x="4575" y="882761"/>
                  </a:lnTo>
                  <a:lnTo>
                    <a:pt x="10224" y="841801"/>
                  </a:lnTo>
                  <a:lnTo>
                    <a:pt x="18052" y="801370"/>
                  </a:lnTo>
                  <a:lnTo>
                    <a:pt x="28011" y="761503"/>
                  </a:lnTo>
                  <a:lnTo>
                    <a:pt x="40055" y="722237"/>
                  </a:lnTo>
                  <a:lnTo>
                    <a:pt x="54138" y="683609"/>
                  </a:lnTo>
                  <a:lnTo>
                    <a:pt x="70212" y="645654"/>
                  </a:lnTo>
                  <a:lnTo>
                    <a:pt x="88231" y="608408"/>
                  </a:lnTo>
                  <a:lnTo>
                    <a:pt x="108148" y="571909"/>
                  </a:lnTo>
                  <a:lnTo>
                    <a:pt x="129916" y="536193"/>
                  </a:lnTo>
                  <a:lnTo>
                    <a:pt x="153488" y="501294"/>
                  </a:lnTo>
                  <a:lnTo>
                    <a:pt x="178818" y="467251"/>
                  </a:lnTo>
                  <a:lnTo>
                    <a:pt x="205859" y="434098"/>
                  </a:lnTo>
                  <a:lnTo>
                    <a:pt x="234564" y="401873"/>
                  </a:lnTo>
                  <a:lnTo>
                    <a:pt x="264886" y="370611"/>
                  </a:lnTo>
                  <a:lnTo>
                    <a:pt x="296779" y="340350"/>
                  </a:lnTo>
                  <a:lnTo>
                    <a:pt x="330196" y="311124"/>
                  </a:lnTo>
                  <a:lnTo>
                    <a:pt x="365089" y="282970"/>
                  </a:lnTo>
                  <a:lnTo>
                    <a:pt x="401413" y="255925"/>
                  </a:lnTo>
                  <a:lnTo>
                    <a:pt x="439120" y="230025"/>
                  </a:lnTo>
                  <a:lnTo>
                    <a:pt x="478164" y="205306"/>
                  </a:lnTo>
                  <a:lnTo>
                    <a:pt x="518498" y="181804"/>
                  </a:lnTo>
                  <a:lnTo>
                    <a:pt x="560075" y="159555"/>
                  </a:lnTo>
                  <a:lnTo>
                    <a:pt x="602848" y="138597"/>
                  </a:lnTo>
                  <a:lnTo>
                    <a:pt x="646771" y="118964"/>
                  </a:lnTo>
                  <a:lnTo>
                    <a:pt x="691797" y="100694"/>
                  </a:lnTo>
                  <a:lnTo>
                    <a:pt x="737879" y="83822"/>
                  </a:lnTo>
                  <a:lnTo>
                    <a:pt x="784970" y="68385"/>
                  </a:lnTo>
                  <a:lnTo>
                    <a:pt x="833024" y="54419"/>
                  </a:lnTo>
                  <a:lnTo>
                    <a:pt x="881994" y="41961"/>
                  </a:lnTo>
                  <a:lnTo>
                    <a:pt x="931832" y="31046"/>
                  </a:lnTo>
                  <a:lnTo>
                    <a:pt x="982493" y="21710"/>
                  </a:lnTo>
                  <a:lnTo>
                    <a:pt x="1033929" y="13991"/>
                  </a:lnTo>
                  <a:lnTo>
                    <a:pt x="1086094" y="7924"/>
                  </a:lnTo>
                  <a:lnTo>
                    <a:pt x="1138941" y="3546"/>
                  </a:lnTo>
                  <a:lnTo>
                    <a:pt x="1192423" y="892"/>
                  </a:lnTo>
                  <a:lnTo>
                    <a:pt x="1246493" y="0"/>
                  </a:lnTo>
                  <a:lnTo>
                    <a:pt x="1300563" y="892"/>
                  </a:lnTo>
                  <a:lnTo>
                    <a:pt x="1354045" y="3546"/>
                  </a:lnTo>
                  <a:lnTo>
                    <a:pt x="1406892" y="7924"/>
                  </a:lnTo>
                  <a:lnTo>
                    <a:pt x="1459057" y="13991"/>
                  </a:lnTo>
                  <a:lnTo>
                    <a:pt x="1510493" y="21710"/>
                  </a:lnTo>
                  <a:lnTo>
                    <a:pt x="1561154" y="31046"/>
                  </a:lnTo>
                  <a:lnTo>
                    <a:pt x="1610992" y="41961"/>
                  </a:lnTo>
                  <a:lnTo>
                    <a:pt x="1659962" y="54419"/>
                  </a:lnTo>
                  <a:lnTo>
                    <a:pt x="1708016" y="68385"/>
                  </a:lnTo>
                  <a:lnTo>
                    <a:pt x="1755107" y="83822"/>
                  </a:lnTo>
                  <a:lnTo>
                    <a:pt x="1801189" y="100694"/>
                  </a:lnTo>
                  <a:lnTo>
                    <a:pt x="1846215" y="118964"/>
                  </a:lnTo>
                  <a:lnTo>
                    <a:pt x="1890138" y="138597"/>
                  </a:lnTo>
                  <a:lnTo>
                    <a:pt x="1932911" y="159555"/>
                  </a:lnTo>
                  <a:lnTo>
                    <a:pt x="1974488" y="181804"/>
                  </a:lnTo>
                  <a:lnTo>
                    <a:pt x="2014822" y="205306"/>
                  </a:lnTo>
                  <a:lnTo>
                    <a:pt x="2053866" y="230025"/>
                  </a:lnTo>
                  <a:lnTo>
                    <a:pt x="2091573" y="255925"/>
                  </a:lnTo>
                  <a:lnTo>
                    <a:pt x="2127897" y="282970"/>
                  </a:lnTo>
                  <a:lnTo>
                    <a:pt x="2162790" y="311124"/>
                  </a:lnTo>
                  <a:lnTo>
                    <a:pt x="2196207" y="340350"/>
                  </a:lnTo>
                  <a:lnTo>
                    <a:pt x="2228100" y="370611"/>
                  </a:lnTo>
                  <a:lnTo>
                    <a:pt x="2258422" y="401873"/>
                  </a:lnTo>
                  <a:lnTo>
                    <a:pt x="2287127" y="434098"/>
                  </a:lnTo>
                  <a:lnTo>
                    <a:pt x="2314168" y="467251"/>
                  </a:lnTo>
                  <a:lnTo>
                    <a:pt x="2339498" y="501294"/>
                  </a:lnTo>
                  <a:lnTo>
                    <a:pt x="2363070" y="536193"/>
                  </a:lnTo>
                  <a:lnTo>
                    <a:pt x="2384838" y="571909"/>
                  </a:lnTo>
                  <a:lnTo>
                    <a:pt x="2404755" y="608408"/>
                  </a:lnTo>
                  <a:lnTo>
                    <a:pt x="2422774" y="645654"/>
                  </a:lnTo>
                  <a:lnTo>
                    <a:pt x="2438848" y="683609"/>
                  </a:lnTo>
                  <a:lnTo>
                    <a:pt x="2452931" y="722237"/>
                  </a:lnTo>
                  <a:lnTo>
                    <a:pt x="2464975" y="761503"/>
                  </a:lnTo>
                  <a:lnTo>
                    <a:pt x="2474934" y="801370"/>
                  </a:lnTo>
                  <a:lnTo>
                    <a:pt x="2482762" y="841801"/>
                  </a:lnTo>
                  <a:lnTo>
                    <a:pt x="2488411" y="882761"/>
                  </a:lnTo>
                  <a:lnTo>
                    <a:pt x="2491835" y="924214"/>
                  </a:lnTo>
                  <a:lnTo>
                    <a:pt x="2492986" y="966122"/>
                  </a:lnTo>
                  <a:lnTo>
                    <a:pt x="2491835" y="1008030"/>
                  </a:lnTo>
                  <a:lnTo>
                    <a:pt x="2488411" y="1049483"/>
                  </a:lnTo>
                  <a:lnTo>
                    <a:pt x="2482762" y="1090443"/>
                  </a:lnTo>
                  <a:lnTo>
                    <a:pt x="2474934" y="1130874"/>
                  </a:lnTo>
                  <a:lnTo>
                    <a:pt x="2464975" y="1170741"/>
                  </a:lnTo>
                  <a:lnTo>
                    <a:pt x="2452931" y="1210007"/>
                  </a:lnTo>
                  <a:lnTo>
                    <a:pt x="2438848" y="1248635"/>
                  </a:lnTo>
                  <a:lnTo>
                    <a:pt x="2422774" y="1286590"/>
                  </a:lnTo>
                  <a:lnTo>
                    <a:pt x="2404755" y="1323836"/>
                  </a:lnTo>
                  <a:lnTo>
                    <a:pt x="2384838" y="1360335"/>
                  </a:lnTo>
                  <a:lnTo>
                    <a:pt x="2363070" y="1396051"/>
                  </a:lnTo>
                  <a:lnTo>
                    <a:pt x="2339498" y="1430950"/>
                  </a:lnTo>
                  <a:lnTo>
                    <a:pt x="2314168" y="1464993"/>
                  </a:lnTo>
                  <a:lnTo>
                    <a:pt x="2287127" y="1498146"/>
                  </a:lnTo>
                  <a:lnTo>
                    <a:pt x="2258422" y="1530371"/>
                  </a:lnTo>
                  <a:lnTo>
                    <a:pt x="2228100" y="1561633"/>
                  </a:lnTo>
                  <a:lnTo>
                    <a:pt x="2196207" y="1591894"/>
                  </a:lnTo>
                  <a:lnTo>
                    <a:pt x="2162790" y="1621120"/>
                  </a:lnTo>
                  <a:lnTo>
                    <a:pt x="2127897" y="1649274"/>
                  </a:lnTo>
                  <a:lnTo>
                    <a:pt x="2091573" y="1676319"/>
                  </a:lnTo>
                  <a:lnTo>
                    <a:pt x="2053866" y="1702219"/>
                  </a:lnTo>
                  <a:lnTo>
                    <a:pt x="2014822" y="1726938"/>
                  </a:lnTo>
                  <a:lnTo>
                    <a:pt x="1974488" y="1750440"/>
                  </a:lnTo>
                  <a:lnTo>
                    <a:pt x="1932911" y="1772689"/>
                  </a:lnTo>
                  <a:lnTo>
                    <a:pt x="1890138" y="1793647"/>
                  </a:lnTo>
                  <a:lnTo>
                    <a:pt x="1846215" y="1813280"/>
                  </a:lnTo>
                  <a:lnTo>
                    <a:pt x="1801189" y="1831550"/>
                  </a:lnTo>
                  <a:lnTo>
                    <a:pt x="1755107" y="1848422"/>
                  </a:lnTo>
                  <a:lnTo>
                    <a:pt x="1708016" y="1863859"/>
                  </a:lnTo>
                  <a:lnTo>
                    <a:pt x="1659962" y="1877825"/>
                  </a:lnTo>
                  <a:lnTo>
                    <a:pt x="1610992" y="1890283"/>
                  </a:lnTo>
                  <a:lnTo>
                    <a:pt x="1561154" y="1901198"/>
                  </a:lnTo>
                  <a:lnTo>
                    <a:pt x="1510493" y="1910534"/>
                  </a:lnTo>
                  <a:lnTo>
                    <a:pt x="1459057" y="1918253"/>
                  </a:lnTo>
                  <a:lnTo>
                    <a:pt x="1406892" y="1924320"/>
                  </a:lnTo>
                  <a:lnTo>
                    <a:pt x="1354045" y="1928698"/>
                  </a:lnTo>
                  <a:lnTo>
                    <a:pt x="1300563" y="1931352"/>
                  </a:lnTo>
                  <a:lnTo>
                    <a:pt x="1246493" y="1932244"/>
                  </a:lnTo>
                  <a:close/>
                </a:path>
              </a:pathLst>
            </a:custGeom>
            <a:solidFill>
              <a:srgbClr val="FF67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9910" y="2173552"/>
              <a:ext cx="2493010" cy="1932305"/>
            </a:xfrm>
            <a:custGeom>
              <a:avLst/>
              <a:gdLst/>
              <a:ahLst/>
              <a:cxnLst/>
              <a:rect l="l" t="t" r="r" b="b"/>
              <a:pathLst>
                <a:path w="2493010" h="1932304">
                  <a:moveTo>
                    <a:pt x="0" y="966122"/>
                  </a:moveTo>
                  <a:lnTo>
                    <a:pt x="1151" y="924214"/>
                  </a:lnTo>
                  <a:lnTo>
                    <a:pt x="4575" y="882761"/>
                  </a:lnTo>
                  <a:lnTo>
                    <a:pt x="10224" y="841801"/>
                  </a:lnTo>
                  <a:lnTo>
                    <a:pt x="18052" y="801370"/>
                  </a:lnTo>
                  <a:lnTo>
                    <a:pt x="28011" y="761503"/>
                  </a:lnTo>
                  <a:lnTo>
                    <a:pt x="40055" y="722237"/>
                  </a:lnTo>
                  <a:lnTo>
                    <a:pt x="54138" y="683609"/>
                  </a:lnTo>
                  <a:lnTo>
                    <a:pt x="70212" y="645654"/>
                  </a:lnTo>
                  <a:lnTo>
                    <a:pt x="88231" y="608408"/>
                  </a:lnTo>
                  <a:lnTo>
                    <a:pt x="108148" y="571909"/>
                  </a:lnTo>
                  <a:lnTo>
                    <a:pt x="129916" y="536193"/>
                  </a:lnTo>
                  <a:lnTo>
                    <a:pt x="153488" y="501294"/>
                  </a:lnTo>
                  <a:lnTo>
                    <a:pt x="178818" y="467251"/>
                  </a:lnTo>
                  <a:lnTo>
                    <a:pt x="205859" y="434098"/>
                  </a:lnTo>
                  <a:lnTo>
                    <a:pt x="234564" y="401873"/>
                  </a:lnTo>
                  <a:lnTo>
                    <a:pt x="264886" y="370611"/>
                  </a:lnTo>
                  <a:lnTo>
                    <a:pt x="296779" y="340350"/>
                  </a:lnTo>
                  <a:lnTo>
                    <a:pt x="330196" y="311124"/>
                  </a:lnTo>
                  <a:lnTo>
                    <a:pt x="365089" y="282970"/>
                  </a:lnTo>
                  <a:lnTo>
                    <a:pt x="401413" y="255925"/>
                  </a:lnTo>
                  <a:lnTo>
                    <a:pt x="439120" y="230025"/>
                  </a:lnTo>
                  <a:lnTo>
                    <a:pt x="478164" y="205306"/>
                  </a:lnTo>
                  <a:lnTo>
                    <a:pt x="518498" y="181804"/>
                  </a:lnTo>
                  <a:lnTo>
                    <a:pt x="560075" y="159555"/>
                  </a:lnTo>
                  <a:lnTo>
                    <a:pt x="602848" y="138597"/>
                  </a:lnTo>
                  <a:lnTo>
                    <a:pt x="646771" y="118964"/>
                  </a:lnTo>
                  <a:lnTo>
                    <a:pt x="691797" y="100694"/>
                  </a:lnTo>
                  <a:lnTo>
                    <a:pt x="737879" y="83822"/>
                  </a:lnTo>
                  <a:lnTo>
                    <a:pt x="784970" y="68385"/>
                  </a:lnTo>
                  <a:lnTo>
                    <a:pt x="833024" y="54419"/>
                  </a:lnTo>
                  <a:lnTo>
                    <a:pt x="881994" y="41961"/>
                  </a:lnTo>
                  <a:lnTo>
                    <a:pt x="931832" y="31046"/>
                  </a:lnTo>
                  <a:lnTo>
                    <a:pt x="982493" y="21710"/>
                  </a:lnTo>
                  <a:lnTo>
                    <a:pt x="1033929" y="13991"/>
                  </a:lnTo>
                  <a:lnTo>
                    <a:pt x="1086094" y="7924"/>
                  </a:lnTo>
                  <a:lnTo>
                    <a:pt x="1138941" y="3546"/>
                  </a:lnTo>
                  <a:lnTo>
                    <a:pt x="1192423" y="892"/>
                  </a:lnTo>
                  <a:lnTo>
                    <a:pt x="1246493" y="0"/>
                  </a:lnTo>
                  <a:lnTo>
                    <a:pt x="1300563" y="892"/>
                  </a:lnTo>
                  <a:lnTo>
                    <a:pt x="1354045" y="3546"/>
                  </a:lnTo>
                  <a:lnTo>
                    <a:pt x="1406892" y="7924"/>
                  </a:lnTo>
                  <a:lnTo>
                    <a:pt x="1459057" y="13991"/>
                  </a:lnTo>
                  <a:lnTo>
                    <a:pt x="1510493" y="21710"/>
                  </a:lnTo>
                  <a:lnTo>
                    <a:pt x="1561154" y="31046"/>
                  </a:lnTo>
                  <a:lnTo>
                    <a:pt x="1610992" y="41961"/>
                  </a:lnTo>
                  <a:lnTo>
                    <a:pt x="1659962" y="54419"/>
                  </a:lnTo>
                  <a:lnTo>
                    <a:pt x="1708016" y="68385"/>
                  </a:lnTo>
                  <a:lnTo>
                    <a:pt x="1755107" y="83822"/>
                  </a:lnTo>
                  <a:lnTo>
                    <a:pt x="1801189" y="100694"/>
                  </a:lnTo>
                  <a:lnTo>
                    <a:pt x="1846215" y="118964"/>
                  </a:lnTo>
                  <a:lnTo>
                    <a:pt x="1890138" y="138597"/>
                  </a:lnTo>
                  <a:lnTo>
                    <a:pt x="1932911" y="159555"/>
                  </a:lnTo>
                  <a:lnTo>
                    <a:pt x="1974488" y="181804"/>
                  </a:lnTo>
                  <a:lnTo>
                    <a:pt x="2014822" y="205306"/>
                  </a:lnTo>
                  <a:lnTo>
                    <a:pt x="2053866" y="230025"/>
                  </a:lnTo>
                  <a:lnTo>
                    <a:pt x="2091573" y="255925"/>
                  </a:lnTo>
                  <a:lnTo>
                    <a:pt x="2127897" y="282970"/>
                  </a:lnTo>
                  <a:lnTo>
                    <a:pt x="2162790" y="311124"/>
                  </a:lnTo>
                  <a:lnTo>
                    <a:pt x="2196207" y="340350"/>
                  </a:lnTo>
                  <a:lnTo>
                    <a:pt x="2228100" y="370611"/>
                  </a:lnTo>
                  <a:lnTo>
                    <a:pt x="2258422" y="401873"/>
                  </a:lnTo>
                  <a:lnTo>
                    <a:pt x="2287127" y="434098"/>
                  </a:lnTo>
                  <a:lnTo>
                    <a:pt x="2314168" y="467251"/>
                  </a:lnTo>
                  <a:lnTo>
                    <a:pt x="2339498" y="501294"/>
                  </a:lnTo>
                  <a:lnTo>
                    <a:pt x="2363070" y="536193"/>
                  </a:lnTo>
                  <a:lnTo>
                    <a:pt x="2384838" y="571909"/>
                  </a:lnTo>
                  <a:lnTo>
                    <a:pt x="2404755" y="608408"/>
                  </a:lnTo>
                  <a:lnTo>
                    <a:pt x="2422774" y="645654"/>
                  </a:lnTo>
                  <a:lnTo>
                    <a:pt x="2438848" y="683609"/>
                  </a:lnTo>
                  <a:lnTo>
                    <a:pt x="2452931" y="722237"/>
                  </a:lnTo>
                  <a:lnTo>
                    <a:pt x="2464975" y="761503"/>
                  </a:lnTo>
                  <a:lnTo>
                    <a:pt x="2474934" y="801370"/>
                  </a:lnTo>
                  <a:lnTo>
                    <a:pt x="2482762" y="841801"/>
                  </a:lnTo>
                  <a:lnTo>
                    <a:pt x="2488411" y="882761"/>
                  </a:lnTo>
                  <a:lnTo>
                    <a:pt x="2491835" y="924214"/>
                  </a:lnTo>
                  <a:lnTo>
                    <a:pt x="2492986" y="966122"/>
                  </a:lnTo>
                  <a:lnTo>
                    <a:pt x="2491835" y="1008030"/>
                  </a:lnTo>
                  <a:lnTo>
                    <a:pt x="2488411" y="1049483"/>
                  </a:lnTo>
                  <a:lnTo>
                    <a:pt x="2482762" y="1090443"/>
                  </a:lnTo>
                  <a:lnTo>
                    <a:pt x="2474934" y="1130874"/>
                  </a:lnTo>
                  <a:lnTo>
                    <a:pt x="2464975" y="1170741"/>
                  </a:lnTo>
                  <a:lnTo>
                    <a:pt x="2452931" y="1210007"/>
                  </a:lnTo>
                  <a:lnTo>
                    <a:pt x="2438848" y="1248635"/>
                  </a:lnTo>
                  <a:lnTo>
                    <a:pt x="2422774" y="1286590"/>
                  </a:lnTo>
                  <a:lnTo>
                    <a:pt x="2404755" y="1323836"/>
                  </a:lnTo>
                  <a:lnTo>
                    <a:pt x="2384838" y="1360335"/>
                  </a:lnTo>
                  <a:lnTo>
                    <a:pt x="2363070" y="1396051"/>
                  </a:lnTo>
                  <a:lnTo>
                    <a:pt x="2339498" y="1430950"/>
                  </a:lnTo>
                  <a:lnTo>
                    <a:pt x="2314168" y="1464993"/>
                  </a:lnTo>
                  <a:lnTo>
                    <a:pt x="2287127" y="1498146"/>
                  </a:lnTo>
                  <a:lnTo>
                    <a:pt x="2258422" y="1530371"/>
                  </a:lnTo>
                  <a:lnTo>
                    <a:pt x="2228100" y="1561633"/>
                  </a:lnTo>
                  <a:lnTo>
                    <a:pt x="2196207" y="1591894"/>
                  </a:lnTo>
                  <a:lnTo>
                    <a:pt x="2162790" y="1621120"/>
                  </a:lnTo>
                  <a:lnTo>
                    <a:pt x="2127897" y="1649274"/>
                  </a:lnTo>
                  <a:lnTo>
                    <a:pt x="2091573" y="1676319"/>
                  </a:lnTo>
                  <a:lnTo>
                    <a:pt x="2053866" y="1702219"/>
                  </a:lnTo>
                  <a:lnTo>
                    <a:pt x="2014822" y="1726938"/>
                  </a:lnTo>
                  <a:lnTo>
                    <a:pt x="1974488" y="1750440"/>
                  </a:lnTo>
                  <a:lnTo>
                    <a:pt x="1932911" y="1772689"/>
                  </a:lnTo>
                  <a:lnTo>
                    <a:pt x="1890138" y="1793647"/>
                  </a:lnTo>
                  <a:lnTo>
                    <a:pt x="1846215" y="1813280"/>
                  </a:lnTo>
                  <a:lnTo>
                    <a:pt x="1801189" y="1831550"/>
                  </a:lnTo>
                  <a:lnTo>
                    <a:pt x="1755107" y="1848422"/>
                  </a:lnTo>
                  <a:lnTo>
                    <a:pt x="1708016" y="1863859"/>
                  </a:lnTo>
                  <a:lnTo>
                    <a:pt x="1659962" y="1877825"/>
                  </a:lnTo>
                  <a:lnTo>
                    <a:pt x="1610992" y="1890283"/>
                  </a:lnTo>
                  <a:lnTo>
                    <a:pt x="1561154" y="1901198"/>
                  </a:lnTo>
                  <a:lnTo>
                    <a:pt x="1510493" y="1910534"/>
                  </a:lnTo>
                  <a:lnTo>
                    <a:pt x="1459057" y="1918253"/>
                  </a:lnTo>
                  <a:lnTo>
                    <a:pt x="1406892" y="1924320"/>
                  </a:lnTo>
                  <a:lnTo>
                    <a:pt x="1354045" y="1928698"/>
                  </a:lnTo>
                  <a:lnTo>
                    <a:pt x="1300563" y="1931352"/>
                  </a:lnTo>
                  <a:lnTo>
                    <a:pt x="1246493" y="1932244"/>
                  </a:lnTo>
                  <a:lnTo>
                    <a:pt x="1192423" y="1931352"/>
                  </a:lnTo>
                  <a:lnTo>
                    <a:pt x="1138941" y="1928698"/>
                  </a:lnTo>
                  <a:lnTo>
                    <a:pt x="1086094" y="1924320"/>
                  </a:lnTo>
                  <a:lnTo>
                    <a:pt x="1033929" y="1918253"/>
                  </a:lnTo>
                  <a:lnTo>
                    <a:pt x="982493" y="1910534"/>
                  </a:lnTo>
                  <a:lnTo>
                    <a:pt x="931832" y="1901198"/>
                  </a:lnTo>
                  <a:lnTo>
                    <a:pt x="881994" y="1890283"/>
                  </a:lnTo>
                  <a:lnTo>
                    <a:pt x="833024" y="1877825"/>
                  </a:lnTo>
                  <a:lnTo>
                    <a:pt x="784970" y="1863859"/>
                  </a:lnTo>
                  <a:lnTo>
                    <a:pt x="737879" y="1848422"/>
                  </a:lnTo>
                  <a:lnTo>
                    <a:pt x="691797" y="1831550"/>
                  </a:lnTo>
                  <a:lnTo>
                    <a:pt x="646771" y="1813280"/>
                  </a:lnTo>
                  <a:lnTo>
                    <a:pt x="602848" y="1793647"/>
                  </a:lnTo>
                  <a:lnTo>
                    <a:pt x="560075" y="1772689"/>
                  </a:lnTo>
                  <a:lnTo>
                    <a:pt x="518498" y="1750440"/>
                  </a:lnTo>
                  <a:lnTo>
                    <a:pt x="478164" y="1726938"/>
                  </a:lnTo>
                  <a:lnTo>
                    <a:pt x="439120" y="1702219"/>
                  </a:lnTo>
                  <a:lnTo>
                    <a:pt x="401413" y="1676319"/>
                  </a:lnTo>
                  <a:lnTo>
                    <a:pt x="365089" y="1649274"/>
                  </a:lnTo>
                  <a:lnTo>
                    <a:pt x="330196" y="1621120"/>
                  </a:lnTo>
                  <a:lnTo>
                    <a:pt x="296779" y="1591894"/>
                  </a:lnTo>
                  <a:lnTo>
                    <a:pt x="264886" y="1561633"/>
                  </a:lnTo>
                  <a:lnTo>
                    <a:pt x="234564" y="1530371"/>
                  </a:lnTo>
                  <a:lnTo>
                    <a:pt x="205859" y="1498146"/>
                  </a:lnTo>
                  <a:lnTo>
                    <a:pt x="178818" y="1464993"/>
                  </a:lnTo>
                  <a:lnTo>
                    <a:pt x="153488" y="1430950"/>
                  </a:lnTo>
                  <a:lnTo>
                    <a:pt x="129916" y="1396051"/>
                  </a:lnTo>
                  <a:lnTo>
                    <a:pt x="108148" y="1360335"/>
                  </a:lnTo>
                  <a:lnTo>
                    <a:pt x="88231" y="1323836"/>
                  </a:lnTo>
                  <a:lnTo>
                    <a:pt x="70212" y="1286590"/>
                  </a:lnTo>
                  <a:lnTo>
                    <a:pt x="54138" y="1248635"/>
                  </a:lnTo>
                  <a:lnTo>
                    <a:pt x="40055" y="1210007"/>
                  </a:lnTo>
                  <a:lnTo>
                    <a:pt x="28011" y="1170741"/>
                  </a:lnTo>
                  <a:lnTo>
                    <a:pt x="18052" y="1130874"/>
                  </a:lnTo>
                  <a:lnTo>
                    <a:pt x="10224" y="1090443"/>
                  </a:lnTo>
                  <a:lnTo>
                    <a:pt x="4575" y="1049483"/>
                  </a:lnTo>
                  <a:lnTo>
                    <a:pt x="1151" y="1008030"/>
                  </a:lnTo>
                  <a:lnTo>
                    <a:pt x="0" y="966122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26075" y="2136433"/>
            <a:ext cx="485775" cy="343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160" spc="-203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2160" spc="-5" dirty="0">
                <a:solidFill>
                  <a:srgbClr val="FFFFFF"/>
                </a:solidFill>
                <a:latin typeface="Arial MT"/>
                <a:cs typeface="Arial MT"/>
              </a:rPr>
              <a:t>ou</a:t>
            </a:r>
            <a:endParaRPr sz="216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49307" y="2528710"/>
            <a:ext cx="1638491" cy="933910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11430" marR="4572" algn="ctr">
              <a:lnSpc>
                <a:spcPts val="2331"/>
              </a:lnSpc>
              <a:spcBef>
                <a:spcPts val="383"/>
              </a:spcBef>
            </a:pPr>
            <a:r>
              <a:rPr sz="2160" dirty="0">
                <a:solidFill>
                  <a:srgbClr val="FFFFFF"/>
                </a:solidFill>
                <a:latin typeface="Arial MT"/>
                <a:cs typeface="Arial MT"/>
              </a:rPr>
              <a:t>(“the</a:t>
            </a:r>
            <a:r>
              <a:rPr sz="216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60" spc="-5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216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60" spc="-5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2160" spc="-5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60" spc="-5" dirty="0">
                <a:solidFill>
                  <a:srgbClr val="FFFFFF"/>
                </a:solidFill>
                <a:latin typeface="Arial MT"/>
                <a:cs typeface="Arial MT"/>
              </a:rPr>
              <a:t>platform </a:t>
            </a:r>
            <a:r>
              <a:rPr sz="2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60" spc="-5" dirty="0">
                <a:solidFill>
                  <a:srgbClr val="FFFFFF"/>
                </a:solidFill>
                <a:latin typeface="Arial MT"/>
                <a:cs typeface="Arial MT"/>
              </a:rPr>
              <a:t>expert“)</a:t>
            </a:r>
            <a:endParaRPr sz="216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6511747" cy="511487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9" dirty="0"/>
              <a:t>Focuses </a:t>
            </a:r>
            <a:r>
              <a:rPr spc="-5" dirty="0"/>
              <a:t>in studying </a:t>
            </a:r>
            <a:r>
              <a:rPr spc="-9" dirty="0"/>
              <a:t>big data </a:t>
            </a:r>
            <a:r>
              <a:rPr spc="-895" dirty="0"/>
              <a:t> </a:t>
            </a:r>
            <a:r>
              <a:rPr spc="-5" dirty="0"/>
              <a:t>platforms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2794" y="1156952"/>
            <a:ext cx="7183184" cy="26707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4615" indent="-333756">
              <a:spcBef>
                <a:spcPts val="90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Design/Development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vs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Operation</a:t>
            </a:r>
            <a:endParaRPr sz="1890">
              <a:latin typeface="Arial"/>
              <a:cs typeface="Arial"/>
            </a:endParaRPr>
          </a:p>
          <a:p>
            <a:pPr>
              <a:spcBef>
                <a:spcPts val="23"/>
              </a:spcBef>
              <a:buFont typeface="Arial"/>
              <a:buChar char="●"/>
            </a:pPr>
            <a:endParaRPr sz="2610">
              <a:latin typeface="Arial"/>
              <a:cs typeface="Arial"/>
            </a:endParaRPr>
          </a:p>
          <a:p>
            <a:pPr marL="344615" indent="-333756"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Data-centric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vs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Service-centric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vs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Platform-centric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activities</a:t>
            </a:r>
            <a:endParaRPr sz="1890">
              <a:latin typeface="Arial"/>
              <a:cs typeface="Arial"/>
            </a:endParaRPr>
          </a:p>
          <a:p>
            <a:pPr>
              <a:spcBef>
                <a:spcPts val="23"/>
              </a:spcBef>
              <a:buFont typeface="Arial"/>
              <a:buChar char="●"/>
            </a:pPr>
            <a:endParaRPr sz="2610">
              <a:latin typeface="Arial"/>
              <a:cs typeface="Arial"/>
            </a:endParaRPr>
          </a:p>
          <a:p>
            <a:pPr marL="344615" marR="854964" indent="-333756"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High-level SQL-style analytics vs programmatic data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processing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models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workflows/processes</a:t>
            </a:r>
            <a:endParaRPr sz="1890">
              <a:latin typeface="Arial"/>
              <a:cs typeface="Arial"/>
            </a:endParaRPr>
          </a:p>
          <a:p>
            <a:pPr>
              <a:spcBef>
                <a:spcPts val="23"/>
              </a:spcBef>
              <a:buFont typeface="Arial"/>
              <a:buChar char="●"/>
            </a:pPr>
            <a:endParaRPr sz="2610">
              <a:latin typeface="Arial"/>
              <a:cs typeface="Arial"/>
            </a:endParaRPr>
          </a:p>
          <a:p>
            <a:pPr marL="344615" indent="-333756"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Quality</a:t>
            </a:r>
            <a:r>
              <a:rPr sz="1890" b="1" spc="-36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governance</a:t>
            </a:r>
            <a:endParaRPr sz="189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5039487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45" dirty="0"/>
              <a:t>Target</a:t>
            </a:r>
            <a:r>
              <a:rPr spc="-23" dirty="0"/>
              <a:t> </a:t>
            </a:r>
            <a:r>
              <a:rPr spc="-9" dirty="0"/>
              <a:t>goals</a:t>
            </a:r>
            <a:r>
              <a:rPr spc="-23" dirty="0"/>
              <a:t> </a:t>
            </a:r>
            <a:r>
              <a:rPr spc="-5" dirty="0"/>
              <a:t>for</a:t>
            </a:r>
            <a:r>
              <a:rPr spc="-23" dirty="0"/>
              <a:t> </a:t>
            </a:r>
            <a:r>
              <a:rPr spc="-5" dirty="0"/>
              <a:t>the</a:t>
            </a:r>
            <a:r>
              <a:rPr spc="-18" dirty="0"/>
              <a:t> </a:t>
            </a:r>
            <a:r>
              <a:rPr spc="-5" dirty="0"/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993" y="864360"/>
            <a:ext cx="7303770" cy="308930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9464" marR="658368" indent="-268605">
              <a:spcBef>
                <a:spcPts val="90"/>
              </a:spcBef>
              <a:buChar char="▪"/>
              <a:tabLst>
                <a:tab pos="279464" algn="l"/>
                <a:tab pos="280035" algn="l"/>
              </a:tabLst>
            </a:pPr>
            <a:r>
              <a:rPr sz="2000" b="1" spc="-5" dirty="0">
                <a:latin typeface="Trebuchet MS" panose="020B0603020202020204" pitchFamily="34" charset="0"/>
                <a:cs typeface="Arial"/>
              </a:rPr>
              <a:t>As </a:t>
            </a:r>
            <a:r>
              <a:rPr sz="2000" b="1" dirty="0">
                <a:latin typeface="Trebuchet MS" panose="020B0603020202020204" pitchFamily="34" charset="0"/>
                <a:cs typeface="Arial"/>
              </a:rPr>
              <a:t>a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user: able </a:t>
            </a:r>
            <a:r>
              <a:rPr sz="2000" b="1" dirty="0">
                <a:latin typeface="Trebuchet MS" panose="020B0603020202020204" pitchFamily="34" charset="0"/>
                <a:cs typeface="Arial"/>
              </a:rPr>
              <a:t>to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use and program atop big data </a:t>
            </a:r>
            <a:r>
              <a:rPr sz="2000" b="1" spc="-590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platforms</a:t>
            </a:r>
            <a:endParaRPr sz="2000" dirty="0">
              <a:latin typeface="Trebuchet MS" panose="020B0603020202020204" pitchFamily="34" charset="0"/>
              <a:cs typeface="Arial"/>
            </a:endParaRPr>
          </a:p>
          <a:p>
            <a:pPr>
              <a:spcBef>
                <a:spcPts val="5"/>
              </a:spcBef>
              <a:buFont typeface="Arial"/>
              <a:buChar char="▪"/>
            </a:pPr>
            <a:endParaRPr sz="2000" dirty="0">
              <a:latin typeface="Trebuchet MS" panose="020B0603020202020204" pitchFamily="34" charset="0"/>
              <a:cs typeface="Arial"/>
            </a:endParaRPr>
          </a:p>
          <a:p>
            <a:pPr marL="279464" indent="-268605">
              <a:buChar char="▪"/>
              <a:tabLst>
                <a:tab pos="279464" algn="l"/>
                <a:tab pos="280035" algn="l"/>
              </a:tabLst>
            </a:pPr>
            <a:r>
              <a:rPr sz="2000" b="1" spc="-5" dirty="0">
                <a:latin typeface="Trebuchet MS" panose="020B0603020202020204" pitchFamily="34" charset="0"/>
                <a:cs typeface="Arial"/>
              </a:rPr>
              <a:t>As</a:t>
            </a:r>
            <a:r>
              <a:rPr sz="2000" b="1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latin typeface="Trebuchet MS" panose="020B0603020202020204" pitchFamily="34" charset="0"/>
                <a:cs typeface="Arial"/>
              </a:rPr>
              <a:t>a</a:t>
            </a:r>
            <a:r>
              <a:rPr sz="2000" b="1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provider:</a:t>
            </a:r>
            <a:r>
              <a:rPr sz="2000" b="1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able</a:t>
            </a:r>
            <a:r>
              <a:rPr sz="2000" b="1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latin typeface="Trebuchet MS" panose="020B0603020202020204" pitchFamily="34" charset="0"/>
                <a:cs typeface="Arial"/>
              </a:rPr>
              <a:t>to</a:t>
            </a:r>
            <a:r>
              <a:rPr sz="2000" b="1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operate</a:t>
            </a:r>
            <a:r>
              <a:rPr sz="2000" b="1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big</a:t>
            </a:r>
            <a:r>
              <a:rPr sz="2000" b="1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data</a:t>
            </a:r>
            <a:r>
              <a:rPr sz="2000" b="1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platforms</a:t>
            </a:r>
            <a:endParaRPr sz="2000" dirty="0">
              <a:latin typeface="Trebuchet MS" panose="020B0603020202020204" pitchFamily="34" charset="0"/>
              <a:cs typeface="Arial"/>
            </a:endParaRPr>
          </a:p>
          <a:p>
            <a:pPr>
              <a:spcBef>
                <a:spcPts val="5"/>
              </a:spcBef>
              <a:buFont typeface="Arial"/>
              <a:buChar char="▪"/>
            </a:pPr>
            <a:endParaRPr sz="2000" dirty="0">
              <a:latin typeface="Trebuchet MS" panose="020B0603020202020204" pitchFamily="34" charset="0"/>
              <a:cs typeface="Arial"/>
            </a:endParaRPr>
          </a:p>
          <a:p>
            <a:pPr marL="279464" marR="4572" indent="-268605">
              <a:buChar char="▪"/>
              <a:tabLst>
                <a:tab pos="279464" algn="l"/>
                <a:tab pos="280035" algn="l"/>
              </a:tabLst>
            </a:pPr>
            <a:r>
              <a:rPr sz="2000" b="1" spc="-5" dirty="0">
                <a:latin typeface="Trebuchet MS" panose="020B0603020202020204" pitchFamily="34" charset="0"/>
                <a:cs typeface="Arial"/>
              </a:rPr>
              <a:t>As</a:t>
            </a:r>
            <a:r>
              <a:rPr sz="2000" b="1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latin typeface="Trebuchet MS" panose="020B0603020202020204" pitchFamily="34" charset="0"/>
                <a:cs typeface="Arial"/>
              </a:rPr>
              <a:t>a</a:t>
            </a:r>
            <a:r>
              <a:rPr sz="2000" b="1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designer/architect:</a:t>
            </a:r>
            <a:r>
              <a:rPr sz="2000" b="1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able</a:t>
            </a:r>
            <a:r>
              <a:rPr sz="2000" b="1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latin typeface="Trebuchet MS" panose="020B0603020202020204" pitchFamily="34" charset="0"/>
                <a:cs typeface="Arial"/>
              </a:rPr>
              <a:t>to</a:t>
            </a:r>
            <a:r>
              <a:rPr sz="2000" b="1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design</a:t>
            </a:r>
            <a:r>
              <a:rPr sz="2000" b="1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new</a:t>
            </a:r>
            <a:r>
              <a:rPr sz="2000" b="1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latin typeface="Trebuchet MS" panose="020B0603020202020204" pitchFamily="34" charset="0"/>
                <a:cs typeface="Arial"/>
              </a:rPr>
              <a:t>(solutions </a:t>
            </a:r>
            <a:r>
              <a:rPr sz="2000" b="1" spc="-590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dirty="0">
                <a:latin typeface="Trebuchet MS" panose="020B0603020202020204" pitchFamily="34" charset="0"/>
                <a:cs typeface="Arial"/>
              </a:rPr>
              <a:t>for)</a:t>
            </a:r>
            <a:r>
              <a:rPr sz="2000" b="1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big</a:t>
            </a:r>
            <a:r>
              <a:rPr sz="2000" b="1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data</a:t>
            </a:r>
            <a:r>
              <a:rPr sz="2000" b="1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platforms</a:t>
            </a:r>
            <a:endParaRPr sz="2000" dirty="0">
              <a:latin typeface="Trebuchet MS" panose="020B0603020202020204" pitchFamily="34" charset="0"/>
              <a:cs typeface="Arial"/>
            </a:endParaRPr>
          </a:p>
          <a:p>
            <a:pPr>
              <a:spcBef>
                <a:spcPts val="5"/>
              </a:spcBef>
              <a:buFont typeface="Arial"/>
              <a:buChar char="▪"/>
            </a:pPr>
            <a:endParaRPr sz="2000" dirty="0">
              <a:latin typeface="Trebuchet MS" panose="020B0603020202020204" pitchFamily="34" charset="0"/>
              <a:cs typeface="Arial"/>
            </a:endParaRPr>
          </a:p>
          <a:p>
            <a:pPr marL="279464" marR="60579" indent="-268605">
              <a:buChar char="▪"/>
              <a:tabLst>
                <a:tab pos="279464" algn="l"/>
                <a:tab pos="280035" algn="l"/>
              </a:tabLst>
            </a:pPr>
            <a:r>
              <a:rPr sz="2000" b="1" spc="-5" dirty="0">
                <a:latin typeface="Trebuchet MS" panose="020B0603020202020204" pitchFamily="34" charset="0"/>
                <a:cs typeface="Arial"/>
              </a:rPr>
              <a:t>As </a:t>
            </a:r>
            <a:r>
              <a:rPr sz="2000" b="1" dirty="0">
                <a:latin typeface="Trebuchet MS" panose="020B0603020202020204" pitchFamily="34" charset="0"/>
                <a:cs typeface="Arial"/>
              </a:rPr>
              <a:t>a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developer: able </a:t>
            </a:r>
            <a:r>
              <a:rPr sz="2000" b="1" dirty="0">
                <a:latin typeface="Trebuchet MS" panose="020B0603020202020204" pitchFamily="34" charset="0"/>
                <a:cs typeface="Arial"/>
              </a:rPr>
              <a:t>to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develop services/applications </a:t>
            </a:r>
            <a:r>
              <a:rPr sz="2000" b="1" spc="-590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in</a:t>
            </a:r>
            <a:r>
              <a:rPr sz="2000" b="1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big</a:t>
            </a:r>
            <a:r>
              <a:rPr sz="2000" b="1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data</a:t>
            </a:r>
            <a:r>
              <a:rPr sz="2000" b="1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sz="2000" b="1" spc="-5" dirty="0">
                <a:latin typeface="Trebuchet MS" panose="020B0603020202020204" pitchFamily="34" charset="0"/>
                <a:cs typeface="Arial"/>
              </a:rPr>
              <a:t>platforms</a:t>
            </a:r>
            <a:endParaRPr sz="2000" dirty="0">
              <a:latin typeface="Trebuchet MS" panose="020B0603020202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7578547" cy="511487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Business models vs </a:t>
            </a:r>
            <a:r>
              <a:rPr spc="-9" dirty="0"/>
              <a:t>data platform </a:t>
            </a:r>
            <a:r>
              <a:rPr spc="-891" dirty="0"/>
              <a:t> </a:t>
            </a:r>
            <a:r>
              <a:rPr spc="-5" dirty="0"/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22727" y="1114419"/>
            <a:ext cx="4112514" cy="5932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4615" marR="4572" indent="-333756">
              <a:spcBef>
                <a:spcPts val="90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Distinguish between engineering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business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models</a:t>
            </a:r>
            <a:endParaRPr sz="189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7810" y="1736668"/>
            <a:ext cx="3903917" cy="144783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3472" marR="4572" indent="-332613">
              <a:spcBef>
                <a:spcPts val="90"/>
              </a:spcBef>
              <a:buFont typeface="Arial MT"/>
              <a:buChar char="○"/>
              <a:tabLst>
                <a:tab pos="343472" algn="l"/>
                <a:tab pos="344043" algn="l"/>
              </a:tabLst>
            </a:pPr>
            <a:r>
              <a:rPr spc="-5" dirty="0">
                <a:latin typeface="Georgia"/>
                <a:cs typeface="Georgia"/>
              </a:rPr>
              <a:t>Engineering: design, operation and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governance</a:t>
            </a:r>
            <a:endParaRPr>
              <a:latin typeface="Georgia"/>
              <a:cs typeface="Georgia"/>
            </a:endParaRPr>
          </a:p>
          <a:p>
            <a:pPr marL="343472" marR="26288" indent="-332613">
              <a:spcBef>
                <a:spcPts val="360"/>
              </a:spcBef>
              <a:buFont typeface="Arial MT"/>
              <a:buChar char="○"/>
              <a:tabLst>
                <a:tab pos="343472" algn="l"/>
                <a:tab pos="344043" algn="l"/>
              </a:tabLst>
            </a:pPr>
            <a:r>
              <a:rPr spc="-5" dirty="0">
                <a:latin typeface="Georgia"/>
                <a:cs typeface="Georgia"/>
              </a:rPr>
              <a:t>Business models: stakeholder </a:t>
            </a:r>
            <a:r>
              <a:rPr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management, pay-per-use, pricing,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tenant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models</a:t>
            </a:r>
            <a:endParaRPr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2727" y="3153051"/>
            <a:ext cx="4030790" cy="956737"/>
          </a:xfrm>
          <a:prstGeom prst="rect">
            <a:avLst/>
          </a:prstGeom>
        </p:spPr>
        <p:txBody>
          <a:bodyPr vert="horz" wrap="square" lIns="0" tIns="60008" rIns="0" bIns="0" rtlCol="0">
            <a:spAutoFit/>
          </a:bodyPr>
          <a:lstStyle/>
          <a:p>
            <a:pPr marL="344615" indent="-333756">
              <a:spcBef>
                <a:spcPts val="472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18" dirty="0">
                <a:solidFill>
                  <a:srgbClr val="FF0000"/>
                </a:solidFill>
                <a:latin typeface="Arial"/>
                <a:cs typeface="Arial"/>
              </a:rPr>
              <a:t>We</a:t>
            </a:r>
            <a:r>
              <a:rPr sz="1890" b="1" spc="-2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FF0000"/>
                </a:solidFill>
                <a:latin typeface="Arial"/>
                <a:cs typeface="Arial"/>
              </a:rPr>
              <a:t>mainly</a:t>
            </a:r>
            <a:r>
              <a:rPr sz="1890" b="1" spc="-2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90" b="1" dirty="0">
                <a:solidFill>
                  <a:srgbClr val="FF0000"/>
                </a:solidFill>
                <a:latin typeface="Arial"/>
                <a:cs typeface="Arial"/>
              </a:rPr>
              <a:t>focus</a:t>
            </a:r>
            <a:r>
              <a:rPr sz="1890" b="1" spc="-2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1890" b="1" spc="-2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90" b="1" spc="-5" dirty="0">
                <a:solidFill>
                  <a:srgbClr val="FF0000"/>
                </a:solidFill>
                <a:latin typeface="Arial"/>
                <a:cs typeface="Arial"/>
              </a:rPr>
              <a:t>engineering</a:t>
            </a:r>
            <a:endParaRPr sz="1890">
              <a:latin typeface="Arial"/>
              <a:cs typeface="Arial"/>
            </a:endParaRPr>
          </a:p>
          <a:p>
            <a:pPr marL="558356" marR="134874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Business aspects are reflected in </a:t>
            </a:r>
            <a:r>
              <a:rPr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requirements</a:t>
            </a:r>
            <a:r>
              <a:rPr spc="-32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for</a:t>
            </a:r>
            <a:r>
              <a:rPr spc="-27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the</a:t>
            </a:r>
            <a:r>
              <a:rPr spc="-27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engineering</a:t>
            </a:r>
            <a:endParaRPr>
              <a:latin typeface="Georgia"/>
              <a:cs typeface="Georg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6546" y="1507012"/>
            <a:ext cx="2060829" cy="357759"/>
            <a:chOff x="454829" y="1674458"/>
            <a:chExt cx="2289810" cy="3975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829" y="1674458"/>
              <a:ext cx="2289725" cy="3973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591" y="1699221"/>
              <a:ext cx="2200199" cy="3077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06832" y="1529299"/>
            <a:ext cx="1980248" cy="269304"/>
          </a:xfrm>
          <a:prstGeom prst="rect">
            <a:avLst/>
          </a:prstGeom>
          <a:ln w="9524">
            <a:solidFill>
              <a:srgbClr val="00955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8"/>
              </a:lnSpc>
            </a:pPr>
            <a:r>
              <a:rPr b="1" spc="-5" dirty="0">
                <a:latin typeface="Arial"/>
                <a:cs typeface="Arial"/>
              </a:rPr>
              <a:t>Business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Models</a:t>
            </a:r>
            <a:endParaRPr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394" y="2549464"/>
            <a:ext cx="2060829" cy="634937"/>
            <a:chOff x="423549" y="2832737"/>
            <a:chExt cx="2289810" cy="70548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549" y="2832737"/>
              <a:ext cx="2289725" cy="7051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312" y="2857499"/>
              <a:ext cx="2200199" cy="6155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78681" y="2571750"/>
            <a:ext cx="1980248" cy="546303"/>
          </a:xfrm>
          <a:prstGeom prst="rect">
            <a:avLst/>
          </a:prstGeom>
          <a:ln w="9524">
            <a:solidFill>
              <a:srgbClr val="00955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9201" marR="327470" indent="-140018">
              <a:lnSpc>
                <a:spcPts val="2160"/>
              </a:lnSpc>
            </a:pPr>
            <a:r>
              <a:rPr b="1" spc="-5" dirty="0">
                <a:latin typeface="Arial"/>
                <a:cs typeface="Arial"/>
              </a:rPr>
              <a:t>Engineering  Solutions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20482" y="1923677"/>
            <a:ext cx="453771" cy="453771"/>
          </a:xfrm>
          <a:custGeom>
            <a:avLst/>
            <a:gdLst/>
            <a:ahLst/>
            <a:cxnLst/>
            <a:rect l="l" t="t" r="r" b="b"/>
            <a:pathLst>
              <a:path w="504189" h="504189">
                <a:moveTo>
                  <a:pt x="251999" y="503999"/>
                </a:moveTo>
                <a:lnTo>
                  <a:pt x="0" y="251999"/>
                </a:lnTo>
                <a:lnTo>
                  <a:pt x="125999" y="251999"/>
                </a:lnTo>
                <a:lnTo>
                  <a:pt x="125999" y="0"/>
                </a:lnTo>
                <a:lnTo>
                  <a:pt x="377999" y="0"/>
                </a:lnTo>
                <a:lnTo>
                  <a:pt x="377999" y="251999"/>
                </a:lnTo>
                <a:lnTo>
                  <a:pt x="503999" y="251999"/>
                </a:lnTo>
                <a:lnTo>
                  <a:pt x="251999" y="503999"/>
                </a:lnTo>
                <a:close/>
              </a:path>
            </a:pathLst>
          </a:custGeom>
          <a:solidFill>
            <a:srgbClr val="FF671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0" y="151460"/>
            <a:ext cx="6676549" cy="511487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Concepts/techniques</a:t>
            </a:r>
            <a:r>
              <a:rPr spc="-86" dirty="0"/>
              <a:t> </a:t>
            </a:r>
            <a:r>
              <a:rPr spc="-5" dirty="0"/>
              <a:t>vs </a:t>
            </a:r>
            <a:r>
              <a:rPr spc="-887" dirty="0"/>
              <a:t> </a:t>
            </a:r>
            <a:r>
              <a:rPr spc="-27" dirty="0"/>
              <a:t>Technologies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84924" y="1058715"/>
            <a:ext cx="7297484" cy="2861361"/>
          </a:xfrm>
          <a:prstGeom prst="rect">
            <a:avLst/>
          </a:prstGeom>
        </p:spPr>
        <p:txBody>
          <a:bodyPr vert="horz" wrap="square" lIns="0" tIns="60008" rIns="0" bIns="0" rtlCol="0">
            <a:spAutoFit/>
          </a:bodyPr>
          <a:lstStyle/>
          <a:p>
            <a:pPr marL="344615" indent="-333756">
              <a:spcBef>
                <a:spcPts val="472"/>
              </a:spcBef>
              <a:buChar char="●"/>
              <a:tabLst>
                <a:tab pos="344615" algn="l"/>
                <a:tab pos="345186" algn="l"/>
              </a:tabLst>
            </a:pPr>
            <a:r>
              <a:rPr spc="-14" dirty="0"/>
              <a:t>Concepts/Techniques </a:t>
            </a:r>
            <a:r>
              <a:rPr spc="-5" dirty="0"/>
              <a:t>versus</a:t>
            </a:r>
            <a:r>
              <a:rPr spc="-14" dirty="0"/>
              <a:t> </a:t>
            </a:r>
            <a:r>
              <a:rPr spc="-18" dirty="0"/>
              <a:t>Technologies</a:t>
            </a:r>
          </a:p>
          <a:p>
            <a:pPr marL="558356" marR="957263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concepts: e.g., NoSQL data models, sharding techniques,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coordination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for</a:t>
            </a:r>
            <a:r>
              <a:rPr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scalable datastores</a:t>
            </a:r>
            <a:endParaRPr>
              <a:latin typeface="Georgia"/>
              <a:cs typeface="Georgia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technologies: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e.g.,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Cassandra,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Hadoop,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Apache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Spark,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Airflow</a:t>
            </a:r>
            <a:endParaRPr>
              <a:latin typeface="Georgia"/>
              <a:cs typeface="Georgia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pc="-18" dirty="0"/>
              <a:t>We </a:t>
            </a:r>
            <a:r>
              <a:rPr spc="-5" dirty="0"/>
              <a:t>still</a:t>
            </a:r>
            <a:r>
              <a:rPr spc="-18" dirty="0"/>
              <a:t> </a:t>
            </a:r>
            <a:r>
              <a:rPr dirty="0"/>
              <a:t>focus</a:t>
            </a:r>
            <a:r>
              <a:rPr spc="-18" dirty="0"/>
              <a:t> </a:t>
            </a:r>
            <a:r>
              <a:rPr spc="-5" dirty="0"/>
              <a:t>mainly</a:t>
            </a:r>
            <a:r>
              <a:rPr spc="-14" dirty="0"/>
              <a:t> </a:t>
            </a:r>
            <a:r>
              <a:rPr spc="-5" dirty="0"/>
              <a:t>on</a:t>
            </a:r>
            <a:r>
              <a:rPr spc="-23" dirty="0"/>
              <a:t> </a:t>
            </a:r>
            <a:r>
              <a:rPr spc="-5" dirty="0"/>
              <a:t>concepts/techniques</a:t>
            </a: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technologies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can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be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very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complex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or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“everything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is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behind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API”</a:t>
            </a:r>
            <a:endParaRPr>
              <a:latin typeface="Georgia"/>
              <a:cs typeface="Georgia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but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don’t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forget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key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concepts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techniques</a:t>
            </a:r>
            <a:endParaRPr>
              <a:latin typeface="Georgia"/>
              <a:cs typeface="Georgia"/>
            </a:endParaRPr>
          </a:p>
          <a:p>
            <a:pPr marL="558356" marR="544640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implement key concepts with state-of-the-art technology in </a:t>
            </a:r>
            <a:r>
              <a:rPr dirty="0">
                <a:latin typeface="Georgia"/>
                <a:cs typeface="Georgia"/>
              </a:rPr>
              <a:t>a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limited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but realistic scenarios</a:t>
            </a:r>
            <a:endParaRPr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32777" y="62567"/>
            <a:ext cx="1599057" cy="903542"/>
          </a:xfrm>
          <a:custGeom>
            <a:avLst/>
            <a:gdLst/>
            <a:ahLst/>
            <a:cxnLst/>
            <a:rect l="l" t="t" r="r" b="b"/>
            <a:pathLst>
              <a:path w="1776729" h="1003935">
                <a:moveTo>
                  <a:pt x="1609220" y="1003895"/>
                </a:moveTo>
                <a:lnTo>
                  <a:pt x="167319" y="1003895"/>
                </a:lnTo>
                <a:lnTo>
                  <a:pt x="122839" y="997919"/>
                </a:lnTo>
                <a:lnTo>
                  <a:pt x="82870" y="981052"/>
                </a:lnTo>
                <a:lnTo>
                  <a:pt x="49006" y="954889"/>
                </a:lnTo>
                <a:lnTo>
                  <a:pt x="22844" y="921025"/>
                </a:lnTo>
                <a:lnTo>
                  <a:pt x="5976" y="881056"/>
                </a:lnTo>
                <a:lnTo>
                  <a:pt x="0" y="836576"/>
                </a:lnTo>
                <a:lnTo>
                  <a:pt x="0" y="167319"/>
                </a:lnTo>
                <a:lnTo>
                  <a:pt x="5976" y="122839"/>
                </a:lnTo>
                <a:lnTo>
                  <a:pt x="22844" y="82870"/>
                </a:lnTo>
                <a:lnTo>
                  <a:pt x="49006" y="49006"/>
                </a:lnTo>
                <a:lnTo>
                  <a:pt x="82870" y="22843"/>
                </a:lnTo>
                <a:lnTo>
                  <a:pt x="122839" y="5976"/>
                </a:lnTo>
                <a:lnTo>
                  <a:pt x="167319" y="0"/>
                </a:lnTo>
                <a:lnTo>
                  <a:pt x="1609220" y="0"/>
                </a:lnTo>
                <a:lnTo>
                  <a:pt x="1673250" y="12736"/>
                </a:lnTo>
                <a:lnTo>
                  <a:pt x="1727532" y="49006"/>
                </a:lnTo>
                <a:lnTo>
                  <a:pt x="1763803" y="103289"/>
                </a:lnTo>
                <a:lnTo>
                  <a:pt x="1776539" y="167319"/>
                </a:lnTo>
                <a:lnTo>
                  <a:pt x="1776539" y="836576"/>
                </a:lnTo>
                <a:lnTo>
                  <a:pt x="1770563" y="881056"/>
                </a:lnTo>
                <a:lnTo>
                  <a:pt x="1753695" y="921025"/>
                </a:lnTo>
                <a:lnTo>
                  <a:pt x="1727533" y="954889"/>
                </a:lnTo>
                <a:lnTo>
                  <a:pt x="1693669" y="981052"/>
                </a:lnTo>
                <a:lnTo>
                  <a:pt x="1653700" y="997919"/>
                </a:lnTo>
                <a:lnTo>
                  <a:pt x="1609220" y="1003895"/>
                </a:lnTo>
                <a:close/>
              </a:path>
            </a:pathLst>
          </a:custGeom>
          <a:solidFill>
            <a:srgbClr val="FF67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54244" y="308307"/>
            <a:ext cx="1351026" cy="392543"/>
          </a:xfrm>
          <a:prstGeom prst="rect">
            <a:avLst/>
          </a:prstGeom>
        </p:spPr>
        <p:txBody>
          <a:bodyPr vert="horz" wrap="square" lIns="0" tIns="33147" rIns="0" bIns="0" rtlCol="0">
            <a:spAutoFit/>
          </a:bodyPr>
          <a:lstStyle/>
          <a:p>
            <a:pPr marL="428625" marR="4572" indent="-417766">
              <a:lnSpc>
                <a:spcPts val="1359"/>
              </a:lnSpc>
              <a:spcBef>
                <a:spcPts val="261"/>
              </a:spcBef>
            </a:pPr>
            <a:r>
              <a:rPr sz="1260" spc="-5" dirty="0">
                <a:solidFill>
                  <a:srgbClr val="FFFFFF"/>
                </a:solidFill>
                <a:latin typeface="Arial MT"/>
                <a:cs typeface="Arial MT"/>
              </a:rPr>
              <a:t>Services/Platforms  Design</a:t>
            </a:r>
            <a:endParaRPr sz="126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41220" y="745049"/>
            <a:ext cx="2104835" cy="1833372"/>
            <a:chOff x="6648911" y="827832"/>
            <a:chExt cx="2338705" cy="2037080"/>
          </a:xfrm>
        </p:grpSpPr>
        <p:sp>
          <p:nvSpPr>
            <p:cNvPr id="5" name="object 5"/>
            <p:cNvSpPr/>
            <p:nvPr/>
          </p:nvSpPr>
          <p:spPr>
            <a:xfrm>
              <a:off x="6653674" y="832595"/>
              <a:ext cx="1179830" cy="1000760"/>
            </a:xfrm>
            <a:custGeom>
              <a:avLst/>
              <a:gdLst/>
              <a:ahLst/>
              <a:cxnLst/>
              <a:rect l="l" t="t" r="r" b="b"/>
              <a:pathLst>
                <a:path w="1179829" h="1000760">
                  <a:moveTo>
                    <a:pt x="0" y="0"/>
                  </a:moveTo>
                  <a:lnTo>
                    <a:pt x="48292" y="11494"/>
                  </a:lnTo>
                  <a:lnTo>
                    <a:pt x="96048" y="24377"/>
                  </a:lnTo>
                  <a:lnTo>
                    <a:pt x="143245" y="38628"/>
                  </a:lnTo>
                  <a:lnTo>
                    <a:pt x="189858" y="54226"/>
                  </a:lnTo>
                  <a:lnTo>
                    <a:pt x="235863" y="71150"/>
                  </a:lnTo>
                  <a:lnTo>
                    <a:pt x="281236" y="89381"/>
                  </a:lnTo>
                  <a:lnTo>
                    <a:pt x="325953" y="108897"/>
                  </a:lnTo>
                  <a:lnTo>
                    <a:pt x="369990" y="129680"/>
                  </a:lnTo>
                  <a:lnTo>
                    <a:pt x="413322" y="151707"/>
                  </a:lnTo>
                  <a:lnTo>
                    <a:pt x="455927" y="174958"/>
                  </a:lnTo>
                  <a:lnTo>
                    <a:pt x="497778" y="199414"/>
                  </a:lnTo>
                  <a:lnTo>
                    <a:pt x="538853" y="225053"/>
                  </a:lnTo>
                  <a:lnTo>
                    <a:pt x="579128" y="251856"/>
                  </a:lnTo>
                  <a:lnTo>
                    <a:pt x="618578" y="279801"/>
                  </a:lnTo>
                  <a:lnTo>
                    <a:pt x="657179" y="308869"/>
                  </a:lnTo>
                  <a:lnTo>
                    <a:pt x="694907" y="339039"/>
                  </a:lnTo>
                  <a:lnTo>
                    <a:pt x="731738" y="370290"/>
                  </a:lnTo>
                  <a:lnTo>
                    <a:pt x="767648" y="402603"/>
                  </a:lnTo>
                  <a:lnTo>
                    <a:pt x="802613" y="435956"/>
                  </a:lnTo>
                  <a:lnTo>
                    <a:pt x="836609" y="470329"/>
                  </a:lnTo>
                  <a:lnTo>
                    <a:pt x="869612" y="505702"/>
                  </a:lnTo>
                  <a:lnTo>
                    <a:pt x="901597" y="542054"/>
                  </a:lnTo>
                  <a:lnTo>
                    <a:pt x="932541" y="579366"/>
                  </a:lnTo>
                  <a:lnTo>
                    <a:pt x="962419" y="617615"/>
                  </a:lnTo>
                  <a:lnTo>
                    <a:pt x="991208" y="656783"/>
                  </a:lnTo>
                  <a:lnTo>
                    <a:pt x="1018883" y="696848"/>
                  </a:lnTo>
                  <a:lnTo>
                    <a:pt x="1045420" y="737791"/>
                  </a:lnTo>
                  <a:lnTo>
                    <a:pt x="1070795" y="779590"/>
                  </a:lnTo>
                  <a:lnTo>
                    <a:pt x="1094984" y="822226"/>
                  </a:lnTo>
                  <a:lnTo>
                    <a:pt x="1117964" y="865677"/>
                  </a:lnTo>
                  <a:lnTo>
                    <a:pt x="1139709" y="909924"/>
                  </a:lnTo>
                  <a:lnTo>
                    <a:pt x="1160196" y="954945"/>
                  </a:lnTo>
                  <a:lnTo>
                    <a:pt x="1179400" y="1000722"/>
                  </a:lnTo>
                </a:path>
              </a:pathLst>
            </a:custGeom>
            <a:ln w="952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66190" y="1847953"/>
              <a:ext cx="2208530" cy="1003935"/>
            </a:xfrm>
            <a:custGeom>
              <a:avLst/>
              <a:gdLst/>
              <a:ahLst/>
              <a:cxnLst/>
              <a:rect l="l" t="t" r="r" b="b"/>
              <a:pathLst>
                <a:path w="2208529" h="1003935">
                  <a:moveTo>
                    <a:pt x="2040959" y="1003895"/>
                  </a:moveTo>
                  <a:lnTo>
                    <a:pt x="167319" y="1003895"/>
                  </a:lnTo>
                  <a:lnTo>
                    <a:pt x="122839" y="997919"/>
                  </a:lnTo>
                  <a:lnTo>
                    <a:pt x="82870" y="981052"/>
                  </a:lnTo>
                  <a:lnTo>
                    <a:pt x="49006" y="954889"/>
                  </a:lnTo>
                  <a:lnTo>
                    <a:pt x="22844" y="921026"/>
                  </a:lnTo>
                  <a:lnTo>
                    <a:pt x="5976" y="881056"/>
                  </a:lnTo>
                  <a:lnTo>
                    <a:pt x="0" y="836576"/>
                  </a:lnTo>
                  <a:lnTo>
                    <a:pt x="0" y="167319"/>
                  </a:lnTo>
                  <a:lnTo>
                    <a:pt x="5976" y="122839"/>
                  </a:lnTo>
                  <a:lnTo>
                    <a:pt x="22844" y="82870"/>
                  </a:lnTo>
                  <a:lnTo>
                    <a:pt x="49006" y="49006"/>
                  </a:lnTo>
                  <a:lnTo>
                    <a:pt x="82870" y="22844"/>
                  </a:lnTo>
                  <a:lnTo>
                    <a:pt x="122839" y="5976"/>
                  </a:lnTo>
                  <a:lnTo>
                    <a:pt x="167319" y="0"/>
                  </a:lnTo>
                  <a:lnTo>
                    <a:pt x="2040959" y="0"/>
                  </a:lnTo>
                  <a:lnTo>
                    <a:pt x="2104989" y="12736"/>
                  </a:lnTo>
                  <a:lnTo>
                    <a:pt x="2159271" y="49006"/>
                  </a:lnTo>
                  <a:lnTo>
                    <a:pt x="2195541" y="103289"/>
                  </a:lnTo>
                  <a:lnTo>
                    <a:pt x="2208278" y="167319"/>
                  </a:lnTo>
                  <a:lnTo>
                    <a:pt x="2208278" y="836576"/>
                  </a:lnTo>
                  <a:lnTo>
                    <a:pt x="2202301" y="881056"/>
                  </a:lnTo>
                  <a:lnTo>
                    <a:pt x="2185434" y="921026"/>
                  </a:lnTo>
                  <a:lnTo>
                    <a:pt x="2159271" y="954889"/>
                  </a:lnTo>
                  <a:lnTo>
                    <a:pt x="2125408" y="981052"/>
                  </a:lnTo>
                  <a:lnTo>
                    <a:pt x="2085439" y="997919"/>
                  </a:lnTo>
                  <a:lnTo>
                    <a:pt x="2040959" y="1003895"/>
                  </a:lnTo>
                  <a:close/>
                </a:path>
              </a:pathLst>
            </a:custGeom>
            <a:solidFill>
              <a:srgbClr val="FF67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66190" y="1847953"/>
              <a:ext cx="2208530" cy="1003935"/>
            </a:xfrm>
            <a:custGeom>
              <a:avLst/>
              <a:gdLst/>
              <a:ahLst/>
              <a:cxnLst/>
              <a:rect l="l" t="t" r="r" b="b"/>
              <a:pathLst>
                <a:path w="2208529" h="1003935">
                  <a:moveTo>
                    <a:pt x="0" y="167319"/>
                  </a:moveTo>
                  <a:lnTo>
                    <a:pt x="5976" y="122839"/>
                  </a:lnTo>
                  <a:lnTo>
                    <a:pt x="22844" y="82870"/>
                  </a:lnTo>
                  <a:lnTo>
                    <a:pt x="49006" y="49006"/>
                  </a:lnTo>
                  <a:lnTo>
                    <a:pt x="82870" y="22844"/>
                  </a:lnTo>
                  <a:lnTo>
                    <a:pt x="122839" y="5976"/>
                  </a:lnTo>
                  <a:lnTo>
                    <a:pt x="167319" y="0"/>
                  </a:lnTo>
                  <a:lnTo>
                    <a:pt x="2040959" y="0"/>
                  </a:lnTo>
                  <a:lnTo>
                    <a:pt x="2104989" y="12736"/>
                  </a:lnTo>
                  <a:lnTo>
                    <a:pt x="2159271" y="49006"/>
                  </a:lnTo>
                  <a:lnTo>
                    <a:pt x="2195541" y="103289"/>
                  </a:lnTo>
                  <a:lnTo>
                    <a:pt x="2208278" y="167319"/>
                  </a:lnTo>
                  <a:lnTo>
                    <a:pt x="2208278" y="836576"/>
                  </a:lnTo>
                  <a:lnTo>
                    <a:pt x="2202301" y="881056"/>
                  </a:lnTo>
                  <a:lnTo>
                    <a:pt x="2185434" y="921026"/>
                  </a:lnTo>
                  <a:lnTo>
                    <a:pt x="2159271" y="954889"/>
                  </a:lnTo>
                  <a:lnTo>
                    <a:pt x="2125408" y="981052"/>
                  </a:lnTo>
                  <a:lnTo>
                    <a:pt x="2085439" y="997919"/>
                  </a:lnTo>
                  <a:lnTo>
                    <a:pt x="2040959" y="1003895"/>
                  </a:lnTo>
                  <a:lnTo>
                    <a:pt x="167319" y="1003895"/>
                  </a:lnTo>
                  <a:lnTo>
                    <a:pt x="122839" y="997919"/>
                  </a:lnTo>
                  <a:lnTo>
                    <a:pt x="82870" y="981052"/>
                  </a:lnTo>
                  <a:lnTo>
                    <a:pt x="49006" y="954889"/>
                  </a:lnTo>
                  <a:lnTo>
                    <a:pt x="22844" y="921026"/>
                  </a:lnTo>
                  <a:lnTo>
                    <a:pt x="5976" y="881056"/>
                  </a:lnTo>
                  <a:lnTo>
                    <a:pt x="0" y="836576"/>
                  </a:lnTo>
                  <a:lnTo>
                    <a:pt x="0" y="167319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62216" y="1908897"/>
            <a:ext cx="1755077" cy="392543"/>
          </a:xfrm>
          <a:prstGeom prst="rect">
            <a:avLst/>
          </a:prstGeom>
        </p:spPr>
        <p:txBody>
          <a:bodyPr vert="horz" wrap="square" lIns="0" tIns="33147" rIns="0" bIns="0" rtlCol="0">
            <a:spAutoFit/>
          </a:bodyPr>
          <a:lstStyle/>
          <a:p>
            <a:pPr marL="11430" marR="4572" indent="697802">
              <a:lnSpc>
                <a:spcPts val="1359"/>
              </a:lnSpc>
              <a:spcBef>
                <a:spcPts val="261"/>
              </a:spcBef>
            </a:pPr>
            <a:r>
              <a:rPr sz="1260" spc="-5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1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60" spc="-5" dirty="0">
                <a:solidFill>
                  <a:srgbClr val="FFFFFF"/>
                </a:solidFill>
                <a:latin typeface="Arial MT"/>
                <a:cs typeface="Arial MT"/>
              </a:rPr>
              <a:t>Integration/Management</a:t>
            </a:r>
            <a:endParaRPr sz="126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65136" y="2572305"/>
            <a:ext cx="2692908" cy="1392174"/>
            <a:chOff x="4786595" y="2858117"/>
            <a:chExt cx="2992120" cy="1546860"/>
          </a:xfrm>
        </p:grpSpPr>
        <p:sp>
          <p:nvSpPr>
            <p:cNvPr id="10" name="object 10"/>
            <p:cNvSpPr/>
            <p:nvPr/>
          </p:nvSpPr>
          <p:spPr>
            <a:xfrm>
              <a:off x="6713592" y="2862879"/>
              <a:ext cx="1060450" cy="725805"/>
            </a:xfrm>
            <a:custGeom>
              <a:avLst/>
              <a:gdLst/>
              <a:ahLst/>
              <a:cxnLst/>
              <a:rect l="l" t="t" r="r" b="b"/>
              <a:pathLst>
                <a:path w="1060450" h="725804">
                  <a:moveTo>
                    <a:pt x="1060185" y="0"/>
                  </a:moveTo>
                  <a:lnTo>
                    <a:pt x="1032756" y="41118"/>
                  </a:lnTo>
                  <a:lnTo>
                    <a:pt x="1004199" y="81289"/>
                  </a:lnTo>
                  <a:lnTo>
                    <a:pt x="974538" y="120494"/>
                  </a:lnTo>
                  <a:lnTo>
                    <a:pt x="943801" y="158717"/>
                  </a:lnTo>
                  <a:lnTo>
                    <a:pt x="912014" y="195938"/>
                  </a:lnTo>
                  <a:lnTo>
                    <a:pt x="879202" y="232141"/>
                  </a:lnTo>
                  <a:lnTo>
                    <a:pt x="845393" y="267306"/>
                  </a:lnTo>
                  <a:lnTo>
                    <a:pt x="810612" y="301416"/>
                  </a:lnTo>
                  <a:lnTo>
                    <a:pt x="774885" y="334454"/>
                  </a:lnTo>
                  <a:lnTo>
                    <a:pt x="738239" y="366400"/>
                  </a:lnTo>
                  <a:lnTo>
                    <a:pt x="700700" y="397239"/>
                  </a:lnTo>
                  <a:lnTo>
                    <a:pt x="662293" y="426950"/>
                  </a:lnTo>
                  <a:lnTo>
                    <a:pt x="623047" y="455517"/>
                  </a:lnTo>
                  <a:lnTo>
                    <a:pt x="582985" y="482921"/>
                  </a:lnTo>
                  <a:lnTo>
                    <a:pt x="542136" y="509145"/>
                  </a:lnTo>
                  <a:lnTo>
                    <a:pt x="500524" y="534170"/>
                  </a:lnTo>
                  <a:lnTo>
                    <a:pt x="458177" y="557980"/>
                  </a:lnTo>
                  <a:lnTo>
                    <a:pt x="415120" y="580555"/>
                  </a:lnTo>
                  <a:lnTo>
                    <a:pt x="371380" y="601877"/>
                  </a:lnTo>
                  <a:lnTo>
                    <a:pt x="326982" y="621930"/>
                  </a:lnTo>
                  <a:lnTo>
                    <a:pt x="281953" y="640695"/>
                  </a:lnTo>
                  <a:lnTo>
                    <a:pt x="236320" y="658154"/>
                  </a:lnTo>
                  <a:lnTo>
                    <a:pt x="190108" y="674289"/>
                  </a:lnTo>
                  <a:lnTo>
                    <a:pt x="143344" y="689082"/>
                  </a:lnTo>
                  <a:lnTo>
                    <a:pt x="96054" y="702515"/>
                  </a:lnTo>
                  <a:lnTo>
                    <a:pt x="48263" y="714571"/>
                  </a:lnTo>
                  <a:lnTo>
                    <a:pt x="0" y="725231"/>
                  </a:lnTo>
                </a:path>
              </a:pathLst>
            </a:custGeom>
            <a:ln w="952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99295" y="3388112"/>
              <a:ext cx="1901825" cy="1003935"/>
            </a:xfrm>
            <a:custGeom>
              <a:avLst/>
              <a:gdLst/>
              <a:ahLst/>
              <a:cxnLst/>
              <a:rect l="l" t="t" r="r" b="b"/>
              <a:pathLst>
                <a:path w="1901825" h="1003935">
                  <a:moveTo>
                    <a:pt x="1734136" y="1003895"/>
                  </a:moveTo>
                  <a:lnTo>
                    <a:pt x="167319" y="1003895"/>
                  </a:lnTo>
                  <a:lnTo>
                    <a:pt x="122839" y="997919"/>
                  </a:lnTo>
                  <a:lnTo>
                    <a:pt x="82870" y="981051"/>
                  </a:lnTo>
                  <a:lnTo>
                    <a:pt x="49006" y="954889"/>
                  </a:lnTo>
                  <a:lnTo>
                    <a:pt x="22844" y="921025"/>
                  </a:lnTo>
                  <a:lnTo>
                    <a:pt x="5976" y="881056"/>
                  </a:lnTo>
                  <a:lnTo>
                    <a:pt x="0" y="836576"/>
                  </a:lnTo>
                  <a:lnTo>
                    <a:pt x="0" y="167319"/>
                  </a:lnTo>
                  <a:lnTo>
                    <a:pt x="5976" y="122839"/>
                  </a:lnTo>
                  <a:lnTo>
                    <a:pt x="22844" y="82870"/>
                  </a:lnTo>
                  <a:lnTo>
                    <a:pt x="49006" y="49006"/>
                  </a:lnTo>
                  <a:lnTo>
                    <a:pt x="82870" y="22844"/>
                  </a:lnTo>
                  <a:lnTo>
                    <a:pt x="122839" y="5976"/>
                  </a:lnTo>
                  <a:lnTo>
                    <a:pt x="167319" y="0"/>
                  </a:lnTo>
                  <a:lnTo>
                    <a:pt x="1734136" y="0"/>
                  </a:lnTo>
                  <a:lnTo>
                    <a:pt x="1798167" y="12736"/>
                  </a:lnTo>
                  <a:lnTo>
                    <a:pt x="1852448" y="49006"/>
                  </a:lnTo>
                  <a:lnTo>
                    <a:pt x="1888719" y="103289"/>
                  </a:lnTo>
                  <a:lnTo>
                    <a:pt x="1901456" y="167319"/>
                  </a:lnTo>
                  <a:lnTo>
                    <a:pt x="1901456" y="836576"/>
                  </a:lnTo>
                  <a:lnTo>
                    <a:pt x="1895479" y="881056"/>
                  </a:lnTo>
                  <a:lnTo>
                    <a:pt x="1878612" y="921025"/>
                  </a:lnTo>
                  <a:lnTo>
                    <a:pt x="1852449" y="954889"/>
                  </a:lnTo>
                  <a:lnTo>
                    <a:pt x="1818586" y="981051"/>
                  </a:lnTo>
                  <a:lnTo>
                    <a:pt x="1778616" y="997919"/>
                  </a:lnTo>
                  <a:lnTo>
                    <a:pt x="1734136" y="1003895"/>
                  </a:lnTo>
                  <a:close/>
                </a:path>
              </a:pathLst>
            </a:custGeom>
            <a:solidFill>
              <a:srgbClr val="FF67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99295" y="3388112"/>
              <a:ext cx="1901825" cy="1003935"/>
            </a:xfrm>
            <a:custGeom>
              <a:avLst/>
              <a:gdLst/>
              <a:ahLst/>
              <a:cxnLst/>
              <a:rect l="l" t="t" r="r" b="b"/>
              <a:pathLst>
                <a:path w="1901825" h="1003935">
                  <a:moveTo>
                    <a:pt x="0" y="167319"/>
                  </a:moveTo>
                  <a:lnTo>
                    <a:pt x="5976" y="122839"/>
                  </a:lnTo>
                  <a:lnTo>
                    <a:pt x="22844" y="82870"/>
                  </a:lnTo>
                  <a:lnTo>
                    <a:pt x="49006" y="49006"/>
                  </a:lnTo>
                  <a:lnTo>
                    <a:pt x="82870" y="22844"/>
                  </a:lnTo>
                  <a:lnTo>
                    <a:pt x="122839" y="5976"/>
                  </a:lnTo>
                  <a:lnTo>
                    <a:pt x="167319" y="0"/>
                  </a:lnTo>
                  <a:lnTo>
                    <a:pt x="1734136" y="0"/>
                  </a:lnTo>
                  <a:lnTo>
                    <a:pt x="1798167" y="12736"/>
                  </a:lnTo>
                  <a:lnTo>
                    <a:pt x="1852448" y="49006"/>
                  </a:lnTo>
                  <a:lnTo>
                    <a:pt x="1888719" y="103289"/>
                  </a:lnTo>
                  <a:lnTo>
                    <a:pt x="1901456" y="167319"/>
                  </a:lnTo>
                  <a:lnTo>
                    <a:pt x="1901456" y="836576"/>
                  </a:lnTo>
                  <a:lnTo>
                    <a:pt x="1895479" y="881056"/>
                  </a:lnTo>
                  <a:lnTo>
                    <a:pt x="1878612" y="921025"/>
                  </a:lnTo>
                  <a:lnTo>
                    <a:pt x="1852449" y="954889"/>
                  </a:lnTo>
                  <a:lnTo>
                    <a:pt x="1818586" y="981051"/>
                  </a:lnTo>
                  <a:lnTo>
                    <a:pt x="1778616" y="997919"/>
                  </a:lnTo>
                  <a:lnTo>
                    <a:pt x="1734136" y="1003895"/>
                  </a:lnTo>
                  <a:lnTo>
                    <a:pt x="167319" y="1003895"/>
                  </a:lnTo>
                  <a:lnTo>
                    <a:pt x="122839" y="997919"/>
                  </a:lnTo>
                  <a:lnTo>
                    <a:pt x="82870" y="981051"/>
                  </a:lnTo>
                  <a:lnTo>
                    <a:pt x="49006" y="954889"/>
                  </a:lnTo>
                  <a:lnTo>
                    <a:pt x="22844" y="921025"/>
                  </a:lnTo>
                  <a:lnTo>
                    <a:pt x="5976" y="881056"/>
                  </a:lnTo>
                  <a:lnTo>
                    <a:pt x="0" y="836576"/>
                  </a:lnTo>
                  <a:lnTo>
                    <a:pt x="0" y="167319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83025" y="3295040"/>
            <a:ext cx="1496187" cy="392543"/>
          </a:xfrm>
          <a:prstGeom prst="rect">
            <a:avLst/>
          </a:prstGeom>
        </p:spPr>
        <p:txBody>
          <a:bodyPr vert="horz" wrap="square" lIns="0" tIns="33147" rIns="0" bIns="0" rtlCol="0">
            <a:spAutoFit/>
          </a:bodyPr>
          <a:lstStyle/>
          <a:p>
            <a:pPr marL="11430" marR="4572" indent="568643">
              <a:lnSpc>
                <a:spcPts val="1359"/>
              </a:lnSpc>
              <a:spcBef>
                <a:spcPts val="261"/>
              </a:spcBef>
            </a:pPr>
            <a:r>
              <a:rPr sz="1260" spc="-5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1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60" spc="-5" dirty="0">
                <a:solidFill>
                  <a:srgbClr val="FFFFFF"/>
                </a:solidFill>
                <a:latin typeface="Arial MT"/>
                <a:cs typeface="Arial MT"/>
              </a:rPr>
              <a:t>Analytics/Processing</a:t>
            </a:r>
            <a:endParaRPr sz="126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64975" y="1557703"/>
            <a:ext cx="1413320" cy="1673352"/>
            <a:chOff x="3230861" y="1730781"/>
            <a:chExt cx="1570355" cy="1859280"/>
          </a:xfrm>
        </p:grpSpPr>
        <p:sp>
          <p:nvSpPr>
            <p:cNvPr id="15" name="object 15"/>
            <p:cNvSpPr/>
            <p:nvPr/>
          </p:nvSpPr>
          <p:spPr>
            <a:xfrm>
              <a:off x="4098340" y="2757654"/>
              <a:ext cx="691515" cy="827405"/>
            </a:xfrm>
            <a:custGeom>
              <a:avLst/>
              <a:gdLst/>
              <a:ahLst/>
              <a:cxnLst/>
              <a:rect l="l" t="t" r="r" b="b"/>
              <a:pathLst>
                <a:path w="691514" h="827404">
                  <a:moveTo>
                    <a:pt x="691519" y="827373"/>
                  </a:moveTo>
                  <a:lnTo>
                    <a:pt x="648858" y="800696"/>
                  </a:lnTo>
                  <a:lnTo>
                    <a:pt x="607120" y="772805"/>
                  </a:lnTo>
                  <a:lnTo>
                    <a:pt x="566329" y="743725"/>
                  </a:lnTo>
                  <a:lnTo>
                    <a:pt x="526506" y="713483"/>
                  </a:lnTo>
                  <a:lnTo>
                    <a:pt x="487673" y="682105"/>
                  </a:lnTo>
                  <a:lnTo>
                    <a:pt x="449851" y="649616"/>
                  </a:lnTo>
                  <a:lnTo>
                    <a:pt x="413063" y="616043"/>
                  </a:lnTo>
                  <a:lnTo>
                    <a:pt x="377329" y="581411"/>
                  </a:lnTo>
                  <a:lnTo>
                    <a:pt x="342672" y="545747"/>
                  </a:lnTo>
                  <a:lnTo>
                    <a:pt x="309114" y="509077"/>
                  </a:lnTo>
                  <a:lnTo>
                    <a:pt x="276676" y="471426"/>
                  </a:lnTo>
                  <a:lnTo>
                    <a:pt x="245379" y="432821"/>
                  </a:lnTo>
                  <a:lnTo>
                    <a:pt x="215246" y="393288"/>
                  </a:lnTo>
                  <a:lnTo>
                    <a:pt x="186299" y="352852"/>
                  </a:lnTo>
                  <a:lnTo>
                    <a:pt x="158559" y="311540"/>
                  </a:lnTo>
                  <a:lnTo>
                    <a:pt x="132047" y="269377"/>
                  </a:lnTo>
                  <a:lnTo>
                    <a:pt x="106786" y="226390"/>
                  </a:lnTo>
                  <a:lnTo>
                    <a:pt x="82797" y="182605"/>
                  </a:lnTo>
                  <a:lnTo>
                    <a:pt x="60102" y="138047"/>
                  </a:lnTo>
                  <a:lnTo>
                    <a:pt x="38723" y="92743"/>
                  </a:lnTo>
                  <a:lnTo>
                    <a:pt x="18682" y="46718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43561" y="1743481"/>
              <a:ext cx="1544955" cy="1003935"/>
            </a:xfrm>
            <a:custGeom>
              <a:avLst/>
              <a:gdLst/>
              <a:ahLst/>
              <a:cxnLst/>
              <a:rect l="l" t="t" r="r" b="b"/>
              <a:pathLst>
                <a:path w="1544954" h="1003935">
                  <a:moveTo>
                    <a:pt x="1377135" y="1003895"/>
                  </a:moveTo>
                  <a:lnTo>
                    <a:pt x="167319" y="1003895"/>
                  </a:lnTo>
                  <a:lnTo>
                    <a:pt x="122839" y="997919"/>
                  </a:lnTo>
                  <a:lnTo>
                    <a:pt x="82870" y="981052"/>
                  </a:lnTo>
                  <a:lnTo>
                    <a:pt x="49006" y="954889"/>
                  </a:lnTo>
                  <a:lnTo>
                    <a:pt x="22844" y="921025"/>
                  </a:lnTo>
                  <a:lnTo>
                    <a:pt x="5976" y="881056"/>
                  </a:lnTo>
                  <a:lnTo>
                    <a:pt x="0" y="836576"/>
                  </a:lnTo>
                  <a:lnTo>
                    <a:pt x="0" y="167319"/>
                  </a:lnTo>
                  <a:lnTo>
                    <a:pt x="5976" y="122839"/>
                  </a:lnTo>
                  <a:lnTo>
                    <a:pt x="22844" y="82870"/>
                  </a:lnTo>
                  <a:lnTo>
                    <a:pt x="49006" y="49006"/>
                  </a:lnTo>
                  <a:lnTo>
                    <a:pt x="82870" y="22843"/>
                  </a:lnTo>
                  <a:lnTo>
                    <a:pt x="122839" y="5976"/>
                  </a:lnTo>
                  <a:lnTo>
                    <a:pt x="167319" y="0"/>
                  </a:lnTo>
                  <a:lnTo>
                    <a:pt x="1377135" y="0"/>
                  </a:lnTo>
                  <a:lnTo>
                    <a:pt x="1441165" y="12736"/>
                  </a:lnTo>
                  <a:lnTo>
                    <a:pt x="1495447" y="49006"/>
                  </a:lnTo>
                  <a:lnTo>
                    <a:pt x="1531718" y="103289"/>
                  </a:lnTo>
                  <a:lnTo>
                    <a:pt x="1544455" y="167319"/>
                  </a:lnTo>
                  <a:lnTo>
                    <a:pt x="1544455" y="836576"/>
                  </a:lnTo>
                  <a:lnTo>
                    <a:pt x="1538478" y="881056"/>
                  </a:lnTo>
                  <a:lnTo>
                    <a:pt x="1521611" y="921025"/>
                  </a:lnTo>
                  <a:lnTo>
                    <a:pt x="1495448" y="954889"/>
                  </a:lnTo>
                  <a:lnTo>
                    <a:pt x="1461584" y="981052"/>
                  </a:lnTo>
                  <a:lnTo>
                    <a:pt x="1421615" y="997919"/>
                  </a:lnTo>
                  <a:lnTo>
                    <a:pt x="1377135" y="1003895"/>
                  </a:lnTo>
                  <a:close/>
                </a:path>
              </a:pathLst>
            </a:custGeom>
            <a:solidFill>
              <a:srgbClr val="FF67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43561" y="1743481"/>
              <a:ext cx="1544955" cy="1003935"/>
            </a:xfrm>
            <a:custGeom>
              <a:avLst/>
              <a:gdLst/>
              <a:ahLst/>
              <a:cxnLst/>
              <a:rect l="l" t="t" r="r" b="b"/>
              <a:pathLst>
                <a:path w="1544954" h="1003935">
                  <a:moveTo>
                    <a:pt x="0" y="167319"/>
                  </a:moveTo>
                  <a:lnTo>
                    <a:pt x="5976" y="122839"/>
                  </a:lnTo>
                  <a:lnTo>
                    <a:pt x="22844" y="82870"/>
                  </a:lnTo>
                  <a:lnTo>
                    <a:pt x="49006" y="49006"/>
                  </a:lnTo>
                  <a:lnTo>
                    <a:pt x="82870" y="22843"/>
                  </a:lnTo>
                  <a:lnTo>
                    <a:pt x="122839" y="5976"/>
                  </a:lnTo>
                  <a:lnTo>
                    <a:pt x="167319" y="0"/>
                  </a:lnTo>
                  <a:lnTo>
                    <a:pt x="1377135" y="0"/>
                  </a:lnTo>
                  <a:lnTo>
                    <a:pt x="1441165" y="12736"/>
                  </a:lnTo>
                  <a:lnTo>
                    <a:pt x="1495447" y="49006"/>
                  </a:lnTo>
                  <a:lnTo>
                    <a:pt x="1531718" y="103289"/>
                  </a:lnTo>
                  <a:lnTo>
                    <a:pt x="1544455" y="167319"/>
                  </a:lnTo>
                  <a:lnTo>
                    <a:pt x="1544455" y="836576"/>
                  </a:lnTo>
                  <a:lnTo>
                    <a:pt x="1538478" y="881056"/>
                  </a:lnTo>
                  <a:lnTo>
                    <a:pt x="1521611" y="921025"/>
                  </a:lnTo>
                  <a:lnTo>
                    <a:pt x="1495448" y="954889"/>
                  </a:lnTo>
                  <a:lnTo>
                    <a:pt x="1461584" y="981052"/>
                  </a:lnTo>
                  <a:lnTo>
                    <a:pt x="1421615" y="997919"/>
                  </a:lnTo>
                  <a:lnTo>
                    <a:pt x="1377135" y="1003895"/>
                  </a:lnTo>
                  <a:lnTo>
                    <a:pt x="167319" y="1003895"/>
                  </a:lnTo>
                  <a:lnTo>
                    <a:pt x="122839" y="997919"/>
                  </a:lnTo>
                  <a:lnTo>
                    <a:pt x="82870" y="981052"/>
                  </a:lnTo>
                  <a:lnTo>
                    <a:pt x="49006" y="954889"/>
                  </a:lnTo>
                  <a:lnTo>
                    <a:pt x="22844" y="921025"/>
                  </a:lnTo>
                  <a:lnTo>
                    <a:pt x="5976" y="881056"/>
                  </a:lnTo>
                  <a:lnTo>
                    <a:pt x="0" y="836576"/>
                  </a:lnTo>
                  <a:lnTo>
                    <a:pt x="0" y="167319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68713" y="1642051"/>
            <a:ext cx="1203579" cy="751616"/>
          </a:xfrm>
          <a:prstGeom prst="rect">
            <a:avLst/>
          </a:prstGeom>
        </p:spPr>
        <p:txBody>
          <a:bodyPr vert="horz" wrap="square" lIns="0" tIns="33147" rIns="0" bIns="0" rtlCol="0">
            <a:spAutoFit/>
          </a:bodyPr>
          <a:lstStyle/>
          <a:p>
            <a:pPr marL="11430" marR="4572" indent="1715" algn="ctr">
              <a:lnSpc>
                <a:spcPts val="1359"/>
              </a:lnSpc>
              <a:spcBef>
                <a:spcPts val="261"/>
              </a:spcBef>
            </a:pPr>
            <a:r>
              <a:rPr sz="1260" spc="-5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1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60" spc="-5" dirty="0">
                <a:solidFill>
                  <a:srgbClr val="FFFFFF"/>
                </a:solidFill>
                <a:latin typeface="Arial MT"/>
                <a:cs typeface="Arial MT"/>
              </a:rPr>
              <a:t>Governance</a:t>
            </a:r>
            <a:r>
              <a:rPr sz="1260" spc="-8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60" spc="-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260" spc="-338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60" spc="-5" dirty="0">
                <a:solidFill>
                  <a:srgbClr val="FFFFFF"/>
                </a:solidFill>
                <a:latin typeface="Arial MT"/>
                <a:cs typeface="Arial MT"/>
              </a:rPr>
              <a:t>Quality of </a:t>
            </a:r>
            <a:r>
              <a:rPr sz="1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60" spc="-5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126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33510" y="747232"/>
            <a:ext cx="2544318" cy="2401443"/>
            <a:chOff x="4084789" y="830258"/>
            <a:chExt cx="2827020" cy="2668270"/>
          </a:xfrm>
        </p:grpSpPr>
        <p:sp>
          <p:nvSpPr>
            <p:cNvPr id="20" name="object 20"/>
            <p:cNvSpPr/>
            <p:nvPr/>
          </p:nvSpPr>
          <p:spPr>
            <a:xfrm>
              <a:off x="4089552" y="835020"/>
              <a:ext cx="762000" cy="897255"/>
            </a:xfrm>
            <a:custGeom>
              <a:avLst/>
              <a:gdLst/>
              <a:ahLst/>
              <a:cxnLst/>
              <a:rect l="l" t="t" r="r" b="b"/>
              <a:pathLst>
                <a:path w="762000" h="897255">
                  <a:moveTo>
                    <a:pt x="0" y="897157"/>
                  </a:moveTo>
                  <a:lnTo>
                    <a:pt x="17668" y="849730"/>
                  </a:lnTo>
                  <a:lnTo>
                    <a:pt x="36723" y="802986"/>
                  </a:lnTo>
                  <a:lnTo>
                    <a:pt x="57142" y="756948"/>
                  </a:lnTo>
                  <a:lnTo>
                    <a:pt x="78903" y="711645"/>
                  </a:lnTo>
                  <a:lnTo>
                    <a:pt x="101982" y="667102"/>
                  </a:lnTo>
                  <a:lnTo>
                    <a:pt x="126360" y="623346"/>
                  </a:lnTo>
                  <a:lnTo>
                    <a:pt x="152012" y="580401"/>
                  </a:lnTo>
                  <a:lnTo>
                    <a:pt x="178917" y="538296"/>
                  </a:lnTo>
                  <a:lnTo>
                    <a:pt x="207053" y="497055"/>
                  </a:lnTo>
                  <a:lnTo>
                    <a:pt x="236397" y="456705"/>
                  </a:lnTo>
                  <a:lnTo>
                    <a:pt x="266928" y="417272"/>
                  </a:lnTo>
                  <a:lnTo>
                    <a:pt x="298622" y="378782"/>
                  </a:lnTo>
                  <a:lnTo>
                    <a:pt x="331459" y="341262"/>
                  </a:lnTo>
                  <a:lnTo>
                    <a:pt x="365415" y="304737"/>
                  </a:lnTo>
                  <a:lnTo>
                    <a:pt x="400468" y="269234"/>
                  </a:lnTo>
                  <a:lnTo>
                    <a:pt x="436597" y="234779"/>
                  </a:lnTo>
                  <a:lnTo>
                    <a:pt x="473778" y="201398"/>
                  </a:lnTo>
                  <a:lnTo>
                    <a:pt x="511991" y="169117"/>
                  </a:lnTo>
                  <a:lnTo>
                    <a:pt x="551212" y="137962"/>
                  </a:lnTo>
                  <a:lnTo>
                    <a:pt x="591419" y="107960"/>
                  </a:lnTo>
                  <a:lnTo>
                    <a:pt x="632591" y="79137"/>
                  </a:lnTo>
                  <a:lnTo>
                    <a:pt x="674704" y="51518"/>
                  </a:lnTo>
                  <a:lnTo>
                    <a:pt x="717737" y="25130"/>
                  </a:lnTo>
                  <a:lnTo>
                    <a:pt x="761668" y="0"/>
                  </a:lnTo>
                </a:path>
              </a:pathLst>
            </a:custGeom>
            <a:ln w="952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3261" y="1032537"/>
              <a:ext cx="2168208" cy="24657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8023" y="1057300"/>
              <a:ext cx="2078683" cy="237626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88023" y="1057300"/>
              <a:ext cx="2078989" cy="2376805"/>
            </a:xfrm>
            <a:custGeom>
              <a:avLst/>
              <a:gdLst/>
              <a:ahLst/>
              <a:cxnLst/>
              <a:rect l="l" t="t" r="r" b="b"/>
              <a:pathLst>
                <a:path w="2078990" h="2376804">
                  <a:moveTo>
                    <a:pt x="0" y="1188132"/>
                  </a:moveTo>
                  <a:lnTo>
                    <a:pt x="960" y="1136593"/>
                  </a:lnTo>
                  <a:lnTo>
                    <a:pt x="3815" y="1085615"/>
                  </a:lnTo>
                  <a:lnTo>
                    <a:pt x="8525" y="1035243"/>
                  </a:lnTo>
                  <a:lnTo>
                    <a:pt x="15052" y="985520"/>
                  </a:lnTo>
                  <a:lnTo>
                    <a:pt x="23356" y="936492"/>
                  </a:lnTo>
                  <a:lnTo>
                    <a:pt x="33399" y="888204"/>
                  </a:lnTo>
                  <a:lnTo>
                    <a:pt x="45141" y="840698"/>
                  </a:lnTo>
                  <a:lnTo>
                    <a:pt x="58544" y="794022"/>
                  </a:lnTo>
                  <a:lnTo>
                    <a:pt x="73568" y="748218"/>
                  </a:lnTo>
                  <a:lnTo>
                    <a:pt x="90175" y="703331"/>
                  </a:lnTo>
                  <a:lnTo>
                    <a:pt x="108326" y="659407"/>
                  </a:lnTo>
                  <a:lnTo>
                    <a:pt x="127980" y="616489"/>
                  </a:lnTo>
                  <a:lnTo>
                    <a:pt x="149101" y="574623"/>
                  </a:lnTo>
                  <a:lnTo>
                    <a:pt x="171648" y="533852"/>
                  </a:lnTo>
                  <a:lnTo>
                    <a:pt x="195583" y="494222"/>
                  </a:lnTo>
                  <a:lnTo>
                    <a:pt x="220866" y="455776"/>
                  </a:lnTo>
                  <a:lnTo>
                    <a:pt x="247458" y="418560"/>
                  </a:lnTo>
                  <a:lnTo>
                    <a:pt x="275321" y="382619"/>
                  </a:lnTo>
                  <a:lnTo>
                    <a:pt x="304416" y="347995"/>
                  </a:lnTo>
                  <a:lnTo>
                    <a:pt x="334703" y="314736"/>
                  </a:lnTo>
                  <a:lnTo>
                    <a:pt x="366144" y="282884"/>
                  </a:lnTo>
                  <a:lnTo>
                    <a:pt x="398699" y="252484"/>
                  </a:lnTo>
                  <a:lnTo>
                    <a:pt x="432330" y="223582"/>
                  </a:lnTo>
                  <a:lnTo>
                    <a:pt x="466998" y="196221"/>
                  </a:lnTo>
                  <a:lnTo>
                    <a:pt x="502663" y="170446"/>
                  </a:lnTo>
                  <a:lnTo>
                    <a:pt x="539286" y="146302"/>
                  </a:lnTo>
                  <a:lnTo>
                    <a:pt x="576829" y="123833"/>
                  </a:lnTo>
                  <a:lnTo>
                    <a:pt x="615253" y="103084"/>
                  </a:lnTo>
                  <a:lnTo>
                    <a:pt x="654518" y="84100"/>
                  </a:lnTo>
                  <a:lnTo>
                    <a:pt x="694586" y="66925"/>
                  </a:lnTo>
                  <a:lnTo>
                    <a:pt x="735418" y="51603"/>
                  </a:lnTo>
                  <a:lnTo>
                    <a:pt x="776974" y="38180"/>
                  </a:lnTo>
                  <a:lnTo>
                    <a:pt x="819215" y="26699"/>
                  </a:lnTo>
                  <a:lnTo>
                    <a:pt x="862103" y="17206"/>
                  </a:lnTo>
                  <a:lnTo>
                    <a:pt x="905599" y="9745"/>
                  </a:lnTo>
                  <a:lnTo>
                    <a:pt x="949663" y="4361"/>
                  </a:lnTo>
                  <a:lnTo>
                    <a:pt x="994257" y="1097"/>
                  </a:lnTo>
                  <a:lnTo>
                    <a:pt x="1039341" y="0"/>
                  </a:lnTo>
                  <a:lnTo>
                    <a:pt x="1084426" y="1097"/>
                  </a:lnTo>
                  <a:lnTo>
                    <a:pt x="1129020" y="4361"/>
                  </a:lnTo>
                  <a:lnTo>
                    <a:pt x="1173084" y="9745"/>
                  </a:lnTo>
                  <a:lnTo>
                    <a:pt x="1216580" y="17206"/>
                  </a:lnTo>
                  <a:lnTo>
                    <a:pt x="1259468" y="26699"/>
                  </a:lnTo>
                  <a:lnTo>
                    <a:pt x="1301709" y="38180"/>
                  </a:lnTo>
                  <a:lnTo>
                    <a:pt x="1343265" y="51603"/>
                  </a:lnTo>
                  <a:lnTo>
                    <a:pt x="1384097" y="66925"/>
                  </a:lnTo>
                  <a:lnTo>
                    <a:pt x="1424164" y="84100"/>
                  </a:lnTo>
                  <a:lnTo>
                    <a:pt x="1463430" y="103084"/>
                  </a:lnTo>
                  <a:lnTo>
                    <a:pt x="1501853" y="123833"/>
                  </a:lnTo>
                  <a:lnTo>
                    <a:pt x="1539397" y="146302"/>
                  </a:lnTo>
                  <a:lnTo>
                    <a:pt x="1576020" y="170446"/>
                  </a:lnTo>
                  <a:lnTo>
                    <a:pt x="1611685" y="196221"/>
                  </a:lnTo>
                  <a:lnTo>
                    <a:pt x="1646353" y="223582"/>
                  </a:lnTo>
                  <a:lnTo>
                    <a:pt x="1679983" y="252484"/>
                  </a:lnTo>
                  <a:lnTo>
                    <a:pt x="1712539" y="282884"/>
                  </a:lnTo>
                  <a:lnTo>
                    <a:pt x="1743980" y="314736"/>
                  </a:lnTo>
                  <a:lnTo>
                    <a:pt x="1774267" y="347995"/>
                  </a:lnTo>
                  <a:lnTo>
                    <a:pt x="1803362" y="382619"/>
                  </a:lnTo>
                  <a:lnTo>
                    <a:pt x="1831225" y="418560"/>
                  </a:lnTo>
                  <a:lnTo>
                    <a:pt x="1857817" y="455776"/>
                  </a:lnTo>
                  <a:lnTo>
                    <a:pt x="1883100" y="494222"/>
                  </a:lnTo>
                  <a:lnTo>
                    <a:pt x="1907035" y="533852"/>
                  </a:lnTo>
                  <a:lnTo>
                    <a:pt x="1929582" y="574623"/>
                  </a:lnTo>
                  <a:lnTo>
                    <a:pt x="1950702" y="616489"/>
                  </a:lnTo>
                  <a:lnTo>
                    <a:pt x="1970357" y="659407"/>
                  </a:lnTo>
                  <a:lnTo>
                    <a:pt x="1988508" y="703331"/>
                  </a:lnTo>
                  <a:lnTo>
                    <a:pt x="2005115" y="748218"/>
                  </a:lnTo>
                  <a:lnTo>
                    <a:pt x="2020139" y="794022"/>
                  </a:lnTo>
                  <a:lnTo>
                    <a:pt x="2033542" y="840698"/>
                  </a:lnTo>
                  <a:lnTo>
                    <a:pt x="2045284" y="888204"/>
                  </a:lnTo>
                  <a:lnTo>
                    <a:pt x="2055327" y="936492"/>
                  </a:lnTo>
                  <a:lnTo>
                    <a:pt x="2063631" y="985520"/>
                  </a:lnTo>
                  <a:lnTo>
                    <a:pt x="2070158" y="1035243"/>
                  </a:lnTo>
                  <a:lnTo>
                    <a:pt x="2074868" y="1085615"/>
                  </a:lnTo>
                  <a:lnTo>
                    <a:pt x="2077723" y="1136593"/>
                  </a:lnTo>
                  <a:lnTo>
                    <a:pt x="2078683" y="1188132"/>
                  </a:lnTo>
                  <a:lnTo>
                    <a:pt x="2077723" y="1239670"/>
                  </a:lnTo>
                  <a:lnTo>
                    <a:pt x="2074868" y="1290648"/>
                  </a:lnTo>
                  <a:lnTo>
                    <a:pt x="2070158" y="1341021"/>
                  </a:lnTo>
                  <a:lnTo>
                    <a:pt x="2063631" y="1390743"/>
                  </a:lnTo>
                  <a:lnTo>
                    <a:pt x="2055327" y="1439771"/>
                  </a:lnTo>
                  <a:lnTo>
                    <a:pt x="2045284" y="1488060"/>
                  </a:lnTo>
                  <a:lnTo>
                    <a:pt x="2033542" y="1535565"/>
                  </a:lnTo>
                  <a:lnTo>
                    <a:pt x="2020139" y="1582242"/>
                  </a:lnTo>
                  <a:lnTo>
                    <a:pt x="2005115" y="1628046"/>
                  </a:lnTo>
                  <a:lnTo>
                    <a:pt x="1988508" y="1672932"/>
                  </a:lnTo>
                  <a:lnTo>
                    <a:pt x="1970357" y="1716856"/>
                  </a:lnTo>
                  <a:lnTo>
                    <a:pt x="1950702" y="1759774"/>
                  </a:lnTo>
                  <a:lnTo>
                    <a:pt x="1929582" y="1801641"/>
                  </a:lnTo>
                  <a:lnTo>
                    <a:pt x="1907035" y="1842411"/>
                  </a:lnTo>
                  <a:lnTo>
                    <a:pt x="1883100" y="1882042"/>
                  </a:lnTo>
                  <a:lnTo>
                    <a:pt x="1857817" y="1920487"/>
                  </a:lnTo>
                  <a:lnTo>
                    <a:pt x="1831225" y="1957703"/>
                  </a:lnTo>
                  <a:lnTo>
                    <a:pt x="1803362" y="1993645"/>
                  </a:lnTo>
                  <a:lnTo>
                    <a:pt x="1774267" y="2028268"/>
                  </a:lnTo>
                  <a:lnTo>
                    <a:pt x="1743980" y="2061528"/>
                  </a:lnTo>
                  <a:lnTo>
                    <a:pt x="1712539" y="2093380"/>
                  </a:lnTo>
                  <a:lnTo>
                    <a:pt x="1679983" y="2123779"/>
                  </a:lnTo>
                  <a:lnTo>
                    <a:pt x="1646353" y="2152682"/>
                  </a:lnTo>
                  <a:lnTo>
                    <a:pt x="1611685" y="2180043"/>
                  </a:lnTo>
                  <a:lnTo>
                    <a:pt x="1576020" y="2205818"/>
                  </a:lnTo>
                  <a:lnTo>
                    <a:pt x="1539397" y="2229962"/>
                  </a:lnTo>
                  <a:lnTo>
                    <a:pt x="1501853" y="2252430"/>
                  </a:lnTo>
                  <a:lnTo>
                    <a:pt x="1463430" y="2273179"/>
                  </a:lnTo>
                  <a:lnTo>
                    <a:pt x="1424164" y="2292163"/>
                  </a:lnTo>
                  <a:lnTo>
                    <a:pt x="1384097" y="2309339"/>
                  </a:lnTo>
                  <a:lnTo>
                    <a:pt x="1343265" y="2324660"/>
                  </a:lnTo>
                  <a:lnTo>
                    <a:pt x="1301709" y="2338084"/>
                  </a:lnTo>
                  <a:lnTo>
                    <a:pt x="1259468" y="2349564"/>
                  </a:lnTo>
                  <a:lnTo>
                    <a:pt x="1216580" y="2359057"/>
                  </a:lnTo>
                  <a:lnTo>
                    <a:pt x="1173084" y="2366518"/>
                  </a:lnTo>
                  <a:lnTo>
                    <a:pt x="1129020" y="2371903"/>
                  </a:lnTo>
                  <a:lnTo>
                    <a:pt x="1084426" y="2375166"/>
                  </a:lnTo>
                  <a:lnTo>
                    <a:pt x="1039341" y="2376264"/>
                  </a:lnTo>
                  <a:lnTo>
                    <a:pt x="994257" y="2375166"/>
                  </a:lnTo>
                  <a:lnTo>
                    <a:pt x="949663" y="2371903"/>
                  </a:lnTo>
                  <a:lnTo>
                    <a:pt x="905599" y="2366518"/>
                  </a:lnTo>
                  <a:lnTo>
                    <a:pt x="862103" y="2359057"/>
                  </a:lnTo>
                  <a:lnTo>
                    <a:pt x="819215" y="2349564"/>
                  </a:lnTo>
                  <a:lnTo>
                    <a:pt x="776974" y="2338084"/>
                  </a:lnTo>
                  <a:lnTo>
                    <a:pt x="735418" y="2324660"/>
                  </a:lnTo>
                  <a:lnTo>
                    <a:pt x="694586" y="2309339"/>
                  </a:lnTo>
                  <a:lnTo>
                    <a:pt x="654518" y="2292163"/>
                  </a:lnTo>
                  <a:lnTo>
                    <a:pt x="615253" y="2273179"/>
                  </a:lnTo>
                  <a:lnTo>
                    <a:pt x="576829" y="2252430"/>
                  </a:lnTo>
                  <a:lnTo>
                    <a:pt x="539286" y="2229962"/>
                  </a:lnTo>
                  <a:lnTo>
                    <a:pt x="502663" y="2205818"/>
                  </a:lnTo>
                  <a:lnTo>
                    <a:pt x="466998" y="2180043"/>
                  </a:lnTo>
                  <a:lnTo>
                    <a:pt x="432330" y="2152682"/>
                  </a:lnTo>
                  <a:lnTo>
                    <a:pt x="398699" y="2123779"/>
                  </a:lnTo>
                  <a:lnTo>
                    <a:pt x="366144" y="2093380"/>
                  </a:lnTo>
                  <a:lnTo>
                    <a:pt x="334703" y="2061528"/>
                  </a:lnTo>
                  <a:lnTo>
                    <a:pt x="304416" y="2028268"/>
                  </a:lnTo>
                  <a:lnTo>
                    <a:pt x="275321" y="1993645"/>
                  </a:lnTo>
                  <a:lnTo>
                    <a:pt x="247458" y="1957703"/>
                  </a:lnTo>
                  <a:lnTo>
                    <a:pt x="220866" y="1920487"/>
                  </a:lnTo>
                  <a:lnTo>
                    <a:pt x="195583" y="1882042"/>
                  </a:lnTo>
                  <a:lnTo>
                    <a:pt x="171648" y="1842411"/>
                  </a:lnTo>
                  <a:lnTo>
                    <a:pt x="149101" y="1801641"/>
                  </a:lnTo>
                  <a:lnTo>
                    <a:pt x="127980" y="1759774"/>
                  </a:lnTo>
                  <a:lnTo>
                    <a:pt x="108326" y="1716856"/>
                  </a:lnTo>
                  <a:lnTo>
                    <a:pt x="90175" y="1672932"/>
                  </a:lnTo>
                  <a:lnTo>
                    <a:pt x="73568" y="1628046"/>
                  </a:lnTo>
                  <a:lnTo>
                    <a:pt x="58544" y="1582242"/>
                  </a:lnTo>
                  <a:lnTo>
                    <a:pt x="45141" y="1535565"/>
                  </a:lnTo>
                  <a:lnTo>
                    <a:pt x="33399" y="1488060"/>
                  </a:lnTo>
                  <a:lnTo>
                    <a:pt x="23356" y="1439771"/>
                  </a:lnTo>
                  <a:lnTo>
                    <a:pt x="15052" y="1390743"/>
                  </a:lnTo>
                  <a:lnTo>
                    <a:pt x="8525" y="1341021"/>
                  </a:lnTo>
                  <a:lnTo>
                    <a:pt x="3815" y="1290648"/>
                  </a:lnTo>
                  <a:lnTo>
                    <a:pt x="960" y="1239670"/>
                  </a:lnTo>
                  <a:lnTo>
                    <a:pt x="0" y="1188132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044732" y="1372720"/>
            <a:ext cx="1314450" cy="392543"/>
          </a:xfrm>
          <a:prstGeom prst="rect">
            <a:avLst/>
          </a:prstGeom>
        </p:spPr>
        <p:txBody>
          <a:bodyPr vert="horz" wrap="square" lIns="0" tIns="33147" rIns="0" bIns="0" rtlCol="0">
            <a:spAutoFit/>
          </a:bodyPr>
          <a:lstStyle/>
          <a:p>
            <a:pPr marL="11430" marR="4572" indent="88011">
              <a:lnSpc>
                <a:spcPts val="1359"/>
              </a:lnSpc>
              <a:spcBef>
                <a:spcPts val="261"/>
              </a:spcBef>
            </a:pPr>
            <a:r>
              <a:rPr sz="1260" spc="-5" dirty="0">
                <a:latin typeface="Arial MT"/>
                <a:cs typeface="Arial MT"/>
              </a:rPr>
              <a:t>Build </a:t>
            </a:r>
            <a:r>
              <a:rPr sz="1260" spc="-27" dirty="0">
                <a:latin typeface="Arial MT"/>
                <a:cs typeface="Arial MT"/>
              </a:rPr>
              <a:t>“Your </a:t>
            </a:r>
            <a:r>
              <a:rPr sz="1260" spc="-5" dirty="0">
                <a:latin typeface="Arial MT"/>
                <a:cs typeface="Arial MT"/>
              </a:rPr>
              <a:t>own </a:t>
            </a:r>
            <a:r>
              <a:rPr sz="1260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Big</a:t>
            </a:r>
            <a:r>
              <a:rPr sz="1260" spc="-36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Data</a:t>
            </a:r>
            <a:r>
              <a:rPr sz="1260" spc="-32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Platform</a:t>
            </a:r>
            <a:r>
              <a:rPr sz="900" spc="-5" dirty="0">
                <a:latin typeface="Arial MT"/>
                <a:cs typeface="Arial MT"/>
              </a:rPr>
              <a:t>”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848767" y="475585"/>
            <a:ext cx="2056257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Build</a:t>
            </a:r>
            <a:r>
              <a:rPr spc="-90" dirty="0"/>
              <a:t> </a:t>
            </a:r>
            <a:r>
              <a:rPr spc="-5" dirty="0"/>
              <a:t>your </a:t>
            </a:r>
            <a:r>
              <a:rPr spc="-887" dirty="0"/>
              <a:t> </a:t>
            </a:r>
            <a:r>
              <a:rPr spc="-5" dirty="0"/>
              <a:t>story</a:t>
            </a:r>
          </a:p>
        </p:txBody>
      </p:sp>
      <p:grpSp>
        <p:nvGrpSpPr>
          <p:cNvPr id="26" name="object 26"/>
          <p:cNvGrpSpPr/>
          <p:nvPr/>
        </p:nvGrpSpPr>
        <p:grpSpPr>
          <a:xfrm>
            <a:off x="4997029" y="1874896"/>
            <a:ext cx="1531048" cy="911543"/>
            <a:chOff x="5044255" y="2083217"/>
            <a:chExt cx="1701164" cy="1012825"/>
          </a:xfrm>
        </p:grpSpPr>
        <p:sp>
          <p:nvSpPr>
            <p:cNvPr id="27" name="object 27"/>
            <p:cNvSpPr/>
            <p:nvPr/>
          </p:nvSpPr>
          <p:spPr>
            <a:xfrm>
              <a:off x="5056955" y="2095917"/>
              <a:ext cx="1675764" cy="987425"/>
            </a:xfrm>
            <a:custGeom>
              <a:avLst/>
              <a:gdLst/>
              <a:ahLst/>
              <a:cxnLst/>
              <a:rect l="l" t="t" r="r" b="b"/>
              <a:pathLst>
                <a:path w="1675765" h="987425">
                  <a:moveTo>
                    <a:pt x="837642" y="987336"/>
                  </a:moveTo>
                  <a:lnTo>
                    <a:pt x="777821" y="986096"/>
                  </a:lnTo>
                  <a:lnTo>
                    <a:pt x="719136" y="982434"/>
                  </a:lnTo>
                  <a:lnTo>
                    <a:pt x="661727" y="976431"/>
                  </a:lnTo>
                  <a:lnTo>
                    <a:pt x="605737" y="968172"/>
                  </a:lnTo>
                  <a:lnTo>
                    <a:pt x="551307" y="957740"/>
                  </a:lnTo>
                  <a:lnTo>
                    <a:pt x="498580" y="945220"/>
                  </a:lnTo>
                  <a:lnTo>
                    <a:pt x="447696" y="930693"/>
                  </a:lnTo>
                  <a:lnTo>
                    <a:pt x="398798" y="914245"/>
                  </a:lnTo>
                  <a:lnTo>
                    <a:pt x="352028" y="895957"/>
                  </a:lnTo>
                  <a:lnTo>
                    <a:pt x="307527" y="875915"/>
                  </a:lnTo>
                  <a:lnTo>
                    <a:pt x="265436" y="854201"/>
                  </a:lnTo>
                  <a:lnTo>
                    <a:pt x="225899" y="830900"/>
                  </a:lnTo>
                  <a:lnTo>
                    <a:pt x="189056" y="806094"/>
                  </a:lnTo>
                  <a:lnTo>
                    <a:pt x="155048" y="779867"/>
                  </a:lnTo>
                  <a:lnTo>
                    <a:pt x="124019" y="752302"/>
                  </a:lnTo>
                  <a:lnTo>
                    <a:pt x="96110" y="723484"/>
                  </a:lnTo>
                  <a:lnTo>
                    <a:pt x="71462" y="693496"/>
                  </a:lnTo>
                  <a:lnTo>
                    <a:pt x="32516" y="630342"/>
                  </a:lnTo>
                  <a:lnTo>
                    <a:pt x="8318" y="563510"/>
                  </a:lnTo>
                  <a:lnTo>
                    <a:pt x="0" y="493668"/>
                  </a:lnTo>
                  <a:lnTo>
                    <a:pt x="2103" y="458412"/>
                  </a:lnTo>
                  <a:lnTo>
                    <a:pt x="18503" y="389991"/>
                  </a:lnTo>
                  <a:lnTo>
                    <a:pt x="50217" y="324915"/>
                  </a:lnTo>
                  <a:lnTo>
                    <a:pt x="96110" y="263851"/>
                  </a:lnTo>
                  <a:lnTo>
                    <a:pt x="124019" y="235033"/>
                  </a:lnTo>
                  <a:lnTo>
                    <a:pt x="155048" y="207469"/>
                  </a:lnTo>
                  <a:lnTo>
                    <a:pt x="189056" y="181242"/>
                  </a:lnTo>
                  <a:lnTo>
                    <a:pt x="225899" y="156436"/>
                  </a:lnTo>
                  <a:lnTo>
                    <a:pt x="265436" y="133134"/>
                  </a:lnTo>
                  <a:lnTo>
                    <a:pt x="307527" y="111420"/>
                  </a:lnTo>
                  <a:lnTo>
                    <a:pt x="352028" y="91378"/>
                  </a:lnTo>
                  <a:lnTo>
                    <a:pt x="398798" y="73091"/>
                  </a:lnTo>
                  <a:lnTo>
                    <a:pt x="447696" y="56642"/>
                  </a:lnTo>
                  <a:lnTo>
                    <a:pt x="498580" y="42116"/>
                  </a:lnTo>
                  <a:lnTo>
                    <a:pt x="551307" y="29595"/>
                  </a:lnTo>
                  <a:lnTo>
                    <a:pt x="605737" y="19163"/>
                  </a:lnTo>
                  <a:lnTo>
                    <a:pt x="661727" y="10905"/>
                  </a:lnTo>
                  <a:lnTo>
                    <a:pt x="719136" y="4902"/>
                  </a:lnTo>
                  <a:lnTo>
                    <a:pt x="777821" y="1239"/>
                  </a:lnTo>
                  <a:lnTo>
                    <a:pt x="837642" y="0"/>
                  </a:lnTo>
                  <a:lnTo>
                    <a:pt x="897463" y="1239"/>
                  </a:lnTo>
                  <a:lnTo>
                    <a:pt x="956149" y="4902"/>
                  </a:lnTo>
                  <a:lnTo>
                    <a:pt x="1013558" y="10905"/>
                  </a:lnTo>
                  <a:lnTo>
                    <a:pt x="1069548" y="19163"/>
                  </a:lnTo>
                  <a:lnTo>
                    <a:pt x="1123977" y="29595"/>
                  </a:lnTo>
                  <a:lnTo>
                    <a:pt x="1176705" y="42116"/>
                  </a:lnTo>
                  <a:lnTo>
                    <a:pt x="1227588" y="56642"/>
                  </a:lnTo>
                  <a:lnTo>
                    <a:pt x="1276486" y="73091"/>
                  </a:lnTo>
                  <a:lnTo>
                    <a:pt x="1323257" y="91378"/>
                  </a:lnTo>
                  <a:lnTo>
                    <a:pt x="1367758" y="111420"/>
                  </a:lnTo>
                  <a:lnTo>
                    <a:pt x="1409848" y="133134"/>
                  </a:lnTo>
                  <a:lnTo>
                    <a:pt x="1449386" y="156436"/>
                  </a:lnTo>
                  <a:lnTo>
                    <a:pt x="1486229" y="181242"/>
                  </a:lnTo>
                  <a:lnTo>
                    <a:pt x="1520236" y="207469"/>
                  </a:lnTo>
                  <a:lnTo>
                    <a:pt x="1551265" y="235033"/>
                  </a:lnTo>
                  <a:lnTo>
                    <a:pt x="1579175" y="263851"/>
                  </a:lnTo>
                  <a:lnTo>
                    <a:pt x="1603823" y="293840"/>
                  </a:lnTo>
                  <a:lnTo>
                    <a:pt x="1642768" y="356993"/>
                  </a:lnTo>
                  <a:lnTo>
                    <a:pt x="1666967" y="423825"/>
                  </a:lnTo>
                  <a:lnTo>
                    <a:pt x="1675285" y="493668"/>
                  </a:lnTo>
                  <a:lnTo>
                    <a:pt x="1673182" y="528924"/>
                  </a:lnTo>
                  <a:lnTo>
                    <a:pt x="1656782" y="597344"/>
                  </a:lnTo>
                  <a:lnTo>
                    <a:pt x="1625068" y="662421"/>
                  </a:lnTo>
                  <a:lnTo>
                    <a:pt x="1579175" y="723484"/>
                  </a:lnTo>
                  <a:lnTo>
                    <a:pt x="1551265" y="752302"/>
                  </a:lnTo>
                  <a:lnTo>
                    <a:pt x="1520236" y="779867"/>
                  </a:lnTo>
                  <a:lnTo>
                    <a:pt x="1486229" y="806094"/>
                  </a:lnTo>
                  <a:lnTo>
                    <a:pt x="1449386" y="830900"/>
                  </a:lnTo>
                  <a:lnTo>
                    <a:pt x="1409848" y="854201"/>
                  </a:lnTo>
                  <a:lnTo>
                    <a:pt x="1367758" y="875915"/>
                  </a:lnTo>
                  <a:lnTo>
                    <a:pt x="1323257" y="895957"/>
                  </a:lnTo>
                  <a:lnTo>
                    <a:pt x="1276486" y="914245"/>
                  </a:lnTo>
                  <a:lnTo>
                    <a:pt x="1227588" y="930693"/>
                  </a:lnTo>
                  <a:lnTo>
                    <a:pt x="1176705" y="945220"/>
                  </a:lnTo>
                  <a:lnTo>
                    <a:pt x="1123977" y="957740"/>
                  </a:lnTo>
                  <a:lnTo>
                    <a:pt x="1069548" y="968172"/>
                  </a:lnTo>
                  <a:lnTo>
                    <a:pt x="1013558" y="976431"/>
                  </a:lnTo>
                  <a:lnTo>
                    <a:pt x="956149" y="982434"/>
                  </a:lnTo>
                  <a:lnTo>
                    <a:pt x="897463" y="986096"/>
                  </a:lnTo>
                  <a:lnTo>
                    <a:pt x="837642" y="9873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56955" y="2095917"/>
              <a:ext cx="1675764" cy="987425"/>
            </a:xfrm>
            <a:custGeom>
              <a:avLst/>
              <a:gdLst/>
              <a:ahLst/>
              <a:cxnLst/>
              <a:rect l="l" t="t" r="r" b="b"/>
              <a:pathLst>
                <a:path w="1675765" h="987425">
                  <a:moveTo>
                    <a:pt x="0" y="493668"/>
                  </a:moveTo>
                  <a:lnTo>
                    <a:pt x="8318" y="423825"/>
                  </a:lnTo>
                  <a:lnTo>
                    <a:pt x="32516" y="356993"/>
                  </a:lnTo>
                  <a:lnTo>
                    <a:pt x="71462" y="293840"/>
                  </a:lnTo>
                  <a:lnTo>
                    <a:pt x="96110" y="263851"/>
                  </a:lnTo>
                  <a:lnTo>
                    <a:pt x="124019" y="235033"/>
                  </a:lnTo>
                  <a:lnTo>
                    <a:pt x="155048" y="207469"/>
                  </a:lnTo>
                  <a:lnTo>
                    <a:pt x="189056" y="181242"/>
                  </a:lnTo>
                  <a:lnTo>
                    <a:pt x="225899" y="156436"/>
                  </a:lnTo>
                  <a:lnTo>
                    <a:pt x="265436" y="133134"/>
                  </a:lnTo>
                  <a:lnTo>
                    <a:pt x="307527" y="111420"/>
                  </a:lnTo>
                  <a:lnTo>
                    <a:pt x="352028" y="91378"/>
                  </a:lnTo>
                  <a:lnTo>
                    <a:pt x="398798" y="73091"/>
                  </a:lnTo>
                  <a:lnTo>
                    <a:pt x="447696" y="56642"/>
                  </a:lnTo>
                  <a:lnTo>
                    <a:pt x="498580" y="42116"/>
                  </a:lnTo>
                  <a:lnTo>
                    <a:pt x="551307" y="29595"/>
                  </a:lnTo>
                  <a:lnTo>
                    <a:pt x="605737" y="19163"/>
                  </a:lnTo>
                  <a:lnTo>
                    <a:pt x="661727" y="10905"/>
                  </a:lnTo>
                  <a:lnTo>
                    <a:pt x="719136" y="4902"/>
                  </a:lnTo>
                  <a:lnTo>
                    <a:pt x="777821" y="1239"/>
                  </a:lnTo>
                  <a:lnTo>
                    <a:pt x="837642" y="0"/>
                  </a:lnTo>
                  <a:lnTo>
                    <a:pt x="897463" y="1239"/>
                  </a:lnTo>
                  <a:lnTo>
                    <a:pt x="956149" y="4902"/>
                  </a:lnTo>
                  <a:lnTo>
                    <a:pt x="1013558" y="10905"/>
                  </a:lnTo>
                  <a:lnTo>
                    <a:pt x="1069548" y="19163"/>
                  </a:lnTo>
                  <a:lnTo>
                    <a:pt x="1123977" y="29595"/>
                  </a:lnTo>
                  <a:lnTo>
                    <a:pt x="1176705" y="42116"/>
                  </a:lnTo>
                  <a:lnTo>
                    <a:pt x="1227588" y="56642"/>
                  </a:lnTo>
                  <a:lnTo>
                    <a:pt x="1276486" y="73091"/>
                  </a:lnTo>
                  <a:lnTo>
                    <a:pt x="1323257" y="91378"/>
                  </a:lnTo>
                  <a:lnTo>
                    <a:pt x="1367758" y="111420"/>
                  </a:lnTo>
                  <a:lnTo>
                    <a:pt x="1409848" y="133134"/>
                  </a:lnTo>
                  <a:lnTo>
                    <a:pt x="1449386" y="156436"/>
                  </a:lnTo>
                  <a:lnTo>
                    <a:pt x="1486229" y="181242"/>
                  </a:lnTo>
                  <a:lnTo>
                    <a:pt x="1520236" y="207469"/>
                  </a:lnTo>
                  <a:lnTo>
                    <a:pt x="1551265" y="235033"/>
                  </a:lnTo>
                  <a:lnTo>
                    <a:pt x="1579175" y="263851"/>
                  </a:lnTo>
                  <a:lnTo>
                    <a:pt x="1603823" y="293840"/>
                  </a:lnTo>
                  <a:lnTo>
                    <a:pt x="1642768" y="356993"/>
                  </a:lnTo>
                  <a:lnTo>
                    <a:pt x="1666967" y="423825"/>
                  </a:lnTo>
                  <a:lnTo>
                    <a:pt x="1675285" y="493668"/>
                  </a:lnTo>
                  <a:lnTo>
                    <a:pt x="1673182" y="528924"/>
                  </a:lnTo>
                  <a:lnTo>
                    <a:pt x="1656782" y="597344"/>
                  </a:lnTo>
                  <a:lnTo>
                    <a:pt x="1625068" y="662421"/>
                  </a:lnTo>
                  <a:lnTo>
                    <a:pt x="1579175" y="723484"/>
                  </a:lnTo>
                  <a:lnTo>
                    <a:pt x="1551265" y="752302"/>
                  </a:lnTo>
                  <a:lnTo>
                    <a:pt x="1520236" y="779867"/>
                  </a:lnTo>
                  <a:lnTo>
                    <a:pt x="1486229" y="806094"/>
                  </a:lnTo>
                  <a:lnTo>
                    <a:pt x="1449386" y="830900"/>
                  </a:lnTo>
                  <a:lnTo>
                    <a:pt x="1409848" y="854201"/>
                  </a:lnTo>
                  <a:lnTo>
                    <a:pt x="1367758" y="875915"/>
                  </a:lnTo>
                  <a:lnTo>
                    <a:pt x="1323257" y="895957"/>
                  </a:lnTo>
                  <a:lnTo>
                    <a:pt x="1276486" y="914245"/>
                  </a:lnTo>
                  <a:lnTo>
                    <a:pt x="1227588" y="930693"/>
                  </a:lnTo>
                  <a:lnTo>
                    <a:pt x="1176705" y="945220"/>
                  </a:lnTo>
                  <a:lnTo>
                    <a:pt x="1123977" y="957740"/>
                  </a:lnTo>
                  <a:lnTo>
                    <a:pt x="1069548" y="968172"/>
                  </a:lnTo>
                  <a:lnTo>
                    <a:pt x="1013558" y="976431"/>
                  </a:lnTo>
                  <a:lnTo>
                    <a:pt x="956149" y="982434"/>
                  </a:lnTo>
                  <a:lnTo>
                    <a:pt x="897463" y="986096"/>
                  </a:lnTo>
                  <a:lnTo>
                    <a:pt x="837642" y="987336"/>
                  </a:lnTo>
                  <a:lnTo>
                    <a:pt x="777821" y="986096"/>
                  </a:lnTo>
                  <a:lnTo>
                    <a:pt x="719136" y="982434"/>
                  </a:lnTo>
                  <a:lnTo>
                    <a:pt x="661727" y="976431"/>
                  </a:lnTo>
                  <a:lnTo>
                    <a:pt x="605737" y="968172"/>
                  </a:lnTo>
                  <a:lnTo>
                    <a:pt x="551307" y="957740"/>
                  </a:lnTo>
                  <a:lnTo>
                    <a:pt x="498580" y="945220"/>
                  </a:lnTo>
                  <a:lnTo>
                    <a:pt x="447696" y="930693"/>
                  </a:lnTo>
                  <a:lnTo>
                    <a:pt x="398798" y="914245"/>
                  </a:lnTo>
                  <a:lnTo>
                    <a:pt x="352028" y="895957"/>
                  </a:lnTo>
                  <a:lnTo>
                    <a:pt x="307527" y="875915"/>
                  </a:lnTo>
                  <a:lnTo>
                    <a:pt x="265436" y="854201"/>
                  </a:lnTo>
                  <a:lnTo>
                    <a:pt x="225899" y="830900"/>
                  </a:lnTo>
                  <a:lnTo>
                    <a:pt x="189056" y="806094"/>
                  </a:lnTo>
                  <a:lnTo>
                    <a:pt x="155048" y="779867"/>
                  </a:lnTo>
                  <a:lnTo>
                    <a:pt x="124019" y="752302"/>
                  </a:lnTo>
                  <a:lnTo>
                    <a:pt x="96110" y="723484"/>
                  </a:lnTo>
                  <a:lnTo>
                    <a:pt x="71462" y="693496"/>
                  </a:lnTo>
                  <a:lnTo>
                    <a:pt x="32516" y="630342"/>
                  </a:lnTo>
                  <a:lnTo>
                    <a:pt x="8318" y="563510"/>
                  </a:lnTo>
                  <a:lnTo>
                    <a:pt x="0" y="493668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288569" y="1951792"/>
            <a:ext cx="948119" cy="751616"/>
          </a:xfrm>
          <a:prstGeom prst="rect">
            <a:avLst/>
          </a:prstGeom>
        </p:spPr>
        <p:txBody>
          <a:bodyPr vert="horz" wrap="square" lIns="0" tIns="33147" rIns="0" bIns="0" rtlCol="0">
            <a:spAutoFit/>
          </a:bodyPr>
          <a:lstStyle/>
          <a:p>
            <a:pPr marL="11430" marR="4572" indent="-572" algn="ctr">
              <a:lnSpc>
                <a:spcPts val="1359"/>
              </a:lnSpc>
              <a:spcBef>
                <a:spcPts val="261"/>
              </a:spcBef>
            </a:pPr>
            <a:r>
              <a:rPr sz="1260" spc="-5" dirty="0">
                <a:latin typeface="Arial MT"/>
                <a:cs typeface="Arial MT"/>
              </a:rPr>
              <a:t>Core </a:t>
            </a:r>
            <a:r>
              <a:rPr sz="1260" dirty="0">
                <a:latin typeface="Arial MT"/>
                <a:cs typeface="Arial MT"/>
              </a:rPr>
              <a:t> concepts, </a:t>
            </a:r>
            <a:r>
              <a:rPr sz="1260" spc="5" dirty="0">
                <a:latin typeface="Arial MT"/>
                <a:cs typeface="Arial MT"/>
              </a:rPr>
              <a:t> </a:t>
            </a:r>
            <a:r>
              <a:rPr sz="1260" dirty="0">
                <a:latin typeface="Arial MT"/>
                <a:cs typeface="Arial MT"/>
              </a:rPr>
              <a:t>methods</a:t>
            </a:r>
            <a:r>
              <a:rPr sz="1260" spc="-5" dirty="0">
                <a:latin typeface="Arial MT"/>
                <a:cs typeface="Arial MT"/>
              </a:rPr>
              <a:t> and  technologies</a:t>
            </a:r>
            <a:endParaRPr sz="126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2217" y="2173830"/>
            <a:ext cx="2418017" cy="84253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pc="-5" dirty="0">
                <a:latin typeface="Arial MT"/>
                <a:cs typeface="Arial MT"/>
              </a:rPr>
              <a:t>Focus</a:t>
            </a:r>
            <a:r>
              <a:rPr spc="-32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on</a:t>
            </a:r>
            <a:r>
              <a:rPr spc="-32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foundations</a:t>
            </a:r>
            <a:r>
              <a:rPr spc="-27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&amp; </a:t>
            </a:r>
            <a:r>
              <a:rPr spc="-486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explore </a:t>
            </a:r>
            <a:r>
              <a:rPr dirty="0">
                <a:latin typeface="Arial MT"/>
                <a:cs typeface="Arial MT"/>
              </a:rPr>
              <a:t>your 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strengths/interests</a:t>
            </a:r>
            <a:endParaRPr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98795" y="1318078"/>
            <a:ext cx="7127176" cy="2204258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  <a:tabLst>
                <a:tab pos="625793" algn="l"/>
              </a:tabLst>
            </a:pP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Design and </a:t>
            </a:r>
            <a:r>
              <a:rPr sz="3240" b="1" spc="-9" dirty="0">
                <a:solidFill>
                  <a:srgbClr val="FF671F"/>
                </a:solidFill>
                <a:latin typeface="Arial"/>
                <a:cs typeface="Arial"/>
              </a:rPr>
              <a:t>implementation </a:t>
            </a: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mainly </a:t>
            </a:r>
            <a:r>
              <a:rPr sz="3240" b="1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reflect </a:t>
            </a:r>
            <a:r>
              <a:rPr sz="3240" b="1" spc="-5" dirty="0">
                <a:solidFill>
                  <a:srgbClr val="005EB8"/>
                </a:solidFill>
                <a:latin typeface="Arial"/>
                <a:cs typeface="Arial"/>
              </a:rPr>
              <a:t>activities of </a:t>
            </a:r>
            <a:r>
              <a:rPr sz="3240" b="1" spc="-9" dirty="0">
                <a:solidFill>
                  <a:srgbClr val="005EB8"/>
                </a:solidFill>
                <a:latin typeface="Arial"/>
                <a:cs typeface="Arial"/>
              </a:rPr>
              <a:t>platform </a:t>
            </a:r>
            <a:r>
              <a:rPr sz="3240" b="1" spc="-5" dirty="0">
                <a:solidFill>
                  <a:srgbClr val="005EB8"/>
                </a:solidFill>
                <a:latin typeface="Arial"/>
                <a:cs typeface="Arial"/>
              </a:rPr>
              <a:t> </a:t>
            </a:r>
            <a:r>
              <a:rPr sz="3240" b="1" spc="-9" dirty="0">
                <a:solidFill>
                  <a:srgbClr val="005EB8"/>
                </a:solidFill>
                <a:latin typeface="Arial"/>
                <a:cs typeface="Arial"/>
              </a:rPr>
              <a:t>developers/providers</a:t>
            </a:r>
            <a:r>
              <a:rPr sz="3240" b="1" spc="72" dirty="0">
                <a:solidFill>
                  <a:srgbClr val="005EB8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in</a:t>
            </a:r>
            <a:r>
              <a:rPr sz="3240" b="1" spc="-36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the</a:t>
            </a:r>
            <a:r>
              <a:rPr sz="3240" b="1" spc="-27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9" dirty="0">
                <a:solidFill>
                  <a:srgbClr val="FF671F"/>
                </a:solidFill>
                <a:latin typeface="Arial"/>
                <a:cs typeface="Arial"/>
              </a:rPr>
              <a:t>lifecycle </a:t>
            </a:r>
            <a:r>
              <a:rPr sz="3240" b="1" spc="-887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of	</a:t>
            </a:r>
            <a:r>
              <a:rPr sz="3240" b="1" dirty="0">
                <a:solidFill>
                  <a:srgbClr val="FF671F"/>
                </a:solidFill>
                <a:latin typeface="Arial"/>
                <a:cs typeface="Arial"/>
              </a:rPr>
              <a:t>a</a:t>
            </a:r>
            <a:r>
              <a:rPr sz="3240" b="1" spc="-9" dirty="0">
                <a:solidFill>
                  <a:srgbClr val="FF671F"/>
                </a:solidFill>
                <a:latin typeface="Arial"/>
                <a:cs typeface="Arial"/>
              </a:rPr>
              <a:t> big</a:t>
            </a:r>
            <a:r>
              <a:rPr sz="3240" b="1" spc="-14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9" dirty="0">
                <a:solidFill>
                  <a:srgbClr val="FF671F"/>
                </a:solidFill>
                <a:latin typeface="Arial"/>
                <a:cs typeface="Arial"/>
              </a:rPr>
              <a:t>data</a:t>
            </a:r>
            <a:r>
              <a:rPr sz="3240" b="1" spc="-14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9" dirty="0">
                <a:solidFill>
                  <a:srgbClr val="FF671F"/>
                </a:solidFill>
                <a:latin typeface="Arial"/>
                <a:cs typeface="Arial"/>
              </a:rPr>
              <a:t>platform</a:t>
            </a:r>
            <a:r>
              <a:rPr sz="3240" b="1" spc="-14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9" dirty="0">
                <a:solidFill>
                  <a:srgbClr val="FF671F"/>
                </a:solidFill>
                <a:latin typeface="Arial"/>
                <a:cs typeface="Arial"/>
              </a:rPr>
              <a:t>based</a:t>
            </a:r>
            <a:r>
              <a:rPr sz="3240" b="1" spc="-14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9" dirty="0">
                <a:solidFill>
                  <a:srgbClr val="FF671F"/>
                </a:solidFill>
                <a:latin typeface="Arial"/>
                <a:cs typeface="Arial"/>
              </a:rPr>
              <a:t>on</a:t>
            </a:r>
            <a:endParaRPr sz="3240">
              <a:latin typeface="Arial"/>
              <a:cs typeface="Arial"/>
            </a:endParaRPr>
          </a:p>
          <a:p>
            <a:pPr marL="11430">
              <a:lnSpc>
                <a:spcPts val="3299"/>
              </a:lnSpc>
            </a:pPr>
            <a:r>
              <a:rPr sz="3240" b="1" spc="-5" dirty="0">
                <a:solidFill>
                  <a:srgbClr val="005EB8"/>
                </a:solidFill>
                <a:latin typeface="Arial"/>
                <a:cs typeface="Arial"/>
              </a:rPr>
              <a:t>real-world</a:t>
            </a:r>
            <a:r>
              <a:rPr sz="3240" b="1" spc="-18" dirty="0">
                <a:solidFill>
                  <a:srgbClr val="005EB8"/>
                </a:solidFill>
                <a:latin typeface="Arial"/>
                <a:cs typeface="Arial"/>
              </a:rPr>
              <a:t> </a:t>
            </a:r>
            <a:r>
              <a:rPr sz="3240" b="1" spc="-9" dirty="0">
                <a:solidFill>
                  <a:srgbClr val="005EB8"/>
                </a:solidFill>
                <a:latin typeface="Arial"/>
                <a:cs typeface="Arial"/>
              </a:rPr>
              <a:t>data</a:t>
            </a:r>
            <a:r>
              <a:rPr sz="3240" b="1" spc="-23" dirty="0">
                <a:solidFill>
                  <a:srgbClr val="005EB8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005EB8"/>
                </a:solidFill>
                <a:latin typeface="Arial"/>
                <a:cs typeface="Arial"/>
              </a:rPr>
              <a:t>sets</a:t>
            </a:r>
            <a:r>
              <a:rPr sz="3240" b="1" spc="-18" dirty="0">
                <a:solidFill>
                  <a:srgbClr val="005EB8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005EB8"/>
                </a:solidFill>
                <a:latin typeface="Arial"/>
                <a:cs typeface="Arial"/>
              </a:rPr>
              <a:t>and</a:t>
            </a:r>
            <a:r>
              <a:rPr sz="3240" b="1" spc="-18" dirty="0">
                <a:solidFill>
                  <a:srgbClr val="005EB8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005EB8"/>
                </a:solidFill>
                <a:latin typeface="Arial"/>
                <a:cs typeface="Arial"/>
              </a:rPr>
              <a:t>scenarios</a:t>
            </a:r>
            <a:endParaRPr sz="324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7188899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9" dirty="0"/>
              <a:t>Example </a:t>
            </a:r>
            <a:r>
              <a:rPr spc="-5" dirty="0"/>
              <a:t>of </a:t>
            </a:r>
            <a:r>
              <a:rPr dirty="0"/>
              <a:t>a </a:t>
            </a:r>
            <a:r>
              <a:rPr spc="-5" dirty="0"/>
              <a:t>typical </a:t>
            </a:r>
            <a:r>
              <a:rPr spc="-9" dirty="0"/>
              <a:t>big data </a:t>
            </a:r>
            <a:r>
              <a:rPr spc="-5" dirty="0"/>
              <a:t> machine</a:t>
            </a:r>
            <a:r>
              <a:rPr spc="-23" dirty="0"/>
              <a:t> </a:t>
            </a:r>
            <a:r>
              <a:rPr spc="-9" dirty="0"/>
              <a:t>learning</a:t>
            </a:r>
            <a:r>
              <a:rPr spc="-23" dirty="0"/>
              <a:t> </a:t>
            </a:r>
            <a:r>
              <a:rPr spc="-9" dirty="0"/>
              <a:t>pipeline</a:t>
            </a:r>
            <a:r>
              <a:rPr spc="-27" dirty="0"/>
              <a:t> </a:t>
            </a:r>
            <a:r>
              <a:rPr spc="-5" dirty="0"/>
              <a:t>(hot</a:t>
            </a:r>
            <a:r>
              <a:rPr spc="-18" dirty="0"/>
              <a:t> </a:t>
            </a:r>
            <a:r>
              <a:rPr spc="-5" dirty="0"/>
              <a:t>area!)</a:t>
            </a:r>
          </a:p>
        </p:txBody>
      </p:sp>
      <p:sp>
        <p:nvSpPr>
          <p:cNvPr id="3" name="object 3"/>
          <p:cNvSpPr/>
          <p:nvPr/>
        </p:nvSpPr>
        <p:spPr>
          <a:xfrm>
            <a:off x="1137218" y="1817457"/>
            <a:ext cx="1425893" cy="529209"/>
          </a:xfrm>
          <a:custGeom>
            <a:avLst/>
            <a:gdLst/>
            <a:ahLst/>
            <a:cxnLst/>
            <a:rect l="l" t="t" r="r" b="b"/>
            <a:pathLst>
              <a:path w="1584325" h="588010">
                <a:moveTo>
                  <a:pt x="0" y="0"/>
                </a:moveTo>
                <a:lnTo>
                  <a:pt x="1584175" y="0"/>
                </a:lnTo>
                <a:lnTo>
                  <a:pt x="1584175" y="587776"/>
                </a:lnTo>
                <a:lnTo>
                  <a:pt x="0" y="587776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7218" y="1817458"/>
            <a:ext cx="1425893" cy="507831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9144" rIns="0" bIns="0" rtlCol="0">
            <a:spAutoFit/>
          </a:bodyPr>
          <a:lstStyle/>
          <a:p>
            <a:pPr marL="260604" marR="254318" indent="234315">
              <a:spcBef>
                <a:spcPts val="72"/>
              </a:spcBef>
            </a:pPr>
            <a:r>
              <a:rPr sz="1620" spc="-5" dirty="0">
                <a:latin typeface="Arial MT"/>
                <a:cs typeface="Arial MT"/>
              </a:rPr>
              <a:t>Data </a:t>
            </a:r>
            <a:r>
              <a:rPr sz="1620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Collection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63003" y="1814759"/>
            <a:ext cx="1648778" cy="529209"/>
          </a:xfrm>
          <a:custGeom>
            <a:avLst/>
            <a:gdLst/>
            <a:ahLst/>
            <a:cxnLst/>
            <a:rect l="l" t="t" r="r" b="b"/>
            <a:pathLst>
              <a:path w="1831975" h="588010">
                <a:moveTo>
                  <a:pt x="0" y="0"/>
                </a:moveTo>
                <a:lnTo>
                  <a:pt x="1831799" y="0"/>
                </a:lnTo>
                <a:lnTo>
                  <a:pt x="1831799" y="587699"/>
                </a:lnTo>
                <a:lnTo>
                  <a:pt x="0" y="5876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63003" y="1814759"/>
            <a:ext cx="1648778" cy="383182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132588" rIns="0" bIns="0" rtlCol="0">
            <a:spAutoFit/>
          </a:bodyPr>
          <a:lstStyle/>
          <a:p>
            <a:pPr marL="132017">
              <a:spcBef>
                <a:spcPts val="1044"/>
              </a:spcBef>
            </a:pPr>
            <a:r>
              <a:rPr sz="1620" spc="-5" dirty="0">
                <a:latin typeface="Arial MT"/>
                <a:cs typeface="Arial MT"/>
              </a:rPr>
              <a:t>Pre-processing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08912" y="1815320"/>
            <a:ext cx="1425893" cy="529209"/>
          </a:xfrm>
          <a:custGeom>
            <a:avLst/>
            <a:gdLst/>
            <a:ahLst/>
            <a:cxnLst/>
            <a:rect l="l" t="t" r="r" b="b"/>
            <a:pathLst>
              <a:path w="1584325" h="588010">
                <a:moveTo>
                  <a:pt x="0" y="0"/>
                </a:moveTo>
                <a:lnTo>
                  <a:pt x="1584175" y="0"/>
                </a:lnTo>
                <a:lnTo>
                  <a:pt x="1584175" y="587776"/>
                </a:lnTo>
                <a:lnTo>
                  <a:pt x="0" y="587776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42530" y="1936716"/>
            <a:ext cx="758380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63" dirty="0">
                <a:latin typeface="Arial MT"/>
                <a:cs typeface="Arial MT"/>
              </a:rPr>
              <a:t>T</a:t>
            </a:r>
            <a:r>
              <a:rPr sz="1620" dirty="0">
                <a:latin typeface="Arial MT"/>
                <a:cs typeface="Arial MT"/>
              </a:rPr>
              <a:t>raining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91108" y="1815321"/>
            <a:ext cx="1425893" cy="529209"/>
          </a:xfrm>
          <a:custGeom>
            <a:avLst/>
            <a:gdLst/>
            <a:ahLst/>
            <a:cxnLst/>
            <a:rect l="l" t="t" r="r" b="b"/>
            <a:pathLst>
              <a:path w="1584325" h="588010">
                <a:moveTo>
                  <a:pt x="0" y="0"/>
                </a:moveTo>
                <a:lnTo>
                  <a:pt x="1584175" y="0"/>
                </a:lnTo>
                <a:lnTo>
                  <a:pt x="1584175" y="587776"/>
                </a:lnTo>
                <a:lnTo>
                  <a:pt x="0" y="587776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63648" y="1936717"/>
            <a:ext cx="879539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5" dirty="0">
                <a:latin typeface="Arial MT"/>
                <a:cs typeface="Arial MT"/>
              </a:rPr>
              <a:t>Inference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37218" y="2930087"/>
            <a:ext cx="7015733" cy="603504"/>
            <a:chOff x="755575" y="3255652"/>
            <a:chExt cx="7795259" cy="670560"/>
          </a:xfrm>
        </p:grpSpPr>
        <p:sp>
          <p:nvSpPr>
            <p:cNvPr id="12" name="object 12"/>
            <p:cNvSpPr/>
            <p:nvPr/>
          </p:nvSpPr>
          <p:spPr>
            <a:xfrm>
              <a:off x="755575" y="3255652"/>
              <a:ext cx="3456940" cy="307975"/>
            </a:xfrm>
            <a:custGeom>
              <a:avLst/>
              <a:gdLst/>
              <a:ahLst/>
              <a:cxnLst/>
              <a:rect l="l" t="t" r="r" b="b"/>
              <a:pathLst>
                <a:path w="3456940" h="307975">
                  <a:moveTo>
                    <a:pt x="3456383" y="307776"/>
                  </a:moveTo>
                  <a:lnTo>
                    <a:pt x="0" y="307776"/>
                  </a:lnTo>
                  <a:lnTo>
                    <a:pt x="0" y="0"/>
                  </a:lnTo>
                  <a:lnTo>
                    <a:pt x="3456383" y="0"/>
                  </a:lnTo>
                  <a:lnTo>
                    <a:pt x="3456383" y="307776"/>
                  </a:lnTo>
                  <a:close/>
                </a:path>
              </a:pathLst>
            </a:custGeom>
            <a:solidFill>
              <a:srgbClr val="FFC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5816" y="3537835"/>
              <a:ext cx="5674925" cy="38777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5816" y="3557835"/>
              <a:ext cx="5594924" cy="30777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25788" y="2909513"/>
            <a:ext cx="5605272" cy="557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lnSpc>
                <a:spcPts val="2151"/>
              </a:lnSpc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Big</a:t>
            </a:r>
            <a:r>
              <a:rPr b="1" spc="-32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data</a:t>
            </a:r>
            <a:r>
              <a:rPr b="1" spc="-32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storage/ingestion</a:t>
            </a:r>
            <a:endParaRPr>
              <a:latin typeface="Arial"/>
              <a:cs typeface="Arial"/>
            </a:endParaRPr>
          </a:p>
          <a:p>
            <a:pPr marL="3349562">
              <a:lnSpc>
                <a:spcPts val="2151"/>
              </a:lnSpc>
              <a:tabLst>
                <a:tab pos="4375976" algn="l"/>
              </a:tabLst>
            </a:pPr>
            <a:r>
              <a:rPr b="1" spc="-5" dirty="0">
                <a:latin typeface="Arial"/>
                <a:cs typeface="Arial"/>
              </a:rPr>
              <a:t>Bi</a:t>
            </a:r>
            <a:r>
              <a:rPr b="1" dirty="0">
                <a:latin typeface="Arial"/>
                <a:cs typeface="Arial"/>
              </a:rPr>
              <a:t>g</a:t>
            </a:r>
            <a:r>
              <a:rPr b="1" spc="-5" dirty="0">
                <a:latin typeface="Arial"/>
                <a:cs typeface="Arial"/>
              </a:rPr>
              <a:t> dat</a:t>
            </a:r>
            <a:r>
              <a:rPr b="1" dirty="0">
                <a:latin typeface="Arial"/>
                <a:cs typeface="Arial"/>
              </a:rPr>
              <a:t>a	</a:t>
            </a:r>
            <a:r>
              <a:rPr b="1" spc="-5" dirty="0">
                <a:latin typeface="Arial"/>
                <a:cs typeface="Arial"/>
              </a:rPr>
              <a:t>processing</a:t>
            </a:r>
            <a:endParaRPr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15547" y="2030327"/>
            <a:ext cx="4937760" cy="593789"/>
            <a:chOff x="2287052" y="2255919"/>
            <a:chExt cx="5486400" cy="65976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7052" y="2277585"/>
              <a:ext cx="550000" cy="1084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39751" y="2311313"/>
              <a:ext cx="292735" cy="2540"/>
            </a:xfrm>
            <a:custGeom>
              <a:avLst/>
              <a:gdLst/>
              <a:ahLst/>
              <a:cxnLst/>
              <a:rect l="l" t="t" r="r" b="b"/>
              <a:pathLst>
                <a:path w="292735" h="2539">
                  <a:moveTo>
                    <a:pt x="0" y="1971"/>
                  </a:moveTo>
                  <a:lnTo>
                    <a:pt x="292203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8972" y="2256660"/>
              <a:ext cx="140948" cy="10930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3325" y="2277550"/>
              <a:ext cx="435700" cy="1060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03325" y="2255919"/>
              <a:ext cx="318567" cy="1093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47425" y="2571400"/>
              <a:ext cx="4123900" cy="34422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700125" y="2604099"/>
              <a:ext cx="4018915" cy="239395"/>
            </a:xfrm>
            <a:custGeom>
              <a:avLst/>
              <a:gdLst/>
              <a:ahLst/>
              <a:cxnLst/>
              <a:rect l="l" t="t" r="r" b="b"/>
              <a:pathLst>
                <a:path w="4018915" h="239394">
                  <a:moveTo>
                    <a:pt x="0" y="0"/>
                  </a:moveTo>
                  <a:lnTo>
                    <a:pt x="0" y="238824"/>
                  </a:lnTo>
                  <a:lnTo>
                    <a:pt x="4018499" y="238824"/>
                  </a:lnTo>
                  <a:lnTo>
                    <a:pt x="4018499" y="152999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63971" y="2629132"/>
              <a:ext cx="109307" cy="1406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77822" y="2278210"/>
              <a:ext cx="501400" cy="1054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30522" y="2256256"/>
              <a:ext cx="371567" cy="109307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4478034" y="2899105"/>
            <a:ext cx="2338007" cy="308039"/>
          </a:xfrm>
          <a:custGeom>
            <a:avLst/>
            <a:gdLst/>
            <a:ahLst/>
            <a:cxnLst/>
            <a:rect l="l" t="t" r="r" b="b"/>
            <a:pathLst>
              <a:path w="2597784" h="342264">
                <a:moveTo>
                  <a:pt x="673430" y="34429"/>
                </a:moveTo>
                <a:lnTo>
                  <a:pt x="0" y="34429"/>
                </a:lnTo>
                <a:lnTo>
                  <a:pt x="0" y="342201"/>
                </a:lnTo>
                <a:lnTo>
                  <a:pt x="673430" y="342201"/>
                </a:lnTo>
                <a:lnTo>
                  <a:pt x="673430" y="34429"/>
                </a:lnTo>
                <a:close/>
              </a:path>
              <a:path w="2597784" h="342264">
                <a:moveTo>
                  <a:pt x="2597658" y="0"/>
                </a:moveTo>
                <a:lnTo>
                  <a:pt x="1924227" y="0"/>
                </a:lnTo>
                <a:lnTo>
                  <a:pt x="1924227" y="307771"/>
                </a:lnTo>
                <a:lnTo>
                  <a:pt x="2597658" y="307771"/>
                </a:lnTo>
                <a:lnTo>
                  <a:pt x="2597658" y="0"/>
                </a:lnTo>
                <a:close/>
              </a:path>
            </a:pathLst>
          </a:custGeom>
          <a:solidFill>
            <a:srgbClr val="FFCD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413537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dirty="0"/>
              <a:t>“No</a:t>
            </a:r>
            <a:r>
              <a:rPr spc="-149" dirty="0"/>
              <a:t> </a:t>
            </a:r>
            <a:r>
              <a:rPr spc="-5" dirty="0"/>
              <a:t>AI</a:t>
            </a:r>
            <a:r>
              <a:rPr spc="-27" dirty="0"/>
              <a:t> </a:t>
            </a:r>
            <a:r>
              <a:rPr spc="-14" dirty="0"/>
              <a:t>Without</a:t>
            </a:r>
            <a:r>
              <a:rPr spc="-32" dirty="0"/>
              <a:t> </a:t>
            </a:r>
            <a:r>
              <a:rPr spc="-5" dirty="0"/>
              <a:t>Data”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940" y="3913559"/>
            <a:ext cx="6611684" cy="343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080" b="1" spc="-5" dirty="0">
                <a:latin typeface="Arial"/>
                <a:cs typeface="Arial"/>
              </a:rPr>
              <a:t>Figure source: </a:t>
            </a:r>
            <a:r>
              <a:rPr sz="1080" spc="-5" dirty="0">
                <a:latin typeface="Arial MT"/>
                <a:cs typeface="Arial MT"/>
              </a:rPr>
              <a:t>There Is No AI Without Data,</a:t>
            </a:r>
            <a:r>
              <a:rPr sz="1080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by Christoph </a:t>
            </a:r>
            <a:r>
              <a:rPr sz="1080" spc="-14" dirty="0">
                <a:latin typeface="Arial MT"/>
                <a:cs typeface="Arial MT"/>
              </a:rPr>
              <a:t>Gröger, </a:t>
            </a:r>
            <a:r>
              <a:rPr sz="1080" spc="-5" dirty="0">
                <a:latin typeface="Arial MT"/>
                <a:cs typeface="Arial MT"/>
              </a:rPr>
              <a:t>Communications of the ACM, November </a:t>
            </a:r>
            <a:r>
              <a:rPr sz="1080" spc="-288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2021,</a:t>
            </a:r>
            <a:r>
              <a:rPr sz="1080" spc="-9" dirty="0">
                <a:latin typeface="Arial MT"/>
                <a:cs typeface="Arial MT"/>
              </a:rPr>
              <a:t> </a:t>
            </a:r>
            <a:r>
              <a:rPr sz="1080" spc="-18" dirty="0">
                <a:latin typeface="Arial MT"/>
                <a:cs typeface="Arial MT"/>
              </a:rPr>
              <a:t>Vol.</a:t>
            </a:r>
            <a:r>
              <a:rPr sz="1080" spc="-5" dirty="0">
                <a:latin typeface="Arial MT"/>
                <a:cs typeface="Arial MT"/>
              </a:rPr>
              <a:t> 64 No. </a:t>
            </a:r>
            <a:r>
              <a:rPr sz="1080" spc="-32" dirty="0">
                <a:latin typeface="Arial MT"/>
                <a:cs typeface="Arial MT"/>
              </a:rPr>
              <a:t>11,</a:t>
            </a:r>
            <a:r>
              <a:rPr sz="1080" spc="-5" dirty="0">
                <a:latin typeface="Arial MT"/>
                <a:cs typeface="Arial MT"/>
              </a:rPr>
              <a:t> Pages 98-108, </a:t>
            </a:r>
            <a:r>
              <a:rPr sz="1080" spc="-14" dirty="0">
                <a:latin typeface="Arial MT"/>
                <a:cs typeface="Arial MT"/>
              </a:rPr>
              <a:t>0.1145/3448247</a:t>
            </a:r>
            <a:endParaRPr sz="108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6876" y="750489"/>
            <a:ext cx="5889466" cy="31456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2"/>
            <a:ext cx="8035747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Big </a:t>
            </a:r>
            <a:r>
              <a:rPr spc="-9" dirty="0"/>
              <a:t>data processing </a:t>
            </a:r>
            <a:r>
              <a:rPr spc="-5" dirty="0"/>
              <a:t>in </a:t>
            </a:r>
            <a:r>
              <a:rPr spc="-9" dirty="0"/>
              <a:t>our </a:t>
            </a:r>
            <a:r>
              <a:rPr spc="-5" dirty="0"/>
              <a:t>story: </a:t>
            </a:r>
            <a:r>
              <a:rPr spc="-9" dirty="0"/>
              <a:t>we </a:t>
            </a:r>
            <a:r>
              <a:rPr spc="-891" dirty="0"/>
              <a:t> </a:t>
            </a:r>
            <a:r>
              <a:rPr spc="-5" dirty="0"/>
              <a:t>are</a:t>
            </a:r>
            <a:r>
              <a:rPr spc="-14" dirty="0"/>
              <a:t> </a:t>
            </a:r>
            <a:r>
              <a:rPr spc="-9" dirty="0"/>
              <a:t>not</a:t>
            </a:r>
            <a:r>
              <a:rPr spc="-14" dirty="0"/>
              <a:t> </a:t>
            </a:r>
            <a:r>
              <a:rPr spc="-9" dirty="0"/>
              <a:t>just</a:t>
            </a:r>
            <a:r>
              <a:rPr spc="-18" dirty="0"/>
              <a:t> </a:t>
            </a:r>
            <a:r>
              <a:rPr dirty="0"/>
              <a:t>“data</a:t>
            </a:r>
            <a:r>
              <a:rPr spc="-9" dirty="0"/>
              <a:t> </a:t>
            </a:r>
            <a:r>
              <a:rPr spc="-5" dirty="0"/>
              <a:t>scientist”</a:t>
            </a:r>
            <a:r>
              <a:rPr spc="-9" dirty="0"/>
              <a:t> </a:t>
            </a:r>
            <a:r>
              <a:rPr spc="-5" dirty="0"/>
              <a:t>or</a:t>
            </a:r>
            <a:r>
              <a:rPr spc="-18" dirty="0"/>
              <a:t> </a:t>
            </a:r>
            <a:r>
              <a:rPr spc="-5" dirty="0"/>
              <a:t>BA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9569" y="2301253"/>
            <a:ext cx="7672388" cy="201157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3449">
              <a:spcBef>
                <a:spcPts val="90"/>
              </a:spcBef>
              <a:tabLst>
                <a:tab pos="3743325" algn="l"/>
                <a:tab pos="5094923" algn="l"/>
              </a:tabLst>
            </a:pPr>
            <a:r>
              <a:rPr b="1" spc="-5" dirty="0">
                <a:latin typeface="Arial"/>
                <a:cs typeface="Arial"/>
              </a:rPr>
              <a:t>User </a:t>
            </a:r>
            <a:r>
              <a:rPr b="1" dirty="0">
                <a:latin typeface="Arial"/>
                <a:cs typeface="Arial"/>
              </a:rPr>
              <a:t>(scientists,</a:t>
            </a:r>
            <a:r>
              <a:rPr b="1" spc="-5" dirty="0">
                <a:latin typeface="Arial"/>
                <a:cs typeface="Arial"/>
              </a:rPr>
              <a:t> engineers)	Provider	User</a:t>
            </a:r>
            <a:r>
              <a:rPr b="1" spc="-41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(business</a:t>
            </a:r>
            <a:r>
              <a:rPr b="1" spc="-4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analyst)</a:t>
            </a:r>
            <a:endParaRPr dirty="0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890" dirty="0">
              <a:latin typeface="Arial"/>
              <a:cs typeface="Arial"/>
            </a:endParaRPr>
          </a:p>
          <a:p>
            <a:pPr marL="39434">
              <a:spcBef>
                <a:spcPts val="5"/>
              </a:spcBef>
            </a:pPr>
            <a:r>
              <a:rPr sz="2160" b="1" spc="-5" dirty="0">
                <a:solidFill>
                  <a:srgbClr val="FF0000"/>
                </a:solidFill>
                <a:latin typeface="Arial"/>
                <a:cs typeface="Arial"/>
              </a:rPr>
              <a:t>Our</a:t>
            </a:r>
            <a:r>
              <a:rPr sz="2160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60" b="1" spc="-5" dirty="0">
                <a:solidFill>
                  <a:srgbClr val="FF0000"/>
                </a:solidFill>
                <a:latin typeface="Arial"/>
                <a:cs typeface="Arial"/>
              </a:rPr>
              <a:t>learning</a:t>
            </a:r>
            <a:r>
              <a:rPr sz="2160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60" b="1" spc="-5" dirty="0">
                <a:solidFill>
                  <a:srgbClr val="FF0000"/>
                </a:solidFill>
                <a:latin typeface="Arial"/>
                <a:cs typeface="Arial"/>
              </a:rPr>
              <a:t>goals:</a:t>
            </a:r>
            <a:r>
              <a:rPr sz="2160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60" b="1" dirty="0">
                <a:solidFill>
                  <a:srgbClr val="FF0000"/>
                </a:solidFill>
                <a:latin typeface="Arial"/>
                <a:cs typeface="Arial"/>
              </a:rPr>
              <a:t>tasks</a:t>
            </a:r>
            <a:r>
              <a:rPr sz="2160" b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60" b="1" spc="-5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160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60" b="1" spc="-5" dirty="0">
                <a:solidFill>
                  <a:srgbClr val="FF0000"/>
                </a:solidFill>
                <a:latin typeface="Arial"/>
                <a:cs typeface="Arial"/>
              </a:rPr>
              <a:t>systems</a:t>
            </a:r>
            <a:r>
              <a:rPr sz="2160" b="1" spc="-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60" b="1" spc="-5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160" b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60" b="1" spc="-5" dirty="0">
                <a:solidFill>
                  <a:srgbClr val="FF0000"/>
                </a:solidFill>
                <a:latin typeface="Arial"/>
                <a:cs typeface="Arial"/>
              </a:rPr>
              <a:t>applications</a:t>
            </a:r>
            <a:endParaRPr sz="2160" dirty="0">
              <a:latin typeface="Arial"/>
              <a:cs typeface="Arial"/>
            </a:endParaRPr>
          </a:p>
          <a:p>
            <a:pPr marL="348044" indent="-337185">
              <a:spcBef>
                <a:spcPts val="432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Understand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the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user/developer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needs</a:t>
            </a:r>
            <a:endParaRPr sz="2160" dirty="0">
              <a:latin typeface="Arial"/>
              <a:cs typeface="Arial"/>
            </a:endParaRPr>
          </a:p>
          <a:p>
            <a:pPr marL="348044" marR="865823" indent="-337185">
              <a:spcBef>
                <a:spcPts val="432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Understand how </a:t>
            </a:r>
            <a:r>
              <a:rPr sz="2160" b="1" dirty="0">
                <a:latin typeface="Arial"/>
                <a:cs typeface="Arial"/>
              </a:rPr>
              <a:t>to </a:t>
            </a:r>
            <a:r>
              <a:rPr sz="2160" b="1" spc="-5" dirty="0">
                <a:latin typeface="Arial"/>
                <a:cs typeface="Arial"/>
              </a:rPr>
              <a:t>build platforms </a:t>
            </a:r>
            <a:r>
              <a:rPr sz="2160" b="1" dirty="0">
                <a:latin typeface="Arial"/>
                <a:cs typeface="Arial"/>
              </a:rPr>
              <a:t>to </a:t>
            </a:r>
            <a:r>
              <a:rPr sz="2160" b="1" spc="-5" dirty="0">
                <a:latin typeface="Arial"/>
                <a:cs typeface="Arial"/>
              </a:rPr>
              <a:t>support </a:t>
            </a:r>
            <a:r>
              <a:rPr sz="2160" b="1" dirty="0">
                <a:latin typeface="Arial"/>
                <a:cs typeface="Arial"/>
              </a:rPr>
              <a:t>the </a:t>
            </a:r>
            <a:r>
              <a:rPr sz="2160" b="1" spc="-590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users/developers</a:t>
            </a:r>
            <a:endParaRPr sz="216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7594" y="1172541"/>
            <a:ext cx="2333435" cy="961835"/>
          </a:xfrm>
          <a:custGeom>
            <a:avLst/>
            <a:gdLst/>
            <a:ahLst/>
            <a:cxnLst/>
            <a:rect l="l" t="t" r="r" b="b"/>
            <a:pathLst>
              <a:path w="2592705" h="1068705">
                <a:moveTo>
                  <a:pt x="0" y="0"/>
                </a:moveTo>
                <a:lnTo>
                  <a:pt x="2592299" y="0"/>
                </a:lnTo>
                <a:lnTo>
                  <a:pt x="2592299" y="1068299"/>
                </a:lnTo>
                <a:lnTo>
                  <a:pt x="0" y="10682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7594" y="1172541"/>
            <a:ext cx="2333435" cy="891591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60008" rIns="0" bIns="0" rtlCol="0">
            <a:spAutoFit/>
          </a:bodyPr>
          <a:lstStyle/>
          <a:p>
            <a:pPr marL="257747" marR="250889" algn="ctr">
              <a:spcBef>
                <a:spcPts val="472"/>
              </a:spcBef>
            </a:pPr>
            <a:r>
              <a:rPr dirty="0">
                <a:latin typeface="Arial MT"/>
                <a:cs typeface="Arial MT"/>
              </a:rPr>
              <a:t>Machine</a:t>
            </a:r>
            <a:r>
              <a:rPr spc="-9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Learning </a:t>
            </a:r>
            <a:r>
              <a:rPr spc="-486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with </a:t>
            </a:r>
            <a:r>
              <a:rPr dirty="0">
                <a:latin typeface="Arial MT"/>
                <a:cs typeface="Arial MT"/>
              </a:rPr>
              <a:t>Jupyter 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Notebook</a:t>
            </a:r>
            <a:endParaRPr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93235" y="1161111"/>
            <a:ext cx="5112068" cy="990981"/>
            <a:chOff x="3151150" y="1290123"/>
            <a:chExt cx="5680075" cy="1101090"/>
          </a:xfrm>
        </p:grpSpPr>
        <p:sp>
          <p:nvSpPr>
            <p:cNvPr id="7" name="object 7"/>
            <p:cNvSpPr/>
            <p:nvPr/>
          </p:nvSpPr>
          <p:spPr>
            <a:xfrm>
              <a:off x="4391874" y="1310026"/>
              <a:ext cx="1296670" cy="1068705"/>
            </a:xfrm>
            <a:custGeom>
              <a:avLst/>
              <a:gdLst/>
              <a:ahLst/>
              <a:cxnLst/>
              <a:rect l="l" t="t" r="r" b="b"/>
              <a:pathLst>
                <a:path w="1296670" h="1068705">
                  <a:moveTo>
                    <a:pt x="0" y="0"/>
                  </a:moveTo>
                  <a:lnTo>
                    <a:pt x="1296299" y="0"/>
                  </a:lnTo>
                  <a:lnTo>
                    <a:pt x="1296299" y="1068299"/>
                  </a:lnTo>
                  <a:lnTo>
                    <a:pt x="0" y="10682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1150" y="1804273"/>
              <a:ext cx="1293400" cy="112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3849" y="1836973"/>
              <a:ext cx="1035685" cy="6350"/>
            </a:xfrm>
            <a:custGeom>
              <a:avLst/>
              <a:gdLst/>
              <a:ahLst/>
              <a:cxnLst/>
              <a:rect l="l" t="t" r="r" b="b"/>
              <a:pathLst>
                <a:path w="1035685" h="6350">
                  <a:moveTo>
                    <a:pt x="0" y="0"/>
                  </a:moveTo>
                  <a:lnTo>
                    <a:pt x="1035602" y="6276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6498" y="1788597"/>
              <a:ext cx="140919" cy="10930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25850" y="1302823"/>
              <a:ext cx="2592705" cy="1068705"/>
            </a:xfrm>
            <a:custGeom>
              <a:avLst/>
              <a:gdLst/>
              <a:ahLst/>
              <a:cxnLst/>
              <a:rect l="l" t="t" r="r" b="b"/>
              <a:pathLst>
                <a:path w="2592704" h="1068705">
                  <a:moveTo>
                    <a:pt x="0" y="0"/>
                  </a:moveTo>
                  <a:lnTo>
                    <a:pt x="2592299" y="0"/>
                  </a:lnTo>
                  <a:lnTo>
                    <a:pt x="2592299" y="1068299"/>
                  </a:lnTo>
                  <a:lnTo>
                    <a:pt x="0" y="10682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43572" y="1364864"/>
            <a:ext cx="3761042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03" marR="4572" indent="-13144">
              <a:spcBef>
                <a:spcPts val="90"/>
              </a:spcBef>
              <a:tabLst>
                <a:tab pos="1158431" algn="l"/>
                <a:tab pos="1583055" algn="l"/>
                <a:tab pos="1889379" algn="l"/>
              </a:tabLst>
            </a:pPr>
            <a:r>
              <a:rPr spc="-5" dirty="0">
                <a:latin typeface="Arial MT"/>
                <a:cs typeface="Arial MT"/>
              </a:rPr>
              <a:t>Big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Data	</a:t>
            </a:r>
            <a:r>
              <a:rPr sz="2700" u="heavy" spc="-6" baseline="1388" dirty="0">
                <a:uFill>
                  <a:solidFill>
                    <a:srgbClr val="FF671F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700" spc="-365" baseline="1388" dirty="0">
                <a:latin typeface="Times New Roman"/>
                <a:cs typeface="Times New Roman"/>
              </a:rPr>
              <a:t> </a:t>
            </a:r>
            <a:r>
              <a:rPr sz="2700" spc="-6" baseline="1388" dirty="0">
                <a:latin typeface="Arial MT"/>
                <a:cs typeface="Arial MT"/>
              </a:rPr>
              <a:t>Business</a:t>
            </a:r>
            <a:r>
              <a:rPr sz="2700" spc="-128" baseline="1388" dirty="0">
                <a:latin typeface="Arial MT"/>
                <a:cs typeface="Arial MT"/>
              </a:rPr>
              <a:t> </a:t>
            </a:r>
            <a:r>
              <a:rPr sz="2700" spc="-6" baseline="1388" dirty="0">
                <a:latin typeface="Arial MT"/>
                <a:cs typeface="Arial MT"/>
              </a:rPr>
              <a:t>Intelligence </a:t>
            </a:r>
            <a:r>
              <a:rPr sz="2700" spc="-729" baseline="1388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Platform			</a:t>
            </a:r>
            <a:r>
              <a:rPr sz="2700" spc="-6" baseline="1388" dirty="0">
                <a:latin typeface="Arial MT"/>
                <a:cs typeface="Arial MT"/>
              </a:rPr>
              <a:t>with</a:t>
            </a:r>
            <a:r>
              <a:rPr sz="2700" spc="-33" baseline="1388" dirty="0">
                <a:latin typeface="Arial MT"/>
                <a:cs typeface="Arial MT"/>
              </a:rPr>
              <a:t> </a:t>
            </a:r>
            <a:r>
              <a:rPr sz="2700" spc="-6" baseline="1388" dirty="0">
                <a:latin typeface="Arial MT"/>
                <a:cs typeface="Arial MT"/>
              </a:rPr>
              <a:t>Dashboard</a:t>
            </a:r>
            <a:endParaRPr sz="2700" baseline="1388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29195" y="1608734"/>
            <a:ext cx="578930" cy="116585"/>
            <a:chOff x="5635550" y="1787482"/>
            <a:chExt cx="643255" cy="129539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5550" y="1804273"/>
              <a:ext cx="643000" cy="1126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2678" y="1787482"/>
              <a:ext cx="141218" cy="109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8365" y="138941"/>
            <a:ext cx="5747626" cy="424732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1517" y="223422"/>
            <a:ext cx="1984248" cy="2204258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Using </a:t>
            </a:r>
            <a:r>
              <a:rPr dirty="0"/>
              <a:t> </a:t>
            </a:r>
            <a:r>
              <a:rPr spc="-5" dirty="0"/>
              <a:t>Jupyter </a:t>
            </a:r>
            <a:r>
              <a:rPr dirty="0"/>
              <a:t> </a:t>
            </a:r>
            <a:r>
              <a:rPr spc="-5" dirty="0"/>
              <a:t>Notebook </a:t>
            </a:r>
            <a:r>
              <a:rPr spc="-891" dirty="0"/>
              <a:t> </a:t>
            </a:r>
            <a:r>
              <a:rPr spc="-5" dirty="0"/>
              <a:t>to</a:t>
            </a:r>
            <a:r>
              <a:rPr spc="-50" dirty="0"/>
              <a:t> </a:t>
            </a:r>
            <a:r>
              <a:rPr spc="-5" dirty="0"/>
              <a:t>do</a:t>
            </a:r>
            <a:r>
              <a:rPr spc="-50" dirty="0"/>
              <a:t> </a:t>
            </a:r>
            <a:r>
              <a:rPr spc="-9" dirty="0"/>
              <a:t>data </a:t>
            </a:r>
            <a:r>
              <a:rPr spc="-887" dirty="0"/>
              <a:t> </a:t>
            </a:r>
            <a:r>
              <a:rPr spc="-5" dirty="0"/>
              <a:t>analytics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4966907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Business </a:t>
            </a:r>
            <a:r>
              <a:rPr spc="-9" dirty="0"/>
              <a:t>intelligence </a:t>
            </a:r>
            <a:r>
              <a:rPr spc="-5" dirty="0"/>
              <a:t>analytics style </a:t>
            </a:r>
            <a:r>
              <a:rPr spc="-891" dirty="0"/>
              <a:t> </a:t>
            </a:r>
            <a:r>
              <a:rPr spc="-9" dirty="0"/>
              <a:t>with</a:t>
            </a:r>
            <a:r>
              <a:rPr spc="-14" dirty="0"/>
              <a:t> </a:t>
            </a:r>
            <a:r>
              <a:rPr spc="-5" dirty="0"/>
              <a:t>Superset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5380" y="998538"/>
            <a:ext cx="5699696" cy="33644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6818" y="3674149"/>
            <a:ext cx="1587056" cy="5932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260" b="1" spc="-5" dirty="0">
                <a:latin typeface="Arial"/>
                <a:cs typeface="Arial"/>
              </a:rPr>
              <a:t>Data</a:t>
            </a:r>
            <a:r>
              <a:rPr sz="1260" b="1" spc="-45" dirty="0">
                <a:latin typeface="Arial"/>
                <a:cs typeface="Arial"/>
              </a:rPr>
              <a:t> </a:t>
            </a:r>
            <a:r>
              <a:rPr sz="1260" b="1" spc="-5" dirty="0">
                <a:latin typeface="Arial"/>
                <a:cs typeface="Arial"/>
              </a:rPr>
              <a:t>source</a:t>
            </a:r>
            <a:r>
              <a:rPr sz="1260" spc="-5" dirty="0">
                <a:latin typeface="Arial MT"/>
                <a:cs typeface="Arial MT"/>
              </a:rPr>
              <a:t>:</a:t>
            </a:r>
            <a:r>
              <a:rPr sz="1260" spc="-41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network </a:t>
            </a:r>
            <a:r>
              <a:rPr sz="1260" spc="-333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data from </a:t>
            </a:r>
            <a:r>
              <a:rPr sz="1260" dirty="0">
                <a:latin typeface="Arial MT"/>
                <a:cs typeface="Arial MT"/>
              </a:rPr>
              <a:t>Mobifone, </a:t>
            </a:r>
            <a:r>
              <a:rPr sz="1260" spc="5" dirty="0">
                <a:latin typeface="Arial MT"/>
                <a:cs typeface="Arial MT"/>
              </a:rPr>
              <a:t> </a:t>
            </a:r>
            <a:r>
              <a:rPr sz="1260" spc="-9" dirty="0">
                <a:latin typeface="Arial MT"/>
                <a:cs typeface="Arial MT"/>
              </a:rPr>
              <a:t>Vietnam</a:t>
            </a:r>
            <a:endParaRPr sz="126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3995" y="3165458"/>
            <a:ext cx="1220805" cy="12208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571328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Related</a:t>
            </a:r>
            <a:r>
              <a:rPr spc="-77" dirty="0"/>
              <a:t> </a:t>
            </a:r>
            <a:r>
              <a:rPr spc="-5" dirty="0"/>
              <a:t>concepts/techniques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2293" y="768135"/>
            <a:ext cx="7415783" cy="3542829"/>
          </a:xfrm>
          <a:prstGeom prst="rect">
            <a:avLst/>
          </a:prstGeom>
        </p:spPr>
        <p:txBody>
          <a:bodyPr vert="horz" wrap="square" lIns="0" tIns="60008" rIns="0" bIns="0" rtlCol="0">
            <a:spAutoFit/>
          </a:bodyPr>
          <a:lstStyle/>
          <a:p>
            <a:pPr marL="344615" indent="-333756">
              <a:spcBef>
                <a:spcPts val="472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Distributed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systems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cloud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computing</a:t>
            </a:r>
            <a:endParaRPr sz="1890">
              <a:latin typeface="Arial"/>
              <a:cs typeface="Arial"/>
            </a:endParaRPr>
          </a:p>
          <a:p>
            <a:pPr marL="558356" marR="283464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Virtualized environments and cloud deployment, concurrency, </a:t>
            </a:r>
            <a:r>
              <a:rPr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consistency/availability/fault</a:t>
            </a:r>
            <a:r>
              <a:rPr spc="-27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management,</a:t>
            </a:r>
            <a:r>
              <a:rPr spc="-27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application</a:t>
            </a:r>
            <a:r>
              <a:rPr spc="-27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protocols</a:t>
            </a:r>
            <a:endParaRPr>
              <a:latin typeface="Georgia"/>
              <a:cs typeface="Georgia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Databases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management</a:t>
            </a:r>
            <a:endParaRPr sz="189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Data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modeling,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ETL/data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pipeline,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partitioning,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databases</a:t>
            </a:r>
            <a:endParaRPr>
              <a:latin typeface="Georgia"/>
              <a:cs typeface="Georgia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Algorithms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programming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models</a:t>
            </a:r>
            <a:endParaRPr sz="189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Parallel/concurrent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programming,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workflows,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streaming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processing</a:t>
            </a:r>
            <a:endParaRPr>
              <a:latin typeface="Georgia"/>
              <a:cs typeface="Georgia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Service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software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engineering</a:t>
            </a:r>
            <a:endParaRPr sz="189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Service</a:t>
            </a:r>
            <a:r>
              <a:rPr spc="-27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engineering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&amp;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microservices</a:t>
            </a:r>
            <a:endParaRPr>
              <a:latin typeface="Georgia"/>
              <a:cs typeface="Georgia"/>
            </a:endParaRPr>
          </a:p>
          <a:p>
            <a:pPr>
              <a:spcBef>
                <a:spcPts val="23"/>
              </a:spcBef>
            </a:pPr>
            <a:endParaRPr sz="2475">
              <a:latin typeface="Georgia"/>
              <a:cs typeface="Georgia"/>
            </a:endParaRPr>
          </a:p>
          <a:p>
            <a:pPr marL="4145661">
              <a:spcBef>
                <a:spcPts val="5"/>
              </a:spcBef>
            </a:pPr>
            <a:r>
              <a:rPr sz="1260" spc="-5" dirty="0">
                <a:latin typeface="Arial MT"/>
                <a:cs typeface="Arial MT"/>
              </a:rPr>
              <a:t>Basics</a:t>
            </a:r>
            <a:r>
              <a:rPr sz="1260" spc="-27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of</a:t>
            </a:r>
            <a:r>
              <a:rPr sz="1260" spc="-23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big</a:t>
            </a:r>
            <a:r>
              <a:rPr sz="1260" spc="-23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data</a:t>
            </a:r>
            <a:endParaRPr sz="126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4966907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9" dirty="0"/>
              <a:t>Summary: </a:t>
            </a:r>
            <a:r>
              <a:rPr spc="-5" dirty="0"/>
              <a:t>the </a:t>
            </a:r>
            <a:r>
              <a:rPr spc="-9" dirty="0"/>
              <a:t>importance </a:t>
            </a:r>
            <a:r>
              <a:rPr spc="-5" dirty="0"/>
              <a:t>of </a:t>
            </a:r>
            <a:r>
              <a:rPr spc="-9" dirty="0"/>
              <a:t>big data </a:t>
            </a:r>
            <a:r>
              <a:rPr spc="-891" dirty="0"/>
              <a:t> </a:t>
            </a:r>
            <a:r>
              <a:rPr spc="-5" dirty="0"/>
              <a:t>platforms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289" y="1114419"/>
            <a:ext cx="7215758" cy="322370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4615" marR="1632204" indent="-333756">
              <a:spcBef>
                <a:spcPts val="90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Foundations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backbones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for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various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“hot”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research/development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areas</a:t>
            </a:r>
            <a:endParaRPr sz="1890" dirty="0">
              <a:latin typeface="Arial"/>
              <a:cs typeface="Arial"/>
            </a:endParaRPr>
          </a:p>
          <a:p>
            <a:pPr marL="558356" lvl="1" indent="-332613">
              <a:spcBef>
                <a:spcPts val="365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LLMs/Machine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Learning/AI</a:t>
            </a:r>
            <a:endParaRPr dirty="0">
              <a:latin typeface="Georgia"/>
              <a:cs typeface="Georgia"/>
            </a:endParaRPr>
          </a:p>
          <a:p>
            <a:pPr marL="759524" lvl="2" indent="-328041">
              <a:spcBef>
                <a:spcPts val="302"/>
              </a:spcBef>
              <a:buFont typeface="Arial"/>
              <a:buChar char="■"/>
              <a:tabLst>
                <a:tab pos="759524" algn="l"/>
                <a:tab pos="760095" algn="l"/>
              </a:tabLst>
            </a:pPr>
            <a:r>
              <a:rPr sz="1440" i="1" spc="-5" dirty="0">
                <a:latin typeface="Georgia"/>
                <a:cs typeface="Georgia"/>
              </a:rPr>
              <a:t>Data</a:t>
            </a:r>
            <a:r>
              <a:rPr sz="1440" i="1" spc="-14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management,</a:t>
            </a:r>
            <a:r>
              <a:rPr sz="1440" i="1" spc="-14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feature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storage,</a:t>
            </a:r>
            <a:r>
              <a:rPr sz="1440" i="1" spc="-14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data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preparation</a:t>
            </a:r>
            <a:r>
              <a:rPr sz="1440" i="1" spc="-14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pipelines,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dirty="0">
                <a:latin typeface="Georgia"/>
                <a:cs typeface="Georgia"/>
              </a:rPr>
              <a:t>…</a:t>
            </a:r>
            <a:endParaRPr sz="1440" dirty="0">
              <a:latin typeface="Georgia"/>
              <a:cs typeface="Georgia"/>
            </a:endParaRPr>
          </a:p>
          <a:p>
            <a:pPr marL="558356" lvl="1" indent="-332613">
              <a:spcBef>
                <a:spcPts val="342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Data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Science</a:t>
            </a:r>
            <a:endParaRPr dirty="0">
              <a:latin typeface="Georgia"/>
              <a:cs typeface="Georgia"/>
            </a:endParaRPr>
          </a:p>
          <a:p>
            <a:pPr marL="759524" lvl="2" indent="-328041">
              <a:spcBef>
                <a:spcPts val="306"/>
              </a:spcBef>
              <a:buFont typeface="Arial"/>
              <a:buChar char="■"/>
              <a:tabLst>
                <a:tab pos="759524" algn="l"/>
                <a:tab pos="760095" algn="l"/>
              </a:tabLst>
            </a:pPr>
            <a:r>
              <a:rPr sz="1440" i="1" spc="-5" dirty="0">
                <a:latin typeface="Georgia"/>
                <a:cs typeface="Georgia"/>
              </a:rPr>
              <a:t>Data</a:t>
            </a:r>
            <a:r>
              <a:rPr sz="1440" i="1" spc="-14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and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data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management,</a:t>
            </a:r>
            <a:r>
              <a:rPr sz="1440" i="1" spc="-14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computational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models,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statistics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and</a:t>
            </a:r>
            <a:r>
              <a:rPr sz="1440" i="1" spc="-14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algorithm</a:t>
            </a:r>
            <a:endParaRPr sz="1440" dirty="0">
              <a:latin typeface="Georgia"/>
              <a:cs typeface="Georgia"/>
            </a:endParaRPr>
          </a:p>
          <a:p>
            <a:pPr marL="558356" lvl="1" indent="-332613">
              <a:spcBef>
                <a:spcPts val="342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Enterprise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computing</a:t>
            </a:r>
            <a:endParaRPr dirty="0">
              <a:latin typeface="Georgia"/>
              <a:cs typeface="Georgia"/>
            </a:endParaRPr>
          </a:p>
          <a:p>
            <a:pPr marL="759524" lvl="2" indent="-328041">
              <a:spcBef>
                <a:spcPts val="306"/>
              </a:spcBef>
              <a:buFont typeface="Arial"/>
              <a:buChar char="■"/>
              <a:tabLst>
                <a:tab pos="759524" algn="l"/>
                <a:tab pos="760095" algn="l"/>
              </a:tabLst>
            </a:pPr>
            <a:r>
              <a:rPr sz="1440" i="1" spc="-5" dirty="0">
                <a:latin typeface="Georgia"/>
                <a:cs typeface="Georgia"/>
              </a:rPr>
              <a:t>360-degree</a:t>
            </a:r>
            <a:r>
              <a:rPr sz="1440" i="1" spc="-23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analytics</a:t>
            </a:r>
            <a:r>
              <a:rPr sz="1440" i="1" spc="-23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of</a:t>
            </a:r>
            <a:r>
              <a:rPr sz="1440" i="1" spc="-23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customers</a:t>
            </a:r>
            <a:endParaRPr sz="1440" dirty="0">
              <a:latin typeface="Georgia"/>
              <a:cs typeface="Georgia"/>
            </a:endParaRPr>
          </a:p>
          <a:p>
            <a:pPr marL="558356" lvl="1" indent="-332613">
              <a:spcBef>
                <a:spcPts val="342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Industrial</a:t>
            </a:r>
            <a:r>
              <a:rPr spc="-32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IoT/Manufacturing/Predictive</a:t>
            </a:r>
            <a:r>
              <a:rPr spc="-27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maintenance</a:t>
            </a:r>
            <a:endParaRPr dirty="0">
              <a:latin typeface="Georgia"/>
              <a:cs typeface="Georgia"/>
            </a:endParaRPr>
          </a:p>
          <a:p>
            <a:pPr marL="759524" lvl="2" indent="-328041">
              <a:spcBef>
                <a:spcPts val="306"/>
              </a:spcBef>
              <a:buFont typeface="Arial"/>
              <a:buChar char="■"/>
              <a:tabLst>
                <a:tab pos="759524" algn="l"/>
                <a:tab pos="760095" algn="l"/>
              </a:tabLst>
            </a:pPr>
            <a:r>
              <a:rPr sz="1440" i="1" spc="-5" dirty="0">
                <a:latin typeface="Georgia"/>
                <a:cs typeface="Georgia"/>
              </a:rPr>
              <a:t>Monitor</a:t>
            </a:r>
            <a:r>
              <a:rPr sz="1440" i="1" spc="-14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machines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and</a:t>
            </a:r>
            <a:r>
              <a:rPr sz="1440" i="1" spc="-14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optimizing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machines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through</a:t>
            </a:r>
            <a:r>
              <a:rPr sz="1440" i="1" spc="-14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real-time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and</a:t>
            </a:r>
            <a:r>
              <a:rPr sz="1440" i="1" spc="-9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predictions</a:t>
            </a:r>
            <a:endParaRPr sz="1440" dirty="0">
              <a:latin typeface="Georgia"/>
              <a:cs typeface="Georgia"/>
            </a:endParaRPr>
          </a:p>
          <a:p>
            <a:pPr marL="558356" lvl="1" indent="-332613">
              <a:spcBef>
                <a:spcPts val="342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Smart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cities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sustainability</a:t>
            </a:r>
            <a:endParaRPr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524" y="151460"/>
            <a:ext cx="7824978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9" dirty="0"/>
              <a:t>Summary: </a:t>
            </a:r>
            <a:r>
              <a:rPr spc="-5" dirty="0"/>
              <a:t>the </a:t>
            </a:r>
            <a:r>
              <a:rPr spc="-9" dirty="0"/>
              <a:t>importance </a:t>
            </a:r>
            <a:r>
              <a:rPr spc="-5" dirty="0"/>
              <a:t>of </a:t>
            </a:r>
            <a:r>
              <a:rPr spc="-9" dirty="0"/>
              <a:t>big data </a:t>
            </a:r>
            <a:r>
              <a:rPr spc="-5" dirty="0"/>
              <a:t> </a:t>
            </a:r>
            <a:r>
              <a:rPr spc="-9" dirty="0"/>
              <a:t>platforms</a:t>
            </a:r>
            <a:r>
              <a:rPr spc="-27" dirty="0"/>
              <a:t> </a:t>
            </a:r>
            <a:r>
              <a:rPr spc="-5" dirty="0"/>
              <a:t>for</a:t>
            </a:r>
            <a:r>
              <a:rPr spc="-18" dirty="0"/>
              <a:t> </a:t>
            </a:r>
            <a:r>
              <a:rPr spc="-9" dirty="0"/>
              <a:t>industries</a:t>
            </a:r>
            <a:r>
              <a:rPr spc="-27" dirty="0"/>
              <a:t> </a:t>
            </a:r>
            <a:r>
              <a:rPr spc="-5" dirty="0"/>
              <a:t>and</a:t>
            </a:r>
            <a:r>
              <a:rPr spc="-18" dirty="0"/>
              <a:t> </a:t>
            </a:r>
            <a:r>
              <a:rPr spc="-5" dirty="0"/>
              <a:t>businesses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709" y="1340335"/>
            <a:ext cx="7036308" cy="260122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48044" indent="-337185">
              <a:spcBef>
                <a:spcPts val="540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9" dirty="0">
                <a:latin typeface="Arial"/>
                <a:cs typeface="Arial"/>
              </a:rPr>
              <a:t>Wide</a:t>
            </a:r>
            <a:r>
              <a:rPr sz="2160" b="1" spc="-32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range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application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domains</a:t>
            </a:r>
            <a:endParaRPr sz="2160">
              <a:latin typeface="Arial"/>
              <a:cs typeface="Arial"/>
            </a:endParaRPr>
          </a:p>
          <a:p>
            <a:pPr marL="562356" lvl="1" indent="-333185">
              <a:spcBef>
                <a:spcPts val="374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pc="-5" dirty="0">
                <a:latin typeface="Georgia"/>
                <a:cs typeface="Georgia"/>
              </a:rPr>
              <a:t>Business,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healthcare,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manufacturing,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sustainability,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science</a:t>
            </a:r>
            <a:endParaRPr>
              <a:latin typeface="Georgia"/>
              <a:cs typeface="Georgia"/>
            </a:endParaRPr>
          </a:p>
          <a:p>
            <a:pPr marL="348044" marR="4572" indent="-333756">
              <a:spcBef>
                <a:spcPts val="374"/>
              </a:spcBef>
              <a:buChar char="●"/>
              <a:tabLst>
                <a:tab pos="348044" algn="l"/>
                <a:tab pos="348615" algn="l"/>
              </a:tabLst>
            </a:pPr>
            <a:r>
              <a:rPr sz="1890" b="1" spc="-5" dirty="0">
                <a:latin typeface="Arial"/>
                <a:cs typeface="Arial"/>
              </a:rPr>
              <a:t>Examples of key industries </a:t>
            </a:r>
            <a:r>
              <a:rPr sz="1890" b="1" dirty="0">
                <a:latin typeface="Arial"/>
                <a:cs typeface="Arial"/>
              </a:rPr>
              <a:t>for </a:t>
            </a:r>
            <a:r>
              <a:rPr sz="1890" b="1" spc="-5" dirty="0">
                <a:latin typeface="Arial"/>
                <a:cs typeface="Arial"/>
              </a:rPr>
              <a:t>infrastructural and platform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services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for</a:t>
            </a:r>
            <a:r>
              <a:rPr sz="1890" b="1" spc="-5" dirty="0">
                <a:latin typeface="Arial"/>
                <a:cs typeface="Arial"/>
              </a:rPr>
              <a:t> big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endParaRPr sz="1890">
              <a:latin typeface="Arial"/>
              <a:cs typeface="Arial"/>
            </a:endParaRPr>
          </a:p>
          <a:p>
            <a:pPr marL="562356" marR="107442" lvl="1" indent="-332613">
              <a:spcBef>
                <a:spcPts val="365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pc="-5" dirty="0">
                <a:latin typeface="Georgia"/>
                <a:cs typeface="Georgia"/>
              </a:rPr>
              <a:t>Amazon, Microsoft,</a:t>
            </a:r>
            <a:r>
              <a:rPr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Google, IBM, Alibaba, Huawei, Snowflake,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Databricks,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etc.</a:t>
            </a:r>
            <a:endParaRPr>
              <a:latin typeface="Georgia"/>
              <a:cs typeface="Georgia"/>
            </a:endParaRPr>
          </a:p>
          <a:p>
            <a:pPr marL="348044" marR="75438" indent="-333756">
              <a:spcBef>
                <a:spcPts val="374"/>
              </a:spcBef>
              <a:buChar char="●"/>
              <a:tabLst>
                <a:tab pos="348044" algn="l"/>
                <a:tab pos="348615" algn="l"/>
                <a:tab pos="4717733" algn="l"/>
              </a:tabLst>
            </a:pPr>
            <a:r>
              <a:rPr sz="1890" b="1" spc="-5" dirty="0">
                <a:latin typeface="Arial"/>
                <a:cs typeface="Arial"/>
              </a:rPr>
              <a:t>Big data and large-scale data analytics are </a:t>
            </a:r>
            <a:r>
              <a:rPr sz="1890" b="1" dirty="0">
                <a:latin typeface="Arial"/>
                <a:cs typeface="Arial"/>
              </a:rPr>
              <a:t>fundamental </a:t>
            </a:r>
            <a:r>
              <a:rPr sz="1890" b="1" spc="-5" dirty="0">
                <a:latin typeface="Arial"/>
                <a:cs typeface="Arial"/>
              </a:rPr>
              <a:t>in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most companies/organizations</a:t>
            </a:r>
            <a:r>
              <a:rPr sz="1890" b="1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doing	digital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business</a:t>
            </a:r>
            <a:endParaRPr sz="189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8721547" cy="511487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68" dirty="0"/>
              <a:t>Your</a:t>
            </a:r>
            <a:r>
              <a:rPr spc="-18" dirty="0"/>
              <a:t> </a:t>
            </a:r>
            <a:r>
              <a:rPr spc="-9" dirty="0"/>
              <a:t>big</a:t>
            </a:r>
            <a:r>
              <a:rPr spc="-18" dirty="0"/>
              <a:t> </a:t>
            </a:r>
            <a:r>
              <a:rPr spc="-9" dirty="0"/>
              <a:t>data</a:t>
            </a:r>
            <a:r>
              <a:rPr spc="-18" dirty="0"/>
              <a:t> </a:t>
            </a:r>
            <a:r>
              <a:rPr spc="-9" dirty="0"/>
              <a:t>platform</a:t>
            </a:r>
            <a:r>
              <a:rPr spc="-18" dirty="0"/>
              <a:t> </a:t>
            </a:r>
            <a:r>
              <a:rPr spc="-5" dirty="0"/>
              <a:t>story</a:t>
            </a:r>
            <a:r>
              <a:rPr spc="-9" dirty="0"/>
              <a:t> </a:t>
            </a:r>
            <a:r>
              <a:rPr dirty="0"/>
              <a:t>-</a:t>
            </a:r>
            <a:r>
              <a:rPr spc="-14" dirty="0"/>
              <a:t> </a:t>
            </a:r>
            <a:r>
              <a:rPr spc="-5" dirty="0"/>
              <a:t>an </a:t>
            </a:r>
            <a:r>
              <a:rPr spc="-887" dirty="0"/>
              <a:t> </a:t>
            </a:r>
            <a:r>
              <a:rPr spc="-5" dirty="0"/>
              <a:t>evolving</a:t>
            </a:r>
            <a:r>
              <a:rPr spc="-9" dirty="0"/>
              <a:t> </a:t>
            </a:r>
            <a:r>
              <a:rPr spc="-5" dirty="0"/>
              <a:t>scenario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7253" y="1447624"/>
            <a:ext cx="7344918" cy="233833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  <a:tabLst>
                <a:tab pos="481775" algn="l"/>
                <a:tab pos="2430590" algn="l"/>
                <a:tab pos="4172522" algn="l"/>
                <a:tab pos="6064758" algn="l"/>
              </a:tabLst>
            </a:pPr>
            <a:r>
              <a:rPr sz="2160" spc="-45" dirty="0">
                <a:latin typeface="Arial MT"/>
                <a:cs typeface="Arial MT"/>
              </a:rPr>
              <a:t>“Your</a:t>
            </a:r>
            <a:r>
              <a:rPr sz="2160" spc="-9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team</a:t>
            </a:r>
            <a:r>
              <a:rPr sz="2160" spc="-9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has</a:t>
            </a:r>
            <a:r>
              <a:rPr sz="2160" spc="-9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to</a:t>
            </a:r>
            <a:r>
              <a:rPr sz="2160" spc="-9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build </a:t>
            </a:r>
            <a:r>
              <a:rPr sz="2160" dirty="0">
                <a:latin typeface="Arial MT"/>
                <a:cs typeface="Arial MT"/>
              </a:rPr>
              <a:t>a</a:t>
            </a:r>
            <a:r>
              <a:rPr sz="2160" spc="-9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big data</a:t>
            </a:r>
            <a:r>
              <a:rPr sz="2160" spc="-9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platform for</a:t>
            </a:r>
            <a:r>
              <a:rPr sz="2160" spc="59" dirty="0">
                <a:latin typeface="Arial MT"/>
                <a:cs typeface="Arial MT"/>
              </a:rPr>
              <a:t> </a:t>
            </a:r>
            <a:r>
              <a:rPr sz="2160" dirty="0">
                <a:solidFill>
                  <a:srgbClr val="0000FF"/>
                </a:solidFill>
                <a:latin typeface="Arial MT"/>
                <a:cs typeface="Arial MT"/>
              </a:rPr>
              <a:t>X</a:t>
            </a:r>
            <a:r>
              <a:rPr sz="2160" spc="-1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60" spc="-5" dirty="0">
                <a:solidFill>
                  <a:srgbClr val="0000FF"/>
                </a:solidFill>
                <a:latin typeface="Arial MT"/>
                <a:cs typeface="Arial MT"/>
              </a:rPr>
              <a:t>types</a:t>
            </a:r>
            <a:r>
              <a:rPr sz="2160" spc="-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60" spc="-5" dirty="0">
                <a:solidFill>
                  <a:srgbClr val="0000FF"/>
                </a:solidFill>
                <a:latin typeface="Arial MT"/>
                <a:cs typeface="Arial MT"/>
              </a:rPr>
              <a:t>of </a:t>
            </a:r>
            <a:r>
              <a:rPr sz="216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60" spc="-5" dirty="0">
                <a:solidFill>
                  <a:srgbClr val="0000FF"/>
                </a:solidFill>
                <a:latin typeface="Arial MT"/>
                <a:cs typeface="Arial MT"/>
              </a:rPr>
              <a:t>data</a:t>
            </a:r>
            <a:r>
              <a:rPr sz="2160" spc="-5" dirty="0">
                <a:latin typeface="Arial MT"/>
                <a:cs typeface="Arial MT"/>
              </a:rPr>
              <a:t>. Data will be generated/collected from </a:t>
            </a:r>
            <a:r>
              <a:rPr sz="2160" dirty="0">
                <a:solidFill>
                  <a:srgbClr val="0000FF"/>
                </a:solidFill>
                <a:latin typeface="Arial MT"/>
                <a:cs typeface="Arial MT"/>
              </a:rPr>
              <a:t>N </a:t>
            </a:r>
            <a:r>
              <a:rPr sz="2160" spc="-5" dirty="0">
                <a:solidFill>
                  <a:srgbClr val="0000FF"/>
                </a:solidFill>
                <a:latin typeface="Arial MT"/>
                <a:cs typeface="Arial MT"/>
              </a:rPr>
              <a:t>data </a:t>
            </a:r>
            <a:r>
              <a:rPr sz="2160" dirty="0">
                <a:solidFill>
                  <a:srgbClr val="0000FF"/>
                </a:solidFill>
                <a:latin typeface="Arial MT"/>
                <a:cs typeface="Arial MT"/>
              </a:rPr>
              <a:t>sources</a:t>
            </a:r>
            <a:r>
              <a:rPr sz="2160" dirty="0">
                <a:latin typeface="Arial MT"/>
                <a:cs typeface="Arial MT"/>
              </a:rPr>
              <a:t>. </a:t>
            </a:r>
            <a:r>
              <a:rPr sz="2160" spc="5" dirty="0">
                <a:latin typeface="Arial MT"/>
                <a:cs typeface="Arial MT"/>
              </a:rPr>
              <a:t> </a:t>
            </a:r>
            <a:r>
              <a:rPr sz="2160" spc="-23" dirty="0">
                <a:latin typeface="Arial MT"/>
                <a:cs typeface="Arial MT"/>
              </a:rPr>
              <a:t>We</a:t>
            </a:r>
            <a:r>
              <a:rPr sz="2160" spc="-5" dirty="0">
                <a:latin typeface="Arial MT"/>
                <a:cs typeface="Arial MT"/>
              </a:rPr>
              <a:t> expect</a:t>
            </a:r>
            <a:r>
              <a:rPr sz="2160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to</a:t>
            </a:r>
            <a:r>
              <a:rPr sz="2160" spc="-9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have	</a:t>
            </a:r>
            <a:r>
              <a:rPr sz="2160" spc="-5" dirty="0">
                <a:solidFill>
                  <a:srgbClr val="0000FF"/>
                </a:solidFill>
                <a:latin typeface="Arial MT"/>
                <a:cs typeface="Arial MT"/>
              </a:rPr>
              <a:t>10+</a:t>
            </a:r>
            <a:r>
              <a:rPr sz="216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60" spc="-5" dirty="0">
                <a:solidFill>
                  <a:srgbClr val="0000FF"/>
                </a:solidFill>
                <a:latin typeface="Arial MT"/>
                <a:cs typeface="Arial MT"/>
              </a:rPr>
              <a:t>GBs/day	of data to be ingested </a:t>
            </a:r>
            <a:r>
              <a:rPr sz="2160" spc="-5" dirty="0">
                <a:latin typeface="Arial MT"/>
                <a:cs typeface="Arial MT"/>
              </a:rPr>
              <a:t>into </a:t>
            </a:r>
            <a:r>
              <a:rPr sz="2160" spc="-585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our platform. </a:t>
            </a:r>
            <a:r>
              <a:rPr sz="2160" spc="-23" dirty="0">
                <a:latin typeface="Arial MT"/>
                <a:cs typeface="Arial MT"/>
              </a:rPr>
              <a:t>We </a:t>
            </a:r>
            <a:r>
              <a:rPr sz="2160" spc="-5" dirty="0">
                <a:latin typeface="Arial MT"/>
                <a:cs typeface="Arial MT"/>
              </a:rPr>
              <a:t>will have to </a:t>
            </a:r>
            <a:r>
              <a:rPr sz="2160" dirty="0">
                <a:latin typeface="Arial MT"/>
                <a:cs typeface="Arial MT"/>
              </a:rPr>
              <a:t>serve </a:t>
            </a:r>
            <a:r>
              <a:rPr sz="2160" dirty="0">
                <a:solidFill>
                  <a:srgbClr val="0000FF"/>
                </a:solidFill>
                <a:latin typeface="Arial MT"/>
                <a:cs typeface="Arial MT"/>
              </a:rPr>
              <a:t>K </a:t>
            </a:r>
            <a:r>
              <a:rPr sz="2160" spc="-5" dirty="0">
                <a:solidFill>
                  <a:srgbClr val="0000FF"/>
                </a:solidFill>
                <a:latin typeface="Arial MT"/>
                <a:cs typeface="Arial MT"/>
              </a:rPr>
              <a:t>thousands of </a:t>
            </a:r>
            <a:r>
              <a:rPr sz="2160" dirty="0">
                <a:solidFill>
                  <a:srgbClr val="0000FF"/>
                </a:solidFill>
                <a:latin typeface="Arial MT"/>
                <a:cs typeface="Arial MT"/>
              </a:rPr>
              <a:t>requests </a:t>
            </a:r>
            <a:r>
              <a:rPr sz="2160" spc="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for	</a:t>
            </a:r>
            <a:r>
              <a:rPr sz="2160" spc="-9" dirty="0">
                <a:latin typeface="Arial MT"/>
                <a:cs typeface="Arial MT"/>
              </a:rPr>
              <a:t>different </a:t>
            </a:r>
            <a:r>
              <a:rPr sz="2160" spc="-5" dirty="0">
                <a:latin typeface="Arial MT"/>
                <a:cs typeface="Arial MT"/>
              </a:rPr>
              <a:t>types of analytics </a:t>
            </a:r>
            <a:r>
              <a:rPr sz="2160" dirty="0">
                <a:latin typeface="Arial MT"/>
                <a:cs typeface="Arial MT"/>
              </a:rPr>
              <a:t>– </a:t>
            </a:r>
            <a:r>
              <a:rPr sz="2160" spc="-5" dirty="0">
                <a:latin typeface="Arial MT"/>
                <a:cs typeface="Arial MT"/>
              </a:rPr>
              <a:t>to be determined. Our </a:t>
            </a:r>
            <a:r>
              <a:rPr sz="2160" dirty="0">
                <a:latin typeface="Arial MT"/>
                <a:cs typeface="Arial MT"/>
              </a:rPr>
              <a:t> response</a:t>
            </a:r>
            <a:r>
              <a:rPr sz="2160" spc="-5" dirty="0">
                <a:latin typeface="Arial MT"/>
                <a:cs typeface="Arial MT"/>
              </a:rPr>
              <a:t> time for</a:t>
            </a:r>
            <a:r>
              <a:rPr sz="2160" spc="-9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an</a:t>
            </a:r>
            <a:r>
              <a:rPr sz="2160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analytics </a:t>
            </a:r>
            <a:r>
              <a:rPr sz="2160" dirty="0">
                <a:latin typeface="Arial MT"/>
                <a:cs typeface="Arial MT"/>
              </a:rPr>
              <a:t>request should</a:t>
            </a:r>
            <a:r>
              <a:rPr sz="2160" spc="-5" dirty="0">
                <a:latin typeface="Arial MT"/>
                <a:cs typeface="Arial MT"/>
              </a:rPr>
              <a:t> be	</a:t>
            </a:r>
            <a:r>
              <a:rPr sz="2160" spc="-5" dirty="0">
                <a:solidFill>
                  <a:srgbClr val="0000FF"/>
                </a:solidFill>
                <a:latin typeface="Arial MT"/>
                <a:cs typeface="Arial MT"/>
              </a:rPr>
              <a:t>in </a:t>
            </a:r>
            <a:r>
              <a:rPr sz="2160" dirty="0">
                <a:solidFill>
                  <a:srgbClr val="0000FF"/>
                </a:solidFill>
                <a:latin typeface="Arial MT"/>
                <a:cs typeface="Arial MT"/>
              </a:rPr>
              <a:t>t </a:t>
            </a:r>
            <a:r>
              <a:rPr sz="2160" spc="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60" dirty="0">
                <a:solidFill>
                  <a:srgbClr val="0000FF"/>
                </a:solidFill>
                <a:latin typeface="Arial MT"/>
                <a:cs typeface="Arial MT"/>
              </a:rPr>
              <a:t>milliseconds</a:t>
            </a:r>
            <a:r>
              <a:rPr sz="2160" dirty="0">
                <a:latin typeface="Arial MT"/>
                <a:cs typeface="Arial MT"/>
              </a:rPr>
              <a:t>.</a:t>
            </a:r>
            <a:r>
              <a:rPr sz="2160" spc="-14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Our</a:t>
            </a:r>
            <a:r>
              <a:rPr sz="2160" spc="-14" dirty="0">
                <a:latin typeface="Arial MT"/>
                <a:cs typeface="Arial MT"/>
              </a:rPr>
              <a:t> </a:t>
            </a:r>
            <a:r>
              <a:rPr sz="2160" dirty="0">
                <a:latin typeface="Arial MT"/>
                <a:cs typeface="Arial MT"/>
              </a:rPr>
              <a:t>services</a:t>
            </a:r>
            <a:r>
              <a:rPr sz="2160" spc="-5" dirty="0">
                <a:latin typeface="Arial MT"/>
                <a:cs typeface="Arial MT"/>
              </a:rPr>
              <a:t> </a:t>
            </a:r>
            <a:r>
              <a:rPr sz="2160" dirty="0">
                <a:latin typeface="Arial MT"/>
                <a:cs typeface="Arial MT"/>
              </a:rPr>
              <a:t>should</a:t>
            </a:r>
            <a:r>
              <a:rPr sz="2160" spc="-9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not be</a:t>
            </a:r>
            <a:r>
              <a:rPr sz="2160" spc="-9" dirty="0">
                <a:latin typeface="Arial MT"/>
                <a:cs typeface="Arial MT"/>
              </a:rPr>
              <a:t> </a:t>
            </a:r>
            <a:r>
              <a:rPr sz="2160" dirty="0">
                <a:latin typeface="Arial MT"/>
                <a:cs typeface="Arial MT"/>
              </a:rPr>
              <a:t>…”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659111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86" dirty="0"/>
              <a:t>You</a:t>
            </a:r>
            <a:r>
              <a:rPr spc="-27" dirty="0"/>
              <a:t> </a:t>
            </a:r>
            <a:r>
              <a:rPr spc="-5" dirty="0"/>
              <a:t>may</a:t>
            </a:r>
            <a:r>
              <a:rPr spc="-23" dirty="0"/>
              <a:t> </a:t>
            </a:r>
            <a:r>
              <a:rPr spc="-9" dirty="0"/>
              <a:t>have</a:t>
            </a:r>
            <a:r>
              <a:rPr spc="-23" dirty="0"/>
              <a:t> </a:t>
            </a:r>
            <a:r>
              <a:rPr spc="-5" dirty="0"/>
              <a:t>several</a:t>
            </a:r>
            <a:r>
              <a:rPr spc="-23" dirty="0"/>
              <a:t> </a:t>
            </a:r>
            <a:r>
              <a:rPr spc="-5" dirty="0"/>
              <a:t>questions?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288" y="1066413"/>
            <a:ext cx="7356348" cy="3189078"/>
          </a:xfrm>
          <a:prstGeom prst="rect">
            <a:avLst/>
          </a:prstGeom>
        </p:spPr>
        <p:txBody>
          <a:bodyPr vert="horz" wrap="square" lIns="0" tIns="59436" rIns="0" bIns="0" rtlCol="0">
            <a:spAutoFit/>
          </a:bodyPr>
          <a:lstStyle/>
          <a:p>
            <a:pPr marL="344615" indent="-333756">
              <a:spcBef>
                <a:spcPts val="468"/>
              </a:spcBef>
              <a:buChar char="●"/>
              <a:tabLst>
                <a:tab pos="344615" algn="l"/>
                <a:tab pos="345186" algn="l"/>
              </a:tabLst>
            </a:pPr>
            <a:r>
              <a:rPr lang="en-US" spc="-5" dirty="0">
                <a:latin typeface="Trebuchet MS" panose="020B0603020202020204" pitchFamily="34" charset="0"/>
                <a:cs typeface="Arial"/>
              </a:rPr>
              <a:t>Do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we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have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dirty="0">
                <a:latin typeface="Trebuchet MS" panose="020B0603020202020204" pitchFamily="34" charset="0"/>
                <a:cs typeface="Arial"/>
              </a:rPr>
              <a:t>to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support</a:t>
            </a:r>
            <a:r>
              <a:rPr lang="en-US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multiple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dirty="0">
                <a:latin typeface="Trebuchet MS" panose="020B0603020202020204" pitchFamily="34" charset="0"/>
                <a:cs typeface="Arial"/>
              </a:rPr>
              <a:t>types</a:t>
            </a:r>
            <a:r>
              <a:rPr lang="en-US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of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data?</a:t>
            </a:r>
            <a:endParaRPr lang="en-US" dirty="0">
              <a:latin typeface="Trebuchet MS" panose="020B0603020202020204" pitchFamily="34" charset="0"/>
              <a:cs typeface="Arial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lang="en-US" spc="-5" dirty="0">
                <a:latin typeface="Trebuchet MS" panose="020B0603020202020204" pitchFamily="34" charset="0"/>
                <a:cs typeface="Arial"/>
              </a:rPr>
              <a:t>How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do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data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pipelines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and</a:t>
            </a:r>
            <a:r>
              <a:rPr lang="en-US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data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load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look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like?</a:t>
            </a:r>
            <a:endParaRPr lang="en-US" dirty="0">
              <a:latin typeface="Trebuchet MS" panose="020B0603020202020204" pitchFamily="34" charset="0"/>
              <a:cs typeface="Arial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lang="en-US" spc="-5" dirty="0">
                <a:latin typeface="Trebuchet MS" panose="020B0603020202020204" pitchFamily="34" charset="0"/>
                <a:cs typeface="Arial"/>
              </a:rPr>
              <a:t>How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dirty="0">
                <a:latin typeface="Trebuchet MS" panose="020B0603020202020204" pitchFamily="34" charset="0"/>
                <a:cs typeface="Arial"/>
              </a:rPr>
              <a:t>to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enable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different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data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processing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models?</a:t>
            </a:r>
            <a:endParaRPr lang="en-US" dirty="0">
              <a:latin typeface="Trebuchet MS" panose="020B0603020202020204" pitchFamily="34" charset="0"/>
              <a:cs typeface="Arial"/>
            </a:endParaRPr>
          </a:p>
          <a:p>
            <a:pPr marL="344615" marR="827532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lang="en-US" spc="-5" dirty="0">
                <a:latin typeface="Trebuchet MS" panose="020B0603020202020204" pitchFamily="34" charset="0"/>
                <a:cs typeface="Arial"/>
              </a:rPr>
              <a:t>Which runtime parameters must be monitored? Which </a:t>
            </a:r>
            <a:r>
              <a:rPr lang="en-US" spc="-513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service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level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and</a:t>
            </a:r>
            <a:r>
              <a:rPr lang="en-US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data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metrics</a:t>
            </a:r>
            <a:r>
              <a:rPr lang="en-US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must</a:t>
            </a:r>
            <a:r>
              <a:rPr lang="en-US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be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guaranteed?</a:t>
            </a:r>
            <a:endParaRPr lang="en-US" dirty="0">
              <a:latin typeface="Trebuchet MS" panose="020B0603020202020204" pitchFamily="34" charset="0"/>
              <a:cs typeface="Arial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lang="en-US" spc="-72" dirty="0">
                <a:latin typeface="Trebuchet MS" panose="020B0603020202020204" pitchFamily="34" charset="0"/>
                <a:cs typeface="Arial"/>
              </a:rPr>
              <a:t>To</a:t>
            </a:r>
            <a:r>
              <a:rPr lang="en-US" spc="-23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where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we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should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distribute/deploy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our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components?</a:t>
            </a:r>
            <a:endParaRPr lang="en-US" dirty="0">
              <a:latin typeface="Trebuchet MS" panose="020B0603020202020204" pitchFamily="34" charset="0"/>
              <a:cs typeface="Arial"/>
            </a:endParaRPr>
          </a:p>
          <a:p>
            <a:pPr marL="344615" marR="4572" indent="-333756">
              <a:spcBef>
                <a:spcPts val="378"/>
              </a:spcBef>
              <a:buChar char="●"/>
              <a:tabLst>
                <a:tab pos="344615" algn="l"/>
                <a:tab pos="345186" algn="l"/>
                <a:tab pos="4151376" algn="l"/>
              </a:tabLst>
            </a:pPr>
            <a:r>
              <a:rPr lang="en-US" spc="-5" dirty="0">
                <a:latin typeface="Trebuchet MS" panose="020B0603020202020204" pitchFamily="34" charset="0"/>
                <a:cs typeface="Arial"/>
              </a:rPr>
              <a:t>Which part of </a:t>
            </a:r>
            <a:r>
              <a:rPr lang="en-US" dirty="0">
                <a:latin typeface="Trebuchet MS" panose="020B0603020202020204" pitchFamily="34" charset="0"/>
                <a:cs typeface="Arial"/>
              </a:rPr>
              <a:t>the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platform we must manage by ourselves and </a:t>
            </a:r>
            <a:r>
              <a:rPr lang="en-US" spc="-513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which</a:t>
            </a:r>
            <a:r>
              <a:rPr lang="en-US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part will be</a:t>
            </a:r>
            <a:r>
              <a:rPr lang="en-US" spc="-9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dirty="0">
                <a:latin typeface="Trebuchet MS" panose="020B0603020202020204" pitchFamily="34" charset="0"/>
                <a:cs typeface="Arial"/>
              </a:rPr>
              <a:t>fully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managed	by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other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providers?</a:t>
            </a:r>
            <a:endParaRPr lang="en-US" dirty="0">
              <a:latin typeface="Trebuchet MS" panose="020B0603020202020204" pitchFamily="34" charset="0"/>
              <a:cs typeface="Arial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lang="en-US" spc="-5" dirty="0">
                <a:latin typeface="Trebuchet MS" panose="020B0603020202020204" pitchFamily="34" charset="0"/>
                <a:cs typeface="Arial"/>
              </a:rPr>
              <a:t>How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dirty="0">
                <a:latin typeface="Trebuchet MS" panose="020B0603020202020204" pitchFamily="34" charset="0"/>
                <a:cs typeface="Arial"/>
              </a:rPr>
              <a:t>to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design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elastic</a:t>
            </a:r>
            <a:r>
              <a:rPr lang="en-US" spc="-14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big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data</a:t>
            </a:r>
            <a:r>
              <a:rPr lang="en-US" spc="-18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US" spc="-5" dirty="0">
                <a:latin typeface="Trebuchet MS" panose="020B0603020202020204" pitchFamily="34" charset="0"/>
                <a:cs typeface="Arial"/>
              </a:rPr>
              <a:t>infrastructures?</a:t>
            </a:r>
            <a:endParaRPr lang="en-US" dirty="0">
              <a:latin typeface="Trebuchet MS" panose="020B0603020202020204" pitchFamily="34" charset="0"/>
              <a:cs typeface="Arial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lang="en-US" spc="-5" dirty="0">
                <a:latin typeface="Trebuchet MS" panose="020B0603020202020204" pitchFamily="34" charset="0"/>
                <a:cs typeface="Arial"/>
              </a:rPr>
              <a:t>Etc.</a:t>
            </a:r>
            <a:endParaRPr lang="en-US" dirty="0">
              <a:latin typeface="Trebuchet MS" panose="020B0603020202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03453" y="453442"/>
            <a:ext cx="2320747" cy="2627451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68" dirty="0"/>
              <a:t>Your</a:t>
            </a:r>
            <a:r>
              <a:rPr spc="-18" dirty="0"/>
              <a:t> </a:t>
            </a:r>
            <a:r>
              <a:rPr spc="-5" dirty="0"/>
              <a:t>Big</a:t>
            </a:r>
            <a:r>
              <a:rPr spc="-14" dirty="0"/>
              <a:t> </a:t>
            </a:r>
            <a:r>
              <a:rPr spc="-5" dirty="0"/>
              <a:t>Data</a:t>
            </a:r>
            <a:r>
              <a:rPr spc="-9" dirty="0"/>
              <a:t> Platform</a:t>
            </a:r>
            <a:r>
              <a:rPr spc="-23" dirty="0"/>
              <a:t> </a:t>
            </a:r>
            <a:r>
              <a:rPr spc="-5" dirty="0"/>
              <a:t>story</a:t>
            </a:r>
            <a:r>
              <a:rPr spc="-9" dirty="0"/>
              <a:t> </a:t>
            </a:r>
            <a:r>
              <a:rPr spc="-5" dirty="0"/>
              <a:t>starts </a:t>
            </a:r>
            <a:r>
              <a:rPr dirty="0"/>
              <a:t> </a:t>
            </a:r>
            <a:r>
              <a:rPr spc="-9" dirty="0"/>
              <a:t>with</a:t>
            </a:r>
            <a:r>
              <a:rPr spc="-27" dirty="0"/>
              <a:t> </a:t>
            </a:r>
            <a:r>
              <a:rPr spc="-5" dirty="0"/>
              <a:t>Big</a:t>
            </a:r>
            <a:r>
              <a:rPr spc="-18" dirty="0"/>
              <a:t> </a:t>
            </a:r>
            <a:r>
              <a:rPr spc="-5" dirty="0"/>
              <a:t>Data</a:t>
            </a:r>
            <a:r>
              <a:rPr spc="-23" dirty="0"/>
              <a:t> </a:t>
            </a:r>
            <a:r>
              <a:rPr spc="-9" dirty="0"/>
              <a:t>Platform</a:t>
            </a:r>
            <a:r>
              <a:rPr spc="-27" dirty="0"/>
              <a:t> </a:t>
            </a:r>
            <a:r>
              <a:rPr spc="-5" dirty="0"/>
              <a:t>architectures!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29000" y="2038350"/>
            <a:ext cx="5137214" cy="13411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2880" b="1" spc="-108" dirty="0">
                <a:latin typeface="Arial"/>
                <a:cs typeface="Arial"/>
              </a:rPr>
              <a:t>To</a:t>
            </a:r>
            <a:r>
              <a:rPr sz="2880" b="1" spc="-18" dirty="0">
                <a:latin typeface="Arial"/>
                <a:cs typeface="Arial"/>
              </a:rPr>
              <a:t> </a:t>
            </a:r>
            <a:r>
              <a:rPr sz="2880" b="1" spc="-5" dirty="0">
                <a:latin typeface="Arial"/>
                <a:cs typeface="Arial"/>
              </a:rPr>
              <a:t>architect</a:t>
            </a:r>
            <a:r>
              <a:rPr sz="2880" b="1" spc="-14" dirty="0">
                <a:latin typeface="Arial"/>
                <a:cs typeface="Arial"/>
              </a:rPr>
              <a:t> </a:t>
            </a:r>
            <a:r>
              <a:rPr sz="2880" b="1" spc="-5" dirty="0">
                <a:latin typeface="Arial"/>
                <a:cs typeface="Arial"/>
              </a:rPr>
              <a:t>the</a:t>
            </a:r>
            <a:r>
              <a:rPr sz="2880" b="1" spc="-9" dirty="0">
                <a:latin typeface="Arial"/>
                <a:cs typeface="Arial"/>
              </a:rPr>
              <a:t> platform </a:t>
            </a:r>
            <a:r>
              <a:rPr sz="2880" b="1" spc="-5" dirty="0">
                <a:latin typeface="Arial"/>
                <a:cs typeface="Arial"/>
              </a:rPr>
              <a:t> centered around </a:t>
            </a:r>
            <a:r>
              <a:rPr sz="2880" b="1" spc="-9" dirty="0">
                <a:latin typeface="Arial"/>
                <a:cs typeface="Arial"/>
              </a:rPr>
              <a:t>big data </a:t>
            </a:r>
            <a:r>
              <a:rPr sz="2880" b="1" spc="-5" dirty="0">
                <a:latin typeface="Arial"/>
                <a:cs typeface="Arial"/>
              </a:rPr>
              <a:t>and </a:t>
            </a:r>
            <a:r>
              <a:rPr sz="2880" b="1" spc="-788" dirty="0">
                <a:latin typeface="Arial"/>
                <a:cs typeface="Arial"/>
              </a:rPr>
              <a:t> </a:t>
            </a:r>
            <a:r>
              <a:rPr sz="2880" b="1" spc="-9" dirty="0">
                <a:latin typeface="Arial"/>
                <a:cs typeface="Arial"/>
              </a:rPr>
              <a:t>data</a:t>
            </a:r>
            <a:r>
              <a:rPr sz="2880" b="1" spc="-18" dirty="0">
                <a:latin typeface="Arial"/>
                <a:cs typeface="Arial"/>
              </a:rPr>
              <a:t> </a:t>
            </a:r>
            <a:r>
              <a:rPr sz="2880" b="1" spc="-9" dirty="0">
                <a:latin typeface="Arial"/>
                <a:cs typeface="Arial"/>
              </a:rPr>
              <a:t>intensive</a:t>
            </a:r>
            <a:r>
              <a:rPr sz="2880" b="1" spc="-14" dirty="0">
                <a:latin typeface="Arial"/>
                <a:cs typeface="Arial"/>
              </a:rPr>
              <a:t> </a:t>
            </a:r>
            <a:r>
              <a:rPr sz="2880" b="1" spc="-5" dirty="0">
                <a:latin typeface="Arial"/>
                <a:cs typeface="Arial"/>
              </a:rPr>
              <a:t>activities!</a:t>
            </a:r>
            <a:endParaRPr sz="288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2"/>
            <a:ext cx="8264347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Underlying computing </a:t>
            </a:r>
            <a:r>
              <a:rPr spc="-9" dirty="0"/>
              <a:t>infrastructures </a:t>
            </a:r>
            <a:r>
              <a:rPr spc="-891" dirty="0"/>
              <a:t> </a:t>
            </a:r>
            <a:r>
              <a:rPr spc="-5" dirty="0"/>
              <a:t>is</a:t>
            </a:r>
            <a:r>
              <a:rPr spc="-14" dirty="0"/>
              <a:t> </a:t>
            </a:r>
            <a:r>
              <a:rPr spc="-5" dirty="0"/>
              <a:t>for</a:t>
            </a:r>
            <a:r>
              <a:rPr spc="-9" dirty="0"/>
              <a:t> data intensive</a:t>
            </a:r>
            <a:r>
              <a:rPr spc="-14" dirty="0"/>
              <a:t> </a:t>
            </a:r>
            <a:r>
              <a:rPr dirty="0"/>
              <a:t>tasks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3453" y="1352550"/>
            <a:ext cx="7163753" cy="3258905"/>
          </a:xfrm>
          <a:prstGeom prst="rect">
            <a:avLst/>
          </a:prstGeom>
        </p:spPr>
        <p:txBody>
          <a:bodyPr vert="horz" wrap="square" lIns="0" tIns="60008" rIns="0" bIns="0" rtlCol="0">
            <a:spAutoFit/>
          </a:bodyPr>
          <a:lstStyle/>
          <a:p>
            <a:pPr marL="344615" indent="-333756">
              <a:spcBef>
                <a:spcPts val="472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Computing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resources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services</a:t>
            </a:r>
            <a:endParaRPr sz="1890" dirty="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many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machines,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virtual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infrastructures,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different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types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of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services</a:t>
            </a:r>
            <a:endParaRPr dirty="0">
              <a:latin typeface="Georgia"/>
              <a:cs typeface="Georgia"/>
            </a:endParaRPr>
          </a:p>
          <a:p>
            <a:pPr marL="344615" marR="475488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Distributed infrastructures </a:t>
            </a:r>
            <a:r>
              <a:rPr sz="1890" b="1" dirty="0">
                <a:latin typeface="Arial"/>
                <a:cs typeface="Arial"/>
              </a:rPr>
              <a:t>from </a:t>
            </a:r>
            <a:r>
              <a:rPr sz="1890" b="1" spc="-5" dirty="0">
                <a:latin typeface="Arial"/>
                <a:cs typeface="Arial"/>
              </a:rPr>
              <a:t>different administrative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domains</a:t>
            </a:r>
            <a:endParaRPr sz="1890" dirty="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in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multiple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centers,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locations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countries</a:t>
            </a:r>
            <a:endParaRPr dirty="0">
              <a:latin typeface="Georgia"/>
              <a:cs typeface="Georgia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with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different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security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network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policies</a:t>
            </a:r>
            <a:endParaRPr dirty="0">
              <a:latin typeface="Georgia"/>
              <a:cs typeface="Georgia"/>
            </a:endParaRPr>
          </a:p>
          <a:p>
            <a:pPr marL="344615" marR="511493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Diverse service level objectives </a:t>
            </a:r>
            <a:r>
              <a:rPr sz="1890" b="1" dirty="0">
                <a:latin typeface="Arial"/>
                <a:cs typeface="Arial"/>
              </a:rPr>
              <a:t>(SLO) </a:t>
            </a:r>
            <a:r>
              <a:rPr sz="1890" b="1" spc="-5" dirty="0">
                <a:latin typeface="Arial"/>
                <a:cs typeface="Arial"/>
              </a:rPr>
              <a:t>and service level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agreements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(SLAs)</a:t>
            </a:r>
            <a:endParaRPr sz="1890" dirty="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performance,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service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failure,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cost,</a:t>
            </a:r>
            <a:r>
              <a:rPr spc="41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privacy/security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…</a:t>
            </a: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data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governance</a:t>
            </a:r>
            <a:endParaRPr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05544" y="1447742"/>
            <a:ext cx="1945386" cy="1599057"/>
            <a:chOff x="6831493" y="1608602"/>
            <a:chExt cx="2161540" cy="1776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1493" y="1608602"/>
              <a:ext cx="2161036" cy="17762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76256" y="1633365"/>
              <a:ext cx="2072005" cy="1687195"/>
            </a:xfrm>
            <a:custGeom>
              <a:avLst/>
              <a:gdLst/>
              <a:ahLst/>
              <a:cxnLst/>
              <a:rect l="l" t="t" r="r" b="b"/>
              <a:pathLst>
                <a:path w="2072004" h="1687195">
                  <a:moveTo>
                    <a:pt x="2071511" y="1686677"/>
                  </a:moveTo>
                  <a:lnTo>
                    <a:pt x="0" y="1686677"/>
                  </a:lnTo>
                  <a:lnTo>
                    <a:pt x="0" y="0"/>
                  </a:lnTo>
                  <a:lnTo>
                    <a:pt x="2071511" y="0"/>
                  </a:lnTo>
                  <a:lnTo>
                    <a:pt x="2071511" y="1686677"/>
                  </a:lnTo>
                  <a:close/>
                </a:path>
              </a:pathLst>
            </a:custGeom>
            <a:solidFill>
              <a:srgbClr val="BD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76256" y="1633365"/>
              <a:ext cx="2072005" cy="1687195"/>
            </a:xfrm>
            <a:custGeom>
              <a:avLst/>
              <a:gdLst/>
              <a:ahLst/>
              <a:cxnLst/>
              <a:rect l="l" t="t" r="r" b="b"/>
              <a:pathLst>
                <a:path w="2072004" h="1687195">
                  <a:moveTo>
                    <a:pt x="0" y="0"/>
                  </a:moveTo>
                  <a:lnTo>
                    <a:pt x="2071511" y="0"/>
                  </a:lnTo>
                  <a:lnTo>
                    <a:pt x="2071511" y="1686677"/>
                  </a:lnTo>
                  <a:lnTo>
                    <a:pt x="0" y="168667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80942" y="1483745"/>
            <a:ext cx="594360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Node</a:t>
            </a:r>
            <a:endParaRPr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18590" y="1308875"/>
            <a:ext cx="2802065" cy="2771204"/>
            <a:chOff x="2845989" y="1454305"/>
            <a:chExt cx="3113405" cy="30791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5989" y="1454305"/>
              <a:ext cx="3113092" cy="30787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0752" y="1479067"/>
              <a:ext cx="3023567" cy="29892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90752" y="1479067"/>
              <a:ext cx="3023870" cy="2989580"/>
            </a:xfrm>
            <a:custGeom>
              <a:avLst/>
              <a:gdLst/>
              <a:ahLst/>
              <a:cxnLst/>
              <a:rect l="l" t="t" r="r" b="b"/>
              <a:pathLst>
                <a:path w="3023870" h="2989579">
                  <a:moveTo>
                    <a:pt x="0" y="0"/>
                  </a:moveTo>
                  <a:lnTo>
                    <a:pt x="3023567" y="0"/>
                  </a:lnTo>
                  <a:lnTo>
                    <a:pt x="3023567" y="2989235"/>
                  </a:lnTo>
                  <a:lnTo>
                    <a:pt x="0" y="298923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07019" y="1346706"/>
            <a:ext cx="1424178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440" b="1" spc="-5" dirty="0">
                <a:latin typeface="Arial"/>
                <a:cs typeface="Arial"/>
              </a:rPr>
              <a:t>Data</a:t>
            </a:r>
            <a:r>
              <a:rPr sz="1440" b="1" spc="-4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Center</a:t>
            </a:r>
            <a:r>
              <a:rPr sz="1440" b="1" spc="-4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dcn</a:t>
            </a:r>
            <a:endParaRPr sz="144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08581" y="1595381"/>
            <a:ext cx="1940243" cy="2133410"/>
            <a:chOff x="2945979" y="1772645"/>
            <a:chExt cx="2155825" cy="237045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5979" y="1772645"/>
              <a:ext cx="2155739" cy="23704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90742" y="1797407"/>
              <a:ext cx="2066213" cy="22808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90742" y="1797407"/>
              <a:ext cx="2066289" cy="2280920"/>
            </a:xfrm>
            <a:custGeom>
              <a:avLst/>
              <a:gdLst/>
              <a:ahLst/>
              <a:cxnLst/>
              <a:rect l="l" t="t" r="r" b="b"/>
              <a:pathLst>
                <a:path w="2066289" h="2280920">
                  <a:moveTo>
                    <a:pt x="0" y="0"/>
                  </a:moveTo>
                  <a:lnTo>
                    <a:pt x="2066213" y="0"/>
                  </a:lnTo>
                  <a:lnTo>
                    <a:pt x="2066213" y="2280886"/>
                  </a:lnTo>
                  <a:lnTo>
                    <a:pt x="0" y="228088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72447" y="1633211"/>
            <a:ext cx="612648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440" b="1" spc="-5" dirty="0">
                <a:latin typeface="Arial"/>
                <a:cs typeface="Arial"/>
              </a:rPr>
              <a:t>Rack</a:t>
            </a:r>
            <a:r>
              <a:rPr sz="1440" b="1" spc="-72" dirty="0">
                <a:latin typeface="Arial"/>
                <a:cs typeface="Arial"/>
              </a:rPr>
              <a:t> </a:t>
            </a:r>
            <a:r>
              <a:rPr sz="1440" b="1" dirty="0">
                <a:latin typeface="Arial"/>
                <a:cs typeface="Arial"/>
              </a:rPr>
              <a:t>1</a:t>
            </a:r>
            <a:endParaRPr sz="144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641176" y="1820644"/>
            <a:ext cx="1940243" cy="2133410"/>
            <a:chOff x="3537751" y="2022937"/>
            <a:chExt cx="2155825" cy="237045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37751" y="2022937"/>
              <a:ext cx="2155739" cy="23704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2513" y="2047699"/>
              <a:ext cx="2066213" cy="22808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82513" y="2047699"/>
              <a:ext cx="2066289" cy="2280920"/>
            </a:xfrm>
            <a:custGeom>
              <a:avLst/>
              <a:gdLst/>
              <a:ahLst/>
              <a:cxnLst/>
              <a:rect l="l" t="t" r="r" b="b"/>
              <a:pathLst>
                <a:path w="2066289" h="2280920">
                  <a:moveTo>
                    <a:pt x="0" y="0"/>
                  </a:moveTo>
                  <a:lnTo>
                    <a:pt x="2066213" y="0"/>
                  </a:lnTo>
                  <a:lnTo>
                    <a:pt x="2066213" y="2280886"/>
                  </a:lnTo>
                  <a:lnTo>
                    <a:pt x="0" y="228088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81462" y="1842930"/>
            <a:ext cx="1327023" cy="248722"/>
          </a:xfrm>
          <a:prstGeom prst="rect">
            <a:avLst/>
          </a:prstGeom>
          <a:ln w="9524">
            <a:solidFill>
              <a:srgbClr val="005BB7"/>
            </a:solidFill>
          </a:ln>
        </p:spPr>
        <p:txBody>
          <a:bodyPr vert="horz" wrap="square" lIns="0" tIns="26861" rIns="0" bIns="0" rtlCol="0">
            <a:spAutoFit/>
          </a:bodyPr>
          <a:lstStyle/>
          <a:p>
            <a:pPr marL="619506">
              <a:spcBef>
                <a:spcPts val="212"/>
              </a:spcBef>
            </a:pPr>
            <a:r>
              <a:rPr sz="1440" b="1" spc="-5" dirty="0">
                <a:latin typeface="Arial"/>
                <a:cs typeface="Arial"/>
              </a:rPr>
              <a:t>Rack</a:t>
            </a:r>
            <a:r>
              <a:rPr sz="1440" b="1" spc="-45" dirty="0">
                <a:latin typeface="Arial"/>
                <a:cs typeface="Arial"/>
              </a:rPr>
              <a:t> </a:t>
            </a:r>
            <a:r>
              <a:rPr sz="1440" b="1" dirty="0">
                <a:latin typeface="Arial"/>
                <a:cs typeface="Arial"/>
              </a:rPr>
              <a:t>R</a:t>
            </a:r>
            <a:endParaRPr sz="144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67251" y="109792"/>
            <a:ext cx="7251192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Understanding the </a:t>
            </a:r>
            <a:r>
              <a:rPr spc="-9" dirty="0"/>
              <a:t>underlying </a:t>
            </a:r>
            <a:r>
              <a:rPr spc="-5" dirty="0"/>
              <a:t> </a:t>
            </a:r>
            <a:r>
              <a:rPr spc="-9" dirty="0"/>
              <a:t>infrastructures</a:t>
            </a:r>
            <a:r>
              <a:rPr spc="-27" dirty="0"/>
              <a:t> </a:t>
            </a:r>
            <a:r>
              <a:rPr spc="-5" dirty="0"/>
              <a:t>for</a:t>
            </a:r>
            <a:r>
              <a:rPr spc="-18" dirty="0"/>
              <a:t> </a:t>
            </a:r>
            <a:r>
              <a:rPr spc="-9" dirty="0"/>
              <a:t>big</a:t>
            </a:r>
            <a:r>
              <a:rPr spc="-23" dirty="0"/>
              <a:t> </a:t>
            </a:r>
            <a:r>
              <a:rPr spc="-9" dirty="0"/>
              <a:t>data</a:t>
            </a:r>
            <a:r>
              <a:rPr spc="-23" dirty="0"/>
              <a:t> </a:t>
            </a:r>
            <a:r>
              <a:rPr spc="-5" dirty="0"/>
              <a:t>platforms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59002" y="4002624"/>
            <a:ext cx="7493508" cy="2746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710" b="1" spc="-5" dirty="0">
                <a:latin typeface="Arial"/>
                <a:cs typeface="Arial"/>
              </a:rPr>
              <a:t>several</a:t>
            </a:r>
            <a:r>
              <a:rPr sz="1710" b="1" spc="-14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data</a:t>
            </a:r>
            <a:r>
              <a:rPr sz="1710" b="1" spc="-14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intensive</a:t>
            </a:r>
            <a:r>
              <a:rPr sz="1710" b="1" spc="-9" dirty="0">
                <a:latin typeface="Arial"/>
                <a:cs typeface="Arial"/>
              </a:rPr>
              <a:t> </a:t>
            </a:r>
            <a:r>
              <a:rPr sz="1710" b="1" dirty="0">
                <a:latin typeface="Arial"/>
                <a:cs typeface="Arial"/>
              </a:rPr>
              <a:t>tasks</a:t>
            </a:r>
            <a:r>
              <a:rPr sz="1710" b="1" spc="-14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are</a:t>
            </a:r>
            <a:r>
              <a:rPr sz="1710" b="1" spc="-9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optimized</a:t>
            </a:r>
            <a:r>
              <a:rPr sz="1710" b="1" spc="-14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with</a:t>
            </a:r>
            <a:r>
              <a:rPr sz="1710" b="1" spc="-9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rack/topology</a:t>
            </a:r>
            <a:r>
              <a:rPr sz="1710" b="1" spc="-14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awareness</a:t>
            </a:r>
            <a:endParaRPr sz="171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19346" y="2679077"/>
            <a:ext cx="2059115" cy="1309307"/>
            <a:chOff x="6735717" y="2976752"/>
            <a:chExt cx="2287905" cy="1454785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35717" y="2976752"/>
              <a:ext cx="2287376" cy="145436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780479" y="3001515"/>
              <a:ext cx="2198370" cy="1365250"/>
            </a:xfrm>
            <a:custGeom>
              <a:avLst/>
              <a:gdLst/>
              <a:ahLst/>
              <a:cxnLst/>
              <a:rect l="l" t="t" r="r" b="b"/>
              <a:pathLst>
                <a:path w="2198370" h="1365250">
                  <a:moveTo>
                    <a:pt x="2197851" y="1364842"/>
                  </a:moveTo>
                  <a:lnTo>
                    <a:pt x="0" y="1364842"/>
                  </a:lnTo>
                  <a:lnTo>
                    <a:pt x="0" y="0"/>
                  </a:lnTo>
                  <a:lnTo>
                    <a:pt x="2197851" y="0"/>
                  </a:lnTo>
                  <a:lnTo>
                    <a:pt x="2197851" y="1364842"/>
                  </a:lnTo>
                  <a:close/>
                </a:path>
              </a:pathLst>
            </a:custGeom>
            <a:solidFill>
              <a:srgbClr val="BD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80479" y="3001515"/>
              <a:ext cx="2198370" cy="1365250"/>
            </a:xfrm>
            <a:custGeom>
              <a:avLst/>
              <a:gdLst/>
              <a:ahLst/>
              <a:cxnLst/>
              <a:rect l="l" t="t" r="r" b="b"/>
              <a:pathLst>
                <a:path w="2198370" h="1365250">
                  <a:moveTo>
                    <a:pt x="0" y="0"/>
                  </a:moveTo>
                  <a:lnTo>
                    <a:pt x="2197851" y="0"/>
                  </a:lnTo>
                  <a:lnTo>
                    <a:pt x="2197851" y="1364842"/>
                  </a:lnTo>
                  <a:lnTo>
                    <a:pt x="0" y="136484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63918" y="3600539"/>
            <a:ext cx="1956245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716" algn="ctr"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Node</a:t>
            </a:r>
            <a:endParaRPr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601676" y="2792867"/>
            <a:ext cx="942975" cy="528066"/>
            <a:chOff x="6827195" y="3103185"/>
            <a:chExt cx="1047750" cy="586740"/>
          </a:xfrm>
        </p:grpSpPr>
        <p:sp>
          <p:nvSpPr>
            <p:cNvPr id="30" name="object 30"/>
            <p:cNvSpPr/>
            <p:nvPr/>
          </p:nvSpPr>
          <p:spPr>
            <a:xfrm>
              <a:off x="6839895" y="3115885"/>
              <a:ext cx="1022350" cy="561340"/>
            </a:xfrm>
            <a:custGeom>
              <a:avLst/>
              <a:gdLst/>
              <a:ahLst/>
              <a:cxnLst/>
              <a:rect l="l" t="t" r="r" b="b"/>
              <a:pathLst>
                <a:path w="1022350" h="561339">
                  <a:moveTo>
                    <a:pt x="1021954" y="561187"/>
                  </a:moveTo>
                  <a:lnTo>
                    <a:pt x="0" y="561187"/>
                  </a:lnTo>
                  <a:lnTo>
                    <a:pt x="0" y="0"/>
                  </a:lnTo>
                  <a:lnTo>
                    <a:pt x="1021954" y="0"/>
                  </a:lnTo>
                  <a:lnTo>
                    <a:pt x="1021954" y="561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39895" y="3115885"/>
              <a:ext cx="1022350" cy="561340"/>
            </a:xfrm>
            <a:custGeom>
              <a:avLst/>
              <a:gdLst/>
              <a:ahLst/>
              <a:cxnLst/>
              <a:rect l="l" t="t" r="r" b="b"/>
              <a:pathLst>
                <a:path w="1022350" h="561339">
                  <a:moveTo>
                    <a:pt x="0" y="0"/>
                  </a:moveTo>
                  <a:lnTo>
                    <a:pt x="1021954" y="0"/>
                  </a:lnTo>
                  <a:lnTo>
                    <a:pt x="1021954" y="561187"/>
                  </a:lnTo>
                  <a:lnTo>
                    <a:pt x="0" y="561187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650116" y="2818630"/>
            <a:ext cx="871538" cy="454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150" marR="77153" indent="167450">
              <a:spcBef>
                <a:spcPts val="90"/>
              </a:spcBef>
            </a:pPr>
            <a:r>
              <a:rPr sz="1440" b="1" spc="-5" dirty="0">
                <a:latin typeface="Arial"/>
                <a:cs typeface="Arial"/>
              </a:rPr>
              <a:t>Data </a:t>
            </a:r>
            <a:r>
              <a:rPr sz="1440" b="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partition</a:t>
            </a:r>
            <a:endParaRPr sz="144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041243" y="2017748"/>
            <a:ext cx="656654" cy="505206"/>
          </a:xfrm>
          <a:custGeom>
            <a:avLst/>
            <a:gdLst/>
            <a:ahLst/>
            <a:cxnLst/>
            <a:rect l="l" t="t" r="r" b="b"/>
            <a:pathLst>
              <a:path w="729615" h="561339">
                <a:moveTo>
                  <a:pt x="0" y="0"/>
                </a:moveTo>
                <a:lnTo>
                  <a:pt x="729557" y="0"/>
                </a:lnTo>
                <a:lnTo>
                  <a:pt x="729557" y="561187"/>
                </a:lnTo>
                <a:lnTo>
                  <a:pt x="0" y="561187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052673" y="2027905"/>
            <a:ext cx="654368" cy="36067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0300" rIns="0" bIns="0" rtlCol="0">
            <a:spAutoFit/>
          </a:bodyPr>
          <a:lstStyle/>
          <a:p>
            <a:pPr marL="89726">
              <a:spcBef>
                <a:spcPts val="869"/>
              </a:spcBef>
            </a:pPr>
            <a:r>
              <a:rPr sz="1620" b="1" spc="-36" dirty="0">
                <a:latin typeface="Arial"/>
                <a:cs typeface="Arial"/>
              </a:rPr>
              <a:t>Task</a:t>
            </a:r>
            <a:endParaRPr sz="162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738078" y="2015202"/>
            <a:ext cx="656654" cy="505206"/>
          </a:xfrm>
          <a:custGeom>
            <a:avLst/>
            <a:gdLst/>
            <a:ahLst/>
            <a:cxnLst/>
            <a:rect l="l" t="t" r="r" b="b"/>
            <a:pathLst>
              <a:path w="729615" h="561339">
                <a:moveTo>
                  <a:pt x="0" y="0"/>
                </a:moveTo>
                <a:lnTo>
                  <a:pt x="729557" y="0"/>
                </a:lnTo>
                <a:lnTo>
                  <a:pt x="729557" y="561187"/>
                </a:lnTo>
                <a:lnTo>
                  <a:pt x="0" y="561187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729391" y="2027905"/>
            <a:ext cx="654368" cy="35836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8013" rIns="0" bIns="0" rtlCol="0">
            <a:spAutoFit/>
          </a:bodyPr>
          <a:lstStyle/>
          <a:p>
            <a:pPr marL="109728">
              <a:spcBef>
                <a:spcPts val="850"/>
              </a:spcBef>
            </a:pPr>
            <a:r>
              <a:rPr sz="1620" b="1" spc="-36" dirty="0">
                <a:latin typeface="Arial"/>
                <a:cs typeface="Arial"/>
              </a:rPr>
              <a:t>Task</a:t>
            </a:r>
            <a:endParaRPr sz="162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721887" y="2106407"/>
            <a:ext cx="1247585" cy="1423607"/>
            <a:chOff x="3627430" y="2340452"/>
            <a:chExt cx="1386205" cy="1581785"/>
          </a:xfrm>
        </p:grpSpPr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27430" y="2340452"/>
              <a:ext cx="1385669" cy="158172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72192" y="2362215"/>
              <a:ext cx="1296143" cy="149219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672192" y="2362215"/>
              <a:ext cx="1296670" cy="1492250"/>
            </a:xfrm>
            <a:custGeom>
              <a:avLst/>
              <a:gdLst/>
              <a:ahLst/>
              <a:cxnLst/>
              <a:rect l="l" t="t" r="r" b="b"/>
              <a:pathLst>
                <a:path w="1296670" h="1492250">
                  <a:moveTo>
                    <a:pt x="0" y="0"/>
                  </a:moveTo>
                  <a:lnTo>
                    <a:pt x="1296143" y="0"/>
                  </a:lnTo>
                  <a:lnTo>
                    <a:pt x="1296143" y="1492197"/>
                  </a:lnTo>
                  <a:lnTo>
                    <a:pt x="0" y="14921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963025" y="2141539"/>
            <a:ext cx="762381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440" b="1" spc="-5" dirty="0">
                <a:solidFill>
                  <a:srgbClr val="FFFFFF"/>
                </a:solidFill>
                <a:latin typeface="Arial"/>
                <a:cs typeface="Arial"/>
              </a:rPr>
              <a:t>Physical</a:t>
            </a:r>
            <a:endParaRPr sz="144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147774" y="2337973"/>
            <a:ext cx="1247585" cy="1423607"/>
            <a:chOff x="4100637" y="2597748"/>
            <a:chExt cx="1386205" cy="1581785"/>
          </a:xfrm>
        </p:grpSpPr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0637" y="2597748"/>
              <a:ext cx="1385669" cy="158172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45400" y="2619510"/>
              <a:ext cx="1296144" cy="149219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145400" y="2619510"/>
              <a:ext cx="1296670" cy="1492250"/>
            </a:xfrm>
            <a:custGeom>
              <a:avLst/>
              <a:gdLst/>
              <a:ahLst/>
              <a:cxnLst/>
              <a:rect l="l" t="t" r="r" b="b"/>
              <a:pathLst>
                <a:path w="1296670" h="1492250">
                  <a:moveTo>
                    <a:pt x="0" y="0"/>
                  </a:moveTo>
                  <a:lnTo>
                    <a:pt x="1296144" y="0"/>
                  </a:lnTo>
                  <a:lnTo>
                    <a:pt x="1296144" y="1492197"/>
                  </a:lnTo>
                  <a:lnTo>
                    <a:pt x="0" y="14921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968248" y="2373105"/>
            <a:ext cx="1183005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160" b="1" baseline="3472" dirty="0">
                <a:solidFill>
                  <a:srgbClr val="FFFFFF"/>
                </a:solidFill>
                <a:latin typeface="Arial"/>
                <a:cs typeface="Arial"/>
              </a:rPr>
              <a:t>Mac</a:t>
            </a:r>
            <a:r>
              <a:rPr sz="2160" b="1" spc="-554" baseline="3472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1440" b="1" spc="-594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160" b="1" baseline="3472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60" b="1" spc="-1040" baseline="3472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40" b="1" spc="-194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2160" b="1" spc="-924" baseline="3472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40" b="1" spc="-5" dirty="0">
                <a:solidFill>
                  <a:srgbClr val="FFFFFF"/>
                </a:solidFill>
                <a:latin typeface="Arial"/>
                <a:cs typeface="Arial"/>
              </a:rPr>
              <a:t>ysical</a:t>
            </a:r>
            <a:endParaRPr sz="144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94135" y="2592561"/>
            <a:ext cx="754952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440" b="1" dirty="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endParaRPr sz="144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359749" y="2915641"/>
            <a:ext cx="899541" cy="436626"/>
            <a:chOff x="4336166" y="3239601"/>
            <a:chExt cx="999490" cy="485140"/>
          </a:xfrm>
        </p:grpSpPr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36166" y="3239601"/>
              <a:ext cx="998899" cy="48511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380929" y="3264364"/>
              <a:ext cx="909955" cy="395605"/>
            </a:xfrm>
            <a:custGeom>
              <a:avLst/>
              <a:gdLst/>
              <a:ahLst/>
              <a:cxnLst/>
              <a:rect l="l" t="t" r="r" b="b"/>
              <a:pathLst>
                <a:path w="909954" h="395604">
                  <a:moveTo>
                    <a:pt x="909373" y="395589"/>
                  </a:moveTo>
                  <a:lnTo>
                    <a:pt x="0" y="395589"/>
                  </a:lnTo>
                  <a:lnTo>
                    <a:pt x="0" y="0"/>
                  </a:lnTo>
                  <a:lnTo>
                    <a:pt x="909373" y="0"/>
                  </a:lnTo>
                  <a:lnTo>
                    <a:pt x="909373" y="395589"/>
                  </a:lnTo>
                  <a:close/>
                </a:path>
              </a:pathLst>
            </a:custGeom>
            <a:solidFill>
              <a:srgbClr val="BD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380929" y="3264364"/>
              <a:ext cx="909955" cy="395605"/>
            </a:xfrm>
            <a:custGeom>
              <a:avLst/>
              <a:gdLst/>
              <a:ahLst/>
              <a:cxnLst/>
              <a:rect l="l" t="t" r="r" b="b"/>
              <a:pathLst>
                <a:path w="909954" h="395604">
                  <a:moveTo>
                    <a:pt x="0" y="0"/>
                  </a:moveTo>
                  <a:lnTo>
                    <a:pt x="909373" y="0"/>
                  </a:lnTo>
                  <a:lnTo>
                    <a:pt x="909373" y="395589"/>
                  </a:lnTo>
                  <a:lnTo>
                    <a:pt x="0" y="39558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405244" y="2937927"/>
            <a:ext cx="649224" cy="317395"/>
          </a:xfrm>
          <a:prstGeom prst="rect">
            <a:avLst/>
          </a:prstGeom>
          <a:ln w="9524">
            <a:solidFill>
              <a:srgbClr val="005BB7"/>
            </a:solidFill>
          </a:ln>
        </p:spPr>
        <p:txBody>
          <a:bodyPr vert="horz" wrap="square" lIns="0" tIns="94869" rIns="0" bIns="0" rtlCol="0">
            <a:spAutoFit/>
          </a:bodyPr>
          <a:lstStyle/>
          <a:p>
            <a:pPr marL="175451">
              <a:spcBef>
                <a:spcPts val="747"/>
              </a:spcBef>
            </a:pPr>
            <a:r>
              <a:rPr sz="1440" b="1" spc="-5" dirty="0">
                <a:latin typeface="Arial"/>
                <a:cs typeface="Arial"/>
              </a:rPr>
              <a:t>Node</a:t>
            </a:r>
            <a:endParaRPr sz="144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370167" y="3340031"/>
            <a:ext cx="899541" cy="436626"/>
            <a:chOff x="4347741" y="3711146"/>
            <a:chExt cx="999490" cy="485140"/>
          </a:xfrm>
        </p:grpSpPr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47741" y="3711146"/>
              <a:ext cx="998899" cy="48511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392503" y="3735908"/>
              <a:ext cx="909955" cy="395605"/>
            </a:xfrm>
            <a:custGeom>
              <a:avLst/>
              <a:gdLst/>
              <a:ahLst/>
              <a:cxnLst/>
              <a:rect l="l" t="t" r="r" b="b"/>
              <a:pathLst>
                <a:path w="909954" h="395604">
                  <a:moveTo>
                    <a:pt x="909373" y="395589"/>
                  </a:moveTo>
                  <a:lnTo>
                    <a:pt x="0" y="395589"/>
                  </a:lnTo>
                  <a:lnTo>
                    <a:pt x="0" y="0"/>
                  </a:lnTo>
                  <a:lnTo>
                    <a:pt x="909373" y="0"/>
                  </a:lnTo>
                  <a:lnTo>
                    <a:pt x="909373" y="395589"/>
                  </a:lnTo>
                  <a:close/>
                </a:path>
              </a:pathLst>
            </a:custGeom>
            <a:solidFill>
              <a:srgbClr val="BD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392503" y="3735908"/>
              <a:ext cx="909955" cy="395605"/>
            </a:xfrm>
            <a:custGeom>
              <a:avLst/>
              <a:gdLst/>
              <a:ahLst/>
              <a:cxnLst/>
              <a:rect l="l" t="t" r="r" b="b"/>
              <a:pathLst>
                <a:path w="909954" h="395604">
                  <a:moveTo>
                    <a:pt x="0" y="0"/>
                  </a:moveTo>
                  <a:lnTo>
                    <a:pt x="909373" y="0"/>
                  </a:lnTo>
                  <a:lnTo>
                    <a:pt x="909373" y="395589"/>
                  </a:lnTo>
                  <a:lnTo>
                    <a:pt x="0" y="39558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409530" y="3445858"/>
            <a:ext cx="810387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1166">
              <a:spcBef>
                <a:spcPts val="90"/>
              </a:spcBef>
            </a:pPr>
            <a:r>
              <a:rPr sz="1440" b="1" spc="-5" dirty="0">
                <a:latin typeface="Arial"/>
                <a:cs typeface="Arial"/>
              </a:rPr>
              <a:t>Node</a:t>
            </a:r>
            <a:endParaRPr sz="144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79322" y="1308874"/>
            <a:ext cx="1972247" cy="1180148"/>
            <a:chOff x="135691" y="1454304"/>
            <a:chExt cx="2191385" cy="1311275"/>
          </a:xfrm>
        </p:grpSpPr>
        <p:pic>
          <p:nvPicPr>
            <p:cNvPr id="59" name="object 5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5691" y="1454304"/>
              <a:ext cx="2191092" cy="131076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0453" y="1479066"/>
              <a:ext cx="2101566" cy="1221234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80453" y="1479066"/>
              <a:ext cx="2101850" cy="1221740"/>
            </a:xfrm>
            <a:custGeom>
              <a:avLst/>
              <a:gdLst/>
              <a:ahLst/>
              <a:cxnLst/>
              <a:rect l="l" t="t" r="r" b="b"/>
              <a:pathLst>
                <a:path w="2101850" h="1221739">
                  <a:moveTo>
                    <a:pt x="0" y="0"/>
                  </a:moveTo>
                  <a:lnTo>
                    <a:pt x="2101566" y="0"/>
                  </a:lnTo>
                  <a:lnTo>
                    <a:pt x="2101566" y="1221234"/>
                  </a:lnTo>
                  <a:lnTo>
                    <a:pt x="0" y="122123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25505" y="1331161"/>
            <a:ext cx="1891665" cy="470322"/>
          </a:xfrm>
          <a:prstGeom prst="rect">
            <a:avLst/>
          </a:prstGeom>
          <a:ln w="9524">
            <a:solidFill>
              <a:srgbClr val="005BB7"/>
            </a:solidFill>
          </a:ln>
        </p:spPr>
        <p:txBody>
          <a:bodyPr vert="horz" wrap="square" lIns="0" tIns="26861" rIns="0" bIns="0" rtlCol="0">
            <a:spAutoFit/>
          </a:bodyPr>
          <a:lstStyle/>
          <a:p>
            <a:pPr marL="385763" marR="249746" indent="-142875">
              <a:spcBef>
                <a:spcPts val="212"/>
              </a:spcBef>
            </a:pPr>
            <a:r>
              <a:rPr sz="1440" b="1" spc="-5" dirty="0">
                <a:latin typeface="Arial"/>
                <a:cs typeface="Arial"/>
              </a:rPr>
              <a:t>Data</a:t>
            </a:r>
            <a:r>
              <a:rPr sz="1440" b="1" spc="-45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Center</a:t>
            </a:r>
            <a:r>
              <a:rPr sz="1440" b="1" spc="-4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dc1 </a:t>
            </a:r>
            <a:r>
              <a:rPr sz="1440" b="1" spc="-387" dirty="0">
                <a:latin typeface="Arial"/>
                <a:cs typeface="Arial"/>
              </a:rPr>
              <a:t> </a:t>
            </a:r>
            <a:r>
              <a:rPr sz="1440" b="1" dirty="0">
                <a:latin typeface="Arial"/>
                <a:cs typeface="Arial"/>
              </a:rPr>
              <a:t>(on-premise)</a:t>
            </a:r>
            <a:endParaRPr sz="144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91118" y="2791106"/>
            <a:ext cx="1972247" cy="1180148"/>
            <a:chOff x="148797" y="3101229"/>
            <a:chExt cx="2191385" cy="1311275"/>
          </a:xfrm>
        </p:grpSpPr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8797" y="3101229"/>
              <a:ext cx="2191092" cy="131076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3559" y="3125991"/>
              <a:ext cx="2101566" cy="122123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93559" y="3125991"/>
              <a:ext cx="2101850" cy="1221740"/>
            </a:xfrm>
            <a:custGeom>
              <a:avLst/>
              <a:gdLst/>
              <a:ahLst/>
              <a:cxnLst/>
              <a:rect l="l" t="t" r="r" b="b"/>
              <a:pathLst>
                <a:path w="2101850" h="1221739">
                  <a:moveTo>
                    <a:pt x="0" y="0"/>
                  </a:moveTo>
                  <a:lnTo>
                    <a:pt x="2101566" y="0"/>
                  </a:lnTo>
                  <a:lnTo>
                    <a:pt x="2101566" y="1221234"/>
                  </a:lnTo>
                  <a:lnTo>
                    <a:pt x="0" y="122123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29792" y="2828938"/>
            <a:ext cx="1883093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0889">
              <a:spcBef>
                <a:spcPts val="90"/>
              </a:spcBef>
            </a:pPr>
            <a:r>
              <a:rPr sz="1440" b="1" spc="-5" dirty="0">
                <a:latin typeface="Arial"/>
                <a:cs typeface="Arial"/>
              </a:rPr>
              <a:t>Data</a:t>
            </a:r>
            <a:r>
              <a:rPr sz="1440" b="1" spc="-32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Center</a:t>
            </a:r>
            <a:r>
              <a:rPr sz="1440" b="1" spc="-32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dc2</a:t>
            </a:r>
            <a:endParaRPr sz="144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382954" y="3343864"/>
            <a:ext cx="899541" cy="436626"/>
            <a:chOff x="1028616" y="3715404"/>
            <a:chExt cx="999490" cy="485140"/>
          </a:xfrm>
        </p:grpSpPr>
        <p:pic>
          <p:nvPicPr>
            <p:cNvPr id="69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8616" y="3715404"/>
              <a:ext cx="998899" cy="48511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073379" y="3740167"/>
              <a:ext cx="909955" cy="395605"/>
            </a:xfrm>
            <a:custGeom>
              <a:avLst/>
              <a:gdLst/>
              <a:ahLst/>
              <a:cxnLst/>
              <a:rect l="l" t="t" r="r" b="b"/>
              <a:pathLst>
                <a:path w="909955" h="395604">
                  <a:moveTo>
                    <a:pt x="909373" y="395589"/>
                  </a:moveTo>
                  <a:lnTo>
                    <a:pt x="0" y="395589"/>
                  </a:lnTo>
                  <a:lnTo>
                    <a:pt x="0" y="0"/>
                  </a:lnTo>
                  <a:lnTo>
                    <a:pt x="909373" y="0"/>
                  </a:lnTo>
                  <a:lnTo>
                    <a:pt x="909373" y="395589"/>
                  </a:lnTo>
                  <a:close/>
                </a:path>
              </a:pathLst>
            </a:custGeom>
            <a:solidFill>
              <a:srgbClr val="BD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438003" y="3364235"/>
            <a:ext cx="818960" cy="319125"/>
          </a:xfrm>
          <a:prstGeom prst="rect">
            <a:avLst/>
          </a:prstGeom>
          <a:ln w="9524">
            <a:solidFill>
              <a:srgbClr val="005BB7"/>
            </a:solidFill>
          </a:ln>
        </p:spPr>
        <p:txBody>
          <a:bodyPr vert="horz" wrap="square" lIns="0" tIns="96583" rIns="0" bIns="0" rtlCol="0">
            <a:spAutoFit/>
          </a:bodyPr>
          <a:lstStyle/>
          <a:p>
            <a:pPr marL="165735">
              <a:spcBef>
                <a:spcPts val="760"/>
              </a:spcBef>
            </a:pPr>
            <a:r>
              <a:rPr sz="1440" b="1" spc="-5" dirty="0">
                <a:latin typeface="Arial"/>
                <a:cs typeface="Arial"/>
              </a:rPr>
              <a:t>Node</a:t>
            </a:r>
            <a:endParaRPr sz="144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412479" y="1897309"/>
            <a:ext cx="899541" cy="436626"/>
            <a:chOff x="1061421" y="2108121"/>
            <a:chExt cx="999490" cy="485140"/>
          </a:xfrm>
        </p:grpSpPr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1421" y="2108121"/>
              <a:ext cx="998899" cy="48511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106184" y="2132883"/>
              <a:ext cx="909955" cy="395605"/>
            </a:xfrm>
            <a:custGeom>
              <a:avLst/>
              <a:gdLst/>
              <a:ahLst/>
              <a:cxnLst/>
              <a:rect l="l" t="t" r="r" b="b"/>
              <a:pathLst>
                <a:path w="909955" h="395605">
                  <a:moveTo>
                    <a:pt x="909373" y="395589"/>
                  </a:moveTo>
                  <a:lnTo>
                    <a:pt x="0" y="395589"/>
                  </a:lnTo>
                  <a:lnTo>
                    <a:pt x="0" y="0"/>
                  </a:lnTo>
                  <a:lnTo>
                    <a:pt x="909373" y="0"/>
                  </a:lnTo>
                  <a:lnTo>
                    <a:pt x="909373" y="395589"/>
                  </a:lnTo>
                  <a:close/>
                </a:path>
              </a:pathLst>
            </a:custGeom>
            <a:solidFill>
              <a:srgbClr val="BD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1438003" y="1919595"/>
            <a:ext cx="818960" cy="317395"/>
          </a:xfrm>
          <a:prstGeom prst="rect">
            <a:avLst/>
          </a:prstGeom>
          <a:ln w="9524">
            <a:solidFill>
              <a:srgbClr val="005BB7"/>
            </a:solidFill>
          </a:ln>
        </p:spPr>
        <p:txBody>
          <a:bodyPr vert="horz" wrap="square" lIns="0" tIns="94869" rIns="0" bIns="0" rtlCol="0">
            <a:spAutoFit/>
          </a:bodyPr>
          <a:lstStyle/>
          <a:p>
            <a:pPr marL="194882">
              <a:spcBef>
                <a:spcPts val="747"/>
              </a:spcBef>
            </a:pPr>
            <a:r>
              <a:rPr sz="1440" b="1" spc="-5" dirty="0">
                <a:latin typeface="Arial"/>
                <a:cs typeface="Arial"/>
              </a:rPr>
              <a:t>Node</a:t>
            </a:r>
            <a:endParaRPr sz="144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785124" y="1447741"/>
            <a:ext cx="6764273" cy="2540318"/>
            <a:chOff x="1475471" y="1608601"/>
            <a:chExt cx="7515859" cy="2822575"/>
          </a:xfrm>
        </p:grpSpPr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62858" y="2297979"/>
              <a:ext cx="2470900" cy="12370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2015558" y="2330678"/>
              <a:ext cx="2366010" cy="1132205"/>
            </a:xfrm>
            <a:custGeom>
              <a:avLst/>
              <a:gdLst/>
              <a:ahLst/>
              <a:cxnLst/>
              <a:rect l="l" t="t" r="r" b="b"/>
              <a:pathLst>
                <a:path w="2366010" h="1132204">
                  <a:moveTo>
                    <a:pt x="0" y="0"/>
                  </a:moveTo>
                  <a:lnTo>
                    <a:pt x="2365499" y="1131599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75471" y="2495773"/>
              <a:ext cx="138100" cy="131710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1528171" y="2528473"/>
              <a:ext cx="33020" cy="1212215"/>
            </a:xfrm>
            <a:custGeom>
              <a:avLst/>
              <a:gdLst/>
              <a:ahLst/>
              <a:cxnLst/>
              <a:rect l="l" t="t" r="r" b="b"/>
              <a:pathLst>
                <a:path w="33019" h="1212214">
                  <a:moveTo>
                    <a:pt x="32699" y="0"/>
                  </a:moveTo>
                  <a:lnTo>
                    <a:pt x="0" y="1211699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30053" y="3901062"/>
              <a:ext cx="2515300" cy="10960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982753" y="3933761"/>
              <a:ext cx="2410460" cy="4445"/>
            </a:xfrm>
            <a:custGeom>
              <a:avLst/>
              <a:gdLst/>
              <a:ahLst/>
              <a:cxnLst/>
              <a:rect l="l" t="t" r="r" b="b"/>
              <a:pathLst>
                <a:path w="2410460" h="4445">
                  <a:moveTo>
                    <a:pt x="0" y="4199"/>
                  </a:moveTo>
                  <a:lnTo>
                    <a:pt x="2409899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57115" y="1608601"/>
              <a:ext cx="1951935" cy="1821771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301877" y="1633363"/>
              <a:ext cx="1862455" cy="1732280"/>
            </a:xfrm>
            <a:custGeom>
              <a:avLst/>
              <a:gdLst/>
              <a:ahLst/>
              <a:cxnLst/>
              <a:rect l="l" t="t" r="r" b="b"/>
              <a:pathLst>
                <a:path w="1862454" h="1732279">
                  <a:moveTo>
                    <a:pt x="0" y="1732245"/>
                  </a:moveTo>
                  <a:lnTo>
                    <a:pt x="186241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45540" y="3635191"/>
              <a:ext cx="2063477" cy="79593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290302" y="3659954"/>
              <a:ext cx="1974214" cy="706755"/>
            </a:xfrm>
            <a:custGeom>
              <a:avLst/>
              <a:gdLst/>
              <a:ahLst/>
              <a:cxnLst/>
              <a:rect l="l" t="t" r="r" b="b"/>
              <a:pathLst>
                <a:path w="1974215" h="706754">
                  <a:moveTo>
                    <a:pt x="0" y="0"/>
                  </a:moveTo>
                  <a:lnTo>
                    <a:pt x="1973951" y="706404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956375" y="3108524"/>
              <a:ext cx="1022350" cy="561340"/>
            </a:xfrm>
            <a:custGeom>
              <a:avLst/>
              <a:gdLst/>
              <a:ahLst/>
              <a:cxnLst/>
              <a:rect l="l" t="t" r="r" b="b"/>
              <a:pathLst>
                <a:path w="1022350" h="561339">
                  <a:moveTo>
                    <a:pt x="1021955" y="561187"/>
                  </a:moveTo>
                  <a:lnTo>
                    <a:pt x="0" y="561187"/>
                  </a:lnTo>
                  <a:lnTo>
                    <a:pt x="0" y="0"/>
                  </a:lnTo>
                  <a:lnTo>
                    <a:pt x="1021955" y="0"/>
                  </a:lnTo>
                  <a:lnTo>
                    <a:pt x="1021955" y="561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956375" y="3108524"/>
              <a:ext cx="1022350" cy="561340"/>
            </a:xfrm>
            <a:custGeom>
              <a:avLst/>
              <a:gdLst/>
              <a:ahLst/>
              <a:cxnLst/>
              <a:rect l="l" t="t" r="r" b="b"/>
              <a:pathLst>
                <a:path w="1022350" h="561339">
                  <a:moveTo>
                    <a:pt x="0" y="0"/>
                  </a:moveTo>
                  <a:lnTo>
                    <a:pt x="1021955" y="0"/>
                  </a:lnTo>
                  <a:lnTo>
                    <a:pt x="1021955" y="561187"/>
                  </a:lnTo>
                  <a:lnTo>
                    <a:pt x="0" y="561187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7629368" y="2812006"/>
            <a:ext cx="883539" cy="454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2296" marR="62865" indent="167450">
              <a:spcBef>
                <a:spcPts val="90"/>
              </a:spcBef>
            </a:pPr>
            <a:r>
              <a:rPr sz="1440" b="1" spc="-5" dirty="0">
                <a:latin typeface="Arial"/>
                <a:cs typeface="Arial"/>
              </a:rPr>
              <a:t>Data </a:t>
            </a:r>
            <a:r>
              <a:rPr sz="1440" b="1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partition</a:t>
            </a:r>
            <a:endParaRPr sz="144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67158" y="987003"/>
            <a:ext cx="7438643" cy="2746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710" b="1" spc="-5" dirty="0">
                <a:latin typeface="Arial"/>
                <a:cs typeface="Arial"/>
              </a:rPr>
              <a:t>large-scale</a:t>
            </a:r>
            <a:r>
              <a:rPr sz="1710" b="1" spc="-14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distributed</a:t>
            </a:r>
            <a:r>
              <a:rPr sz="1710" b="1" spc="-9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infrastructures</a:t>
            </a:r>
            <a:r>
              <a:rPr sz="1710" b="1" spc="90" dirty="0">
                <a:latin typeface="Arial"/>
                <a:cs typeface="Arial"/>
              </a:rPr>
              <a:t> </a:t>
            </a:r>
            <a:r>
              <a:rPr sz="1710" dirty="0">
                <a:latin typeface="MS PGothic"/>
                <a:cs typeface="MS PGothic"/>
              </a:rPr>
              <a:t>⇒</a:t>
            </a:r>
            <a:r>
              <a:rPr sz="1710" spc="-59" dirty="0">
                <a:latin typeface="MS PGothic"/>
                <a:cs typeface="MS PGothic"/>
              </a:rPr>
              <a:t> </a:t>
            </a:r>
            <a:r>
              <a:rPr sz="1710" b="1" spc="-5" dirty="0">
                <a:latin typeface="Arial"/>
                <a:cs typeface="Arial"/>
              </a:rPr>
              <a:t>hybrid</a:t>
            </a:r>
            <a:r>
              <a:rPr sz="1710" b="1" spc="-9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and</a:t>
            </a:r>
            <a:r>
              <a:rPr sz="1710" b="1" spc="-14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or</a:t>
            </a:r>
            <a:r>
              <a:rPr sz="1710" b="1" spc="-9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multi</a:t>
            </a:r>
            <a:r>
              <a:rPr sz="1710" b="1" spc="-14" dirty="0">
                <a:latin typeface="Arial"/>
                <a:cs typeface="Arial"/>
              </a:rPr>
              <a:t> </a:t>
            </a:r>
            <a:r>
              <a:rPr sz="1710" b="1" spc="-5" dirty="0">
                <a:latin typeface="Arial"/>
                <a:cs typeface="Arial"/>
              </a:rPr>
              <a:t>cloud/edge</a:t>
            </a:r>
            <a:endParaRPr sz="171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5742" y="3796448"/>
            <a:ext cx="5290379" cy="4986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1529" y="151470"/>
            <a:ext cx="7668959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Data-centric</a:t>
            </a:r>
            <a:r>
              <a:rPr spc="-32" dirty="0"/>
              <a:t> </a:t>
            </a:r>
            <a:r>
              <a:rPr spc="-9" dirty="0"/>
              <a:t>development</a:t>
            </a:r>
            <a:r>
              <a:rPr spc="-32" dirty="0"/>
              <a:t> </a:t>
            </a:r>
            <a:r>
              <a:rPr dirty="0"/>
              <a:t>&amp;</a:t>
            </a:r>
            <a:r>
              <a:rPr spc="-27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2276" y="726089"/>
            <a:ext cx="7120890" cy="3503460"/>
          </a:xfrm>
          <a:prstGeom prst="rect">
            <a:avLst/>
          </a:prstGeom>
        </p:spPr>
        <p:txBody>
          <a:bodyPr vert="horz" wrap="square" lIns="0" tIns="68009" rIns="0" bIns="0" rtlCol="0">
            <a:spAutoFit/>
          </a:bodyPr>
          <a:lstStyle/>
          <a:p>
            <a:pPr marL="344615" indent="-333756">
              <a:spcBef>
                <a:spcPts val="536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Data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ingestion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ETL</a:t>
            </a:r>
            <a:r>
              <a:rPr sz="1890" b="1" spc="-45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(Extract,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18" dirty="0">
                <a:latin typeface="Arial"/>
                <a:cs typeface="Arial"/>
              </a:rPr>
              <a:t>Transform,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Load)</a:t>
            </a:r>
            <a:endParaRPr sz="1890">
              <a:latin typeface="Arial"/>
              <a:cs typeface="Arial"/>
            </a:endParaRPr>
          </a:p>
          <a:p>
            <a:pPr marL="558356" lvl="1" indent="-316611">
              <a:spcBef>
                <a:spcPts val="342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z="1440" spc="-5" dirty="0">
                <a:latin typeface="Georgia"/>
                <a:cs typeface="Georgia"/>
              </a:rPr>
              <a:t>from</a:t>
            </a:r>
            <a:r>
              <a:rPr sz="1440" spc="-14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various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data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sources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we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move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data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into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the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platform</a:t>
            </a:r>
            <a:endParaRPr sz="1440">
              <a:latin typeface="Georgia"/>
              <a:cs typeface="Georgia"/>
            </a:endParaRPr>
          </a:p>
          <a:p>
            <a:pPr marL="344615" indent="-333756">
              <a:spcBef>
                <a:spcPts val="360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Data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storing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management</a:t>
            </a:r>
            <a:endParaRPr sz="1890">
              <a:latin typeface="Arial"/>
              <a:cs typeface="Arial"/>
            </a:endParaRPr>
          </a:p>
          <a:p>
            <a:pPr marL="558356" lvl="1" indent="-316611">
              <a:spcBef>
                <a:spcPts val="342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z="1440" spc="-5" dirty="0">
                <a:latin typeface="Georgia"/>
                <a:cs typeface="Georgia"/>
              </a:rPr>
              <a:t>ingested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data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stored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and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managed using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different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types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of storages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and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databases</a:t>
            </a:r>
            <a:endParaRPr sz="1440">
              <a:latin typeface="Georgia"/>
              <a:cs typeface="Georgia"/>
            </a:endParaRPr>
          </a:p>
          <a:p>
            <a:pPr marL="344615" indent="-333756">
              <a:spcBef>
                <a:spcPts val="360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Data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analysis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(Machine)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learning</a:t>
            </a:r>
            <a:endParaRPr sz="1890">
              <a:latin typeface="Arial"/>
              <a:cs typeface="Arial"/>
            </a:endParaRPr>
          </a:p>
          <a:p>
            <a:pPr marL="558356" lvl="1" indent="-316611">
              <a:spcBef>
                <a:spcPts val="342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z="1440" spc="-5" dirty="0">
                <a:latin typeface="Georgia"/>
                <a:cs typeface="Georgia"/>
              </a:rPr>
              <a:t>data</a:t>
            </a:r>
            <a:r>
              <a:rPr sz="1440" spc="333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processed,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analyzed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and learned,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finding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insights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and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creating ML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models</a:t>
            </a:r>
            <a:endParaRPr sz="1440">
              <a:latin typeface="Georgia"/>
              <a:cs typeface="Georgia"/>
            </a:endParaRPr>
          </a:p>
          <a:p>
            <a:pPr marL="558356" lvl="1" indent="-316611">
              <a:spcBef>
                <a:spcPts val="324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z="1440" spc="-5" dirty="0">
                <a:latin typeface="Georgia"/>
                <a:cs typeface="Georgia"/>
              </a:rPr>
              <a:t>data</a:t>
            </a:r>
            <a:r>
              <a:rPr sz="1440" spc="-14" dirty="0">
                <a:latin typeface="Georgia"/>
                <a:cs typeface="Georgia"/>
              </a:rPr>
              <a:t> </a:t>
            </a:r>
            <a:r>
              <a:rPr sz="1440" b="1" spc="-5" dirty="0">
                <a:solidFill>
                  <a:srgbClr val="FF0000"/>
                </a:solidFill>
                <a:latin typeface="Georgia"/>
                <a:cs typeface="Georgia"/>
              </a:rPr>
              <a:t>at</a:t>
            </a:r>
            <a:r>
              <a:rPr sz="1440" b="1" spc="-1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440" b="1" dirty="0">
                <a:solidFill>
                  <a:srgbClr val="FF0000"/>
                </a:solidFill>
                <a:latin typeface="Georgia"/>
                <a:cs typeface="Georgia"/>
              </a:rPr>
              <a:t>rest</a:t>
            </a:r>
            <a:r>
              <a:rPr sz="1440" b="1" spc="-27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vs</a:t>
            </a:r>
            <a:r>
              <a:rPr sz="1440" spc="-14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data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b="1" spc="-5" dirty="0">
                <a:solidFill>
                  <a:srgbClr val="FF0000"/>
                </a:solidFill>
                <a:latin typeface="Georgia"/>
                <a:cs typeface="Georgia"/>
              </a:rPr>
              <a:t>in</a:t>
            </a:r>
            <a:r>
              <a:rPr sz="1440" b="1" spc="-1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440" b="1" spc="-5" dirty="0">
                <a:solidFill>
                  <a:srgbClr val="FF0000"/>
                </a:solidFill>
                <a:latin typeface="Georgia"/>
                <a:cs typeface="Georgia"/>
              </a:rPr>
              <a:t>motion</a:t>
            </a:r>
            <a:endParaRPr sz="1440">
              <a:latin typeface="Georgia"/>
              <a:cs typeface="Georgia"/>
            </a:endParaRPr>
          </a:p>
          <a:p>
            <a:pPr marL="344615" indent="-333756">
              <a:spcBef>
                <a:spcPts val="360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Reporting</a:t>
            </a:r>
            <a:r>
              <a:rPr sz="1890" b="1" spc="-45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45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visualization</a:t>
            </a:r>
            <a:endParaRPr sz="1890">
              <a:latin typeface="Arial"/>
              <a:cs typeface="Arial"/>
            </a:endParaRPr>
          </a:p>
          <a:p>
            <a:pPr marL="558356" marR="34862" lvl="1" indent="-316611">
              <a:spcBef>
                <a:spcPts val="342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z="1440" spc="-5" dirty="0">
                <a:latin typeface="Georgia"/>
                <a:cs typeface="Georgia"/>
              </a:rPr>
              <a:t>patterns/insights in data will be interpreted</a:t>
            </a:r>
            <a:r>
              <a:rPr sz="1440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and presented for making decisions, </a:t>
            </a:r>
            <a:r>
              <a:rPr sz="1440" spc="-338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reporting,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and creating stories</a:t>
            </a:r>
            <a:endParaRPr sz="1440">
              <a:latin typeface="Georgia"/>
              <a:cs typeface="Georgia"/>
            </a:endParaRPr>
          </a:p>
          <a:p>
            <a:pPr>
              <a:spcBef>
                <a:spcPts val="5"/>
              </a:spcBef>
            </a:pPr>
            <a:endParaRPr sz="1710">
              <a:latin typeface="Georgia"/>
              <a:cs typeface="Georgia"/>
            </a:endParaRPr>
          </a:p>
          <a:p>
            <a:pPr marL="990410"/>
            <a:r>
              <a:rPr sz="2160" spc="-5" dirty="0">
                <a:latin typeface="Arial MT"/>
                <a:cs typeface="Arial MT"/>
              </a:rPr>
              <a:t>Data</a:t>
            </a:r>
            <a:r>
              <a:rPr sz="2160" spc="-23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Governance</a:t>
            </a:r>
            <a:r>
              <a:rPr sz="2160" spc="-23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at</a:t>
            </a:r>
            <a:r>
              <a:rPr sz="2160" spc="-18" dirty="0">
                <a:latin typeface="Arial MT"/>
                <a:cs typeface="Arial MT"/>
              </a:rPr>
              <a:t> </a:t>
            </a:r>
            <a:r>
              <a:rPr sz="2160" dirty="0">
                <a:latin typeface="Arial MT"/>
                <a:cs typeface="Arial MT"/>
              </a:rPr>
              <a:t>very</a:t>
            </a:r>
            <a:r>
              <a:rPr sz="2160" spc="-23" dirty="0">
                <a:latin typeface="Arial MT"/>
                <a:cs typeface="Arial MT"/>
              </a:rPr>
              <a:t> </a:t>
            </a:r>
            <a:r>
              <a:rPr sz="2160" spc="-5" dirty="0">
                <a:latin typeface="Arial MT"/>
                <a:cs typeface="Arial MT"/>
              </a:rPr>
              <a:t>large-scale</a:t>
            </a:r>
            <a:endParaRPr sz="216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3607879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Big</a:t>
            </a:r>
            <a:r>
              <a:rPr spc="-45" dirty="0"/>
              <a:t> </a:t>
            </a:r>
            <a:r>
              <a:rPr spc="-5" dirty="0"/>
              <a:t>Data</a:t>
            </a:r>
            <a:r>
              <a:rPr spc="-41" dirty="0"/>
              <a:t> </a:t>
            </a:r>
            <a:r>
              <a:rPr spc="-5" dirty="0"/>
              <a:t>Pipelines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7253" y="1114419"/>
            <a:ext cx="7038023" cy="5932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890" b="1" dirty="0">
                <a:latin typeface="Arial"/>
                <a:cs typeface="Arial"/>
              </a:rPr>
              <a:t>Multiple </a:t>
            </a:r>
            <a:r>
              <a:rPr sz="1890" b="1" spc="-5" dirty="0">
                <a:latin typeface="Arial"/>
                <a:cs typeface="Arial"/>
              </a:rPr>
              <a:t>big data pipelines can be constructed atop </a:t>
            </a:r>
            <a:r>
              <a:rPr sz="1890" b="1" dirty="0">
                <a:latin typeface="Arial"/>
                <a:cs typeface="Arial"/>
              </a:rPr>
              <a:t>a </a:t>
            </a:r>
            <a:r>
              <a:rPr sz="1890" b="1" spc="-5" dirty="0">
                <a:latin typeface="Arial"/>
                <a:cs typeface="Arial"/>
              </a:rPr>
              <a:t>big data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platform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(and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across distributed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infrastructures)</a:t>
            </a:r>
            <a:endParaRPr sz="189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8396" y="3456764"/>
            <a:ext cx="7638669" cy="739521"/>
            <a:chOff x="423551" y="3840849"/>
            <a:chExt cx="8487410" cy="8216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551" y="3840849"/>
              <a:ext cx="8487203" cy="8213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314" y="3865612"/>
              <a:ext cx="8397678" cy="7317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8314" y="3865612"/>
              <a:ext cx="8397875" cy="732155"/>
            </a:xfrm>
            <a:custGeom>
              <a:avLst/>
              <a:gdLst/>
              <a:ahLst/>
              <a:cxnLst/>
              <a:rect l="l" t="t" r="r" b="b"/>
              <a:pathLst>
                <a:path w="8397875" h="732154">
                  <a:moveTo>
                    <a:pt x="0" y="0"/>
                  </a:moveTo>
                  <a:lnTo>
                    <a:pt x="8397678" y="0"/>
                  </a:lnTo>
                  <a:lnTo>
                    <a:pt x="8397678" y="731792"/>
                  </a:lnTo>
                  <a:lnTo>
                    <a:pt x="0" y="73179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D62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9445" y="3665254"/>
            <a:ext cx="757351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spcBef>
                <a:spcPts val="90"/>
              </a:spcBef>
            </a:pPr>
            <a:r>
              <a:rPr sz="1620" spc="-5" dirty="0">
                <a:latin typeface="Arial MT"/>
                <a:cs typeface="Arial MT"/>
              </a:rPr>
              <a:t>Big</a:t>
            </a:r>
            <a:r>
              <a:rPr sz="1620" spc="-36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Data</a:t>
            </a:r>
            <a:r>
              <a:rPr sz="1620" spc="-32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Platform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86375" y="1924189"/>
            <a:ext cx="1167003" cy="583502"/>
          </a:xfrm>
          <a:custGeom>
            <a:avLst/>
            <a:gdLst/>
            <a:ahLst/>
            <a:cxnLst/>
            <a:rect l="l" t="t" r="r" b="b"/>
            <a:pathLst>
              <a:path w="1296670" h="648335">
                <a:moveTo>
                  <a:pt x="0" y="0"/>
                </a:moveTo>
                <a:lnTo>
                  <a:pt x="1296143" y="0"/>
                </a:lnTo>
                <a:lnTo>
                  <a:pt x="1296143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86375" y="1924189"/>
            <a:ext cx="1167003" cy="410882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 marL="91440">
              <a:spcBef>
                <a:spcPts val="1260"/>
              </a:spcBef>
            </a:pPr>
            <a:r>
              <a:rPr sz="1620" spc="-5" dirty="0">
                <a:latin typeface="Arial MT"/>
                <a:cs typeface="Arial MT"/>
              </a:rPr>
              <a:t>Data</a:t>
            </a:r>
            <a:r>
              <a:rPr sz="1620" spc="-45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Store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0687" y="1924189"/>
            <a:ext cx="920115" cy="583502"/>
          </a:xfrm>
          <a:custGeom>
            <a:avLst/>
            <a:gdLst/>
            <a:ahLst/>
            <a:cxnLst/>
            <a:rect l="l" t="t" r="r" b="b"/>
            <a:pathLst>
              <a:path w="1022350" h="648335">
                <a:moveTo>
                  <a:pt x="0" y="0"/>
                </a:moveTo>
                <a:lnTo>
                  <a:pt x="1021994" y="0"/>
                </a:lnTo>
                <a:lnTo>
                  <a:pt x="1021994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0687" y="1924189"/>
            <a:ext cx="920115" cy="535531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36576" rIns="0" bIns="0" rtlCol="0">
            <a:spAutoFit/>
          </a:bodyPr>
          <a:lstStyle/>
          <a:p>
            <a:pPr marL="150876" marR="144018" indent="91440">
              <a:spcBef>
                <a:spcPts val="288"/>
              </a:spcBef>
            </a:pPr>
            <a:r>
              <a:rPr sz="1620" spc="-5" dirty="0">
                <a:latin typeface="Arial MT"/>
                <a:cs typeface="Arial MT"/>
              </a:rPr>
              <a:t>Data </a:t>
            </a:r>
            <a:r>
              <a:rPr sz="1620" dirty="0">
                <a:latin typeface="Arial MT"/>
                <a:cs typeface="Arial MT"/>
              </a:rPr>
              <a:t> source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94577" y="1923677"/>
            <a:ext cx="1032701" cy="583502"/>
          </a:xfrm>
          <a:custGeom>
            <a:avLst/>
            <a:gdLst/>
            <a:ahLst/>
            <a:cxnLst/>
            <a:rect l="l" t="t" r="r" b="b"/>
            <a:pathLst>
              <a:path w="1147445" h="648335">
                <a:moveTo>
                  <a:pt x="0" y="0"/>
                </a:moveTo>
                <a:lnTo>
                  <a:pt x="1146995" y="0"/>
                </a:lnTo>
                <a:lnTo>
                  <a:pt x="1146995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194577" y="1923677"/>
            <a:ext cx="1032701" cy="410882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 marL="98298">
              <a:spcBef>
                <a:spcPts val="1260"/>
              </a:spcBef>
            </a:pPr>
            <a:r>
              <a:rPr sz="1620" spc="-5" dirty="0">
                <a:latin typeface="Arial MT"/>
                <a:cs typeface="Arial MT"/>
              </a:rPr>
              <a:t>Ingestion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20072" y="1923677"/>
            <a:ext cx="1245299" cy="583502"/>
          </a:xfrm>
          <a:custGeom>
            <a:avLst/>
            <a:gdLst/>
            <a:ahLst/>
            <a:cxnLst/>
            <a:rect l="l" t="t" r="r" b="b"/>
            <a:pathLst>
              <a:path w="1383665" h="648335">
                <a:moveTo>
                  <a:pt x="0" y="0"/>
                </a:moveTo>
                <a:lnTo>
                  <a:pt x="1383634" y="0"/>
                </a:lnTo>
                <a:lnTo>
                  <a:pt x="1383634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30898" y="1948763"/>
            <a:ext cx="1539050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860">
              <a:spcBef>
                <a:spcPts val="90"/>
              </a:spcBef>
              <a:tabLst>
                <a:tab pos="1022414" algn="l"/>
                <a:tab pos="1527048" algn="l"/>
              </a:tabLst>
            </a:pPr>
            <a:r>
              <a:rPr sz="1620" dirty="0">
                <a:latin typeface="Arial MT"/>
                <a:cs typeface="Arial MT"/>
              </a:rPr>
              <a:t>Machine	</a:t>
            </a:r>
            <a:r>
              <a:rPr sz="1620" u="heavy" dirty="0">
                <a:uFill>
                  <a:solidFill>
                    <a:srgbClr val="FF671F"/>
                  </a:solidFill>
                </a:uFill>
                <a:latin typeface="Times New Roman"/>
                <a:cs typeface="Times New Roman"/>
              </a:rPr>
              <a:t> 	</a:t>
            </a:r>
            <a:endParaRPr sz="1620">
              <a:latin typeface="Times New Roman"/>
              <a:cs typeface="Times New Roman"/>
            </a:endParaRPr>
          </a:p>
          <a:p>
            <a:pPr marL="11430"/>
            <a:r>
              <a:rPr sz="1620" spc="-5" dirty="0">
                <a:latin typeface="Arial MT"/>
                <a:cs typeface="Arial MT"/>
              </a:rPr>
              <a:t>Learning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73053" y="1912759"/>
            <a:ext cx="6775133" cy="606362"/>
            <a:chOff x="1350948" y="2125287"/>
            <a:chExt cx="7527925" cy="67373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0948" y="2428723"/>
              <a:ext cx="632200" cy="106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403648" y="2461597"/>
              <a:ext cx="374650" cy="635"/>
            </a:xfrm>
            <a:custGeom>
              <a:avLst/>
              <a:gdLst/>
              <a:ahLst/>
              <a:cxnLst/>
              <a:rect l="l" t="t" r="r" b="b"/>
              <a:pathLst>
                <a:path w="374650" h="635">
                  <a:moveTo>
                    <a:pt x="0" y="426"/>
                  </a:moveTo>
                  <a:lnTo>
                    <a:pt x="374400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5300" y="2406943"/>
              <a:ext cx="140715" cy="10930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24716" y="2428755"/>
              <a:ext cx="504700" cy="1060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077415" y="2461455"/>
              <a:ext cx="247015" cy="635"/>
            </a:xfrm>
            <a:custGeom>
              <a:avLst/>
              <a:gdLst/>
              <a:ahLst/>
              <a:cxnLst/>
              <a:rect l="l" t="t" r="r" b="b"/>
              <a:pathLst>
                <a:path w="247014" h="635">
                  <a:moveTo>
                    <a:pt x="0" y="0"/>
                  </a:moveTo>
                  <a:lnTo>
                    <a:pt x="246899" y="371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11553" y="2407172"/>
              <a:ext cx="140730" cy="10930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20305" y="2428723"/>
              <a:ext cx="624400" cy="1060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773005" y="2461600"/>
              <a:ext cx="367030" cy="635"/>
            </a:xfrm>
            <a:custGeom>
              <a:avLst/>
              <a:gdLst/>
              <a:ahLst/>
              <a:cxnLst/>
              <a:rect l="l" t="t" r="r" b="b"/>
              <a:pathLst>
                <a:path w="367029" h="635">
                  <a:moveTo>
                    <a:pt x="0" y="423"/>
                  </a:moveTo>
                  <a:lnTo>
                    <a:pt x="366599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26856" y="2406946"/>
              <a:ext cx="140715" cy="10930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308303" y="2137987"/>
              <a:ext cx="1558290" cy="648335"/>
            </a:xfrm>
            <a:custGeom>
              <a:avLst/>
              <a:gdLst/>
              <a:ahLst/>
              <a:cxnLst/>
              <a:rect l="l" t="t" r="r" b="b"/>
              <a:pathLst>
                <a:path w="1558290" h="648335">
                  <a:moveTo>
                    <a:pt x="0" y="0"/>
                  </a:moveTo>
                  <a:lnTo>
                    <a:pt x="1557688" y="0"/>
                  </a:lnTo>
                  <a:lnTo>
                    <a:pt x="1557688" y="648071"/>
                  </a:lnTo>
                  <a:lnTo>
                    <a:pt x="0" y="648071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148523" y="2072718"/>
            <a:ext cx="1173861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9" dirty="0">
                <a:latin typeface="Arial MT"/>
                <a:cs typeface="Arial MT"/>
              </a:rPr>
              <a:t>Visualization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639416" y="2166531"/>
            <a:ext cx="3443288" cy="1323594"/>
            <a:chOff x="3535795" y="2407257"/>
            <a:chExt cx="3825875" cy="1470660"/>
          </a:xfrm>
        </p:grpSpPr>
        <p:sp>
          <p:nvSpPr>
            <p:cNvPr id="30" name="object 30"/>
            <p:cNvSpPr/>
            <p:nvPr/>
          </p:nvSpPr>
          <p:spPr>
            <a:xfrm>
              <a:off x="3548495" y="3216971"/>
              <a:ext cx="1296670" cy="648335"/>
            </a:xfrm>
            <a:custGeom>
              <a:avLst/>
              <a:gdLst/>
              <a:ahLst/>
              <a:cxnLst/>
              <a:rect l="l" t="t" r="r" b="b"/>
              <a:pathLst>
                <a:path w="1296670" h="648335">
                  <a:moveTo>
                    <a:pt x="1296143" y="648072"/>
                  </a:moveTo>
                  <a:lnTo>
                    <a:pt x="0" y="648072"/>
                  </a:lnTo>
                  <a:lnTo>
                    <a:pt x="0" y="0"/>
                  </a:lnTo>
                  <a:lnTo>
                    <a:pt x="1296143" y="0"/>
                  </a:lnTo>
                  <a:lnTo>
                    <a:pt x="1296143" y="6480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48495" y="3216971"/>
              <a:ext cx="1296670" cy="648335"/>
            </a:xfrm>
            <a:custGeom>
              <a:avLst/>
              <a:gdLst/>
              <a:ahLst/>
              <a:cxnLst/>
              <a:rect l="l" t="t" r="r" b="b"/>
              <a:pathLst>
                <a:path w="1296670" h="648335">
                  <a:moveTo>
                    <a:pt x="0" y="0"/>
                  </a:moveTo>
                  <a:lnTo>
                    <a:pt x="1296143" y="0"/>
                  </a:lnTo>
                  <a:lnTo>
                    <a:pt x="1296143" y="648072"/>
                  </a:lnTo>
                  <a:lnTo>
                    <a:pt x="0" y="64807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015" y="2428755"/>
              <a:ext cx="738100" cy="1060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3274" y="2407257"/>
              <a:ext cx="140707" cy="109307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3650846" y="2895275"/>
            <a:ext cx="1167003" cy="535531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36576" rIns="0" bIns="0" rtlCol="0">
            <a:spAutoFit/>
          </a:bodyPr>
          <a:lstStyle/>
          <a:p>
            <a:pPr marL="120015" marR="85725" indent="-29146">
              <a:spcBef>
                <a:spcPts val="288"/>
              </a:spcBef>
            </a:pPr>
            <a:r>
              <a:rPr sz="1620" spc="-5" dirty="0">
                <a:latin typeface="Arial MT"/>
                <a:cs typeface="Arial MT"/>
              </a:rPr>
              <a:t>Data</a:t>
            </a:r>
            <a:r>
              <a:rPr sz="1620" spc="-86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Store </a:t>
            </a:r>
            <a:r>
              <a:rPr sz="1620" spc="-436" dirty="0">
                <a:latin typeface="Arial MT"/>
                <a:cs typeface="Arial MT"/>
              </a:rPr>
              <a:t> </a:t>
            </a:r>
            <a:r>
              <a:rPr sz="1620" dirty="0">
                <a:latin typeface="Arial MT"/>
                <a:cs typeface="Arial MT"/>
              </a:rPr>
              <a:t>(raw</a:t>
            </a:r>
            <a:r>
              <a:rPr sz="1620" spc="-63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data)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65158" y="2895275"/>
            <a:ext cx="920115" cy="583502"/>
          </a:xfrm>
          <a:custGeom>
            <a:avLst/>
            <a:gdLst/>
            <a:ahLst/>
            <a:cxnLst/>
            <a:rect l="l" t="t" r="r" b="b"/>
            <a:pathLst>
              <a:path w="1022350" h="648335">
                <a:moveTo>
                  <a:pt x="1021994" y="648072"/>
                </a:moveTo>
                <a:lnTo>
                  <a:pt x="0" y="648072"/>
                </a:lnTo>
                <a:lnTo>
                  <a:pt x="0" y="0"/>
                </a:lnTo>
                <a:lnTo>
                  <a:pt x="1021994" y="0"/>
                </a:lnTo>
                <a:lnTo>
                  <a:pt x="1021994" y="6480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65158" y="2895275"/>
            <a:ext cx="920115" cy="535531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36576" rIns="0" bIns="0" rtlCol="0">
            <a:spAutoFit/>
          </a:bodyPr>
          <a:lstStyle/>
          <a:p>
            <a:pPr marL="150876" marR="144018" indent="91440">
              <a:spcBef>
                <a:spcPts val="288"/>
              </a:spcBef>
            </a:pPr>
            <a:r>
              <a:rPr sz="1620" spc="-5" dirty="0">
                <a:latin typeface="Arial MT"/>
                <a:cs typeface="Arial MT"/>
              </a:rPr>
              <a:t>Data </a:t>
            </a:r>
            <a:r>
              <a:rPr sz="1620" dirty="0">
                <a:latin typeface="Arial MT"/>
                <a:cs typeface="Arial MT"/>
              </a:rPr>
              <a:t> source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247619" y="2883334"/>
            <a:ext cx="1055561" cy="606362"/>
            <a:chOff x="1989354" y="3203704"/>
            <a:chExt cx="1172845" cy="673735"/>
          </a:xfrm>
        </p:grpSpPr>
        <p:sp>
          <p:nvSpPr>
            <p:cNvPr id="38" name="object 38"/>
            <p:cNvSpPr/>
            <p:nvPr/>
          </p:nvSpPr>
          <p:spPr>
            <a:xfrm>
              <a:off x="2002054" y="3216404"/>
              <a:ext cx="1147445" cy="648335"/>
            </a:xfrm>
            <a:custGeom>
              <a:avLst/>
              <a:gdLst/>
              <a:ahLst/>
              <a:cxnLst/>
              <a:rect l="l" t="t" r="r" b="b"/>
              <a:pathLst>
                <a:path w="1147445" h="648335">
                  <a:moveTo>
                    <a:pt x="1146995" y="648072"/>
                  </a:moveTo>
                  <a:lnTo>
                    <a:pt x="0" y="648072"/>
                  </a:lnTo>
                  <a:lnTo>
                    <a:pt x="0" y="0"/>
                  </a:lnTo>
                  <a:lnTo>
                    <a:pt x="1146995" y="0"/>
                  </a:lnTo>
                  <a:lnTo>
                    <a:pt x="1146995" y="6480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002054" y="3216404"/>
              <a:ext cx="1147445" cy="648335"/>
            </a:xfrm>
            <a:custGeom>
              <a:avLst/>
              <a:gdLst/>
              <a:ahLst/>
              <a:cxnLst/>
              <a:rect l="l" t="t" r="r" b="b"/>
              <a:pathLst>
                <a:path w="1147445" h="648335">
                  <a:moveTo>
                    <a:pt x="0" y="0"/>
                  </a:moveTo>
                  <a:lnTo>
                    <a:pt x="1146995" y="0"/>
                  </a:lnTo>
                  <a:lnTo>
                    <a:pt x="1146995" y="648072"/>
                  </a:lnTo>
                  <a:lnTo>
                    <a:pt x="0" y="64807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259049" y="2895275"/>
            <a:ext cx="1032701" cy="410305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159449" rIns="0" bIns="0" rtlCol="0">
            <a:spAutoFit/>
          </a:bodyPr>
          <a:lstStyle/>
          <a:p>
            <a:pPr marL="98298">
              <a:spcBef>
                <a:spcPts val="1256"/>
              </a:spcBef>
            </a:pPr>
            <a:r>
              <a:rPr sz="1620" spc="-5" dirty="0">
                <a:latin typeface="Arial MT"/>
                <a:cs typeface="Arial MT"/>
              </a:rPr>
              <a:t>Ingestion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273122" y="2883329"/>
            <a:ext cx="1126998" cy="606362"/>
            <a:chOff x="5351024" y="3203699"/>
            <a:chExt cx="1252220" cy="673735"/>
          </a:xfrm>
        </p:grpSpPr>
        <p:sp>
          <p:nvSpPr>
            <p:cNvPr id="42" name="object 42"/>
            <p:cNvSpPr/>
            <p:nvPr/>
          </p:nvSpPr>
          <p:spPr>
            <a:xfrm>
              <a:off x="5363724" y="3216399"/>
              <a:ext cx="1226820" cy="648335"/>
            </a:xfrm>
            <a:custGeom>
              <a:avLst/>
              <a:gdLst/>
              <a:ahLst/>
              <a:cxnLst/>
              <a:rect l="l" t="t" r="r" b="b"/>
              <a:pathLst>
                <a:path w="1226820" h="648335">
                  <a:moveTo>
                    <a:pt x="1226399" y="647999"/>
                  </a:moveTo>
                  <a:lnTo>
                    <a:pt x="0" y="647999"/>
                  </a:lnTo>
                  <a:lnTo>
                    <a:pt x="0" y="0"/>
                  </a:lnTo>
                  <a:lnTo>
                    <a:pt x="1226399" y="0"/>
                  </a:lnTo>
                  <a:lnTo>
                    <a:pt x="1226399" y="6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363724" y="3216399"/>
              <a:ext cx="1226820" cy="648335"/>
            </a:xfrm>
            <a:custGeom>
              <a:avLst/>
              <a:gdLst/>
              <a:ahLst/>
              <a:cxnLst/>
              <a:rect l="l" t="t" r="r" b="b"/>
              <a:pathLst>
                <a:path w="1226820" h="648335">
                  <a:moveTo>
                    <a:pt x="0" y="0"/>
                  </a:moveTo>
                  <a:lnTo>
                    <a:pt x="1226399" y="0"/>
                  </a:lnTo>
                  <a:lnTo>
                    <a:pt x="1226399" y="647999"/>
                  </a:lnTo>
                  <a:lnTo>
                    <a:pt x="0" y="647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284552" y="2895275"/>
            <a:ext cx="1104138" cy="534955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36005" rIns="0" bIns="0" rtlCol="0">
            <a:spAutoFit/>
          </a:bodyPr>
          <a:lstStyle/>
          <a:p>
            <a:pPr marL="168593" marR="163449" indent="165735">
              <a:spcBef>
                <a:spcPts val="284"/>
              </a:spcBef>
            </a:pPr>
            <a:r>
              <a:rPr sz="1620" spc="-5" dirty="0">
                <a:latin typeface="Arial MT"/>
                <a:cs typeface="Arial MT"/>
              </a:rPr>
              <a:t>Data </a:t>
            </a:r>
            <a:r>
              <a:rPr sz="1620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Analysis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737525" y="2819925"/>
            <a:ext cx="6712838" cy="658940"/>
            <a:chOff x="1422583" y="3133250"/>
            <a:chExt cx="7458709" cy="732155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2583" y="3507707"/>
              <a:ext cx="632200" cy="10600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475282" y="3540581"/>
              <a:ext cx="374650" cy="635"/>
            </a:xfrm>
            <a:custGeom>
              <a:avLst/>
              <a:gdLst/>
              <a:ahLst/>
              <a:cxnLst/>
              <a:rect l="l" t="t" r="r" b="b"/>
              <a:pathLst>
                <a:path w="374650" h="635">
                  <a:moveTo>
                    <a:pt x="0" y="426"/>
                  </a:moveTo>
                  <a:lnTo>
                    <a:pt x="374400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6935" y="3485927"/>
              <a:ext cx="140715" cy="10930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96351" y="3507740"/>
              <a:ext cx="504700" cy="1060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149050" y="3540440"/>
              <a:ext cx="247015" cy="635"/>
            </a:xfrm>
            <a:custGeom>
              <a:avLst/>
              <a:gdLst/>
              <a:ahLst/>
              <a:cxnLst/>
              <a:rect l="l" t="t" r="r" b="b"/>
              <a:pathLst>
                <a:path w="247014" h="635">
                  <a:moveTo>
                    <a:pt x="0" y="0"/>
                  </a:moveTo>
                  <a:lnTo>
                    <a:pt x="246900" y="37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83188" y="3486157"/>
              <a:ext cx="140730" cy="10930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91940" y="3507707"/>
              <a:ext cx="624400" cy="1060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844640" y="3540583"/>
              <a:ext cx="367030" cy="635"/>
            </a:xfrm>
            <a:custGeom>
              <a:avLst/>
              <a:gdLst/>
              <a:ahLst/>
              <a:cxnLst/>
              <a:rect l="l" t="t" r="r" b="b"/>
              <a:pathLst>
                <a:path w="367029" h="635">
                  <a:moveTo>
                    <a:pt x="0" y="423"/>
                  </a:moveTo>
                  <a:lnTo>
                    <a:pt x="366599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8491" y="3485930"/>
              <a:ext cx="140715" cy="10930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059299" y="3133250"/>
              <a:ext cx="1821814" cy="732155"/>
            </a:xfrm>
            <a:custGeom>
              <a:avLst/>
              <a:gdLst/>
              <a:ahLst/>
              <a:cxnLst/>
              <a:rect l="l" t="t" r="r" b="b"/>
              <a:pathLst>
                <a:path w="1821815" h="732154">
                  <a:moveTo>
                    <a:pt x="1821599" y="731699"/>
                  </a:moveTo>
                  <a:lnTo>
                    <a:pt x="0" y="731699"/>
                  </a:lnTo>
                  <a:lnTo>
                    <a:pt x="0" y="0"/>
                  </a:lnTo>
                  <a:lnTo>
                    <a:pt x="1821599" y="0"/>
                  </a:lnTo>
                  <a:lnTo>
                    <a:pt x="1821599" y="731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810571" y="2819925"/>
            <a:ext cx="1636775" cy="703782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7470">
              <a:lnSpc>
                <a:spcPts val="1557"/>
              </a:lnSpc>
            </a:pPr>
            <a:r>
              <a:rPr sz="1620" spc="-5" dirty="0">
                <a:latin typeface="Arial MT"/>
                <a:cs typeface="Arial MT"/>
              </a:rPr>
              <a:t>Data</a:t>
            </a:r>
            <a:r>
              <a:rPr sz="1620" spc="-45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Store</a:t>
            </a:r>
            <a:endParaRPr sz="1620">
              <a:latin typeface="Arial MT"/>
              <a:cs typeface="Arial MT"/>
            </a:endParaRPr>
          </a:p>
          <a:p>
            <a:pPr marL="167450" marR="157734" indent="160020"/>
            <a:r>
              <a:rPr sz="1620" dirty="0">
                <a:latin typeface="Arial MT"/>
                <a:cs typeface="Arial MT"/>
              </a:rPr>
              <a:t>(analytical, </a:t>
            </a:r>
            <a:r>
              <a:rPr sz="1620" spc="5" dirty="0">
                <a:latin typeface="Arial MT"/>
                <a:cs typeface="Arial MT"/>
              </a:rPr>
              <a:t> </a:t>
            </a:r>
            <a:r>
              <a:rPr sz="1620" dirty="0">
                <a:latin typeface="Arial MT"/>
                <a:cs typeface="Arial MT"/>
              </a:rPr>
              <a:t>resulting</a:t>
            </a:r>
            <a:r>
              <a:rPr sz="1620" spc="-90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data)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795190" y="2477566"/>
            <a:ext cx="1883093" cy="408051"/>
            <a:chOff x="5931100" y="2752851"/>
            <a:chExt cx="2092325" cy="453390"/>
          </a:xfrm>
        </p:grpSpPr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31100" y="2752851"/>
              <a:ext cx="2091700" cy="4531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983800" y="2937951"/>
              <a:ext cx="1986914" cy="195580"/>
            </a:xfrm>
            <a:custGeom>
              <a:avLst/>
              <a:gdLst/>
              <a:ahLst/>
              <a:cxnLst/>
              <a:rect l="l" t="t" r="r" b="b"/>
              <a:pathLst>
                <a:path w="1986915" h="195580">
                  <a:moveTo>
                    <a:pt x="1986299" y="195299"/>
                  </a:moveTo>
                  <a:lnTo>
                    <a:pt x="1986299" y="21421"/>
                  </a:lnTo>
                  <a:lnTo>
                    <a:pt x="0" y="21421"/>
                  </a:lnTo>
                  <a:lnTo>
                    <a:pt x="0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2727767" y="2348014"/>
            <a:ext cx="4130802" cy="904112"/>
            <a:chOff x="2522852" y="2608904"/>
            <a:chExt cx="4589780" cy="1004569"/>
          </a:xfrm>
        </p:grpSpPr>
        <p:pic>
          <p:nvPicPr>
            <p:cNvPr id="61" name="object 6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37424" y="3466300"/>
              <a:ext cx="574600" cy="1468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590124" y="3512395"/>
              <a:ext cx="317500" cy="28575"/>
            </a:xfrm>
            <a:custGeom>
              <a:avLst/>
              <a:gdLst/>
              <a:ahLst/>
              <a:cxnLst/>
              <a:rect l="l" t="t" r="r" b="b"/>
              <a:pathLst>
                <a:path w="317500" h="28575">
                  <a:moveTo>
                    <a:pt x="-12699" y="14002"/>
                  </a:moveTo>
                  <a:lnTo>
                    <a:pt x="330089" y="14002"/>
                  </a:lnTo>
                </a:path>
              </a:pathLst>
            </a:custGeom>
            <a:ln w="5340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91126" y="3457903"/>
              <a:ext cx="143909" cy="10898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29145" y="2809983"/>
              <a:ext cx="109307" cy="14066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43867" y="2752872"/>
              <a:ext cx="1201000" cy="5368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196567" y="2841408"/>
              <a:ext cx="954405" cy="375920"/>
            </a:xfrm>
            <a:custGeom>
              <a:avLst/>
              <a:gdLst/>
              <a:ahLst/>
              <a:cxnLst/>
              <a:rect l="l" t="t" r="r" b="b"/>
              <a:pathLst>
                <a:path w="954404" h="375919">
                  <a:moveTo>
                    <a:pt x="0" y="375563"/>
                  </a:moveTo>
                  <a:lnTo>
                    <a:pt x="953796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22293" y="2786476"/>
              <a:ext cx="148023" cy="10666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22852" y="2608904"/>
              <a:ext cx="2893600" cy="6802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2575552" y="2672374"/>
              <a:ext cx="2639060" cy="544195"/>
            </a:xfrm>
            <a:custGeom>
              <a:avLst/>
              <a:gdLst/>
              <a:ahLst/>
              <a:cxnLst/>
              <a:rect l="l" t="t" r="r" b="b"/>
              <a:pathLst>
                <a:path w="2639060" h="544194">
                  <a:moveTo>
                    <a:pt x="0" y="544029"/>
                  </a:moveTo>
                  <a:lnTo>
                    <a:pt x="2638938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93320" y="2618584"/>
              <a:ext cx="146764" cy="1075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6120765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Handling</a:t>
            </a:r>
            <a:r>
              <a:rPr spc="-27" dirty="0"/>
              <a:t> </a:t>
            </a:r>
            <a:r>
              <a:rPr spc="-5" dirty="0"/>
              <a:t>multiple</a:t>
            </a:r>
            <a:r>
              <a:rPr spc="-23" dirty="0"/>
              <a:t> </a:t>
            </a:r>
            <a:r>
              <a:rPr spc="-5" dirty="0"/>
              <a:t>types</a:t>
            </a:r>
            <a:r>
              <a:rPr spc="-23" dirty="0"/>
              <a:t> </a:t>
            </a:r>
            <a:r>
              <a:rPr spc="-5" dirty="0"/>
              <a:t>of</a:t>
            </a:r>
            <a:r>
              <a:rPr spc="-27" dirty="0"/>
              <a:t> </a:t>
            </a:r>
            <a:r>
              <a:rPr spc="-5" dirty="0"/>
              <a:t>data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8415" y="1055989"/>
            <a:ext cx="7568375" cy="3368614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450914" indent="-440055">
              <a:spcBef>
                <a:spcPts val="540"/>
              </a:spcBef>
              <a:buChar char="●"/>
              <a:tabLst>
                <a:tab pos="450914" algn="l"/>
                <a:tab pos="451485" algn="l"/>
              </a:tabLst>
            </a:pPr>
            <a:r>
              <a:rPr sz="2160" b="1" spc="-5" dirty="0">
                <a:latin typeface="Arial"/>
                <a:cs typeface="Arial"/>
              </a:rPr>
              <a:t>Hardly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to</a:t>
            </a:r>
            <a:r>
              <a:rPr sz="2160" b="1" spc="-9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avoid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the</a:t>
            </a:r>
            <a:r>
              <a:rPr sz="2160" b="1" spc="-9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support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for</a:t>
            </a:r>
            <a:r>
              <a:rPr sz="2160" b="1" spc="-9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multiple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types</a:t>
            </a:r>
            <a:r>
              <a:rPr sz="2160" b="1" spc="-9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of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data</a:t>
            </a:r>
            <a:endParaRPr sz="2160" dirty="0">
              <a:latin typeface="Arial"/>
              <a:cs typeface="Arial"/>
            </a:endParaRPr>
          </a:p>
          <a:p>
            <a:pPr marL="665226" marR="1153287" lvl="1" indent="-435483">
              <a:spcBef>
                <a:spcPts val="374"/>
              </a:spcBef>
              <a:buFont typeface="Arial MT"/>
              <a:buChar char="○"/>
              <a:tabLst>
                <a:tab pos="665226" algn="l"/>
                <a:tab pos="665798" algn="l"/>
              </a:tabLst>
            </a:pPr>
            <a:r>
              <a:rPr spc="-5" dirty="0">
                <a:latin typeface="Georgia"/>
                <a:cs typeface="Georgia"/>
              </a:rPr>
              <a:t>tenant requirements and application needs, given data as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“products”/”assets”</a:t>
            </a:r>
            <a:endParaRPr dirty="0">
              <a:latin typeface="Georgia"/>
              <a:cs typeface="Georgia"/>
            </a:endParaRPr>
          </a:p>
          <a:p>
            <a:pPr marL="450914" indent="-440055">
              <a:spcBef>
                <a:spcPts val="418"/>
              </a:spcBef>
              <a:buChar char="●"/>
              <a:tabLst>
                <a:tab pos="450914" algn="l"/>
                <a:tab pos="451485" algn="l"/>
              </a:tabLst>
            </a:pPr>
            <a:r>
              <a:rPr sz="2160" b="1" dirty="0">
                <a:latin typeface="Arial"/>
                <a:cs typeface="Arial"/>
              </a:rPr>
              <a:t>Multiple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types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of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data</a:t>
            </a:r>
            <a:endParaRPr sz="2160" dirty="0">
              <a:latin typeface="Arial"/>
              <a:cs typeface="Arial"/>
            </a:endParaRPr>
          </a:p>
          <a:p>
            <a:pPr marL="562356" lvl="1" indent="-333185">
              <a:spcBef>
                <a:spcPts val="374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pc="-5" dirty="0">
                <a:latin typeface="Georgia"/>
                <a:cs typeface="Georgia"/>
              </a:rPr>
              <a:t>different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characteristics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and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values</a:t>
            </a:r>
            <a:endParaRPr dirty="0">
              <a:latin typeface="Georgia"/>
              <a:cs typeface="Georgia"/>
            </a:endParaRPr>
          </a:p>
          <a:p>
            <a:pPr marL="348044" marR="22860" indent="-337185">
              <a:spcBef>
                <a:spcPts val="418"/>
              </a:spcBef>
              <a:buChar char="●"/>
              <a:tabLst>
                <a:tab pos="348044" algn="l"/>
                <a:tab pos="348615" algn="l"/>
                <a:tab pos="4796028" algn="l"/>
              </a:tabLst>
            </a:pPr>
            <a:r>
              <a:rPr sz="2160" b="1" spc="-5" dirty="0">
                <a:latin typeface="Arial"/>
                <a:cs typeface="Arial"/>
              </a:rPr>
              <a:t>Any elastic</a:t>
            </a:r>
            <a:r>
              <a:rPr sz="2160" b="1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solution </a:t>
            </a:r>
            <a:r>
              <a:rPr sz="2160" b="1" dirty="0">
                <a:latin typeface="Arial"/>
                <a:cs typeface="Arial"/>
              </a:rPr>
              <a:t>that </a:t>
            </a:r>
            <a:r>
              <a:rPr sz="2160" b="1" spc="-5" dirty="0">
                <a:latin typeface="Arial"/>
                <a:cs typeface="Arial"/>
              </a:rPr>
              <a:t>ensures	minimum</a:t>
            </a:r>
            <a:r>
              <a:rPr sz="2160" b="1" spc="-41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changes</a:t>
            </a:r>
            <a:r>
              <a:rPr sz="2160" b="1" spc="-45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to </a:t>
            </a:r>
            <a:r>
              <a:rPr sz="2160" b="1" spc="-585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support </a:t>
            </a:r>
            <a:r>
              <a:rPr sz="2160" b="1" spc="-5" dirty="0">
                <a:solidFill>
                  <a:srgbClr val="FF0000"/>
                </a:solidFill>
                <a:latin typeface="Arial"/>
                <a:cs typeface="Arial"/>
              </a:rPr>
              <a:t>generalization</a:t>
            </a:r>
            <a:r>
              <a:rPr sz="2160" b="1" spc="-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60" b="1" spc="-5" dirty="0">
                <a:solidFill>
                  <a:srgbClr val="FF0000"/>
                </a:solidFill>
                <a:latin typeface="Arial"/>
                <a:cs typeface="Arial"/>
              </a:rPr>
              <a:t>and extensibility</a:t>
            </a:r>
            <a:endParaRPr sz="2160" dirty="0">
              <a:latin typeface="Arial"/>
              <a:cs typeface="Arial"/>
            </a:endParaRPr>
          </a:p>
          <a:p>
            <a:pPr marL="562356" marR="472631" lvl="1" indent="-332613">
              <a:spcBef>
                <a:spcPts val="374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pc="-5" dirty="0">
                <a:latin typeface="Georgia"/>
                <a:cs typeface="Georgia"/>
              </a:rPr>
              <a:t>multi-model databases, microservices of multiple of databases or </a:t>
            </a:r>
            <a:r>
              <a:rPr spc="-4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</a:t>
            </a:r>
            <a:r>
              <a:rPr spc="-9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lake</a:t>
            </a:r>
            <a:endParaRPr dirty="0">
              <a:latin typeface="Georgia"/>
              <a:cs typeface="Georgia"/>
            </a:endParaRPr>
          </a:p>
          <a:p>
            <a:pPr marL="562356" lvl="1" indent="-333185">
              <a:spcBef>
                <a:spcPts val="360"/>
              </a:spcBef>
              <a:buFont typeface="Arial MT"/>
              <a:buChar char="○"/>
              <a:tabLst>
                <a:tab pos="562356" algn="l"/>
                <a:tab pos="562928" algn="l"/>
                <a:tab pos="7556373" algn="l"/>
              </a:tabLst>
            </a:pPr>
            <a:r>
              <a:rPr u="sng" spc="-5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new</a:t>
            </a:r>
            <a:r>
              <a:rPr u="sng" spc="-18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 </a:t>
            </a:r>
            <a:r>
              <a:rPr u="sng" spc="-5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workloads,</a:t>
            </a:r>
            <a:r>
              <a:rPr u="sng" spc="-14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 </a:t>
            </a:r>
            <a:r>
              <a:rPr u="sng" spc="-5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new</a:t>
            </a:r>
            <a:r>
              <a:rPr u="sng" spc="-14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 </a:t>
            </a:r>
            <a:r>
              <a:rPr u="sng" spc="-5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types</a:t>
            </a:r>
            <a:r>
              <a:rPr u="sng" spc="-14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 </a:t>
            </a:r>
            <a:r>
              <a:rPr u="sng" spc="-5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of</a:t>
            </a:r>
            <a:r>
              <a:rPr u="sng" spc="-14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 </a:t>
            </a:r>
            <a:r>
              <a:rPr u="sng" spc="-5" dirty="0">
                <a:uFill>
                  <a:solidFill>
                    <a:srgbClr val="FF671F"/>
                  </a:solidFill>
                </a:uFill>
                <a:latin typeface="Georgia"/>
                <a:cs typeface="Georgia"/>
              </a:rPr>
              <a:t>customers	</a:t>
            </a:r>
            <a:endParaRPr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6985445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Data</a:t>
            </a:r>
            <a:r>
              <a:rPr spc="-23" dirty="0"/>
              <a:t> </a:t>
            </a:r>
            <a:r>
              <a:rPr spc="-9" dirty="0"/>
              <a:t>governance:</a:t>
            </a:r>
            <a:r>
              <a:rPr spc="-27" dirty="0"/>
              <a:t> </a:t>
            </a:r>
            <a:r>
              <a:rPr spc="-5" dirty="0"/>
              <a:t>concerns</a:t>
            </a:r>
            <a:r>
              <a:rPr spc="-23" dirty="0"/>
              <a:t> </a:t>
            </a:r>
            <a:r>
              <a:rPr dirty="0"/>
              <a:t>&amp;</a:t>
            </a:r>
            <a:r>
              <a:rPr spc="-23" dirty="0"/>
              <a:t> </a:t>
            </a:r>
            <a:r>
              <a:rPr spc="-5" dirty="0"/>
              <a:t>SLAs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287" y="753711"/>
            <a:ext cx="7313486" cy="366177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4615" indent="-333756">
              <a:spcBef>
                <a:spcPts val="90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Key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common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problems:</a:t>
            </a:r>
            <a:endParaRPr sz="1890">
              <a:latin typeface="Arial"/>
              <a:cs typeface="Arial"/>
            </a:endParaRPr>
          </a:p>
          <a:p>
            <a:pPr marL="388049" lvl="1" indent="-138875">
              <a:lnSpc>
                <a:spcPts val="2160"/>
              </a:lnSpc>
              <a:spcBef>
                <a:spcPts val="5"/>
              </a:spcBef>
              <a:buSzPct val="95000"/>
              <a:buFont typeface="Arial MT"/>
              <a:buChar char="○"/>
              <a:tabLst>
                <a:tab pos="388620" algn="l"/>
              </a:tabLst>
            </a:pPr>
            <a:r>
              <a:rPr spc="-5" dirty="0">
                <a:latin typeface="Georgia"/>
                <a:cs typeface="Georgia"/>
              </a:rPr>
              <a:t>data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quality,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data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lineage,</a:t>
            </a:r>
            <a:endParaRPr>
              <a:latin typeface="Georgia"/>
              <a:cs typeface="Georgia"/>
            </a:endParaRPr>
          </a:p>
          <a:p>
            <a:pPr marL="344615" indent="-333756">
              <a:lnSpc>
                <a:spcPts val="2268"/>
              </a:lnSpc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Ingesting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data:</a:t>
            </a:r>
            <a:r>
              <a:rPr sz="1890" b="1" spc="27" dirty="0">
                <a:latin typeface="Arial"/>
                <a:cs typeface="Arial"/>
              </a:rPr>
              <a:t> </a:t>
            </a:r>
            <a:r>
              <a:rPr spc="-5" dirty="0">
                <a:latin typeface="Arial MT"/>
                <a:cs typeface="Arial MT"/>
              </a:rPr>
              <a:t>ingestion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of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data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under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V*</a:t>
            </a:r>
            <a:endParaRPr>
              <a:latin typeface="Arial MT"/>
              <a:cs typeface="Arial MT"/>
            </a:endParaRPr>
          </a:p>
          <a:p>
            <a:pPr marL="558356" lvl="1" indent="-332613">
              <a:spcBef>
                <a:spcPts val="360"/>
              </a:spcBef>
              <a:buSzPct val="95000"/>
              <a:buChar char="○"/>
              <a:tabLst>
                <a:tab pos="558356" algn="l"/>
                <a:tab pos="558927" algn="l"/>
              </a:tabLst>
            </a:pPr>
            <a:r>
              <a:rPr dirty="0">
                <a:latin typeface="Arial MT"/>
                <a:cs typeface="Arial MT"/>
              </a:rPr>
              <a:t>mapping</a:t>
            </a:r>
            <a:r>
              <a:rPr spc="-18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and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transforming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data,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data</a:t>
            </a:r>
            <a:r>
              <a:rPr spc="-18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validation/quality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control</a:t>
            </a:r>
            <a:endParaRPr>
              <a:latin typeface="Arial MT"/>
              <a:cs typeface="Arial MT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Storing</a:t>
            </a:r>
            <a:r>
              <a:rPr sz="1890" b="1" spc="-50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endParaRPr sz="189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SzPct val="95000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Arial MT"/>
                <a:cs typeface="Arial MT"/>
              </a:rPr>
              <a:t>data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sharding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and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spc="-14" dirty="0">
                <a:latin typeface="Arial MT"/>
                <a:cs typeface="Arial MT"/>
              </a:rPr>
              <a:t>consistency,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data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backup,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retention,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etc.</a:t>
            </a:r>
            <a:endParaRPr>
              <a:latin typeface="Arial MT"/>
              <a:cs typeface="Arial MT"/>
            </a:endParaRPr>
          </a:p>
          <a:p>
            <a:pPr marL="558356" lvl="1" indent="-332613">
              <a:spcBef>
                <a:spcPts val="360"/>
              </a:spcBef>
              <a:buSzPct val="95000"/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the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impact</a:t>
            </a:r>
            <a:r>
              <a:rPr spc="5" dirty="0">
                <a:latin typeface="Georgia"/>
                <a:cs typeface="Georgia"/>
              </a:rPr>
              <a:t> </a:t>
            </a:r>
            <a:r>
              <a:rPr spc="-5" dirty="0">
                <a:solidFill>
                  <a:srgbClr val="FF0000"/>
                </a:solidFill>
                <a:latin typeface="Georgia"/>
                <a:cs typeface="Georgia"/>
              </a:rPr>
              <a:t>of</a:t>
            </a:r>
            <a:r>
              <a:rPr spc="-9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5" dirty="0">
                <a:solidFill>
                  <a:srgbClr val="FF0000"/>
                </a:solidFill>
                <a:latin typeface="Georgia"/>
                <a:cs typeface="Georgia"/>
              </a:rPr>
              <a:t>the</a:t>
            </a:r>
            <a:r>
              <a:rPr spc="-1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5" dirty="0">
                <a:solidFill>
                  <a:srgbClr val="FF0000"/>
                </a:solidFill>
                <a:latin typeface="Georgia"/>
                <a:cs typeface="Georgia"/>
              </a:rPr>
              <a:t>rights</a:t>
            </a:r>
            <a:r>
              <a:rPr spc="-9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5" dirty="0">
                <a:solidFill>
                  <a:srgbClr val="FF0000"/>
                </a:solidFill>
                <a:latin typeface="Georgia"/>
                <a:cs typeface="Georgia"/>
              </a:rPr>
              <a:t>to</a:t>
            </a:r>
            <a:r>
              <a:rPr spc="-1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5" dirty="0">
                <a:solidFill>
                  <a:srgbClr val="FF0000"/>
                </a:solidFill>
                <a:latin typeface="Georgia"/>
                <a:cs typeface="Georgia"/>
              </a:rPr>
              <a:t>remove</a:t>
            </a:r>
            <a:r>
              <a:rPr spc="-9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5" dirty="0">
                <a:solidFill>
                  <a:srgbClr val="FF0000"/>
                </a:solidFill>
                <a:latin typeface="Georgia"/>
                <a:cs typeface="Georgia"/>
              </a:rPr>
              <a:t>data</a:t>
            </a:r>
            <a:endParaRPr>
              <a:latin typeface="Georgia"/>
              <a:cs typeface="Georgia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SLA</a:t>
            </a:r>
            <a:r>
              <a:rPr sz="1890" b="1" spc="-90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multitenancy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versus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single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tenancy</a:t>
            </a:r>
            <a:endParaRPr sz="189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SzPct val="95000"/>
              <a:buChar char="○"/>
              <a:tabLst>
                <a:tab pos="558356" algn="l"/>
                <a:tab pos="558927" algn="l"/>
              </a:tabLst>
            </a:pPr>
            <a:r>
              <a:rPr spc="-18" dirty="0">
                <a:latin typeface="Arial MT"/>
                <a:cs typeface="Arial MT"/>
              </a:rPr>
              <a:t>security,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spc="-23" dirty="0">
                <a:latin typeface="Arial MT"/>
                <a:cs typeface="Arial MT"/>
              </a:rPr>
              <a:t>privacy,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performance,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reliability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and</a:t>
            </a:r>
            <a:r>
              <a:rPr spc="-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maintenance?</a:t>
            </a:r>
            <a:endParaRPr>
              <a:latin typeface="Arial MT"/>
              <a:cs typeface="Arial MT"/>
            </a:endParaRPr>
          </a:p>
          <a:p>
            <a:pPr marL="113157" marR="4572">
              <a:spcBef>
                <a:spcPts val="1768"/>
              </a:spcBef>
            </a:pP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The</a:t>
            </a:r>
            <a:r>
              <a:rPr spc="-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00FF"/>
                </a:solidFill>
                <a:latin typeface="Arial MT"/>
                <a:cs typeface="Arial MT"/>
              </a:rPr>
              <a:t>volume</a:t>
            </a:r>
            <a:r>
              <a:rPr spc="-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of</a:t>
            </a:r>
            <a:r>
              <a:rPr spc="-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data</a:t>
            </a:r>
            <a:r>
              <a:rPr spc="-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is</a:t>
            </a:r>
            <a:r>
              <a:rPr spc="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b="1" spc="-5" dirty="0">
                <a:solidFill>
                  <a:srgbClr val="0000FF"/>
                </a:solidFill>
                <a:latin typeface="Arial"/>
                <a:cs typeface="Arial"/>
              </a:rPr>
              <a:t>increasing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but</a:t>
            </a:r>
            <a:r>
              <a:rPr spc="-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its </a:t>
            </a:r>
            <a:r>
              <a:rPr b="1" spc="-5" dirty="0">
                <a:solidFill>
                  <a:srgbClr val="0000FF"/>
                </a:solidFill>
                <a:latin typeface="Arial"/>
                <a:cs typeface="Arial"/>
              </a:rPr>
              <a:t>usefulness may</a:t>
            </a:r>
            <a:r>
              <a:rPr b="1" spc="-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0000FF"/>
                </a:solidFill>
                <a:latin typeface="Arial"/>
                <a:cs typeface="Arial"/>
              </a:rPr>
              <a:t>not</a:t>
            </a:r>
            <a:r>
              <a:rPr b="1" spc="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because </a:t>
            </a:r>
            <a:r>
              <a:rPr spc="-486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of</a:t>
            </a:r>
            <a:r>
              <a:rPr spc="-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the bad data quality</a:t>
            </a:r>
            <a:endParaRPr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5788" y="1264176"/>
            <a:ext cx="6568821" cy="994982"/>
            <a:chOff x="742875" y="1404640"/>
            <a:chExt cx="7298690" cy="1105535"/>
          </a:xfrm>
        </p:grpSpPr>
        <p:sp>
          <p:nvSpPr>
            <p:cNvPr id="3" name="object 3"/>
            <p:cNvSpPr/>
            <p:nvPr/>
          </p:nvSpPr>
          <p:spPr>
            <a:xfrm>
              <a:off x="755575" y="1417340"/>
              <a:ext cx="7273290" cy="1080135"/>
            </a:xfrm>
            <a:custGeom>
              <a:avLst/>
              <a:gdLst/>
              <a:ahLst/>
              <a:cxnLst/>
              <a:rect l="l" t="t" r="r" b="b"/>
              <a:pathLst>
                <a:path w="7273290" h="1080135">
                  <a:moveTo>
                    <a:pt x="0" y="0"/>
                  </a:moveTo>
                  <a:lnTo>
                    <a:pt x="7272804" y="0"/>
                  </a:lnTo>
                  <a:lnTo>
                    <a:pt x="7272804" y="1079896"/>
                  </a:lnTo>
                  <a:lnTo>
                    <a:pt x="0" y="1079896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C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5964" y="1554504"/>
              <a:ext cx="953919" cy="6288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0726" y="1579267"/>
              <a:ext cx="864393" cy="539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60726" y="1579267"/>
              <a:ext cx="864869" cy="539750"/>
            </a:xfrm>
            <a:custGeom>
              <a:avLst/>
              <a:gdLst/>
              <a:ahLst/>
              <a:cxnLst/>
              <a:rect l="l" t="t" r="r" b="b"/>
              <a:pathLst>
                <a:path w="864870" h="539750">
                  <a:moveTo>
                    <a:pt x="0" y="0"/>
                  </a:moveTo>
                  <a:lnTo>
                    <a:pt x="864393" y="0"/>
                  </a:lnTo>
                  <a:lnTo>
                    <a:pt x="864393" y="539352"/>
                  </a:lnTo>
                  <a:lnTo>
                    <a:pt x="0" y="53935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C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775" y="1611081"/>
              <a:ext cx="952729" cy="4681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6538" y="1632844"/>
              <a:ext cx="863203" cy="37861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36538" y="1632844"/>
              <a:ext cx="863600" cy="379095"/>
            </a:xfrm>
            <a:custGeom>
              <a:avLst/>
              <a:gdLst/>
              <a:ahLst/>
              <a:cxnLst/>
              <a:rect l="l" t="t" r="r" b="b"/>
              <a:pathLst>
                <a:path w="863600" h="379094">
                  <a:moveTo>
                    <a:pt x="0" y="0"/>
                  </a:moveTo>
                  <a:lnTo>
                    <a:pt x="800099" y="0"/>
                  </a:lnTo>
                  <a:lnTo>
                    <a:pt x="863203" y="63104"/>
                  </a:lnTo>
                  <a:lnTo>
                    <a:pt x="863203" y="378618"/>
                  </a:lnTo>
                  <a:lnTo>
                    <a:pt x="0" y="37861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D62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4868609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3209544" algn="l"/>
              </a:tabLst>
            </a:pPr>
            <a:r>
              <a:rPr spc="-5" dirty="0"/>
              <a:t>Dat</a:t>
            </a:r>
            <a:r>
              <a:rPr dirty="0"/>
              <a:t>a</a:t>
            </a:r>
            <a:r>
              <a:rPr spc="-5" dirty="0"/>
              <a:t> concerns</a:t>
            </a:r>
            <a:r>
              <a:rPr dirty="0"/>
              <a:t>:</a:t>
            </a:r>
            <a:r>
              <a:rPr lang="en-US" dirty="0"/>
              <a:t> </a:t>
            </a:r>
            <a:r>
              <a:rPr spc="-5" dirty="0"/>
              <a:t>example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75806" y="1512587"/>
            <a:ext cx="423481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80194" y="1256021"/>
            <a:ext cx="4055936" cy="858965"/>
            <a:chOff x="1803326" y="1395579"/>
            <a:chExt cx="4506595" cy="954405"/>
          </a:xfrm>
        </p:grpSpPr>
        <p:sp>
          <p:nvSpPr>
            <p:cNvPr id="13" name="object 13"/>
            <p:cNvSpPr/>
            <p:nvPr/>
          </p:nvSpPr>
          <p:spPr>
            <a:xfrm>
              <a:off x="1808089" y="1741191"/>
              <a:ext cx="485775" cy="215900"/>
            </a:xfrm>
            <a:custGeom>
              <a:avLst/>
              <a:gdLst/>
              <a:ahLst/>
              <a:cxnLst/>
              <a:rect l="l" t="t" r="r" b="b"/>
              <a:pathLst>
                <a:path w="485775" h="215900">
                  <a:moveTo>
                    <a:pt x="377825" y="215502"/>
                  </a:moveTo>
                  <a:lnTo>
                    <a:pt x="377825" y="161627"/>
                  </a:lnTo>
                  <a:lnTo>
                    <a:pt x="0" y="161627"/>
                  </a:lnTo>
                  <a:lnTo>
                    <a:pt x="0" y="53875"/>
                  </a:lnTo>
                  <a:lnTo>
                    <a:pt x="377825" y="53875"/>
                  </a:lnTo>
                  <a:lnTo>
                    <a:pt x="377825" y="0"/>
                  </a:lnTo>
                  <a:lnTo>
                    <a:pt x="485774" y="107751"/>
                  </a:lnTo>
                  <a:lnTo>
                    <a:pt x="377825" y="215502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08089" y="1741191"/>
              <a:ext cx="485775" cy="215900"/>
            </a:xfrm>
            <a:custGeom>
              <a:avLst/>
              <a:gdLst/>
              <a:ahLst/>
              <a:cxnLst/>
              <a:rect l="l" t="t" r="r" b="b"/>
              <a:pathLst>
                <a:path w="485775" h="215900">
                  <a:moveTo>
                    <a:pt x="0" y="53875"/>
                  </a:moveTo>
                  <a:lnTo>
                    <a:pt x="377825" y="53875"/>
                  </a:lnTo>
                  <a:lnTo>
                    <a:pt x="377825" y="0"/>
                  </a:lnTo>
                  <a:lnTo>
                    <a:pt x="485774" y="107751"/>
                  </a:lnTo>
                  <a:lnTo>
                    <a:pt x="377825" y="215502"/>
                  </a:lnTo>
                  <a:lnTo>
                    <a:pt x="377825" y="161627"/>
                  </a:lnTo>
                  <a:lnTo>
                    <a:pt x="0" y="161627"/>
                  </a:lnTo>
                  <a:lnTo>
                    <a:pt x="0" y="5387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78698" y="1741191"/>
              <a:ext cx="377825" cy="215900"/>
            </a:xfrm>
            <a:custGeom>
              <a:avLst/>
              <a:gdLst/>
              <a:ahLst/>
              <a:cxnLst/>
              <a:rect l="l" t="t" r="r" b="b"/>
              <a:pathLst>
                <a:path w="377825" h="215900">
                  <a:moveTo>
                    <a:pt x="269599" y="215502"/>
                  </a:moveTo>
                  <a:lnTo>
                    <a:pt x="269599" y="161627"/>
                  </a:lnTo>
                  <a:lnTo>
                    <a:pt x="0" y="161627"/>
                  </a:lnTo>
                  <a:lnTo>
                    <a:pt x="0" y="53875"/>
                  </a:lnTo>
                  <a:lnTo>
                    <a:pt x="269599" y="53875"/>
                  </a:lnTo>
                  <a:lnTo>
                    <a:pt x="269599" y="0"/>
                  </a:lnTo>
                  <a:lnTo>
                    <a:pt x="377428" y="107751"/>
                  </a:lnTo>
                  <a:lnTo>
                    <a:pt x="269599" y="215502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78698" y="1741191"/>
              <a:ext cx="377825" cy="215900"/>
            </a:xfrm>
            <a:custGeom>
              <a:avLst/>
              <a:gdLst/>
              <a:ahLst/>
              <a:cxnLst/>
              <a:rect l="l" t="t" r="r" b="b"/>
              <a:pathLst>
                <a:path w="377825" h="215900">
                  <a:moveTo>
                    <a:pt x="0" y="53875"/>
                  </a:moveTo>
                  <a:lnTo>
                    <a:pt x="269599" y="53875"/>
                  </a:lnTo>
                  <a:lnTo>
                    <a:pt x="269599" y="0"/>
                  </a:lnTo>
                  <a:lnTo>
                    <a:pt x="377428" y="107751"/>
                  </a:lnTo>
                  <a:lnTo>
                    <a:pt x="269599" y="215502"/>
                  </a:lnTo>
                  <a:lnTo>
                    <a:pt x="269599" y="161627"/>
                  </a:lnTo>
                  <a:lnTo>
                    <a:pt x="0" y="161627"/>
                  </a:lnTo>
                  <a:lnTo>
                    <a:pt x="0" y="5387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66132" y="1395579"/>
              <a:ext cx="1143228" cy="95391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10894" y="1417341"/>
              <a:ext cx="1053702" cy="86439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210894" y="1417341"/>
              <a:ext cx="1054100" cy="864869"/>
            </a:xfrm>
            <a:custGeom>
              <a:avLst/>
              <a:gdLst/>
              <a:ahLst/>
              <a:cxnLst/>
              <a:rect l="l" t="t" r="r" b="b"/>
              <a:pathLst>
                <a:path w="1054100" h="864869">
                  <a:moveTo>
                    <a:pt x="0" y="0"/>
                  </a:moveTo>
                  <a:lnTo>
                    <a:pt x="1053702" y="0"/>
                  </a:lnTo>
                  <a:lnTo>
                    <a:pt x="1053702" y="864393"/>
                  </a:lnTo>
                  <a:lnTo>
                    <a:pt x="0" y="8643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D62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195079" y="1521481"/>
            <a:ext cx="1896237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1042988" algn="l"/>
              </a:tabLst>
            </a:pPr>
            <a:r>
              <a:rPr sz="1620" spc="-5" dirty="0">
                <a:solidFill>
                  <a:srgbClr val="FFFFFF"/>
                </a:solidFill>
                <a:latin typeface="Arial MT"/>
                <a:cs typeface="Arial MT"/>
              </a:rPr>
              <a:t>....	Analysis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566683" y="1417054"/>
            <a:ext cx="786955" cy="494348"/>
            <a:chOff x="2343870" y="1574504"/>
            <a:chExt cx="874394" cy="549275"/>
          </a:xfrm>
        </p:grpSpPr>
        <p:sp>
          <p:nvSpPr>
            <p:cNvPr id="22" name="object 22"/>
            <p:cNvSpPr/>
            <p:nvPr/>
          </p:nvSpPr>
          <p:spPr>
            <a:xfrm>
              <a:off x="2348632" y="1579266"/>
              <a:ext cx="864869" cy="539750"/>
            </a:xfrm>
            <a:custGeom>
              <a:avLst/>
              <a:gdLst/>
              <a:ahLst/>
              <a:cxnLst/>
              <a:rect l="l" t="t" r="r" b="b"/>
              <a:pathLst>
                <a:path w="864869" h="539750">
                  <a:moveTo>
                    <a:pt x="432196" y="539352"/>
                  </a:moveTo>
                  <a:lnTo>
                    <a:pt x="373550" y="536891"/>
                  </a:lnTo>
                  <a:lnTo>
                    <a:pt x="317301" y="529719"/>
                  </a:lnTo>
                  <a:lnTo>
                    <a:pt x="263966" y="518160"/>
                  </a:lnTo>
                  <a:lnTo>
                    <a:pt x="214058" y="502534"/>
                  </a:lnTo>
                  <a:lnTo>
                    <a:pt x="168094" y="483162"/>
                  </a:lnTo>
                  <a:lnTo>
                    <a:pt x="126587" y="460366"/>
                  </a:lnTo>
                  <a:lnTo>
                    <a:pt x="90053" y="434467"/>
                  </a:lnTo>
                  <a:lnTo>
                    <a:pt x="59007" y="405787"/>
                  </a:lnTo>
                  <a:lnTo>
                    <a:pt x="33964" y="374646"/>
                  </a:lnTo>
                  <a:lnTo>
                    <a:pt x="3945" y="306269"/>
                  </a:lnTo>
                  <a:lnTo>
                    <a:pt x="0" y="269676"/>
                  </a:lnTo>
                  <a:lnTo>
                    <a:pt x="3945" y="233082"/>
                  </a:lnTo>
                  <a:lnTo>
                    <a:pt x="33964" y="164706"/>
                  </a:lnTo>
                  <a:lnTo>
                    <a:pt x="59007" y="133565"/>
                  </a:lnTo>
                  <a:lnTo>
                    <a:pt x="90053" y="104885"/>
                  </a:lnTo>
                  <a:lnTo>
                    <a:pt x="126587" y="78986"/>
                  </a:lnTo>
                  <a:lnTo>
                    <a:pt x="168094" y="56190"/>
                  </a:lnTo>
                  <a:lnTo>
                    <a:pt x="214058" y="36818"/>
                  </a:lnTo>
                  <a:lnTo>
                    <a:pt x="263966" y="21192"/>
                  </a:lnTo>
                  <a:lnTo>
                    <a:pt x="317301" y="9633"/>
                  </a:lnTo>
                  <a:lnTo>
                    <a:pt x="373550" y="2461"/>
                  </a:lnTo>
                  <a:lnTo>
                    <a:pt x="432196" y="0"/>
                  </a:lnTo>
                  <a:lnTo>
                    <a:pt x="490843" y="2461"/>
                  </a:lnTo>
                  <a:lnTo>
                    <a:pt x="547092" y="9633"/>
                  </a:lnTo>
                  <a:lnTo>
                    <a:pt x="600427" y="21192"/>
                  </a:lnTo>
                  <a:lnTo>
                    <a:pt x="650335" y="36818"/>
                  </a:lnTo>
                  <a:lnTo>
                    <a:pt x="696299" y="56190"/>
                  </a:lnTo>
                  <a:lnTo>
                    <a:pt x="737806" y="78986"/>
                  </a:lnTo>
                  <a:lnTo>
                    <a:pt x="774340" y="104885"/>
                  </a:lnTo>
                  <a:lnTo>
                    <a:pt x="805386" y="133565"/>
                  </a:lnTo>
                  <a:lnTo>
                    <a:pt x="830429" y="164706"/>
                  </a:lnTo>
                  <a:lnTo>
                    <a:pt x="860448" y="233082"/>
                  </a:lnTo>
                  <a:lnTo>
                    <a:pt x="864393" y="269676"/>
                  </a:lnTo>
                  <a:lnTo>
                    <a:pt x="860448" y="306269"/>
                  </a:lnTo>
                  <a:lnTo>
                    <a:pt x="830429" y="374646"/>
                  </a:lnTo>
                  <a:lnTo>
                    <a:pt x="805386" y="405787"/>
                  </a:lnTo>
                  <a:lnTo>
                    <a:pt x="774340" y="434467"/>
                  </a:lnTo>
                  <a:lnTo>
                    <a:pt x="737806" y="460366"/>
                  </a:lnTo>
                  <a:lnTo>
                    <a:pt x="696299" y="483162"/>
                  </a:lnTo>
                  <a:lnTo>
                    <a:pt x="650335" y="502534"/>
                  </a:lnTo>
                  <a:lnTo>
                    <a:pt x="600427" y="518160"/>
                  </a:lnTo>
                  <a:lnTo>
                    <a:pt x="547092" y="529719"/>
                  </a:lnTo>
                  <a:lnTo>
                    <a:pt x="490843" y="536891"/>
                  </a:lnTo>
                  <a:lnTo>
                    <a:pt x="432196" y="539352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48632" y="1579266"/>
              <a:ext cx="864869" cy="539750"/>
            </a:xfrm>
            <a:custGeom>
              <a:avLst/>
              <a:gdLst/>
              <a:ahLst/>
              <a:cxnLst/>
              <a:rect l="l" t="t" r="r" b="b"/>
              <a:pathLst>
                <a:path w="864869" h="539750">
                  <a:moveTo>
                    <a:pt x="0" y="269676"/>
                  </a:moveTo>
                  <a:lnTo>
                    <a:pt x="3945" y="233082"/>
                  </a:lnTo>
                  <a:lnTo>
                    <a:pt x="15438" y="197985"/>
                  </a:lnTo>
                  <a:lnTo>
                    <a:pt x="59007" y="133565"/>
                  </a:lnTo>
                  <a:lnTo>
                    <a:pt x="90053" y="104885"/>
                  </a:lnTo>
                  <a:lnTo>
                    <a:pt x="126587" y="78986"/>
                  </a:lnTo>
                  <a:lnTo>
                    <a:pt x="168094" y="56190"/>
                  </a:lnTo>
                  <a:lnTo>
                    <a:pt x="214058" y="36818"/>
                  </a:lnTo>
                  <a:lnTo>
                    <a:pt x="263966" y="21192"/>
                  </a:lnTo>
                  <a:lnTo>
                    <a:pt x="317301" y="9633"/>
                  </a:lnTo>
                  <a:lnTo>
                    <a:pt x="373550" y="2461"/>
                  </a:lnTo>
                  <a:lnTo>
                    <a:pt x="432196" y="0"/>
                  </a:lnTo>
                  <a:lnTo>
                    <a:pt x="490843" y="2461"/>
                  </a:lnTo>
                  <a:lnTo>
                    <a:pt x="547092" y="9633"/>
                  </a:lnTo>
                  <a:lnTo>
                    <a:pt x="600427" y="21192"/>
                  </a:lnTo>
                  <a:lnTo>
                    <a:pt x="650335" y="36818"/>
                  </a:lnTo>
                  <a:lnTo>
                    <a:pt x="696299" y="56190"/>
                  </a:lnTo>
                  <a:lnTo>
                    <a:pt x="737806" y="78986"/>
                  </a:lnTo>
                  <a:lnTo>
                    <a:pt x="774340" y="104885"/>
                  </a:lnTo>
                  <a:lnTo>
                    <a:pt x="805386" y="133565"/>
                  </a:lnTo>
                  <a:lnTo>
                    <a:pt x="830429" y="164706"/>
                  </a:lnTo>
                  <a:lnTo>
                    <a:pt x="860448" y="233082"/>
                  </a:lnTo>
                  <a:lnTo>
                    <a:pt x="864393" y="269676"/>
                  </a:lnTo>
                  <a:lnTo>
                    <a:pt x="848955" y="341367"/>
                  </a:lnTo>
                  <a:lnTo>
                    <a:pt x="805386" y="405787"/>
                  </a:lnTo>
                  <a:lnTo>
                    <a:pt x="774340" y="434467"/>
                  </a:lnTo>
                  <a:lnTo>
                    <a:pt x="737806" y="460366"/>
                  </a:lnTo>
                  <a:lnTo>
                    <a:pt x="696299" y="483162"/>
                  </a:lnTo>
                  <a:lnTo>
                    <a:pt x="650335" y="502534"/>
                  </a:lnTo>
                  <a:lnTo>
                    <a:pt x="600427" y="518160"/>
                  </a:lnTo>
                  <a:lnTo>
                    <a:pt x="547092" y="529719"/>
                  </a:lnTo>
                  <a:lnTo>
                    <a:pt x="490843" y="536891"/>
                  </a:lnTo>
                  <a:lnTo>
                    <a:pt x="432196" y="539352"/>
                  </a:lnTo>
                  <a:lnTo>
                    <a:pt x="373550" y="536891"/>
                  </a:lnTo>
                  <a:lnTo>
                    <a:pt x="317301" y="529719"/>
                  </a:lnTo>
                  <a:lnTo>
                    <a:pt x="263966" y="518160"/>
                  </a:lnTo>
                  <a:lnTo>
                    <a:pt x="214058" y="502534"/>
                  </a:lnTo>
                  <a:lnTo>
                    <a:pt x="168094" y="483162"/>
                  </a:lnTo>
                  <a:lnTo>
                    <a:pt x="126587" y="460366"/>
                  </a:lnTo>
                  <a:lnTo>
                    <a:pt x="90053" y="434467"/>
                  </a:lnTo>
                  <a:lnTo>
                    <a:pt x="59007" y="405787"/>
                  </a:lnTo>
                  <a:lnTo>
                    <a:pt x="33964" y="374646"/>
                  </a:lnTo>
                  <a:lnTo>
                    <a:pt x="3945" y="306269"/>
                  </a:lnTo>
                  <a:lnTo>
                    <a:pt x="0" y="26967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34195" y="1507058"/>
            <a:ext cx="250889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5" dirty="0">
                <a:latin typeface="Arial MT"/>
                <a:cs typeface="Arial MT"/>
              </a:rPr>
              <a:t>....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490369" y="1431974"/>
            <a:ext cx="4086797" cy="421767"/>
            <a:chOff x="3370188" y="1591082"/>
            <a:chExt cx="4540885" cy="468630"/>
          </a:xfrm>
        </p:grpSpPr>
        <p:sp>
          <p:nvSpPr>
            <p:cNvPr id="26" name="object 26"/>
            <p:cNvSpPr/>
            <p:nvPr/>
          </p:nvSpPr>
          <p:spPr>
            <a:xfrm>
              <a:off x="3374951" y="1741191"/>
              <a:ext cx="377825" cy="215900"/>
            </a:xfrm>
            <a:custGeom>
              <a:avLst/>
              <a:gdLst/>
              <a:ahLst/>
              <a:cxnLst/>
              <a:rect l="l" t="t" r="r" b="b"/>
              <a:pathLst>
                <a:path w="377825" h="215900">
                  <a:moveTo>
                    <a:pt x="269599" y="215502"/>
                  </a:moveTo>
                  <a:lnTo>
                    <a:pt x="269599" y="161627"/>
                  </a:lnTo>
                  <a:lnTo>
                    <a:pt x="0" y="161627"/>
                  </a:lnTo>
                  <a:lnTo>
                    <a:pt x="0" y="53875"/>
                  </a:lnTo>
                  <a:lnTo>
                    <a:pt x="269599" y="53875"/>
                  </a:lnTo>
                  <a:lnTo>
                    <a:pt x="269599" y="0"/>
                  </a:lnTo>
                  <a:lnTo>
                    <a:pt x="377428" y="107751"/>
                  </a:lnTo>
                  <a:lnTo>
                    <a:pt x="269599" y="215502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74951" y="1741191"/>
              <a:ext cx="377825" cy="215900"/>
            </a:xfrm>
            <a:custGeom>
              <a:avLst/>
              <a:gdLst/>
              <a:ahLst/>
              <a:cxnLst/>
              <a:rect l="l" t="t" r="r" b="b"/>
              <a:pathLst>
                <a:path w="377825" h="215900">
                  <a:moveTo>
                    <a:pt x="0" y="53875"/>
                  </a:moveTo>
                  <a:lnTo>
                    <a:pt x="269599" y="53875"/>
                  </a:lnTo>
                  <a:lnTo>
                    <a:pt x="269599" y="0"/>
                  </a:lnTo>
                  <a:lnTo>
                    <a:pt x="377428" y="107751"/>
                  </a:lnTo>
                  <a:lnTo>
                    <a:pt x="269599" y="215502"/>
                  </a:lnTo>
                  <a:lnTo>
                    <a:pt x="269599" y="161627"/>
                  </a:lnTo>
                  <a:lnTo>
                    <a:pt x="0" y="161627"/>
                  </a:lnTo>
                  <a:lnTo>
                    <a:pt x="0" y="5387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7393" y="1591082"/>
              <a:ext cx="1143229" cy="46814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812156" y="1612844"/>
              <a:ext cx="1054100" cy="379095"/>
            </a:xfrm>
            <a:custGeom>
              <a:avLst/>
              <a:gdLst/>
              <a:ahLst/>
              <a:cxnLst/>
              <a:rect l="l" t="t" r="r" b="b"/>
              <a:pathLst>
                <a:path w="1054100" h="379094">
                  <a:moveTo>
                    <a:pt x="1053703" y="378618"/>
                  </a:moveTo>
                  <a:lnTo>
                    <a:pt x="0" y="378618"/>
                  </a:lnTo>
                  <a:lnTo>
                    <a:pt x="0" y="0"/>
                  </a:lnTo>
                  <a:lnTo>
                    <a:pt x="990599" y="0"/>
                  </a:lnTo>
                  <a:lnTo>
                    <a:pt x="1053703" y="63104"/>
                  </a:lnTo>
                  <a:lnTo>
                    <a:pt x="1053703" y="378618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12156" y="1612844"/>
              <a:ext cx="1054100" cy="379095"/>
            </a:xfrm>
            <a:custGeom>
              <a:avLst/>
              <a:gdLst/>
              <a:ahLst/>
              <a:cxnLst/>
              <a:rect l="l" t="t" r="r" b="b"/>
              <a:pathLst>
                <a:path w="1054100" h="379094">
                  <a:moveTo>
                    <a:pt x="0" y="0"/>
                  </a:moveTo>
                  <a:lnTo>
                    <a:pt x="990599" y="0"/>
                  </a:lnTo>
                  <a:lnTo>
                    <a:pt x="1053703" y="63104"/>
                  </a:lnTo>
                  <a:lnTo>
                    <a:pt x="1053703" y="378618"/>
                  </a:lnTo>
                  <a:lnTo>
                    <a:pt x="0" y="37861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C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653863" y="1494588"/>
            <a:ext cx="526352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solidFill>
                  <a:srgbClr val="FFFFFF"/>
                </a:solidFill>
                <a:latin typeface="Arial MT"/>
                <a:cs typeface="Arial MT"/>
              </a:rPr>
              <a:t>result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736827" y="2684712"/>
            <a:ext cx="1215581" cy="581787"/>
          </a:xfrm>
          <a:custGeom>
            <a:avLst/>
            <a:gdLst/>
            <a:ahLst/>
            <a:cxnLst/>
            <a:rect l="l" t="t" r="r" b="b"/>
            <a:pathLst>
              <a:path w="1350645" h="646429">
                <a:moveTo>
                  <a:pt x="0" y="0"/>
                </a:moveTo>
                <a:lnTo>
                  <a:pt x="1350170" y="0"/>
                </a:lnTo>
                <a:lnTo>
                  <a:pt x="1350170" y="646331"/>
                </a:lnTo>
                <a:lnTo>
                  <a:pt x="0" y="64633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1319205" y="1553819"/>
            <a:ext cx="5230368" cy="1648778"/>
            <a:chOff x="957783" y="1726465"/>
            <a:chExt cx="5811520" cy="1831975"/>
          </a:xfrm>
        </p:grpSpPr>
        <p:sp>
          <p:nvSpPr>
            <p:cNvPr id="34" name="object 34"/>
            <p:cNvSpPr/>
            <p:nvPr/>
          </p:nvSpPr>
          <p:spPr>
            <a:xfrm>
              <a:off x="6387101" y="1731228"/>
              <a:ext cx="377825" cy="215900"/>
            </a:xfrm>
            <a:custGeom>
              <a:avLst/>
              <a:gdLst/>
              <a:ahLst/>
              <a:cxnLst/>
              <a:rect l="l" t="t" r="r" b="b"/>
              <a:pathLst>
                <a:path w="377825" h="215900">
                  <a:moveTo>
                    <a:pt x="269598" y="215502"/>
                  </a:moveTo>
                  <a:lnTo>
                    <a:pt x="269598" y="161627"/>
                  </a:lnTo>
                  <a:lnTo>
                    <a:pt x="0" y="161627"/>
                  </a:lnTo>
                  <a:lnTo>
                    <a:pt x="0" y="53875"/>
                  </a:lnTo>
                  <a:lnTo>
                    <a:pt x="269598" y="53875"/>
                  </a:lnTo>
                  <a:lnTo>
                    <a:pt x="269598" y="0"/>
                  </a:lnTo>
                  <a:lnTo>
                    <a:pt x="377427" y="107751"/>
                  </a:lnTo>
                  <a:lnTo>
                    <a:pt x="269598" y="215502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87101" y="1731228"/>
              <a:ext cx="377825" cy="215900"/>
            </a:xfrm>
            <a:custGeom>
              <a:avLst/>
              <a:gdLst/>
              <a:ahLst/>
              <a:cxnLst/>
              <a:rect l="l" t="t" r="r" b="b"/>
              <a:pathLst>
                <a:path w="377825" h="215900">
                  <a:moveTo>
                    <a:pt x="0" y="53875"/>
                  </a:moveTo>
                  <a:lnTo>
                    <a:pt x="269598" y="53875"/>
                  </a:lnTo>
                  <a:lnTo>
                    <a:pt x="269598" y="0"/>
                  </a:lnTo>
                  <a:lnTo>
                    <a:pt x="377427" y="107751"/>
                  </a:lnTo>
                  <a:lnTo>
                    <a:pt x="269598" y="215502"/>
                  </a:lnTo>
                  <a:lnTo>
                    <a:pt x="269598" y="161627"/>
                  </a:lnTo>
                  <a:lnTo>
                    <a:pt x="0" y="161627"/>
                  </a:lnTo>
                  <a:lnTo>
                    <a:pt x="0" y="5387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22314" y="2173387"/>
              <a:ext cx="0" cy="582295"/>
            </a:xfrm>
            <a:custGeom>
              <a:avLst/>
              <a:gdLst/>
              <a:ahLst/>
              <a:cxnLst/>
              <a:rect l="l" t="t" r="r" b="b"/>
              <a:pathLst>
                <a:path h="582294">
                  <a:moveTo>
                    <a:pt x="0" y="0"/>
                  </a:moveTo>
                  <a:lnTo>
                    <a:pt x="0" y="581961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11602" y="2744637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90" h="29844">
                  <a:moveTo>
                    <a:pt x="10711" y="29430"/>
                  </a:moveTo>
                  <a:lnTo>
                    <a:pt x="0" y="0"/>
                  </a:lnTo>
                  <a:lnTo>
                    <a:pt x="10711" y="10711"/>
                  </a:lnTo>
                  <a:lnTo>
                    <a:pt x="21423" y="0"/>
                  </a:lnTo>
                  <a:lnTo>
                    <a:pt x="10711" y="294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11602" y="2744637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90" h="29844">
                  <a:moveTo>
                    <a:pt x="10711" y="10711"/>
                  </a:moveTo>
                  <a:lnTo>
                    <a:pt x="0" y="0"/>
                  </a:lnTo>
                  <a:lnTo>
                    <a:pt x="10711" y="29430"/>
                  </a:lnTo>
                  <a:lnTo>
                    <a:pt x="21423" y="0"/>
                  </a:lnTo>
                  <a:lnTo>
                    <a:pt x="10711" y="1071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70483" y="3176161"/>
              <a:ext cx="809625" cy="369570"/>
            </a:xfrm>
            <a:custGeom>
              <a:avLst/>
              <a:gdLst/>
              <a:ahLst/>
              <a:cxnLst/>
              <a:rect l="l" t="t" r="r" b="b"/>
              <a:pathLst>
                <a:path w="809625" h="369570">
                  <a:moveTo>
                    <a:pt x="0" y="0"/>
                  </a:moveTo>
                  <a:lnTo>
                    <a:pt x="809624" y="0"/>
                  </a:lnTo>
                  <a:lnTo>
                    <a:pt x="809624" y="369331"/>
                  </a:lnTo>
                  <a:lnTo>
                    <a:pt x="0" y="369331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748257" y="2699342"/>
            <a:ext cx="1211009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5723" marR="143447">
              <a:spcBef>
                <a:spcPts val="90"/>
              </a:spcBef>
            </a:pPr>
            <a:r>
              <a:rPr sz="1620" spc="-5" dirty="0">
                <a:latin typeface="Arial MT"/>
                <a:cs typeface="Arial MT"/>
              </a:rPr>
              <a:t>Located in </a:t>
            </a:r>
            <a:r>
              <a:rPr sz="1620" spc="-441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US/China?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42065" y="2873176"/>
            <a:ext cx="705803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5723">
              <a:spcBef>
                <a:spcPts val="90"/>
              </a:spcBef>
            </a:pPr>
            <a:r>
              <a:rPr sz="1620" spc="-5" dirty="0">
                <a:latin typeface="Arial MT"/>
                <a:cs typeface="Arial MT"/>
              </a:rPr>
              <a:t>free?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29506" y="2732540"/>
            <a:ext cx="729806" cy="275268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25718" rIns="0" bIns="0" rtlCol="0">
            <a:spAutoFit/>
          </a:bodyPr>
          <a:lstStyle/>
          <a:p>
            <a:pPr marL="77153">
              <a:spcBef>
                <a:spcPts val="203"/>
              </a:spcBef>
            </a:pPr>
            <a:r>
              <a:rPr sz="1620" spc="-5" dirty="0">
                <a:latin typeface="Arial MT"/>
                <a:cs typeface="Arial MT"/>
              </a:rPr>
              <a:t>price?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77565" y="3117160"/>
            <a:ext cx="1532192" cy="275268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25718" rIns="0" bIns="0" rtlCol="0">
            <a:spAutoFit/>
          </a:bodyPr>
          <a:lstStyle/>
          <a:p>
            <a:pPr marL="77153">
              <a:spcBef>
                <a:spcPts val="203"/>
              </a:spcBef>
            </a:pPr>
            <a:r>
              <a:rPr sz="1620" dirty="0">
                <a:latin typeface="Arial MT"/>
                <a:cs typeface="Arial MT"/>
              </a:rPr>
              <a:t>redistribution?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989284" y="3025463"/>
            <a:ext cx="1421321" cy="831533"/>
          </a:xfrm>
          <a:custGeom>
            <a:avLst/>
            <a:gdLst/>
            <a:ahLst/>
            <a:cxnLst/>
            <a:rect l="l" t="t" r="r" b="b"/>
            <a:pathLst>
              <a:path w="1579245" h="923925">
                <a:moveTo>
                  <a:pt x="0" y="0"/>
                </a:moveTo>
                <a:lnTo>
                  <a:pt x="1578899" y="0"/>
                </a:lnTo>
                <a:lnTo>
                  <a:pt x="1578899" y="923399"/>
                </a:lnTo>
                <a:lnTo>
                  <a:pt x="0" y="9233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566969" y="1761023"/>
            <a:ext cx="6396228" cy="1159002"/>
            <a:chOff x="121966" y="1956692"/>
            <a:chExt cx="7106920" cy="1287780"/>
          </a:xfrm>
        </p:grpSpPr>
        <p:sp>
          <p:nvSpPr>
            <p:cNvPr id="46" name="object 46"/>
            <p:cNvSpPr/>
            <p:nvPr/>
          </p:nvSpPr>
          <p:spPr>
            <a:xfrm>
              <a:off x="5588323" y="2281733"/>
              <a:ext cx="0" cy="939165"/>
            </a:xfrm>
            <a:custGeom>
              <a:avLst/>
              <a:gdLst/>
              <a:ahLst/>
              <a:cxnLst/>
              <a:rect l="l" t="t" r="r" b="b"/>
              <a:pathLst>
                <a:path h="939164">
                  <a:moveTo>
                    <a:pt x="0" y="0"/>
                  </a:moveTo>
                  <a:lnTo>
                    <a:pt x="0" y="93890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577611" y="3209929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10711" y="29430"/>
                  </a:moveTo>
                  <a:lnTo>
                    <a:pt x="0" y="0"/>
                  </a:lnTo>
                  <a:lnTo>
                    <a:pt x="10711" y="10711"/>
                  </a:lnTo>
                  <a:lnTo>
                    <a:pt x="21423" y="0"/>
                  </a:lnTo>
                  <a:lnTo>
                    <a:pt x="10711" y="294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577611" y="3209929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10711" y="10711"/>
                  </a:moveTo>
                  <a:lnTo>
                    <a:pt x="0" y="0"/>
                  </a:lnTo>
                  <a:lnTo>
                    <a:pt x="10711" y="29430"/>
                  </a:lnTo>
                  <a:lnTo>
                    <a:pt x="21423" y="0"/>
                  </a:lnTo>
                  <a:lnTo>
                    <a:pt x="10711" y="1071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13061" y="2028861"/>
              <a:ext cx="0" cy="939165"/>
            </a:xfrm>
            <a:custGeom>
              <a:avLst/>
              <a:gdLst/>
              <a:ahLst/>
              <a:cxnLst/>
              <a:rect l="l" t="t" r="r" b="b"/>
              <a:pathLst>
                <a:path h="939164">
                  <a:moveTo>
                    <a:pt x="0" y="0"/>
                  </a:moveTo>
                  <a:lnTo>
                    <a:pt x="0" y="93905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202349" y="2957207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90" h="29844">
                  <a:moveTo>
                    <a:pt x="10711" y="29429"/>
                  </a:moveTo>
                  <a:lnTo>
                    <a:pt x="0" y="0"/>
                  </a:lnTo>
                  <a:lnTo>
                    <a:pt x="10711" y="10711"/>
                  </a:lnTo>
                  <a:lnTo>
                    <a:pt x="21423" y="0"/>
                  </a:lnTo>
                  <a:lnTo>
                    <a:pt x="10711" y="294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202349" y="2957207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90" h="29844">
                  <a:moveTo>
                    <a:pt x="10711" y="10711"/>
                  </a:moveTo>
                  <a:lnTo>
                    <a:pt x="0" y="0"/>
                  </a:lnTo>
                  <a:lnTo>
                    <a:pt x="10711" y="29429"/>
                  </a:lnTo>
                  <a:lnTo>
                    <a:pt x="21423" y="0"/>
                  </a:lnTo>
                  <a:lnTo>
                    <a:pt x="10711" y="1071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76230" y="1956692"/>
              <a:ext cx="0" cy="940435"/>
            </a:xfrm>
            <a:custGeom>
              <a:avLst/>
              <a:gdLst/>
              <a:ahLst/>
              <a:cxnLst/>
              <a:rect l="l" t="t" r="r" b="b"/>
              <a:pathLst>
                <a:path h="940435">
                  <a:moveTo>
                    <a:pt x="0" y="0"/>
                  </a:moveTo>
                  <a:lnTo>
                    <a:pt x="0" y="940097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65518" y="2886079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10711" y="29430"/>
                  </a:moveTo>
                  <a:lnTo>
                    <a:pt x="0" y="0"/>
                  </a:lnTo>
                  <a:lnTo>
                    <a:pt x="10711" y="10711"/>
                  </a:lnTo>
                  <a:lnTo>
                    <a:pt x="21423" y="0"/>
                  </a:lnTo>
                  <a:lnTo>
                    <a:pt x="10711" y="294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65518" y="2886079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10711" y="10711"/>
                  </a:moveTo>
                  <a:lnTo>
                    <a:pt x="0" y="0"/>
                  </a:lnTo>
                  <a:lnTo>
                    <a:pt x="10711" y="29430"/>
                  </a:lnTo>
                  <a:lnTo>
                    <a:pt x="21423" y="0"/>
                  </a:lnTo>
                  <a:lnTo>
                    <a:pt x="10711" y="1071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780830" y="2118617"/>
              <a:ext cx="0" cy="940435"/>
            </a:xfrm>
            <a:custGeom>
              <a:avLst/>
              <a:gdLst/>
              <a:ahLst/>
              <a:cxnLst/>
              <a:rect l="l" t="t" r="r" b="b"/>
              <a:pathLst>
                <a:path h="940435">
                  <a:moveTo>
                    <a:pt x="0" y="0"/>
                  </a:moveTo>
                  <a:lnTo>
                    <a:pt x="0" y="940097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770118" y="3048004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10711" y="29430"/>
                  </a:moveTo>
                  <a:lnTo>
                    <a:pt x="0" y="0"/>
                  </a:lnTo>
                  <a:lnTo>
                    <a:pt x="10711" y="10711"/>
                  </a:lnTo>
                  <a:lnTo>
                    <a:pt x="21423" y="0"/>
                  </a:lnTo>
                  <a:lnTo>
                    <a:pt x="10711" y="294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70118" y="3048004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10711" y="10711"/>
                  </a:moveTo>
                  <a:lnTo>
                    <a:pt x="0" y="0"/>
                  </a:lnTo>
                  <a:lnTo>
                    <a:pt x="10711" y="29430"/>
                  </a:lnTo>
                  <a:lnTo>
                    <a:pt x="21423" y="0"/>
                  </a:lnTo>
                  <a:lnTo>
                    <a:pt x="10711" y="1071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34666" y="2787991"/>
              <a:ext cx="1835785" cy="369570"/>
            </a:xfrm>
            <a:custGeom>
              <a:avLst/>
              <a:gdLst/>
              <a:ahLst/>
              <a:cxnLst/>
              <a:rect l="l" t="t" r="r" b="b"/>
              <a:pathLst>
                <a:path w="1835785" h="369569">
                  <a:moveTo>
                    <a:pt x="0" y="0"/>
                  </a:moveTo>
                  <a:lnTo>
                    <a:pt x="1835346" y="0"/>
                  </a:lnTo>
                  <a:lnTo>
                    <a:pt x="1835346" y="369331"/>
                  </a:lnTo>
                  <a:lnTo>
                    <a:pt x="0" y="369331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055008" y="3040093"/>
            <a:ext cx="1143572" cy="7594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620" spc="-5" dirty="0">
                <a:latin typeface="Arial MT"/>
                <a:cs typeface="Arial MT"/>
              </a:rPr>
              <a:t>Service </a:t>
            </a:r>
            <a:r>
              <a:rPr sz="1620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quality? </a:t>
            </a:r>
            <a:r>
              <a:rPr sz="1620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data</a:t>
            </a:r>
            <a:r>
              <a:rPr sz="1620" spc="-81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lineage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89829" y="1970679"/>
            <a:ext cx="6355080" cy="8286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14513">
              <a:spcBef>
                <a:spcPts val="90"/>
              </a:spcBef>
            </a:pPr>
            <a:r>
              <a:rPr sz="1620" spc="-5" dirty="0">
                <a:solidFill>
                  <a:srgbClr val="002060"/>
                </a:solidFill>
                <a:latin typeface="Arial MT"/>
                <a:cs typeface="Arial MT"/>
              </a:rPr>
              <a:t>Ingestion,</a:t>
            </a:r>
            <a:r>
              <a:rPr sz="1620" spc="-18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1620" spc="-5" dirty="0">
                <a:solidFill>
                  <a:srgbClr val="002060"/>
                </a:solidFill>
                <a:latin typeface="Arial MT"/>
                <a:cs typeface="Arial MT"/>
              </a:rPr>
              <a:t>Querying,</a:t>
            </a:r>
            <a:r>
              <a:rPr sz="1620" spc="413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1620" spc="-5" dirty="0">
                <a:solidFill>
                  <a:srgbClr val="002060"/>
                </a:solidFill>
                <a:latin typeface="Arial MT"/>
                <a:cs typeface="Arial MT"/>
              </a:rPr>
              <a:t>Data</a:t>
            </a:r>
            <a:r>
              <a:rPr sz="1620" spc="-14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1620" dirty="0">
                <a:solidFill>
                  <a:srgbClr val="002060"/>
                </a:solidFill>
                <a:latin typeface="Arial MT"/>
                <a:cs typeface="Arial MT"/>
              </a:rPr>
              <a:t>Management,</a:t>
            </a:r>
            <a:r>
              <a:rPr sz="1620" spc="-18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1620" spc="-5" dirty="0">
                <a:solidFill>
                  <a:srgbClr val="002060"/>
                </a:solidFill>
                <a:latin typeface="Arial MT"/>
                <a:cs typeface="Arial MT"/>
              </a:rPr>
              <a:t>etc.</a:t>
            </a:r>
            <a:endParaRPr sz="1620">
              <a:latin typeface="Arial MT"/>
              <a:cs typeface="Arial MT"/>
            </a:endParaRPr>
          </a:p>
          <a:p>
            <a:pPr>
              <a:spcBef>
                <a:spcPts val="27"/>
              </a:spcBef>
            </a:pPr>
            <a:endParaRPr sz="2070">
              <a:latin typeface="Arial MT"/>
              <a:cs typeface="Arial MT"/>
            </a:endParaRPr>
          </a:p>
          <a:p>
            <a:pPr marL="65723">
              <a:spcBef>
                <a:spcPts val="5"/>
              </a:spcBef>
            </a:pPr>
            <a:r>
              <a:rPr sz="1620" spc="-5" dirty="0">
                <a:latin typeface="Arial MT"/>
                <a:cs typeface="Arial MT"/>
              </a:rPr>
              <a:t>Quality</a:t>
            </a:r>
            <a:r>
              <a:rPr sz="1620" spc="-32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of</a:t>
            </a:r>
            <a:r>
              <a:rPr sz="1620" spc="-32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data?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424164" y="2782222"/>
            <a:ext cx="1118997" cy="524567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25718" rIns="0" bIns="0" rtlCol="0">
            <a:spAutoFit/>
          </a:bodyPr>
          <a:lstStyle/>
          <a:p>
            <a:pPr marL="77153" marR="177165">
              <a:spcBef>
                <a:spcPts val="203"/>
              </a:spcBef>
            </a:pPr>
            <a:r>
              <a:rPr sz="1620" spc="-5" dirty="0">
                <a:latin typeface="Arial MT"/>
                <a:cs typeface="Arial MT"/>
              </a:rPr>
              <a:t>Privacy </a:t>
            </a:r>
            <a:r>
              <a:rPr sz="1620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problem?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06851" y="3593369"/>
            <a:ext cx="4741164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6322" indent="-275463">
              <a:spcBef>
                <a:spcPts val="90"/>
              </a:spcBef>
              <a:buFont typeface="Lucida Sans Unicode"/>
              <a:buChar char="▪"/>
              <a:tabLst>
                <a:tab pos="286322" algn="l"/>
                <a:tab pos="286893" algn="l"/>
              </a:tabLst>
            </a:pPr>
            <a:r>
              <a:rPr spc="-5" dirty="0">
                <a:latin typeface="Arial MT"/>
                <a:cs typeface="Arial MT"/>
              </a:rPr>
              <a:t>Ethical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consequences?</a:t>
            </a:r>
            <a:endParaRPr>
              <a:latin typeface="Arial MT"/>
              <a:cs typeface="Arial MT"/>
            </a:endParaRPr>
          </a:p>
          <a:p>
            <a:pPr marL="286322" indent="-275463">
              <a:buFont typeface="Lucida Sans Unicode"/>
              <a:buChar char="▪"/>
              <a:tabLst>
                <a:tab pos="286322" algn="l"/>
                <a:tab pos="286893" algn="l"/>
              </a:tabLst>
            </a:pPr>
            <a:r>
              <a:rPr spc="-5" dirty="0">
                <a:latin typeface="Arial MT"/>
                <a:cs typeface="Arial MT"/>
              </a:rPr>
              <a:t>Regulation-compliant</a:t>
            </a:r>
            <a:r>
              <a:rPr spc="-27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platforms:</a:t>
            </a:r>
            <a:r>
              <a:rPr spc="-27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e.g.,</a:t>
            </a:r>
            <a:r>
              <a:rPr spc="-27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GDPR</a:t>
            </a:r>
            <a:endParaRPr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575157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Fast/slow</a:t>
            </a:r>
            <a:r>
              <a:rPr spc="-45" dirty="0"/>
              <a:t> </a:t>
            </a:r>
            <a:r>
              <a:rPr spc="-5" dirty="0"/>
              <a:t>reliable</a:t>
            </a:r>
            <a:r>
              <a:rPr spc="-41" dirty="0"/>
              <a:t> </a:t>
            </a:r>
            <a:r>
              <a:rPr spc="-5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6609" y="752943"/>
            <a:ext cx="7188327" cy="5932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  <a:tabLst>
                <a:tab pos="4189095" algn="l"/>
              </a:tabLst>
            </a:pPr>
            <a:r>
              <a:rPr sz="1890" b="1" spc="-5" dirty="0">
                <a:latin typeface="Arial"/>
                <a:cs typeface="Arial"/>
              </a:rPr>
              <a:t>big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 but not near real-time,</a:t>
            </a:r>
            <a:r>
              <a:rPr sz="1890" b="1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e.g.,	</a:t>
            </a:r>
            <a:r>
              <a:rPr sz="1890" b="1" dirty="0">
                <a:latin typeface="Arial"/>
                <a:cs typeface="Arial"/>
              </a:rPr>
              <a:t>take</a:t>
            </a:r>
            <a:r>
              <a:rPr sz="1890" b="1" spc="-45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customer</a:t>
            </a:r>
            <a:r>
              <a:rPr sz="1890" b="1" spc="-45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transaction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files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from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companies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and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move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to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centers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for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analytics</a:t>
            </a:r>
            <a:endParaRPr sz="189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96702" y="1576286"/>
            <a:ext cx="1074992" cy="583502"/>
          </a:xfrm>
          <a:custGeom>
            <a:avLst/>
            <a:gdLst/>
            <a:ahLst/>
            <a:cxnLst/>
            <a:rect l="l" t="t" r="r" b="b"/>
            <a:pathLst>
              <a:path w="1194435" h="648335">
                <a:moveTo>
                  <a:pt x="0" y="0"/>
                </a:moveTo>
                <a:lnTo>
                  <a:pt x="1193990" y="0"/>
                </a:lnTo>
                <a:lnTo>
                  <a:pt x="1193990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96702" y="1576286"/>
            <a:ext cx="1074992" cy="535531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36576" rIns="0" bIns="0" rtlCol="0">
            <a:spAutoFit/>
          </a:bodyPr>
          <a:lstStyle/>
          <a:p>
            <a:pPr marL="290894" marR="286322" indent="28575">
              <a:spcBef>
                <a:spcPts val="288"/>
              </a:spcBef>
            </a:pPr>
            <a:r>
              <a:rPr sz="1620" spc="-5" dirty="0">
                <a:latin typeface="Arial MT"/>
                <a:cs typeface="Arial MT"/>
              </a:rPr>
              <a:t>Data </a:t>
            </a:r>
            <a:r>
              <a:rPr sz="1620" spc="-441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Store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1465" y="1575149"/>
            <a:ext cx="873252" cy="583502"/>
          </a:xfrm>
          <a:custGeom>
            <a:avLst/>
            <a:gdLst/>
            <a:ahLst/>
            <a:cxnLst/>
            <a:rect l="l" t="t" r="r" b="b"/>
            <a:pathLst>
              <a:path w="970280" h="648335">
                <a:moveTo>
                  <a:pt x="0" y="0"/>
                </a:moveTo>
                <a:lnTo>
                  <a:pt x="969810" y="0"/>
                </a:lnTo>
                <a:lnTo>
                  <a:pt x="969810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9157" y="1600233"/>
            <a:ext cx="1025271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653225" algn="l"/>
                <a:tab pos="1013270" algn="l"/>
              </a:tabLst>
            </a:pPr>
            <a:r>
              <a:rPr sz="1620" spc="-5" dirty="0">
                <a:latin typeface="Arial MT"/>
                <a:cs typeface="Arial MT"/>
              </a:rPr>
              <a:t>Data	</a:t>
            </a:r>
            <a:r>
              <a:rPr sz="1620" u="heavy" spc="-5" dirty="0">
                <a:uFill>
                  <a:solidFill>
                    <a:srgbClr val="FF671F"/>
                  </a:solidFill>
                </a:uFill>
                <a:latin typeface="Times New Roman"/>
                <a:cs typeface="Times New Roman"/>
              </a:rPr>
              <a:t> 	</a:t>
            </a:r>
            <a:endParaRPr sz="162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7690" y="1847121"/>
            <a:ext cx="640652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latin typeface="Arial MT"/>
                <a:cs typeface="Arial MT"/>
              </a:rPr>
              <a:t>source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39350" y="1574638"/>
            <a:ext cx="1032701" cy="583502"/>
          </a:xfrm>
          <a:custGeom>
            <a:avLst/>
            <a:gdLst/>
            <a:ahLst/>
            <a:cxnLst/>
            <a:rect l="l" t="t" r="r" b="b"/>
            <a:pathLst>
              <a:path w="1147445" h="648335">
                <a:moveTo>
                  <a:pt x="0" y="0"/>
                </a:moveTo>
                <a:lnTo>
                  <a:pt x="1146995" y="0"/>
                </a:lnTo>
                <a:lnTo>
                  <a:pt x="1146995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39350" y="1574638"/>
            <a:ext cx="1032701" cy="410882"/>
          </a:xfrm>
          <a:prstGeom prst="rect">
            <a:avLst/>
          </a:prstGeom>
          <a:ln w="25399">
            <a:solidFill>
              <a:srgbClr val="005EB8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 marL="98298">
              <a:spcBef>
                <a:spcPts val="1260"/>
              </a:spcBef>
            </a:pPr>
            <a:r>
              <a:rPr sz="1620" spc="-5" dirty="0">
                <a:latin typeface="Arial MT"/>
                <a:cs typeface="Arial MT"/>
              </a:rPr>
              <a:t>Ingestion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31887" y="1574638"/>
            <a:ext cx="1843659" cy="583502"/>
          </a:xfrm>
          <a:custGeom>
            <a:avLst/>
            <a:gdLst/>
            <a:ahLst/>
            <a:cxnLst/>
            <a:rect l="l" t="t" r="r" b="b"/>
            <a:pathLst>
              <a:path w="2048509" h="648335">
                <a:moveTo>
                  <a:pt x="0" y="0"/>
                </a:moveTo>
                <a:lnTo>
                  <a:pt x="2048397" y="0"/>
                </a:lnTo>
                <a:lnTo>
                  <a:pt x="2048397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41729" y="1723166"/>
            <a:ext cx="1619630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5" dirty="0">
                <a:latin typeface="Arial MT"/>
                <a:cs typeface="Arial MT"/>
              </a:rPr>
              <a:t>Batch</a:t>
            </a:r>
            <a:r>
              <a:rPr sz="1620" spc="-77" dirty="0">
                <a:latin typeface="Arial MT"/>
                <a:cs typeface="Arial MT"/>
              </a:rPr>
              <a:t> </a:t>
            </a:r>
            <a:r>
              <a:rPr sz="1620" spc="-5" dirty="0">
                <a:latin typeface="Arial MT"/>
                <a:cs typeface="Arial MT"/>
              </a:rPr>
              <a:t>Processing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66865" y="1553877"/>
            <a:ext cx="7024878" cy="606362"/>
            <a:chOff x="1121850" y="1726530"/>
            <a:chExt cx="7805420" cy="67373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1850" y="2040901"/>
              <a:ext cx="577600" cy="106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1596" y="2019140"/>
              <a:ext cx="140720" cy="1093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1130" y="2040933"/>
              <a:ext cx="577600" cy="107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93829" y="2073633"/>
              <a:ext cx="320040" cy="1270"/>
            </a:xfrm>
            <a:custGeom>
              <a:avLst/>
              <a:gdLst/>
              <a:ahLst/>
              <a:cxnLst/>
              <a:rect l="l" t="t" r="r" b="b"/>
              <a:pathLst>
                <a:path w="320039" h="1269">
                  <a:moveTo>
                    <a:pt x="0" y="0"/>
                  </a:moveTo>
                  <a:lnTo>
                    <a:pt x="319801" y="1219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0771" y="2020198"/>
              <a:ext cx="140826" cy="1093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7405" y="2040966"/>
              <a:ext cx="617200" cy="107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460104" y="2074202"/>
              <a:ext cx="359410" cy="1270"/>
            </a:xfrm>
            <a:custGeom>
              <a:avLst/>
              <a:gdLst/>
              <a:ahLst/>
              <a:cxnLst/>
              <a:rect l="l" t="t" r="r" b="b"/>
              <a:pathLst>
                <a:path w="359410" h="1269">
                  <a:moveTo>
                    <a:pt x="0" y="1263"/>
                  </a:moveTo>
                  <a:lnTo>
                    <a:pt x="359400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6658" y="2019548"/>
              <a:ext cx="140814" cy="10930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378965" y="1739230"/>
              <a:ext cx="1536065" cy="648335"/>
            </a:xfrm>
            <a:custGeom>
              <a:avLst/>
              <a:gdLst/>
              <a:ahLst/>
              <a:cxnLst/>
              <a:rect l="l" t="t" r="r" b="b"/>
              <a:pathLst>
                <a:path w="1536065" h="648335">
                  <a:moveTo>
                    <a:pt x="0" y="0"/>
                  </a:moveTo>
                  <a:lnTo>
                    <a:pt x="1535494" y="0"/>
                  </a:lnTo>
                  <a:lnTo>
                    <a:pt x="1535494" y="648071"/>
                  </a:lnTo>
                  <a:lnTo>
                    <a:pt x="0" y="648071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02130" y="1713836"/>
            <a:ext cx="1173861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9" dirty="0">
                <a:latin typeface="Arial MT"/>
                <a:cs typeface="Arial MT"/>
              </a:rPr>
              <a:t>Visualization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728015" y="1811659"/>
            <a:ext cx="418338" cy="120587"/>
            <a:chOff x="6967572" y="2012954"/>
            <a:chExt cx="464820" cy="133985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67572" y="2030433"/>
              <a:ext cx="464200" cy="1159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07572" y="2012954"/>
              <a:ext cx="347083" cy="109272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753479" y="3439208"/>
            <a:ext cx="2795207" cy="584073"/>
          </a:xfrm>
          <a:custGeom>
            <a:avLst/>
            <a:gdLst/>
            <a:ahLst/>
            <a:cxnLst/>
            <a:rect l="l" t="t" r="r" b="b"/>
            <a:pathLst>
              <a:path w="3105785" h="648970">
                <a:moveTo>
                  <a:pt x="0" y="567"/>
                </a:moveTo>
                <a:lnTo>
                  <a:pt x="1296143" y="567"/>
                </a:lnTo>
                <a:lnTo>
                  <a:pt x="1296143" y="648639"/>
                </a:lnTo>
                <a:lnTo>
                  <a:pt x="0" y="648639"/>
                </a:lnTo>
                <a:lnTo>
                  <a:pt x="0" y="567"/>
                </a:lnTo>
                <a:close/>
              </a:path>
              <a:path w="3105785" h="648970">
                <a:moveTo>
                  <a:pt x="1958185" y="0"/>
                </a:moveTo>
                <a:lnTo>
                  <a:pt x="3105181" y="0"/>
                </a:lnTo>
                <a:lnTo>
                  <a:pt x="3105181" y="648071"/>
                </a:lnTo>
                <a:lnTo>
                  <a:pt x="1958185" y="648071"/>
                </a:lnTo>
                <a:lnTo>
                  <a:pt x="1958185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16554" y="3464804"/>
            <a:ext cx="3785045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2870">
              <a:spcBef>
                <a:spcPts val="90"/>
              </a:spcBef>
              <a:tabLst>
                <a:tab pos="891540" algn="l"/>
                <a:tab pos="1422464" algn="l"/>
                <a:tab pos="1597914" algn="l"/>
                <a:tab pos="3773043" algn="l"/>
              </a:tabLst>
            </a:pPr>
            <a:r>
              <a:rPr sz="1620" spc="-5" dirty="0">
                <a:latin typeface="Arial MT"/>
                <a:cs typeface="Arial MT"/>
              </a:rPr>
              <a:t>Data	</a:t>
            </a:r>
            <a:r>
              <a:rPr sz="1620" u="heavy" spc="-5" dirty="0">
                <a:uFill>
                  <a:solidFill>
                    <a:srgbClr val="FF671F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620" spc="-5" dirty="0">
                <a:latin typeface="Times New Roman"/>
                <a:cs typeface="Times New Roman"/>
              </a:rPr>
              <a:t>	</a:t>
            </a:r>
            <a:r>
              <a:rPr sz="1620" dirty="0">
                <a:latin typeface="Arial MT"/>
                <a:cs typeface="Arial MT"/>
              </a:rPr>
              <a:t>Message </a:t>
            </a:r>
            <a:r>
              <a:rPr sz="1620" spc="-216" dirty="0">
                <a:latin typeface="Arial MT"/>
                <a:cs typeface="Arial MT"/>
              </a:rPr>
              <a:t> </a:t>
            </a:r>
            <a:r>
              <a:rPr sz="1620" u="heavy" dirty="0">
                <a:uFill>
                  <a:solidFill>
                    <a:srgbClr val="FF671F"/>
                  </a:solidFill>
                </a:uFill>
                <a:latin typeface="Times New Roman"/>
                <a:cs typeface="Times New Roman"/>
              </a:rPr>
              <a:t> 	</a:t>
            </a:r>
            <a:endParaRPr sz="1620">
              <a:latin typeface="Times New Roman"/>
              <a:cs typeface="Times New Roman"/>
            </a:endParaRPr>
          </a:p>
          <a:p>
            <a:pPr marL="11430">
              <a:tabLst>
                <a:tab pos="1712214" algn="l"/>
              </a:tabLst>
            </a:pPr>
            <a:r>
              <a:rPr sz="1620" dirty="0">
                <a:latin typeface="Arial MT"/>
                <a:cs typeface="Arial MT"/>
              </a:rPr>
              <a:t>source	</a:t>
            </a:r>
            <a:r>
              <a:rPr sz="1620" spc="-5" dirty="0">
                <a:latin typeface="Arial MT"/>
                <a:cs typeface="Arial MT"/>
              </a:rPr>
              <a:t>Broker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866546" y="3442172"/>
            <a:ext cx="1245299" cy="583502"/>
          </a:xfrm>
          <a:custGeom>
            <a:avLst/>
            <a:gdLst/>
            <a:ahLst/>
            <a:cxnLst/>
            <a:rect l="l" t="t" r="r" b="b"/>
            <a:pathLst>
              <a:path w="1383664" h="648335">
                <a:moveTo>
                  <a:pt x="0" y="0"/>
                </a:moveTo>
                <a:lnTo>
                  <a:pt x="1383634" y="0"/>
                </a:lnTo>
                <a:lnTo>
                  <a:pt x="1383634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968877" y="3467257"/>
            <a:ext cx="1859660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1435">
              <a:spcBef>
                <a:spcPts val="90"/>
              </a:spcBef>
              <a:tabLst>
                <a:tab pos="1142429" algn="l"/>
                <a:tab pos="1847660" algn="l"/>
              </a:tabLst>
            </a:pPr>
            <a:r>
              <a:rPr sz="1620" spc="-5" dirty="0">
                <a:latin typeface="Arial MT"/>
                <a:cs typeface="Arial MT"/>
              </a:rPr>
              <a:t>Streaming	</a:t>
            </a:r>
            <a:r>
              <a:rPr sz="1620" u="heavy" spc="-5" dirty="0">
                <a:uFill>
                  <a:solidFill>
                    <a:srgbClr val="FF671F"/>
                  </a:solidFill>
                </a:uFill>
                <a:latin typeface="Times New Roman"/>
                <a:cs typeface="Times New Roman"/>
              </a:rPr>
              <a:t> 	</a:t>
            </a:r>
            <a:endParaRPr sz="1620">
              <a:latin typeface="Times New Roman"/>
              <a:cs typeface="Times New Roman"/>
            </a:endParaRPr>
          </a:p>
          <a:p>
            <a:pPr marL="11430"/>
            <a:r>
              <a:rPr sz="1620" spc="-5" dirty="0">
                <a:latin typeface="Arial MT"/>
                <a:cs typeface="Arial MT"/>
              </a:rPr>
              <a:t>Processing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872580" y="3430742"/>
            <a:ext cx="6425375" cy="606362"/>
            <a:chOff x="1572644" y="3811935"/>
            <a:chExt cx="7139305" cy="673735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2644" y="4112646"/>
              <a:ext cx="767500" cy="1060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22305" y="4090829"/>
              <a:ext cx="140705" cy="10930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81682" y="4112678"/>
              <a:ext cx="1570300" cy="1087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34087" y="4093680"/>
              <a:ext cx="140761" cy="10930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163682" y="3824635"/>
              <a:ext cx="1536065" cy="648335"/>
            </a:xfrm>
            <a:custGeom>
              <a:avLst/>
              <a:gdLst/>
              <a:ahLst/>
              <a:cxnLst/>
              <a:rect l="l" t="t" r="r" b="b"/>
              <a:pathLst>
                <a:path w="1536065" h="648335">
                  <a:moveTo>
                    <a:pt x="0" y="0"/>
                  </a:moveTo>
                  <a:lnTo>
                    <a:pt x="1535494" y="0"/>
                  </a:lnTo>
                  <a:lnTo>
                    <a:pt x="1535494" y="648071"/>
                  </a:lnTo>
                  <a:lnTo>
                    <a:pt x="0" y="648071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008377" y="3590702"/>
            <a:ext cx="1173861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9" dirty="0">
                <a:latin typeface="Arial MT"/>
                <a:cs typeface="Arial MT"/>
              </a:rPr>
              <a:t>Visualization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064387" y="3684616"/>
            <a:ext cx="888111" cy="114872"/>
            <a:chOff x="6230208" y="4094017"/>
            <a:chExt cx="986790" cy="127635"/>
          </a:xfrm>
        </p:grpSpPr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30208" y="4115972"/>
              <a:ext cx="986200" cy="1054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98607" y="4094017"/>
              <a:ext cx="140668" cy="109307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97815" y="2927173"/>
            <a:ext cx="7172896" cy="302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890" b="1" dirty="0">
                <a:latin typeface="Arial"/>
                <a:cs typeface="Arial"/>
              </a:rPr>
              <a:t>fast,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small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IoT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in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near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real-time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flows,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e.g.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position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of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cars</a:t>
            </a:r>
            <a:endParaRPr sz="189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7" y="151460"/>
            <a:ext cx="613791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Software</a:t>
            </a:r>
            <a:r>
              <a:rPr spc="-36" dirty="0"/>
              <a:t> </a:t>
            </a:r>
            <a:r>
              <a:rPr spc="-5" dirty="0"/>
              <a:t>services</a:t>
            </a:r>
            <a:r>
              <a:rPr spc="-27" dirty="0"/>
              <a:t> </a:t>
            </a:r>
            <a:r>
              <a:rPr spc="-9" dirty="0"/>
              <a:t>design</a:t>
            </a:r>
            <a:r>
              <a:rPr spc="-32" dirty="0"/>
              <a:t> </a:t>
            </a:r>
            <a:r>
              <a:rPr spc="-5" dirty="0"/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3141" y="927338"/>
            <a:ext cx="7084313" cy="29561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434">
              <a:spcBef>
                <a:spcPts val="90"/>
              </a:spcBef>
            </a:pPr>
            <a:r>
              <a:rPr sz="2520" b="1" spc="-5" dirty="0">
                <a:latin typeface="Arial"/>
                <a:cs typeface="Arial"/>
              </a:rPr>
              <a:t>For</a:t>
            </a:r>
            <a:r>
              <a:rPr sz="2520" b="1" spc="-32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dealing</a:t>
            </a:r>
            <a:r>
              <a:rPr sz="2520" b="1" spc="-27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with</a:t>
            </a:r>
            <a:r>
              <a:rPr sz="2520" b="1" spc="-27" dirty="0">
                <a:latin typeface="Arial"/>
                <a:cs typeface="Arial"/>
              </a:rPr>
              <a:t> </a:t>
            </a:r>
            <a:r>
              <a:rPr sz="2520" b="1" spc="-5" dirty="0">
                <a:latin typeface="Arial"/>
                <a:cs typeface="Arial"/>
              </a:rPr>
              <a:t>V*</a:t>
            </a:r>
            <a:endParaRPr sz="2520"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655">
              <a:latin typeface="Arial"/>
              <a:cs typeface="Arial"/>
            </a:endParaRPr>
          </a:p>
          <a:p>
            <a:pPr marL="348044" indent="-337185"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Responsive: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guarantee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quality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of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services</a:t>
            </a:r>
            <a:endParaRPr sz="2160">
              <a:latin typeface="Arial"/>
              <a:cs typeface="Arial"/>
            </a:endParaRPr>
          </a:p>
          <a:p>
            <a:pPr marL="348044" indent="-337185">
              <a:spcBef>
                <a:spcPts val="432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Resilient: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deal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within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failures</a:t>
            </a:r>
            <a:endParaRPr sz="2160">
              <a:latin typeface="Arial"/>
              <a:cs typeface="Arial"/>
            </a:endParaRPr>
          </a:p>
          <a:p>
            <a:pPr marL="348044" marR="211455" indent="-337185">
              <a:spcBef>
                <a:spcPts val="432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Elastic: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deal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with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different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workload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and</a:t>
            </a:r>
            <a:r>
              <a:rPr sz="2160" b="1" spc="-9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quality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of </a:t>
            </a:r>
            <a:r>
              <a:rPr sz="2160" b="1" spc="-590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analytics</a:t>
            </a:r>
            <a:endParaRPr sz="2160">
              <a:latin typeface="Arial"/>
              <a:cs typeface="Arial"/>
            </a:endParaRPr>
          </a:p>
          <a:p>
            <a:pPr marL="348044" marR="4572" indent="-337185">
              <a:spcBef>
                <a:spcPts val="432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Loosely coupling: support </a:t>
            </a:r>
            <a:r>
              <a:rPr sz="2160" b="1" spc="-18" dirty="0">
                <a:latin typeface="Arial"/>
                <a:cs typeface="Arial"/>
              </a:rPr>
              <a:t>reusability, </a:t>
            </a:r>
            <a:r>
              <a:rPr sz="2160" b="1" spc="-5" dirty="0">
                <a:latin typeface="Arial"/>
                <a:cs typeface="Arial"/>
              </a:rPr>
              <a:t>composition, </a:t>
            </a:r>
            <a:r>
              <a:rPr sz="2160" b="1" spc="-590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and</a:t>
            </a:r>
            <a:r>
              <a:rPr sz="2160" b="1" spc="-9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extensibility</a:t>
            </a:r>
            <a:endParaRPr sz="216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8035747" cy="511487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Designs must address various </a:t>
            </a:r>
            <a:r>
              <a:rPr spc="-891" dirty="0"/>
              <a:t> </a:t>
            </a:r>
            <a:r>
              <a:rPr spc="-5" dirty="0"/>
              <a:t>aspects</a:t>
            </a:r>
            <a:r>
              <a:rPr spc="-9" dirty="0"/>
              <a:t> </a:t>
            </a:r>
            <a:r>
              <a:rPr spc="-5" dirty="0"/>
              <a:t>for</a:t>
            </a:r>
            <a:r>
              <a:rPr spc="-9" dirty="0"/>
              <a:t> big</a:t>
            </a:r>
            <a:r>
              <a:rPr spc="-14" dirty="0"/>
              <a:t> </a:t>
            </a:r>
            <a:r>
              <a:rPr spc="-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064" y="1038970"/>
            <a:ext cx="4424553" cy="691279"/>
          </a:xfrm>
          <a:prstGeom prst="rect">
            <a:avLst/>
          </a:prstGeom>
        </p:spPr>
        <p:txBody>
          <a:bodyPr vert="horz" wrap="square" lIns="0" tIns="85154" rIns="0" bIns="0" rtlCol="0">
            <a:spAutoFit/>
          </a:bodyPr>
          <a:lstStyle/>
          <a:p>
            <a:pPr marL="348044" indent="-337185">
              <a:spcBef>
                <a:spcPts val="671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Responsive:</a:t>
            </a:r>
            <a:endParaRPr sz="2160">
              <a:latin typeface="Arial"/>
              <a:cs typeface="Arial"/>
            </a:endParaRPr>
          </a:p>
          <a:p>
            <a:pPr marL="562356" lvl="1" indent="-305753">
              <a:spcBef>
                <a:spcPts val="391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z="1440" spc="-5" dirty="0">
                <a:latin typeface="Georgia"/>
                <a:cs typeface="Georgia"/>
              </a:rPr>
              <a:t>distributed</a:t>
            </a:r>
            <a:r>
              <a:rPr sz="1440" spc="-23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computing,</a:t>
            </a:r>
            <a:r>
              <a:rPr sz="1440" spc="-18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multi</a:t>
            </a:r>
            <a:r>
              <a:rPr sz="1440" spc="-23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layer</a:t>
            </a:r>
            <a:r>
              <a:rPr sz="1440" spc="-18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optimization</a:t>
            </a:r>
            <a:endParaRPr sz="144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2064" y="1762262"/>
            <a:ext cx="1593913" cy="343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8044" indent="-337185">
              <a:spcBef>
                <a:spcPts val="90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Resilient:</a:t>
            </a:r>
            <a:endParaRPr sz="216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862064" y="2040746"/>
            <a:ext cx="7297484" cy="1635769"/>
          </a:xfrm>
          <a:prstGeom prst="rect">
            <a:avLst/>
          </a:prstGeom>
        </p:spPr>
        <p:txBody>
          <a:bodyPr vert="horz" wrap="square" lIns="0" tIns="45149" rIns="0" bIns="0" rtlCol="0">
            <a:spAutoFit/>
          </a:bodyPr>
          <a:lstStyle/>
          <a:p>
            <a:pPr marL="562356" indent="-305753">
              <a:spcBef>
                <a:spcPts val="356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pc="-5" dirty="0"/>
              <a:t>replication,</a:t>
            </a:r>
            <a:r>
              <a:rPr spc="-32" dirty="0"/>
              <a:t> </a:t>
            </a:r>
            <a:r>
              <a:rPr spc="-5" dirty="0"/>
              <a:t>containment,</a:t>
            </a:r>
            <a:r>
              <a:rPr spc="-27" dirty="0"/>
              <a:t> </a:t>
            </a:r>
            <a:r>
              <a:rPr spc="-5" dirty="0"/>
              <a:t>isolation</a:t>
            </a:r>
          </a:p>
          <a:p>
            <a:pPr marL="348044" indent="-337185">
              <a:spcBef>
                <a:spcPts val="405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Elastic:</a:t>
            </a:r>
            <a:endParaRPr sz="2160" dirty="0">
              <a:latin typeface="Arial"/>
              <a:cs typeface="Arial"/>
            </a:endParaRPr>
          </a:p>
          <a:p>
            <a:pPr marL="562356" lvl="1" indent="-305753">
              <a:spcBef>
                <a:spcPts val="387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z="1440" spc="-5" dirty="0">
                <a:latin typeface="Georgia"/>
                <a:cs typeface="Georgia"/>
              </a:rPr>
              <a:t>sharding,</a:t>
            </a:r>
            <a:r>
              <a:rPr sz="1440" spc="-18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replication,</a:t>
            </a:r>
            <a:r>
              <a:rPr sz="1440" spc="-18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load</a:t>
            </a:r>
            <a:r>
              <a:rPr sz="1440" spc="-14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balancing,</a:t>
            </a:r>
            <a:r>
              <a:rPr sz="1440" spc="-18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scale</a:t>
            </a:r>
            <a:r>
              <a:rPr sz="1440" spc="-14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up/out</a:t>
            </a:r>
            <a:endParaRPr sz="1440" dirty="0">
              <a:latin typeface="Georgia"/>
              <a:cs typeface="Georgia"/>
            </a:endParaRPr>
          </a:p>
          <a:p>
            <a:pPr marL="348044" indent="-337185">
              <a:spcBef>
                <a:spcPts val="405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dirty="0">
                <a:latin typeface="Arial"/>
                <a:cs typeface="Arial"/>
              </a:rPr>
              <a:t>Message-driven:</a:t>
            </a:r>
            <a:endParaRPr sz="2160" dirty="0">
              <a:latin typeface="Arial"/>
              <a:cs typeface="Arial"/>
            </a:endParaRPr>
          </a:p>
          <a:p>
            <a:pPr marL="562356" marR="332613" lvl="1" indent="-305181">
              <a:spcBef>
                <a:spcPts val="387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z="1440" spc="-5" dirty="0">
                <a:latin typeface="Georgia"/>
                <a:cs typeface="Georgia"/>
              </a:rPr>
              <a:t>loosely coupling</a:t>
            </a:r>
            <a:r>
              <a:rPr sz="1440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with messages, non-blocking </a:t>
            </a:r>
            <a:r>
              <a:rPr sz="1440" spc="-338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protocols,</a:t>
            </a:r>
            <a:r>
              <a:rPr sz="1440" spc="-9" dirty="0">
                <a:latin typeface="Georgia"/>
                <a:cs typeface="Georgia"/>
              </a:rPr>
              <a:t> </a:t>
            </a:r>
            <a:r>
              <a:rPr sz="1440" spc="-5" dirty="0">
                <a:latin typeface="Georgia"/>
                <a:cs typeface="Georgia"/>
              </a:rPr>
              <a:t>location-independent</a:t>
            </a:r>
            <a:endParaRPr sz="1440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5110" y="1233414"/>
            <a:ext cx="2036826" cy="302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890" b="1" spc="-5" dirty="0">
                <a:latin typeface="Arial"/>
                <a:cs typeface="Arial"/>
              </a:rPr>
              <a:t>Reactive</a:t>
            </a:r>
            <a:r>
              <a:rPr sz="1890" b="1" spc="-7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systems</a:t>
            </a:r>
            <a:endParaRPr sz="189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8498" y="3722100"/>
            <a:ext cx="2658047" cy="1777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080" b="1" spc="-5" dirty="0">
                <a:latin typeface="Arial"/>
                <a:cs typeface="Arial"/>
              </a:rPr>
              <a:t>Source:</a:t>
            </a:r>
            <a:r>
              <a:rPr sz="1080" b="1" spc="14" dirty="0">
                <a:latin typeface="Arial"/>
                <a:cs typeface="Arial"/>
              </a:rPr>
              <a:t> </a:t>
            </a:r>
            <a:r>
              <a:rPr sz="1080" spc="-9" dirty="0">
                <a:latin typeface="Arial MT"/>
                <a:cs typeface="Arial MT"/>
                <a:hlinkClick r:id="rId2"/>
              </a:rPr>
              <a:t>https://www.reactivemanifesto.org/</a:t>
            </a:r>
            <a:endParaRPr sz="108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70551" y="1748879"/>
            <a:ext cx="619506" cy="402908"/>
          </a:xfrm>
          <a:custGeom>
            <a:avLst/>
            <a:gdLst/>
            <a:ahLst/>
            <a:cxnLst/>
            <a:rect l="l" t="t" r="r" b="b"/>
            <a:pathLst>
              <a:path w="688340" h="447675">
                <a:moveTo>
                  <a:pt x="0" y="74543"/>
                </a:moveTo>
                <a:lnTo>
                  <a:pt x="5857" y="45528"/>
                </a:lnTo>
                <a:lnTo>
                  <a:pt x="21833" y="21833"/>
                </a:lnTo>
                <a:lnTo>
                  <a:pt x="45527" y="5858"/>
                </a:lnTo>
                <a:lnTo>
                  <a:pt x="74543" y="0"/>
                </a:lnTo>
                <a:lnTo>
                  <a:pt x="613539" y="0"/>
                </a:lnTo>
                <a:lnTo>
                  <a:pt x="654897" y="12524"/>
                </a:lnTo>
                <a:lnTo>
                  <a:pt x="682409" y="46017"/>
                </a:lnTo>
                <a:lnTo>
                  <a:pt x="688083" y="74543"/>
                </a:lnTo>
                <a:lnTo>
                  <a:pt x="688083" y="372710"/>
                </a:lnTo>
                <a:lnTo>
                  <a:pt x="682225" y="401725"/>
                </a:lnTo>
                <a:lnTo>
                  <a:pt x="666250" y="425420"/>
                </a:lnTo>
                <a:lnTo>
                  <a:pt x="642555" y="441395"/>
                </a:lnTo>
                <a:lnTo>
                  <a:pt x="613539" y="447253"/>
                </a:lnTo>
                <a:lnTo>
                  <a:pt x="74543" y="447253"/>
                </a:lnTo>
                <a:lnTo>
                  <a:pt x="45527" y="441395"/>
                </a:lnTo>
                <a:lnTo>
                  <a:pt x="21833" y="425420"/>
                </a:lnTo>
                <a:lnTo>
                  <a:pt x="5857" y="401725"/>
                </a:lnTo>
                <a:lnTo>
                  <a:pt x="0" y="372710"/>
                </a:lnTo>
                <a:lnTo>
                  <a:pt x="0" y="74543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17276" y="1771927"/>
            <a:ext cx="525780" cy="337785"/>
          </a:xfrm>
          <a:prstGeom prst="rect">
            <a:avLst/>
          </a:prstGeom>
        </p:spPr>
        <p:txBody>
          <a:bodyPr vert="horz" wrap="square" lIns="0" tIns="29718" rIns="0" bIns="0" rtlCol="0">
            <a:spAutoFit/>
          </a:bodyPr>
          <a:lstStyle/>
          <a:p>
            <a:pPr marL="129159" marR="4572" indent="-118301">
              <a:lnSpc>
                <a:spcPts val="1170"/>
              </a:lnSpc>
              <a:spcBef>
                <a:spcPts val="234"/>
              </a:spcBef>
            </a:pPr>
            <a:r>
              <a:rPr sz="1080" b="1" spc="-5" dirty="0">
                <a:latin typeface="Arial"/>
                <a:cs typeface="Arial"/>
              </a:rPr>
              <a:t>Respon  sive</a:t>
            </a:r>
            <a:endParaRPr sz="108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75356" y="2080247"/>
            <a:ext cx="201168" cy="240602"/>
          </a:xfrm>
          <a:custGeom>
            <a:avLst/>
            <a:gdLst/>
            <a:ahLst/>
            <a:cxnLst/>
            <a:rect l="l" t="t" r="r" b="b"/>
            <a:pathLst>
              <a:path w="223520" h="267335">
                <a:moveTo>
                  <a:pt x="0" y="0"/>
                </a:moveTo>
                <a:lnTo>
                  <a:pt x="39435" y="31255"/>
                </a:lnTo>
                <a:lnTo>
                  <a:pt x="76549" y="65020"/>
                </a:lnTo>
                <a:lnTo>
                  <a:pt x="111229" y="101162"/>
                </a:lnTo>
                <a:lnTo>
                  <a:pt x="143364" y="139548"/>
                </a:lnTo>
                <a:lnTo>
                  <a:pt x="172843" y="180044"/>
                </a:lnTo>
                <a:lnTo>
                  <a:pt x="199554" y="222519"/>
                </a:lnTo>
                <a:lnTo>
                  <a:pt x="223385" y="266837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5703" y="2414031"/>
            <a:ext cx="619506" cy="402908"/>
          </a:xfrm>
          <a:custGeom>
            <a:avLst/>
            <a:gdLst/>
            <a:ahLst/>
            <a:cxnLst/>
            <a:rect l="l" t="t" r="r" b="b"/>
            <a:pathLst>
              <a:path w="688340" h="447675">
                <a:moveTo>
                  <a:pt x="0" y="74543"/>
                </a:moveTo>
                <a:lnTo>
                  <a:pt x="5857" y="45528"/>
                </a:lnTo>
                <a:lnTo>
                  <a:pt x="21833" y="21833"/>
                </a:lnTo>
                <a:lnTo>
                  <a:pt x="45527" y="5858"/>
                </a:lnTo>
                <a:lnTo>
                  <a:pt x="74543" y="0"/>
                </a:lnTo>
                <a:lnTo>
                  <a:pt x="613540" y="0"/>
                </a:lnTo>
                <a:lnTo>
                  <a:pt x="654897" y="12524"/>
                </a:lnTo>
                <a:lnTo>
                  <a:pt x="682409" y="46017"/>
                </a:lnTo>
                <a:lnTo>
                  <a:pt x="688084" y="74543"/>
                </a:lnTo>
                <a:lnTo>
                  <a:pt x="688084" y="372710"/>
                </a:lnTo>
                <a:lnTo>
                  <a:pt x="682226" y="401726"/>
                </a:lnTo>
                <a:lnTo>
                  <a:pt x="666250" y="425420"/>
                </a:lnTo>
                <a:lnTo>
                  <a:pt x="642556" y="441395"/>
                </a:lnTo>
                <a:lnTo>
                  <a:pt x="613540" y="447253"/>
                </a:lnTo>
                <a:lnTo>
                  <a:pt x="74543" y="447253"/>
                </a:lnTo>
                <a:lnTo>
                  <a:pt x="45527" y="441395"/>
                </a:lnTo>
                <a:lnTo>
                  <a:pt x="21833" y="425420"/>
                </a:lnTo>
                <a:lnTo>
                  <a:pt x="5857" y="401726"/>
                </a:lnTo>
                <a:lnTo>
                  <a:pt x="0" y="372710"/>
                </a:lnTo>
                <a:lnTo>
                  <a:pt x="0" y="74543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72078" y="2518872"/>
            <a:ext cx="546926" cy="1638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90" b="1" spc="-5" dirty="0">
                <a:latin typeface="Arial"/>
                <a:cs typeface="Arial"/>
              </a:rPr>
              <a:t>Resilient</a:t>
            </a:r>
            <a:endParaRPr sz="99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075351" y="2910191"/>
            <a:ext cx="201168" cy="240602"/>
          </a:xfrm>
          <a:custGeom>
            <a:avLst/>
            <a:gdLst/>
            <a:ahLst/>
            <a:cxnLst/>
            <a:rect l="l" t="t" r="r" b="b"/>
            <a:pathLst>
              <a:path w="223520" h="267335">
                <a:moveTo>
                  <a:pt x="223385" y="0"/>
                </a:moveTo>
                <a:lnTo>
                  <a:pt x="199554" y="44318"/>
                </a:lnTo>
                <a:lnTo>
                  <a:pt x="172843" y="86792"/>
                </a:lnTo>
                <a:lnTo>
                  <a:pt x="143365" y="127289"/>
                </a:lnTo>
                <a:lnTo>
                  <a:pt x="111229" y="165675"/>
                </a:lnTo>
                <a:lnTo>
                  <a:pt x="76549" y="201817"/>
                </a:lnTo>
                <a:lnTo>
                  <a:pt x="39436" y="235582"/>
                </a:lnTo>
                <a:lnTo>
                  <a:pt x="0" y="266837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70551" y="3079184"/>
            <a:ext cx="619506" cy="402908"/>
          </a:xfrm>
          <a:custGeom>
            <a:avLst/>
            <a:gdLst/>
            <a:ahLst/>
            <a:cxnLst/>
            <a:rect l="l" t="t" r="r" b="b"/>
            <a:pathLst>
              <a:path w="688340" h="447675">
                <a:moveTo>
                  <a:pt x="0" y="74543"/>
                </a:moveTo>
                <a:lnTo>
                  <a:pt x="5857" y="45527"/>
                </a:lnTo>
                <a:lnTo>
                  <a:pt x="21833" y="21833"/>
                </a:lnTo>
                <a:lnTo>
                  <a:pt x="45527" y="5857"/>
                </a:lnTo>
                <a:lnTo>
                  <a:pt x="74543" y="0"/>
                </a:lnTo>
                <a:lnTo>
                  <a:pt x="613539" y="0"/>
                </a:lnTo>
                <a:lnTo>
                  <a:pt x="654897" y="12524"/>
                </a:lnTo>
                <a:lnTo>
                  <a:pt x="682409" y="46016"/>
                </a:lnTo>
                <a:lnTo>
                  <a:pt x="688083" y="74543"/>
                </a:lnTo>
                <a:lnTo>
                  <a:pt x="688083" y="372709"/>
                </a:lnTo>
                <a:lnTo>
                  <a:pt x="682225" y="401725"/>
                </a:lnTo>
                <a:lnTo>
                  <a:pt x="666250" y="425420"/>
                </a:lnTo>
                <a:lnTo>
                  <a:pt x="642555" y="441395"/>
                </a:lnTo>
                <a:lnTo>
                  <a:pt x="613539" y="447253"/>
                </a:lnTo>
                <a:lnTo>
                  <a:pt x="74543" y="447253"/>
                </a:lnTo>
                <a:lnTo>
                  <a:pt x="45527" y="441395"/>
                </a:lnTo>
                <a:lnTo>
                  <a:pt x="21833" y="425420"/>
                </a:lnTo>
                <a:lnTo>
                  <a:pt x="5857" y="401725"/>
                </a:lnTo>
                <a:lnTo>
                  <a:pt x="0" y="372709"/>
                </a:lnTo>
                <a:lnTo>
                  <a:pt x="0" y="74543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408393" y="3130030"/>
            <a:ext cx="544068" cy="283604"/>
          </a:xfrm>
          <a:prstGeom prst="rect">
            <a:avLst/>
          </a:prstGeom>
        </p:spPr>
        <p:txBody>
          <a:bodyPr vert="horz" wrap="square" lIns="0" tIns="26861" rIns="0" bIns="0" rtlCol="0">
            <a:spAutoFit/>
          </a:bodyPr>
          <a:lstStyle/>
          <a:p>
            <a:pPr marL="93725" marR="4572" indent="-82868">
              <a:lnSpc>
                <a:spcPts val="972"/>
              </a:lnSpc>
              <a:spcBef>
                <a:spcPts val="212"/>
              </a:spcBef>
            </a:pPr>
            <a:r>
              <a:rPr sz="900" b="1" dirty="0">
                <a:latin typeface="Arial"/>
                <a:cs typeface="Arial"/>
              </a:rPr>
              <a:t>Message-  </a:t>
            </a:r>
            <a:r>
              <a:rPr sz="900" b="1" spc="-5" dirty="0">
                <a:latin typeface="Arial"/>
                <a:cs typeface="Arial"/>
              </a:rPr>
              <a:t>Driven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83975" y="2910190"/>
            <a:ext cx="201168" cy="240602"/>
          </a:xfrm>
          <a:custGeom>
            <a:avLst/>
            <a:gdLst/>
            <a:ahLst/>
            <a:cxnLst/>
            <a:rect l="l" t="t" r="r" b="b"/>
            <a:pathLst>
              <a:path w="223520" h="267335">
                <a:moveTo>
                  <a:pt x="223385" y="266837"/>
                </a:moveTo>
                <a:lnTo>
                  <a:pt x="183949" y="235582"/>
                </a:lnTo>
                <a:lnTo>
                  <a:pt x="146835" y="201817"/>
                </a:lnTo>
                <a:lnTo>
                  <a:pt x="112155" y="165675"/>
                </a:lnTo>
                <a:lnTo>
                  <a:pt x="80020" y="127289"/>
                </a:lnTo>
                <a:lnTo>
                  <a:pt x="50542" y="86792"/>
                </a:lnTo>
                <a:lnTo>
                  <a:pt x="23831" y="44318"/>
                </a:lnTo>
                <a:lnTo>
                  <a:pt x="0" y="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05397" y="2414031"/>
            <a:ext cx="619506" cy="402908"/>
          </a:xfrm>
          <a:custGeom>
            <a:avLst/>
            <a:gdLst/>
            <a:ahLst/>
            <a:cxnLst/>
            <a:rect l="l" t="t" r="r" b="b"/>
            <a:pathLst>
              <a:path w="688340" h="447675">
                <a:moveTo>
                  <a:pt x="0" y="74543"/>
                </a:moveTo>
                <a:lnTo>
                  <a:pt x="5857" y="45528"/>
                </a:lnTo>
                <a:lnTo>
                  <a:pt x="21833" y="21833"/>
                </a:lnTo>
                <a:lnTo>
                  <a:pt x="45527" y="5858"/>
                </a:lnTo>
                <a:lnTo>
                  <a:pt x="74543" y="0"/>
                </a:lnTo>
                <a:lnTo>
                  <a:pt x="613539" y="0"/>
                </a:lnTo>
                <a:lnTo>
                  <a:pt x="654897" y="12524"/>
                </a:lnTo>
                <a:lnTo>
                  <a:pt x="682409" y="46017"/>
                </a:lnTo>
                <a:lnTo>
                  <a:pt x="688083" y="74543"/>
                </a:lnTo>
                <a:lnTo>
                  <a:pt x="688083" y="372710"/>
                </a:lnTo>
                <a:lnTo>
                  <a:pt x="682226" y="401726"/>
                </a:lnTo>
                <a:lnTo>
                  <a:pt x="666250" y="425420"/>
                </a:lnTo>
                <a:lnTo>
                  <a:pt x="642556" y="441395"/>
                </a:lnTo>
                <a:lnTo>
                  <a:pt x="613539" y="447253"/>
                </a:lnTo>
                <a:lnTo>
                  <a:pt x="74543" y="447253"/>
                </a:lnTo>
                <a:lnTo>
                  <a:pt x="45527" y="441395"/>
                </a:lnTo>
                <a:lnTo>
                  <a:pt x="21833" y="425420"/>
                </a:lnTo>
                <a:lnTo>
                  <a:pt x="5857" y="401726"/>
                </a:lnTo>
                <a:lnTo>
                  <a:pt x="0" y="372710"/>
                </a:lnTo>
                <a:lnTo>
                  <a:pt x="0" y="74543"/>
                </a:lnTo>
                <a:close/>
              </a:path>
            </a:pathLst>
          </a:custGeom>
          <a:ln w="25399">
            <a:solidFill>
              <a:srgbClr val="005E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764141" y="2503419"/>
            <a:ext cx="501206" cy="1915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170" b="1" spc="-5" dirty="0">
                <a:latin typeface="Arial"/>
                <a:cs typeface="Arial"/>
              </a:rPr>
              <a:t>Elastic</a:t>
            </a:r>
            <a:endParaRPr sz="117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83979" y="2080246"/>
            <a:ext cx="201168" cy="240602"/>
          </a:xfrm>
          <a:custGeom>
            <a:avLst/>
            <a:gdLst/>
            <a:ahLst/>
            <a:cxnLst/>
            <a:rect l="l" t="t" r="r" b="b"/>
            <a:pathLst>
              <a:path w="223520" h="267335">
                <a:moveTo>
                  <a:pt x="0" y="266837"/>
                </a:moveTo>
                <a:lnTo>
                  <a:pt x="23831" y="222519"/>
                </a:lnTo>
                <a:lnTo>
                  <a:pt x="50542" y="180044"/>
                </a:lnTo>
                <a:lnTo>
                  <a:pt x="80020" y="139548"/>
                </a:lnTo>
                <a:lnTo>
                  <a:pt x="112155" y="101162"/>
                </a:lnTo>
                <a:lnTo>
                  <a:pt x="146835" y="65020"/>
                </a:lnTo>
                <a:lnTo>
                  <a:pt x="183949" y="31255"/>
                </a:lnTo>
                <a:lnTo>
                  <a:pt x="223385" y="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7427841" y="2218787"/>
            <a:ext cx="598932" cy="817817"/>
            <a:chOff x="6973444" y="2503330"/>
            <a:chExt cx="665480" cy="908685"/>
          </a:xfrm>
        </p:grpSpPr>
        <p:sp>
          <p:nvSpPr>
            <p:cNvPr id="21" name="object 21"/>
            <p:cNvSpPr/>
            <p:nvPr/>
          </p:nvSpPr>
          <p:spPr>
            <a:xfrm>
              <a:off x="7253830" y="2573772"/>
              <a:ext cx="0" cy="838200"/>
            </a:xfrm>
            <a:custGeom>
              <a:avLst/>
              <a:gdLst/>
              <a:ahLst/>
              <a:cxnLst/>
              <a:rect l="l" t="t" r="r" b="b"/>
              <a:pathLst>
                <a:path h="838200">
                  <a:moveTo>
                    <a:pt x="0" y="838175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7408" y="2503330"/>
              <a:ext cx="92845" cy="1168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117407" y="2955348"/>
              <a:ext cx="377190" cy="0"/>
            </a:xfrm>
            <a:custGeom>
              <a:avLst/>
              <a:gdLst/>
              <a:ahLst/>
              <a:cxnLst/>
              <a:rect l="l" t="t" r="r" b="b"/>
              <a:pathLst>
                <a:path w="377190">
                  <a:moveTo>
                    <a:pt x="0" y="0"/>
                  </a:moveTo>
                  <a:lnTo>
                    <a:pt x="377180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3444" y="2893863"/>
              <a:ext cx="158250" cy="12297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80300" y="2893863"/>
              <a:ext cx="158250" cy="1229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554583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Efficiency</a:t>
            </a:r>
            <a:r>
              <a:rPr spc="-50" dirty="0"/>
              <a:t> </a:t>
            </a:r>
            <a:r>
              <a:rPr spc="-5" dirty="0"/>
              <a:t>and</a:t>
            </a:r>
            <a:r>
              <a:rPr spc="-41" dirty="0"/>
              <a:t> </a:t>
            </a:r>
            <a:r>
              <a:rPr spc="-5" dirty="0"/>
              <a:t>sustainability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289" y="1066414"/>
            <a:ext cx="7849553" cy="1400896"/>
          </a:xfrm>
          <a:prstGeom prst="rect">
            <a:avLst/>
          </a:prstGeom>
        </p:spPr>
        <p:txBody>
          <a:bodyPr vert="horz" wrap="square" lIns="0" tIns="59436" rIns="0" bIns="0" rtlCol="0">
            <a:spAutoFit/>
          </a:bodyPr>
          <a:lstStyle/>
          <a:p>
            <a:pPr marL="344615" indent="-333756">
              <a:spcBef>
                <a:spcPts val="46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Highly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efficient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might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not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be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good</a:t>
            </a:r>
            <a:r>
              <a:rPr sz="1890" b="1" spc="-18" dirty="0">
                <a:latin typeface="Arial"/>
                <a:cs typeface="Arial"/>
              </a:rPr>
              <a:t> </a:t>
            </a:r>
            <a:r>
              <a:rPr sz="1890" b="1" dirty="0">
                <a:latin typeface="Arial"/>
                <a:cs typeface="Arial"/>
              </a:rPr>
              <a:t>for</a:t>
            </a:r>
            <a:r>
              <a:rPr sz="1890" b="1" spc="-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sustainability</a:t>
            </a:r>
            <a:endParaRPr sz="1890">
              <a:latin typeface="Arial"/>
              <a:cs typeface="Arial"/>
            </a:endParaRPr>
          </a:p>
          <a:p>
            <a:pPr marL="344615" indent="-333756">
              <a:spcBef>
                <a:spcPts val="378"/>
              </a:spcBef>
              <a:buChar char="●"/>
              <a:tabLst>
                <a:tab pos="344615" algn="l"/>
                <a:tab pos="345186" algn="l"/>
              </a:tabLst>
            </a:pPr>
            <a:r>
              <a:rPr sz="1890" b="1" spc="-5" dirty="0">
                <a:latin typeface="Arial"/>
                <a:cs typeface="Arial"/>
              </a:rPr>
              <a:t>Sustainability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within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big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</a:t>
            </a:r>
            <a:r>
              <a:rPr sz="1890" b="1" spc="-2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platforms</a:t>
            </a:r>
            <a:endParaRPr sz="1890">
              <a:latin typeface="Arial"/>
              <a:cs typeface="Arial"/>
            </a:endParaRPr>
          </a:p>
          <a:p>
            <a:pPr marL="558356" lvl="1" indent="-332613">
              <a:spcBef>
                <a:spcPts val="360"/>
              </a:spcBef>
              <a:buFont typeface="Arial MT"/>
              <a:buChar char="○"/>
              <a:tabLst>
                <a:tab pos="558356" algn="l"/>
                <a:tab pos="558927" algn="l"/>
              </a:tabLst>
            </a:pPr>
            <a:r>
              <a:rPr spc="-5" dirty="0">
                <a:latin typeface="Georgia"/>
                <a:cs typeface="Georgia"/>
              </a:rPr>
              <a:t>energy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consumption,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reusability,</a:t>
            </a:r>
            <a:r>
              <a:rPr spc="401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extensibility</a:t>
            </a:r>
            <a:endParaRPr>
              <a:latin typeface="Georgia"/>
              <a:cs typeface="Georgia"/>
            </a:endParaRPr>
          </a:p>
          <a:p>
            <a:pPr marL="4856607">
              <a:spcBef>
                <a:spcPts val="846"/>
              </a:spcBef>
            </a:pPr>
            <a:r>
              <a:rPr b="1" spc="-5" dirty="0">
                <a:latin typeface="Arial"/>
                <a:cs typeface="Arial"/>
              </a:rPr>
              <a:t>Design</a:t>
            </a:r>
            <a:r>
              <a:rPr b="1" spc="-4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and</a:t>
            </a:r>
            <a:r>
              <a:rPr b="1" spc="-4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implementation</a:t>
            </a:r>
            <a:endParaRPr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0658" y="2591922"/>
            <a:ext cx="1428750" cy="84253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6322" indent="-275463">
              <a:spcBef>
                <a:spcPts val="90"/>
              </a:spcBef>
              <a:buChar char="▪"/>
              <a:tabLst>
                <a:tab pos="286322" algn="l"/>
                <a:tab pos="286893" algn="l"/>
              </a:tabLst>
            </a:pPr>
            <a:r>
              <a:rPr b="1" spc="-5" dirty="0">
                <a:solidFill>
                  <a:srgbClr val="3B9EFF"/>
                </a:solidFill>
                <a:latin typeface="Arial"/>
                <a:cs typeface="Arial"/>
              </a:rPr>
              <a:t>Reliability</a:t>
            </a:r>
            <a:endParaRPr>
              <a:latin typeface="Arial"/>
              <a:cs typeface="Arial"/>
            </a:endParaRPr>
          </a:p>
          <a:p>
            <a:pPr marL="286322" indent="-275463">
              <a:buChar char="▪"/>
              <a:tabLst>
                <a:tab pos="286322" algn="l"/>
                <a:tab pos="286893" algn="l"/>
              </a:tabLst>
            </a:pPr>
            <a:r>
              <a:rPr b="1" spc="-5" dirty="0">
                <a:solidFill>
                  <a:srgbClr val="3B9EFF"/>
                </a:solidFill>
                <a:latin typeface="Arial"/>
                <a:cs typeface="Arial"/>
              </a:rPr>
              <a:t>Resilience</a:t>
            </a:r>
            <a:endParaRPr>
              <a:latin typeface="Arial"/>
              <a:cs typeface="Arial"/>
            </a:endParaRPr>
          </a:p>
          <a:p>
            <a:pPr marL="286322" indent="-275463">
              <a:buChar char="▪"/>
              <a:tabLst>
                <a:tab pos="286322" algn="l"/>
                <a:tab pos="286893" algn="l"/>
              </a:tabLst>
            </a:pPr>
            <a:r>
              <a:rPr b="1" spc="-5" dirty="0">
                <a:solidFill>
                  <a:srgbClr val="3B9EFF"/>
                </a:solidFill>
                <a:latin typeface="Arial"/>
                <a:cs typeface="Arial"/>
              </a:rPr>
              <a:t>Elasticity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4907" y="2889960"/>
            <a:ext cx="1781366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6322" indent="-275463">
              <a:spcBef>
                <a:spcPts val="90"/>
              </a:spcBef>
              <a:buChar char="▪"/>
              <a:tabLst>
                <a:tab pos="286322" algn="l"/>
                <a:tab pos="286893" algn="l"/>
              </a:tabLst>
            </a:pPr>
            <a:r>
              <a:rPr b="1" i="1" spc="-5" dirty="0">
                <a:solidFill>
                  <a:srgbClr val="3B9EFF"/>
                </a:solidFill>
                <a:latin typeface="Arial"/>
                <a:cs typeface="Arial"/>
              </a:rPr>
              <a:t>Sustainability</a:t>
            </a:r>
            <a:endParaRPr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12699" y="2595798"/>
            <a:ext cx="1271016" cy="926402"/>
            <a:chOff x="2061666" y="2884220"/>
            <a:chExt cx="1412240" cy="10293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9828" y="3345885"/>
              <a:ext cx="1113512" cy="1054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528" y="3378584"/>
              <a:ext cx="855980" cy="0"/>
            </a:xfrm>
            <a:custGeom>
              <a:avLst/>
              <a:gdLst/>
              <a:ahLst/>
              <a:cxnLst/>
              <a:rect l="l" t="t" r="r" b="b"/>
              <a:pathLst>
                <a:path w="855979">
                  <a:moveTo>
                    <a:pt x="0" y="0"/>
                  </a:moveTo>
                  <a:lnTo>
                    <a:pt x="855711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5540" y="3323931"/>
              <a:ext cx="140667" cy="1093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1666" y="2884220"/>
              <a:ext cx="269168" cy="102873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14366" y="2916919"/>
              <a:ext cx="163830" cy="923925"/>
            </a:xfrm>
            <a:custGeom>
              <a:avLst/>
              <a:gdLst/>
              <a:ahLst/>
              <a:cxnLst/>
              <a:rect l="l" t="t" r="r" b="b"/>
              <a:pathLst>
                <a:path w="163830" h="923925">
                  <a:moveTo>
                    <a:pt x="0" y="0"/>
                  </a:moveTo>
                  <a:lnTo>
                    <a:pt x="31872" y="1072"/>
                  </a:lnTo>
                  <a:lnTo>
                    <a:pt x="57900" y="3997"/>
                  </a:lnTo>
                  <a:lnTo>
                    <a:pt x="75449" y="8334"/>
                  </a:lnTo>
                  <a:lnTo>
                    <a:pt x="81883" y="13646"/>
                  </a:lnTo>
                  <a:lnTo>
                    <a:pt x="81883" y="448018"/>
                  </a:lnTo>
                  <a:lnTo>
                    <a:pt x="88318" y="453330"/>
                  </a:lnTo>
                  <a:lnTo>
                    <a:pt x="105867" y="457667"/>
                  </a:lnTo>
                  <a:lnTo>
                    <a:pt x="131895" y="460592"/>
                  </a:lnTo>
                  <a:lnTo>
                    <a:pt x="163767" y="461664"/>
                  </a:lnTo>
                  <a:lnTo>
                    <a:pt x="131895" y="462737"/>
                  </a:lnTo>
                  <a:lnTo>
                    <a:pt x="105867" y="465662"/>
                  </a:lnTo>
                  <a:lnTo>
                    <a:pt x="88318" y="469999"/>
                  </a:lnTo>
                  <a:lnTo>
                    <a:pt x="81883" y="475311"/>
                  </a:lnTo>
                  <a:lnTo>
                    <a:pt x="81883" y="909682"/>
                  </a:lnTo>
                  <a:lnTo>
                    <a:pt x="75449" y="914995"/>
                  </a:lnTo>
                  <a:lnTo>
                    <a:pt x="57900" y="919332"/>
                  </a:lnTo>
                  <a:lnTo>
                    <a:pt x="31872" y="922257"/>
                  </a:lnTo>
                  <a:lnTo>
                    <a:pt x="0" y="923329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66116" y="3509639"/>
            <a:ext cx="1112711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How </a:t>
            </a:r>
            <a:r>
              <a:rPr b="1" dirty="0">
                <a:latin typeface="Arial"/>
                <a:cs typeface="Arial"/>
              </a:rPr>
              <a:t>to 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have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it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for</a:t>
            </a:r>
            <a:endParaRPr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74922" y="2604256"/>
            <a:ext cx="4901756" cy="1780223"/>
            <a:chOff x="3686357" y="2893618"/>
            <a:chExt cx="5446395" cy="197802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6357" y="3557605"/>
              <a:ext cx="1330647" cy="131401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2885" y="2893618"/>
              <a:ext cx="465440" cy="110189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05584" y="2926317"/>
              <a:ext cx="360045" cy="996950"/>
            </a:xfrm>
            <a:custGeom>
              <a:avLst/>
              <a:gdLst/>
              <a:ahLst/>
              <a:cxnLst/>
              <a:rect l="l" t="t" r="r" b="b"/>
              <a:pathLst>
                <a:path w="360045" h="996950">
                  <a:moveTo>
                    <a:pt x="360039" y="996497"/>
                  </a:moveTo>
                  <a:lnTo>
                    <a:pt x="289968" y="994140"/>
                  </a:lnTo>
                  <a:lnTo>
                    <a:pt x="232746" y="987710"/>
                  </a:lnTo>
                  <a:lnTo>
                    <a:pt x="194166" y="978173"/>
                  </a:lnTo>
                  <a:lnTo>
                    <a:pt x="180019" y="966495"/>
                  </a:lnTo>
                  <a:lnTo>
                    <a:pt x="180019" y="528251"/>
                  </a:lnTo>
                  <a:lnTo>
                    <a:pt x="165873" y="516572"/>
                  </a:lnTo>
                  <a:lnTo>
                    <a:pt x="127293" y="507036"/>
                  </a:lnTo>
                  <a:lnTo>
                    <a:pt x="70071" y="500606"/>
                  </a:lnTo>
                  <a:lnTo>
                    <a:pt x="0" y="498249"/>
                  </a:lnTo>
                  <a:lnTo>
                    <a:pt x="70071" y="495891"/>
                  </a:lnTo>
                  <a:lnTo>
                    <a:pt x="127293" y="489461"/>
                  </a:lnTo>
                  <a:lnTo>
                    <a:pt x="165873" y="479925"/>
                  </a:lnTo>
                  <a:lnTo>
                    <a:pt x="180019" y="468246"/>
                  </a:lnTo>
                  <a:lnTo>
                    <a:pt x="180019" y="30002"/>
                  </a:lnTo>
                  <a:lnTo>
                    <a:pt x="194166" y="18323"/>
                  </a:lnTo>
                  <a:lnTo>
                    <a:pt x="232746" y="8787"/>
                  </a:lnTo>
                  <a:lnTo>
                    <a:pt x="289968" y="2357"/>
                  </a:lnTo>
                  <a:lnTo>
                    <a:pt x="360039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1181" y="2984387"/>
              <a:ext cx="495300" cy="371475"/>
            </a:xfrm>
            <a:custGeom>
              <a:avLst/>
              <a:gdLst/>
              <a:ahLst/>
              <a:cxnLst/>
              <a:rect l="l" t="t" r="r" b="b"/>
              <a:pathLst>
                <a:path w="495300" h="371475">
                  <a:moveTo>
                    <a:pt x="494749" y="370849"/>
                  </a:moveTo>
                  <a:lnTo>
                    <a:pt x="0" y="370849"/>
                  </a:lnTo>
                  <a:lnTo>
                    <a:pt x="0" y="0"/>
                  </a:lnTo>
                  <a:lnTo>
                    <a:pt x="494749" y="0"/>
                  </a:lnTo>
                  <a:lnTo>
                    <a:pt x="494749" y="370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96432" y="2979637"/>
              <a:ext cx="2717165" cy="380365"/>
            </a:xfrm>
            <a:custGeom>
              <a:avLst/>
              <a:gdLst/>
              <a:ahLst/>
              <a:cxnLst/>
              <a:rect l="l" t="t" r="r" b="b"/>
              <a:pathLst>
                <a:path w="2717165" h="380364">
                  <a:moveTo>
                    <a:pt x="4749" y="0"/>
                  </a:moveTo>
                  <a:lnTo>
                    <a:pt x="4749" y="380349"/>
                  </a:lnTo>
                </a:path>
                <a:path w="2717165" h="380364">
                  <a:moveTo>
                    <a:pt x="499499" y="0"/>
                  </a:moveTo>
                  <a:lnTo>
                    <a:pt x="499499" y="380349"/>
                  </a:lnTo>
                </a:path>
                <a:path w="2717165" h="380364">
                  <a:moveTo>
                    <a:pt x="0" y="4749"/>
                  </a:moveTo>
                  <a:lnTo>
                    <a:pt x="2716824" y="4749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96432" y="3355237"/>
              <a:ext cx="2717165" cy="0"/>
            </a:xfrm>
            <a:custGeom>
              <a:avLst/>
              <a:gdLst/>
              <a:ahLst/>
              <a:cxnLst/>
              <a:rect l="l" t="t" r="r" b="b"/>
              <a:pathLst>
                <a:path w="2717165">
                  <a:moveTo>
                    <a:pt x="0" y="0"/>
                  </a:moveTo>
                  <a:lnTo>
                    <a:pt x="2716824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283987" y="2705151"/>
            <a:ext cx="215456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720" b="1" spc="-5" dirty="0">
                <a:solidFill>
                  <a:srgbClr val="3B9EFF"/>
                </a:solidFill>
                <a:latin typeface="Arial"/>
                <a:cs typeface="Arial"/>
              </a:rPr>
              <a:t>Sus.  goal</a:t>
            </a:r>
            <a:endParaRPr sz="72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29262" y="2705151"/>
            <a:ext cx="392621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720" b="1" spc="-5" dirty="0">
                <a:solidFill>
                  <a:srgbClr val="3B9EFF"/>
                </a:solidFill>
                <a:latin typeface="Arial"/>
                <a:cs typeface="Arial"/>
              </a:rPr>
              <a:t>Platform  design</a:t>
            </a:r>
            <a:endParaRPr sz="72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16984" y="2705151"/>
            <a:ext cx="505778" cy="2331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720" b="1" spc="-5" dirty="0">
                <a:solidFill>
                  <a:srgbClr val="3B9EFF"/>
                </a:solidFill>
                <a:latin typeface="Arial"/>
                <a:cs typeface="Arial"/>
              </a:rPr>
              <a:t>Concrete </a:t>
            </a:r>
            <a:r>
              <a:rPr sz="720" b="1" dirty="0">
                <a:solidFill>
                  <a:srgbClr val="3B9EFF"/>
                </a:solidFill>
                <a:latin typeface="Arial"/>
                <a:cs typeface="Arial"/>
              </a:rPr>
              <a:t> techniques</a:t>
            </a:r>
            <a:endParaRPr sz="72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07710" y="2705151"/>
            <a:ext cx="515493" cy="1223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720" b="1" spc="-9" dirty="0">
                <a:solidFill>
                  <a:srgbClr val="3B9EFF"/>
                </a:solidFill>
                <a:latin typeface="Arial"/>
                <a:cs typeface="Arial"/>
              </a:rPr>
              <a:t>Verification</a:t>
            </a:r>
            <a:endParaRPr sz="72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55086" y="3025574"/>
            <a:ext cx="3115818" cy="1149858"/>
            <a:chOff x="5442096" y="3361749"/>
            <a:chExt cx="3462020" cy="127762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42096" y="3383702"/>
              <a:ext cx="839557" cy="1054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494795" y="3416402"/>
              <a:ext cx="582295" cy="0"/>
            </a:xfrm>
            <a:custGeom>
              <a:avLst/>
              <a:gdLst/>
              <a:ahLst/>
              <a:cxnLst/>
              <a:rect l="l" t="t" r="r" b="b"/>
              <a:pathLst>
                <a:path w="582295">
                  <a:moveTo>
                    <a:pt x="0" y="0"/>
                  </a:moveTo>
                  <a:lnTo>
                    <a:pt x="581756" y="0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63852" y="3361749"/>
              <a:ext cx="140667" cy="10930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0802" y="3472753"/>
              <a:ext cx="1164707" cy="11647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42550" y="3477831"/>
              <a:ext cx="1161156" cy="11611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7251" y="2012411"/>
            <a:ext cx="7282053" cy="1451936"/>
          </a:xfrm>
          <a:prstGeom prst="rect">
            <a:avLst/>
          </a:prstGeom>
        </p:spPr>
        <p:txBody>
          <a:bodyPr vert="horz" wrap="square" lIns="0" tIns="121158" rIns="0" bIns="0" rtlCol="0">
            <a:spAutoFit/>
          </a:bodyPr>
          <a:lstStyle/>
          <a:p>
            <a:pPr marL="11430" marR="4572">
              <a:lnSpc>
                <a:spcPct val="80000"/>
              </a:lnSpc>
              <a:spcBef>
                <a:spcPts val="954"/>
              </a:spcBef>
            </a:pPr>
            <a:r>
              <a:rPr sz="3600" spc="-5" dirty="0"/>
              <a:t>Distributed systems </a:t>
            </a:r>
            <a:r>
              <a:rPr sz="3600" spc="-9" dirty="0"/>
              <a:t>of </a:t>
            </a:r>
            <a:r>
              <a:rPr sz="3600" spc="-5" dirty="0"/>
              <a:t> components are </a:t>
            </a:r>
            <a:r>
              <a:rPr sz="3600" spc="-9" dirty="0"/>
              <a:t>used </a:t>
            </a:r>
            <a:r>
              <a:rPr sz="3600" spc="-5" dirty="0"/>
              <a:t>to manage, </a:t>
            </a:r>
            <a:r>
              <a:rPr sz="3600" spc="-990" dirty="0"/>
              <a:t> </a:t>
            </a:r>
            <a:r>
              <a:rPr sz="3600" spc="-9" dirty="0"/>
              <a:t>ingest</a:t>
            </a:r>
            <a:r>
              <a:rPr sz="3600" spc="-18" dirty="0"/>
              <a:t> </a:t>
            </a:r>
            <a:r>
              <a:rPr sz="3600" spc="-9" dirty="0"/>
              <a:t>data</a:t>
            </a:r>
            <a:r>
              <a:rPr sz="3600" spc="-14" dirty="0"/>
              <a:t> </a:t>
            </a:r>
            <a:r>
              <a:rPr sz="3600" spc="-5" dirty="0"/>
              <a:t>and</a:t>
            </a:r>
            <a:r>
              <a:rPr sz="3600" spc="-9" dirty="0"/>
              <a:t> process</a:t>
            </a:r>
            <a:r>
              <a:rPr sz="3600" spc="-14" dirty="0"/>
              <a:t> </a:t>
            </a:r>
            <a:r>
              <a:rPr sz="3600" spc="-9" dirty="0"/>
              <a:t>data</a:t>
            </a:r>
            <a:endParaRPr sz="3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7502347" cy="511487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9" dirty="0"/>
              <a:t>Partitioning: </a:t>
            </a:r>
            <a:r>
              <a:rPr spc="-5" dirty="0"/>
              <a:t>splitting functionality </a:t>
            </a:r>
            <a:r>
              <a:rPr dirty="0"/>
              <a:t>&amp; </a:t>
            </a:r>
            <a:r>
              <a:rPr spc="-891" dirty="0"/>
              <a:t> </a:t>
            </a:r>
            <a:r>
              <a:rPr spc="-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302" y="1113047"/>
            <a:ext cx="7128891" cy="26707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2334" indent="-371475">
              <a:spcBef>
                <a:spcPts val="90"/>
              </a:spcBef>
              <a:buChar char="●"/>
              <a:tabLst>
                <a:tab pos="382334" algn="l"/>
                <a:tab pos="382905" algn="l"/>
              </a:tabLst>
            </a:pPr>
            <a:r>
              <a:rPr sz="2160" b="1" spc="-5" dirty="0">
                <a:latin typeface="Arial"/>
                <a:cs typeface="Arial"/>
              </a:rPr>
              <a:t>Breakdown</a:t>
            </a:r>
            <a:r>
              <a:rPr sz="2160" b="1" spc="-32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the</a:t>
            </a:r>
            <a:r>
              <a:rPr sz="2160" b="1" spc="-32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complexity</a:t>
            </a:r>
            <a:endParaRPr sz="2160">
              <a:latin typeface="Arial"/>
              <a:cs typeface="Arial"/>
            </a:endParaRPr>
          </a:p>
          <a:p>
            <a:pPr marL="793814" lvl="1" indent="-371475">
              <a:buFont typeface="Arial MT"/>
              <a:buChar char="○"/>
              <a:tabLst>
                <a:tab pos="793814" algn="l"/>
                <a:tab pos="794385" algn="l"/>
              </a:tabLst>
            </a:pPr>
            <a:r>
              <a:rPr sz="2160" spc="-5" dirty="0">
                <a:latin typeface="Georgia"/>
                <a:cs typeface="Georgia"/>
              </a:rPr>
              <a:t>easy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to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implement,</a:t>
            </a:r>
            <a:r>
              <a:rPr sz="2160" spc="-23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replace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and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compose</a:t>
            </a:r>
            <a:endParaRPr sz="2160">
              <a:latin typeface="Georgia"/>
              <a:cs typeface="Georgia"/>
            </a:endParaRPr>
          </a:p>
          <a:p>
            <a:pPr marL="793814" lvl="1" indent="-371475">
              <a:buFont typeface="Arial MT"/>
              <a:buChar char="○"/>
              <a:tabLst>
                <a:tab pos="793814" algn="l"/>
                <a:tab pos="794385" algn="l"/>
              </a:tabLst>
            </a:pPr>
            <a:r>
              <a:rPr sz="2160" spc="-5" dirty="0">
                <a:latin typeface="Georgia"/>
                <a:cs typeface="Georgia"/>
              </a:rPr>
              <a:t>deal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with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performance,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scalability,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security,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etc.</a:t>
            </a:r>
            <a:endParaRPr sz="2160">
              <a:latin typeface="Georgia"/>
              <a:cs typeface="Georgia"/>
            </a:endParaRPr>
          </a:p>
          <a:p>
            <a:pPr marL="793814" lvl="1" indent="-371475">
              <a:buFont typeface="Arial MT"/>
              <a:buChar char="○"/>
              <a:tabLst>
                <a:tab pos="793814" algn="l"/>
                <a:tab pos="794385" algn="l"/>
              </a:tabLst>
            </a:pPr>
            <a:r>
              <a:rPr sz="2160" spc="-5" dirty="0">
                <a:latin typeface="Georgia"/>
                <a:cs typeface="Georgia"/>
              </a:rPr>
              <a:t>support</a:t>
            </a:r>
            <a:r>
              <a:rPr sz="2160" spc="-23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teams</a:t>
            </a:r>
            <a:r>
              <a:rPr sz="2160" spc="-23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in</a:t>
            </a:r>
            <a:r>
              <a:rPr sz="2160" spc="-27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DevOps</a:t>
            </a:r>
            <a:endParaRPr sz="2160">
              <a:latin typeface="Georgia"/>
              <a:cs typeface="Georgia"/>
            </a:endParaRPr>
          </a:p>
          <a:p>
            <a:pPr marL="793814" lvl="1" indent="-371475">
              <a:buFont typeface="Arial MT"/>
              <a:buChar char="○"/>
              <a:tabLst>
                <a:tab pos="793814" algn="l"/>
                <a:tab pos="794385" algn="l"/>
              </a:tabLst>
            </a:pPr>
            <a:r>
              <a:rPr sz="2160" spc="-5" dirty="0">
                <a:latin typeface="Georgia"/>
                <a:cs typeface="Georgia"/>
              </a:rPr>
              <a:t>cope</a:t>
            </a:r>
            <a:r>
              <a:rPr sz="2160" spc="-23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with</a:t>
            </a:r>
            <a:r>
              <a:rPr sz="2160" spc="-23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technology</a:t>
            </a:r>
            <a:r>
              <a:rPr sz="2160" spc="-23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changes</a:t>
            </a:r>
            <a:endParaRPr sz="2160">
              <a:latin typeface="Georgia"/>
              <a:cs typeface="Georgia"/>
            </a:endParaRPr>
          </a:p>
          <a:p>
            <a:pPr marL="382334" marR="737807" indent="-371475">
              <a:buChar char="●"/>
              <a:tabLst>
                <a:tab pos="382334" algn="l"/>
                <a:tab pos="382905" algn="l"/>
              </a:tabLst>
            </a:pPr>
            <a:r>
              <a:rPr sz="2160" b="1" dirty="0">
                <a:latin typeface="Arial"/>
                <a:cs typeface="Arial"/>
              </a:rPr>
              <a:t>Many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things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are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related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to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the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current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trend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of </a:t>
            </a:r>
            <a:r>
              <a:rPr sz="2160" b="1" spc="-590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microservices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and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domain-driven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designs</a:t>
            </a:r>
            <a:endParaRPr sz="2160">
              <a:latin typeface="Arial"/>
              <a:cs typeface="Arial"/>
            </a:endParaRPr>
          </a:p>
          <a:p>
            <a:pPr marL="382334" indent="-371475">
              <a:buChar char="●"/>
              <a:tabLst>
                <a:tab pos="382334" algn="l"/>
                <a:tab pos="382905" algn="l"/>
              </a:tabLst>
            </a:pPr>
            <a:r>
              <a:rPr sz="2160" b="1" spc="-5" dirty="0">
                <a:latin typeface="Arial"/>
                <a:cs typeface="Arial"/>
              </a:rPr>
              <a:t>But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tradeoffs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with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management</a:t>
            </a:r>
            <a:r>
              <a:rPr sz="2160" b="1" spc="-14" dirty="0">
                <a:latin typeface="Arial"/>
                <a:cs typeface="Arial"/>
              </a:rPr>
              <a:t> </a:t>
            </a:r>
            <a:r>
              <a:rPr sz="2160" b="1" spc="-45" dirty="0">
                <a:latin typeface="Arial"/>
                <a:cs typeface="Arial"/>
              </a:rPr>
              <a:t>w.r.t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data</a:t>
            </a:r>
            <a:r>
              <a:rPr sz="2160" b="1" spc="-18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resources</a:t>
            </a:r>
            <a:endParaRPr sz="216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1049" y="1060976"/>
            <a:ext cx="5354034" cy="27774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1753" y="151459"/>
            <a:ext cx="6158483" cy="1578445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76581" marR="4572">
              <a:lnSpc>
                <a:spcPts val="3303"/>
              </a:lnSpc>
              <a:spcBef>
                <a:spcPts val="689"/>
              </a:spcBef>
            </a:pPr>
            <a:r>
              <a:rPr spc="-9" dirty="0"/>
              <a:t>Example </a:t>
            </a:r>
            <a:r>
              <a:rPr spc="-5" dirty="0"/>
              <a:t>of functional and </a:t>
            </a:r>
            <a:r>
              <a:rPr spc="-9" dirty="0"/>
              <a:t>data </a:t>
            </a:r>
            <a:r>
              <a:rPr spc="-891" dirty="0"/>
              <a:t> </a:t>
            </a:r>
            <a:r>
              <a:rPr spc="-5" dirty="0"/>
              <a:t>partitioning</a:t>
            </a:r>
          </a:p>
          <a:p>
            <a:pPr marL="11430" marR="4351973">
              <a:spcBef>
                <a:spcPts val="734"/>
              </a:spcBef>
            </a:pPr>
            <a:r>
              <a:rPr sz="1800" spc="-5" dirty="0">
                <a:solidFill>
                  <a:srgbClr val="000000"/>
                </a:solidFill>
              </a:rPr>
              <a:t>Service-oriented  components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3211965" y="3919760"/>
            <a:ext cx="4304538" cy="2054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260" b="1" spc="-5" dirty="0">
                <a:latin typeface="Arial"/>
                <a:cs typeface="Arial"/>
              </a:rPr>
              <a:t>Figure</a:t>
            </a:r>
            <a:r>
              <a:rPr sz="1260" b="1" spc="-36" dirty="0">
                <a:latin typeface="Arial"/>
                <a:cs typeface="Arial"/>
              </a:rPr>
              <a:t> </a:t>
            </a:r>
            <a:r>
              <a:rPr sz="1260" b="1" spc="-5" dirty="0">
                <a:latin typeface="Arial"/>
                <a:cs typeface="Arial"/>
              </a:rPr>
              <a:t>source:</a:t>
            </a:r>
            <a:r>
              <a:rPr sz="1260" b="1" spc="-18" dirty="0">
                <a:latin typeface="Arial"/>
                <a:cs typeface="Arial"/>
              </a:rPr>
              <a:t> </a:t>
            </a:r>
            <a:r>
              <a:rPr sz="1260" spc="-5" dirty="0">
                <a:latin typeface="Arial MT"/>
                <a:cs typeface="Arial MT"/>
                <a:hlinkClick r:id="rId3"/>
              </a:rPr>
              <a:t>http://queue.acm.org/detail.cfm?id=1971597</a:t>
            </a:r>
            <a:endParaRPr sz="126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752" y="1982834"/>
            <a:ext cx="2017395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b="1" dirty="0">
                <a:latin typeface="Arial"/>
                <a:cs typeface="Arial"/>
              </a:rPr>
              <a:t>Microservices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and </a:t>
            </a:r>
            <a:r>
              <a:rPr b="1" spc="-486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domain-oriented 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microservices </a:t>
            </a:r>
            <a:r>
              <a:rPr b="1" dirty="0">
                <a:latin typeface="Arial"/>
                <a:cs typeface="Arial"/>
              </a:rPr>
              <a:t>for 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data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753" y="3354435"/>
            <a:ext cx="2016824" cy="84253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Serverless </a:t>
            </a:r>
            <a:r>
              <a:rPr b="1" dirty="0">
                <a:latin typeface="Arial"/>
                <a:cs typeface="Arial"/>
              </a:rPr>
              <a:t> functions/function  </a:t>
            </a:r>
            <a:r>
              <a:rPr b="1" spc="-5" dirty="0">
                <a:latin typeface="Arial"/>
                <a:cs typeface="Arial"/>
              </a:rPr>
              <a:t>as-a</a:t>
            </a:r>
            <a:r>
              <a:rPr b="1" spc="-14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service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4966907" cy="934679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9" dirty="0"/>
              <a:t>Example </a:t>
            </a:r>
            <a:r>
              <a:rPr spc="-5" dirty="0"/>
              <a:t>of functional and </a:t>
            </a:r>
            <a:r>
              <a:rPr spc="-9" dirty="0"/>
              <a:t>data </a:t>
            </a:r>
            <a:r>
              <a:rPr spc="-891" dirty="0"/>
              <a:t> </a:t>
            </a:r>
            <a:r>
              <a:rPr spc="-5" dirty="0"/>
              <a:t>partitioning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0663" y="1172085"/>
            <a:ext cx="5139772" cy="26823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1753" y="1683975"/>
            <a:ext cx="7490651" cy="24945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Data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sharding</a:t>
            </a:r>
            <a:endParaRPr>
              <a:latin typeface="Arial"/>
              <a:cs typeface="Arial"/>
            </a:endParaRPr>
          </a:p>
          <a:p>
            <a:pPr marL="11430" marR="5428679">
              <a:lnSpc>
                <a:spcPct val="200000"/>
              </a:lnSpc>
            </a:pPr>
            <a:r>
              <a:rPr b="1" dirty="0">
                <a:latin typeface="Arial"/>
                <a:cs typeface="Arial"/>
              </a:rPr>
              <a:t>Multi </a:t>
            </a:r>
            <a:r>
              <a:rPr b="1" spc="-5" dirty="0">
                <a:latin typeface="Arial"/>
                <a:cs typeface="Arial"/>
              </a:rPr>
              <a:t>data spaces </a:t>
            </a:r>
            <a:r>
              <a:rPr b="1" dirty="0">
                <a:latin typeface="Arial"/>
                <a:cs typeface="Arial"/>
              </a:rPr>
              <a:t> Multi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data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services</a:t>
            </a:r>
            <a:endParaRPr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1845">
              <a:latin typeface="Arial"/>
              <a:cs typeface="Arial"/>
            </a:endParaRPr>
          </a:p>
          <a:p>
            <a:pPr marL="11430" marR="5861303"/>
            <a:r>
              <a:rPr b="1" dirty="0">
                <a:latin typeface="Arial"/>
                <a:cs typeface="Arial"/>
              </a:rPr>
              <a:t>Multiple </a:t>
            </a:r>
            <a:r>
              <a:rPr b="1" spc="-5" dirty="0">
                <a:latin typeface="Arial"/>
                <a:cs typeface="Arial"/>
              </a:rPr>
              <a:t>data 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infrastructures</a:t>
            </a:r>
            <a:endParaRPr>
              <a:latin typeface="Arial"/>
              <a:cs typeface="Arial"/>
            </a:endParaRPr>
          </a:p>
          <a:p>
            <a:pPr marL="2586038">
              <a:spcBef>
                <a:spcPts val="306"/>
              </a:spcBef>
            </a:pPr>
            <a:r>
              <a:rPr sz="1440" b="1" spc="-5" dirty="0">
                <a:latin typeface="Arial"/>
                <a:cs typeface="Arial"/>
              </a:rPr>
              <a:t>Figure</a:t>
            </a:r>
            <a:r>
              <a:rPr sz="1440" b="1" spc="-36" dirty="0">
                <a:latin typeface="Arial"/>
                <a:cs typeface="Arial"/>
              </a:rPr>
              <a:t> </a:t>
            </a:r>
            <a:r>
              <a:rPr sz="1440" b="1" spc="-5" dirty="0">
                <a:latin typeface="Arial"/>
                <a:cs typeface="Arial"/>
              </a:rPr>
              <a:t>source:</a:t>
            </a:r>
            <a:r>
              <a:rPr sz="1440" b="1" spc="-18" dirty="0">
                <a:latin typeface="Arial"/>
                <a:cs typeface="Arial"/>
              </a:rPr>
              <a:t> </a:t>
            </a:r>
            <a:r>
              <a:rPr sz="1440" spc="-5" dirty="0">
                <a:latin typeface="Arial MT"/>
                <a:cs typeface="Arial MT"/>
                <a:hlinkClick r:id="rId3"/>
              </a:rPr>
              <a:t>http://queue.acm.org/detail.cfm?id=1971597</a:t>
            </a:r>
            <a:endParaRPr sz="144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550011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Interaction:</a:t>
            </a:r>
            <a:r>
              <a:rPr spc="-45" dirty="0"/>
              <a:t> </a:t>
            </a:r>
            <a:r>
              <a:rPr spc="-5" dirty="0"/>
              <a:t>multiple</a:t>
            </a:r>
            <a:r>
              <a:rPr spc="-41" dirty="0"/>
              <a:t> </a:t>
            </a:r>
            <a:r>
              <a:rPr spc="-5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8721" y="804185"/>
            <a:ext cx="7095743" cy="2015424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48044" indent="-337185">
              <a:spcBef>
                <a:spcPts val="540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spc="-5" dirty="0">
                <a:latin typeface="Arial"/>
                <a:cs typeface="Arial"/>
              </a:rPr>
              <a:t>Protocols</a:t>
            </a:r>
            <a:endParaRPr sz="2160">
              <a:latin typeface="Arial"/>
              <a:cs typeface="Arial"/>
            </a:endParaRPr>
          </a:p>
          <a:p>
            <a:pPr marL="562356" lvl="1" indent="-333185">
              <a:spcBef>
                <a:spcPts val="374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pc="-5" dirty="0">
                <a:latin typeface="Georgia"/>
                <a:cs typeface="Georgia"/>
              </a:rPr>
              <a:t>REST,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gRPC,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Message</a:t>
            </a:r>
            <a:r>
              <a:rPr spc="-14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Passing,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Stream-oriented</a:t>
            </a:r>
            <a:r>
              <a:rPr spc="-18" dirty="0">
                <a:latin typeface="Georgia"/>
                <a:cs typeface="Georgia"/>
              </a:rPr>
              <a:t> </a:t>
            </a:r>
            <a:r>
              <a:rPr spc="-5" dirty="0">
                <a:latin typeface="Georgia"/>
                <a:cs typeface="Georgia"/>
              </a:rPr>
              <a:t>Communication</a:t>
            </a:r>
            <a:endParaRPr>
              <a:latin typeface="Georgia"/>
              <a:cs typeface="Georgia"/>
            </a:endParaRPr>
          </a:p>
          <a:p>
            <a:pPr marL="348044" indent="-337185">
              <a:spcBef>
                <a:spcPts val="418"/>
              </a:spcBef>
              <a:buChar char="●"/>
              <a:tabLst>
                <a:tab pos="348044" algn="l"/>
                <a:tab pos="348615" algn="l"/>
              </a:tabLst>
            </a:pPr>
            <a:r>
              <a:rPr sz="2160" b="1" dirty="0">
                <a:latin typeface="Arial"/>
                <a:cs typeface="Arial"/>
              </a:rPr>
              <a:t>Models</a:t>
            </a:r>
            <a:endParaRPr sz="2160">
              <a:latin typeface="Arial"/>
              <a:cs typeface="Arial"/>
            </a:endParaRPr>
          </a:p>
          <a:p>
            <a:pPr marL="562356" lvl="1" indent="-319469">
              <a:spcBef>
                <a:spcPts val="378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z="1620" spc="-5" dirty="0">
                <a:latin typeface="Georgia"/>
                <a:cs typeface="Georgia"/>
              </a:rPr>
              <a:t>One-to-many,</a:t>
            </a:r>
            <a:r>
              <a:rPr sz="1620" spc="-32" dirty="0">
                <a:latin typeface="Georgia"/>
                <a:cs typeface="Georgia"/>
              </a:rPr>
              <a:t> </a:t>
            </a:r>
            <a:r>
              <a:rPr sz="1620" spc="-5" dirty="0">
                <a:latin typeface="Georgia"/>
                <a:cs typeface="Georgia"/>
              </a:rPr>
              <a:t>many-to-one,</a:t>
            </a:r>
            <a:r>
              <a:rPr sz="1620" spc="-27" dirty="0">
                <a:latin typeface="Georgia"/>
                <a:cs typeface="Georgia"/>
              </a:rPr>
              <a:t> </a:t>
            </a:r>
            <a:r>
              <a:rPr sz="1620" spc="-5" dirty="0">
                <a:latin typeface="Georgia"/>
                <a:cs typeface="Georgia"/>
              </a:rPr>
              <a:t>many-to-many</a:t>
            </a:r>
            <a:endParaRPr sz="1620">
              <a:latin typeface="Georgia"/>
              <a:cs typeface="Georgia"/>
            </a:endParaRPr>
          </a:p>
          <a:p>
            <a:pPr marL="562356" lvl="1" indent="-319469">
              <a:spcBef>
                <a:spcPts val="360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z="1620" spc="-5" dirty="0">
                <a:latin typeface="Georgia"/>
                <a:cs typeface="Georgia"/>
              </a:rPr>
              <a:t>Synchronous/asynchronous</a:t>
            </a:r>
            <a:r>
              <a:rPr sz="1620" spc="-41" dirty="0">
                <a:latin typeface="Georgia"/>
                <a:cs typeface="Georgia"/>
              </a:rPr>
              <a:t> </a:t>
            </a:r>
            <a:r>
              <a:rPr sz="1620" spc="-5" dirty="0">
                <a:latin typeface="Georgia"/>
                <a:cs typeface="Georgia"/>
              </a:rPr>
              <a:t>calls</a:t>
            </a:r>
            <a:endParaRPr sz="1620">
              <a:latin typeface="Georgia"/>
              <a:cs typeface="Georgia"/>
            </a:endParaRPr>
          </a:p>
          <a:p>
            <a:pPr marL="562356" lvl="1" indent="-319469">
              <a:spcBef>
                <a:spcPts val="360"/>
              </a:spcBef>
              <a:buFont typeface="Arial MT"/>
              <a:buChar char="○"/>
              <a:tabLst>
                <a:tab pos="562356" algn="l"/>
                <a:tab pos="562928" algn="l"/>
              </a:tabLst>
            </a:pPr>
            <a:r>
              <a:rPr sz="1620" spc="-5" dirty="0">
                <a:latin typeface="Georgia"/>
                <a:cs typeface="Georgia"/>
              </a:rPr>
              <a:t>Internal</a:t>
            </a:r>
            <a:r>
              <a:rPr sz="1620" spc="-18" dirty="0">
                <a:latin typeface="Georgia"/>
                <a:cs typeface="Georgia"/>
              </a:rPr>
              <a:t> </a:t>
            </a:r>
            <a:r>
              <a:rPr sz="1620" spc="-5" dirty="0">
                <a:latin typeface="Georgia"/>
                <a:cs typeface="Georgia"/>
              </a:rPr>
              <a:t>data</a:t>
            </a:r>
            <a:r>
              <a:rPr sz="1620" spc="-14" dirty="0">
                <a:latin typeface="Georgia"/>
                <a:cs typeface="Georgia"/>
              </a:rPr>
              <a:t> </a:t>
            </a:r>
            <a:r>
              <a:rPr sz="1620" spc="-5" dirty="0">
                <a:latin typeface="Georgia"/>
                <a:cs typeface="Georgia"/>
              </a:rPr>
              <a:t>exchange</a:t>
            </a:r>
            <a:r>
              <a:rPr sz="1620" spc="-18" dirty="0">
                <a:latin typeface="Georgia"/>
                <a:cs typeface="Georgia"/>
              </a:rPr>
              <a:t> </a:t>
            </a:r>
            <a:r>
              <a:rPr sz="1620" spc="-5" dirty="0">
                <a:latin typeface="Georgia"/>
                <a:cs typeface="Georgia"/>
              </a:rPr>
              <a:t>versus</a:t>
            </a:r>
            <a:r>
              <a:rPr sz="1620" spc="-14" dirty="0">
                <a:latin typeface="Georgia"/>
                <a:cs typeface="Georgia"/>
              </a:rPr>
              <a:t> </a:t>
            </a:r>
            <a:r>
              <a:rPr sz="1620" spc="-5" dirty="0">
                <a:latin typeface="Georgia"/>
                <a:cs typeface="Georgia"/>
              </a:rPr>
              <a:t>open/external</a:t>
            </a:r>
            <a:r>
              <a:rPr sz="1620" spc="-14" dirty="0">
                <a:latin typeface="Georgia"/>
                <a:cs typeface="Georgia"/>
              </a:rPr>
              <a:t> </a:t>
            </a:r>
            <a:r>
              <a:rPr sz="1620" spc="-5" dirty="0">
                <a:latin typeface="Georgia"/>
                <a:cs typeface="Georgia"/>
              </a:rPr>
              <a:t>exchange</a:t>
            </a:r>
            <a:endParaRPr sz="162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9915" y="3732753"/>
            <a:ext cx="748094" cy="228600"/>
          </a:xfrm>
          <a:custGeom>
            <a:avLst/>
            <a:gdLst/>
            <a:ahLst/>
            <a:cxnLst/>
            <a:rect l="l" t="t" r="r" b="b"/>
            <a:pathLst>
              <a:path w="831215" h="254000">
                <a:moveTo>
                  <a:pt x="0" y="42329"/>
                </a:moveTo>
                <a:lnTo>
                  <a:pt x="3326" y="25852"/>
                </a:lnTo>
                <a:lnTo>
                  <a:pt x="12397" y="12397"/>
                </a:lnTo>
                <a:lnTo>
                  <a:pt x="25852" y="3326"/>
                </a:lnTo>
                <a:lnTo>
                  <a:pt x="42329" y="0"/>
                </a:lnTo>
                <a:lnTo>
                  <a:pt x="788829" y="0"/>
                </a:lnTo>
                <a:lnTo>
                  <a:pt x="824047" y="18844"/>
                </a:lnTo>
                <a:lnTo>
                  <a:pt x="831159" y="42329"/>
                </a:lnTo>
                <a:lnTo>
                  <a:pt x="831159" y="211641"/>
                </a:lnTo>
                <a:lnTo>
                  <a:pt x="827832" y="228117"/>
                </a:lnTo>
                <a:lnTo>
                  <a:pt x="818761" y="241572"/>
                </a:lnTo>
                <a:lnTo>
                  <a:pt x="805306" y="250644"/>
                </a:lnTo>
                <a:lnTo>
                  <a:pt x="788829" y="253970"/>
                </a:lnTo>
                <a:lnTo>
                  <a:pt x="42329" y="253970"/>
                </a:lnTo>
                <a:lnTo>
                  <a:pt x="25852" y="250644"/>
                </a:lnTo>
                <a:lnTo>
                  <a:pt x="12397" y="241572"/>
                </a:lnTo>
                <a:lnTo>
                  <a:pt x="3326" y="228117"/>
                </a:lnTo>
                <a:lnTo>
                  <a:pt x="0" y="211641"/>
                </a:lnTo>
                <a:lnTo>
                  <a:pt x="0" y="42329"/>
                </a:lnTo>
                <a:close/>
              </a:path>
            </a:pathLst>
          </a:custGeom>
          <a:ln w="2539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3761" y="3673432"/>
            <a:ext cx="478917" cy="303994"/>
          </a:xfrm>
          <a:prstGeom prst="rect">
            <a:avLst/>
          </a:prstGeom>
        </p:spPr>
        <p:txBody>
          <a:bodyPr vert="horz" wrap="square" lIns="0" tIns="50864" rIns="0" bIns="0" rtlCol="0">
            <a:spAutoFit/>
          </a:bodyPr>
          <a:lstStyle/>
          <a:p>
            <a:pPr marL="64580" marR="4572" indent="-53721">
              <a:lnSpc>
                <a:spcPct val="76000"/>
              </a:lnSpc>
              <a:spcBef>
                <a:spcPts val="401"/>
              </a:spcBef>
            </a:pPr>
            <a:r>
              <a:rPr sz="1080" spc="-5" dirty="0">
                <a:latin typeface="Arial MT"/>
                <a:cs typeface="Arial MT"/>
              </a:rPr>
              <a:t>Internal  Client</a:t>
            </a:r>
            <a:endParaRPr sz="108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8058" y="2885061"/>
            <a:ext cx="1908810" cy="1112711"/>
          </a:xfrm>
          <a:custGeom>
            <a:avLst/>
            <a:gdLst/>
            <a:ahLst/>
            <a:cxnLst/>
            <a:rect l="l" t="t" r="r" b="b"/>
            <a:pathLst>
              <a:path w="2120900" h="1236345">
                <a:moveTo>
                  <a:pt x="116260" y="966391"/>
                </a:moveTo>
                <a:lnTo>
                  <a:pt x="120498" y="945398"/>
                </a:lnTo>
                <a:lnTo>
                  <a:pt x="132057" y="928255"/>
                </a:lnTo>
                <a:lnTo>
                  <a:pt x="149200" y="916696"/>
                </a:lnTo>
                <a:lnTo>
                  <a:pt x="170193" y="912458"/>
                </a:lnTo>
                <a:lnTo>
                  <a:pt x="959025" y="912458"/>
                </a:lnTo>
                <a:lnTo>
                  <a:pt x="997161" y="928255"/>
                </a:lnTo>
                <a:lnTo>
                  <a:pt x="1012958" y="966391"/>
                </a:lnTo>
                <a:lnTo>
                  <a:pt x="1012958" y="1182118"/>
                </a:lnTo>
                <a:lnTo>
                  <a:pt x="1008720" y="1203111"/>
                </a:lnTo>
                <a:lnTo>
                  <a:pt x="997162" y="1220255"/>
                </a:lnTo>
                <a:lnTo>
                  <a:pt x="980018" y="1231813"/>
                </a:lnTo>
                <a:lnTo>
                  <a:pt x="959025" y="1236052"/>
                </a:lnTo>
                <a:lnTo>
                  <a:pt x="170193" y="1236052"/>
                </a:lnTo>
                <a:lnTo>
                  <a:pt x="149200" y="1231813"/>
                </a:lnTo>
                <a:lnTo>
                  <a:pt x="132057" y="1220255"/>
                </a:lnTo>
                <a:lnTo>
                  <a:pt x="120498" y="1203111"/>
                </a:lnTo>
                <a:lnTo>
                  <a:pt x="116260" y="1182118"/>
                </a:lnTo>
                <a:lnTo>
                  <a:pt x="116260" y="966391"/>
                </a:lnTo>
                <a:close/>
              </a:path>
              <a:path w="2120900" h="1236345">
                <a:moveTo>
                  <a:pt x="0" y="34563"/>
                </a:moveTo>
                <a:lnTo>
                  <a:pt x="2716" y="21109"/>
                </a:lnTo>
                <a:lnTo>
                  <a:pt x="10123" y="10123"/>
                </a:lnTo>
                <a:lnTo>
                  <a:pt x="21109" y="2716"/>
                </a:lnTo>
                <a:lnTo>
                  <a:pt x="34563" y="0"/>
                </a:lnTo>
                <a:lnTo>
                  <a:pt x="544007" y="0"/>
                </a:lnTo>
                <a:lnTo>
                  <a:pt x="575940" y="21336"/>
                </a:lnTo>
                <a:lnTo>
                  <a:pt x="578571" y="34563"/>
                </a:lnTo>
                <a:lnTo>
                  <a:pt x="578571" y="172813"/>
                </a:lnTo>
                <a:lnTo>
                  <a:pt x="575855" y="186267"/>
                </a:lnTo>
                <a:lnTo>
                  <a:pt x="568448" y="197253"/>
                </a:lnTo>
                <a:lnTo>
                  <a:pt x="557461" y="204661"/>
                </a:lnTo>
                <a:lnTo>
                  <a:pt x="544007" y="207377"/>
                </a:lnTo>
                <a:lnTo>
                  <a:pt x="34563" y="207377"/>
                </a:lnTo>
                <a:lnTo>
                  <a:pt x="21109" y="204661"/>
                </a:lnTo>
                <a:lnTo>
                  <a:pt x="10123" y="197253"/>
                </a:lnTo>
                <a:lnTo>
                  <a:pt x="2716" y="186267"/>
                </a:lnTo>
                <a:lnTo>
                  <a:pt x="0" y="172813"/>
                </a:lnTo>
                <a:lnTo>
                  <a:pt x="0" y="34563"/>
                </a:lnTo>
                <a:close/>
              </a:path>
              <a:path w="2120900" h="1236345">
                <a:moveTo>
                  <a:pt x="783354" y="40673"/>
                </a:moveTo>
                <a:lnTo>
                  <a:pt x="785974" y="27695"/>
                </a:lnTo>
                <a:lnTo>
                  <a:pt x="793119" y="17097"/>
                </a:lnTo>
                <a:lnTo>
                  <a:pt x="803717" y="9951"/>
                </a:lnTo>
                <a:lnTo>
                  <a:pt x="816695" y="7331"/>
                </a:lnTo>
                <a:lnTo>
                  <a:pt x="1414002" y="7331"/>
                </a:lnTo>
                <a:lnTo>
                  <a:pt x="1446698" y="34138"/>
                </a:lnTo>
                <a:lnTo>
                  <a:pt x="1447344" y="40673"/>
                </a:lnTo>
                <a:lnTo>
                  <a:pt x="1447344" y="174035"/>
                </a:lnTo>
                <a:lnTo>
                  <a:pt x="1444724" y="187014"/>
                </a:lnTo>
                <a:lnTo>
                  <a:pt x="1437579" y="197612"/>
                </a:lnTo>
                <a:lnTo>
                  <a:pt x="1426980" y="204757"/>
                </a:lnTo>
                <a:lnTo>
                  <a:pt x="1414002" y="207377"/>
                </a:lnTo>
                <a:lnTo>
                  <a:pt x="816695" y="207377"/>
                </a:lnTo>
                <a:lnTo>
                  <a:pt x="803717" y="204757"/>
                </a:lnTo>
                <a:lnTo>
                  <a:pt x="793119" y="197612"/>
                </a:lnTo>
                <a:lnTo>
                  <a:pt x="785974" y="187014"/>
                </a:lnTo>
                <a:lnTo>
                  <a:pt x="783354" y="174035"/>
                </a:lnTo>
                <a:lnTo>
                  <a:pt x="783354" y="40673"/>
                </a:lnTo>
                <a:close/>
              </a:path>
              <a:path w="2120900" h="1236345">
                <a:moveTo>
                  <a:pt x="1353773" y="534211"/>
                </a:moveTo>
                <a:lnTo>
                  <a:pt x="1356489" y="520758"/>
                </a:lnTo>
                <a:lnTo>
                  <a:pt x="1363896" y="509771"/>
                </a:lnTo>
                <a:lnTo>
                  <a:pt x="1374883" y="502364"/>
                </a:lnTo>
                <a:lnTo>
                  <a:pt x="1388336" y="499648"/>
                </a:lnTo>
                <a:lnTo>
                  <a:pt x="2085898" y="499648"/>
                </a:lnTo>
                <a:lnTo>
                  <a:pt x="2117831" y="520985"/>
                </a:lnTo>
                <a:lnTo>
                  <a:pt x="2120462" y="534211"/>
                </a:lnTo>
                <a:lnTo>
                  <a:pt x="2120462" y="672462"/>
                </a:lnTo>
                <a:lnTo>
                  <a:pt x="2117745" y="685916"/>
                </a:lnTo>
                <a:lnTo>
                  <a:pt x="2110338" y="696902"/>
                </a:lnTo>
                <a:lnTo>
                  <a:pt x="2099352" y="704309"/>
                </a:lnTo>
                <a:lnTo>
                  <a:pt x="2085898" y="707025"/>
                </a:lnTo>
                <a:lnTo>
                  <a:pt x="1388336" y="707025"/>
                </a:lnTo>
                <a:lnTo>
                  <a:pt x="1374883" y="704309"/>
                </a:lnTo>
                <a:lnTo>
                  <a:pt x="1363896" y="696902"/>
                </a:lnTo>
                <a:lnTo>
                  <a:pt x="1356489" y="685916"/>
                </a:lnTo>
                <a:lnTo>
                  <a:pt x="1353773" y="672462"/>
                </a:lnTo>
                <a:lnTo>
                  <a:pt x="1353773" y="534211"/>
                </a:lnTo>
                <a:close/>
              </a:path>
            </a:pathLst>
          </a:custGeom>
          <a:ln w="2539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86099" y="3678283"/>
            <a:ext cx="479489" cy="303994"/>
          </a:xfrm>
          <a:prstGeom prst="rect">
            <a:avLst/>
          </a:prstGeom>
        </p:spPr>
        <p:txBody>
          <a:bodyPr vert="horz" wrap="square" lIns="0" tIns="50864" rIns="0" bIns="0" rtlCol="0">
            <a:spAutoFit/>
          </a:bodyPr>
          <a:lstStyle/>
          <a:p>
            <a:pPr marL="11430" marR="4572" indent="83439">
              <a:lnSpc>
                <a:spcPct val="76000"/>
              </a:lnSpc>
              <a:spcBef>
                <a:spcPts val="401"/>
              </a:spcBef>
            </a:pPr>
            <a:r>
              <a:rPr sz="1080" spc="-5" dirty="0">
                <a:latin typeface="Arial MT"/>
                <a:cs typeface="Arial MT"/>
              </a:rPr>
              <a:t>Data </a:t>
            </a:r>
            <a:r>
              <a:rPr sz="1080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Service</a:t>
            </a:r>
            <a:endParaRPr sz="108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75099" y="3058842"/>
            <a:ext cx="1360170" cy="833819"/>
            <a:chOff x="1130999" y="3398713"/>
            <a:chExt cx="1511300" cy="926465"/>
          </a:xfrm>
        </p:grpSpPr>
        <p:sp>
          <p:nvSpPr>
            <p:cNvPr id="10" name="object 10"/>
            <p:cNvSpPr/>
            <p:nvPr/>
          </p:nvSpPr>
          <p:spPr>
            <a:xfrm>
              <a:off x="1145287" y="4274489"/>
              <a:ext cx="385445" cy="4445"/>
            </a:xfrm>
            <a:custGeom>
              <a:avLst/>
              <a:gdLst/>
              <a:ahLst/>
              <a:cxnLst/>
              <a:rect l="l" t="t" r="r" b="b"/>
              <a:pathLst>
                <a:path w="385444" h="4445">
                  <a:moveTo>
                    <a:pt x="0" y="0"/>
                  </a:moveTo>
                  <a:lnTo>
                    <a:pt x="385032" y="4295"/>
                  </a:lnTo>
                </a:path>
              </a:pathLst>
            </a:custGeom>
            <a:ln w="2857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541" y="4232006"/>
              <a:ext cx="117217" cy="928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01349" y="3413001"/>
              <a:ext cx="175895" cy="611505"/>
            </a:xfrm>
            <a:custGeom>
              <a:avLst/>
              <a:gdLst/>
              <a:ahLst/>
              <a:cxnLst/>
              <a:rect l="l" t="t" r="r" b="b"/>
              <a:pathLst>
                <a:path w="175894" h="611504">
                  <a:moveTo>
                    <a:pt x="0" y="0"/>
                  </a:moveTo>
                  <a:lnTo>
                    <a:pt x="175454" y="610956"/>
                  </a:lnTo>
                </a:path>
              </a:pathLst>
            </a:custGeom>
            <a:ln w="2857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2760" y="3969913"/>
              <a:ext cx="90347" cy="1223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69816" y="3413001"/>
              <a:ext cx="358140" cy="620395"/>
            </a:xfrm>
            <a:custGeom>
              <a:avLst/>
              <a:gdLst/>
              <a:ahLst/>
              <a:cxnLst/>
              <a:rect l="l" t="t" r="r" b="b"/>
              <a:pathLst>
                <a:path w="358139" h="620395">
                  <a:moveTo>
                    <a:pt x="357597" y="0"/>
                  </a:moveTo>
                  <a:lnTo>
                    <a:pt x="0" y="620242"/>
                  </a:lnTo>
                </a:path>
              </a:pathLst>
            </a:custGeom>
            <a:ln w="2857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7480" y="3975066"/>
              <a:ext cx="100513" cy="12111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55258" y="3605646"/>
            <a:ext cx="213741" cy="1777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080" spc="-5" dirty="0">
                <a:latin typeface="Arial MT"/>
                <a:cs typeface="Arial MT"/>
              </a:rPr>
              <a:t>put</a:t>
            </a:r>
            <a:endParaRPr sz="108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19385" y="2870618"/>
            <a:ext cx="1212152" cy="47218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3439">
              <a:spcBef>
                <a:spcPts val="90"/>
              </a:spcBef>
              <a:tabLst>
                <a:tab pos="826960" algn="l"/>
              </a:tabLst>
            </a:pPr>
            <a:r>
              <a:rPr sz="1620" spc="-6" baseline="2314" dirty="0">
                <a:latin typeface="Arial MT"/>
                <a:cs typeface="Arial MT"/>
              </a:rPr>
              <a:t>Client	</a:t>
            </a:r>
            <a:r>
              <a:rPr sz="1080" spc="-5" dirty="0">
                <a:latin typeface="Arial MT"/>
                <a:cs typeface="Arial MT"/>
              </a:rPr>
              <a:t>Client</a:t>
            </a:r>
            <a:endParaRPr sz="1080">
              <a:latin typeface="Arial MT"/>
              <a:cs typeface="Arial MT"/>
            </a:endParaRPr>
          </a:p>
          <a:p>
            <a:pPr marL="34290">
              <a:spcBef>
                <a:spcPts val="1013"/>
              </a:spcBef>
              <a:tabLst>
                <a:tab pos="557213" algn="l"/>
              </a:tabLst>
            </a:pPr>
            <a:r>
              <a:rPr sz="1620" spc="-6" baseline="11574" dirty="0">
                <a:latin typeface="Arial MT"/>
                <a:cs typeface="Arial MT"/>
              </a:rPr>
              <a:t>get	</a:t>
            </a:r>
            <a:r>
              <a:rPr sz="1080" spc="-5" dirty="0">
                <a:latin typeface="Arial MT"/>
                <a:cs typeface="Arial MT"/>
              </a:rPr>
              <a:t>delete</a:t>
            </a:r>
            <a:endParaRPr sz="108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16862" y="3525525"/>
            <a:ext cx="644081" cy="339471"/>
            <a:chOff x="2510735" y="3917250"/>
            <a:chExt cx="715645" cy="377190"/>
          </a:xfrm>
        </p:grpSpPr>
        <p:sp>
          <p:nvSpPr>
            <p:cNvPr id="19" name="object 19"/>
            <p:cNvSpPr/>
            <p:nvPr/>
          </p:nvSpPr>
          <p:spPr>
            <a:xfrm>
              <a:off x="2525022" y="3956938"/>
              <a:ext cx="636905" cy="323215"/>
            </a:xfrm>
            <a:custGeom>
              <a:avLst/>
              <a:gdLst/>
              <a:ahLst/>
              <a:cxnLst/>
              <a:rect l="l" t="t" r="r" b="b"/>
              <a:pathLst>
                <a:path w="636905" h="323214">
                  <a:moveTo>
                    <a:pt x="0" y="322940"/>
                  </a:moveTo>
                  <a:lnTo>
                    <a:pt x="636752" y="0"/>
                  </a:lnTo>
                </a:path>
              </a:pathLst>
            </a:custGeom>
            <a:ln w="2857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4293" y="3917250"/>
              <a:ext cx="121852" cy="9716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129836" y="3261588"/>
            <a:ext cx="509207" cy="43281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7437" marR="4572" indent="-56579">
              <a:lnSpc>
                <a:spcPct val="133700"/>
              </a:lnSpc>
              <a:spcBef>
                <a:spcPts val="90"/>
              </a:spcBef>
            </a:pPr>
            <a:r>
              <a:rPr sz="1080" spc="-5" dirty="0">
                <a:latin typeface="Arial MT"/>
                <a:cs typeface="Arial MT"/>
              </a:rPr>
              <a:t>function  </a:t>
            </a:r>
            <a:r>
              <a:rPr sz="1080" spc="-45" dirty="0">
                <a:latin typeface="Arial MT"/>
                <a:cs typeface="Arial MT"/>
              </a:rPr>
              <a:t>T</a:t>
            </a:r>
            <a:r>
              <a:rPr sz="1080" dirty="0">
                <a:latin typeface="Arial MT"/>
                <a:cs typeface="Arial MT"/>
              </a:rPr>
              <a:t>rigger</a:t>
            </a:r>
            <a:endParaRPr sz="108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14039" y="3319455"/>
            <a:ext cx="725805" cy="291465"/>
          </a:xfrm>
          <a:custGeom>
            <a:avLst/>
            <a:gdLst/>
            <a:ahLst/>
            <a:cxnLst/>
            <a:rect l="l" t="t" r="r" b="b"/>
            <a:pathLst>
              <a:path w="806450" h="323850">
                <a:moveTo>
                  <a:pt x="0" y="53945"/>
                </a:moveTo>
                <a:lnTo>
                  <a:pt x="4239" y="32947"/>
                </a:lnTo>
                <a:lnTo>
                  <a:pt x="15800" y="15800"/>
                </a:lnTo>
                <a:lnTo>
                  <a:pt x="32947" y="4239"/>
                </a:lnTo>
                <a:lnTo>
                  <a:pt x="53944" y="0"/>
                </a:lnTo>
                <a:lnTo>
                  <a:pt x="752220" y="0"/>
                </a:lnTo>
                <a:lnTo>
                  <a:pt x="790365" y="15800"/>
                </a:lnTo>
                <a:lnTo>
                  <a:pt x="806165" y="53945"/>
                </a:lnTo>
                <a:lnTo>
                  <a:pt x="806165" y="269719"/>
                </a:lnTo>
                <a:lnTo>
                  <a:pt x="801926" y="290716"/>
                </a:lnTo>
                <a:lnTo>
                  <a:pt x="790365" y="307863"/>
                </a:lnTo>
                <a:lnTo>
                  <a:pt x="773218" y="319424"/>
                </a:lnTo>
                <a:lnTo>
                  <a:pt x="752220" y="323663"/>
                </a:lnTo>
                <a:lnTo>
                  <a:pt x="53944" y="323663"/>
                </a:lnTo>
                <a:lnTo>
                  <a:pt x="32947" y="319424"/>
                </a:lnTo>
                <a:lnTo>
                  <a:pt x="15800" y="307863"/>
                </a:lnTo>
                <a:lnTo>
                  <a:pt x="4239" y="290716"/>
                </a:lnTo>
                <a:lnTo>
                  <a:pt x="0" y="269719"/>
                </a:lnTo>
                <a:lnTo>
                  <a:pt x="0" y="53945"/>
                </a:lnTo>
                <a:close/>
              </a:path>
            </a:pathLst>
          </a:custGeom>
          <a:ln w="2539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221897" y="3311768"/>
            <a:ext cx="509207" cy="267253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1430" marR="4572" indent="116585">
              <a:lnSpc>
                <a:spcPct val="76000"/>
              </a:lnSpc>
              <a:spcBef>
                <a:spcPts val="360"/>
              </a:spcBef>
            </a:pPr>
            <a:r>
              <a:rPr sz="945" spc="-5" dirty="0">
                <a:latin typeface="Arial MT"/>
                <a:cs typeface="Arial MT"/>
              </a:rPr>
              <a:t>Data </a:t>
            </a:r>
            <a:r>
              <a:rPr sz="945" dirty="0">
                <a:latin typeface="Arial MT"/>
                <a:cs typeface="Arial MT"/>
              </a:rPr>
              <a:t> </a:t>
            </a:r>
            <a:r>
              <a:rPr sz="945" spc="-5" dirty="0">
                <a:latin typeface="Arial MT"/>
                <a:cs typeface="Arial MT"/>
              </a:rPr>
              <a:t>Producer</a:t>
            </a:r>
            <a:endParaRPr sz="945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160723" y="2860234"/>
            <a:ext cx="884682" cy="242888"/>
          </a:xfrm>
          <a:custGeom>
            <a:avLst/>
            <a:gdLst/>
            <a:ahLst/>
            <a:cxnLst/>
            <a:rect l="l" t="t" r="r" b="b"/>
            <a:pathLst>
              <a:path w="982979" h="269875">
                <a:moveTo>
                  <a:pt x="0" y="44967"/>
                </a:moveTo>
                <a:lnTo>
                  <a:pt x="3533" y="27464"/>
                </a:lnTo>
                <a:lnTo>
                  <a:pt x="13170" y="13170"/>
                </a:lnTo>
                <a:lnTo>
                  <a:pt x="27463" y="3533"/>
                </a:lnTo>
                <a:lnTo>
                  <a:pt x="44966" y="0"/>
                </a:lnTo>
                <a:lnTo>
                  <a:pt x="937982" y="0"/>
                </a:lnTo>
                <a:lnTo>
                  <a:pt x="975395" y="20019"/>
                </a:lnTo>
                <a:lnTo>
                  <a:pt x="982950" y="44967"/>
                </a:lnTo>
                <a:lnTo>
                  <a:pt x="982950" y="224831"/>
                </a:lnTo>
                <a:lnTo>
                  <a:pt x="979416" y="242335"/>
                </a:lnTo>
                <a:lnTo>
                  <a:pt x="969779" y="256628"/>
                </a:lnTo>
                <a:lnTo>
                  <a:pt x="955486" y="266265"/>
                </a:lnTo>
                <a:lnTo>
                  <a:pt x="937982" y="269798"/>
                </a:lnTo>
                <a:lnTo>
                  <a:pt x="44966" y="269798"/>
                </a:lnTo>
                <a:lnTo>
                  <a:pt x="27463" y="266265"/>
                </a:lnTo>
                <a:lnTo>
                  <a:pt x="13170" y="256628"/>
                </a:lnTo>
                <a:lnTo>
                  <a:pt x="3533" y="242335"/>
                </a:lnTo>
                <a:lnTo>
                  <a:pt x="0" y="224831"/>
                </a:lnTo>
                <a:lnTo>
                  <a:pt x="0" y="44967"/>
                </a:lnTo>
                <a:close/>
              </a:path>
            </a:pathLst>
          </a:custGeom>
          <a:ln w="2539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67088" y="2883036"/>
            <a:ext cx="672084" cy="1569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45" spc="-36" dirty="0">
                <a:latin typeface="Arial MT"/>
                <a:cs typeface="Arial MT"/>
              </a:rPr>
              <a:t>T</a:t>
            </a:r>
            <a:r>
              <a:rPr sz="945" dirty="0">
                <a:latin typeface="Arial MT"/>
                <a:cs typeface="Arial MT"/>
              </a:rPr>
              <a:t>ransformer</a:t>
            </a:r>
            <a:endParaRPr sz="945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39349" y="3333974"/>
            <a:ext cx="732662" cy="242888"/>
          </a:xfrm>
          <a:custGeom>
            <a:avLst/>
            <a:gdLst/>
            <a:ahLst/>
            <a:cxnLst/>
            <a:rect l="l" t="t" r="r" b="b"/>
            <a:pathLst>
              <a:path w="814070" h="269875">
                <a:moveTo>
                  <a:pt x="0" y="44930"/>
                </a:moveTo>
                <a:lnTo>
                  <a:pt x="3530" y="27441"/>
                </a:lnTo>
                <a:lnTo>
                  <a:pt x="13160" y="13159"/>
                </a:lnTo>
                <a:lnTo>
                  <a:pt x="27441" y="3530"/>
                </a:lnTo>
                <a:lnTo>
                  <a:pt x="44930" y="0"/>
                </a:lnTo>
                <a:lnTo>
                  <a:pt x="768668" y="0"/>
                </a:lnTo>
                <a:lnTo>
                  <a:pt x="806050" y="20002"/>
                </a:lnTo>
                <a:lnTo>
                  <a:pt x="813599" y="44930"/>
                </a:lnTo>
                <a:lnTo>
                  <a:pt x="813599" y="224644"/>
                </a:lnTo>
                <a:lnTo>
                  <a:pt x="810068" y="242133"/>
                </a:lnTo>
                <a:lnTo>
                  <a:pt x="800439" y="256415"/>
                </a:lnTo>
                <a:lnTo>
                  <a:pt x="786158" y="266044"/>
                </a:lnTo>
                <a:lnTo>
                  <a:pt x="768668" y="269574"/>
                </a:lnTo>
                <a:lnTo>
                  <a:pt x="44930" y="269574"/>
                </a:lnTo>
                <a:lnTo>
                  <a:pt x="27441" y="266044"/>
                </a:lnTo>
                <a:lnTo>
                  <a:pt x="13160" y="256415"/>
                </a:lnTo>
                <a:lnTo>
                  <a:pt x="3530" y="242133"/>
                </a:lnTo>
                <a:lnTo>
                  <a:pt x="0" y="224644"/>
                </a:lnTo>
                <a:lnTo>
                  <a:pt x="0" y="44930"/>
                </a:lnTo>
                <a:close/>
              </a:path>
            </a:pathLst>
          </a:custGeom>
          <a:ln w="2539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460573" y="3356673"/>
            <a:ext cx="489204" cy="1569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45" spc="-5" dirty="0">
                <a:latin typeface="Arial MT"/>
                <a:cs typeface="Arial MT"/>
              </a:rPr>
              <a:t>Analyzer</a:t>
            </a:r>
            <a:endParaRPr sz="945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55904" y="3727100"/>
            <a:ext cx="716090" cy="270891"/>
          </a:xfrm>
          <a:custGeom>
            <a:avLst/>
            <a:gdLst/>
            <a:ahLst/>
            <a:cxnLst/>
            <a:rect l="l" t="t" r="r" b="b"/>
            <a:pathLst>
              <a:path w="795654" h="300989">
                <a:moveTo>
                  <a:pt x="0" y="50076"/>
                </a:moveTo>
                <a:lnTo>
                  <a:pt x="3935" y="30584"/>
                </a:lnTo>
                <a:lnTo>
                  <a:pt x="14666" y="14667"/>
                </a:lnTo>
                <a:lnTo>
                  <a:pt x="30584" y="3935"/>
                </a:lnTo>
                <a:lnTo>
                  <a:pt x="50076" y="0"/>
                </a:lnTo>
                <a:lnTo>
                  <a:pt x="745128" y="0"/>
                </a:lnTo>
                <a:lnTo>
                  <a:pt x="780537" y="14667"/>
                </a:lnTo>
                <a:lnTo>
                  <a:pt x="795204" y="50076"/>
                </a:lnTo>
                <a:lnTo>
                  <a:pt x="795204" y="250376"/>
                </a:lnTo>
                <a:lnTo>
                  <a:pt x="791269" y="269868"/>
                </a:lnTo>
                <a:lnTo>
                  <a:pt x="780537" y="285786"/>
                </a:lnTo>
                <a:lnTo>
                  <a:pt x="764620" y="296518"/>
                </a:lnTo>
                <a:lnTo>
                  <a:pt x="745128" y="300453"/>
                </a:lnTo>
                <a:lnTo>
                  <a:pt x="50076" y="300453"/>
                </a:lnTo>
                <a:lnTo>
                  <a:pt x="30584" y="296518"/>
                </a:lnTo>
                <a:lnTo>
                  <a:pt x="14666" y="285786"/>
                </a:lnTo>
                <a:lnTo>
                  <a:pt x="3935" y="269868"/>
                </a:lnTo>
                <a:lnTo>
                  <a:pt x="0" y="250376"/>
                </a:lnTo>
                <a:lnTo>
                  <a:pt x="0" y="50076"/>
                </a:lnTo>
                <a:close/>
              </a:path>
            </a:pathLst>
          </a:custGeom>
          <a:ln w="2539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485492" y="3763695"/>
            <a:ext cx="456057" cy="1569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45" spc="-5" dirty="0">
                <a:latin typeface="Arial MT"/>
                <a:cs typeface="Arial MT"/>
              </a:rPr>
              <a:t>Ingestor</a:t>
            </a:r>
            <a:endParaRPr sz="945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101177" y="3309633"/>
            <a:ext cx="752094" cy="291465"/>
          </a:xfrm>
          <a:custGeom>
            <a:avLst/>
            <a:gdLst/>
            <a:ahLst/>
            <a:cxnLst/>
            <a:rect l="l" t="t" r="r" b="b"/>
            <a:pathLst>
              <a:path w="835659" h="323850">
                <a:moveTo>
                  <a:pt x="0" y="53945"/>
                </a:moveTo>
                <a:lnTo>
                  <a:pt x="4239" y="32947"/>
                </a:lnTo>
                <a:lnTo>
                  <a:pt x="15800" y="15800"/>
                </a:lnTo>
                <a:lnTo>
                  <a:pt x="32947" y="4239"/>
                </a:lnTo>
                <a:lnTo>
                  <a:pt x="53944" y="0"/>
                </a:lnTo>
                <a:lnTo>
                  <a:pt x="781346" y="0"/>
                </a:lnTo>
                <a:lnTo>
                  <a:pt x="819490" y="15800"/>
                </a:lnTo>
                <a:lnTo>
                  <a:pt x="835291" y="53945"/>
                </a:lnTo>
                <a:lnTo>
                  <a:pt x="835291" y="269719"/>
                </a:lnTo>
                <a:lnTo>
                  <a:pt x="831052" y="290716"/>
                </a:lnTo>
                <a:lnTo>
                  <a:pt x="819491" y="307863"/>
                </a:lnTo>
                <a:lnTo>
                  <a:pt x="802344" y="319424"/>
                </a:lnTo>
                <a:lnTo>
                  <a:pt x="781346" y="323663"/>
                </a:lnTo>
                <a:lnTo>
                  <a:pt x="53944" y="323663"/>
                </a:lnTo>
                <a:lnTo>
                  <a:pt x="32947" y="319424"/>
                </a:lnTo>
                <a:lnTo>
                  <a:pt x="15800" y="307863"/>
                </a:lnTo>
                <a:lnTo>
                  <a:pt x="4239" y="290716"/>
                </a:lnTo>
                <a:lnTo>
                  <a:pt x="0" y="269719"/>
                </a:lnTo>
                <a:lnTo>
                  <a:pt x="0" y="53945"/>
                </a:lnTo>
                <a:close/>
              </a:path>
            </a:pathLst>
          </a:custGeom>
          <a:ln w="2539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175437" y="3301946"/>
            <a:ext cx="1115568" cy="2680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lnSpc>
                <a:spcPts val="999"/>
              </a:lnSpc>
              <a:spcBef>
                <a:spcPts val="90"/>
              </a:spcBef>
              <a:tabLst>
                <a:tab pos="1103567" algn="l"/>
              </a:tabLst>
            </a:pPr>
            <a:r>
              <a:rPr sz="945" dirty="0">
                <a:latin typeface="Arial MT"/>
                <a:cs typeface="Arial MT"/>
              </a:rPr>
              <a:t>Messaging  </a:t>
            </a:r>
            <a:r>
              <a:rPr sz="945" spc="-117" dirty="0">
                <a:latin typeface="Arial MT"/>
                <a:cs typeface="Arial MT"/>
              </a:rPr>
              <a:t> </a:t>
            </a:r>
            <a:r>
              <a:rPr sz="945" u="heavy" dirty="0">
                <a:uFill>
                  <a:solidFill>
                    <a:srgbClr val="FF671F"/>
                  </a:solidFill>
                </a:uFill>
                <a:latin typeface="Times New Roman"/>
                <a:cs typeface="Times New Roman"/>
              </a:rPr>
              <a:t> 	</a:t>
            </a:r>
            <a:endParaRPr sz="945">
              <a:latin typeface="Times New Roman"/>
              <a:cs typeface="Times New Roman"/>
            </a:endParaRPr>
          </a:p>
          <a:p>
            <a:pPr marL="71438">
              <a:lnSpc>
                <a:spcPts val="999"/>
              </a:lnSpc>
            </a:pPr>
            <a:r>
              <a:rPr sz="945" spc="-5" dirty="0">
                <a:latin typeface="Arial MT"/>
                <a:cs typeface="Arial MT"/>
              </a:rPr>
              <a:t>Systems</a:t>
            </a:r>
            <a:endParaRPr sz="945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7251" y="4118522"/>
            <a:ext cx="7409498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437198" algn="l"/>
                <a:tab pos="7397496" algn="l"/>
              </a:tabLst>
            </a:pPr>
            <a:r>
              <a:rPr sz="1620" u="sng" dirty="0">
                <a:solidFill>
                  <a:srgbClr val="FF0000"/>
                </a:solidFill>
                <a:uFill>
                  <a:solidFill>
                    <a:srgbClr val="FF671F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620" u="sng" spc="-5" dirty="0">
                <a:solidFill>
                  <a:srgbClr val="FF0000"/>
                </a:solidFill>
                <a:uFill>
                  <a:solidFill>
                    <a:srgbClr val="FF671F"/>
                  </a:solidFill>
                </a:uFill>
                <a:latin typeface="Arial MT"/>
                <a:cs typeface="Arial MT"/>
              </a:rPr>
              <a:t>Amazon</a:t>
            </a:r>
            <a:r>
              <a:rPr sz="1620" u="sng" spc="-50" dirty="0">
                <a:solidFill>
                  <a:srgbClr val="FF0000"/>
                </a:solidFill>
                <a:uFill>
                  <a:solidFill>
                    <a:srgbClr val="FF671F"/>
                  </a:solidFill>
                </a:uFill>
                <a:latin typeface="Arial MT"/>
                <a:cs typeface="Arial MT"/>
              </a:rPr>
              <a:t> </a:t>
            </a:r>
            <a:r>
              <a:rPr sz="1620" u="sng" spc="-5" dirty="0">
                <a:solidFill>
                  <a:srgbClr val="FF0000"/>
                </a:solidFill>
                <a:uFill>
                  <a:solidFill>
                    <a:srgbClr val="FF671F"/>
                  </a:solidFill>
                </a:uFill>
                <a:latin typeface="Arial MT"/>
                <a:cs typeface="Arial MT"/>
              </a:rPr>
              <a:t>S3/MongoDB	</a:t>
            </a:r>
            <a:endParaRPr sz="1620" dirty="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560081" y="3000367"/>
            <a:ext cx="1878521" cy="1323023"/>
            <a:chOff x="5669867" y="3333741"/>
            <a:chExt cx="2087245" cy="1470025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6144" y="3797743"/>
              <a:ext cx="277529" cy="928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106379" y="3395113"/>
              <a:ext cx="288925" cy="444500"/>
            </a:xfrm>
            <a:custGeom>
              <a:avLst/>
              <a:gdLst/>
              <a:ahLst/>
              <a:cxnLst/>
              <a:rect l="l" t="t" r="r" b="b"/>
              <a:pathLst>
                <a:path w="288925" h="444500">
                  <a:moveTo>
                    <a:pt x="0" y="444089"/>
                  </a:moveTo>
                  <a:lnTo>
                    <a:pt x="288632" y="0"/>
                  </a:lnTo>
                </a:path>
              </a:pathLst>
            </a:custGeom>
            <a:ln w="2857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6268" y="3333741"/>
              <a:ext cx="103633" cy="12011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106379" y="3839202"/>
              <a:ext cx="483234" cy="390525"/>
            </a:xfrm>
            <a:custGeom>
              <a:avLst/>
              <a:gdLst/>
              <a:ahLst/>
              <a:cxnLst/>
              <a:rect l="l" t="t" r="r" b="b"/>
              <a:pathLst>
                <a:path w="483234" h="390525">
                  <a:moveTo>
                    <a:pt x="0" y="0"/>
                  </a:moveTo>
                  <a:lnTo>
                    <a:pt x="482762" y="390511"/>
                  </a:lnTo>
                </a:path>
              </a:pathLst>
            </a:custGeom>
            <a:ln w="28574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29659" y="4170232"/>
              <a:ext cx="117428" cy="10908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02627" y="3792780"/>
              <a:ext cx="116864" cy="9284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10614" y="4427681"/>
              <a:ext cx="1045872" cy="37556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69867" y="4472727"/>
              <a:ext cx="911782" cy="3156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453" y="281993"/>
            <a:ext cx="4966907" cy="1357872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Coordination: </a:t>
            </a:r>
            <a:r>
              <a:rPr spc="-9" dirty="0"/>
              <a:t>Orchestration </a:t>
            </a:r>
            <a:r>
              <a:rPr spc="-5" dirty="0"/>
              <a:t>and </a:t>
            </a:r>
            <a:r>
              <a:rPr spc="-891" dirty="0"/>
              <a:t> </a:t>
            </a:r>
            <a:r>
              <a:rPr spc="-5" dirty="0"/>
              <a:t>Reactiveness/Choreography</a:t>
            </a:r>
          </a:p>
        </p:txBody>
      </p:sp>
      <p:sp>
        <p:nvSpPr>
          <p:cNvPr id="3" name="object 3"/>
          <p:cNvSpPr/>
          <p:nvPr/>
        </p:nvSpPr>
        <p:spPr>
          <a:xfrm>
            <a:off x="1752886" y="1453825"/>
            <a:ext cx="1312736" cy="486347"/>
          </a:xfrm>
          <a:custGeom>
            <a:avLst/>
            <a:gdLst/>
            <a:ahLst/>
            <a:cxnLst/>
            <a:rect l="l" t="t" r="r" b="b"/>
            <a:pathLst>
              <a:path w="1458595" h="540385">
                <a:moveTo>
                  <a:pt x="0" y="90011"/>
                </a:moveTo>
                <a:lnTo>
                  <a:pt x="7073" y="54975"/>
                </a:lnTo>
                <a:lnTo>
                  <a:pt x="26363" y="26363"/>
                </a:lnTo>
                <a:lnTo>
                  <a:pt x="54975" y="7073"/>
                </a:lnTo>
                <a:lnTo>
                  <a:pt x="90011" y="0"/>
                </a:lnTo>
                <a:lnTo>
                  <a:pt x="1368150" y="0"/>
                </a:lnTo>
                <a:lnTo>
                  <a:pt x="1418088" y="15122"/>
                </a:lnTo>
                <a:lnTo>
                  <a:pt x="1451310" y="55565"/>
                </a:lnTo>
                <a:lnTo>
                  <a:pt x="1458161" y="90011"/>
                </a:lnTo>
                <a:lnTo>
                  <a:pt x="1458161" y="450048"/>
                </a:lnTo>
                <a:lnTo>
                  <a:pt x="1451088" y="485084"/>
                </a:lnTo>
                <a:lnTo>
                  <a:pt x="1431798" y="513696"/>
                </a:lnTo>
                <a:lnTo>
                  <a:pt x="1403186" y="532986"/>
                </a:lnTo>
                <a:lnTo>
                  <a:pt x="1368150" y="540059"/>
                </a:lnTo>
                <a:lnTo>
                  <a:pt x="90011" y="540059"/>
                </a:lnTo>
                <a:lnTo>
                  <a:pt x="54975" y="532986"/>
                </a:lnTo>
                <a:lnTo>
                  <a:pt x="26363" y="513696"/>
                </a:lnTo>
                <a:lnTo>
                  <a:pt x="7073" y="485084"/>
                </a:lnTo>
                <a:lnTo>
                  <a:pt x="0" y="450048"/>
                </a:lnTo>
                <a:lnTo>
                  <a:pt x="0" y="90011"/>
                </a:lnTo>
                <a:close/>
              </a:path>
            </a:pathLst>
          </a:custGeom>
          <a:ln w="1904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16472" y="1690722"/>
            <a:ext cx="785241" cy="2192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350" b="1" spc="-5" dirty="0">
                <a:latin typeface="Arial"/>
                <a:cs typeface="Arial"/>
              </a:rPr>
              <a:t>Analytics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34551" y="1081929"/>
            <a:ext cx="1947101" cy="442913"/>
          </a:xfrm>
          <a:custGeom>
            <a:avLst/>
            <a:gdLst/>
            <a:ahLst/>
            <a:cxnLst/>
            <a:rect l="l" t="t" r="r" b="b"/>
            <a:pathLst>
              <a:path w="2163445" h="492125">
                <a:moveTo>
                  <a:pt x="0" y="81961"/>
                </a:moveTo>
                <a:lnTo>
                  <a:pt x="6440" y="50058"/>
                </a:lnTo>
                <a:lnTo>
                  <a:pt x="24005" y="24005"/>
                </a:lnTo>
                <a:lnTo>
                  <a:pt x="50058" y="6440"/>
                </a:lnTo>
                <a:lnTo>
                  <a:pt x="81961" y="0"/>
                </a:lnTo>
                <a:lnTo>
                  <a:pt x="2081205" y="0"/>
                </a:lnTo>
                <a:lnTo>
                  <a:pt x="2126677" y="13770"/>
                </a:lnTo>
                <a:lnTo>
                  <a:pt x="2156928" y="50596"/>
                </a:lnTo>
                <a:lnTo>
                  <a:pt x="2163166" y="81961"/>
                </a:lnTo>
                <a:lnTo>
                  <a:pt x="2163166" y="409797"/>
                </a:lnTo>
                <a:lnTo>
                  <a:pt x="2156726" y="441700"/>
                </a:lnTo>
                <a:lnTo>
                  <a:pt x="2139160" y="467753"/>
                </a:lnTo>
                <a:lnTo>
                  <a:pt x="2113108" y="485318"/>
                </a:lnTo>
                <a:lnTo>
                  <a:pt x="2081205" y="491758"/>
                </a:lnTo>
                <a:lnTo>
                  <a:pt x="81961" y="491758"/>
                </a:lnTo>
                <a:lnTo>
                  <a:pt x="50058" y="485318"/>
                </a:lnTo>
                <a:lnTo>
                  <a:pt x="24005" y="467753"/>
                </a:lnTo>
                <a:lnTo>
                  <a:pt x="6440" y="441700"/>
                </a:lnTo>
                <a:lnTo>
                  <a:pt x="0" y="409797"/>
                </a:lnTo>
                <a:lnTo>
                  <a:pt x="0" y="81961"/>
                </a:lnTo>
                <a:close/>
              </a:path>
            </a:pathLst>
          </a:custGeom>
          <a:ln w="19049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97386" y="1110964"/>
            <a:ext cx="4050221" cy="59375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28925" marR="4572" indent="-452628">
              <a:spcBef>
                <a:spcPts val="90"/>
              </a:spcBef>
            </a:pPr>
            <a:r>
              <a:rPr sz="1350" b="1" spc="-5" dirty="0">
                <a:latin typeface="Arial"/>
                <a:cs typeface="Arial"/>
              </a:rPr>
              <a:t>Energy</a:t>
            </a:r>
            <a:r>
              <a:rPr sz="1350" b="1" spc="-81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Optimization </a:t>
            </a:r>
            <a:r>
              <a:rPr sz="1350" b="1" spc="-360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Analytics</a:t>
            </a:r>
            <a:endParaRPr sz="1350">
              <a:latin typeface="Arial"/>
              <a:cs typeface="Arial"/>
            </a:endParaRPr>
          </a:p>
          <a:p>
            <a:pPr marL="11430">
              <a:lnSpc>
                <a:spcPts val="1323"/>
              </a:lnSpc>
            </a:pPr>
            <a:r>
              <a:rPr sz="1350" b="1" spc="-5" dirty="0">
                <a:latin typeface="Arial"/>
                <a:cs typeface="Arial"/>
              </a:rPr>
              <a:t>Sensor</a:t>
            </a:r>
            <a:r>
              <a:rPr sz="1350" b="1" spc="-45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Data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56661" y="1303280"/>
            <a:ext cx="3033521" cy="640652"/>
            <a:chOff x="2888289" y="1448089"/>
            <a:chExt cx="3370579" cy="711835"/>
          </a:xfrm>
        </p:grpSpPr>
        <p:sp>
          <p:nvSpPr>
            <p:cNvPr id="8" name="object 8"/>
            <p:cNvSpPr/>
            <p:nvPr/>
          </p:nvSpPr>
          <p:spPr>
            <a:xfrm>
              <a:off x="2897814" y="1487483"/>
              <a:ext cx="1080770" cy="398145"/>
            </a:xfrm>
            <a:custGeom>
              <a:avLst/>
              <a:gdLst/>
              <a:ahLst/>
              <a:cxnLst/>
              <a:rect l="l" t="t" r="r" b="b"/>
              <a:pathLst>
                <a:path w="1080770" h="398144">
                  <a:moveTo>
                    <a:pt x="0" y="397908"/>
                  </a:moveTo>
                  <a:lnTo>
                    <a:pt x="108073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8156" y="1448089"/>
              <a:ext cx="111048" cy="784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07529" y="1772059"/>
              <a:ext cx="2141855" cy="378460"/>
            </a:xfrm>
            <a:custGeom>
              <a:avLst/>
              <a:gdLst/>
              <a:ahLst/>
              <a:cxnLst/>
              <a:rect l="l" t="t" r="r" b="b"/>
              <a:pathLst>
                <a:path w="2141854" h="378460">
                  <a:moveTo>
                    <a:pt x="0" y="63008"/>
                  </a:moveTo>
                  <a:lnTo>
                    <a:pt x="4951" y="38482"/>
                  </a:lnTo>
                  <a:lnTo>
                    <a:pt x="18454" y="18454"/>
                  </a:lnTo>
                  <a:lnTo>
                    <a:pt x="38482" y="4951"/>
                  </a:lnTo>
                  <a:lnTo>
                    <a:pt x="63007" y="0"/>
                  </a:lnTo>
                  <a:lnTo>
                    <a:pt x="2078575" y="0"/>
                  </a:lnTo>
                  <a:lnTo>
                    <a:pt x="2123129" y="18454"/>
                  </a:lnTo>
                  <a:lnTo>
                    <a:pt x="2141583" y="63008"/>
                  </a:lnTo>
                  <a:lnTo>
                    <a:pt x="2141583" y="315033"/>
                  </a:lnTo>
                  <a:lnTo>
                    <a:pt x="2136632" y="339559"/>
                  </a:lnTo>
                  <a:lnTo>
                    <a:pt x="2123129" y="359587"/>
                  </a:lnTo>
                  <a:lnTo>
                    <a:pt x="2103101" y="373090"/>
                  </a:lnTo>
                  <a:lnTo>
                    <a:pt x="2078575" y="378041"/>
                  </a:lnTo>
                  <a:lnTo>
                    <a:pt x="63007" y="378041"/>
                  </a:lnTo>
                  <a:lnTo>
                    <a:pt x="38482" y="373090"/>
                  </a:lnTo>
                  <a:lnTo>
                    <a:pt x="18454" y="359587"/>
                  </a:lnTo>
                  <a:lnTo>
                    <a:pt x="4951" y="339559"/>
                  </a:lnTo>
                  <a:lnTo>
                    <a:pt x="0" y="315033"/>
                  </a:lnTo>
                  <a:lnTo>
                    <a:pt x="0" y="63008"/>
                  </a:lnTo>
                  <a:close/>
                </a:path>
              </a:pathLst>
            </a:custGeom>
            <a:ln w="19049">
              <a:solidFill>
                <a:srgbClr val="FFC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19162" y="1618892"/>
            <a:ext cx="1600772" cy="2192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350" b="1" spc="-5" dirty="0">
                <a:latin typeface="Arial"/>
                <a:cs typeface="Arial"/>
              </a:rPr>
              <a:t>Emergency</a:t>
            </a:r>
            <a:r>
              <a:rPr sz="1350" b="1" spc="-72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Service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56660" y="1688280"/>
            <a:ext cx="3603879" cy="916686"/>
            <a:chOff x="2888289" y="1875867"/>
            <a:chExt cx="4004310" cy="1018540"/>
          </a:xfrm>
        </p:grpSpPr>
        <p:sp>
          <p:nvSpPr>
            <p:cNvPr id="13" name="object 13"/>
            <p:cNvSpPr/>
            <p:nvPr/>
          </p:nvSpPr>
          <p:spPr>
            <a:xfrm>
              <a:off x="2897814" y="1885392"/>
              <a:ext cx="1096010" cy="68580"/>
            </a:xfrm>
            <a:custGeom>
              <a:avLst/>
              <a:gdLst/>
              <a:ahLst/>
              <a:cxnLst/>
              <a:rect l="l" t="t" r="r" b="b"/>
              <a:pathLst>
                <a:path w="1096010" h="68580">
                  <a:moveTo>
                    <a:pt x="0" y="0"/>
                  </a:moveTo>
                  <a:lnTo>
                    <a:pt x="1095522" y="6847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1848" y="1912933"/>
              <a:ext cx="107295" cy="818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139949" y="2344450"/>
              <a:ext cx="2743200" cy="540385"/>
            </a:xfrm>
            <a:custGeom>
              <a:avLst/>
              <a:gdLst/>
              <a:ahLst/>
              <a:cxnLst/>
              <a:rect l="l" t="t" r="r" b="b"/>
              <a:pathLst>
                <a:path w="2743200" h="540385">
                  <a:moveTo>
                    <a:pt x="0" y="90001"/>
                  </a:moveTo>
                  <a:lnTo>
                    <a:pt x="7072" y="54968"/>
                  </a:lnTo>
                  <a:lnTo>
                    <a:pt x="26360" y="26360"/>
                  </a:lnTo>
                  <a:lnTo>
                    <a:pt x="54968" y="7072"/>
                  </a:lnTo>
                  <a:lnTo>
                    <a:pt x="90001" y="0"/>
                  </a:lnTo>
                  <a:lnTo>
                    <a:pt x="2652597" y="0"/>
                  </a:lnTo>
                  <a:lnTo>
                    <a:pt x="2702531" y="15121"/>
                  </a:lnTo>
                  <a:lnTo>
                    <a:pt x="2735748" y="55559"/>
                  </a:lnTo>
                  <a:lnTo>
                    <a:pt x="2742599" y="90001"/>
                  </a:lnTo>
                  <a:lnTo>
                    <a:pt x="2742599" y="449998"/>
                  </a:lnTo>
                  <a:lnTo>
                    <a:pt x="2735526" y="485031"/>
                  </a:lnTo>
                  <a:lnTo>
                    <a:pt x="2716238" y="513639"/>
                  </a:lnTo>
                  <a:lnTo>
                    <a:pt x="2687630" y="532927"/>
                  </a:lnTo>
                  <a:lnTo>
                    <a:pt x="2652597" y="539999"/>
                  </a:lnTo>
                  <a:lnTo>
                    <a:pt x="90001" y="539999"/>
                  </a:lnTo>
                  <a:lnTo>
                    <a:pt x="54968" y="532927"/>
                  </a:lnTo>
                  <a:lnTo>
                    <a:pt x="26360" y="513639"/>
                  </a:lnTo>
                  <a:lnTo>
                    <a:pt x="7072" y="485031"/>
                  </a:lnTo>
                  <a:lnTo>
                    <a:pt x="0" y="449998"/>
                  </a:lnTo>
                  <a:lnTo>
                    <a:pt x="0" y="90001"/>
                  </a:lnTo>
                  <a:close/>
                </a:path>
              </a:pathLst>
            </a:custGeom>
            <a:ln w="19049">
              <a:solidFill>
                <a:srgbClr val="FFC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76943" y="2141158"/>
            <a:ext cx="2079117" cy="427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 indent="152019">
              <a:spcBef>
                <a:spcPts val="90"/>
              </a:spcBef>
            </a:pPr>
            <a:r>
              <a:rPr sz="1350" b="1" spc="-5" dirty="0">
                <a:latin typeface="Arial"/>
                <a:cs typeface="Arial"/>
              </a:rPr>
              <a:t>Equipment Predictive </a:t>
            </a:r>
            <a:r>
              <a:rPr sz="1350" b="1" dirty="0">
                <a:latin typeface="Arial"/>
                <a:cs typeface="Arial"/>
              </a:rPr>
              <a:t> Maintenance</a:t>
            </a:r>
            <a:r>
              <a:rPr sz="1350" b="1" spc="-86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Forecasting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12495" y="1686982"/>
            <a:ext cx="2658047" cy="2360867"/>
            <a:chOff x="1172550" y="1874424"/>
            <a:chExt cx="2953385" cy="2623185"/>
          </a:xfrm>
        </p:grpSpPr>
        <p:sp>
          <p:nvSpPr>
            <p:cNvPr id="18" name="object 18"/>
            <p:cNvSpPr/>
            <p:nvPr/>
          </p:nvSpPr>
          <p:spPr>
            <a:xfrm>
              <a:off x="1186838" y="3942657"/>
              <a:ext cx="1026160" cy="540385"/>
            </a:xfrm>
            <a:custGeom>
              <a:avLst/>
              <a:gdLst/>
              <a:ahLst/>
              <a:cxnLst/>
              <a:rect l="l" t="t" r="r" b="b"/>
              <a:pathLst>
                <a:path w="1026160" h="540385">
                  <a:moveTo>
                    <a:pt x="0" y="90012"/>
                  </a:moveTo>
                  <a:lnTo>
                    <a:pt x="7073" y="54975"/>
                  </a:lnTo>
                  <a:lnTo>
                    <a:pt x="26363" y="26364"/>
                  </a:lnTo>
                  <a:lnTo>
                    <a:pt x="54975" y="7073"/>
                  </a:lnTo>
                  <a:lnTo>
                    <a:pt x="90011" y="0"/>
                  </a:lnTo>
                  <a:lnTo>
                    <a:pt x="936102" y="0"/>
                  </a:lnTo>
                  <a:lnTo>
                    <a:pt x="986040" y="15123"/>
                  </a:lnTo>
                  <a:lnTo>
                    <a:pt x="1019262" y="55566"/>
                  </a:lnTo>
                  <a:lnTo>
                    <a:pt x="1026113" y="90012"/>
                  </a:lnTo>
                  <a:lnTo>
                    <a:pt x="1026113" y="450048"/>
                  </a:lnTo>
                  <a:lnTo>
                    <a:pt x="1019040" y="485085"/>
                  </a:lnTo>
                  <a:lnTo>
                    <a:pt x="999750" y="513696"/>
                  </a:lnTo>
                  <a:lnTo>
                    <a:pt x="971138" y="532986"/>
                  </a:lnTo>
                  <a:lnTo>
                    <a:pt x="936102" y="540060"/>
                  </a:lnTo>
                  <a:lnTo>
                    <a:pt x="90011" y="540060"/>
                  </a:lnTo>
                  <a:lnTo>
                    <a:pt x="54975" y="532986"/>
                  </a:lnTo>
                  <a:lnTo>
                    <a:pt x="26363" y="513696"/>
                  </a:lnTo>
                  <a:lnTo>
                    <a:pt x="7073" y="485085"/>
                  </a:lnTo>
                  <a:lnTo>
                    <a:pt x="0" y="450048"/>
                  </a:lnTo>
                  <a:lnTo>
                    <a:pt x="0" y="90012"/>
                  </a:lnTo>
                  <a:close/>
                </a:path>
              </a:pathLst>
            </a:custGeom>
            <a:ln w="28574">
              <a:solidFill>
                <a:srgbClr val="FFC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14149" y="1883949"/>
              <a:ext cx="1127760" cy="672465"/>
            </a:xfrm>
            <a:custGeom>
              <a:avLst/>
              <a:gdLst/>
              <a:ahLst/>
              <a:cxnLst/>
              <a:rect l="l" t="t" r="r" b="b"/>
              <a:pathLst>
                <a:path w="1127760" h="672464">
                  <a:moveTo>
                    <a:pt x="0" y="0"/>
                  </a:moveTo>
                  <a:lnTo>
                    <a:pt x="1127612" y="67198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6129" y="2519381"/>
              <a:ext cx="109421" cy="9033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597658" y="3579549"/>
            <a:ext cx="698373" cy="2192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350" b="1" spc="-5" dirty="0">
                <a:latin typeface="Arial"/>
                <a:cs typeface="Arial"/>
              </a:rPr>
              <a:t>Sensors</a:t>
            </a:r>
            <a:endParaRPr sz="13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27532" y="2848042"/>
            <a:ext cx="3324416" cy="1199579"/>
          </a:xfrm>
          <a:custGeom>
            <a:avLst/>
            <a:gdLst/>
            <a:ahLst/>
            <a:cxnLst/>
            <a:rect l="l" t="t" r="r" b="b"/>
            <a:pathLst>
              <a:path w="3693795" h="1332864">
                <a:moveTo>
                  <a:pt x="0" y="882473"/>
                </a:moveTo>
                <a:lnTo>
                  <a:pt x="7073" y="847436"/>
                </a:lnTo>
                <a:lnTo>
                  <a:pt x="26363" y="818825"/>
                </a:lnTo>
                <a:lnTo>
                  <a:pt x="54975" y="799535"/>
                </a:lnTo>
                <a:lnTo>
                  <a:pt x="90011" y="792461"/>
                </a:lnTo>
                <a:lnTo>
                  <a:pt x="936101" y="792461"/>
                </a:lnTo>
                <a:lnTo>
                  <a:pt x="986040" y="807585"/>
                </a:lnTo>
                <a:lnTo>
                  <a:pt x="1019262" y="848027"/>
                </a:lnTo>
                <a:lnTo>
                  <a:pt x="1026113" y="882473"/>
                </a:lnTo>
                <a:lnTo>
                  <a:pt x="1026113" y="1242510"/>
                </a:lnTo>
                <a:lnTo>
                  <a:pt x="1019040" y="1277547"/>
                </a:lnTo>
                <a:lnTo>
                  <a:pt x="999750" y="1306158"/>
                </a:lnTo>
                <a:lnTo>
                  <a:pt x="971138" y="1325448"/>
                </a:lnTo>
                <a:lnTo>
                  <a:pt x="936101" y="1332521"/>
                </a:lnTo>
                <a:lnTo>
                  <a:pt x="90011" y="1332521"/>
                </a:lnTo>
                <a:lnTo>
                  <a:pt x="54975" y="1325448"/>
                </a:lnTo>
                <a:lnTo>
                  <a:pt x="26363" y="1306158"/>
                </a:lnTo>
                <a:lnTo>
                  <a:pt x="7073" y="1277547"/>
                </a:lnTo>
                <a:lnTo>
                  <a:pt x="0" y="1242510"/>
                </a:lnTo>
                <a:lnTo>
                  <a:pt x="0" y="882473"/>
                </a:lnTo>
                <a:close/>
              </a:path>
              <a:path w="3693795" h="1332864">
                <a:moveTo>
                  <a:pt x="1807998" y="90011"/>
                </a:moveTo>
                <a:lnTo>
                  <a:pt x="1815072" y="54975"/>
                </a:lnTo>
                <a:lnTo>
                  <a:pt x="1834362" y="26363"/>
                </a:lnTo>
                <a:lnTo>
                  <a:pt x="1862974" y="7073"/>
                </a:lnTo>
                <a:lnTo>
                  <a:pt x="1898010" y="0"/>
                </a:lnTo>
                <a:lnTo>
                  <a:pt x="3603258" y="0"/>
                </a:lnTo>
                <a:lnTo>
                  <a:pt x="3653196" y="15123"/>
                </a:lnTo>
                <a:lnTo>
                  <a:pt x="3686418" y="55565"/>
                </a:lnTo>
                <a:lnTo>
                  <a:pt x="3693269" y="90011"/>
                </a:lnTo>
                <a:lnTo>
                  <a:pt x="3693269" y="450048"/>
                </a:lnTo>
                <a:lnTo>
                  <a:pt x="3686196" y="485084"/>
                </a:lnTo>
                <a:lnTo>
                  <a:pt x="3666906" y="513696"/>
                </a:lnTo>
                <a:lnTo>
                  <a:pt x="3638294" y="532986"/>
                </a:lnTo>
                <a:lnTo>
                  <a:pt x="3603258" y="540059"/>
                </a:lnTo>
                <a:lnTo>
                  <a:pt x="1898010" y="540059"/>
                </a:lnTo>
                <a:lnTo>
                  <a:pt x="1862974" y="532986"/>
                </a:lnTo>
                <a:lnTo>
                  <a:pt x="1834362" y="513696"/>
                </a:lnTo>
                <a:lnTo>
                  <a:pt x="1815072" y="485084"/>
                </a:lnTo>
                <a:lnTo>
                  <a:pt x="1807998" y="450048"/>
                </a:lnTo>
                <a:lnTo>
                  <a:pt x="1807998" y="90011"/>
                </a:lnTo>
                <a:close/>
              </a:path>
            </a:pathLst>
          </a:custGeom>
          <a:ln w="28574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399837" y="3592415"/>
            <a:ext cx="2455736" cy="2192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850964" algn="l"/>
                <a:tab pos="2443734" algn="l"/>
              </a:tabLst>
            </a:pPr>
            <a:r>
              <a:rPr sz="1350" b="1" spc="-5" dirty="0">
                <a:latin typeface="Arial"/>
                <a:cs typeface="Arial"/>
              </a:rPr>
              <a:t>Broker	</a:t>
            </a:r>
            <a:r>
              <a:rPr sz="135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19894" y="2879199"/>
            <a:ext cx="1165860" cy="427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2868" marR="4572" indent="-72009">
              <a:spcBef>
                <a:spcPts val="90"/>
              </a:spcBef>
            </a:pPr>
            <a:r>
              <a:rPr sz="1350" b="1" spc="-5" dirty="0">
                <a:latin typeface="Arial"/>
                <a:cs typeface="Arial"/>
              </a:rPr>
              <a:t>Near</a:t>
            </a:r>
            <a:r>
              <a:rPr sz="1350" b="1" spc="-81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Realtime </a:t>
            </a:r>
            <a:r>
              <a:rPr sz="1350" b="1" spc="-360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Analysis/ML</a:t>
            </a:r>
            <a:endParaRPr sz="13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27491" y="3893264"/>
            <a:ext cx="2084832" cy="486347"/>
          </a:xfrm>
          <a:custGeom>
            <a:avLst/>
            <a:gdLst/>
            <a:ahLst/>
            <a:cxnLst/>
            <a:rect l="l" t="t" r="r" b="b"/>
            <a:pathLst>
              <a:path w="2316479" h="540385">
                <a:moveTo>
                  <a:pt x="0" y="90001"/>
                </a:moveTo>
                <a:lnTo>
                  <a:pt x="7072" y="54969"/>
                </a:lnTo>
                <a:lnTo>
                  <a:pt x="26360" y="26360"/>
                </a:lnTo>
                <a:lnTo>
                  <a:pt x="54969" y="7072"/>
                </a:lnTo>
                <a:lnTo>
                  <a:pt x="90001" y="0"/>
                </a:lnTo>
                <a:lnTo>
                  <a:pt x="2225998" y="0"/>
                </a:lnTo>
                <a:lnTo>
                  <a:pt x="2275930" y="15121"/>
                </a:lnTo>
                <a:lnTo>
                  <a:pt x="2309149" y="55559"/>
                </a:lnTo>
                <a:lnTo>
                  <a:pt x="2315999" y="90001"/>
                </a:lnTo>
                <a:lnTo>
                  <a:pt x="2315999" y="449997"/>
                </a:lnTo>
                <a:lnTo>
                  <a:pt x="2308927" y="485030"/>
                </a:lnTo>
                <a:lnTo>
                  <a:pt x="2289638" y="513639"/>
                </a:lnTo>
                <a:lnTo>
                  <a:pt x="2261030" y="532927"/>
                </a:lnTo>
                <a:lnTo>
                  <a:pt x="2225998" y="539999"/>
                </a:lnTo>
                <a:lnTo>
                  <a:pt x="90001" y="539999"/>
                </a:lnTo>
                <a:lnTo>
                  <a:pt x="54969" y="532927"/>
                </a:lnTo>
                <a:lnTo>
                  <a:pt x="26360" y="513639"/>
                </a:lnTo>
                <a:lnTo>
                  <a:pt x="7072" y="485030"/>
                </a:lnTo>
                <a:lnTo>
                  <a:pt x="0" y="449997"/>
                </a:lnTo>
                <a:lnTo>
                  <a:pt x="0" y="90001"/>
                </a:lnTo>
                <a:close/>
              </a:path>
            </a:pathLst>
          </a:custGeom>
          <a:ln w="28574">
            <a:solidFill>
              <a:srgbClr val="FFC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73552" y="3924418"/>
            <a:ext cx="1790510" cy="427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4323" marR="4572" indent="-283464">
              <a:spcBef>
                <a:spcPts val="90"/>
              </a:spcBef>
            </a:pPr>
            <a:r>
              <a:rPr sz="1350" b="1" spc="-5" dirty="0">
                <a:latin typeface="Arial"/>
                <a:cs typeface="Arial"/>
              </a:rPr>
              <a:t>Historical</a:t>
            </a:r>
            <a:r>
              <a:rPr sz="1350" b="1" spc="-45" dirty="0">
                <a:latin typeface="Arial"/>
                <a:cs typeface="Arial"/>
              </a:rPr>
              <a:t> </a:t>
            </a:r>
            <a:r>
              <a:rPr sz="1350" b="1" spc="-9" dirty="0">
                <a:latin typeface="Arial"/>
                <a:cs typeface="Arial"/>
              </a:rPr>
              <a:t>Time</a:t>
            </a:r>
            <a:r>
              <a:rPr sz="1350" b="1" spc="-41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series </a:t>
            </a:r>
            <a:r>
              <a:rPr sz="1350" b="1" spc="-365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Data</a:t>
            </a:r>
            <a:r>
              <a:rPr sz="1350" b="1" spc="-68" dirty="0">
                <a:latin typeface="Arial"/>
                <a:cs typeface="Arial"/>
              </a:rPr>
              <a:t> </a:t>
            </a:r>
            <a:r>
              <a:rPr sz="1350" b="1" spc="-5" dirty="0">
                <a:latin typeface="Arial"/>
                <a:cs typeface="Arial"/>
              </a:rPr>
              <a:t>Archiving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15154" y="1933854"/>
            <a:ext cx="5343525" cy="2257997"/>
            <a:chOff x="64393" y="2148726"/>
            <a:chExt cx="5937250" cy="2508885"/>
          </a:xfrm>
        </p:grpSpPr>
        <p:sp>
          <p:nvSpPr>
            <p:cNvPr id="28" name="object 28"/>
            <p:cNvSpPr/>
            <p:nvPr/>
          </p:nvSpPr>
          <p:spPr>
            <a:xfrm>
              <a:off x="2212951" y="4212688"/>
              <a:ext cx="805180" cy="12065"/>
            </a:xfrm>
            <a:custGeom>
              <a:avLst/>
              <a:gdLst/>
              <a:ahLst/>
              <a:cxnLst/>
              <a:rect l="l" t="t" r="r" b="b"/>
              <a:pathLst>
                <a:path w="805180" h="12064">
                  <a:moveTo>
                    <a:pt x="0" y="0"/>
                  </a:moveTo>
                  <a:lnTo>
                    <a:pt x="804768" y="1187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2736" y="4163078"/>
              <a:ext cx="158933" cy="12296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702456" y="3434521"/>
              <a:ext cx="1295400" cy="351155"/>
            </a:xfrm>
            <a:custGeom>
              <a:avLst/>
              <a:gdLst/>
              <a:ahLst/>
              <a:cxnLst/>
              <a:rect l="l" t="t" r="r" b="b"/>
              <a:pathLst>
                <a:path w="1295400" h="351154">
                  <a:moveTo>
                    <a:pt x="1294799" y="0"/>
                  </a:moveTo>
                  <a:lnTo>
                    <a:pt x="0" y="0"/>
                  </a:lnTo>
                  <a:lnTo>
                    <a:pt x="0" y="35084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40970" y="3771084"/>
              <a:ext cx="122971" cy="158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8285" y="3732170"/>
              <a:ext cx="122971" cy="15825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702315" y="4497013"/>
              <a:ext cx="1426845" cy="99060"/>
            </a:xfrm>
            <a:custGeom>
              <a:avLst/>
              <a:gdLst/>
              <a:ahLst/>
              <a:cxnLst/>
              <a:rect l="l" t="t" r="r" b="b"/>
              <a:pathLst>
                <a:path w="1426845" h="99060">
                  <a:moveTo>
                    <a:pt x="0" y="0"/>
                  </a:moveTo>
                  <a:lnTo>
                    <a:pt x="0" y="98699"/>
                  </a:lnTo>
                  <a:lnTo>
                    <a:pt x="1426649" y="9869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14677" y="4534227"/>
              <a:ext cx="158250" cy="12297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93" y="2148726"/>
              <a:ext cx="1928724" cy="170381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040566" y="3168343"/>
            <a:ext cx="1326452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620" spc="-5" dirty="0">
                <a:solidFill>
                  <a:srgbClr val="FF0000"/>
                </a:solidFill>
                <a:latin typeface="Arial MT"/>
                <a:cs typeface="Arial MT"/>
              </a:rPr>
              <a:t>Reactiveness/ </a:t>
            </a:r>
            <a:r>
              <a:rPr sz="1620" spc="-44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20" spc="-5" dirty="0">
                <a:solidFill>
                  <a:srgbClr val="FF0000"/>
                </a:solidFill>
                <a:latin typeface="Arial MT"/>
                <a:cs typeface="Arial MT"/>
              </a:rPr>
              <a:t>Choreography</a:t>
            </a:r>
            <a:endParaRPr sz="162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74782" y="2103731"/>
            <a:ext cx="1255586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spc="-5" dirty="0">
                <a:solidFill>
                  <a:srgbClr val="FF0000"/>
                </a:solidFill>
                <a:latin typeface="Arial MT"/>
                <a:cs typeface="Arial MT"/>
              </a:rPr>
              <a:t>Orchestration</a:t>
            </a:r>
            <a:endParaRPr sz="162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7123748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2682621" algn="l"/>
              </a:tabLst>
            </a:pPr>
            <a:r>
              <a:rPr spc="-5" dirty="0"/>
              <a:t>Distribution:	</a:t>
            </a:r>
            <a:r>
              <a:rPr spc="-9" dirty="0"/>
              <a:t>Edge</a:t>
            </a:r>
            <a:r>
              <a:rPr spc="-41" dirty="0"/>
              <a:t> </a:t>
            </a:r>
            <a:r>
              <a:rPr spc="-5" dirty="0"/>
              <a:t>or</a:t>
            </a:r>
            <a:r>
              <a:rPr spc="-32" dirty="0"/>
              <a:t> </a:t>
            </a:r>
            <a:r>
              <a:rPr spc="-5" dirty="0"/>
              <a:t>Data</a:t>
            </a:r>
            <a:r>
              <a:rPr spc="-32" dirty="0"/>
              <a:t> </a:t>
            </a:r>
            <a:r>
              <a:rPr spc="-5" dirty="0"/>
              <a:t>Centers?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306" y="1114409"/>
            <a:ext cx="3850767" cy="2302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4607" marR="4572" indent="-273749">
              <a:spcBef>
                <a:spcPts val="90"/>
              </a:spcBef>
              <a:buChar char="▪"/>
              <a:tabLst>
                <a:tab pos="284607" algn="l"/>
                <a:tab pos="285179" algn="l"/>
              </a:tabLst>
            </a:pPr>
            <a:r>
              <a:rPr sz="1890" b="1" spc="-5" dirty="0">
                <a:latin typeface="Arial"/>
                <a:cs typeface="Arial"/>
              </a:rPr>
              <a:t>Big data </a:t>
            </a:r>
            <a:r>
              <a:rPr sz="1890" b="1" dirty="0">
                <a:latin typeface="Arial"/>
                <a:cs typeface="Arial"/>
              </a:rPr>
              <a:t>&amp; </a:t>
            </a:r>
            <a:r>
              <a:rPr sz="1890" b="1" spc="-5" dirty="0">
                <a:latin typeface="Arial"/>
                <a:cs typeface="Arial"/>
              </a:rPr>
              <a:t>components </a:t>
            </a:r>
            <a:r>
              <a:rPr sz="1890" b="1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components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can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be</a:t>
            </a:r>
            <a:r>
              <a:rPr sz="1890" b="1" spc="-36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distributed </a:t>
            </a:r>
            <a:r>
              <a:rPr sz="1890" b="1" spc="-509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in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different</a:t>
            </a:r>
            <a:r>
              <a:rPr sz="1890" b="1" spc="-14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places!</a:t>
            </a:r>
            <a:endParaRPr sz="1890">
              <a:latin typeface="Arial"/>
              <a:cs typeface="Arial"/>
            </a:endParaRPr>
          </a:p>
          <a:p>
            <a:pPr marL="390906" marR="23431" indent="-225743">
              <a:spcBef>
                <a:spcPts val="18"/>
              </a:spcBef>
            </a:pPr>
            <a:r>
              <a:rPr sz="1440" i="1" spc="-5" dirty="0">
                <a:latin typeface="Courier New"/>
                <a:cs typeface="Courier New"/>
              </a:rPr>
              <a:t>- </a:t>
            </a:r>
            <a:r>
              <a:rPr sz="1440" i="1" spc="-5" dirty="0">
                <a:latin typeface="Georgia"/>
                <a:cs typeface="Georgia"/>
              </a:rPr>
              <a:t>performance, security, regulation, energy </a:t>
            </a:r>
            <a:r>
              <a:rPr sz="1440" i="1" spc="-338" dirty="0">
                <a:latin typeface="Georgia"/>
                <a:cs typeface="Georgia"/>
              </a:rPr>
              <a:t> </a:t>
            </a:r>
            <a:r>
              <a:rPr sz="1440" i="1" spc="-5" dirty="0">
                <a:latin typeface="Georgia"/>
                <a:cs typeface="Georgia"/>
              </a:rPr>
              <a:t>efficiency</a:t>
            </a:r>
            <a:endParaRPr sz="1440">
              <a:latin typeface="Georgia"/>
              <a:cs typeface="Georgia"/>
            </a:endParaRPr>
          </a:p>
          <a:p>
            <a:pPr marL="284607" indent="-273749">
              <a:spcBef>
                <a:spcPts val="360"/>
              </a:spcBef>
              <a:buChar char="▪"/>
              <a:tabLst>
                <a:tab pos="284607" algn="l"/>
                <a:tab pos="285179" algn="l"/>
              </a:tabLst>
            </a:pPr>
            <a:r>
              <a:rPr sz="1890" b="1" spc="-5" dirty="0">
                <a:latin typeface="Arial"/>
                <a:cs typeface="Arial"/>
              </a:rPr>
              <a:t>Global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deployment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or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not?</a:t>
            </a:r>
            <a:endParaRPr sz="1890">
              <a:latin typeface="Arial"/>
              <a:cs typeface="Arial"/>
            </a:endParaRPr>
          </a:p>
          <a:p>
            <a:pPr marL="284607" marR="226314" indent="-273749">
              <a:spcBef>
                <a:spcPts val="378"/>
              </a:spcBef>
              <a:buChar char="▪"/>
              <a:tabLst>
                <a:tab pos="284607" algn="l"/>
                <a:tab pos="285179" algn="l"/>
              </a:tabLst>
            </a:pPr>
            <a:r>
              <a:rPr sz="1890" b="1" dirty="0">
                <a:latin typeface="Arial"/>
                <a:cs typeface="Arial"/>
              </a:rPr>
              <a:t>Move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analytics/work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or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move </a:t>
            </a:r>
            <a:r>
              <a:rPr sz="1890" b="1" spc="-513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data?</a:t>
            </a:r>
            <a:endParaRPr sz="189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6173" y="3789798"/>
            <a:ext cx="7535228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An outage can lead </a:t>
            </a:r>
            <a:r>
              <a:rPr b="1" dirty="0">
                <a:latin typeface="Arial"/>
                <a:cs typeface="Arial"/>
              </a:rPr>
              <a:t>to a </a:t>
            </a:r>
            <a:r>
              <a:rPr b="1" spc="-5" dirty="0">
                <a:latin typeface="Arial"/>
                <a:cs typeface="Arial"/>
              </a:rPr>
              <a:t>huge problem. Example: 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9" dirty="0">
                <a:latin typeface="Arial"/>
                <a:cs typeface="Arial"/>
                <a:hlinkClick r:id="rId2"/>
              </a:rPr>
              <a:t>https://www.thousandeyes.com/blog/aws-outage-analysis-dec-7-2021</a:t>
            </a:r>
            <a:endParaRPr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15566" y="788731"/>
            <a:ext cx="3150108" cy="2364296"/>
            <a:chOff x="5064851" y="876367"/>
            <a:chExt cx="3500120" cy="26269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4851" y="1604266"/>
              <a:ext cx="3499501" cy="18985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5444" y="1228911"/>
              <a:ext cx="177408" cy="11252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78877" y="1261611"/>
              <a:ext cx="61594" cy="868044"/>
            </a:xfrm>
            <a:custGeom>
              <a:avLst/>
              <a:gdLst/>
              <a:ahLst/>
              <a:cxnLst/>
              <a:rect l="l" t="t" r="r" b="b"/>
              <a:pathLst>
                <a:path w="61595" h="868044">
                  <a:moveTo>
                    <a:pt x="61273" y="0"/>
                  </a:moveTo>
                  <a:lnTo>
                    <a:pt x="0" y="867803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4327" y="2113759"/>
              <a:ext cx="109099" cy="1433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5080" y="1228911"/>
              <a:ext cx="1653956" cy="119723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47779" y="1261611"/>
              <a:ext cx="1424305" cy="1004569"/>
            </a:xfrm>
            <a:custGeom>
              <a:avLst/>
              <a:gdLst/>
              <a:ahLst/>
              <a:cxnLst/>
              <a:rect l="l" t="t" r="r" b="b"/>
              <a:pathLst>
                <a:path w="1424304" h="1004569">
                  <a:moveTo>
                    <a:pt x="0" y="0"/>
                  </a:moveTo>
                  <a:lnTo>
                    <a:pt x="1424001" y="1004014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34906" y="2218637"/>
              <a:ext cx="143781" cy="1261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75309" y="879499"/>
              <a:ext cx="1457677" cy="3979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20071" y="904262"/>
              <a:ext cx="1368152" cy="30844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20071" y="904262"/>
              <a:ext cx="1368425" cy="308610"/>
            </a:xfrm>
            <a:custGeom>
              <a:avLst/>
              <a:gdLst/>
              <a:ahLst/>
              <a:cxnLst/>
              <a:rect l="l" t="t" r="r" b="b"/>
              <a:pathLst>
                <a:path w="1368425" h="308609">
                  <a:moveTo>
                    <a:pt x="0" y="51408"/>
                  </a:moveTo>
                  <a:lnTo>
                    <a:pt x="4039" y="31397"/>
                  </a:lnTo>
                  <a:lnTo>
                    <a:pt x="15057" y="15057"/>
                  </a:lnTo>
                  <a:lnTo>
                    <a:pt x="31397" y="4039"/>
                  </a:lnTo>
                  <a:lnTo>
                    <a:pt x="51407" y="0"/>
                  </a:lnTo>
                  <a:lnTo>
                    <a:pt x="1316743" y="0"/>
                  </a:lnTo>
                  <a:lnTo>
                    <a:pt x="1353095" y="15057"/>
                  </a:lnTo>
                  <a:lnTo>
                    <a:pt x="1368152" y="51408"/>
                  </a:lnTo>
                  <a:lnTo>
                    <a:pt x="1368152" y="257034"/>
                  </a:lnTo>
                  <a:lnTo>
                    <a:pt x="1364112" y="277045"/>
                  </a:lnTo>
                  <a:lnTo>
                    <a:pt x="1353094" y="293385"/>
                  </a:lnTo>
                  <a:lnTo>
                    <a:pt x="1336753" y="304403"/>
                  </a:lnTo>
                  <a:lnTo>
                    <a:pt x="1316743" y="308442"/>
                  </a:lnTo>
                  <a:lnTo>
                    <a:pt x="51407" y="308442"/>
                  </a:lnTo>
                  <a:lnTo>
                    <a:pt x="31397" y="304403"/>
                  </a:lnTo>
                  <a:lnTo>
                    <a:pt x="15057" y="293385"/>
                  </a:lnTo>
                  <a:lnTo>
                    <a:pt x="4039" y="277045"/>
                  </a:lnTo>
                  <a:lnTo>
                    <a:pt x="0" y="257034"/>
                  </a:lnTo>
                  <a:lnTo>
                    <a:pt x="0" y="51408"/>
                  </a:lnTo>
                  <a:close/>
                </a:path>
              </a:pathLst>
            </a:custGeom>
            <a:ln w="9524">
              <a:solidFill>
                <a:srgbClr val="009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21943" y="876367"/>
              <a:ext cx="1457677" cy="39796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66706" y="901130"/>
              <a:ext cx="1368151" cy="30844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866706" y="901130"/>
              <a:ext cx="1368425" cy="308610"/>
            </a:xfrm>
            <a:custGeom>
              <a:avLst/>
              <a:gdLst/>
              <a:ahLst/>
              <a:cxnLst/>
              <a:rect l="l" t="t" r="r" b="b"/>
              <a:pathLst>
                <a:path w="1368425" h="308609">
                  <a:moveTo>
                    <a:pt x="0" y="51408"/>
                  </a:moveTo>
                  <a:lnTo>
                    <a:pt x="4039" y="31397"/>
                  </a:lnTo>
                  <a:lnTo>
                    <a:pt x="15056" y="15057"/>
                  </a:lnTo>
                  <a:lnTo>
                    <a:pt x="31397" y="4039"/>
                  </a:lnTo>
                  <a:lnTo>
                    <a:pt x="51407" y="0"/>
                  </a:lnTo>
                  <a:lnTo>
                    <a:pt x="1316743" y="0"/>
                  </a:lnTo>
                  <a:lnTo>
                    <a:pt x="1353094" y="15057"/>
                  </a:lnTo>
                  <a:lnTo>
                    <a:pt x="1368151" y="51408"/>
                  </a:lnTo>
                  <a:lnTo>
                    <a:pt x="1368151" y="257034"/>
                  </a:lnTo>
                  <a:lnTo>
                    <a:pt x="1364111" y="277045"/>
                  </a:lnTo>
                  <a:lnTo>
                    <a:pt x="1353094" y="293385"/>
                  </a:lnTo>
                  <a:lnTo>
                    <a:pt x="1336753" y="304403"/>
                  </a:lnTo>
                  <a:lnTo>
                    <a:pt x="1316743" y="308442"/>
                  </a:lnTo>
                  <a:lnTo>
                    <a:pt x="51407" y="308442"/>
                  </a:lnTo>
                  <a:lnTo>
                    <a:pt x="31397" y="304403"/>
                  </a:lnTo>
                  <a:lnTo>
                    <a:pt x="15056" y="293385"/>
                  </a:lnTo>
                  <a:lnTo>
                    <a:pt x="4039" y="277045"/>
                  </a:lnTo>
                  <a:lnTo>
                    <a:pt x="0" y="257034"/>
                  </a:lnTo>
                  <a:lnTo>
                    <a:pt x="0" y="51408"/>
                  </a:lnTo>
                  <a:close/>
                </a:path>
              </a:pathLst>
            </a:custGeom>
            <a:ln w="9524">
              <a:solidFill>
                <a:srgbClr val="009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23108" y="3227819"/>
            <a:ext cx="3311271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00" dirty="0">
                <a:latin typeface="Arial MT"/>
                <a:cs typeface="Arial MT"/>
              </a:rPr>
              <a:t>Map</a:t>
            </a:r>
            <a:r>
              <a:rPr sz="900" spc="-5" dirty="0">
                <a:latin typeface="Arial MT"/>
                <a:cs typeface="Arial MT"/>
              </a:rPr>
              <a:t> o</a:t>
            </a:r>
            <a:r>
              <a:rPr sz="900" dirty="0">
                <a:latin typeface="Arial MT"/>
                <a:cs typeface="Arial MT"/>
              </a:rPr>
              <a:t>f</a:t>
            </a:r>
            <a:r>
              <a:rPr sz="900" spc="-54" dirty="0">
                <a:latin typeface="Arial MT"/>
                <a:cs typeface="Arial MT"/>
              </a:rPr>
              <a:t> </a:t>
            </a:r>
            <a:r>
              <a:rPr sz="900" spc="-36" dirty="0">
                <a:latin typeface="Arial MT"/>
                <a:cs typeface="Arial MT"/>
              </a:rPr>
              <a:t>A</a:t>
            </a:r>
            <a:r>
              <a:rPr sz="900" spc="-5" dirty="0">
                <a:latin typeface="Arial MT"/>
                <a:cs typeface="Arial MT"/>
              </a:rPr>
              <a:t>W</a:t>
            </a:r>
            <a:r>
              <a:rPr sz="900" dirty="0">
                <a:latin typeface="Arial MT"/>
                <a:cs typeface="Arial MT"/>
              </a:rPr>
              <a:t>S</a:t>
            </a:r>
            <a:r>
              <a:rPr sz="900" spc="-5" dirty="0">
                <a:latin typeface="Arial MT"/>
                <a:cs typeface="Arial MT"/>
              </a:rPr>
              <a:t> infrastructur</a:t>
            </a:r>
            <a:r>
              <a:rPr sz="900" dirty="0">
                <a:latin typeface="Arial MT"/>
                <a:cs typeface="Arial MT"/>
              </a:rPr>
              <a:t>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(08.01.2022)</a:t>
            </a:r>
            <a:endParaRPr sz="900">
              <a:latin typeface="Arial MT"/>
              <a:cs typeface="Arial MT"/>
            </a:endParaRPr>
          </a:p>
          <a:p>
            <a:pPr marL="11430"/>
            <a:r>
              <a:rPr sz="900" spc="-5" dirty="0">
                <a:latin typeface="Arial MT"/>
                <a:cs typeface="Arial MT"/>
              </a:rPr>
              <a:t>Source: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5" dirty="0">
                <a:latin typeface="Arial MT"/>
                <a:cs typeface="Arial MT"/>
              </a:rPr>
              <a:t>https://aws.amazon.com/about-aws/global-infrastructure/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84985" y="809531"/>
            <a:ext cx="2456307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1487615" algn="l"/>
              </a:tabLst>
            </a:pPr>
            <a:r>
              <a:rPr sz="1620" spc="-5" dirty="0">
                <a:latin typeface="Arial MT"/>
                <a:cs typeface="Arial MT"/>
              </a:rPr>
              <a:t>Platform</a:t>
            </a:r>
            <a:r>
              <a:rPr sz="1620" spc="-95" dirty="0">
                <a:latin typeface="Arial MT"/>
                <a:cs typeface="Arial MT"/>
              </a:rPr>
              <a:t> </a:t>
            </a:r>
            <a:r>
              <a:rPr sz="1620" dirty="0">
                <a:latin typeface="Arial MT"/>
                <a:cs typeface="Arial MT"/>
              </a:rPr>
              <a:t>A	</a:t>
            </a:r>
            <a:r>
              <a:rPr sz="1620" spc="-5" dirty="0">
                <a:latin typeface="Arial MT"/>
                <a:cs typeface="Arial MT"/>
              </a:rPr>
              <a:t>Platform</a:t>
            </a:r>
            <a:r>
              <a:rPr sz="1620" spc="-81" dirty="0">
                <a:latin typeface="Arial MT"/>
                <a:cs typeface="Arial MT"/>
              </a:rPr>
              <a:t> </a:t>
            </a:r>
            <a:r>
              <a:rPr sz="1620" dirty="0">
                <a:latin typeface="Arial MT"/>
                <a:cs typeface="Arial MT"/>
              </a:rPr>
              <a:t>B</a:t>
            </a:r>
            <a:endParaRPr sz="162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68786" y="1059186"/>
            <a:ext cx="678371" cy="1124712"/>
            <a:chOff x="6679540" y="1176873"/>
            <a:chExt cx="753745" cy="1249680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79540" y="1176873"/>
              <a:ext cx="753471" cy="124927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807364" y="1209572"/>
              <a:ext cx="573405" cy="1011555"/>
            </a:xfrm>
            <a:custGeom>
              <a:avLst/>
              <a:gdLst/>
              <a:ahLst/>
              <a:cxnLst/>
              <a:rect l="l" t="t" r="r" b="b"/>
              <a:pathLst>
                <a:path w="573404" h="1011555">
                  <a:moveTo>
                    <a:pt x="572947" y="0"/>
                  </a:moveTo>
                  <a:lnTo>
                    <a:pt x="0" y="1011273"/>
                  </a:lnTo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37843" y="2187465"/>
              <a:ext cx="118723" cy="146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4334828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Scalability</a:t>
            </a:r>
            <a:r>
              <a:rPr spc="-54" dirty="0"/>
              <a:t> </a:t>
            </a:r>
            <a:r>
              <a:rPr dirty="0"/>
              <a:t>&amp;</a:t>
            </a:r>
            <a:r>
              <a:rPr spc="-41" dirty="0"/>
              <a:t> </a:t>
            </a:r>
            <a:r>
              <a:rPr spc="-5" dirty="0"/>
              <a:t>elasticity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484" y="3798141"/>
            <a:ext cx="3376994" cy="427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900" b="1" spc="-5" dirty="0">
                <a:latin typeface="Arial"/>
                <a:cs typeface="Arial"/>
              </a:rPr>
              <a:t>Figure source: </a:t>
            </a:r>
            <a:r>
              <a:rPr sz="900" i="1" spc="-5" dirty="0">
                <a:latin typeface="Arial"/>
                <a:cs typeface="Arial"/>
              </a:rPr>
              <a:t>Presto: SQL on Everything </a:t>
            </a:r>
            <a:r>
              <a:rPr sz="900" i="1" dirty="0">
                <a:latin typeface="Arial"/>
                <a:cs typeface="Arial"/>
              </a:rPr>
              <a:t> </a:t>
            </a:r>
            <a:r>
              <a:rPr sz="900" i="1" spc="-5" dirty="0">
                <a:latin typeface="Arial"/>
                <a:cs typeface="Arial"/>
              </a:rPr>
              <a:t>https://ieeexplore.ieee.org/stamp/stamp.jsp?tp=&amp;arnumber=87315 </a:t>
            </a:r>
            <a:r>
              <a:rPr sz="900" i="1" spc="-238" dirty="0">
                <a:latin typeface="Arial"/>
                <a:cs typeface="Arial"/>
              </a:rPr>
              <a:t> </a:t>
            </a:r>
            <a:r>
              <a:rPr sz="900" i="1" spc="-5" dirty="0">
                <a:latin typeface="Arial"/>
                <a:cs typeface="Arial"/>
              </a:rPr>
              <a:t>47&amp;tag=1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348" y="1220072"/>
            <a:ext cx="3437572" cy="24774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56181" y="3936641"/>
            <a:ext cx="3090671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00" b="1" spc="-5" dirty="0">
                <a:latin typeface="Arial"/>
                <a:cs typeface="Arial"/>
              </a:rPr>
              <a:t>Figure</a:t>
            </a:r>
            <a:r>
              <a:rPr sz="900" b="1" spc="-27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and</a:t>
            </a:r>
            <a:r>
              <a:rPr sz="900" b="1" spc="-23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text</a:t>
            </a:r>
            <a:r>
              <a:rPr sz="900" b="1" spc="-23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source:</a:t>
            </a:r>
            <a:endParaRPr sz="900">
              <a:latin typeface="Arial"/>
              <a:cs typeface="Arial"/>
            </a:endParaRPr>
          </a:p>
          <a:p>
            <a:pPr marL="11430"/>
            <a:r>
              <a:rPr sz="900" i="1" spc="-5" dirty="0">
                <a:latin typeface="Arial"/>
                <a:cs typeface="Arial"/>
              </a:rPr>
              <a:t>https://eng.lyft.com/presto-infrastructure-at-lyft-b10adb9db01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4274" y="738403"/>
            <a:ext cx="3694176" cy="89793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440" b="1" i="1" dirty="0">
                <a:latin typeface="Arial"/>
                <a:cs typeface="Arial"/>
              </a:rPr>
              <a:t>“As </a:t>
            </a:r>
            <a:r>
              <a:rPr sz="1440" b="1" i="1" spc="-5" dirty="0">
                <a:latin typeface="Arial"/>
                <a:cs typeface="Arial"/>
              </a:rPr>
              <a:t>of </a:t>
            </a:r>
            <a:r>
              <a:rPr sz="1440" b="1" i="1" dirty="0">
                <a:latin typeface="Arial"/>
                <a:cs typeface="Arial"/>
              </a:rPr>
              <a:t>today </a:t>
            </a:r>
            <a:r>
              <a:rPr sz="1440" b="1" i="1" spc="-5" dirty="0">
                <a:latin typeface="Arial"/>
                <a:cs typeface="Arial"/>
              </a:rPr>
              <a:t>we have 60 PB of query-able </a:t>
            </a:r>
            <a:r>
              <a:rPr sz="1440" b="1" i="1" dirty="0">
                <a:latin typeface="Arial"/>
                <a:cs typeface="Arial"/>
              </a:rPr>
              <a:t> </a:t>
            </a:r>
            <a:r>
              <a:rPr sz="1440" b="1" i="1" spc="-5" dirty="0">
                <a:latin typeface="Arial"/>
                <a:cs typeface="Arial"/>
              </a:rPr>
              <a:t>event data stored in an S3 based data lake </a:t>
            </a:r>
            <a:r>
              <a:rPr sz="1440" b="1" i="1" spc="-387" dirty="0">
                <a:latin typeface="Arial"/>
                <a:cs typeface="Arial"/>
              </a:rPr>
              <a:t> </a:t>
            </a:r>
            <a:r>
              <a:rPr sz="1440" b="1" i="1" spc="-5" dirty="0">
                <a:latin typeface="Arial"/>
                <a:cs typeface="Arial"/>
              </a:rPr>
              <a:t>and about 10 PB of raw data is being </a:t>
            </a:r>
            <a:r>
              <a:rPr sz="1440" b="1" i="1" dirty="0">
                <a:latin typeface="Arial"/>
                <a:cs typeface="Arial"/>
              </a:rPr>
              <a:t> </a:t>
            </a:r>
            <a:r>
              <a:rPr sz="1440" b="1" i="1" spc="-5" dirty="0">
                <a:latin typeface="Arial"/>
                <a:cs typeface="Arial"/>
              </a:rPr>
              <a:t>scanned</a:t>
            </a:r>
            <a:r>
              <a:rPr sz="1440" b="1" i="1" spc="-9" dirty="0">
                <a:latin typeface="Arial"/>
                <a:cs typeface="Arial"/>
              </a:rPr>
              <a:t> </a:t>
            </a:r>
            <a:r>
              <a:rPr sz="1440" b="1" i="1" spc="-5" dirty="0">
                <a:latin typeface="Arial"/>
                <a:cs typeface="Arial"/>
              </a:rPr>
              <a:t>every</a:t>
            </a:r>
            <a:r>
              <a:rPr sz="1440" b="1" i="1" spc="-9" dirty="0">
                <a:latin typeface="Arial"/>
                <a:cs typeface="Arial"/>
              </a:rPr>
              <a:t> </a:t>
            </a:r>
            <a:r>
              <a:rPr sz="1440" b="1" i="1" spc="-5" dirty="0">
                <a:latin typeface="Arial"/>
                <a:cs typeface="Arial"/>
              </a:rPr>
              <a:t>day</a:t>
            </a:r>
            <a:r>
              <a:rPr sz="1440" b="1" i="1" spc="-9" dirty="0">
                <a:latin typeface="Arial"/>
                <a:cs typeface="Arial"/>
              </a:rPr>
              <a:t> </a:t>
            </a:r>
            <a:r>
              <a:rPr sz="1440" b="1" i="1" spc="-5" dirty="0">
                <a:latin typeface="Arial"/>
                <a:cs typeface="Arial"/>
              </a:rPr>
              <a:t>using</a:t>
            </a:r>
            <a:r>
              <a:rPr sz="1440" b="1" i="1" spc="-9" dirty="0">
                <a:latin typeface="Arial"/>
                <a:cs typeface="Arial"/>
              </a:rPr>
              <a:t> </a:t>
            </a:r>
            <a:r>
              <a:rPr sz="1440" b="1" i="1" spc="-5" dirty="0">
                <a:latin typeface="Arial"/>
                <a:cs typeface="Arial"/>
              </a:rPr>
              <a:t>Presto”</a:t>
            </a:r>
            <a:endParaRPr sz="144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4875" y="1718614"/>
            <a:ext cx="2962615" cy="19303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781310" y="320271"/>
            <a:ext cx="2207705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b="1" spc="-23" dirty="0">
                <a:latin typeface="Arial"/>
                <a:cs typeface="Arial"/>
              </a:rPr>
              <a:t>Lyft</a:t>
            </a:r>
            <a:r>
              <a:rPr b="1" spc="-4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Presto</a:t>
            </a:r>
            <a:r>
              <a:rPr b="1" spc="-4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Gateway</a:t>
            </a:r>
            <a:endParaRPr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6945" y="995803"/>
            <a:ext cx="2936939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b="1" spc="-5" dirty="0">
                <a:latin typeface="Arial"/>
                <a:cs typeface="Arial"/>
              </a:rPr>
              <a:t>Presto:</a:t>
            </a:r>
            <a:r>
              <a:rPr b="1" spc="-77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https://prestodb.io/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563727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API</a:t>
            </a:r>
            <a:r>
              <a:rPr spc="-18" dirty="0"/>
              <a:t> </a:t>
            </a:r>
            <a:r>
              <a:rPr spc="-5" dirty="0"/>
              <a:t>for</a:t>
            </a:r>
            <a:r>
              <a:rPr spc="-18" dirty="0"/>
              <a:t> </a:t>
            </a:r>
            <a:r>
              <a:rPr spc="-9" dirty="0"/>
              <a:t>Platform</a:t>
            </a:r>
            <a:r>
              <a:rPr spc="-27" dirty="0"/>
              <a:t> </a:t>
            </a:r>
            <a:r>
              <a:rPr spc="-5" dirty="0"/>
              <a:t>as</a:t>
            </a:r>
            <a:r>
              <a:rPr spc="-18" dirty="0"/>
              <a:t> </a:t>
            </a:r>
            <a:r>
              <a:rPr dirty="0"/>
              <a:t>a</a:t>
            </a:r>
            <a:r>
              <a:rPr spc="-18" dirty="0"/>
              <a:t> </a:t>
            </a:r>
            <a:r>
              <a:rPr spc="-5" dirty="0"/>
              <a:t>Service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33175" y="981992"/>
            <a:ext cx="3527298" cy="2166557"/>
            <a:chOff x="4195528" y="1091102"/>
            <a:chExt cx="3919220" cy="2407285"/>
          </a:xfrm>
        </p:grpSpPr>
        <p:sp>
          <p:nvSpPr>
            <p:cNvPr id="4" name="object 4"/>
            <p:cNvSpPr/>
            <p:nvPr/>
          </p:nvSpPr>
          <p:spPr>
            <a:xfrm>
              <a:off x="5353798" y="1502701"/>
              <a:ext cx="2391410" cy="1667510"/>
            </a:xfrm>
            <a:custGeom>
              <a:avLst/>
              <a:gdLst/>
              <a:ahLst/>
              <a:cxnLst/>
              <a:rect l="l" t="t" r="r" b="b"/>
              <a:pathLst>
                <a:path w="2391409" h="1667510">
                  <a:moveTo>
                    <a:pt x="0" y="1666942"/>
                  </a:moveTo>
                  <a:lnTo>
                    <a:pt x="802378" y="1666942"/>
                  </a:lnTo>
                </a:path>
                <a:path w="2391409" h="1667510">
                  <a:moveTo>
                    <a:pt x="1234426" y="1666942"/>
                  </a:moveTo>
                  <a:lnTo>
                    <a:pt x="2390871" y="1666942"/>
                  </a:lnTo>
                </a:path>
                <a:path w="2391409" h="1667510">
                  <a:moveTo>
                    <a:pt x="0" y="833471"/>
                  </a:moveTo>
                  <a:lnTo>
                    <a:pt x="802378" y="833471"/>
                  </a:lnTo>
                </a:path>
                <a:path w="2391409" h="1667510">
                  <a:moveTo>
                    <a:pt x="1234426" y="833471"/>
                  </a:moveTo>
                  <a:lnTo>
                    <a:pt x="2047958" y="833471"/>
                  </a:lnTo>
                </a:path>
                <a:path w="2391409" h="1667510">
                  <a:moveTo>
                    <a:pt x="0" y="0"/>
                  </a:moveTo>
                  <a:lnTo>
                    <a:pt x="802378" y="0"/>
                  </a:lnTo>
                </a:path>
                <a:path w="2391409" h="1667510">
                  <a:moveTo>
                    <a:pt x="1234426" y="0"/>
                  </a:moveTo>
                  <a:lnTo>
                    <a:pt x="2390871" y="0"/>
                  </a:lnTo>
                </a:path>
              </a:pathLst>
            </a:custGeom>
            <a:ln w="25399">
              <a:solidFill>
                <a:srgbClr val="CA50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8228" y="1103802"/>
              <a:ext cx="2381346" cy="238134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208228" y="1103802"/>
              <a:ext cx="2381885" cy="2381885"/>
            </a:xfrm>
            <a:custGeom>
              <a:avLst/>
              <a:gdLst/>
              <a:ahLst/>
              <a:cxnLst/>
              <a:rect l="l" t="t" r="r" b="b"/>
              <a:pathLst>
                <a:path w="2381884" h="2381885">
                  <a:moveTo>
                    <a:pt x="0" y="1190672"/>
                  </a:moveTo>
                  <a:lnTo>
                    <a:pt x="945" y="1142784"/>
                  </a:lnTo>
                  <a:lnTo>
                    <a:pt x="3758" y="1095376"/>
                  </a:lnTo>
                  <a:lnTo>
                    <a:pt x="8402" y="1048483"/>
                  </a:lnTo>
                  <a:lnTo>
                    <a:pt x="14842" y="1002142"/>
                  </a:lnTo>
                  <a:lnTo>
                    <a:pt x="23043" y="956387"/>
                  </a:lnTo>
                  <a:lnTo>
                    <a:pt x="32968" y="911254"/>
                  </a:lnTo>
                  <a:lnTo>
                    <a:pt x="44583" y="866779"/>
                  </a:lnTo>
                  <a:lnTo>
                    <a:pt x="57852" y="822998"/>
                  </a:lnTo>
                  <a:lnTo>
                    <a:pt x="72739" y="779945"/>
                  </a:lnTo>
                  <a:lnTo>
                    <a:pt x="89208" y="737657"/>
                  </a:lnTo>
                  <a:lnTo>
                    <a:pt x="107225" y="696169"/>
                  </a:lnTo>
                  <a:lnTo>
                    <a:pt x="126752" y="655517"/>
                  </a:lnTo>
                  <a:lnTo>
                    <a:pt x="147756" y="615736"/>
                  </a:lnTo>
                  <a:lnTo>
                    <a:pt x="170201" y="576862"/>
                  </a:lnTo>
                  <a:lnTo>
                    <a:pt x="194049" y="538930"/>
                  </a:lnTo>
                  <a:lnTo>
                    <a:pt x="219268" y="501976"/>
                  </a:lnTo>
                  <a:lnTo>
                    <a:pt x="245819" y="466036"/>
                  </a:lnTo>
                  <a:lnTo>
                    <a:pt x="273669" y="431145"/>
                  </a:lnTo>
                  <a:lnTo>
                    <a:pt x="302782" y="397338"/>
                  </a:lnTo>
                  <a:lnTo>
                    <a:pt x="333121" y="364652"/>
                  </a:lnTo>
                  <a:lnTo>
                    <a:pt x="364652" y="333121"/>
                  </a:lnTo>
                  <a:lnTo>
                    <a:pt x="397338" y="302782"/>
                  </a:lnTo>
                  <a:lnTo>
                    <a:pt x="431145" y="273669"/>
                  </a:lnTo>
                  <a:lnTo>
                    <a:pt x="466036" y="245819"/>
                  </a:lnTo>
                  <a:lnTo>
                    <a:pt x="501976" y="219268"/>
                  </a:lnTo>
                  <a:lnTo>
                    <a:pt x="538930" y="194049"/>
                  </a:lnTo>
                  <a:lnTo>
                    <a:pt x="576862" y="170201"/>
                  </a:lnTo>
                  <a:lnTo>
                    <a:pt x="615736" y="147756"/>
                  </a:lnTo>
                  <a:lnTo>
                    <a:pt x="655517" y="126752"/>
                  </a:lnTo>
                  <a:lnTo>
                    <a:pt x="696169" y="107224"/>
                  </a:lnTo>
                  <a:lnTo>
                    <a:pt x="737657" y="89208"/>
                  </a:lnTo>
                  <a:lnTo>
                    <a:pt x="779945" y="72739"/>
                  </a:lnTo>
                  <a:lnTo>
                    <a:pt x="822998" y="57852"/>
                  </a:lnTo>
                  <a:lnTo>
                    <a:pt x="866779" y="44583"/>
                  </a:lnTo>
                  <a:lnTo>
                    <a:pt x="911254" y="32968"/>
                  </a:lnTo>
                  <a:lnTo>
                    <a:pt x="956387" y="23043"/>
                  </a:lnTo>
                  <a:lnTo>
                    <a:pt x="1002142" y="14842"/>
                  </a:lnTo>
                  <a:lnTo>
                    <a:pt x="1048483" y="8402"/>
                  </a:lnTo>
                  <a:lnTo>
                    <a:pt x="1095376" y="3758"/>
                  </a:lnTo>
                  <a:lnTo>
                    <a:pt x="1142784" y="945"/>
                  </a:lnTo>
                  <a:lnTo>
                    <a:pt x="1190673" y="0"/>
                  </a:lnTo>
                  <a:lnTo>
                    <a:pt x="1240416" y="1038"/>
                  </a:lnTo>
                  <a:lnTo>
                    <a:pt x="1289887" y="4137"/>
                  </a:lnTo>
                  <a:lnTo>
                    <a:pt x="1339026" y="9273"/>
                  </a:lnTo>
                  <a:lnTo>
                    <a:pt x="1387775" y="16422"/>
                  </a:lnTo>
                  <a:lnTo>
                    <a:pt x="1436076" y="25559"/>
                  </a:lnTo>
                  <a:lnTo>
                    <a:pt x="1483871" y="36660"/>
                  </a:lnTo>
                  <a:lnTo>
                    <a:pt x="1531101" y="49701"/>
                  </a:lnTo>
                  <a:lnTo>
                    <a:pt x="1577708" y="64658"/>
                  </a:lnTo>
                  <a:lnTo>
                    <a:pt x="1623634" y="81508"/>
                  </a:lnTo>
                  <a:lnTo>
                    <a:pt x="1668820" y="100224"/>
                  </a:lnTo>
                  <a:lnTo>
                    <a:pt x="1713209" y="120785"/>
                  </a:lnTo>
                  <a:lnTo>
                    <a:pt x="1756742" y="143165"/>
                  </a:lnTo>
                  <a:lnTo>
                    <a:pt x="1799360" y="167340"/>
                  </a:lnTo>
                  <a:lnTo>
                    <a:pt x="1841006" y="193286"/>
                  </a:lnTo>
                  <a:lnTo>
                    <a:pt x="1881621" y="220979"/>
                  </a:lnTo>
                  <a:lnTo>
                    <a:pt x="1921146" y="250395"/>
                  </a:lnTo>
                  <a:lnTo>
                    <a:pt x="1959525" y="281510"/>
                  </a:lnTo>
                  <a:lnTo>
                    <a:pt x="1996697" y="314300"/>
                  </a:lnTo>
                  <a:lnTo>
                    <a:pt x="2032605" y="348740"/>
                  </a:lnTo>
                  <a:lnTo>
                    <a:pt x="2067045" y="384648"/>
                  </a:lnTo>
                  <a:lnTo>
                    <a:pt x="2099835" y="421820"/>
                  </a:lnTo>
                  <a:lnTo>
                    <a:pt x="2130950" y="460199"/>
                  </a:lnTo>
                  <a:lnTo>
                    <a:pt x="2160366" y="499724"/>
                  </a:lnTo>
                  <a:lnTo>
                    <a:pt x="2188059" y="540339"/>
                  </a:lnTo>
                  <a:lnTo>
                    <a:pt x="2214005" y="581985"/>
                  </a:lnTo>
                  <a:lnTo>
                    <a:pt x="2238180" y="624603"/>
                  </a:lnTo>
                  <a:lnTo>
                    <a:pt x="2260560" y="668136"/>
                  </a:lnTo>
                  <a:lnTo>
                    <a:pt x="2281121" y="712524"/>
                  </a:lnTo>
                  <a:lnTo>
                    <a:pt x="2299838" y="757711"/>
                  </a:lnTo>
                  <a:lnTo>
                    <a:pt x="2316687" y="803637"/>
                  </a:lnTo>
                  <a:lnTo>
                    <a:pt x="2331644" y="850244"/>
                  </a:lnTo>
                  <a:lnTo>
                    <a:pt x="2344685" y="897474"/>
                  </a:lnTo>
                  <a:lnTo>
                    <a:pt x="2355787" y="945269"/>
                  </a:lnTo>
                  <a:lnTo>
                    <a:pt x="2364923" y="993570"/>
                  </a:lnTo>
                  <a:lnTo>
                    <a:pt x="2372072" y="1042319"/>
                  </a:lnTo>
                  <a:lnTo>
                    <a:pt x="2377208" y="1091458"/>
                  </a:lnTo>
                  <a:lnTo>
                    <a:pt x="2380307" y="1140929"/>
                  </a:lnTo>
                  <a:lnTo>
                    <a:pt x="2381346" y="1190672"/>
                  </a:lnTo>
                  <a:lnTo>
                    <a:pt x="2380400" y="1238561"/>
                  </a:lnTo>
                  <a:lnTo>
                    <a:pt x="2377588" y="1285969"/>
                  </a:lnTo>
                  <a:lnTo>
                    <a:pt x="2372943" y="1332862"/>
                  </a:lnTo>
                  <a:lnTo>
                    <a:pt x="2366503" y="1379203"/>
                  </a:lnTo>
                  <a:lnTo>
                    <a:pt x="2358303" y="1424958"/>
                  </a:lnTo>
                  <a:lnTo>
                    <a:pt x="2348377" y="1470091"/>
                  </a:lnTo>
                  <a:lnTo>
                    <a:pt x="2336762" y="1514566"/>
                  </a:lnTo>
                  <a:lnTo>
                    <a:pt x="2323493" y="1558347"/>
                  </a:lnTo>
                  <a:lnTo>
                    <a:pt x="2308607" y="1601400"/>
                  </a:lnTo>
                  <a:lnTo>
                    <a:pt x="2292137" y="1643688"/>
                  </a:lnTo>
                  <a:lnTo>
                    <a:pt x="2274121" y="1685176"/>
                  </a:lnTo>
                  <a:lnTo>
                    <a:pt x="2254593" y="1725828"/>
                  </a:lnTo>
                  <a:lnTo>
                    <a:pt x="2233589" y="1765609"/>
                  </a:lnTo>
                  <a:lnTo>
                    <a:pt x="2211145" y="1804483"/>
                  </a:lnTo>
                  <a:lnTo>
                    <a:pt x="2187296" y="1842415"/>
                  </a:lnTo>
                  <a:lnTo>
                    <a:pt x="2162078" y="1879369"/>
                  </a:lnTo>
                  <a:lnTo>
                    <a:pt x="2135526" y="1915309"/>
                  </a:lnTo>
                  <a:lnTo>
                    <a:pt x="2107676" y="1950200"/>
                  </a:lnTo>
                  <a:lnTo>
                    <a:pt x="2078563" y="1984007"/>
                  </a:lnTo>
                  <a:lnTo>
                    <a:pt x="2048224" y="2016693"/>
                  </a:lnTo>
                  <a:lnTo>
                    <a:pt x="2016694" y="2048224"/>
                  </a:lnTo>
                  <a:lnTo>
                    <a:pt x="1984007" y="2078563"/>
                  </a:lnTo>
                  <a:lnTo>
                    <a:pt x="1950201" y="2107676"/>
                  </a:lnTo>
                  <a:lnTo>
                    <a:pt x="1915309" y="2135526"/>
                  </a:lnTo>
                  <a:lnTo>
                    <a:pt x="1879369" y="2162077"/>
                  </a:lnTo>
                  <a:lnTo>
                    <a:pt x="1842415" y="2187296"/>
                  </a:lnTo>
                  <a:lnTo>
                    <a:pt x="1804483" y="2211145"/>
                  </a:lnTo>
                  <a:lnTo>
                    <a:pt x="1765609" y="2233589"/>
                  </a:lnTo>
                  <a:lnTo>
                    <a:pt x="1725828" y="2254593"/>
                  </a:lnTo>
                  <a:lnTo>
                    <a:pt x="1685176" y="2274121"/>
                  </a:lnTo>
                  <a:lnTo>
                    <a:pt x="1643688" y="2292137"/>
                  </a:lnTo>
                  <a:lnTo>
                    <a:pt x="1601400" y="2308606"/>
                  </a:lnTo>
                  <a:lnTo>
                    <a:pt x="1558347" y="2323493"/>
                  </a:lnTo>
                  <a:lnTo>
                    <a:pt x="1514566" y="2336762"/>
                  </a:lnTo>
                  <a:lnTo>
                    <a:pt x="1470091" y="2348377"/>
                  </a:lnTo>
                  <a:lnTo>
                    <a:pt x="1424958" y="2358302"/>
                  </a:lnTo>
                  <a:lnTo>
                    <a:pt x="1379204" y="2366503"/>
                  </a:lnTo>
                  <a:lnTo>
                    <a:pt x="1332862" y="2372943"/>
                  </a:lnTo>
                  <a:lnTo>
                    <a:pt x="1285969" y="2377587"/>
                  </a:lnTo>
                  <a:lnTo>
                    <a:pt x="1238561" y="2380400"/>
                  </a:lnTo>
                  <a:lnTo>
                    <a:pt x="1190673" y="2381345"/>
                  </a:lnTo>
                  <a:lnTo>
                    <a:pt x="1142784" y="2380400"/>
                  </a:lnTo>
                  <a:lnTo>
                    <a:pt x="1095376" y="2377587"/>
                  </a:lnTo>
                  <a:lnTo>
                    <a:pt x="1048483" y="2372943"/>
                  </a:lnTo>
                  <a:lnTo>
                    <a:pt x="1002142" y="2366503"/>
                  </a:lnTo>
                  <a:lnTo>
                    <a:pt x="956387" y="2358302"/>
                  </a:lnTo>
                  <a:lnTo>
                    <a:pt x="911254" y="2348377"/>
                  </a:lnTo>
                  <a:lnTo>
                    <a:pt x="866779" y="2336762"/>
                  </a:lnTo>
                  <a:lnTo>
                    <a:pt x="822998" y="2323493"/>
                  </a:lnTo>
                  <a:lnTo>
                    <a:pt x="779945" y="2308606"/>
                  </a:lnTo>
                  <a:lnTo>
                    <a:pt x="737657" y="2292137"/>
                  </a:lnTo>
                  <a:lnTo>
                    <a:pt x="696169" y="2274121"/>
                  </a:lnTo>
                  <a:lnTo>
                    <a:pt x="655517" y="2254593"/>
                  </a:lnTo>
                  <a:lnTo>
                    <a:pt x="615736" y="2233589"/>
                  </a:lnTo>
                  <a:lnTo>
                    <a:pt x="576862" y="2211145"/>
                  </a:lnTo>
                  <a:lnTo>
                    <a:pt x="538930" y="2187296"/>
                  </a:lnTo>
                  <a:lnTo>
                    <a:pt x="501976" y="2162077"/>
                  </a:lnTo>
                  <a:lnTo>
                    <a:pt x="466036" y="2135526"/>
                  </a:lnTo>
                  <a:lnTo>
                    <a:pt x="431145" y="2107676"/>
                  </a:lnTo>
                  <a:lnTo>
                    <a:pt x="397338" y="2078563"/>
                  </a:lnTo>
                  <a:lnTo>
                    <a:pt x="364652" y="2048224"/>
                  </a:lnTo>
                  <a:lnTo>
                    <a:pt x="333121" y="2016693"/>
                  </a:lnTo>
                  <a:lnTo>
                    <a:pt x="302782" y="1984007"/>
                  </a:lnTo>
                  <a:lnTo>
                    <a:pt x="273669" y="1950200"/>
                  </a:lnTo>
                  <a:lnTo>
                    <a:pt x="245819" y="1915309"/>
                  </a:lnTo>
                  <a:lnTo>
                    <a:pt x="219268" y="1879369"/>
                  </a:lnTo>
                  <a:lnTo>
                    <a:pt x="194049" y="1842415"/>
                  </a:lnTo>
                  <a:lnTo>
                    <a:pt x="170201" y="1804483"/>
                  </a:lnTo>
                  <a:lnTo>
                    <a:pt x="147756" y="1765609"/>
                  </a:lnTo>
                  <a:lnTo>
                    <a:pt x="126752" y="1725828"/>
                  </a:lnTo>
                  <a:lnTo>
                    <a:pt x="107225" y="1685176"/>
                  </a:lnTo>
                  <a:lnTo>
                    <a:pt x="89208" y="1643688"/>
                  </a:lnTo>
                  <a:lnTo>
                    <a:pt x="72739" y="1601400"/>
                  </a:lnTo>
                  <a:lnTo>
                    <a:pt x="57852" y="1558347"/>
                  </a:lnTo>
                  <a:lnTo>
                    <a:pt x="44583" y="1514566"/>
                  </a:lnTo>
                  <a:lnTo>
                    <a:pt x="32968" y="1470091"/>
                  </a:lnTo>
                  <a:lnTo>
                    <a:pt x="23043" y="1424958"/>
                  </a:lnTo>
                  <a:lnTo>
                    <a:pt x="14842" y="1379203"/>
                  </a:lnTo>
                  <a:lnTo>
                    <a:pt x="8402" y="1332862"/>
                  </a:lnTo>
                  <a:lnTo>
                    <a:pt x="3758" y="1285969"/>
                  </a:lnTo>
                  <a:lnTo>
                    <a:pt x="945" y="1238561"/>
                  </a:lnTo>
                  <a:lnTo>
                    <a:pt x="0" y="1190672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7469" y="1145499"/>
              <a:ext cx="714403" cy="71440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87468" y="1145499"/>
              <a:ext cx="715010" cy="715010"/>
            </a:xfrm>
            <a:custGeom>
              <a:avLst/>
              <a:gdLst/>
              <a:ahLst/>
              <a:cxnLst/>
              <a:rect l="l" t="t" r="r" b="b"/>
              <a:pathLst>
                <a:path w="715009" h="715010">
                  <a:moveTo>
                    <a:pt x="0" y="357201"/>
                  </a:moveTo>
                  <a:lnTo>
                    <a:pt x="3260" y="308731"/>
                  </a:lnTo>
                  <a:lnTo>
                    <a:pt x="12759" y="262243"/>
                  </a:lnTo>
                  <a:lnTo>
                    <a:pt x="28070" y="218162"/>
                  </a:lnTo>
                  <a:lnTo>
                    <a:pt x="48768" y="176915"/>
                  </a:lnTo>
                  <a:lnTo>
                    <a:pt x="74427" y="138926"/>
                  </a:lnTo>
                  <a:lnTo>
                    <a:pt x="104622" y="104622"/>
                  </a:lnTo>
                  <a:lnTo>
                    <a:pt x="138926" y="74427"/>
                  </a:lnTo>
                  <a:lnTo>
                    <a:pt x="176915" y="48768"/>
                  </a:lnTo>
                  <a:lnTo>
                    <a:pt x="218163" y="28070"/>
                  </a:lnTo>
                  <a:lnTo>
                    <a:pt x="262243" y="12759"/>
                  </a:lnTo>
                  <a:lnTo>
                    <a:pt x="308732" y="3260"/>
                  </a:lnTo>
                  <a:lnTo>
                    <a:pt x="357202" y="0"/>
                  </a:lnTo>
                  <a:lnTo>
                    <a:pt x="404154" y="3097"/>
                  </a:lnTo>
                  <a:lnTo>
                    <a:pt x="449904" y="12237"/>
                  </a:lnTo>
                  <a:lnTo>
                    <a:pt x="493897" y="27190"/>
                  </a:lnTo>
                  <a:lnTo>
                    <a:pt x="535578" y="47725"/>
                  </a:lnTo>
                  <a:lnTo>
                    <a:pt x="574391" y="73612"/>
                  </a:lnTo>
                  <a:lnTo>
                    <a:pt x="609781" y="104621"/>
                  </a:lnTo>
                  <a:lnTo>
                    <a:pt x="640791" y="140012"/>
                  </a:lnTo>
                  <a:lnTo>
                    <a:pt x="666678" y="178825"/>
                  </a:lnTo>
                  <a:lnTo>
                    <a:pt x="687213" y="220506"/>
                  </a:lnTo>
                  <a:lnTo>
                    <a:pt x="702165" y="264499"/>
                  </a:lnTo>
                  <a:lnTo>
                    <a:pt x="711305" y="310249"/>
                  </a:lnTo>
                  <a:lnTo>
                    <a:pt x="714403" y="357201"/>
                  </a:lnTo>
                  <a:lnTo>
                    <a:pt x="711142" y="405672"/>
                  </a:lnTo>
                  <a:lnTo>
                    <a:pt x="701644" y="452160"/>
                  </a:lnTo>
                  <a:lnTo>
                    <a:pt x="686333" y="496241"/>
                  </a:lnTo>
                  <a:lnTo>
                    <a:pt x="665635" y="537488"/>
                  </a:lnTo>
                  <a:lnTo>
                    <a:pt x="639976" y="575477"/>
                  </a:lnTo>
                  <a:lnTo>
                    <a:pt x="609782" y="609781"/>
                  </a:lnTo>
                  <a:lnTo>
                    <a:pt x="575477" y="639976"/>
                  </a:lnTo>
                  <a:lnTo>
                    <a:pt x="537488" y="665635"/>
                  </a:lnTo>
                  <a:lnTo>
                    <a:pt x="496241" y="686333"/>
                  </a:lnTo>
                  <a:lnTo>
                    <a:pt x="452160" y="701644"/>
                  </a:lnTo>
                  <a:lnTo>
                    <a:pt x="405672" y="711143"/>
                  </a:lnTo>
                  <a:lnTo>
                    <a:pt x="357202" y="714403"/>
                  </a:lnTo>
                  <a:lnTo>
                    <a:pt x="308732" y="711143"/>
                  </a:lnTo>
                  <a:lnTo>
                    <a:pt x="262243" y="701644"/>
                  </a:lnTo>
                  <a:lnTo>
                    <a:pt x="218163" y="686333"/>
                  </a:lnTo>
                  <a:lnTo>
                    <a:pt x="176915" y="665635"/>
                  </a:lnTo>
                  <a:lnTo>
                    <a:pt x="138926" y="639976"/>
                  </a:lnTo>
                  <a:lnTo>
                    <a:pt x="104622" y="609781"/>
                  </a:lnTo>
                  <a:lnTo>
                    <a:pt x="74427" y="575477"/>
                  </a:lnTo>
                  <a:lnTo>
                    <a:pt x="48768" y="537488"/>
                  </a:lnTo>
                  <a:lnTo>
                    <a:pt x="28070" y="496241"/>
                  </a:lnTo>
                  <a:lnTo>
                    <a:pt x="12759" y="452160"/>
                  </a:lnTo>
                  <a:lnTo>
                    <a:pt x="3260" y="405672"/>
                  </a:lnTo>
                  <a:lnTo>
                    <a:pt x="0" y="35720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4555" y="1978970"/>
              <a:ext cx="714404" cy="7144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44555" y="1978970"/>
              <a:ext cx="715010" cy="715010"/>
            </a:xfrm>
            <a:custGeom>
              <a:avLst/>
              <a:gdLst/>
              <a:ahLst/>
              <a:cxnLst/>
              <a:rect l="l" t="t" r="r" b="b"/>
              <a:pathLst>
                <a:path w="715009" h="715010">
                  <a:moveTo>
                    <a:pt x="0" y="357201"/>
                  </a:moveTo>
                  <a:lnTo>
                    <a:pt x="3260" y="308731"/>
                  </a:lnTo>
                  <a:lnTo>
                    <a:pt x="12759" y="262243"/>
                  </a:lnTo>
                  <a:lnTo>
                    <a:pt x="28070" y="218162"/>
                  </a:lnTo>
                  <a:lnTo>
                    <a:pt x="48768" y="176915"/>
                  </a:lnTo>
                  <a:lnTo>
                    <a:pt x="74427" y="138926"/>
                  </a:lnTo>
                  <a:lnTo>
                    <a:pt x="104622" y="104622"/>
                  </a:lnTo>
                  <a:lnTo>
                    <a:pt x="138926" y="74427"/>
                  </a:lnTo>
                  <a:lnTo>
                    <a:pt x="176915" y="48768"/>
                  </a:lnTo>
                  <a:lnTo>
                    <a:pt x="218162" y="28070"/>
                  </a:lnTo>
                  <a:lnTo>
                    <a:pt x="262243" y="12759"/>
                  </a:lnTo>
                  <a:lnTo>
                    <a:pt x="308731" y="3260"/>
                  </a:lnTo>
                  <a:lnTo>
                    <a:pt x="357201" y="0"/>
                  </a:lnTo>
                  <a:lnTo>
                    <a:pt x="404154" y="3097"/>
                  </a:lnTo>
                  <a:lnTo>
                    <a:pt x="449904" y="12237"/>
                  </a:lnTo>
                  <a:lnTo>
                    <a:pt x="493897" y="27190"/>
                  </a:lnTo>
                  <a:lnTo>
                    <a:pt x="535577" y="47725"/>
                  </a:lnTo>
                  <a:lnTo>
                    <a:pt x="574391" y="73612"/>
                  </a:lnTo>
                  <a:lnTo>
                    <a:pt x="609781" y="104621"/>
                  </a:lnTo>
                  <a:lnTo>
                    <a:pt x="640791" y="140012"/>
                  </a:lnTo>
                  <a:lnTo>
                    <a:pt x="666678" y="178825"/>
                  </a:lnTo>
                  <a:lnTo>
                    <a:pt x="687213" y="220506"/>
                  </a:lnTo>
                  <a:lnTo>
                    <a:pt x="702166" y="264499"/>
                  </a:lnTo>
                  <a:lnTo>
                    <a:pt x="711306" y="310249"/>
                  </a:lnTo>
                  <a:lnTo>
                    <a:pt x="714404" y="357201"/>
                  </a:lnTo>
                  <a:lnTo>
                    <a:pt x="711143" y="405672"/>
                  </a:lnTo>
                  <a:lnTo>
                    <a:pt x="701644" y="452160"/>
                  </a:lnTo>
                  <a:lnTo>
                    <a:pt x="686333" y="496241"/>
                  </a:lnTo>
                  <a:lnTo>
                    <a:pt x="665635" y="537488"/>
                  </a:lnTo>
                  <a:lnTo>
                    <a:pt x="639976" y="575477"/>
                  </a:lnTo>
                  <a:lnTo>
                    <a:pt x="609782" y="609781"/>
                  </a:lnTo>
                  <a:lnTo>
                    <a:pt x="575477" y="639976"/>
                  </a:lnTo>
                  <a:lnTo>
                    <a:pt x="537488" y="665635"/>
                  </a:lnTo>
                  <a:lnTo>
                    <a:pt x="496241" y="686333"/>
                  </a:lnTo>
                  <a:lnTo>
                    <a:pt x="452160" y="701644"/>
                  </a:lnTo>
                  <a:lnTo>
                    <a:pt x="405672" y="711143"/>
                  </a:lnTo>
                  <a:lnTo>
                    <a:pt x="357201" y="714403"/>
                  </a:lnTo>
                  <a:lnTo>
                    <a:pt x="308731" y="711143"/>
                  </a:lnTo>
                  <a:lnTo>
                    <a:pt x="262243" y="701644"/>
                  </a:lnTo>
                  <a:lnTo>
                    <a:pt x="218162" y="686333"/>
                  </a:lnTo>
                  <a:lnTo>
                    <a:pt x="176915" y="665635"/>
                  </a:lnTo>
                  <a:lnTo>
                    <a:pt x="138926" y="639976"/>
                  </a:lnTo>
                  <a:lnTo>
                    <a:pt x="104622" y="609781"/>
                  </a:lnTo>
                  <a:lnTo>
                    <a:pt x="74427" y="575477"/>
                  </a:lnTo>
                  <a:lnTo>
                    <a:pt x="48768" y="537488"/>
                  </a:lnTo>
                  <a:lnTo>
                    <a:pt x="28070" y="496241"/>
                  </a:lnTo>
                  <a:lnTo>
                    <a:pt x="12759" y="452160"/>
                  </a:lnTo>
                  <a:lnTo>
                    <a:pt x="3260" y="405672"/>
                  </a:lnTo>
                  <a:lnTo>
                    <a:pt x="0" y="35720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771745" y="1256008"/>
            <a:ext cx="540068" cy="1638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90" spc="-5" dirty="0">
                <a:latin typeface="Arial MT"/>
                <a:cs typeface="Arial MT"/>
              </a:rPr>
              <a:t>RawData</a:t>
            </a:r>
            <a:endParaRPr sz="99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63122" y="2006131"/>
            <a:ext cx="525209" cy="1638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90" spc="-5" dirty="0">
                <a:latin typeface="Arial MT"/>
                <a:cs typeface="Arial MT"/>
              </a:rPr>
              <a:t>Analytics</a:t>
            </a:r>
            <a:endParaRPr sz="99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86329" y="851078"/>
            <a:ext cx="1774508" cy="2334578"/>
            <a:chOff x="6143476" y="945642"/>
            <a:chExt cx="1971675" cy="259397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7468" y="2812441"/>
              <a:ext cx="714403" cy="7144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387468" y="2812441"/>
              <a:ext cx="715010" cy="715010"/>
            </a:xfrm>
            <a:custGeom>
              <a:avLst/>
              <a:gdLst/>
              <a:ahLst/>
              <a:cxnLst/>
              <a:rect l="l" t="t" r="r" b="b"/>
              <a:pathLst>
                <a:path w="715009" h="715010">
                  <a:moveTo>
                    <a:pt x="0" y="357201"/>
                  </a:moveTo>
                  <a:lnTo>
                    <a:pt x="3260" y="308731"/>
                  </a:lnTo>
                  <a:lnTo>
                    <a:pt x="12759" y="262243"/>
                  </a:lnTo>
                  <a:lnTo>
                    <a:pt x="28070" y="218162"/>
                  </a:lnTo>
                  <a:lnTo>
                    <a:pt x="48768" y="176915"/>
                  </a:lnTo>
                  <a:lnTo>
                    <a:pt x="74427" y="138926"/>
                  </a:lnTo>
                  <a:lnTo>
                    <a:pt x="104622" y="104622"/>
                  </a:lnTo>
                  <a:lnTo>
                    <a:pt x="138926" y="74427"/>
                  </a:lnTo>
                  <a:lnTo>
                    <a:pt x="176915" y="48768"/>
                  </a:lnTo>
                  <a:lnTo>
                    <a:pt x="218163" y="28070"/>
                  </a:lnTo>
                  <a:lnTo>
                    <a:pt x="262243" y="12759"/>
                  </a:lnTo>
                  <a:lnTo>
                    <a:pt x="308732" y="3260"/>
                  </a:lnTo>
                  <a:lnTo>
                    <a:pt x="357202" y="0"/>
                  </a:lnTo>
                  <a:lnTo>
                    <a:pt x="404154" y="3097"/>
                  </a:lnTo>
                  <a:lnTo>
                    <a:pt x="449904" y="12237"/>
                  </a:lnTo>
                  <a:lnTo>
                    <a:pt x="493897" y="27190"/>
                  </a:lnTo>
                  <a:lnTo>
                    <a:pt x="535578" y="47725"/>
                  </a:lnTo>
                  <a:lnTo>
                    <a:pt x="574391" y="73612"/>
                  </a:lnTo>
                  <a:lnTo>
                    <a:pt x="609781" y="104621"/>
                  </a:lnTo>
                  <a:lnTo>
                    <a:pt x="640791" y="140012"/>
                  </a:lnTo>
                  <a:lnTo>
                    <a:pt x="666678" y="178825"/>
                  </a:lnTo>
                  <a:lnTo>
                    <a:pt x="687213" y="220506"/>
                  </a:lnTo>
                  <a:lnTo>
                    <a:pt x="702165" y="264499"/>
                  </a:lnTo>
                  <a:lnTo>
                    <a:pt x="711305" y="310249"/>
                  </a:lnTo>
                  <a:lnTo>
                    <a:pt x="714403" y="357201"/>
                  </a:lnTo>
                  <a:lnTo>
                    <a:pt x="711142" y="405672"/>
                  </a:lnTo>
                  <a:lnTo>
                    <a:pt x="701644" y="452160"/>
                  </a:lnTo>
                  <a:lnTo>
                    <a:pt x="686333" y="496241"/>
                  </a:lnTo>
                  <a:lnTo>
                    <a:pt x="665635" y="537488"/>
                  </a:lnTo>
                  <a:lnTo>
                    <a:pt x="639976" y="575477"/>
                  </a:lnTo>
                  <a:lnTo>
                    <a:pt x="609782" y="609781"/>
                  </a:lnTo>
                  <a:lnTo>
                    <a:pt x="575477" y="639976"/>
                  </a:lnTo>
                  <a:lnTo>
                    <a:pt x="537488" y="665635"/>
                  </a:lnTo>
                  <a:lnTo>
                    <a:pt x="496241" y="686333"/>
                  </a:lnTo>
                  <a:lnTo>
                    <a:pt x="452160" y="701644"/>
                  </a:lnTo>
                  <a:lnTo>
                    <a:pt x="405672" y="711143"/>
                  </a:lnTo>
                  <a:lnTo>
                    <a:pt x="357202" y="714403"/>
                  </a:lnTo>
                  <a:lnTo>
                    <a:pt x="308732" y="711143"/>
                  </a:lnTo>
                  <a:lnTo>
                    <a:pt x="262243" y="701644"/>
                  </a:lnTo>
                  <a:lnTo>
                    <a:pt x="218163" y="686333"/>
                  </a:lnTo>
                  <a:lnTo>
                    <a:pt x="176915" y="665635"/>
                  </a:lnTo>
                  <a:lnTo>
                    <a:pt x="138926" y="639976"/>
                  </a:lnTo>
                  <a:lnTo>
                    <a:pt x="104622" y="609781"/>
                  </a:lnTo>
                  <a:lnTo>
                    <a:pt x="74427" y="575477"/>
                  </a:lnTo>
                  <a:lnTo>
                    <a:pt x="48768" y="537488"/>
                  </a:lnTo>
                  <a:lnTo>
                    <a:pt x="28070" y="496241"/>
                  </a:lnTo>
                  <a:lnTo>
                    <a:pt x="12759" y="452160"/>
                  </a:lnTo>
                  <a:lnTo>
                    <a:pt x="3260" y="405672"/>
                  </a:lnTo>
                  <a:lnTo>
                    <a:pt x="0" y="35720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56176" y="958342"/>
              <a:ext cx="432434" cy="2490470"/>
            </a:xfrm>
            <a:custGeom>
              <a:avLst/>
              <a:gdLst/>
              <a:ahLst/>
              <a:cxnLst/>
              <a:rect l="l" t="t" r="r" b="b"/>
              <a:pathLst>
                <a:path w="432434" h="2490470">
                  <a:moveTo>
                    <a:pt x="432047" y="2489867"/>
                  </a:moveTo>
                  <a:lnTo>
                    <a:pt x="0" y="2489867"/>
                  </a:lnTo>
                  <a:lnTo>
                    <a:pt x="0" y="0"/>
                  </a:lnTo>
                  <a:lnTo>
                    <a:pt x="432047" y="0"/>
                  </a:lnTo>
                  <a:lnTo>
                    <a:pt x="432047" y="24898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56176" y="958342"/>
              <a:ext cx="432434" cy="2490470"/>
            </a:xfrm>
            <a:custGeom>
              <a:avLst/>
              <a:gdLst/>
              <a:ahLst/>
              <a:cxnLst/>
              <a:rect l="l" t="t" r="r" b="b"/>
              <a:pathLst>
                <a:path w="432434" h="2490470">
                  <a:moveTo>
                    <a:pt x="0" y="0"/>
                  </a:moveTo>
                  <a:lnTo>
                    <a:pt x="432047" y="0"/>
                  </a:lnTo>
                  <a:lnTo>
                    <a:pt x="432047" y="2489867"/>
                  </a:lnTo>
                  <a:lnTo>
                    <a:pt x="0" y="2489867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67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71745" y="2756256"/>
            <a:ext cx="644652" cy="1638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990" spc="-5" dirty="0">
                <a:latin typeface="Arial MT"/>
                <a:cs typeface="Arial MT"/>
              </a:rPr>
              <a:t>Notification</a:t>
            </a:r>
            <a:endParaRPr sz="99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3276" y="1068323"/>
            <a:ext cx="2531174" cy="302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3751" indent="-282893">
              <a:spcBef>
                <a:spcPts val="90"/>
              </a:spcBef>
              <a:buChar char="▪"/>
              <a:tabLst>
                <a:tab pos="293751" algn="l"/>
                <a:tab pos="294323" algn="l"/>
              </a:tabLst>
            </a:pPr>
            <a:r>
              <a:rPr sz="1890" b="1" spc="-5" dirty="0">
                <a:latin typeface="Arial"/>
                <a:cs typeface="Arial"/>
              </a:rPr>
              <a:t>APIs</a:t>
            </a:r>
            <a:r>
              <a:rPr sz="1890" b="1" spc="-32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are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key!</a:t>
            </a:r>
            <a:r>
              <a:rPr sz="1890" b="1" spc="-27" dirty="0">
                <a:latin typeface="Arial"/>
                <a:cs typeface="Arial"/>
              </a:rPr>
              <a:t> </a:t>
            </a:r>
            <a:r>
              <a:rPr sz="1890" b="1" spc="-5" dirty="0">
                <a:latin typeface="Arial"/>
                <a:cs typeface="Arial"/>
              </a:rPr>
              <a:t>Why?</a:t>
            </a:r>
            <a:endParaRPr sz="189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2131" y="1343694"/>
            <a:ext cx="2885504" cy="1396536"/>
          </a:xfrm>
          <a:prstGeom prst="rect">
            <a:avLst/>
          </a:prstGeom>
        </p:spPr>
        <p:txBody>
          <a:bodyPr vert="horz" wrap="square" lIns="0" tIns="66294" rIns="0" bIns="0" rtlCol="0">
            <a:spAutoFit/>
          </a:bodyPr>
          <a:lstStyle/>
          <a:p>
            <a:pPr marL="294894" marR="4572" indent="-284036">
              <a:lnSpc>
                <a:spcPct val="80000"/>
              </a:lnSpc>
              <a:spcBef>
                <a:spcPts val="522"/>
              </a:spcBef>
              <a:buClr>
                <a:srgbClr val="000000"/>
              </a:buClr>
              <a:buFont typeface="Lucida Sans Unicode"/>
              <a:buChar char="▪"/>
              <a:tabLst>
                <a:tab pos="294894" algn="l"/>
                <a:tab pos="295466" algn="l"/>
              </a:tabLst>
            </a:pP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enable</a:t>
            </a:r>
            <a:r>
              <a:rPr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00FF"/>
                </a:solidFill>
                <a:latin typeface="Arial MT"/>
                <a:cs typeface="Arial MT"/>
              </a:rPr>
              <a:t>customers</a:t>
            </a:r>
            <a:r>
              <a:rPr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access </a:t>
            </a:r>
            <a:r>
              <a:rPr spc="-486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to data and analysis 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functions from </a:t>
            </a:r>
            <a:r>
              <a:rPr dirty="0">
                <a:latin typeface="Arial MT"/>
                <a:cs typeface="Arial MT"/>
              </a:rPr>
              <a:t>your </a:t>
            </a:r>
            <a:r>
              <a:rPr spc="-5" dirty="0">
                <a:latin typeface="Arial MT"/>
                <a:cs typeface="Arial MT"/>
              </a:rPr>
              <a:t>big 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data platforms without 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worrying about </a:t>
            </a:r>
            <a:r>
              <a:rPr dirty="0">
                <a:latin typeface="Arial MT"/>
                <a:cs typeface="Arial MT"/>
              </a:rPr>
              <a:t>changes 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within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your</a:t>
            </a:r>
            <a:r>
              <a:rPr spc="-14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platforms</a:t>
            </a:r>
            <a:endParaRPr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2019" y="2702721"/>
            <a:ext cx="3088386" cy="1213409"/>
          </a:xfrm>
          <a:prstGeom prst="rect">
            <a:avLst/>
          </a:prstGeom>
        </p:spPr>
        <p:txBody>
          <a:bodyPr vert="horz" wrap="square" lIns="0" tIns="66294" rIns="0" bIns="0" rtlCol="0">
            <a:spAutoFit/>
          </a:bodyPr>
          <a:lstStyle/>
          <a:p>
            <a:pPr marL="294894" marR="4572" indent="-284036">
              <a:lnSpc>
                <a:spcPct val="80000"/>
              </a:lnSpc>
              <a:spcBef>
                <a:spcPts val="522"/>
              </a:spcBef>
              <a:buClr>
                <a:srgbClr val="000000"/>
              </a:buClr>
              <a:buFont typeface="Lucida Sans Unicode"/>
              <a:buChar char="▪"/>
              <a:tabLst>
                <a:tab pos="294894" algn="l"/>
                <a:tab pos="295466" algn="l"/>
              </a:tabLst>
            </a:pP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enable </a:t>
            </a:r>
            <a:r>
              <a:rPr dirty="0">
                <a:solidFill>
                  <a:srgbClr val="0000FF"/>
                </a:solidFill>
                <a:latin typeface="Arial MT"/>
                <a:cs typeface="Arial MT"/>
              </a:rPr>
              <a:t>virtualization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and </a:t>
            </a:r>
            <a:r>
              <a:rPr dirty="0">
                <a:solidFill>
                  <a:srgbClr val="0000FF"/>
                </a:solidFill>
                <a:latin typeface="Arial MT"/>
                <a:cs typeface="Arial MT"/>
              </a:rPr>
              <a:t> management</a:t>
            </a:r>
            <a:r>
              <a:rPr spc="-5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(hide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internal, </a:t>
            </a:r>
            <a:r>
              <a:rPr spc="-491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control</a:t>
            </a:r>
            <a:r>
              <a:rPr spc="-23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access,</a:t>
            </a:r>
            <a:r>
              <a:rPr spc="-18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throttling)</a:t>
            </a:r>
            <a:endParaRPr>
              <a:latin typeface="Arial MT"/>
              <a:cs typeface="Arial MT"/>
            </a:endParaRPr>
          </a:p>
          <a:p>
            <a:pPr marL="294894" marR="56007" indent="-284036">
              <a:lnSpc>
                <a:spcPct val="80000"/>
              </a:lnSpc>
              <a:spcBef>
                <a:spcPts val="333"/>
              </a:spcBef>
              <a:buClr>
                <a:srgbClr val="000000"/>
              </a:buClr>
              <a:buChar char="▪"/>
              <a:tabLst>
                <a:tab pos="294894" algn="l"/>
                <a:tab pos="295466" algn="l"/>
              </a:tabLst>
            </a:pP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establish protocols </a:t>
            </a:r>
            <a:r>
              <a:rPr spc="-5" dirty="0">
                <a:latin typeface="Arial MT"/>
                <a:cs typeface="Arial MT"/>
              </a:rPr>
              <a:t>for data </a:t>
            </a:r>
            <a:r>
              <a:rPr spc="-491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exchanges</a:t>
            </a:r>
            <a:endParaRPr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97758" y="862508"/>
            <a:ext cx="389191" cy="1523494"/>
          </a:xfrm>
          <a:prstGeom prst="rect">
            <a:avLst/>
          </a:prstGeom>
          <a:ln w="25399">
            <a:solidFill>
              <a:srgbClr val="FF67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spcBef>
                <a:spcPts val="45"/>
              </a:spcBef>
            </a:pPr>
            <a:endParaRPr sz="1440">
              <a:latin typeface="Times New Roman"/>
              <a:cs typeface="Times New Roman"/>
            </a:endParaRPr>
          </a:p>
          <a:p>
            <a:pPr marL="125730" marR="118872" algn="just"/>
            <a:r>
              <a:rPr sz="1620" dirty="0">
                <a:latin typeface="Arial MT"/>
                <a:cs typeface="Arial MT"/>
              </a:rPr>
              <a:t>A  P  I</a:t>
            </a:r>
            <a:endParaRPr sz="162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678713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5" dirty="0"/>
              <a:t>Delivery</a:t>
            </a:r>
            <a:r>
              <a:rPr spc="-32" dirty="0"/>
              <a:t> </a:t>
            </a:r>
            <a:r>
              <a:rPr spc="-9" dirty="0"/>
              <a:t>data</a:t>
            </a:r>
            <a:r>
              <a:rPr spc="-32" dirty="0"/>
              <a:t> </a:t>
            </a:r>
            <a:r>
              <a:rPr spc="-5" dirty="0"/>
              <a:t>as</a:t>
            </a:r>
            <a:r>
              <a:rPr spc="-27" dirty="0"/>
              <a:t> </a:t>
            </a:r>
            <a:r>
              <a:rPr dirty="0"/>
              <a:t>“asset”/”product”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311" y="1113037"/>
            <a:ext cx="7092886" cy="3003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2334" marR="683514" indent="-371475">
              <a:spcBef>
                <a:spcPts val="90"/>
              </a:spcBef>
              <a:buChar char="●"/>
              <a:tabLst>
                <a:tab pos="382334" algn="l"/>
                <a:tab pos="382905" algn="l"/>
              </a:tabLst>
            </a:pPr>
            <a:r>
              <a:rPr sz="2160" b="1" spc="-36" dirty="0">
                <a:latin typeface="Arial"/>
                <a:cs typeface="Arial"/>
              </a:rPr>
              <a:t>FAIR</a:t>
            </a:r>
            <a:r>
              <a:rPr sz="2160" b="1" spc="-9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principles </a:t>
            </a:r>
            <a:r>
              <a:rPr sz="2160" b="1" dirty="0">
                <a:latin typeface="Arial"/>
                <a:cs typeface="Arial"/>
              </a:rPr>
              <a:t> </a:t>
            </a:r>
            <a:r>
              <a:rPr sz="2160" b="1" spc="-9" dirty="0">
                <a:latin typeface="Arial"/>
                <a:cs typeface="Arial"/>
                <a:hlinkClick r:id="rId2"/>
              </a:rPr>
              <a:t>(https://www.nature.com/articles/sdata201618)</a:t>
            </a:r>
            <a:endParaRPr sz="2160">
              <a:latin typeface="Arial"/>
              <a:cs typeface="Arial"/>
            </a:endParaRPr>
          </a:p>
          <a:p>
            <a:pPr marL="793814" lvl="1" indent="-371475">
              <a:buFont typeface="Arial MT"/>
              <a:buChar char="○"/>
              <a:tabLst>
                <a:tab pos="793814" algn="l"/>
                <a:tab pos="794385" algn="l"/>
              </a:tabLst>
            </a:pPr>
            <a:r>
              <a:rPr sz="2160" spc="-5" dirty="0">
                <a:latin typeface="Georgia"/>
                <a:cs typeface="Georgia"/>
              </a:rPr>
              <a:t>Findable,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Accessible,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Interoperable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and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Reusable</a:t>
            </a:r>
            <a:endParaRPr sz="2160">
              <a:latin typeface="Georgia"/>
              <a:cs typeface="Georgia"/>
            </a:endParaRPr>
          </a:p>
          <a:p>
            <a:pPr marL="382334" indent="-371475">
              <a:buChar char="●"/>
              <a:tabLst>
                <a:tab pos="382334" algn="l"/>
                <a:tab pos="382905" algn="l"/>
              </a:tabLst>
            </a:pPr>
            <a:r>
              <a:rPr sz="2160" b="1" spc="-5" dirty="0">
                <a:latin typeface="Arial"/>
                <a:cs typeface="Arial"/>
              </a:rPr>
              <a:t>Product/asset</a:t>
            </a:r>
            <a:r>
              <a:rPr sz="2160" b="1" spc="-50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characteristics</a:t>
            </a:r>
            <a:endParaRPr sz="2160">
              <a:latin typeface="Arial"/>
              <a:cs typeface="Arial"/>
            </a:endParaRPr>
          </a:p>
          <a:p>
            <a:pPr marL="382334" indent="-371475">
              <a:buChar char="●"/>
              <a:tabLst>
                <a:tab pos="382334" algn="l"/>
                <a:tab pos="382905" algn="l"/>
              </a:tabLst>
            </a:pPr>
            <a:r>
              <a:rPr sz="2160" b="1" spc="-5" dirty="0">
                <a:latin typeface="Arial"/>
                <a:cs typeface="Arial"/>
              </a:rPr>
              <a:t>Consequences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for</a:t>
            </a:r>
            <a:r>
              <a:rPr sz="2160" b="1" spc="-27" dirty="0">
                <a:latin typeface="Arial"/>
                <a:cs typeface="Arial"/>
              </a:rPr>
              <a:t> </a:t>
            </a:r>
            <a:r>
              <a:rPr sz="2160" b="1" dirty="0">
                <a:latin typeface="Arial"/>
                <a:cs typeface="Arial"/>
              </a:rPr>
              <a:t>the</a:t>
            </a:r>
            <a:r>
              <a:rPr sz="2160" b="1" spc="-23" dirty="0">
                <a:latin typeface="Arial"/>
                <a:cs typeface="Arial"/>
              </a:rPr>
              <a:t> </a:t>
            </a:r>
            <a:r>
              <a:rPr sz="2160" b="1" spc="-5" dirty="0">
                <a:latin typeface="Arial"/>
                <a:cs typeface="Arial"/>
              </a:rPr>
              <a:t>platform</a:t>
            </a:r>
            <a:endParaRPr sz="2160">
              <a:latin typeface="Arial"/>
              <a:cs typeface="Arial"/>
            </a:endParaRPr>
          </a:p>
          <a:p>
            <a:pPr marL="793814" lvl="1" indent="-371475">
              <a:buFont typeface="Arial MT"/>
              <a:buChar char="○"/>
              <a:tabLst>
                <a:tab pos="793814" algn="l"/>
                <a:tab pos="794385" algn="l"/>
              </a:tabLst>
            </a:pPr>
            <a:r>
              <a:rPr sz="2160" spc="-5" dirty="0">
                <a:latin typeface="Georgia"/>
                <a:cs typeface="Georgia"/>
              </a:rPr>
              <a:t>Metadata</a:t>
            </a:r>
            <a:r>
              <a:rPr sz="2160" spc="-32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and</a:t>
            </a:r>
            <a:r>
              <a:rPr sz="2160" spc="-27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governance</a:t>
            </a:r>
            <a:endParaRPr sz="2160">
              <a:latin typeface="Georgia"/>
              <a:cs typeface="Georgia"/>
            </a:endParaRPr>
          </a:p>
          <a:p>
            <a:pPr marL="793814" lvl="1" indent="-371475">
              <a:buFont typeface="Arial MT"/>
              <a:buChar char="○"/>
              <a:tabLst>
                <a:tab pos="793814" algn="l"/>
                <a:tab pos="794385" algn="l"/>
              </a:tabLst>
            </a:pPr>
            <a:r>
              <a:rPr sz="2160" spc="-5" dirty="0">
                <a:latin typeface="Georgia"/>
                <a:cs typeface="Georgia"/>
              </a:rPr>
              <a:t>Service-level</a:t>
            </a:r>
            <a:r>
              <a:rPr sz="2160" spc="-18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objectives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and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quality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controls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for</a:t>
            </a:r>
            <a:r>
              <a:rPr sz="2160" spc="-14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data</a:t>
            </a:r>
            <a:endParaRPr sz="2160">
              <a:latin typeface="Georgia"/>
              <a:cs typeface="Georgia"/>
            </a:endParaRPr>
          </a:p>
          <a:p>
            <a:pPr marL="793814" lvl="1" indent="-371475">
              <a:buFont typeface="Arial MT"/>
              <a:buChar char="○"/>
              <a:tabLst>
                <a:tab pos="793814" algn="l"/>
                <a:tab pos="794385" algn="l"/>
              </a:tabLst>
            </a:pPr>
            <a:r>
              <a:rPr sz="2160" spc="-5" dirty="0">
                <a:latin typeface="Georgia"/>
                <a:cs typeface="Georgia"/>
              </a:rPr>
              <a:t>Search</a:t>
            </a:r>
            <a:endParaRPr sz="2160">
              <a:latin typeface="Georgia"/>
              <a:cs typeface="Georgia"/>
            </a:endParaRPr>
          </a:p>
          <a:p>
            <a:pPr marL="793814" lvl="1" indent="-371475">
              <a:buFont typeface="Arial MT"/>
              <a:buChar char="○"/>
              <a:tabLst>
                <a:tab pos="793814" algn="l"/>
                <a:tab pos="794385" algn="l"/>
              </a:tabLst>
            </a:pPr>
            <a:r>
              <a:rPr sz="2160" spc="-5" dirty="0">
                <a:latin typeface="Georgia"/>
                <a:cs typeface="Georgia"/>
              </a:rPr>
              <a:t>Access</a:t>
            </a:r>
            <a:r>
              <a:rPr sz="2160" spc="-32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control</a:t>
            </a:r>
            <a:r>
              <a:rPr sz="2160" spc="-27" dirty="0">
                <a:latin typeface="Georgia"/>
                <a:cs typeface="Georgia"/>
              </a:rPr>
              <a:t> </a:t>
            </a:r>
            <a:r>
              <a:rPr sz="2160" spc="-5" dirty="0">
                <a:latin typeface="Georgia"/>
                <a:cs typeface="Georgia"/>
              </a:rPr>
              <a:t>policies</a:t>
            </a:r>
            <a:endParaRPr sz="216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65061" y="2095764"/>
            <a:ext cx="6459093" cy="1357872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 algn="just">
              <a:lnSpc>
                <a:spcPts val="3303"/>
              </a:lnSpc>
              <a:spcBef>
                <a:spcPts val="689"/>
              </a:spcBef>
            </a:pPr>
            <a:r>
              <a:rPr spc="-5" dirty="0"/>
              <a:t>Common, </a:t>
            </a:r>
            <a:r>
              <a:rPr spc="-9" dirty="0"/>
              <a:t>high-level </a:t>
            </a:r>
            <a:r>
              <a:rPr spc="-5" dirty="0"/>
              <a:t>architecture </a:t>
            </a:r>
            <a:r>
              <a:rPr spc="-891" dirty="0"/>
              <a:t> </a:t>
            </a:r>
            <a:r>
              <a:rPr spc="-5" dirty="0"/>
              <a:t>view </a:t>
            </a:r>
            <a:r>
              <a:rPr spc="-9" dirty="0"/>
              <a:t>with popular </a:t>
            </a:r>
            <a:r>
              <a:rPr spc="-5" dirty="0"/>
              <a:t>state-of-the art </a:t>
            </a:r>
            <a:r>
              <a:rPr spc="-891" dirty="0"/>
              <a:t> </a:t>
            </a:r>
            <a:r>
              <a:rPr spc="-5" dirty="0"/>
              <a:t>technologies</a:t>
            </a:r>
            <a:r>
              <a:rPr spc="-14" dirty="0"/>
              <a:t> </a:t>
            </a:r>
            <a:r>
              <a:rPr spc="-5" dirty="0"/>
              <a:t>for</a:t>
            </a:r>
            <a:r>
              <a:rPr spc="-9" dirty="0"/>
              <a:t> our</a:t>
            </a:r>
            <a:r>
              <a:rPr spc="-14" dirty="0"/>
              <a:t> </a:t>
            </a:r>
            <a:r>
              <a:rPr spc="-5" dirty="0"/>
              <a:t>study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256" y="151470"/>
            <a:ext cx="2672334" cy="1781065"/>
          </a:xfrm>
          <a:prstGeom prst="rect">
            <a:avLst/>
          </a:prstGeom>
        </p:spPr>
        <p:txBody>
          <a:bodyPr vert="horz" wrap="square" lIns="0" tIns="87440" rIns="0" bIns="0" rtlCol="0">
            <a:spAutoFit/>
          </a:bodyPr>
          <a:lstStyle/>
          <a:p>
            <a:pPr marL="11430" marR="4572">
              <a:lnSpc>
                <a:spcPts val="3303"/>
              </a:lnSpc>
              <a:spcBef>
                <a:spcPts val="689"/>
              </a:spcBef>
            </a:pPr>
            <a:r>
              <a:rPr spc="-68" dirty="0"/>
              <a:t>Your</a:t>
            </a:r>
            <a:r>
              <a:rPr spc="-18" dirty="0"/>
              <a:t> </a:t>
            </a:r>
            <a:r>
              <a:rPr spc="-9" dirty="0"/>
              <a:t>big </a:t>
            </a:r>
            <a:r>
              <a:rPr spc="-5" dirty="0"/>
              <a:t> </a:t>
            </a:r>
            <a:r>
              <a:rPr spc="-9" dirty="0"/>
              <a:t>platform </a:t>
            </a:r>
            <a:r>
              <a:rPr spc="-5" dirty="0"/>
              <a:t> suggested</a:t>
            </a:r>
            <a:r>
              <a:rPr spc="-90" dirty="0"/>
              <a:t> </a:t>
            </a:r>
            <a:r>
              <a:rPr spc="-9" dirty="0"/>
              <a:t>by </a:t>
            </a:r>
            <a:r>
              <a:rPr spc="-887" dirty="0"/>
              <a:t> </a:t>
            </a:r>
            <a:r>
              <a:rPr spc="-5" dirty="0"/>
              <a:t>ChatGPT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5045" y="310328"/>
            <a:ext cx="3657924" cy="35869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33413" y="4105790"/>
            <a:ext cx="1312736" cy="2054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260" spc="-5" dirty="0">
                <a:latin typeface="Arial MT"/>
                <a:cs typeface="Arial MT"/>
              </a:rPr>
              <a:t>dated:</a:t>
            </a:r>
            <a:r>
              <a:rPr sz="1260" spc="-63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03.12.2022</a:t>
            </a:r>
            <a:endParaRPr sz="126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6800" y="3823077"/>
            <a:ext cx="7678674" cy="1280160"/>
            <a:chOff x="144000" y="4247863"/>
            <a:chExt cx="8531860" cy="1422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936" y="4247863"/>
              <a:ext cx="8144127" cy="5888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935" y="4264863"/>
              <a:ext cx="8064127" cy="50884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67251" y="151460"/>
            <a:ext cx="677170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9" dirty="0"/>
              <a:t>Our</a:t>
            </a:r>
            <a:r>
              <a:rPr spc="-18" dirty="0"/>
              <a:t> </a:t>
            </a:r>
            <a:r>
              <a:rPr spc="-9" dirty="0"/>
              <a:t>big</a:t>
            </a:r>
            <a:r>
              <a:rPr spc="-18" dirty="0"/>
              <a:t> </a:t>
            </a:r>
            <a:r>
              <a:rPr spc="-9" dirty="0"/>
              <a:t>data</a:t>
            </a:r>
            <a:r>
              <a:rPr spc="-14" dirty="0"/>
              <a:t> </a:t>
            </a:r>
            <a:r>
              <a:rPr spc="-5" dirty="0"/>
              <a:t>at</a:t>
            </a:r>
            <a:r>
              <a:rPr spc="-14" dirty="0"/>
              <a:t> </a:t>
            </a:r>
            <a:r>
              <a:rPr spc="-9" dirty="0"/>
              <a:t>large-scale:</a:t>
            </a:r>
            <a:r>
              <a:rPr spc="-18" dirty="0"/>
              <a:t> </a:t>
            </a:r>
            <a:r>
              <a:rPr spc="-5" dirty="0"/>
              <a:t>the</a:t>
            </a:r>
            <a:r>
              <a:rPr spc="-9" dirty="0"/>
              <a:t> big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251" y="571169"/>
            <a:ext cx="4176522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3240" b="1" spc="-9" dirty="0">
                <a:solidFill>
                  <a:srgbClr val="FF671F"/>
                </a:solidFill>
                <a:latin typeface="Arial"/>
                <a:cs typeface="Arial"/>
              </a:rPr>
              <a:t>picture</a:t>
            </a:r>
            <a:r>
              <a:rPr sz="3240" b="1" spc="-36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in</a:t>
            </a:r>
            <a:r>
              <a:rPr sz="3240" b="1" spc="-32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this</a:t>
            </a:r>
            <a:r>
              <a:rPr sz="3240" b="1" spc="-32" dirty="0">
                <a:solidFill>
                  <a:srgbClr val="FF671F"/>
                </a:solidFill>
                <a:latin typeface="Arial"/>
                <a:cs typeface="Arial"/>
              </a:rPr>
              <a:t> </a:t>
            </a:r>
            <a:r>
              <a:rPr sz="3240" b="1" spc="-5" dirty="0">
                <a:solidFill>
                  <a:srgbClr val="FF671F"/>
                </a:solidFill>
                <a:latin typeface="Arial"/>
                <a:cs typeface="Arial"/>
              </a:rPr>
              <a:t>course</a:t>
            </a:r>
            <a:endParaRPr sz="324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3786" y="1433216"/>
            <a:ext cx="1660779" cy="1017270"/>
            <a:chOff x="251762" y="1592462"/>
            <a:chExt cx="1845310" cy="11303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762" y="1592462"/>
              <a:ext cx="1844825" cy="11299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525" y="1617225"/>
              <a:ext cx="1755299" cy="10403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6525" y="1617225"/>
              <a:ext cx="1755775" cy="1040765"/>
            </a:xfrm>
            <a:custGeom>
              <a:avLst/>
              <a:gdLst/>
              <a:ahLst/>
              <a:cxnLst/>
              <a:rect l="l" t="t" r="r" b="b"/>
              <a:pathLst>
                <a:path w="1755775" h="1040764">
                  <a:moveTo>
                    <a:pt x="0" y="173403"/>
                  </a:moveTo>
                  <a:lnTo>
                    <a:pt x="6194" y="127305"/>
                  </a:lnTo>
                  <a:lnTo>
                    <a:pt x="23674" y="85883"/>
                  </a:lnTo>
                  <a:lnTo>
                    <a:pt x="50788" y="50788"/>
                  </a:lnTo>
                  <a:lnTo>
                    <a:pt x="85883" y="23674"/>
                  </a:lnTo>
                  <a:lnTo>
                    <a:pt x="127305" y="6194"/>
                  </a:lnTo>
                  <a:lnTo>
                    <a:pt x="173403" y="0"/>
                  </a:lnTo>
                  <a:lnTo>
                    <a:pt x="1581896" y="0"/>
                  </a:lnTo>
                  <a:lnTo>
                    <a:pt x="1648255" y="13199"/>
                  </a:lnTo>
                  <a:lnTo>
                    <a:pt x="1704511" y="50788"/>
                  </a:lnTo>
                  <a:lnTo>
                    <a:pt x="1742100" y="107044"/>
                  </a:lnTo>
                  <a:lnTo>
                    <a:pt x="1755299" y="173403"/>
                  </a:lnTo>
                  <a:lnTo>
                    <a:pt x="1755299" y="866996"/>
                  </a:lnTo>
                  <a:lnTo>
                    <a:pt x="1749105" y="913094"/>
                  </a:lnTo>
                  <a:lnTo>
                    <a:pt x="1731625" y="954516"/>
                  </a:lnTo>
                  <a:lnTo>
                    <a:pt x="1704511" y="989611"/>
                  </a:lnTo>
                  <a:lnTo>
                    <a:pt x="1669416" y="1016725"/>
                  </a:lnTo>
                  <a:lnTo>
                    <a:pt x="1627994" y="1034205"/>
                  </a:lnTo>
                  <a:lnTo>
                    <a:pt x="1581896" y="1040399"/>
                  </a:lnTo>
                  <a:lnTo>
                    <a:pt x="173403" y="1040399"/>
                  </a:lnTo>
                  <a:lnTo>
                    <a:pt x="127305" y="1034205"/>
                  </a:lnTo>
                  <a:lnTo>
                    <a:pt x="85883" y="1016725"/>
                  </a:lnTo>
                  <a:lnTo>
                    <a:pt x="50788" y="989611"/>
                  </a:lnTo>
                  <a:lnTo>
                    <a:pt x="23674" y="954516"/>
                  </a:lnTo>
                  <a:lnTo>
                    <a:pt x="6194" y="913094"/>
                  </a:lnTo>
                  <a:lnTo>
                    <a:pt x="0" y="866996"/>
                  </a:lnTo>
                  <a:lnTo>
                    <a:pt x="0" y="173403"/>
                  </a:lnTo>
                  <a:close/>
                </a:path>
              </a:pathLst>
            </a:custGeom>
            <a:ln w="9524">
              <a:solidFill>
                <a:srgbClr val="009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7611" y="1510013"/>
            <a:ext cx="1372172" cy="6763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859" marR="4572" indent="572" algn="ctr">
              <a:spcBef>
                <a:spcPts val="90"/>
              </a:spcBef>
            </a:pPr>
            <a:r>
              <a:rPr sz="1080" spc="-5" dirty="0">
                <a:latin typeface="Arial MT"/>
                <a:cs typeface="Arial MT"/>
              </a:rPr>
              <a:t>Data </a:t>
            </a:r>
            <a:r>
              <a:rPr sz="1080" dirty="0">
                <a:latin typeface="Arial MT"/>
                <a:cs typeface="Arial MT"/>
              </a:rPr>
              <a:t>sources </a:t>
            </a:r>
            <a:r>
              <a:rPr sz="1080" spc="5" dirty="0">
                <a:latin typeface="Arial MT"/>
                <a:cs typeface="Arial MT"/>
              </a:rPr>
              <a:t> </a:t>
            </a:r>
            <a:r>
              <a:rPr sz="1080" dirty="0">
                <a:latin typeface="Arial MT"/>
                <a:cs typeface="Arial MT"/>
              </a:rPr>
              <a:t>(sensors, </a:t>
            </a:r>
            <a:r>
              <a:rPr sz="1080" spc="-5" dirty="0">
                <a:latin typeface="Arial MT"/>
                <a:cs typeface="Arial MT"/>
              </a:rPr>
              <a:t>files, </a:t>
            </a:r>
            <a:r>
              <a:rPr sz="1080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database, queues, log </a:t>
            </a:r>
            <a:r>
              <a:rPr sz="1080" spc="-288" dirty="0">
                <a:latin typeface="Arial MT"/>
                <a:cs typeface="Arial MT"/>
              </a:rPr>
              <a:t> </a:t>
            </a:r>
            <a:r>
              <a:rPr sz="1080" dirty="0">
                <a:latin typeface="Arial MT"/>
                <a:cs typeface="Arial MT"/>
              </a:rPr>
              <a:t>services)</a:t>
            </a:r>
            <a:endParaRPr sz="108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40778" y="1407814"/>
            <a:ext cx="1941957" cy="1062419"/>
            <a:chOff x="2315087" y="1564237"/>
            <a:chExt cx="2157730" cy="118046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5087" y="1564237"/>
              <a:ext cx="2157725" cy="11803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59849" y="1589000"/>
              <a:ext cx="2068199" cy="10908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59849" y="1589000"/>
              <a:ext cx="2068195" cy="1090930"/>
            </a:xfrm>
            <a:custGeom>
              <a:avLst/>
              <a:gdLst/>
              <a:ahLst/>
              <a:cxnLst/>
              <a:rect l="l" t="t" r="r" b="b"/>
              <a:pathLst>
                <a:path w="2068195" h="1090930">
                  <a:moveTo>
                    <a:pt x="0" y="181803"/>
                  </a:moveTo>
                  <a:lnTo>
                    <a:pt x="6494" y="133473"/>
                  </a:lnTo>
                  <a:lnTo>
                    <a:pt x="24821" y="90043"/>
                  </a:lnTo>
                  <a:lnTo>
                    <a:pt x="53249" y="53249"/>
                  </a:lnTo>
                  <a:lnTo>
                    <a:pt x="90043" y="24821"/>
                  </a:lnTo>
                  <a:lnTo>
                    <a:pt x="133473" y="6494"/>
                  </a:lnTo>
                  <a:lnTo>
                    <a:pt x="181803" y="0"/>
                  </a:lnTo>
                  <a:lnTo>
                    <a:pt x="1886396" y="0"/>
                  </a:lnTo>
                  <a:lnTo>
                    <a:pt x="1955969" y="13838"/>
                  </a:lnTo>
                  <a:lnTo>
                    <a:pt x="2014950" y="53249"/>
                  </a:lnTo>
                  <a:lnTo>
                    <a:pt x="2054360" y="112230"/>
                  </a:lnTo>
                  <a:lnTo>
                    <a:pt x="2068199" y="181803"/>
                  </a:lnTo>
                  <a:lnTo>
                    <a:pt x="2068199" y="908996"/>
                  </a:lnTo>
                  <a:lnTo>
                    <a:pt x="2061705" y="957326"/>
                  </a:lnTo>
                  <a:lnTo>
                    <a:pt x="2043378" y="1000756"/>
                  </a:lnTo>
                  <a:lnTo>
                    <a:pt x="2014951" y="1037550"/>
                  </a:lnTo>
                  <a:lnTo>
                    <a:pt x="1978156" y="1065978"/>
                  </a:lnTo>
                  <a:lnTo>
                    <a:pt x="1934727" y="1084305"/>
                  </a:lnTo>
                  <a:lnTo>
                    <a:pt x="1886396" y="1090800"/>
                  </a:lnTo>
                  <a:lnTo>
                    <a:pt x="181803" y="1090800"/>
                  </a:lnTo>
                  <a:lnTo>
                    <a:pt x="133473" y="1084305"/>
                  </a:lnTo>
                  <a:lnTo>
                    <a:pt x="90043" y="1065978"/>
                  </a:lnTo>
                  <a:lnTo>
                    <a:pt x="53249" y="1037550"/>
                  </a:lnTo>
                  <a:lnTo>
                    <a:pt x="24821" y="1000756"/>
                  </a:lnTo>
                  <a:lnTo>
                    <a:pt x="6494" y="957326"/>
                  </a:lnTo>
                  <a:lnTo>
                    <a:pt x="0" y="908996"/>
                  </a:lnTo>
                  <a:lnTo>
                    <a:pt x="0" y="181803"/>
                  </a:lnTo>
                  <a:close/>
                </a:path>
              </a:pathLst>
            </a:custGeom>
            <a:ln w="9524">
              <a:solidFill>
                <a:srgbClr val="005B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68993" y="1486825"/>
            <a:ext cx="1639062" cy="84253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080" dirty="0">
                <a:latin typeface="Arial MT"/>
                <a:cs typeface="Arial MT"/>
              </a:rPr>
              <a:t>Messaging/Ingest</a:t>
            </a:r>
            <a:r>
              <a:rPr sz="1080" spc="-5" dirty="0">
                <a:latin typeface="Arial MT"/>
                <a:cs typeface="Arial MT"/>
              </a:rPr>
              <a:t> </a:t>
            </a:r>
            <a:r>
              <a:rPr sz="1080" dirty="0">
                <a:latin typeface="Arial MT"/>
                <a:cs typeface="Arial MT"/>
              </a:rPr>
              <a:t>systems  (e.g.,</a:t>
            </a:r>
            <a:r>
              <a:rPr sz="1080" spc="23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Kafka,</a:t>
            </a:r>
            <a:r>
              <a:rPr sz="1080" spc="23" dirty="0">
                <a:latin typeface="Arial MT"/>
                <a:cs typeface="Arial MT"/>
              </a:rPr>
              <a:t> </a:t>
            </a:r>
            <a:r>
              <a:rPr sz="1080" spc="-14" dirty="0">
                <a:latin typeface="Arial MT"/>
                <a:cs typeface="Arial MT"/>
              </a:rPr>
              <a:t>Pulsar, </a:t>
            </a:r>
            <a:r>
              <a:rPr sz="1080" spc="-9" dirty="0">
                <a:latin typeface="Arial MT"/>
                <a:cs typeface="Arial MT"/>
              </a:rPr>
              <a:t> </a:t>
            </a:r>
            <a:r>
              <a:rPr sz="1080" spc="-32" dirty="0">
                <a:latin typeface="Arial MT"/>
                <a:cs typeface="Arial MT"/>
              </a:rPr>
              <a:t>AMQP,</a:t>
            </a:r>
            <a:r>
              <a:rPr sz="1080" dirty="0">
                <a:latin typeface="Arial MT"/>
                <a:cs typeface="Arial MT"/>
              </a:rPr>
              <a:t> </a:t>
            </a:r>
            <a:r>
              <a:rPr sz="1080" spc="-27" dirty="0">
                <a:latin typeface="Arial MT"/>
                <a:cs typeface="Arial MT"/>
              </a:rPr>
              <a:t>MQTT,</a:t>
            </a:r>
            <a:r>
              <a:rPr sz="1080" spc="5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Kinesis, </a:t>
            </a:r>
            <a:r>
              <a:rPr sz="1080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Nifi, Google PubSub, </a:t>
            </a:r>
            <a:r>
              <a:rPr sz="1080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Azure</a:t>
            </a:r>
            <a:r>
              <a:rPr sz="1080" spc="-9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IoT</a:t>
            </a:r>
            <a:r>
              <a:rPr sz="1080" spc="-27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Hub)</a:t>
            </a:r>
            <a:endParaRPr sz="108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25478" y="2686973"/>
            <a:ext cx="2543175" cy="870395"/>
            <a:chOff x="1742531" y="2985525"/>
            <a:chExt cx="2825750" cy="96710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42531" y="2985525"/>
              <a:ext cx="2825137" cy="96694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7294" y="3010287"/>
              <a:ext cx="2735611" cy="87741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87294" y="3010287"/>
              <a:ext cx="2736215" cy="877569"/>
            </a:xfrm>
            <a:custGeom>
              <a:avLst/>
              <a:gdLst/>
              <a:ahLst/>
              <a:cxnLst/>
              <a:rect l="l" t="t" r="r" b="b"/>
              <a:pathLst>
                <a:path w="2736215" h="877570">
                  <a:moveTo>
                    <a:pt x="0" y="146239"/>
                  </a:moveTo>
                  <a:lnTo>
                    <a:pt x="7455" y="100016"/>
                  </a:lnTo>
                  <a:lnTo>
                    <a:pt x="28215" y="59872"/>
                  </a:lnTo>
                  <a:lnTo>
                    <a:pt x="59872" y="28215"/>
                  </a:lnTo>
                  <a:lnTo>
                    <a:pt x="100016" y="7455"/>
                  </a:lnTo>
                  <a:lnTo>
                    <a:pt x="146238" y="0"/>
                  </a:lnTo>
                  <a:lnTo>
                    <a:pt x="2589372" y="0"/>
                  </a:lnTo>
                  <a:lnTo>
                    <a:pt x="2645336" y="11131"/>
                  </a:lnTo>
                  <a:lnTo>
                    <a:pt x="2692779" y="42832"/>
                  </a:lnTo>
                  <a:lnTo>
                    <a:pt x="2724480" y="90275"/>
                  </a:lnTo>
                  <a:lnTo>
                    <a:pt x="2735611" y="146239"/>
                  </a:lnTo>
                  <a:lnTo>
                    <a:pt x="2735611" y="731177"/>
                  </a:lnTo>
                  <a:lnTo>
                    <a:pt x="2728156" y="777400"/>
                  </a:lnTo>
                  <a:lnTo>
                    <a:pt x="2707396" y="817544"/>
                  </a:lnTo>
                  <a:lnTo>
                    <a:pt x="2675739" y="849201"/>
                  </a:lnTo>
                  <a:lnTo>
                    <a:pt x="2635595" y="869961"/>
                  </a:lnTo>
                  <a:lnTo>
                    <a:pt x="2589372" y="877416"/>
                  </a:lnTo>
                  <a:lnTo>
                    <a:pt x="146238" y="877416"/>
                  </a:lnTo>
                  <a:lnTo>
                    <a:pt x="100016" y="869961"/>
                  </a:lnTo>
                  <a:lnTo>
                    <a:pt x="59872" y="849201"/>
                  </a:lnTo>
                  <a:lnTo>
                    <a:pt x="28215" y="817544"/>
                  </a:lnTo>
                  <a:lnTo>
                    <a:pt x="7455" y="777400"/>
                  </a:lnTo>
                  <a:lnTo>
                    <a:pt x="0" y="731177"/>
                  </a:lnTo>
                  <a:lnTo>
                    <a:pt x="0" y="146239"/>
                  </a:lnTo>
                  <a:close/>
                </a:path>
              </a:pathLst>
            </a:custGeom>
            <a:ln w="9524">
              <a:solidFill>
                <a:srgbClr val="009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19318" y="2921201"/>
            <a:ext cx="1001840" cy="1777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989838" algn="l"/>
              </a:tabLst>
            </a:pPr>
            <a:r>
              <a:rPr sz="1080" u="heavy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	</a:t>
            </a:r>
            <a:endParaRPr sz="108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75158" y="3085793"/>
            <a:ext cx="1262444" cy="1777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  <a:tabLst>
                <a:tab pos="1250442" algn="l"/>
              </a:tabLst>
            </a:pPr>
            <a:r>
              <a:rPr sz="1080" u="heavy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	</a:t>
            </a:r>
            <a:endParaRPr sz="108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18150" y="2756610"/>
            <a:ext cx="2152269" cy="6763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4580" marR="53721" indent="-5144" algn="ctr">
              <a:spcBef>
                <a:spcPts val="90"/>
              </a:spcBef>
            </a:pPr>
            <a:r>
              <a:rPr sz="1080" spc="-5" dirty="0">
                <a:latin typeface="Arial MT"/>
                <a:cs typeface="Arial MT"/>
              </a:rPr>
              <a:t>Storage/Database/Data</a:t>
            </a:r>
            <a:r>
              <a:rPr sz="1080" spc="288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Lake </a:t>
            </a:r>
            <a:r>
              <a:rPr sz="1080" dirty="0">
                <a:latin typeface="Arial MT"/>
                <a:cs typeface="Arial MT"/>
              </a:rPr>
              <a:t> (S3,</a:t>
            </a:r>
            <a:r>
              <a:rPr sz="1080" spc="-32" dirty="0">
                <a:latin typeface="Arial MT"/>
                <a:cs typeface="Arial MT"/>
              </a:rPr>
              <a:t> </a:t>
            </a:r>
            <a:r>
              <a:rPr sz="1080" dirty="0">
                <a:latin typeface="Arial MT"/>
                <a:cs typeface="Arial MT"/>
              </a:rPr>
              <a:t>Minio,</a:t>
            </a:r>
            <a:r>
              <a:rPr sz="1080" spc="-32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HDFS,</a:t>
            </a:r>
            <a:r>
              <a:rPr sz="1080" spc="-32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CockroachDB, </a:t>
            </a:r>
            <a:r>
              <a:rPr sz="1080" spc="-284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Cassandra,</a:t>
            </a:r>
            <a:r>
              <a:rPr sz="1080" spc="-18" dirty="0">
                <a:latin typeface="Arial MT"/>
                <a:cs typeface="Arial MT"/>
              </a:rPr>
              <a:t> </a:t>
            </a:r>
            <a:r>
              <a:rPr sz="1080" dirty="0">
                <a:latin typeface="Arial MT"/>
                <a:cs typeface="Arial MT"/>
              </a:rPr>
              <a:t>MongoDB,</a:t>
            </a:r>
            <a:r>
              <a:rPr sz="1080" spc="-18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Elastic</a:t>
            </a:r>
            <a:endParaRPr sz="108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080" spc="-5" dirty="0">
                <a:latin typeface="Arial MT"/>
                <a:cs typeface="Arial MT"/>
              </a:rPr>
              <a:t>Search,</a:t>
            </a:r>
            <a:r>
              <a:rPr sz="1080" spc="-23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InfluxDB,</a:t>
            </a:r>
            <a:r>
              <a:rPr sz="1080" spc="-18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Druid,</a:t>
            </a:r>
            <a:r>
              <a:rPr sz="1080" spc="-18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Hudi,</a:t>
            </a:r>
            <a:r>
              <a:rPr sz="1080" spc="-18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etc.)</a:t>
            </a:r>
            <a:endParaRPr sz="108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76491" y="2917458"/>
            <a:ext cx="1982534" cy="654939"/>
            <a:chOff x="5910323" y="3241620"/>
            <a:chExt cx="2202815" cy="727710"/>
          </a:xfrm>
        </p:grpSpPr>
        <p:sp>
          <p:nvSpPr>
            <p:cNvPr id="25" name="object 25"/>
            <p:cNvSpPr/>
            <p:nvPr/>
          </p:nvSpPr>
          <p:spPr>
            <a:xfrm>
              <a:off x="5923023" y="3254320"/>
              <a:ext cx="2177415" cy="702310"/>
            </a:xfrm>
            <a:custGeom>
              <a:avLst/>
              <a:gdLst/>
              <a:ahLst/>
              <a:cxnLst/>
              <a:rect l="l" t="t" r="r" b="b"/>
              <a:pathLst>
                <a:path w="2177415" h="702310">
                  <a:moveTo>
                    <a:pt x="2060394" y="701821"/>
                  </a:moveTo>
                  <a:lnTo>
                    <a:pt x="116972" y="701821"/>
                  </a:lnTo>
                  <a:lnTo>
                    <a:pt x="71441" y="692629"/>
                  </a:lnTo>
                  <a:lnTo>
                    <a:pt x="34260" y="667561"/>
                  </a:lnTo>
                  <a:lnTo>
                    <a:pt x="9192" y="630380"/>
                  </a:lnTo>
                  <a:lnTo>
                    <a:pt x="0" y="584849"/>
                  </a:lnTo>
                  <a:lnTo>
                    <a:pt x="0" y="116972"/>
                  </a:lnTo>
                  <a:lnTo>
                    <a:pt x="9192" y="71441"/>
                  </a:lnTo>
                  <a:lnTo>
                    <a:pt x="34260" y="34260"/>
                  </a:lnTo>
                  <a:lnTo>
                    <a:pt x="71441" y="9192"/>
                  </a:lnTo>
                  <a:lnTo>
                    <a:pt x="116972" y="0"/>
                  </a:lnTo>
                  <a:lnTo>
                    <a:pt x="2060394" y="0"/>
                  </a:lnTo>
                  <a:lnTo>
                    <a:pt x="2105158" y="8904"/>
                  </a:lnTo>
                  <a:lnTo>
                    <a:pt x="2143106" y="34260"/>
                  </a:lnTo>
                  <a:lnTo>
                    <a:pt x="2168463" y="72209"/>
                  </a:lnTo>
                  <a:lnTo>
                    <a:pt x="2177366" y="116972"/>
                  </a:lnTo>
                  <a:lnTo>
                    <a:pt x="2177366" y="584849"/>
                  </a:lnTo>
                  <a:lnTo>
                    <a:pt x="2168174" y="630380"/>
                  </a:lnTo>
                  <a:lnTo>
                    <a:pt x="2143106" y="667561"/>
                  </a:lnTo>
                  <a:lnTo>
                    <a:pt x="2105925" y="692629"/>
                  </a:lnTo>
                  <a:lnTo>
                    <a:pt x="2060394" y="701821"/>
                  </a:lnTo>
                  <a:close/>
                </a:path>
              </a:pathLst>
            </a:custGeom>
            <a:solidFill>
              <a:srgbClr val="E7E6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23023" y="3254320"/>
              <a:ext cx="2177415" cy="702310"/>
            </a:xfrm>
            <a:custGeom>
              <a:avLst/>
              <a:gdLst/>
              <a:ahLst/>
              <a:cxnLst/>
              <a:rect l="l" t="t" r="r" b="b"/>
              <a:pathLst>
                <a:path w="2177415" h="702310">
                  <a:moveTo>
                    <a:pt x="0" y="116972"/>
                  </a:moveTo>
                  <a:lnTo>
                    <a:pt x="9192" y="71441"/>
                  </a:lnTo>
                  <a:lnTo>
                    <a:pt x="34260" y="34260"/>
                  </a:lnTo>
                  <a:lnTo>
                    <a:pt x="71441" y="9192"/>
                  </a:lnTo>
                  <a:lnTo>
                    <a:pt x="116972" y="0"/>
                  </a:lnTo>
                  <a:lnTo>
                    <a:pt x="2060394" y="0"/>
                  </a:lnTo>
                  <a:lnTo>
                    <a:pt x="2105158" y="8904"/>
                  </a:lnTo>
                  <a:lnTo>
                    <a:pt x="2143106" y="34260"/>
                  </a:lnTo>
                  <a:lnTo>
                    <a:pt x="2168463" y="72209"/>
                  </a:lnTo>
                  <a:lnTo>
                    <a:pt x="2177366" y="116972"/>
                  </a:lnTo>
                  <a:lnTo>
                    <a:pt x="2177366" y="584849"/>
                  </a:lnTo>
                  <a:lnTo>
                    <a:pt x="2168174" y="630380"/>
                  </a:lnTo>
                  <a:lnTo>
                    <a:pt x="2143106" y="667561"/>
                  </a:lnTo>
                  <a:lnTo>
                    <a:pt x="2105925" y="692629"/>
                  </a:lnTo>
                  <a:lnTo>
                    <a:pt x="2060394" y="701821"/>
                  </a:lnTo>
                  <a:lnTo>
                    <a:pt x="116972" y="701821"/>
                  </a:lnTo>
                  <a:lnTo>
                    <a:pt x="71441" y="692629"/>
                  </a:lnTo>
                  <a:lnTo>
                    <a:pt x="34260" y="667561"/>
                  </a:lnTo>
                  <a:lnTo>
                    <a:pt x="9192" y="630380"/>
                  </a:lnTo>
                  <a:lnTo>
                    <a:pt x="0" y="584849"/>
                  </a:lnTo>
                  <a:lnTo>
                    <a:pt x="0" y="116972"/>
                  </a:lnTo>
                  <a:close/>
                </a:path>
              </a:pathLst>
            </a:custGeom>
            <a:ln w="25399">
              <a:solidFill>
                <a:srgbClr val="FFC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883385" y="2968524"/>
            <a:ext cx="1806512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0869" marR="123444" algn="ctr">
              <a:spcBef>
                <a:spcPts val="90"/>
              </a:spcBef>
            </a:pPr>
            <a:r>
              <a:rPr sz="1080" spc="-5" dirty="0">
                <a:latin typeface="Arial MT"/>
                <a:cs typeface="Arial MT"/>
              </a:rPr>
              <a:t>Batch data processing/ML </a:t>
            </a:r>
            <a:r>
              <a:rPr sz="1080" spc="-288" dirty="0">
                <a:latin typeface="Arial MT"/>
                <a:cs typeface="Arial MT"/>
              </a:rPr>
              <a:t> </a:t>
            </a:r>
            <a:r>
              <a:rPr sz="1080" dirty="0">
                <a:latin typeface="Arial MT"/>
                <a:cs typeface="Arial MT"/>
              </a:rPr>
              <a:t>systems</a:t>
            </a:r>
            <a:endParaRPr sz="108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080" dirty="0">
                <a:latin typeface="Arial MT"/>
                <a:cs typeface="Arial MT"/>
              </a:rPr>
              <a:t>(e.g.,</a:t>
            </a:r>
            <a:r>
              <a:rPr sz="1080" spc="-5" dirty="0">
                <a:latin typeface="Arial MT"/>
                <a:cs typeface="Arial MT"/>
              </a:rPr>
              <a:t> Hadoop</a:t>
            </a:r>
            <a:r>
              <a:rPr sz="1080" dirty="0">
                <a:latin typeface="Arial MT"/>
                <a:cs typeface="Arial MT"/>
              </a:rPr>
              <a:t>,</a:t>
            </a:r>
            <a:r>
              <a:rPr sz="1080" spc="-63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Airflo</a:t>
            </a:r>
            <a:r>
              <a:rPr sz="1080" spc="-63" dirty="0">
                <a:latin typeface="Arial MT"/>
                <a:cs typeface="Arial MT"/>
              </a:rPr>
              <a:t>w</a:t>
            </a:r>
            <a:r>
              <a:rPr sz="1080" dirty="0">
                <a:latin typeface="Arial MT"/>
                <a:cs typeface="Arial MT"/>
              </a:rPr>
              <a:t>,</a:t>
            </a:r>
            <a:r>
              <a:rPr sz="1080" spc="9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Spark)</a:t>
            </a:r>
            <a:endParaRPr sz="108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690192" y="1433294"/>
            <a:ext cx="1773935" cy="959549"/>
            <a:chOff x="4703324" y="1592549"/>
            <a:chExt cx="1971039" cy="1066165"/>
          </a:xfrm>
        </p:grpSpPr>
        <p:sp>
          <p:nvSpPr>
            <p:cNvPr id="29" name="object 29"/>
            <p:cNvSpPr/>
            <p:nvPr/>
          </p:nvSpPr>
          <p:spPr>
            <a:xfrm>
              <a:off x="4716024" y="1605249"/>
              <a:ext cx="1945639" cy="1040765"/>
            </a:xfrm>
            <a:custGeom>
              <a:avLst/>
              <a:gdLst/>
              <a:ahLst/>
              <a:cxnLst/>
              <a:rect l="l" t="t" r="r" b="b"/>
              <a:pathLst>
                <a:path w="1945640" h="1040764">
                  <a:moveTo>
                    <a:pt x="1772096" y="1040399"/>
                  </a:moveTo>
                  <a:lnTo>
                    <a:pt x="173403" y="1040399"/>
                  </a:lnTo>
                  <a:lnTo>
                    <a:pt x="127306" y="1034205"/>
                  </a:lnTo>
                  <a:lnTo>
                    <a:pt x="85883" y="1016725"/>
                  </a:lnTo>
                  <a:lnTo>
                    <a:pt x="50788" y="989611"/>
                  </a:lnTo>
                  <a:lnTo>
                    <a:pt x="23674" y="954516"/>
                  </a:lnTo>
                  <a:lnTo>
                    <a:pt x="6194" y="913094"/>
                  </a:lnTo>
                  <a:lnTo>
                    <a:pt x="0" y="866996"/>
                  </a:lnTo>
                  <a:lnTo>
                    <a:pt x="0" y="173403"/>
                  </a:lnTo>
                  <a:lnTo>
                    <a:pt x="6194" y="127305"/>
                  </a:lnTo>
                  <a:lnTo>
                    <a:pt x="23674" y="85883"/>
                  </a:lnTo>
                  <a:lnTo>
                    <a:pt x="50788" y="50788"/>
                  </a:lnTo>
                  <a:lnTo>
                    <a:pt x="85883" y="23674"/>
                  </a:lnTo>
                  <a:lnTo>
                    <a:pt x="127306" y="6194"/>
                  </a:lnTo>
                  <a:lnTo>
                    <a:pt x="173403" y="0"/>
                  </a:lnTo>
                  <a:lnTo>
                    <a:pt x="1772096" y="0"/>
                  </a:lnTo>
                  <a:lnTo>
                    <a:pt x="1838455" y="13199"/>
                  </a:lnTo>
                  <a:lnTo>
                    <a:pt x="1894710" y="50788"/>
                  </a:lnTo>
                  <a:lnTo>
                    <a:pt x="1932300" y="107044"/>
                  </a:lnTo>
                  <a:lnTo>
                    <a:pt x="1945499" y="173403"/>
                  </a:lnTo>
                  <a:lnTo>
                    <a:pt x="1945499" y="866996"/>
                  </a:lnTo>
                  <a:lnTo>
                    <a:pt x="1939305" y="913094"/>
                  </a:lnTo>
                  <a:lnTo>
                    <a:pt x="1921825" y="954516"/>
                  </a:lnTo>
                  <a:lnTo>
                    <a:pt x="1894711" y="989611"/>
                  </a:lnTo>
                  <a:lnTo>
                    <a:pt x="1859616" y="1016725"/>
                  </a:lnTo>
                  <a:lnTo>
                    <a:pt x="1818194" y="1034205"/>
                  </a:lnTo>
                  <a:lnTo>
                    <a:pt x="1772096" y="1040399"/>
                  </a:lnTo>
                  <a:close/>
                </a:path>
              </a:pathLst>
            </a:custGeom>
            <a:solidFill>
              <a:srgbClr val="D0C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16024" y="1605249"/>
              <a:ext cx="1945639" cy="1040765"/>
            </a:xfrm>
            <a:custGeom>
              <a:avLst/>
              <a:gdLst/>
              <a:ahLst/>
              <a:cxnLst/>
              <a:rect l="l" t="t" r="r" b="b"/>
              <a:pathLst>
                <a:path w="1945640" h="1040764">
                  <a:moveTo>
                    <a:pt x="0" y="173403"/>
                  </a:moveTo>
                  <a:lnTo>
                    <a:pt x="6194" y="127305"/>
                  </a:lnTo>
                  <a:lnTo>
                    <a:pt x="23674" y="85883"/>
                  </a:lnTo>
                  <a:lnTo>
                    <a:pt x="50788" y="50788"/>
                  </a:lnTo>
                  <a:lnTo>
                    <a:pt x="85883" y="23674"/>
                  </a:lnTo>
                  <a:lnTo>
                    <a:pt x="127306" y="6194"/>
                  </a:lnTo>
                  <a:lnTo>
                    <a:pt x="173403" y="0"/>
                  </a:lnTo>
                  <a:lnTo>
                    <a:pt x="1772096" y="0"/>
                  </a:lnTo>
                  <a:lnTo>
                    <a:pt x="1838455" y="13199"/>
                  </a:lnTo>
                  <a:lnTo>
                    <a:pt x="1894710" y="50788"/>
                  </a:lnTo>
                  <a:lnTo>
                    <a:pt x="1932300" y="107044"/>
                  </a:lnTo>
                  <a:lnTo>
                    <a:pt x="1945499" y="173403"/>
                  </a:lnTo>
                  <a:lnTo>
                    <a:pt x="1945499" y="866996"/>
                  </a:lnTo>
                  <a:lnTo>
                    <a:pt x="1939305" y="913094"/>
                  </a:lnTo>
                  <a:lnTo>
                    <a:pt x="1921825" y="954516"/>
                  </a:lnTo>
                  <a:lnTo>
                    <a:pt x="1894711" y="989611"/>
                  </a:lnTo>
                  <a:lnTo>
                    <a:pt x="1859616" y="1016725"/>
                  </a:lnTo>
                  <a:lnTo>
                    <a:pt x="1818194" y="1034205"/>
                  </a:lnTo>
                  <a:lnTo>
                    <a:pt x="1772096" y="1040399"/>
                  </a:lnTo>
                  <a:lnTo>
                    <a:pt x="173403" y="1040399"/>
                  </a:lnTo>
                  <a:lnTo>
                    <a:pt x="127306" y="1034205"/>
                  </a:lnTo>
                  <a:lnTo>
                    <a:pt x="85883" y="1016725"/>
                  </a:lnTo>
                  <a:lnTo>
                    <a:pt x="50788" y="989611"/>
                  </a:lnTo>
                  <a:lnTo>
                    <a:pt x="23674" y="954516"/>
                  </a:lnTo>
                  <a:lnTo>
                    <a:pt x="6194" y="913094"/>
                  </a:lnTo>
                  <a:lnTo>
                    <a:pt x="0" y="866996"/>
                  </a:lnTo>
                  <a:lnTo>
                    <a:pt x="0" y="173403"/>
                  </a:lnTo>
                  <a:close/>
                </a:path>
              </a:pathLst>
            </a:custGeom>
            <a:ln w="25399">
              <a:solidFill>
                <a:srgbClr val="FFC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830040" y="1499236"/>
            <a:ext cx="1489901" cy="84253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579" marR="51435" algn="ctr">
              <a:spcBef>
                <a:spcPts val="90"/>
              </a:spcBef>
            </a:pPr>
            <a:r>
              <a:rPr sz="1080" spc="-5" dirty="0">
                <a:latin typeface="Arial MT"/>
                <a:cs typeface="Arial MT"/>
              </a:rPr>
              <a:t>Strea</a:t>
            </a:r>
            <a:r>
              <a:rPr sz="1080" dirty="0">
                <a:latin typeface="Arial MT"/>
                <a:cs typeface="Arial MT"/>
              </a:rPr>
              <a:t>m</a:t>
            </a:r>
            <a:r>
              <a:rPr sz="1080" spc="-5" dirty="0">
                <a:latin typeface="Arial MT"/>
                <a:cs typeface="Arial MT"/>
              </a:rPr>
              <a:t> processing/ML  </a:t>
            </a:r>
            <a:r>
              <a:rPr sz="1080" dirty="0">
                <a:latin typeface="Arial MT"/>
                <a:cs typeface="Arial MT"/>
              </a:rPr>
              <a:t>systems</a:t>
            </a:r>
            <a:endParaRPr sz="1080">
              <a:latin typeface="Arial MT"/>
              <a:cs typeface="Arial MT"/>
            </a:endParaRPr>
          </a:p>
          <a:p>
            <a:pPr marL="10859" marR="4572" algn="ctr"/>
            <a:r>
              <a:rPr sz="1080" dirty="0">
                <a:latin typeface="Arial MT"/>
                <a:cs typeface="Arial MT"/>
              </a:rPr>
              <a:t>(e.g.</a:t>
            </a:r>
            <a:r>
              <a:rPr sz="1080" spc="-32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Flink,</a:t>
            </a:r>
            <a:r>
              <a:rPr sz="1080" spc="-32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Kafka</a:t>
            </a:r>
            <a:r>
              <a:rPr sz="1080" spc="-27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KSQL, </a:t>
            </a:r>
            <a:r>
              <a:rPr sz="1080" spc="-288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Spark, Redpanda, </a:t>
            </a:r>
            <a:r>
              <a:rPr sz="1080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Google</a:t>
            </a:r>
            <a:r>
              <a:rPr sz="1080" spc="-14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Dataflow)</a:t>
            </a:r>
            <a:endParaRPr sz="108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56011" y="3868618"/>
            <a:ext cx="6026468" cy="399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spcBef>
                <a:spcPts val="90"/>
              </a:spcBef>
            </a:pPr>
            <a:r>
              <a:rPr sz="1260" spc="-5" dirty="0">
                <a:latin typeface="Arial MT"/>
                <a:cs typeface="Arial MT"/>
              </a:rPr>
              <a:t>Elastic</a:t>
            </a:r>
            <a:r>
              <a:rPr sz="1260" spc="-32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Cloud</a:t>
            </a:r>
            <a:r>
              <a:rPr sz="1260" spc="-32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Infrastructures</a:t>
            </a:r>
            <a:endParaRPr sz="126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60" dirty="0">
                <a:latin typeface="Arial MT"/>
                <a:cs typeface="Arial MT"/>
              </a:rPr>
              <a:t>(VMs,</a:t>
            </a:r>
            <a:r>
              <a:rPr sz="1260" spc="-14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dockers,</a:t>
            </a:r>
            <a:r>
              <a:rPr sz="1260" spc="-14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Kubernetes,</a:t>
            </a:r>
            <a:r>
              <a:rPr sz="1260" spc="-14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OpenStack</a:t>
            </a:r>
            <a:r>
              <a:rPr sz="1260" spc="-9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elastic</a:t>
            </a:r>
            <a:r>
              <a:rPr sz="1260" spc="-14" dirty="0">
                <a:latin typeface="Arial MT"/>
                <a:cs typeface="Arial MT"/>
              </a:rPr>
              <a:t> </a:t>
            </a:r>
            <a:r>
              <a:rPr sz="1260" dirty="0">
                <a:latin typeface="Arial MT"/>
                <a:cs typeface="Arial MT"/>
              </a:rPr>
              <a:t>resource</a:t>
            </a:r>
            <a:r>
              <a:rPr sz="1260" spc="-14" dirty="0">
                <a:latin typeface="Arial MT"/>
                <a:cs typeface="Arial MT"/>
              </a:rPr>
              <a:t> </a:t>
            </a:r>
            <a:r>
              <a:rPr sz="1260" dirty="0">
                <a:latin typeface="Arial MT"/>
                <a:cs typeface="Arial MT"/>
              </a:rPr>
              <a:t>management</a:t>
            </a:r>
            <a:r>
              <a:rPr sz="1260" spc="-9" dirty="0">
                <a:latin typeface="Arial MT"/>
                <a:cs typeface="Arial MT"/>
              </a:rPr>
              <a:t> </a:t>
            </a:r>
            <a:r>
              <a:rPr sz="1260" spc="-5" dirty="0">
                <a:latin typeface="Arial MT"/>
                <a:cs typeface="Arial MT"/>
              </a:rPr>
              <a:t>tools,</a:t>
            </a:r>
            <a:r>
              <a:rPr sz="1260" spc="-14" dirty="0">
                <a:latin typeface="Arial MT"/>
                <a:cs typeface="Arial MT"/>
              </a:rPr>
              <a:t> </a:t>
            </a:r>
            <a:r>
              <a:rPr sz="1260" dirty="0">
                <a:latin typeface="Arial MT"/>
                <a:cs typeface="Arial MT"/>
              </a:rPr>
              <a:t>storage)</a:t>
            </a:r>
            <a:endParaRPr sz="126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476993" y="1515871"/>
            <a:ext cx="6763131" cy="2259140"/>
            <a:chOff x="1133103" y="1684301"/>
            <a:chExt cx="7514590" cy="2510155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18525" y="2084409"/>
              <a:ext cx="279200" cy="8198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155150" y="2679800"/>
              <a:ext cx="239395" cy="216535"/>
            </a:xfrm>
            <a:custGeom>
              <a:avLst/>
              <a:gdLst/>
              <a:ahLst/>
              <a:cxnLst/>
              <a:rect l="l" t="t" r="r" b="b"/>
              <a:pathLst>
                <a:path w="239395" h="216535">
                  <a:moveTo>
                    <a:pt x="238799" y="0"/>
                  </a:moveTo>
                  <a:lnTo>
                    <a:pt x="238799" y="165243"/>
                  </a:lnTo>
                  <a:lnTo>
                    <a:pt x="0" y="165243"/>
                  </a:lnTo>
                  <a:lnTo>
                    <a:pt x="0" y="216299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4159" y="2886575"/>
              <a:ext cx="81980" cy="1055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42300" y="2093434"/>
              <a:ext cx="299300" cy="8198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174094" y="2771896"/>
              <a:ext cx="613410" cy="677545"/>
            </a:xfrm>
            <a:custGeom>
              <a:avLst/>
              <a:gdLst/>
              <a:ahLst/>
              <a:cxnLst/>
              <a:rect l="l" t="t" r="r" b="b"/>
              <a:pathLst>
                <a:path w="613410" h="677545">
                  <a:moveTo>
                    <a:pt x="613199" y="677099"/>
                  </a:moveTo>
                  <a:lnTo>
                    <a:pt x="0" y="6770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3103" y="2675920"/>
              <a:ext cx="81981" cy="1055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99113" y="3563931"/>
              <a:ext cx="105585" cy="8198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155207" y="3956143"/>
              <a:ext cx="3856990" cy="228600"/>
            </a:xfrm>
            <a:custGeom>
              <a:avLst/>
              <a:gdLst/>
              <a:ahLst/>
              <a:cxnLst/>
              <a:rect l="l" t="t" r="r" b="b"/>
              <a:pathLst>
                <a:path w="3856990" h="228600">
                  <a:moveTo>
                    <a:pt x="3856499" y="0"/>
                  </a:moveTo>
                  <a:lnTo>
                    <a:pt x="3856499" y="228600"/>
                  </a:lnTo>
                  <a:lnTo>
                    <a:pt x="0" y="228600"/>
                  </a:lnTo>
                  <a:lnTo>
                    <a:pt x="0" y="45899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4217" y="3906067"/>
              <a:ext cx="81980" cy="1055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637274" y="2645650"/>
              <a:ext cx="1051560" cy="803910"/>
            </a:xfrm>
            <a:custGeom>
              <a:avLst/>
              <a:gdLst/>
              <a:ahLst/>
              <a:cxnLst/>
              <a:rect l="l" t="t" r="r" b="b"/>
              <a:pathLst>
                <a:path w="1051560" h="803910">
                  <a:moveTo>
                    <a:pt x="1051499" y="0"/>
                  </a:moveTo>
                  <a:lnTo>
                    <a:pt x="1051499" y="803399"/>
                  </a:lnTo>
                  <a:lnTo>
                    <a:pt x="0" y="803399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41299" y="3408059"/>
              <a:ext cx="105500" cy="8198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876249" y="1697001"/>
              <a:ext cx="1758314" cy="877569"/>
            </a:xfrm>
            <a:custGeom>
              <a:avLst/>
              <a:gdLst/>
              <a:ahLst/>
              <a:cxnLst/>
              <a:rect l="l" t="t" r="r" b="b"/>
              <a:pathLst>
                <a:path w="1758315" h="877569">
                  <a:moveTo>
                    <a:pt x="1612046" y="877499"/>
                  </a:moveTo>
                  <a:lnTo>
                    <a:pt x="146252" y="877499"/>
                  </a:lnTo>
                  <a:lnTo>
                    <a:pt x="100025" y="870043"/>
                  </a:lnTo>
                  <a:lnTo>
                    <a:pt x="59878" y="849281"/>
                  </a:lnTo>
                  <a:lnTo>
                    <a:pt x="28218" y="817622"/>
                  </a:lnTo>
                  <a:lnTo>
                    <a:pt x="7456" y="777474"/>
                  </a:lnTo>
                  <a:lnTo>
                    <a:pt x="0" y="731247"/>
                  </a:lnTo>
                  <a:lnTo>
                    <a:pt x="0" y="146252"/>
                  </a:lnTo>
                  <a:lnTo>
                    <a:pt x="7456" y="100025"/>
                  </a:lnTo>
                  <a:lnTo>
                    <a:pt x="28218" y="59877"/>
                  </a:lnTo>
                  <a:lnTo>
                    <a:pt x="59878" y="28218"/>
                  </a:lnTo>
                  <a:lnTo>
                    <a:pt x="100025" y="7456"/>
                  </a:lnTo>
                  <a:lnTo>
                    <a:pt x="146252" y="0"/>
                  </a:lnTo>
                  <a:lnTo>
                    <a:pt x="1612046" y="0"/>
                  </a:lnTo>
                  <a:lnTo>
                    <a:pt x="1668015" y="11132"/>
                  </a:lnTo>
                  <a:lnTo>
                    <a:pt x="1715463" y="42836"/>
                  </a:lnTo>
                  <a:lnTo>
                    <a:pt x="1747167" y="90284"/>
                  </a:lnTo>
                  <a:lnTo>
                    <a:pt x="1758299" y="146252"/>
                  </a:lnTo>
                  <a:lnTo>
                    <a:pt x="1758299" y="731247"/>
                  </a:lnTo>
                  <a:lnTo>
                    <a:pt x="1750843" y="777474"/>
                  </a:lnTo>
                  <a:lnTo>
                    <a:pt x="1730081" y="817622"/>
                  </a:lnTo>
                  <a:lnTo>
                    <a:pt x="1698421" y="849281"/>
                  </a:lnTo>
                  <a:lnTo>
                    <a:pt x="1658274" y="870043"/>
                  </a:lnTo>
                  <a:lnTo>
                    <a:pt x="1612046" y="877499"/>
                  </a:lnTo>
                  <a:close/>
                </a:path>
              </a:pathLst>
            </a:custGeom>
            <a:solidFill>
              <a:srgbClr val="B9B4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876249" y="1697001"/>
              <a:ext cx="1758314" cy="877569"/>
            </a:xfrm>
            <a:custGeom>
              <a:avLst/>
              <a:gdLst/>
              <a:ahLst/>
              <a:cxnLst/>
              <a:rect l="l" t="t" r="r" b="b"/>
              <a:pathLst>
                <a:path w="1758315" h="877569">
                  <a:moveTo>
                    <a:pt x="0" y="146252"/>
                  </a:moveTo>
                  <a:lnTo>
                    <a:pt x="7456" y="100025"/>
                  </a:lnTo>
                  <a:lnTo>
                    <a:pt x="28218" y="59877"/>
                  </a:lnTo>
                  <a:lnTo>
                    <a:pt x="59878" y="28218"/>
                  </a:lnTo>
                  <a:lnTo>
                    <a:pt x="100025" y="7456"/>
                  </a:lnTo>
                  <a:lnTo>
                    <a:pt x="146252" y="0"/>
                  </a:lnTo>
                  <a:lnTo>
                    <a:pt x="1612046" y="0"/>
                  </a:lnTo>
                  <a:lnTo>
                    <a:pt x="1668015" y="11132"/>
                  </a:lnTo>
                  <a:lnTo>
                    <a:pt x="1715463" y="42836"/>
                  </a:lnTo>
                  <a:lnTo>
                    <a:pt x="1747167" y="90284"/>
                  </a:lnTo>
                  <a:lnTo>
                    <a:pt x="1758299" y="146252"/>
                  </a:lnTo>
                  <a:lnTo>
                    <a:pt x="1758299" y="731247"/>
                  </a:lnTo>
                  <a:lnTo>
                    <a:pt x="1750843" y="777474"/>
                  </a:lnTo>
                  <a:lnTo>
                    <a:pt x="1730081" y="817622"/>
                  </a:lnTo>
                  <a:lnTo>
                    <a:pt x="1698421" y="849281"/>
                  </a:lnTo>
                  <a:lnTo>
                    <a:pt x="1658274" y="870043"/>
                  </a:lnTo>
                  <a:lnTo>
                    <a:pt x="1612046" y="877499"/>
                  </a:lnTo>
                  <a:lnTo>
                    <a:pt x="146252" y="877499"/>
                  </a:lnTo>
                  <a:lnTo>
                    <a:pt x="100025" y="870043"/>
                  </a:lnTo>
                  <a:lnTo>
                    <a:pt x="59878" y="849281"/>
                  </a:lnTo>
                  <a:lnTo>
                    <a:pt x="28218" y="817622"/>
                  </a:lnTo>
                  <a:lnTo>
                    <a:pt x="7456" y="777474"/>
                  </a:lnTo>
                  <a:lnTo>
                    <a:pt x="0" y="731247"/>
                  </a:lnTo>
                  <a:lnTo>
                    <a:pt x="0" y="146252"/>
                  </a:lnTo>
                  <a:close/>
                </a:path>
              </a:pathLst>
            </a:custGeom>
            <a:ln w="25399">
              <a:solidFill>
                <a:srgbClr val="FFC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319861" y="1739247"/>
            <a:ext cx="166878" cy="1777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080" u="heavy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80" u="heavy" spc="50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endParaRPr sz="108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787782" y="1574654"/>
            <a:ext cx="1297305" cy="51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9723" marR="4572" indent="-58865">
              <a:spcBef>
                <a:spcPts val="90"/>
              </a:spcBef>
            </a:pPr>
            <a:r>
              <a:rPr sz="1080" spc="-45" dirty="0">
                <a:latin typeface="Arial MT"/>
                <a:cs typeface="Arial MT"/>
              </a:rPr>
              <a:t>W</a:t>
            </a:r>
            <a:r>
              <a:rPr sz="1080" spc="-5" dirty="0">
                <a:latin typeface="Arial MT"/>
                <a:cs typeface="Arial MT"/>
              </a:rPr>
              <a:t>arehous</a:t>
            </a:r>
            <a:r>
              <a:rPr sz="1080" dirty="0">
                <a:latin typeface="Arial MT"/>
                <a:cs typeface="Arial MT"/>
              </a:rPr>
              <a:t>e</a:t>
            </a:r>
            <a:r>
              <a:rPr sz="1080" spc="-63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Analytics  </a:t>
            </a:r>
            <a:r>
              <a:rPr sz="1080" dirty="0">
                <a:latin typeface="Arial MT"/>
                <a:cs typeface="Arial MT"/>
              </a:rPr>
              <a:t>(e.g., </a:t>
            </a:r>
            <a:r>
              <a:rPr sz="1080" spc="-5" dirty="0">
                <a:latin typeface="Arial MT"/>
                <a:cs typeface="Arial MT"/>
              </a:rPr>
              <a:t>Presto, Kylin, </a:t>
            </a:r>
            <a:r>
              <a:rPr sz="1080" dirty="0">
                <a:latin typeface="Arial MT"/>
                <a:cs typeface="Arial MT"/>
              </a:rPr>
              <a:t> </a:t>
            </a:r>
            <a:r>
              <a:rPr sz="1080" spc="-9" dirty="0">
                <a:latin typeface="Arial MT"/>
                <a:cs typeface="Arial MT"/>
              </a:rPr>
              <a:t>BigQuery,Redshift)</a:t>
            </a:r>
            <a:endParaRPr sz="108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482248" y="780863"/>
            <a:ext cx="3946779" cy="2009394"/>
            <a:chOff x="4472275" y="867625"/>
            <a:chExt cx="4385310" cy="2232660"/>
          </a:xfrm>
        </p:grpSpPr>
        <p:sp>
          <p:nvSpPr>
            <p:cNvPr id="50" name="object 50"/>
            <p:cNvSpPr/>
            <p:nvPr/>
          </p:nvSpPr>
          <p:spPr>
            <a:xfrm>
              <a:off x="5688775" y="1202649"/>
              <a:ext cx="887094" cy="403225"/>
            </a:xfrm>
            <a:custGeom>
              <a:avLst/>
              <a:gdLst/>
              <a:ahLst/>
              <a:cxnLst/>
              <a:rect l="l" t="t" r="r" b="b"/>
              <a:pathLst>
                <a:path w="887095" h="403225">
                  <a:moveTo>
                    <a:pt x="0" y="402599"/>
                  </a:moveTo>
                  <a:lnTo>
                    <a:pt x="0" y="0"/>
                  </a:lnTo>
                  <a:lnTo>
                    <a:pt x="887099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66350" y="1161659"/>
              <a:ext cx="105500" cy="8198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53015" y="2094841"/>
              <a:ext cx="105500" cy="8198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481800" y="2688801"/>
              <a:ext cx="3274060" cy="401955"/>
            </a:xfrm>
            <a:custGeom>
              <a:avLst/>
              <a:gdLst/>
              <a:ahLst/>
              <a:cxnLst/>
              <a:rect l="l" t="t" r="r" b="b"/>
              <a:pathLst>
                <a:path w="3274059" h="401955">
                  <a:moveTo>
                    <a:pt x="0" y="401399"/>
                  </a:moveTo>
                  <a:lnTo>
                    <a:pt x="3273599" y="401399"/>
                  </a:lnTo>
                  <a:lnTo>
                    <a:pt x="3273599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14409" y="2592825"/>
              <a:ext cx="81980" cy="1055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45295" y="867625"/>
              <a:ext cx="2211725" cy="70992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90057" y="892387"/>
              <a:ext cx="2122199" cy="62039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690057" y="892387"/>
              <a:ext cx="2122805" cy="620395"/>
            </a:xfrm>
            <a:custGeom>
              <a:avLst/>
              <a:gdLst/>
              <a:ahLst/>
              <a:cxnLst/>
              <a:rect l="l" t="t" r="r" b="b"/>
              <a:pathLst>
                <a:path w="2122804" h="620394">
                  <a:moveTo>
                    <a:pt x="0" y="103401"/>
                  </a:moveTo>
                  <a:lnTo>
                    <a:pt x="8125" y="63153"/>
                  </a:lnTo>
                  <a:lnTo>
                    <a:pt x="30285" y="30285"/>
                  </a:lnTo>
                  <a:lnTo>
                    <a:pt x="63153" y="8125"/>
                  </a:lnTo>
                  <a:lnTo>
                    <a:pt x="103402" y="0"/>
                  </a:lnTo>
                  <a:lnTo>
                    <a:pt x="2018798" y="0"/>
                  </a:lnTo>
                  <a:lnTo>
                    <a:pt x="2058368" y="7871"/>
                  </a:lnTo>
                  <a:lnTo>
                    <a:pt x="2091914" y="30285"/>
                  </a:lnTo>
                  <a:lnTo>
                    <a:pt x="2114329" y="63831"/>
                  </a:lnTo>
                  <a:lnTo>
                    <a:pt x="2122199" y="103401"/>
                  </a:lnTo>
                  <a:lnTo>
                    <a:pt x="2122199" y="516997"/>
                  </a:lnTo>
                  <a:lnTo>
                    <a:pt x="2114074" y="557246"/>
                  </a:lnTo>
                  <a:lnTo>
                    <a:pt x="2091914" y="590114"/>
                  </a:lnTo>
                  <a:lnTo>
                    <a:pt x="2059047" y="612274"/>
                  </a:lnTo>
                  <a:lnTo>
                    <a:pt x="2018798" y="620399"/>
                  </a:lnTo>
                  <a:lnTo>
                    <a:pt x="103402" y="620399"/>
                  </a:lnTo>
                  <a:lnTo>
                    <a:pt x="63153" y="612274"/>
                  </a:lnTo>
                  <a:lnTo>
                    <a:pt x="30285" y="590114"/>
                  </a:lnTo>
                  <a:lnTo>
                    <a:pt x="8125" y="557246"/>
                  </a:lnTo>
                  <a:lnTo>
                    <a:pt x="0" y="516997"/>
                  </a:lnTo>
                  <a:lnTo>
                    <a:pt x="0" y="103401"/>
                  </a:lnTo>
                  <a:close/>
                </a:path>
              </a:pathLst>
            </a:custGeom>
            <a:ln w="9524">
              <a:solidFill>
                <a:srgbClr val="FD62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8479701" y="839207"/>
            <a:ext cx="166878" cy="1777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080" u="heavy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80" u="heavy" spc="50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endParaRPr sz="108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82233" y="839207"/>
            <a:ext cx="1499615" cy="343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309" marR="4572" indent="-179451">
              <a:spcBef>
                <a:spcPts val="90"/>
              </a:spcBef>
            </a:pPr>
            <a:r>
              <a:rPr sz="1080" spc="-5" dirty="0">
                <a:latin typeface="Arial MT"/>
                <a:cs typeface="Arial MT"/>
              </a:rPr>
              <a:t>Operation/Management/  Business</a:t>
            </a:r>
            <a:r>
              <a:rPr sz="1080" spc="-23" dirty="0">
                <a:latin typeface="Arial MT"/>
                <a:cs typeface="Arial MT"/>
              </a:rPr>
              <a:t> </a:t>
            </a:r>
            <a:r>
              <a:rPr sz="1080" spc="-5" dirty="0">
                <a:latin typeface="Arial MT"/>
                <a:cs typeface="Arial MT"/>
              </a:rPr>
              <a:t>Services</a:t>
            </a:r>
            <a:endParaRPr sz="108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057192" y="1045387"/>
            <a:ext cx="6442520" cy="1708213"/>
            <a:chOff x="1777769" y="1161541"/>
            <a:chExt cx="7158355" cy="1898014"/>
          </a:xfrm>
        </p:grpSpPr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30615" y="1161541"/>
              <a:ext cx="105500" cy="8198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12823" y="1531118"/>
              <a:ext cx="81963" cy="17540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787294" y="2631781"/>
              <a:ext cx="343535" cy="332105"/>
            </a:xfrm>
            <a:custGeom>
              <a:avLst/>
              <a:gdLst/>
              <a:ahLst/>
              <a:cxnLst/>
              <a:rect l="l" t="t" r="r" b="b"/>
              <a:pathLst>
                <a:path w="343535" h="332105">
                  <a:moveTo>
                    <a:pt x="0" y="0"/>
                  </a:moveTo>
                  <a:lnTo>
                    <a:pt x="0" y="222899"/>
                  </a:lnTo>
                  <a:lnTo>
                    <a:pt x="343199" y="222899"/>
                  </a:lnTo>
                  <a:lnTo>
                    <a:pt x="343199" y="331499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89503" y="2953755"/>
              <a:ext cx="81980" cy="1055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61525" y="2084584"/>
              <a:ext cx="196586" cy="817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3564</Words>
  <Application>Microsoft Office PowerPoint</Application>
  <PresentationFormat>On-screen Show (16:9)</PresentationFormat>
  <Paragraphs>496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MS PGothic</vt:lpstr>
      <vt:lpstr>MS UI Gothic</vt:lpstr>
      <vt:lpstr>Arial</vt:lpstr>
      <vt:lpstr>Arial MT</vt:lpstr>
      <vt:lpstr>Courier New</vt:lpstr>
      <vt:lpstr>Georgia</vt:lpstr>
      <vt:lpstr>Lucida Sans Unicode</vt:lpstr>
      <vt:lpstr>Times New Roman</vt:lpstr>
      <vt:lpstr>Trebuchet MS</vt:lpstr>
      <vt:lpstr>Office Theme</vt:lpstr>
      <vt:lpstr>PowerPoint Presentation</vt:lpstr>
      <vt:lpstr>Learning objectives</vt:lpstr>
      <vt:lpstr>Data: facts, responses, events,  measurements, etc.</vt:lpstr>
      <vt:lpstr>PowerPoint Presentation</vt:lpstr>
      <vt:lpstr>Is it big</vt:lpstr>
      <vt:lpstr>Is it big?</vt:lpstr>
      <vt:lpstr>Big Data</vt:lpstr>
      <vt:lpstr>Characterize big data with V*</vt:lpstr>
      <vt:lpstr>Why do we have big data now?</vt:lpstr>
      <vt:lpstr>Big “operational” and “analytical”  data</vt:lpstr>
      <vt:lpstr>Why do we need to care?</vt:lpstr>
      <vt:lpstr>What are platforms?</vt:lpstr>
      <vt:lpstr>Example of platforms</vt:lpstr>
      <vt:lpstr>The “Platform Revolution”s definition  of a platform (from a business  viewpoint)</vt:lpstr>
      <vt:lpstr>Our interpretation of platforms for big  data</vt:lpstr>
      <vt:lpstr>Platforms support data as “asset”  and “product” perspectives</vt:lpstr>
      <vt:lpstr>Big data platforms</vt:lpstr>
      <vt:lpstr>Big data platforms:  Onion architecture</vt:lpstr>
      <vt:lpstr>Analytics and big data platforms</vt:lpstr>
      <vt:lpstr>Core principles/techniques for Big  Data Platforms</vt:lpstr>
      <vt:lpstr>Focuses in studying big data  platforms</vt:lpstr>
      <vt:lpstr>Target goals for the study</vt:lpstr>
      <vt:lpstr>Business models vs data platform  engineering</vt:lpstr>
      <vt:lpstr>Concepts/techniques vs  Technologies</vt:lpstr>
      <vt:lpstr>Build your  story</vt:lpstr>
      <vt:lpstr>PowerPoint Presentation</vt:lpstr>
      <vt:lpstr>Example of a typical big data  machine learning pipeline (hot area!)</vt:lpstr>
      <vt:lpstr>“No AI Without Data”</vt:lpstr>
      <vt:lpstr>Big data processing in our story: we  are not just “data scientist” or BA</vt:lpstr>
      <vt:lpstr>Using  Jupyter  Notebook  to do data  analytics</vt:lpstr>
      <vt:lpstr>Business intelligence analytics style  with Superset</vt:lpstr>
      <vt:lpstr>Related concepts/techniques</vt:lpstr>
      <vt:lpstr>Summary: the importance of big data  platforms</vt:lpstr>
      <vt:lpstr>Summary: the importance of big data  platforms for industries and businesses</vt:lpstr>
      <vt:lpstr>Your big data platform story - an  evolving scenario</vt:lpstr>
      <vt:lpstr>You may have several questions?</vt:lpstr>
      <vt:lpstr>Your Big Data Platform story starts  with Big Data Platform architectures!</vt:lpstr>
      <vt:lpstr>Underlying computing infrastructures  is for data intensive tasks</vt:lpstr>
      <vt:lpstr>Understanding the underlying  infrastructures for big data platforms</vt:lpstr>
      <vt:lpstr>Data-centric development &amp; operations</vt:lpstr>
      <vt:lpstr>Big Data Pipelines</vt:lpstr>
      <vt:lpstr>Handling multiple types of data</vt:lpstr>
      <vt:lpstr>Data governance: concerns &amp; SLAs</vt:lpstr>
      <vt:lpstr>Data concerns: example</vt:lpstr>
      <vt:lpstr>Fast/slow reliable processing</vt:lpstr>
      <vt:lpstr>Software services design goals</vt:lpstr>
      <vt:lpstr>Designs must address various  aspects for big data</vt:lpstr>
      <vt:lpstr>Efficiency and sustainability</vt:lpstr>
      <vt:lpstr>Distributed systems of  components are used to manage,  ingest data and process data</vt:lpstr>
      <vt:lpstr>Partitioning: splitting functionality &amp;  data</vt:lpstr>
      <vt:lpstr>Example of functional and data  partitioning Service-oriented  components</vt:lpstr>
      <vt:lpstr>Example of functional and data  partitioning</vt:lpstr>
      <vt:lpstr>Interaction: multiple models</vt:lpstr>
      <vt:lpstr>Coordination: Orchestration and  Reactiveness/Choreography</vt:lpstr>
      <vt:lpstr>Distribution: Edge or Data Centers?</vt:lpstr>
      <vt:lpstr>Scalability &amp; elasticity</vt:lpstr>
      <vt:lpstr>API for Platform as a Service</vt:lpstr>
      <vt:lpstr>Delivery data as “asset”/”product”</vt:lpstr>
      <vt:lpstr>Common, high-level architecture  view with popular state-of-the art  technologies for our study</vt:lpstr>
      <vt:lpstr>Your big  platform  suggested by  ChatGPT</vt:lpstr>
      <vt:lpstr>Our big data at large-scale: the big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Trang Nguyen Thuy</cp:lastModifiedBy>
  <cp:revision>8</cp:revision>
  <dcterms:created xsi:type="dcterms:W3CDTF">2024-11-10T16:02:23Z</dcterms:created>
  <dcterms:modified xsi:type="dcterms:W3CDTF">2025-03-19T06:21:23Z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