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151003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13325"/>
            <a:ext cx="5518785" cy="642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8108315" cy="191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16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tatic.adweek.com/adweek.com-prod/wp-content/uploads/sites/2/2016/02/NewsFeedTeaser640.jpg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4.bp.blogspot.com/--POGMPcheZQ/U3AFerYzrKI/AAAAAAAABDo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d-gate.com/simple-talk/wp-content/uploads/imported/1519-image003.png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75249" y="1176350"/>
            <a:ext cx="81083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algn="ctr">
              <a:lnSpc>
                <a:spcPct val="100000"/>
              </a:lnSpc>
              <a:spcBef>
                <a:spcPts val="15"/>
              </a:spcBef>
            </a:pPr>
            <a:r>
              <a:rPr sz="4800">
                <a:solidFill>
                  <a:srgbClr val="FFFFFF"/>
                </a:solidFill>
              </a:rPr>
              <a:t>Data</a:t>
            </a:r>
            <a:r>
              <a:rPr sz="4800" spc="-125">
                <a:solidFill>
                  <a:srgbClr val="FFFFFF"/>
                </a:solidFill>
              </a:rPr>
              <a:t> </a:t>
            </a:r>
            <a:r>
              <a:rPr sz="4800" dirty="0">
                <a:solidFill>
                  <a:srgbClr val="FFFFFF"/>
                </a:solidFill>
              </a:rPr>
              <a:t>Sourcing</a:t>
            </a:r>
            <a:r>
              <a:rPr sz="4800" spc="-120" dirty="0">
                <a:solidFill>
                  <a:srgbClr val="FFFFFF"/>
                </a:solidFill>
              </a:rPr>
              <a:t> </a:t>
            </a:r>
            <a:r>
              <a:rPr sz="4800" spc="-1110" dirty="0">
                <a:solidFill>
                  <a:srgbClr val="FFFFFF"/>
                </a:solidFill>
              </a:rPr>
              <a:t>/</a:t>
            </a:r>
            <a:r>
              <a:rPr sz="4800" spc="-12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Cleaning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85" dirty="0"/>
              <a:t> </a:t>
            </a:r>
            <a:r>
              <a:rPr spc="-10" dirty="0"/>
              <a:t>Licensing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484109" cy="22815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any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data?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Check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sources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restrictions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(commercial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uses,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 foreign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uses,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etc)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MIT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License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permissive,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long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keep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license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copyright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GPLv2/v3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9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50" dirty="0">
                <a:solidFill>
                  <a:srgbClr val="616161"/>
                </a:solidFill>
                <a:latin typeface="Trebuchet MS"/>
                <a:cs typeface="Trebuchet MS"/>
              </a:rPr>
              <a:t>it,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must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distribute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source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of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anything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built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with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Must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include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copyright,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license,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link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original,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details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changes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“Spreads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616161"/>
                </a:solidFill>
                <a:latin typeface="Trebuchet MS"/>
                <a:cs typeface="Trebuchet MS"/>
              </a:rPr>
              <a:t>virally”,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anything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uses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must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then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become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GPL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85" dirty="0"/>
              <a:t> </a:t>
            </a:r>
            <a:r>
              <a:rPr spc="40" dirty="0"/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23225" cy="271018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everywhere!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track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things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at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scales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never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before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Refined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Datasets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These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typically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academic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governmental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datasets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released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the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public</a:t>
            </a:r>
            <a:endParaRPr sz="1400">
              <a:latin typeface="Trebuchet MS"/>
              <a:cs typeface="Trebuchet MS"/>
            </a:endParaRPr>
          </a:p>
          <a:p>
            <a:pPr marL="836294" marR="67945" lvl="1" indent="-336550">
              <a:lnSpc>
                <a:spcPct val="116100"/>
              </a:lnSpc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the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part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cases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of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missing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parsing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done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(the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a table-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format)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Raw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any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source:</a:t>
            </a:r>
            <a:endParaRPr sz="1400">
              <a:latin typeface="Trebuchet MS"/>
              <a:cs typeface="Trebuchet MS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Social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media,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sensor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616161"/>
                </a:solidFill>
                <a:latin typeface="Trebuchet MS"/>
                <a:cs typeface="Trebuchet MS"/>
              </a:rPr>
              <a:t>data,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scientific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clean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in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order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2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usable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state</a:t>
            </a:r>
            <a:endParaRPr sz="1400">
              <a:latin typeface="Trebuchet MS"/>
              <a:cs typeface="Trebuchet MS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</a:tabLst>
            </a:pPr>
            <a:r>
              <a:rPr sz="1400" spc="-120" dirty="0">
                <a:solidFill>
                  <a:srgbClr val="616161"/>
                </a:solidFill>
                <a:latin typeface="Trebuchet MS"/>
                <a:cs typeface="Trebuchet MS"/>
              </a:rPr>
              <a:t>i.e.</a:t>
            </a:r>
            <a:r>
              <a:rPr sz="1400" spc="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Missing</a:t>
            </a:r>
            <a:r>
              <a:rPr sz="1400" spc="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values?</a:t>
            </a:r>
            <a:r>
              <a:rPr sz="1400" spc="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Formatting?</a:t>
            </a:r>
            <a:r>
              <a:rPr sz="1400" spc="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Non-normalized</a:t>
            </a:r>
            <a:r>
              <a:rPr sz="1400" spc="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data?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21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Premade</a:t>
            </a:r>
            <a:r>
              <a:rPr spc="-125" dirty="0"/>
              <a:t> </a:t>
            </a:r>
            <a:r>
              <a:rPr spc="-10" dirty="0"/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042150" cy="1463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There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lot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good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sources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already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can,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them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instead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getting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own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105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has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been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cleaned;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typically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easier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download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There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other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papers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look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examples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how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manipulated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want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combine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datasets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Trebuchet MS"/>
                <a:cs typeface="Trebuchet MS"/>
              </a:rPr>
              <a:t>fill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null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425" y="2928950"/>
            <a:ext cx="2651150" cy="1988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19450" y="4897873"/>
            <a:ext cx="141795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</a:rPr>
              <a:t>https://github.com/cazala/mnist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Raw</a:t>
            </a:r>
            <a:r>
              <a:rPr spc="-1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0817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How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would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process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 newsfeed?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150" y="1893100"/>
            <a:ext cx="3567700" cy="2675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4901373"/>
            <a:ext cx="47396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 MT"/>
                <a:cs typeface="Arial MT"/>
                <a:hlinkClick r:id="rId3"/>
              </a:rPr>
              <a:t>http://static.adweek.com/adweek.com-prod/wp-content/uploads/sites/2/2016/02/NewsFeedTeaser640.jpg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Raw</a:t>
            </a:r>
            <a:r>
              <a:rPr spc="-145" dirty="0"/>
              <a:t> </a:t>
            </a:r>
            <a:r>
              <a:rPr dirty="0"/>
              <a:t>Data</a:t>
            </a:r>
            <a:r>
              <a:rPr spc="-135" dirty="0"/>
              <a:t> </a:t>
            </a:r>
            <a:r>
              <a:rPr spc="-200" dirty="0"/>
              <a:t>-</a:t>
            </a:r>
            <a:r>
              <a:rPr spc="-125" dirty="0"/>
              <a:t> </a:t>
            </a:r>
            <a:r>
              <a:rPr spc="50" dirty="0"/>
              <a:t>Web</a:t>
            </a:r>
            <a:r>
              <a:rPr spc="-135" dirty="0"/>
              <a:t> </a:t>
            </a:r>
            <a:r>
              <a:rPr spc="-10" dirty="0"/>
              <a:t>Scraping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3754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pc="-40" dirty="0"/>
              <a:t>Ideally</a:t>
            </a:r>
            <a:r>
              <a:rPr spc="-50" dirty="0"/>
              <a:t> </a:t>
            </a:r>
            <a:r>
              <a:rPr dirty="0"/>
              <a:t>you</a:t>
            </a:r>
            <a:r>
              <a:rPr spc="-50" dirty="0"/>
              <a:t> </a:t>
            </a:r>
            <a:r>
              <a:rPr spc="-85" dirty="0"/>
              <a:t>start</a:t>
            </a:r>
            <a:r>
              <a:rPr spc="-45" dirty="0"/>
              <a:t> </a:t>
            </a:r>
            <a:r>
              <a:rPr spc="-85" dirty="0"/>
              <a:t>with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headless</a:t>
            </a:r>
            <a:r>
              <a:rPr spc="-50" dirty="0"/>
              <a:t> </a:t>
            </a:r>
            <a:r>
              <a:rPr dirty="0"/>
              <a:t>browser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download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subset</a:t>
            </a:r>
            <a:r>
              <a:rPr spc="-50" dirty="0"/>
              <a:t> of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spc="-60" dirty="0"/>
              <a:t>javascript </a:t>
            </a:r>
            <a:r>
              <a:rPr spc="-90" dirty="0"/>
              <a:t>objects/html</a:t>
            </a:r>
            <a:r>
              <a:rPr spc="-55" dirty="0"/>
              <a:t> </a:t>
            </a:r>
            <a:r>
              <a:rPr spc="-75" dirty="0"/>
              <a:t>from</a:t>
            </a:r>
            <a:r>
              <a:rPr spc="-55" dirty="0"/>
              <a:t> the </a:t>
            </a:r>
            <a:r>
              <a:rPr spc="-20" dirty="0"/>
              <a:t>page</a:t>
            </a: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</a:tabLst>
            </a:pPr>
            <a:r>
              <a:rPr dirty="0"/>
              <a:t>Once</a:t>
            </a:r>
            <a:r>
              <a:rPr spc="-30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spc="-55" dirty="0"/>
              <a:t>the</a:t>
            </a:r>
            <a:r>
              <a:rPr spc="-30" dirty="0"/>
              <a:t> </a:t>
            </a:r>
            <a:r>
              <a:rPr spc="-60" dirty="0"/>
              <a:t>objects,</a:t>
            </a:r>
            <a:r>
              <a:rPr spc="-30" dirty="0"/>
              <a:t> </a:t>
            </a:r>
            <a:r>
              <a:rPr dirty="0"/>
              <a:t>save</a:t>
            </a:r>
            <a:r>
              <a:rPr spc="-25" dirty="0"/>
              <a:t> </a:t>
            </a:r>
            <a:r>
              <a:rPr spc="-55" dirty="0"/>
              <a:t>them</a:t>
            </a:r>
            <a:r>
              <a:rPr spc="-30" dirty="0"/>
              <a:t> </a:t>
            </a:r>
            <a:r>
              <a:rPr spc="-55" dirty="0"/>
              <a:t>in</a:t>
            </a:r>
            <a:r>
              <a:rPr spc="-30" dirty="0"/>
              <a:t> </a:t>
            </a:r>
            <a:r>
              <a:rPr dirty="0"/>
              <a:t>some</a:t>
            </a:r>
            <a:r>
              <a:rPr spc="-30" dirty="0"/>
              <a:t> </a:t>
            </a:r>
            <a:r>
              <a:rPr spc="-80" dirty="0"/>
              <a:t>format</a:t>
            </a:r>
            <a:r>
              <a:rPr spc="-30" dirty="0"/>
              <a:t> </a:t>
            </a:r>
            <a:r>
              <a:rPr spc="-100" dirty="0"/>
              <a:t>that</a:t>
            </a:r>
            <a:r>
              <a:rPr spc="-30" dirty="0"/>
              <a:t> </a:t>
            </a:r>
            <a:r>
              <a:rPr dirty="0"/>
              <a:t>makes</a:t>
            </a:r>
            <a:r>
              <a:rPr spc="-25" dirty="0"/>
              <a:t> </a:t>
            </a:r>
            <a:r>
              <a:rPr dirty="0"/>
              <a:t>sense.</a:t>
            </a:r>
            <a:r>
              <a:rPr spc="-30" dirty="0"/>
              <a:t> </a:t>
            </a:r>
            <a:r>
              <a:rPr spc="-20" dirty="0"/>
              <a:t>This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CSV,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70" dirty="0"/>
              <a:t>Table,</a:t>
            </a:r>
            <a:r>
              <a:rPr spc="-40" dirty="0"/>
              <a:t> </a:t>
            </a:r>
            <a:r>
              <a:rPr spc="-55" dirty="0"/>
              <a:t>what</a:t>
            </a:r>
            <a:r>
              <a:rPr spc="-45" dirty="0"/>
              <a:t> </a:t>
            </a:r>
            <a:r>
              <a:rPr dirty="0"/>
              <a:t>have</a:t>
            </a:r>
            <a:r>
              <a:rPr spc="-40" dirty="0"/>
              <a:t> </a:t>
            </a:r>
            <a:r>
              <a:rPr spc="-20" dirty="0"/>
              <a:t>you.</a:t>
            </a:r>
          </a:p>
          <a:p>
            <a:pPr marL="379095" marR="17145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</a:tabLst>
            </a:pPr>
            <a:r>
              <a:rPr dirty="0"/>
              <a:t>You</a:t>
            </a:r>
            <a:r>
              <a:rPr spc="-50" dirty="0"/>
              <a:t> </a:t>
            </a:r>
            <a:r>
              <a:rPr spc="-10" dirty="0"/>
              <a:t>may</a:t>
            </a:r>
            <a:r>
              <a:rPr spc="-45" dirty="0"/>
              <a:t> </a:t>
            </a:r>
            <a:r>
              <a:rPr dirty="0"/>
              <a:t>need</a:t>
            </a:r>
            <a:r>
              <a:rPr spc="-45" dirty="0"/>
              <a:t> </a:t>
            </a:r>
            <a:r>
              <a:rPr spc="-65" dirty="0"/>
              <a:t>to</a:t>
            </a:r>
            <a:r>
              <a:rPr spc="-50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some</a:t>
            </a:r>
            <a:r>
              <a:rPr spc="-45" dirty="0"/>
              <a:t> </a:t>
            </a:r>
            <a:r>
              <a:rPr spc="65" dirty="0"/>
              <a:t>HTML</a:t>
            </a:r>
            <a:r>
              <a:rPr spc="-45" dirty="0"/>
              <a:t> </a:t>
            </a:r>
            <a:r>
              <a:rPr dirty="0"/>
              <a:t>parsing</a:t>
            </a:r>
            <a:r>
              <a:rPr spc="-50" dirty="0"/>
              <a:t> </a:t>
            </a:r>
            <a:r>
              <a:rPr spc="-55" dirty="0"/>
              <a:t>in</a:t>
            </a:r>
            <a:r>
              <a:rPr spc="-45" dirty="0"/>
              <a:t> </a:t>
            </a:r>
            <a:r>
              <a:rPr spc="-50" dirty="0"/>
              <a:t>this</a:t>
            </a:r>
            <a:r>
              <a:rPr spc="-45" dirty="0"/>
              <a:t> </a:t>
            </a:r>
            <a:r>
              <a:rPr spc="-20" dirty="0"/>
              <a:t>case.</a:t>
            </a:r>
            <a:r>
              <a:rPr spc="-45" dirty="0"/>
              <a:t> </a:t>
            </a:r>
            <a:r>
              <a:rPr spc="-20" dirty="0"/>
              <a:t>Get</a:t>
            </a:r>
            <a:r>
              <a:rPr spc="-50" dirty="0"/>
              <a:t> </a:t>
            </a:r>
            <a:r>
              <a:rPr spc="-25" dirty="0"/>
              <a:t>yourself</a:t>
            </a:r>
            <a:r>
              <a:rPr spc="-4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spc="45" dirty="0"/>
              <a:t>HTML </a:t>
            </a:r>
            <a:r>
              <a:rPr dirty="0"/>
              <a:t>parser</a:t>
            </a:r>
            <a:r>
              <a:rPr spc="-8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85" dirty="0"/>
              <a:t>write</a:t>
            </a:r>
            <a:r>
              <a:rPr spc="-80" dirty="0"/>
              <a:t> </a:t>
            </a:r>
            <a:r>
              <a:rPr spc="-95" dirty="0"/>
              <a:t>all</a:t>
            </a:r>
            <a:r>
              <a:rPr spc="-80" dirty="0"/>
              <a:t> </a:t>
            </a:r>
            <a:r>
              <a:rPr spc="-55" dirty="0"/>
              <a:t>the</a:t>
            </a:r>
            <a:r>
              <a:rPr spc="-80" dirty="0"/>
              <a:t> </a:t>
            </a:r>
            <a:r>
              <a:rPr spc="-50" dirty="0"/>
              <a:t>relevant</a:t>
            </a:r>
            <a:r>
              <a:rPr spc="-80" dirty="0"/>
              <a:t> </a:t>
            </a:r>
            <a:r>
              <a:rPr spc="-10" dirty="0"/>
              <a:t>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20</a:t>
            </a:r>
            <a:r>
              <a:rPr spc="-110" dirty="0"/>
              <a:t> </a:t>
            </a:r>
            <a:r>
              <a:rPr spc="70" dirty="0"/>
              <a:t>Second</a:t>
            </a:r>
            <a:r>
              <a:rPr spc="-11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225" y="1331975"/>
            <a:ext cx="617537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12060">
              <a:lnSpc>
                <a:spcPct val="118100"/>
              </a:lnSpc>
              <a:spcBef>
                <a:spcPts val="100"/>
              </a:spcBef>
            </a:pPr>
            <a:r>
              <a:rPr sz="1800" b="1" dirty="0">
                <a:solidFill>
                  <a:srgbClr val="2837B0"/>
                </a:solidFill>
                <a:latin typeface="Consolas"/>
                <a:cs typeface="Consolas"/>
              </a:rPr>
              <a:t>from</a:t>
            </a:r>
            <a:r>
              <a:rPr sz="1800" b="1" spc="-20" dirty="0">
                <a:solidFill>
                  <a:srgbClr val="2837B0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289870"/>
                </a:solidFill>
                <a:latin typeface="Consolas"/>
                <a:cs typeface="Consolas"/>
              </a:rPr>
              <a:t>bs4</a:t>
            </a:r>
            <a:r>
              <a:rPr sz="1800" b="1" spc="-15" dirty="0">
                <a:solidFill>
                  <a:srgbClr val="289870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2837B0"/>
                </a:solidFill>
                <a:latin typeface="Consolas"/>
                <a:cs typeface="Consolas"/>
              </a:rPr>
              <a:t>import</a:t>
            </a:r>
            <a:r>
              <a:rPr sz="1800" b="1" spc="-10" dirty="0">
                <a:solidFill>
                  <a:srgbClr val="2837B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BeautifulSoup </a:t>
            </a:r>
            <a:r>
              <a:rPr sz="1800" dirty="0">
                <a:latin typeface="Consolas"/>
                <a:cs typeface="Consolas"/>
              </a:rPr>
              <a:t>soup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666666"/>
                </a:solidFill>
                <a:latin typeface="Consolas"/>
                <a:cs typeface="Consolas"/>
              </a:rPr>
              <a:t>=</a:t>
            </a:r>
            <a:r>
              <a:rPr sz="1800" spc="-10" dirty="0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BeautifulSoup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(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"""</a:t>
            </a:r>
            <a:endParaRPr sz="1800">
              <a:latin typeface="Consolas"/>
              <a:cs typeface="Consolas"/>
            </a:endParaRPr>
          </a:p>
          <a:p>
            <a:pPr marL="531495">
              <a:lnSpc>
                <a:spcPct val="100000"/>
              </a:lnSpc>
              <a:spcBef>
                <a:spcPts val="390"/>
              </a:spcBef>
            </a:pP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&lt;html&gt;&lt;body&gt;&lt;ul&gt;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&lt;li 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class="shoe-</a:t>
            </a: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item"&gt;Air 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Jordans&lt;/li&gt;</a:t>
            </a:r>
            <a:endParaRPr sz="180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&lt;li</a:t>
            </a:r>
            <a:r>
              <a:rPr sz="1800" spc="-20" dirty="0">
                <a:solidFill>
                  <a:srgbClr val="B83737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class="shoe-</a:t>
            </a: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item"&gt;Light</a:t>
            </a:r>
            <a:r>
              <a:rPr sz="1800" spc="-5" dirty="0">
                <a:solidFill>
                  <a:srgbClr val="B83737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up</a:t>
            </a:r>
            <a:r>
              <a:rPr sz="1800" spc="-5" dirty="0">
                <a:solidFill>
                  <a:srgbClr val="B83737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Sketchers&lt;/li&gt;</a:t>
            </a:r>
            <a:endParaRPr sz="1800">
              <a:latin typeface="Consolas"/>
              <a:cs typeface="Consolas"/>
            </a:endParaRPr>
          </a:p>
          <a:p>
            <a:pPr marL="531495" marR="3246755" indent="-17780">
              <a:lnSpc>
                <a:spcPct val="118100"/>
              </a:lnSpc>
            </a:pP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&lt;/ul&gt;&lt;body&gt;&lt;/html&gt; </a:t>
            </a:r>
            <a:r>
              <a:rPr sz="1800" dirty="0">
                <a:solidFill>
                  <a:srgbClr val="B83737"/>
                </a:solidFill>
                <a:latin typeface="Consolas"/>
                <a:cs typeface="Consolas"/>
              </a:rPr>
              <a:t>"""</a:t>
            </a:r>
            <a:r>
              <a:rPr sz="1800" dirty="0">
                <a:solidFill>
                  <a:srgbClr val="888888"/>
                </a:solidFill>
                <a:latin typeface="Consolas"/>
                <a:cs typeface="Consolas"/>
              </a:rPr>
              <a:t>,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'html.parser'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800" b="1" dirty="0">
                <a:solidFill>
                  <a:srgbClr val="2837B0"/>
                </a:solidFill>
                <a:latin typeface="Consolas"/>
                <a:cs typeface="Consolas"/>
              </a:rPr>
              <a:t>for</a:t>
            </a:r>
            <a:r>
              <a:rPr sz="1800" b="1" spc="45" dirty="0">
                <a:solidFill>
                  <a:srgbClr val="2837B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item</a:t>
            </a:r>
            <a:r>
              <a:rPr sz="1800" spc="50" dirty="0"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A848A8"/>
                </a:solidFill>
                <a:latin typeface="Consolas"/>
                <a:cs typeface="Consolas"/>
              </a:rPr>
              <a:t>in</a:t>
            </a:r>
            <a:r>
              <a:rPr sz="1800" b="1" spc="50" dirty="0">
                <a:solidFill>
                  <a:srgbClr val="A848A8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soup</a:t>
            </a:r>
            <a:r>
              <a:rPr sz="1800" spc="-10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find_all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(attrs=</a:t>
            </a:r>
            <a:r>
              <a:rPr sz="1800" spc="-10" dirty="0">
                <a:solidFill>
                  <a:srgbClr val="B83737"/>
                </a:solidFill>
                <a:latin typeface="Consolas"/>
                <a:cs typeface="Consolas"/>
              </a:rPr>
              <a:t>'shoe-item'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):</a:t>
            </a:r>
            <a:endParaRPr sz="180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  <a:spcBef>
                <a:spcPts val="390"/>
              </a:spcBef>
            </a:pPr>
            <a:r>
              <a:rPr sz="1800" b="1" spc="-10" dirty="0">
                <a:solidFill>
                  <a:srgbClr val="2837B0"/>
                </a:solidFill>
                <a:latin typeface="Consolas"/>
                <a:cs typeface="Consolas"/>
              </a:rPr>
              <a:t>print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(</a:t>
            </a:r>
            <a:r>
              <a:rPr sz="1800" spc="-10" dirty="0">
                <a:latin typeface="Consolas"/>
                <a:cs typeface="Consolas"/>
              </a:rPr>
              <a:t>item</a:t>
            </a:r>
            <a:r>
              <a:rPr sz="1800" spc="-10" dirty="0">
                <a:solidFill>
                  <a:srgbClr val="666666"/>
                </a:solidFill>
                <a:latin typeface="Consolas"/>
                <a:cs typeface="Consolas"/>
              </a:rPr>
              <a:t>.</a:t>
            </a:r>
            <a:r>
              <a:rPr sz="1800" spc="-10" dirty="0">
                <a:latin typeface="Consolas"/>
                <a:cs typeface="Consolas"/>
              </a:rPr>
              <a:t>text</a:t>
            </a:r>
            <a:r>
              <a:rPr sz="1800" spc="-10" dirty="0">
                <a:solidFill>
                  <a:srgbClr val="888888"/>
                </a:solidFill>
                <a:latin typeface="Consolas"/>
                <a:cs typeface="Consolas"/>
              </a:rPr>
              <a:t>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Scraping</a:t>
            </a:r>
            <a:r>
              <a:rPr spc="8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3418204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rate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limited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get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blocked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violating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law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Whenever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HTML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changes, your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code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immediately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breaks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2900" y="1152475"/>
            <a:ext cx="4526073" cy="3016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6625" y="4773411"/>
            <a:ext cx="3241040" cy="271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spc="-20" dirty="0">
                <a:solidFill>
                  <a:srgbClr val="616161"/>
                </a:solidFill>
                <a:latin typeface="Trebuchet MS"/>
                <a:cs typeface="Trebuchet MS"/>
                <a:hlinkClick r:id="rId3"/>
              </a:rPr>
              <a:t>http://4.bp.blogspot.com/-</a:t>
            </a:r>
            <a:r>
              <a:rPr sz="800" spc="-10" dirty="0">
                <a:solidFill>
                  <a:srgbClr val="616161"/>
                </a:solidFill>
                <a:latin typeface="Trebuchet MS"/>
                <a:cs typeface="Trebuchet MS"/>
                <a:hlinkClick r:id="rId3"/>
              </a:rPr>
              <a:t>-</a:t>
            </a:r>
            <a:r>
              <a:rPr sz="800" spc="-20" dirty="0">
                <a:solidFill>
                  <a:srgbClr val="616161"/>
                </a:solidFill>
                <a:latin typeface="Trebuchet MS"/>
                <a:cs typeface="Trebuchet MS"/>
                <a:hlinkClick r:id="rId3"/>
              </a:rPr>
              <a:t>POGMPcheZQ/U3AFerYzrKI/AAAAAAAABDo/</a:t>
            </a:r>
            <a:r>
              <a:rPr sz="8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rgbClr val="616161"/>
                </a:solidFill>
                <a:latin typeface="Trebuchet MS"/>
                <a:cs typeface="Trebuchet MS"/>
              </a:rPr>
              <a:t>uNPZGsCpGAI/s1600/web+scraping+jime.jpg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3275" y="2167953"/>
            <a:ext cx="3804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</a:rPr>
              <a:t>Data</a:t>
            </a:r>
            <a:r>
              <a:rPr sz="4800" spc="-310" dirty="0">
                <a:solidFill>
                  <a:srgbClr val="FFFFFF"/>
                </a:solidFill>
              </a:rPr>
              <a:t> </a:t>
            </a:r>
            <a:r>
              <a:rPr sz="4800" spc="-10" dirty="0">
                <a:solidFill>
                  <a:srgbClr val="FFFFFF"/>
                </a:solidFill>
              </a:rPr>
              <a:t>Cleaning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05" dirty="0"/>
              <a:t> </a:t>
            </a:r>
            <a:r>
              <a:rPr spc="60" dirty="0"/>
              <a:t>do</a:t>
            </a:r>
            <a:r>
              <a:rPr spc="-100" dirty="0"/>
              <a:t> </a:t>
            </a:r>
            <a:r>
              <a:rPr dirty="0"/>
              <a:t>we</a:t>
            </a:r>
            <a:r>
              <a:rPr spc="-100" dirty="0"/>
              <a:t> </a:t>
            </a:r>
            <a:r>
              <a:rPr dirty="0"/>
              <a:t>need</a:t>
            </a:r>
            <a:r>
              <a:rPr spc="-100" dirty="0"/>
              <a:t> </a:t>
            </a:r>
            <a:r>
              <a:rPr spc="-110" dirty="0"/>
              <a:t>to</a:t>
            </a:r>
            <a:r>
              <a:rPr spc="-100" dirty="0"/>
              <a:t> </a:t>
            </a:r>
            <a:r>
              <a:rPr spc="-20" dirty="0"/>
              <a:t>clean</a:t>
            </a:r>
            <a:r>
              <a:rPr spc="-100" dirty="0"/>
              <a:t> </a:t>
            </a:r>
            <a:r>
              <a:rPr spc="-90" dirty="0"/>
              <a:t>the</a:t>
            </a:r>
            <a:r>
              <a:rPr spc="-100" dirty="0"/>
              <a:t> </a:t>
            </a:r>
            <a:r>
              <a:rPr spc="-1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673975" cy="22212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could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have: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Missing</a:t>
            </a:r>
            <a:r>
              <a:rPr sz="1400" spc="1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Duplicate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Invalid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Useless</a:t>
            </a:r>
            <a:r>
              <a:rPr sz="1400" spc="204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Etc</a:t>
            </a:r>
            <a:endParaRPr sz="1400">
              <a:latin typeface="Trebuchet MS"/>
              <a:cs typeface="Trebuchet MS"/>
            </a:endParaRPr>
          </a:p>
          <a:p>
            <a:pPr marL="379095" marR="5080" indent="-367030">
              <a:lnSpc>
                <a:spcPts val="2480"/>
              </a:lnSpc>
              <a:spcBef>
                <a:spcPts val="3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make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sure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give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machine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learning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algorithm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close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to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representative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possible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05" dirty="0"/>
              <a:t> </a:t>
            </a:r>
            <a:r>
              <a:rPr spc="60" dirty="0"/>
              <a:t>do</a:t>
            </a:r>
            <a:r>
              <a:rPr spc="-100" dirty="0"/>
              <a:t> </a:t>
            </a:r>
            <a:r>
              <a:rPr dirty="0"/>
              <a:t>we</a:t>
            </a:r>
            <a:r>
              <a:rPr spc="-100" dirty="0"/>
              <a:t> </a:t>
            </a:r>
            <a:r>
              <a:rPr dirty="0"/>
              <a:t>need</a:t>
            </a:r>
            <a:r>
              <a:rPr spc="-100" dirty="0"/>
              <a:t> </a:t>
            </a:r>
            <a:r>
              <a:rPr spc="-110" dirty="0"/>
              <a:t>to</a:t>
            </a:r>
            <a:r>
              <a:rPr spc="-100" dirty="0"/>
              <a:t> </a:t>
            </a:r>
            <a:r>
              <a:rPr spc="-20" dirty="0"/>
              <a:t>clean</a:t>
            </a:r>
            <a:r>
              <a:rPr spc="-100" dirty="0"/>
              <a:t> </a:t>
            </a:r>
            <a:r>
              <a:rPr spc="-90" dirty="0"/>
              <a:t>the</a:t>
            </a:r>
            <a:r>
              <a:rPr spc="-100" dirty="0"/>
              <a:t> </a:t>
            </a:r>
            <a:r>
              <a:rPr spc="-1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5610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usually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want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normalized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format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2026437"/>
            <a:ext cx="5657849" cy="22574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23425" y="4842198"/>
            <a:ext cx="392493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616161"/>
                </a:solidFill>
                <a:latin typeface="Trebuchet MS"/>
                <a:cs typeface="Trebuchet MS"/>
                <a:hlinkClick r:id="rId3"/>
              </a:rPr>
              <a:t>https://www.red-gate.com/simple-talk/wp-content/uploads/imported/1519-</a:t>
            </a:r>
            <a:r>
              <a:rPr sz="800" spc="-25" dirty="0">
                <a:solidFill>
                  <a:srgbClr val="616161"/>
                </a:solidFill>
                <a:latin typeface="Trebuchet MS"/>
                <a:cs typeface="Trebuchet MS"/>
                <a:hlinkClick r:id="rId3"/>
              </a:rPr>
              <a:t>image003.png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Missing</a:t>
            </a:r>
            <a:r>
              <a:rPr spc="-110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304405" cy="277685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616161"/>
                </a:solidFill>
                <a:latin typeface="Trebuchet MS"/>
                <a:cs typeface="Trebuchet MS"/>
              </a:rPr>
              <a:t>do?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drop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Careful: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skew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our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dataset,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especially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0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lot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missing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values.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make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educated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616161"/>
                </a:solidFill>
                <a:latin typeface="Trebuchet MS"/>
                <a:cs typeface="Trebuchet MS"/>
              </a:rPr>
              <a:t>guess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Hard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do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categorical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numerical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data:</a:t>
            </a:r>
            <a:endParaRPr sz="1400">
              <a:latin typeface="Trebuchet MS"/>
              <a:cs typeface="Trebuchet MS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Simple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replacement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with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the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mean</a:t>
            </a:r>
            <a:endParaRPr sz="1400">
              <a:latin typeface="Trebuchet MS"/>
              <a:cs typeface="Trebuchet MS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Sample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probability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distribution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Trebuchet MS"/>
                <a:cs typeface="Trebuchet MS"/>
              </a:rPr>
              <a:t>fill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the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(randomly)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algorithms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filled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case,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leave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because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want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put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95" dirty="0">
                <a:solidFill>
                  <a:srgbClr val="616161"/>
                </a:solidFill>
                <a:latin typeface="Trebuchet MS"/>
                <a:cs typeface="Trebuchet MS"/>
              </a:rPr>
              <a:t>little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our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bias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Missing</a:t>
            </a:r>
            <a:r>
              <a:rPr spc="-145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387" y="1555750"/>
            <a:ext cx="7019924" cy="2590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Duplicated</a:t>
            </a:r>
            <a:r>
              <a:rPr spc="-14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4246880" cy="21621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Simple</a:t>
            </a:r>
            <a:r>
              <a:rPr sz="1800" spc="-1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answer: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Deduplicate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data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challenging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with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large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datasets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Clr>
                <a:srgbClr val="616161"/>
              </a:buClr>
              <a:buFont typeface="Arial MT"/>
              <a:buChar char="○"/>
            </a:pP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buFont typeface="Arial MT"/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Pitfalls: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Duplicate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meaning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How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do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determine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duplicate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data?</a:t>
            </a:r>
            <a:endParaRPr sz="1400">
              <a:latin typeface="Trebuchet MS"/>
              <a:cs typeface="Trebuchet MS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Font typeface="Arial MT"/>
              <a:buChar char="■"/>
              <a:tabLst>
                <a:tab pos="1293495" algn="l"/>
              </a:tabLst>
            </a:pP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Exact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 match?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Close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match?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Duplicates</a:t>
            </a:r>
            <a:r>
              <a:rPr spc="-14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000" y="1722425"/>
            <a:ext cx="3295649" cy="22764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Invalid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75" dirty="0"/>
              <a:t>Useless</a:t>
            </a:r>
            <a:r>
              <a:rPr spc="-90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4928870" cy="14719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Problem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domain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species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what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valid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20" dirty="0">
                <a:solidFill>
                  <a:srgbClr val="616161"/>
                </a:solidFill>
                <a:latin typeface="Trebuchet MS"/>
                <a:cs typeface="Trebuchet MS"/>
              </a:rPr>
              <a:t>/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useful</a:t>
            </a:r>
            <a:endParaRPr sz="18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Context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matters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significantly: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130" dirty="0">
                <a:solidFill>
                  <a:srgbClr val="616161"/>
                </a:solidFill>
                <a:latin typeface="Trebuchet MS"/>
                <a:cs typeface="Trebuchet MS"/>
              </a:rPr>
              <a:t>i.e.,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age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&gt;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616161"/>
                </a:solidFill>
                <a:latin typeface="Trebuchet MS"/>
                <a:cs typeface="Trebuchet MS"/>
              </a:rPr>
              <a:t>0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“useless”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Keep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them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around,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useful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later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57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40" dirty="0"/>
              <a:t> </a:t>
            </a:r>
            <a:r>
              <a:rPr dirty="0"/>
              <a:t>processing</a:t>
            </a:r>
            <a:r>
              <a:rPr spc="40" dirty="0"/>
              <a:t> </a:t>
            </a:r>
            <a:r>
              <a:rPr spc="-10" dirty="0"/>
              <a:t>pipelines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375" y="1868850"/>
            <a:ext cx="4600574" cy="14763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025" y="3752375"/>
            <a:ext cx="8664400" cy="4667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Final</a:t>
            </a:r>
            <a:r>
              <a:rPr spc="-130" dirty="0"/>
              <a:t> </a:t>
            </a:r>
            <a:r>
              <a:rPr spc="-30" dirty="0"/>
              <a:t>Destination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562215" cy="25431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needs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accessible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your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processing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 framework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120" dirty="0">
                <a:solidFill>
                  <a:srgbClr val="616161"/>
                </a:solidFill>
                <a:latin typeface="Trebuchet MS"/>
                <a:cs typeface="Trebuchet MS"/>
              </a:rPr>
              <a:t>i.e.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needs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placed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HDFS,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S3, MySQL,</a:t>
            </a:r>
            <a:r>
              <a:rPr sz="1400" spc="-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etc.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Hadoop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20" dirty="0">
                <a:solidFill>
                  <a:srgbClr val="616161"/>
                </a:solidFill>
                <a:latin typeface="Trebuchet MS"/>
                <a:cs typeface="Trebuchet MS"/>
              </a:rPr>
              <a:t>/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Spark: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85" dirty="0">
                <a:solidFill>
                  <a:srgbClr val="616161"/>
                </a:solidFill>
                <a:latin typeface="Trebuchet MS"/>
                <a:cs typeface="Trebuchet MS"/>
              </a:rPr>
              <a:t>HDFS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has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“copyFromLocal”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tool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Databases: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Many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tools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available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loading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Write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own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queries/scripts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load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other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source</a:t>
            </a:r>
            <a:endParaRPr sz="1400">
              <a:latin typeface="Trebuchet MS"/>
              <a:cs typeface="Trebuchet MS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large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616161"/>
                </a:solidFill>
                <a:latin typeface="Trebuchet MS"/>
                <a:cs typeface="Trebuchet MS"/>
              </a:rPr>
              <a:t>(&gt;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45" dirty="0">
                <a:solidFill>
                  <a:srgbClr val="616161"/>
                </a:solidFill>
                <a:latin typeface="Trebuchet MS"/>
                <a:cs typeface="Trebuchet MS"/>
              </a:rPr>
              <a:t>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PB):</a:t>
            </a:r>
            <a:endParaRPr sz="1800">
              <a:latin typeface="Trebuchet MS"/>
              <a:cs typeface="Trebuchet MS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 MT"/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Services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85" dirty="0">
                <a:solidFill>
                  <a:srgbClr val="616161"/>
                </a:solidFill>
                <a:latin typeface="Trebuchet MS"/>
                <a:cs typeface="Trebuchet MS"/>
              </a:rPr>
              <a:t>AWS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Transfer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(Snowball)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exist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bulk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transfer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large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amounts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5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837</Words>
  <Application>Microsoft Office PowerPoint</Application>
  <PresentationFormat>On-screen Show (16:9)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 MT</vt:lpstr>
      <vt:lpstr>Consolas</vt:lpstr>
      <vt:lpstr>Trebuchet MS</vt:lpstr>
      <vt:lpstr>Office Theme</vt:lpstr>
      <vt:lpstr>PowerPoint Presentation</vt:lpstr>
      <vt:lpstr>Data Licensing</vt:lpstr>
      <vt:lpstr>Data Sources</vt:lpstr>
      <vt:lpstr>Premade Dataset</vt:lpstr>
      <vt:lpstr>Raw Data</vt:lpstr>
      <vt:lpstr>Raw Data - Web Scraping</vt:lpstr>
      <vt:lpstr>20 Second Example</vt:lpstr>
      <vt:lpstr>Scraping Problems</vt:lpstr>
      <vt:lpstr>Data Cleaning</vt:lpstr>
      <vt:lpstr>Why do we need to clean the data?</vt:lpstr>
      <vt:lpstr>Why do we need to clean the data?</vt:lpstr>
      <vt:lpstr>Missing Values</vt:lpstr>
      <vt:lpstr>Missing Data Example</vt:lpstr>
      <vt:lpstr>Duplicated Data</vt:lpstr>
      <vt:lpstr>Duplicates Example</vt:lpstr>
      <vt:lpstr>Invalid and Useless Values</vt:lpstr>
      <vt:lpstr>Data processing pipelines</vt:lpstr>
      <vt:lpstr>Final Destination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3</cp:revision>
  <dcterms:created xsi:type="dcterms:W3CDTF">2024-11-10T16:02:23Z</dcterms:created>
  <dcterms:modified xsi:type="dcterms:W3CDTF">2025-02-17T04:07:36Z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