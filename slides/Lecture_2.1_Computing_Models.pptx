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256" r:id="rId2"/>
    <p:sldId id="303" r:id="rId3"/>
    <p:sldId id="296" r:id="rId4"/>
    <p:sldId id="299" r:id="rId5"/>
    <p:sldId id="297" r:id="rId6"/>
    <p:sldId id="298" r:id="rId7"/>
    <p:sldId id="300" r:id="rId8"/>
    <p:sldId id="301" r:id="rId9"/>
    <p:sldId id="325" r:id="rId10"/>
    <p:sldId id="259" r:id="rId11"/>
    <p:sldId id="260" r:id="rId12"/>
    <p:sldId id="268" r:id="rId13"/>
    <p:sldId id="272" r:id="rId14"/>
    <p:sldId id="273" r:id="rId15"/>
    <p:sldId id="274" r:id="rId16"/>
    <p:sldId id="275" r:id="rId17"/>
    <p:sldId id="276" r:id="rId18"/>
    <p:sldId id="277" r:id="rId19"/>
    <p:sldId id="278" r:id="rId20"/>
    <p:sldId id="279" r:id="rId21"/>
    <p:sldId id="281" r:id="rId22"/>
    <p:sldId id="269" r:id="rId23"/>
    <p:sldId id="319" r:id="rId24"/>
    <p:sldId id="320" r:id="rId25"/>
    <p:sldId id="284" r:id="rId26"/>
    <p:sldId id="285" r:id="rId27"/>
    <p:sldId id="286" r:id="rId28"/>
    <p:sldId id="287" r:id="rId29"/>
    <p:sldId id="288" r:id="rId30"/>
    <p:sldId id="321" r:id="rId31"/>
    <p:sldId id="322" r:id="rId32"/>
    <p:sldId id="323" r:id="rId33"/>
    <p:sldId id="289" r:id="rId34"/>
    <p:sldId id="290" r:id="rId35"/>
    <p:sldId id="291" r:id="rId36"/>
    <p:sldId id="292" r:id="rId37"/>
    <p:sldId id="293" r:id="rId38"/>
    <p:sldId id="327" r:id="rId39"/>
    <p:sldId id="294" r:id="rId40"/>
    <p:sldId id="312" r:id="rId41"/>
    <p:sldId id="314" r:id="rId42"/>
    <p:sldId id="315" r:id="rId43"/>
    <p:sldId id="316" r:id="rId44"/>
    <p:sldId id="317" r:id="rId45"/>
    <p:sldId id="318" r:id="rId46"/>
    <p:sldId id="324" r:id="rId47"/>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658"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096789D2-9F89-4CD1-89F3-00B8B964CD32}" type="datetimeFigureOut">
              <a:rPr lang="en-US" smtClean="0"/>
              <a:t>1/4/2025</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0F389035-DC72-45E4-919D-DAAFB051F377}" type="slidenum">
              <a:rPr lang="en-US" smtClean="0"/>
              <a:t>‹#›</a:t>
            </a:fld>
            <a:endParaRPr lang="en-US"/>
          </a:p>
        </p:txBody>
      </p:sp>
    </p:spTree>
    <p:extLst>
      <p:ext uri="{BB962C8B-B14F-4D97-AF65-F5344CB8AC3E}">
        <p14:creationId xmlns:p14="http://schemas.microsoft.com/office/powerpoint/2010/main" val="3035312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88E3A9C2-B76A-5D45-891A-3EFC1063C4C5}"/>
              </a:ext>
            </a:extLst>
          </p:cNvPr>
          <p:cNvSpPr>
            <a:spLocks noGrp="1" noRot="1" noChangeAspect="1" noChangeArrowheads="1" noTextEdit="1"/>
          </p:cNvSpPr>
          <p:nvPr>
            <p:ph type="sldImg"/>
          </p:nvPr>
        </p:nvSpPr>
        <p:spPr>
          <a:xfrm>
            <a:off x="554038" y="523875"/>
            <a:ext cx="5775325" cy="3249613"/>
          </a:xfrm>
          <a:ln/>
        </p:spPr>
      </p:sp>
      <p:sp>
        <p:nvSpPr>
          <p:cNvPr id="93187" name="Rectangle 3">
            <a:extLst>
              <a:ext uri="{FF2B5EF4-FFF2-40B4-BE49-F238E27FC236}">
                <a16:creationId xmlns:a16="http://schemas.microsoft.com/office/drawing/2014/main" id="{08E27BB0-14EB-5E61-80C3-3FBA0A98019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latin typeface="Arial" panose="020B0604020202020204" pitchFamily="34" charset="0"/>
              <a:ea typeface="新細明體" panose="02020500000000000000" pitchFamily="18" charset="-12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02147BBC-532D-3E8A-FC68-8539D443A78C}"/>
              </a:ext>
            </a:extLst>
          </p:cNvPr>
          <p:cNvSpPr>
            <a:spLocks noGrp="1" noRot="1" noChangeAspect="1" noChangeArrowheads="1" noTextEdit="1"/>
          </p:cNvSpPr>
          <p:nvPr>
            <p:ph type="sldImg"/>
          </p:nvPr>
        </p:nvSpPr>
        <p:spPr>
          <a:xfrm>
            <a:off x="554038" y="523875"/>
            <a:ext cx="5775325" cy="3249613"/>
          </a:xfrm>
          <a:ln/>
        </p:spPr>
      </p:sp>
      <p:sp>
        <p:nvSpPr>
          <p:cNvPr id="95235" name="Rectangle 3">
            <a:extLst>
              <a:ext uri="{FF2B5EF4-FFF2-40B4-BE49-F238E27FC236}">
                <a16:creationId xmlns:a16="http://schemas.microsoft.com/office/drawing/2014/main" id="{58E20AE4-5AFC-8ACB-204C-BF746C8DDB4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latin typeface="Arial" panose="020B0604020202020204" pitchFamily="34" charset="0"/>
              <a:ea typeface="新細明體" panose="02020500000000000000" pitchFamily="18" charset="-12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DCAE141D-C27E-49A9-B259-8728411A11F2}"/>
              </a:ext>
            </a:extLst>
          </p:cNvPr>
          <p:cNvSpPr>
            <a:spLocks noGrp="1" noRot="1" noChangeAspect="1" noChangeArrowheads="1" noTextEdit="1"/>
          </p:cNvSpPr>
          <p:nvPr>
            <p:ph type="sldImg"/>
          </p:nvPr>
        </p:nvSpPr>
        <p:spPr>
          <a:xfrm>
            <a:off x="554038" y="523875"/>
            <a:ext cx="5775325" cy="3249613"/>
          </a:xfrm>
          <a:ln/>
        </p:spPr>
      </p:sp>
      <p:sp>
        <p:nvSpPr>
          <p:cNvPr id="97283" name="Rectangle 3">
            <a:extLst>
              <a:ext uri="{FF2B5EF4-FFF2-40B4-BE49-F238E27FC236}">
                <a16:creationId xmlns:a16="http://schemas.microsoft.com/office/drawing/2014/main" id="{29E2FE07-807B-9D09-C18B-F1F2BAEA9DA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latin typeface="Arial" panose="020B0604020202020204" pitchFamily="34" charset="0"/>
              <a:ea typeface="新細明體" panose="02020500000000000000" pitchFamily="18" charset="-12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7892106A-F0AA-1847-E728-11301BEEFE4B}"/>
              </a:ext>
            </a:extLst>
          </p:cNvPr>
          <p:cNvSpPr>
            <a:spLocks noGrp="1" noRot="1" noChangeAspect="1" noChangeArrowheads="1" noTextEdit="1"/>
          </p:cNvSpPr>
          <p:nvPr>
            <p:ph type="sldImg"/>
          </p:nvPr>
        </p:nvSpPr>
        <p:spPr>
          <a:xfrm>
            <a:off x="554038" y="523875"/>
            <a:ext cx="5775325" cy="3249613"/>
          </a:xfrm>
          <a:ln/>
        </p:spPr>
      </p:sp>
      <p:sp>
        <p:nvSpPr>
          <p:cNvPr id="99331" name="Rectangle 3">
            <a:extLst>
              <a:ext uri="{FF2B5EF4-FFF2-40B4-BE49-F238E27FC236}">
                <a16:creationId xmlns:a16="http://schemas.microsoft.com/office/drawing/2014/main" id="{7AB578B1-F6DE-8F31-F817-5503ED14E72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ea typeface="新細明體" panose="02020500000000000000" pitchFamily="18" charset="-120"/>
              </a:rPr>
              <a:t>L</a:t>
            </a:r>
            <a:r>
              <a:rPr lang="sv-SE" altLang="zh-TW">
                <a:latin typeface="Arial" panose="020B0604020202020204" pitchFamily="34" charset="0"/>
                <a:ea typeface="新細明體" panose="02020500000000000000" pitchFamily="18" charset="-120"/>
              </a:rPr>
              <a:t>oad sharing</a:t>
            </a:r>
          </a:p>
          <a:p>
            <a:r>
              <a:rPr lang="en-US" altLang="zh-TW">
                <a:latin typeface="Arial" panose="020B0604020202020204" pitchFamily="34" charset="0"/>
                <a:ea typeface="新細明體" panose="02020500000000000000" pitchFamily="18" charset="-120"/>
              </a:rPr>
              <a:t>R</a:t>
            </a:r>
            <a:r>
              <a:rPr lang="sv-SE" altLang="zh-TW">
                <a:latin typeface="Arial" panose="020B0604020202020204" pitchFamily="34" charset="0"/>
                <a:ea typeface="新細明體" panose="02020500000000000000" pitchFamily="18" charset="-120"/>
              </a:rPr>
              <a:t>edundancy</a:t>
            </a:r>
          </a:p>
          <a:p>
            <a:endParaRPr lang="zh-TW" altLang="en-US">
              <a:latin typeface="Arial" panose="020B0604020202020204" pitchFamily="34" charset="0"/>
              <a:ea typeface="新細明體" panose="02020500000000000000" pitchFamily="18" charset="-12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177934D2-5F73-2D61-3724-B2DEDA7A9D54}"/>
              </a:ext>
            </a:extLst>
          </p:cNvPr>
          <p:cNvSpPr>
            <a:spLocks noGrp="1" noRot="1" noChangeAspect="1" noChangeArrowheads="1" noTextEdit="1"/>
          </p:cNvSpPr>
          <p:nvPr>
            <p:ph type="sldImg"/>
          </p:nvPr>
        </p:nvSpPr>
        <p:spPr>
          <a:xfrm>
            <a:off x="554038" y="523875"/>
            <a:ext cx="5775325" cy="3249613"/>
          </a:xfrm>
          <a:ln/>
        </p:spPr>
      </p:sp>
      <p:sp>
        <p:nvSpPr>
          <p:cNvPr id="101379" name="Rectangle 3">
            <a:extLst>
              <a:ext uri="{FF2B5EF4-FFF2-40B4-BE49-F238E27FC236}">
                <a16:creationId xmlns:a16="http://schemas.microsoft.com/office/drawing/2014/main" id="{4F63F356-EADF-8E69-190D-72370534724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a:t>Benefits of a Web Proxy Server</a:t>
            </a:r>
          </a:p>
          <a:p>
            <a:pPr>
              <a:buFont typeface="+mj-lt"/>
              <a:buAutoNum type="arabicPeriod"/>
            </a:pPr>
            <a:r>
              <a:rPr lang="en-US" b="1" dirty="0"/>
              <a:t>Privacy</a:t>
            </a:r>
            <a:r>
              <a:rPr lang="en-US" dirty="0"/>
              <a:t>:</a:t>
            </a:r>
          </a:p>
          <a:p>
            <a:pPr marL="742950" lvl="1" indent="-285750">
              <a:buFont typeface="+mj-lt"/>
              <a:buAutoNum type="arabicPeriod"/>
            </a:pPr>
            <a:r>
              <a:rPr lang="en-US" dirty="0"/>
              <a:t>Masks the client’s IP address and hides browsing activities.</a:t>
            </a:r>
          </a:p>
          <a:p>
            <a:pPr>
              <a:buFont typeface="+mj-lt"/>
              <a:buAutoNum type="arabicPeriod"/>
            </a:pPr>
            <a:r>
              <a:rPr lang="en-US" b="1" dirty="0"/>
              <a:t>Security</a:t>
            </a:r>
            <a:r>
              <a:rPr lang="en-US" dirty="0"/>
              <a:t>:</a:t>
            </a:r>
          </a:p>
          <a:p>
            <a:pPr marL="742950" lvl="1" indent="-285750">
              <a:buFont typeface="+mj-lt"/>
              <a:buAutoNum type="arabicPeriod"/>
            </a:pPr>
            <a:r>
              <a:rPr lang="en-US" dirty="0"/>
              <a:t>Filters malicious traffic and adds an additional layer of security.</a:t>
            </a:r>
          </a:p>
          <a:p>
            <a:pPr>
              <a:buFont typeface="+mj-lt"/>
              <a:buAutoNum type="arabicPeriod"/>
            </a:pPr>
            <a:r>
              <a:rPr lang="en-US" b="1" dirty="0"/>
              <a:t>Caching</a:t>
            </a:r>
            <a:r>
              <a:rPr lang="en-US" dirty="0"/>
              <a:t>:</a:t>
            </a:r>
          </a:p>
          <a:p>
            <a:pPr marL="742950" lvl="1" indent="-285750">
              <a:buFont typeface="+mj-lt"/>
              <a:buAutoNum type="arabicPeriod"/>
            </a:pPr>
            <a:r>
              <a:rPr lang="en-US" dirty="0"/>
              <a:t>Stores frequently accessed resources to improve response times and reduce bandwidth usage.</a:t>
            </a:r>
          </a:p>
          <a:p>
            <a:pPr>
              <a:buFont typeface="+mj-lt"/>
              <a:buAutoNum type="arabicPeriod"/>
            </a:pPr>
            <a:r>
              <a:rPr lang="en-US" b="1" dirty="0"/>
              <a:t>Content Filtering</a:t>
            </a:r>
            <a:r>
              <a:rPr lang="en-US" dirty="0"/>
              <a:t>:</a:t>
            </a:r>
          </a:p>
          <a:p>
            <a:pPr marL="742950" lvl="1" indent="-285750">
              <a:buFont typeface="+mj-lt"/>
              <a:buAutoNum type="arabicPeriod"/>
            </a:pPr>
            <a:r>
              <a:rPr lang="en-US" dirty="0"/>
              <a:t>Blocks inappropriate or restricted content (e.g., in schools or workplaces).</a:t>
            </a:r>
          </a:p>
          <a:p>
            <a:pPr>
              <a:buFont typeface="+mj-lt"/>
              <a:buAutoNum type="arabicPeriod"/>
            </a:pPr>
            <a:r>
              <a:rPr lang="en-US" b="1" dirty="0"/>
              <a:t>Access Control</a:t>
            </a:r>
            <a:r>
              <a:rPr lang="en-US" dirty="0"/>
              <a:t>:</a:t>
            </a:r>
          </a:p>
          <a:p>
            <a:pPr marL="742950" lvl="1" indent="-285750">
              <a:buFont typeface="+mj-lt"/>
              <a:buAutoNum type="arabicPeriod"/>
            </a:pPr>
            <a:r>
              <a:rPr lang="en-US" dirty="0"/>
              <a:t>Restricts access to certain websites or services based on rules.</a:t>
            </a:r>
          </a:p>
          <a:p>
            <a:pPr>
              <a:buFont typeface="+mj-lt"/>
              <a:buAutoNum type="arabicPeriod"/>
            </a:pPr>
            <a:r>
              <a:rPr lang="en-US" b="1" dirty="0"/>
              <a:t>Load Balancing</a:t>
            </a:r>
            <a:r>
              <a:rPr lang="en-US" dirty="0"/>
              <a:t>:</a:t>
            </a:r>
          </a:p>
          <a:p>
            <a:pPr marL="742950" lvl="1" indent="-285750">
              <a:buFont typeface="+mj-lt"/>
              <a:buAutoNum type="arabicPeriod"/>
            </a:pPr>
            <a:r>
              <a:rPr lang="en-US" dirty="0"/>
              <a:t>Distributes client requests across multiple servers to ensure availability.</a:t>
            </a:r>
          </a:p>
          <a:p>
            <a:endParaRPr lang="zh-TW" altLang="en-US" dirty="0">
              <a:latin typeface="Arial" panose="020B0604020202020204" pitchFamily="34" charset="0"/>
              <a:ea typeface="新細明體" panose="02020500000000000000" pitchFamily="18" charset="-12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32F32D02-89FD-085F-621E-26786318E96E}"/>
              </a:ext>
            </a:extLst>
          </p:cNvPr>
          <p:cNvSpPr>
            <a:spLocks noGrp="1" noRot="1" noChangeAspect="1" noChangeArrowheads="1" noTextEdit="1"/>
          </p:cNvSpPr>
          <p:nvPr>
            <p:ph type="sldImg"/>
          </p:nvPr>
        </p:nvSpPr>
        <p:spPr>
          <a:xfrm>
            <a:off x="554038" y="523875"/>
            <a:ext cx="5775325" cy="3249613"/>
          </a:xfrm>
          <a:ln/>
        </p:spPr>
      </p:sp>
      <p:sp>
        <p:nvSpPr>
          <p:cNvPr id="103427" name="Rectangle 3">
            <a:extLst>
              <a:ext uri="{FF2B5EF4-FFF2-40B4-BE49-F238E27FC236}">
                <a16:creationId xmlns:a16="http://schemas.microsoft.com/office/drawing/2014/main" id="{238936AA-BD9D-7597-7CEB-4043D5B6FF6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latin typeface="Arial" panose="020B0604020202020204" pitchFamily="34" charset="0"/>
              <a:ea typeface="新細明體" panose="02020500000000000000" pitchFamily="18" charset="-12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BDC785F3-EE96-0084-9E4D-5E81D93432B7}"/>
              </a:ext>
            </a:extLst>
          </p:cNvPr>
          <p:cNvSpPr>
            <a:spLocks noGrp="1" noRot="1" noChangeAspect="1" noChangeArrowheads="1" noTextEdit="1"/>
          </p:cNvSpPr>
          <p:nvPr>
            <p:ph type="sldImg"/>
          </p:nvPr>
        </p:nvSpPr>
        <p:spPr>
          <a:xfrm>
            <a:off x="554038" y="523875"/>
            <a:ext cx="5775325" cy="3249613"/>
          </a:xfrm>
          <a:ln/>
        </p:spPr>
      </p:sp>
      <p:sp>
        <p:nvSpPr>
          <p:cNvPr id="105475" name="Rectangle 3">
            <a:extLst>
              <a:ext uri="{FF2B5EF4-FFF2-40B4-BE49-F238E27FC236}">
                <a16:creationId xmlns:a16="http://schemas.microsoft.com/office/drawing/2014/main" id="{0A13E6ED-3A6C-7282-0F50-27D31588E0A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latin typeface="Arial" panose="020B0604020202020204" pitchFamily="34" charset="0"/>
              <a:ea typeface="新細明體" panose="02020500000000000000" pitchFamily="18" charset="-12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1125"/>
              </a:spcAft>
            </a:pPr>
            <a:r>
              <a:rPr lang="en-US" b="0" i="0" dirty="0">
                <a:solidFill>
                  <a:srgbClr val="111111"/>
                </a:solidFill>
                <a:effectLst/>
                <a:latin typeface="-apple-system"/>
              </a:rPr>
              <a:t>The high-level talking points for this analogy were:</a:t>
            </a:r>
          </a:p>
          <a:p>
            <a:pPr algn="l">
              <a:spcAft>
                <a:spcPts val="1125"/>
              </a:spcAft>
              <a:buFont typeface="Arial" panose="020B0604020202020204" pitchFamily="34" charset="0"/>
              <a:buChar char="•"/>
            </a:pPr>
            <a:r>
              <a:rPr lang="en-US" b="0" i="0" dirty="0">
                <a:solidFill>
                  <a:srgbClr val="111111"/>
                </a:solidFill>
                <a:effectLst/>
                <a:latin typeface="-apple-system"/>
              </a:rPr>
              <a:t>On-premises: is like owning your cars - you can go anywhere you want at anytime (full </a:t>
            </a:r>
            <a:r>
              <a:rPr lang="en-US" b="1" i="0" dirty="0">
                <a:solidFill>
                  <a:srgbClr val="111111"/>
                </a:solidFill>
                <a:effectLst/>
                <a:latin typeface="-apple-system"/>
              </a:rPr>
              <a:t>control</a:t>
            </a:r>
            <a:r>
              <a:rPr lang="en-US" b="0" i="0" dirty="0">
                <a:solidFill>
                  <a:srgbClr val="111111"/>
                </a:solidFill>
                <a:effectLst/>
                <a:latin typeface="-apple-system"/>
              </a:rPr>
              <a:t>), in a car make/model/color/trim of your choice, but you own the car and you’re responsible for its maintenance</a:t>
            </a:r>
          </a:p>
          <a:p>
            <a:pPr algn="l">
              <a:spcAft>
                <a:spcPts val="1125"/>
              </a:spcAft>
              <a:buFont typeface="Arial" panose="020B0604020202020204" pitchFamily="34" charset="0"/>
              <a:buChar char="•"/>
            </a:pPr>
            <a:r>
              <a:rPr lang="en-US" b="0" i="0" dirty="0">
                <a:solidFill>
                  <a:srgbClr val="111111"/>
                </a:solidFill>
                <a:effectLst/>
                <a:latin typeface="-apple-system"/>
              </a:rPr>
              <a:t>IaaS: is like a car rental service - you still can go anywhere you want at anytime, with some limits in car choices, but you don’t have to maintain the vehicles; just take the keys and go</a:t>
            </a:r>
          </a:p>
          <a:p>
            <a:pPr algn="l">
              <a:spcAft>
                <a:spcPts val="1125"/>
              </a:spcAft>
              <a:buFont typeface="Arial" panose="020B0604020202020204" pitchFamily="34" charset="0"/>
              <a:buChar char="•"/>
            </a:pPr>
            <a:r>
              <a:rPr lang="en-US" b="0" i="0" dirty="0">
                <a:solidFill>
                  <a:srgbClr val="111111"/>
                </a:solidFill>
                <a:effectLst/>
                <a:latin typeface="-apple-system"/>
              </a:rPr>
              <a:t>PaaS: is like public transportation - you can go to places as defined/limited by available routes and schedules, but it’s easy to use and pay-per-use (full </a:t>
            </a:r>
            <a:r>
              <a:rPr lang="en-US" b="1" i="0" dirty="0">
                <a:solidFill>
                  <a:srgbClr val="111111"/>
                </a:solidFill>
                <a:effectLst/>
                <a:latin typeface="-apple-system"/>
              </a:rPr>
              <a:t>economies of scale</a:t>
            </a:r>
            <a:r>
              <a:rPr lang="en-US" b="0" i="0" dirty="0">
                <a:solidFill>
                  <a:srgbClr val="111111"/>
                </a:solidFill>
                <a:effectLst/>
                <a:latin typeface="-apple-system"/>
              </a:rPr>
              <a:t>)</a:t>
            </a:r>
          </a:p>
          <a:p>
            <a:endParaRPr lang="en-US" dirty="0"/>
          </a:p>
        </p:txBody>
      </p:sp>
      <p:sp>
        <p:nvSpPr>
          <p:cNvPr id="4" name="Slide Number Placeholder 3"/>
          <p:cNvSpPr>
            <a:spLocks noGrp="1"/>
          </p:cNvSpPr>
          <p:nvPr>
            <p:ph type="sldNum" sz="quarter" idx="5"/>
          </p:nvPr>
        </p:nvSpPr>
        <p:spPr/>
        <p:txBody>
          <a:bodyPr/>
          <a:lstStyle/>
          <a:p>
            <a:fld id="{0F389035-DC72-45E4-919D-DAAFB051F377}" type="slidenum">
              <a:rPr lang="en-US" smtClean="0"/>
              <a:t>24</a:t>
            </a:fld>
            <a:endParaRPr lang="en-US"/>
          </a:p>
        </p:txBody>
      </p:sp>
    </p:spTree>
    <p:extLst>
      <p:ext uri="{BB962C8B-B14F-4D97-AF65-F5344CB8AC3E}">
        <p14:creationId xmlns:p14="http://schemas.microsoft.com/office/powerpoint/2010/main" val="2225940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202729"/>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800" b="0" i="0">
                <a:solidFill>
                  <a:srgbClr val="61616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202729"/>
                </a:solidFill>
                <a:latin typeface="Trebuchet MS"/>
                <a:cs typeface="Trebuchet MS"/>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202729"/>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63D197"/>
          </a:solidFill>
        </p:spPr>
        <p:txBody>
          <a:bodyPr wrap="square" lIns="0" tIns="0" rIns="0" bIns="0" rtlCol="0"/>
          <a:lstStyle/>
          <a:p>
            <a:endParaRPr/>
          </a:p>
        </p:txBody>
      </p:sp>
      <p:sp>
        <p:nvSpPr>
          <p:cNvPr id="2" name="Holder 2"/>
          <p:cNvSpPr>
            <a:spLocks noGrp="1"/>
          </p:cNvSpPr>
          <p:nvPr>
            <p:ph type="title"/>
          </p:nvPr>
        </p:nvSpPr>
        <p:spPr>
          <a:xfrm>
            <a:off x="384725" y="503825"/>
            <a:ext cx="3011804" cy="452119"/>
          </a:xfrm>
          <a:prstGeom prst="rect">
            <a:avLst/>
          </a:prstGeom>
        </p:spPr>
        <p:txBody>
          <a:bodyPr wrap="square" lIns="0" tIns="0" rIns="0" bIns="0">
            <a:spAutoFit/>
          </a:bodyPr>
          <a:lstStyle>
            <a:lvl1pPr>
              <a:defRPr sz="2800" b="0" i="0">
                <a:solidFill>
                  <a:srgbClr val="202729"/>
                </a:solidFill>
                <a:latin typeface="Trebuchet MS"/>
                <a:cs typeface="Trebuchet MS"/>
              </a:defRPr>
            </a:lvl1pPr>
          </a:lstStyle>
          <a:p>
            <a:endParaRPr/>
          </a:p>
        </p:txBody>
      </p:sp>
      <p:sp>
        <p:nvSpPr>
          <p:cNvPr id="3" name="Holder 3"/>
          <p:cNvSpPr>
            <a:spLocks noGrp="1"/>
          </p:cNvSpPr>
          <p:nvPr>
            <p:ph type="body" idx="1"/>
          </p:nvPr>
        </p:nvSpPr>
        <p:spPr>
          <a:xfrm>
            <a:off x="475249" y="946351"/>
            <a:ext cx="8138159" cy="3302000"/>
          </a:xfrm>
          <a:prstGeom prst="rect">
            <a:avLst/>
          </a:prstGeom>
        </p:spPr>
        <p:txBody>
          <a:bodyPr wrap="square" lIns="0" tIns="0" rIns="0" bIns="0">
            <a:spAutoFit/>
          </a:bodyPr>
          <a:lstStyle>
            <a:lvl1pPr>
              <a:defRPr sz="1800" b="0" i="0">
                <a:solidFill>
                  <a:srgbClr val="616161"/>
                </a:solidFill>
                <a:latin typeface="Verdana"/>
                <a:cs typeface="Verdana"/>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1/4/2025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slide" Target="slide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slide" Target="slide45.xml"/><Relationship Id="rId3" Type="http://schemas.openxmlformats.org/officeDocument/2006/relationships/slide" Target="slide17.xml"/><Relationship Id="rId7" Type="http://schemas.openxmlformats.org/officeDocument/2006/relationships/slide" Target="slide1.xml"/><Relationship Id="rId2" Type="http://schemas.openxmlformats.org/officeDocument/2006/relationships/slide" Target="slide16.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slide" Target="slide18.xml"/><Relationship Id="rId4" Type="http://schemas.openxmlformats.org/officeDocument/2006/relationships/slide" Target="slide15.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hyperlink" Target="http://nvlpubs.nist.gov/nistpubs/Legacy/SP/nistspecialpublication800-145.pdf"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hyperlink" Target="https://www.statista.com/statistics/253577/number-of-monthly-active-instagram-users/" TargetMode="Externa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2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jp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hyperlink" Target="http://nvlpubs.nist.gov/nistpubs/Legacy/SP/nistspecialpublication800-145.pdf"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jp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hyperlink" Target="http://nvlpubs.nist.gov/nistpubs/Legacy/SP/nistspecialpublication800-145.pdf"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45.jpg"/><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image" Target="../media/image40.jp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10" Type="http://schemas.openxmlformats.org/officeDocument/2006/relationships/slide" Target="slide37.xml"/><Relationship Id="rId4" Type="http://schemas.openxmlformats.org/officeDocument/2006/relationships/image" Target="../media/image10.png"/><Relationship Id="rId9" Type="http://schemas.openxmlformats.org/officeDocument/2006/relationships/slide" Target="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202729"/>
          </a:solidFill>
        </p:spPr>
        <p:txBody>
          <a:bodyPr wrap="square" lIns="0" tIns="0" rIns="0" bIns="0" rtlCol="0"/>
          <a:lstStyle/>
          <a:p>
            <a:endParaRPr/>
          </a:p>
        </p:txBody>
      </p:sp>
      <p:sp>
        <p:nvSpPr>
          <p:cNvPr id="3" name="object 3"/>
          <p:cNvSpPr/>
          <p:nvPr/>
        </p:nvSpPr>
        <p:spPr>
          <a:xfrm>
            <a:off x="0" y="2998149"/>
            <a:ext cx="9144000" cy="0"/>
          </a:xfrm>
          <a:custGeom>
            <a:avLst/>
            <a:gdLst/>
            <a:ahLst/>
            <a:cxnLst/>
            <a:rect l="l" t="t" r="r" b="b"/>
            <a:pathLst>
              <a:path w="9144000">
                <a:moveTo>
                  <a:pt x="0" y="0"/>
                </a:moveTo>
                <a:lnTo>
                  <a:pt x="9143999" y="0"/>
                </a:lnTo>
              </a:path>
            </a:pathLst>
          </a:custGeom>
          <a:ln w="19049">
            <a:solidFill>
              <a:srgbClr val="63D197"/>
            </a:solidFill>
          </a:ln>
        </p:spPr>
        <p:txBody>
          <a:bodyPr wrap="square" lIns="0" tIns="0" rIns="0" bIns="0" rtlCol="0"/>
          <a:lstStyle/>
          <a:p>
            <a:endParaRPr/>
          </a:p>
        </p:txBody>
      </p:sp>
      <p:sp>
        <p:nvSpPr>
          <p:cNvPr id="4" name="object 4"/>
          <p:cNvSpPr txBox="1">
            <a:spLocks noGrp="1"/>
          </p:cNvSpPr>
          <p:nvPr>
            <p:ph type="title"/>
          </p:nvPr>
        </p:nvSpPr>
        <p:spPr>
          <a:xfrm>
            <a:off x="583474" y="1532366"/>
            <a:ext cx="8560526" cy="1490152"/>
          </a:xfrm>
          <a:prstGeom prst="rect">
            <a:avLst/>
          </a:prstGeom>
        </p:spPr>
        <p:txBody>
          <a:bodyPr vert="horz" wrap="square" lIns="0" tIns="12700" rIns="0" bIns="0" rtlCol="0">
            <a:spAutoFit/>
          </a:bodyPr>
          <a:lstStyle/>
          <a:p>
            <a:pPr marL="12700">
              <a:lnSpc>
                <a:spcPct val="100000"/>
              </a:lnSpc>
              <a:spcBef>
                <a:spcPts val="100"/>
              </a:spcBef>
            </a:pPr>
            <a:r>
              <a:rPr lang="en-US" sz="4800" spc="-145" dirty="0">
                <a:solidFill>
                  <a:srgbClr val="FFFFFF"/>
                </a:solidFill>
              </a:rPr>
              <a:t>Models for Distributed Systems &amp; Cloud Computing</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a:extLst>
              <a:ext uri="{FF2B5EF4-FFF2-40B4-BE49-F238E27FC236}">
                <a16:creationId xmlns:a16="http://schemas.microsoft.com/office/drawing/2014/main" id="{DE88C0DC-8BA0-DE2E-73D0-03425A12D953}"/>
              </a:ext>
            </a:extLst>
          </p:cNvPr>
          <p:cNvSpPr>
            <a:spLocks noGrp="1"/>
          </p:cNvSpPr>
          <p:nvPr>
            <p:ph sz="quarter" idx="1"/>
          </p:nvPr>
        </p:nvSpPr>
        <p:spPr>
          <a:xfrm>
            <a:off x="762000" y="1163369"/>
            <a:ext cx="6067425" cy="2585323"/>
          </a:xfrm>
        </p:spPr>
        <p:txBody>
          <a:bodyPr/>
          <a:lstStyle/>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Client-Server</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Peer-to-Peer</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Services provided by multiple servers</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Proxy servers and caches</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Mobile code and mobile agents</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Thin clients and mobile devices</a:t>
            </a:r>
          </a:p>
          <a:p>
            <a:pPr marL="457200" indent="-457200" eaLnBrk="1" hangingPunct="1">
              <a:buFont typeface="+mj-lt"/>
              <a:buAutoNum type="arabicPeriod"/>
            </a:pPr>
            <a:r>
              <a:rPr lang="en-US" altLang="zh-TW" sz="2400" dirty="0">
                <a:latin typeface="Trebuchet MS" panose="020B0603020202020204" pitchFamily="34" charset="0"/>
                <a:ea typeface="新細明體" panose="02020500000000000000" pitchFamily="18" charset="-120"/>
              </a:rPr>
              <a:t>Event Driven </a:t>
            </a:r>
            <a:r>
              <a:rPr lang="en-US" altLang="zh-TW" sz="2400" dirty="0" err="1">
                <a:latin typeface="Trebuchet MS" panose="020B0603020202020204" pitchFamily="34" charset="0"/>
                <a:ea typeface="新細明體" panose="02020500000000000000" pitchFamily="18" charset="-120"/>
              </a:rPr>
              <a:t>Architechture</a:t>
            </a:r>
            <a:endParaRPr lang="en-US" altLang="zh-TW" sz="2400" dirty="0">
              <a:latin typeface="Trebuchet MS" panose="020B0603020202020204" pitchFamily="34" charset="0"/>
              <a:ea typeface="新細明體" panose="02020500000000000000" pitchFamily="18" charset="-120"/>
            </a:endParaRPr>
          </a:p>
        </p:txBody>
      </p:sp>
      <p:sp>
        <p:nvSpPr>
          <p:cNvPr id="92164" name="Slide Number Placeholder 3">
            <a:extLst>
              <a:ext uri="{FF2B5EF4-FFF2-40B4-BE49-F238E27FC236}">
                <a16:creationId xmlns:a16="http://schemas.microsoft.com/office/drawing/2014/main" id="{3A6D07D0-6903-E11E-BC8E-A9A6520A81C1}"/>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pPr>
              <a:defRPr/>
            </a:pPr>
            <a:fld id="{981FBA63-BEDF-4675-BE83-D9734C786EA0}" type="slidenum">
              <a:rPr lang="en-US" altLang="en-US" smtClean="0"/>
              <a:pPr>
                <a:defRPr/>
              </a:pPr>
              <a:t>2</a:t>
            </a:fld>
            <a:endParaRPr lang="en-US" altLang="en-US" sz="1050">
              <a:solidFill>
                <a:srgbClr val="FFFFFF"/>
              </a:solidFill>
            </a:endParaRPr>
          </a:p>
        </p:txBody>
      </p:sp>
      <p:sp>
        <p:nvSpPr>
          <p:cNvPr id="4" name="Title 3">
            <a:extLst>
              <a:ext uri="{FF2B5EF4-FFF2-40B4-BE49-F238E27FC236}">
                <a16:creationId xmlns:a16="http://schemas.microsoft.com/office/drawing/2014/main" id="{1D6E1CC7-1446-C291-B30D-52C879425EAD}"/>
              </a:ext>
            </a:extLst>
          </p:cNvPr>
          <p:cNvSpPr>
            <a:spLocks noGrp="1"/>
          </p:cNvSpPr>
          <p:nvPr>
            <p:ph type="title"/>
          </p:nvPr>
        </p:nvSpPr>
        <p:spPr>
          <a:xfrm>
            <a:off x="384724" y="503825"/>
            <a:ext cx="5711275" cy="1292662"/>
          </a:xfrm>
        </p:spPr>
        <p:txBody>
          <a:bodyPr/>
          <a:lstStyle/>
          <a:p>
            <a:r>
              <a:rPr lang="en-US" b="1" dirty="0"/>
              <a:t>Distributed System Models</a:t>
            </a:r>
            <a:br>
              <a:rPr lang="en-US" b="1" dirty="0"/>
            </a:br>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1" name="Picture 3">
            <a:extLst>
              <a:ext uri="{FF2B5EF4-FFF2-40B4-BE49-F238E27FC236}">
                <a16:creationId xmlns:a16="http://schemas.microsoft.com/office/drawing/2014/main" id="{5CB8B720-E3F6-4328-EA6F-2CADD597FB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895350"/>
            <a:ext cx="6480572" cy="2336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2" name="Slide Number Placeholder 3">
            <a:extLst>
              <a:ext uri="{FF2B5EF4-FFF2-40B4-BE49-F238E27FC236}">
                <a16:creationId xmlns:a16="http://schemas.microsoft.com/office/drawing/2014/main" id="{52D35B17-B30A-74C6-5629-660313D7BBA0}"/>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pPr>
              <a:defRPr/>
            </a:pPr>
            <a:fld id="{2BEFF210-52A1-4C6D-AF58-656C53A082CF}" type="slidenum">
              <a:rPr lang="en-US" altLang="en-US" smtClean="0"/>
              <a:pPr>
                <a:defRPr/>
              </a:pPr>
              <a:t>3</a:t>
            </a:fld>
            <a:endParaRPr lang="en-US" altLang="en-US" sz="1050">
              <a:solidFill>
                <a:srgbClr val="FFFFFF"/>
              </a:solidFill>
            </a:endParaRPr>
          </a:p>
        </p:txBody>
      </p:sp>
      <p:sp>
        <p:nvSpPr>
          <p:cNvPr id="2" name="object 2">
            <a:extLst>
              <a:ext uri="{FF2B5EF4-FFF2-40B4-BE49-F238E27FC236}">
                <a16:creationId xmlns:a16="http://schemas.microsoft.com/office/drawing/2014/main" id="{B25D056E-A260-85ED-9C3F-327A1374D3A9}"/>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1. Client-Server Model:</a:t>
            </a:r>
            <a:endParaRPr lang="en-US" sz="2800" kern="0" dirty="0"/>
          </a:p>
        </p:txBody>
      </p:sp>
      <p:sp>
        <p:nvSpPr>
          <p:cNvPr id="3" name="object 26">
            <a:extLst>
              <a:ext uri="{FF2B5EF4-FFF2-40B4-BE49-F238E27FC236}">
                <a16:creationId xmlns:a16="http://schemas.microsoft.com/office/drawing/2014/main" id="{8CBC2948-16A2-2ACC-5CB9-57C25F3389C6}"/>
              </a:ext>
            </a:extLst>
          </p:cNvPr>
          <p:cNvSpPr txBox="1"/>
          <p:nvPr/>
        </p:nvSpPr>
        <p:spPr>
          <a:xfrm>
            <a:off x="940016" y="3360566"/>
            <a:ext cx="7594383" cy="584928"/>
          </a:xfrm>
          <a:prstGeom prst="rect">
            <a:avLst/>
          </a:prstGeom>
        </p:spPr>
        <p:txBody>
          <a:bodyPr vert="horz" wrap="square" lIns="0" tIns="17931" rIns="0" bIns="0" rtlCol="0">
            <a:spAutoFit/>
          </a:bodyPr>
          <a:lstStyle/>
          <a:p>
            <a:pPr marL="304625" marR="7550" indent="-285750">
              <a:spcBef>
                <a:spcPts val="141"/>
              </a:spcBef>
              <a:buFont typeface="Arial" panose="020B0604020202020204" pitchFamily="34" charset="0"/>
              <a:buChar char="•"/>
            </a:pPr>
            <a:r>
              <a:rPr lang="en-US" dirty="0">
                <a:latin typeface="Trebuchet MS" panose="020B0603020202020204" pitchFamily="34" charset="0"/>
                <a:cs typeface="Arial MT"/>
              </a:rPr>
              <a:t>Clients request services, servers provide them. </a:t>
            </a:r>
          </a:p>
          <a:p>
            <a:pPr marL="304625" marR="7550" indent="-285750">
              <a:spcBef>
                <a:spcPts val="141"/>
              </a:spcBef>
              <a:buFont typeface="Arial" panose="020B0604020202020204" pitchFamily="34" charset="0"/>
              <a:buChar char="•"/>
            </a:pPr>
            <a:r>
              <a:rPr lang="en-US" dirty="0">
                <a:latin typeface="Trebuchet MS" panose="020B0603020202020204" pitchFamily="34" charset="0"/>
                <a:cs typeface="Arial MT"/>
              </a:rPr>
              <a:t>Examples: Web applications, database servers.</a:t>
            </a:r>
            <a:endParaRPr dirty="0">
              <a:latin typeface="Trebuchet MS" panose="020B0603020202020204" pitchFamily="34" charset="0"/>
              <a:cs typeface="Arial MT"/>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9" name="Picture 4">
            <a:extLst>
              <a:ext uri="{FF2B5EF4-FFF2-40B4-BE49-F238E27FC236}">
                <a16:creationId xmlns:a16="http://schemas.microsoft.com/office/drawing/2014/main" id="{D918F2EA-B200-D508-90F5-F3ED9EE9F57F}"/>
              </a:ext>
            </a:extLst>
          </p:cNvPr>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609600" y="666750"/>
            <a:ext cx="5143500" cy="4064794"/>
          </a:xfrm>
          <a:noFill/>
        </p:spPr>
      </p:pic>
      <p:sp>
        <p:nvSpPr>
          <p:cNvPr id="96260" name="Slide Number Placeholder 3">
            <a:extLst>
              <a:ext uri="{FF2B5EF4-FFF2-40B4-BE49-F238E27FC236}">
                <a16:creationId xmlns:a16="http://schemas.microsoft.com/office/drawing/2014/main" id="{9F79F5D8-F391-237E-073F-011ED33EBB9B}"/>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pPr>
              <a:defRPr/>
            </a:pPr>
            <a:fld id="{981FBA63-BEDF-4675-BE83-D9734C786EA0}" type="slidenum">
              <a:rPr lang="en-US" altLang="en-US" smtClean="0"/>
              <a:pPr>
                <a:defRPr/>
              </a:pPr>
              <a:t>4</a:t>
            </a:fld>
            <a:endParaRPr lang="en-US" altLang="en-US" sz="1050">
              <a:solidFill>
                <a:srgbClr val="FFFFFF"/>
              </a:solidFill>
            </a:endParaRPr>
          </a:p>
        </p:txBody>
      </p:sp>
      <p:sp>
        <p:nvSpPr>
          <p:cNvPr id="2" name="object 2">
            <a:extLst>
              <a:ext uri="{FF2B5EF4-FFF2-40B4-BE49-F238E27FC236}">
                <a16:creationId xmlns:a16="http://schemas.microsoft.com/office/drawing/2014/main" id="{C05AC2C6-1476-6C6A-E3B6-C8B4B91E4037}"/>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2. Peer-to-peer Systems</a:t>
            </a:r>
            <a:endParaRPr lang="en-US" sz="2800" kern="0" dirty="0"/>
          </a:p>
        </p:txBody>
      </p:sp>
      <p:sp>
        <p:nvSpPr>
          <p:cNvPr id="3" name="object 26">
            <a:extLst>
              <a:ext uri="{FF2B5EF4-FFF2-40B4-BE49-F238E27FC236}">
                <a16:creationId xmlns:a16="http://schemas.microsoft.com/office/drawing/2014/main" id="{C403F001-80D6-9ADB-EDEA-52C4408DA43B}"/>
              </a:ext>
            </a:extLst>
          </p:cNvPr>
          <p:cNvSpPr txBox="1"/>
          <p:nvPr/>
        </p:nvSpPr>
        <p:spPr>
          <a:xfrm>
            <a:off x="6096000" y="438150"/>
            <a:ext cx="2895600" cy="1138926"/>
          </a:xfrm>
          <a:prstGeom prst="rect">
            <a:avLst/>
          </a:prstGeom>
        </p:spPr>
        <p:txBody>
          <a:bodyPr vert="horz" wrap="square" lIns="0" tIns="17931" rIns="0" bIns="0" rtlCol="0">
            <a:spAutoFit/>
          </a:bodyPr>
          <a:lstStyle/>
          <a:p>
            <a:pPr marL="304625" marR="7550" indent="-285750">
              <a:spcBef>
                <a:spcPts val="141"/>
              </a:spcBef>
              <a:buFont typeface="Arial" panose="020B0604020202020204" pitchFamily="34" charset="0"/>
              <a:buChar char="•"/>
            </a:pPr>
            <a:r>
              <a:rPr lang="en-US" dirty="0">
                <a:latin typeface="Trebuchet MS" panose="020B0603020202020204" pitchFamily="34" charset="0"/>
                <a:cs typeface="Arial MT"/>
              </a:rPr>
              <a:t>All nodes are equal and share resources directly. </a:t>
            </a:r>
          </a:p>
          <a:p>
            <a:pPr marL="304625" marR="7550" indent="-285750">
              <a:spcBef>
                <a:spcPts val="141"/>
              </a:spcBef>
              <a:buFont typeface="Arial" panose="020B0604020202020204" pitchFamily="34" charset="0"/>
              <a:buChar char="•"/>
            </a:pPr>
            <a:r>
              <a:rPr lang="en-US" dirty="0">
                <a:latin typeface="Trebuchet MS" panose="020B0603020202020204" pitchFamily="34" charset="0"/>
                <a:cs typeface="Arial MT"/>
              </a:rPr>
              <a:t>Examples: BitTorrent, blockchain.</a:t>
            </a:r>
            <a:endParaRPr dirty="0">
              <a:latin typeface="Trebuchet MS" panose="020B0603020202020204" pitchFamily="34" charset="0"/>
              <a:cs typeface="Arial MT"/>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7" name="Picture 3">
            <a:extLst>
              <a:ext uri="{FF2B5EF4-FFF2-40B4-BE49-F238E27FC236}">
                <a16:creationId xmlns:a16="http://schemas.microsoft.com/office/drawing/2014/main" id="{02AA0DD4-DACE-2E28-04BF-4599DEE9D6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582" y="742950"/>
            <a:ext cx="5286801" cy="3793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8" name="Slide Number Placeholder 3">
            <a:extLst>
              <a:ext uri="{FF2B5EF4-FFF2-40B4-BE49-F238E27FC236}">
                <a16:creationId xmlns:a16="http://schemas.microsoft.com/office/drawing/2014/main" id="{4DA8F4E1-CA59-A58D-73AD-768FBD2649B5}"/>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pPr>
              <a:defRPr/>
            </a:pPr>
            <a:fld id="{2BEFF210-52A1-4C6D-AF58-656C53A082CF}" type="slidenum">
              <a:rPr lang="en-US" altLang="en-US" smtClean="0"/>
              <a:pPr>
                <a:defRPr/>
              </a:pPr>
              <a:t>5</a:t>
            </a:fld>
            <a:endParaRPr lang="en-US" altLang="en-US" sz="1050">
              <a:solidFill>
                <a:srgbClr val="FFFFFF"/>
              </a:solidFill>
            </a:endParaRPr>
          </a:p>
        </p:txBody>
      </p:sp>
      <p:sp>
        <p:nvSpPr>
          <p:cNvPr id="2" name="object 2">
            <a:extLst>
              <a:ext uri="{FF2B5EF4-FFF2-40B4-BE49-F238E27FC236}">
                <a16:creationId xmlns:a16="http://schemas.microsoft.com/office/drawing/2014/main" id="{A8E461E7-54EF-14E3-EAA1-E5F57CAF38D8}"/>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3. A Service by Multiple Servers</a:t>
            </a:r>
            <a:endParaRPr lang="en-US" sz="2800" kern="0" dirty="0"/>
          </a:p>
        </p:txBody>
      </p:sp>
      <p:sp>
        <p:nvSpPr>
          <p:cNvPr id="3" name="object 26">
            <a:extLst>
              <a:ext uri="{FF2B5EF4-FFF2-40B4-BE49-F238E27FC236}">
                <a16:creationId xmlns:a16="http://schemas.microsoft.com/office/drawing/2014/main" id="{B5EC4FC0-6994-7E84-40D0-3A1C937EEA6F}"/>
              </a:ext>
            </a:extLst>
          </p:cNvPr>
          <p:cNvSpPr txBox="1"/>
          <p:nvPr/>
        </p:nvSpPr>
        <p:spPr>
          <a:xfrm>
            <a:off x="6096000" y="438150"/>
            <a:ext cx="2895600" cy="1415925"/>
          </a:xfrm>
          <a:prstGeom prst="rect">
            <a:avLst/>
          </a:prstGeom>
        </p:spPr>
        <p:txBody>
          <a:bodyPr vert="horz" wrap="square" lIns="0" tIns="17931" rIns="0" bIns="0" rtlCol="0">
            <a:spAutoFit/>
          </a:bodyPr>
          <a:lstStyle/>
          <a:p>
            <a:pPr marL="304625" marR="7550" indent="-285750">
              <a:spcBef>
                <a:spcPts val="141"/>
              </a:spcBef>
              <a:buFont typeface="Arial" panose="020B0604020202020204" pitchFamily="34" charset="0"/>
              <a:buChar char="•"/>
            </a:pPr>
            <a:r>
              <a:rPr lang="en-US" dirty="0">
                <a:latin typeface="Trebuchet MS" panose="020B0603020202020204" pitchFamily="34" charset="0"/>
                <a:cs typeface="Arial MT"/>
              </a:rPr>
              <a:t>Presentation tier, application tier, data tier. </a:t>
            </a:r>
          </a:p>
          <a:p>
            <a:pPr marL="304625" marR="7550" indent="-285750">
              <a:spcBef>
                <a:spcPts val="141"/>
              </a:spcBef>
              <a:buFont typeface="Arial" panose="020B0604020202020204" pitchFamily="34" charset="0"/>
              <a:buChar char="•"/>
            </a:pPr>
            <a:r>
              <a:rPr lang="en-US" dirty="0">
                <a:latin typeface="Trebuchet MS" panose="020B0603020202020204" pitchFamily="34" charset="0"/>
                <a:cs typeface="Arial MT"/>
              </a:rPr>
              <a:t>Widely used in web applications.</a:t>
            </a:r>
            <a:endParaRPr dirty="0">
              <a:latin typeface="Trebuchet MS" panose="020B0603020202020204" pitchFamily="34" charset="0"/>
              <a:cs typeface="Arial MT"/>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5" name="Picture 3">
            <a:extLst>
              <a:ext uri="{FF2B5EF4-FFF2-40B4-BE49-F238E27FC236}">
                <a16:creationId xmlns:a16="http://schemas.microsoft.com/office/drawing/2014/main" id="{D1CFACBD-DD47-6549-BD74-83E091F069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895350"/>
            <a:ext cx="6553200" cy="2050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Slide Number Placeholder 3">
            <a:extLst>
              <a:ext uri="{FF2B5EF4-FFF2-40B4-BE49-F238E27FC236}">
                <a16:creationId xmlns:a16="http://schemas.microsoft.com/office/drawing/2014/main" id="{A24F7A7E-8D57-D670-0937-E7A07DCEFE59}"/>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pPr>
              <a:defRPr/>
            </a:pPr>
            <a:fld id="{2BEFF210-52A1-4C6D-AF58-656C53A082CF}" type="slidenum">
              <a:rPr lang="en-US" altLang="en-US" smtClean="0"/>
              <a:pPr>
                <a:defRPr/>
              </a:pPr>
              <a:t>6</a:t>
            </a:fld>
            <a:endParaRPr lang="en-US" altLang="en-US" sz="1050">
              <a:solidFill>
                <a:srgbClr val="FFFFFF"/>
              </a:solidFill>
            </a:endParaRPr>
          </a:p>
        </p:txBody>
      </p:sp>
      <p:sp>
        <p:nvSpPr>
          <p:cNvPr id="2" name="object 2">
            <a:extLst>
              <a:ext uri="{FF2B5EF4-FFF2-40B4-BE49-F238E27FC236}">
                <a16:creationId xmlns:a16="http://schemas.microsoft.com/office/drawing/2014/main" id="{87BA4D21-655A-929B-8EFA-D103017671D2}"/>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4. Web Proxy Server</a:t>
            </a:r>
            <a:endParaRPr lang="en-US" sz="2800" kern="0" dirty="0"/>
          </a:p>
        </p:txBody>
      </p:sp>
      <p:sp>
        <p:nvSpPr>
          <p:cNvPr id="3" name="object 26">
            <a:extLst>
              <a:ext uri="{FF2B5EF4-FFF2-40B4-BE49-F238E27FC236}">
                <a16:creationId xmlns:a16="http://schemas.microsoft.com/office/drawing/2014/main" id="{A46B8201-B654-C224-3130-C60219CB77C9}"/>
              </a:ext>
            </a:extLst>
          </p:cNvPr>
          <p:cNvSpPr txBox="1"/>
          <p:nvPr/>
        </p:nvSpPr>
        <p:spPr>
          <a:xfrm>
            <a:off x="940016" y="3360566"/>
            <a:ext cx="7594383" cy="1403101"/>
          </a:xfrm>
          <a:prstGeom prst="rect">
            <a:avLst/>
          </a:prstGeom>
        </p:spPr>
        <p:txBody>
          <a:bodyPr vert="horz" wrap="square" lIns="0" tIns="17931" rIns="0" bIns="0" rtlCol="0">
            <a:spAutoFit/>
          </a:bodyPr>
          <a:lstStyle/>
          <a:p>
            <a:pPr marL="304625" marR="7550" indent="-285750">
              <a:spcBef>
                <a:spcPts val="141"/>
              </a:spcBef>
              <a:buFont typeface="Arial" panose="020B0604020202020204" pitchFamily="34" charset="0"/>
              <a:buChar char="•"/>
            </a:pPr>
            <a:r>
              <a:rPr lang="en-US" dirty="0">
                <a:latin typeface="Trebuchet MS" panose="020B0603020202020204" pitchFamily="34" charset="0"/>
                <a:cs typeface="Arial MT"/>
              </a:rPr>
              <a:t>A web proxy server is an intermediary server that sits between a client (e.g., a browser) and the internet. It processes client requests by forwarding them to the intended server and then returning the server's response to the client. Web proxies enhance privacy, security, and performance.</a:t>
            </a:r>
            <a:endParaRPr dirty="0">
              <a:latin typeface="Trebuchet MS" panose="020B0603020202020204" pitchFamily="34" charset="0"/>
              <a:cs typeface="Arial MT"/>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3" name="Picture 3">
            <a:extLst>
              <a:ext uri="{FF2B5EF4-FFF2-40B4-BE49-F238E27FC236}">
                <a16:creationId xmlns:a16="http://schemas.microsoft.com/office/drawing/2014/main" id="{878EB21E-90C2-4691-7B6C-D4BAB5A45C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819150"/>
            <a:ext cx="7411409" cy="3577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4" name="Slide Number Placeholder 3">
            <a:extLst>
              <a:ext uri="{FF2B5EF4-FFF2-40B4-BE49-F238E27FC236}">
                <a16:creationId xmlns:a16="http://schemas.microsoft.com/office/drawing/2014/main" id="{3DFD73C4-8D1C-AF65-A5BD-ACD2146E7BA1}"/>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pPr>
              <a:defRPr/>
            </a:pPr>
            <a:fld id="{2BEFF210-52A1-4C6D-AF58-656C53A082CF}" type="slidenum">
              <a:rPr lang="en-US" altLang="en-US" smtClean="0"/>
              <a:pPr>
                <a:defRPr/>
              </a:pPr>
              <a:t>7</a:t>
            </a:fld>
            <a:endParaRPr lang="en-US" altLang="en-US" sz="1050">
              <a:solidFill>
                <a:srgbClr val="FFFFFF"/>
              </a:solidFill>
            </a:endParaRPr>
          </a:p>
        </p:txBody>
      </p:sp>
      <p:sp>
        <p:nvSpPr>
          <p:cNvPr id="2" name="object 2">
            <a:extLst>
              <a:ext uri="{FF2B5EF4-FFF2-40B4-BE49-F238E27FC236}">
                <a16:creationId xmlns:a16="http://schemas.microsoft.com/office/drawing/2014/main" id="{75EDD5DA-8F44-CA4B-192D-B7538F28DA9A}"/>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5. Web Applets</a:t>
            </a:r>
            <a:endParaRPr lang="en-US" sz="2800" kern="0"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3">
            <a:extLst>
              <a:ext uri="{FF2B5EF4-FFF2-40B4-BE49-F238E27FC236}">
                <a16:creationId xmlns:a16="http://schemas.microsoft.com/office/drawing/2014/main" id="{D9691A4D-5666-4CC5-6DD5-36BFD8306794}"/>
              </a:ext>
            </a:extLst>
          </p:cNvPr>
          <p:cNvSpPr>
            <a:spLocks noChangeArrowheads="1"/>
          </p:cNvSpPr>
          <p:nvPr/>
        </p:nvSpPr>
        <p:spPr bwMode="auto">
          <a:xfrm>
            <a:off x="1323975" y="1477565"/>
            <a:ext cx="1490663" cy="966788"/>
          </a:xfrm>
          <a:prstGeom prst="rect">
            <a:avLst/>
          </a:prstGeom>
          <a:solidFill>
            <a:srgbClr val="FFD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04452" name="Rectangle 4">
            <a:extLst>
              <a:ext uri="{FF2B5EF4-FFF2-40B4-BE49-F238E27FC236}">
                <a16:creationId xmlns:a16="http://schemas.microsoft.com/office/drawing/2014/main" id="{F1680624-3481-78E2-F8A5-0A3044A71D75}"/>
              </a:ext>
            </a:extLst>
          </p:cNvPr>
          <p:cNvSpPr>
            <a:spLocks noChangeArrowheads="1"/>
          </p:cNvSpPr>
          <p:nvPr/>
        </p:nvSpPr>
        <p:spPr bwMode="auto">
          <a:xfrm>
            <a:off x="1323976" y="1477566"/>
            <a:ext cx="1516856" cy="992981"/>
          </a:xfrm>
          <a:prstGeom prst="rect">
            <a:avLst/>
          </a:prstGeom>
          <a:noFill/>
          <a:ln w="50800">
            <a:solidFill>
              <a:srgbClr val="FFDC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04453" name="Rectangle 5">
            <a:extLst>
              <a:ext uri="{FF2B5EF4-FFF2-40B4-BE49-F238E27FC236}">
                <a16:creationId xmlns:a16="http://schemas.microsoft.com/office/drawing/2014/main" id="{D49445CC-F21D-296E-133B-4F47E1DA797A}"/>
              </a:ext>
            </a:extLst>
          </p:cNvPr>
          <p:cNvSpPr>
            <a:spLocks noChangeArrowheads="1"/>
          </p:cNvSpPr>
          <p:nvPr/>
        </p:nvSpPr>
        <p:spPr bwMode="auto">
          <a:xfrm>
            <a:off x="5350669" y="1243012"/>
            <a:ext cx="2064544" cy="1463279"/>
          </a:xfrm>
          <a:prstGeom prst="rect">
            <a:avLst/>
          </a:prstGeom>
          <a:solidFill>
            <a:srgbClr val="FFD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04454" name="Rectangle 6">
            <a:extLst>
              <a:ext uri="{FF2B5EF4-FFF2-40B4-BE49-F238E27FC236}">
                <a16:creationId xmlns:a16="http://schemas.microsoft.com/office/drawing/2014/main" id="{9141F14F-1E3B-0A32-8CC5-481AF9483FE0}"/>
              </a:ext>
            </a:extLst>
          </p:cNvPr>
          <p:cNvSpPr>
            <a:spLocks noChangeArrowheads="1"/>
          </p:cNvSpPr>
          <p:nvPr/>
        </p:nvSpPr>
        <p:spPr bwMode="auto">
          <a:xfrm>
            <a:off x="5350669" y="1243013"/>
            <a:ext cx="2090738" cy="1489472"/>
          </a:xfrm>
          <a:prstGeom prst="rect">
            <a:avLst/>
          </a:prstGeom>
          <a:noFill/>
          <a:ln w="50800">
            <a:solidFill>
              <a:srgbClr val="FFDC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04455" name="Oval 7">
            <a:extLst>
              <a:ext uri="{FF2B5EF4-FFF2-40B4-BE49-F238E27FC236}">
                <a16:creationId xmlns:a16="http://schemas.microsoft.com/office/drawing/2014/main" id="{C026723B-B0AC-4E40-9A56-0D5096154837}"/>
              </a:ext>
            </a:extLst>
          </p:cNvPr>
          <p:cNvSpPr>
            <a:spLocks noChangeArrowheads="1"/>
          </p:cNvSpPr>
          <p:nvPr/>
        </p:nvSpPr>
        <p:spPr bwMode="auto">
          <a:xfrm>
            <a:off x="1454944" y="1687116"/>
            <a:ext cx="1228725" cy="653653"/>
          </a:xfrm>
          <a:prstGeom prst="ellipse">
            <a:avLst/>
          </a:prstGeom>
          <a:solidFill>
            <a:srgbClr val="FFFFFF"/>
          </a:solidFill>
          <a:ln w="50800">
            <a:solidFill>
              <a:srgbClr val="000000"/>
            </a:solidFill>
            <a:round/>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04456" name="Rectangle 8">
            <a:extLst>
              <a:ext uri="{FF2B5EF4-FFF2-40B4-BE49-F238E27FC236}">
                <a16:creationId xmlns:a16="http://schemas.microsoft.com/office/drawing/2014/main" id="{D91AA6F1-77C5-F3B8-FB6C-97EC02D247C9}"/>
              </a:ext>
            </a:extLst>
          </p:cNvPr>
          <p:cNvSpPr>
            <a:spLocks noChangeArrowheads="1"/>
          </p:cNvSpPr>
          <p:nvPr/>
        </p:nvSpPr>
        <p:spPr bwMode="auto">
          <a:xfrm>
            <a:off x="1881188" y="1803797"/>
            <a:ext cx="41036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zh-TW" sz="1650">
                <a:solidFill>
                  <a:srgbClr val="000000"/>
                </a:solidFill>
                <a:latin typeface="Arial" panose="020B0604020202020204" pitchFamily="34" charset="0"/>
                <a:ea typeface="新細明體" panose="02020500000000000000" pitchFamily="18" charset="-120"/>
              </a:rPr>
              <a:t>Thin</a:t>
            </a:r>
            <a:endParaRPr lang="en-GB" altLang="zh-TW" sz="1800">
              <a:latin typeface="Times" panose="02020603050405020304" pitchFamily="18" charset="0"/>
              <a:ea typeface="新細明體" panose="02020500000000000000" pitchFamily="18" charset="-120"/>
            </a:endParaRPr>
          </a:p>
        </p:txBody>
      </p:sp>
      <p:sp>
        <p:nvSpPr>
          <p:cNvPr id="104457" name="Rectangle 9">
            <a:extLst>
              <a:ext uri="{FF2B5EF4-FFF2-40B4-BE49-F238E27FC236}">
                <a16:creationId xmlns:a16="http://schemas.microsoft.com/office/drawing/2014/main" id="{74186DD7-B16F-F52A-D090-D6F5ED741FF6}"/>
              </a:ext>
            </a:extLst>
          </p:cNvPr>
          <p:cNvSpPr>
            <a:spLocks noChangeArrowheads="1"/>
          </p:cNvSpPr>
          <p:nvPr/>
        </p:nvSpPr>
        <p:spPr bwMode="auto">
          <a:xfrm>
            <a:off x="1822847" y="2038350"/>
            <a:ext cx="53860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zh-TW" sz="1650">
                <a:solidFill>
                  <a:srgbClr val="000000"/>
                </a:solidFill>
                <a:latin typeface="Arial" panose="020B0604020202020204" pitchFamily="34" charset="0"/>
                <a:ea typeface="新細明體" panose="02020500000000000000" pitchFamily="18" charset="-120"/>
              </a:rPr>
              <a:t>Client</a:t>
            </a:r>
            <a:endParaRPr lang="en-GB" altLang="zh-TW" sz="1800">
              <a:latin typeface="Times" panose="02020603050405020304" pitchFamily="18" charset="0"/>
              <a:ea typeface="新細明體" panose="02020500000000000000" pitchFamily="18" charset="-120"/>
            </a:endParaRPr>
          </a:p>
        </p:txBody>
      </p:sp>
      <p:sp>
        <p:nvSpPr>
          <p:cNvPr id="104458" name="Oval 10">
            <a:extLst>
              <a:ext uri="{FF2B5EF4-FFF2-40B4-BE49-F238E27FC236}">
                <a16:creationId xmlns:a16="http://schemas.microsoft.com/office/drawing/2014/main" id="{FFDC002A-D0B2-1A3B-1AEA-AF2D0ACCEA1B}"/>
              </a:ext>
            </a:extLst>
          </p:cNvPr>
          <p:cNvSpPr>
            <a:spLocks noChangeArrowheads="1"/>
          </p:cNvSpPr>
          <p:nvPr/>
        </p:nvSpPr>
        <p:spPr bwMode="auto">
          <a:xfrm>
            <a:off x="5716190" y="1634728"/>
            <a:ext cx="1333500" cy="679847"/>
          </a:xfrm>
          <a:prstGeom prst="ellipse">
            <a:avLst/>
          </a:prstGeom>
          <a:solidFill>
            <a:srgbClr val="FFFFFF"/>
          </a:solidFill>
          <a:ln w="50800">
            <a:solidFill>
              <a:srgbClr val="000000"/>
            </a:solidFill>
            <a:round/>
            <a:headEnd/>
            <a:tailEnd/>
          </a:ln>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sv-SE" altLang="en-US" sz="1800"/>
          </a:p>
        </p:txBody>
      </p:sp>
      <p:sp>
        <p:nvSpPr>
          <p:cNvPr id="104459" name="Rectangle 11">
            <a:extLst>
              <a:ext uri="{FF2B5EF4-FFF2-40B4-BE49-F238E27FC236}">
                <a16:creationId xmlns:a16="http://schemas.microsoft.com/office/drawing/2014/main" id="{6CF91559-D460-6E8F-5DBA-5CFC65B71AD7}"/>
              </a:ext>
            </a:extLst>
          </p:cNvPr>
          <p:cNvSpPr>
            <a:spLocks noChangeArrowheads="1"/>
          </p:cNvSpPr>
          <p:nvPr/>
        </p:nvSpPr>
        <p:spPr bwMode="auto">
          <a:xfrm>
            <a:off x="5899547" y="1751409"/>
            <a:ext cx="103073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zh-TW" sz="1650">
                <a:solidFill>
                  <a:srgbClr val="000000"/>
                </a:solidFill>
                <a:latin typeface="Arial" panose="020B0604020202020204" pitchFamily="34" charset="0"/>
                <a:ea typeface="新細明體" panose="02020500000000000000" pitchFamily="18" charset="-120"/>
              </a:rPr>
              <a:t>Application</a:t>
            </a:r>
            <a:endParaRPr lang="en-GB" altLang="zh-TW" sz="1800">
              <a:latin typeface="Times" panose="02020603050405020304" pitchFamily="18" charset="0"/>
              <a:ea typeface="新細明體" panose="02020500000000000000" pitchFamily="18" charset="-120"/>
            </a:endParaRPr>
          </a:p>
        </p:txBody>
      </p:sp>
      <p:sp>
        <p:nvSpPr>
          <p:cNvPr id="104460" name="Rectangle 12">
            <a:extLst>
              <a:ext uri="{FF2B5EF4-FFF2-40B4-BE49-F238E27FC236}">
                <a16:creationId xmlns:a16="http://schemas.microsoft.com/office/drawing/2014/main" id="{0BBD2054-2C0B-69E8-EDF0-FA3BBAF5A870}"/>
              </a:ext>
            </a:extLst>
          </p:cNvPr>
          <p:cNvSpPr>
            <a:spLocks noChangeArrowheads="1"/>
          </p:cNvSpPr>
          <p:nvPr/>
        </p:nvSpPr>
        <p:spPr bwMode="auto">
          <a:xfrm>
            <a:off x="6043613" y="1985962"/>
            <a:ext cx="76302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zh-TW" sz="1650">
                <a:solidFill>
                  <a:srgbClr val="000000"/>
                </a:solidFill>
                <a:latin typeface="Arial" panose="020B0604020202020204" pitchFamily="34" charset="0"/>
                <a:ea typeface="新細明體" panose="02020500000000000000" pitchFamily="18" charset="-120"/>
              </a:rPr>
              <a:t>Process</a:t>
            </a:r>
            <a:endParaRPr lang="en-GB" altLang="zh-TW" sz="1800">
              <a:latin typeface="Times" panose="02020603050405020304" pitchFamily="18" charset="0"/>
              <a:ea typeface="新細明體" panose="02020500000000000000" pitchFamily="18" charset="-120"/>
            </a:endParaRPr>
          </a:p>
        </p:txBody>
      </p:sp>
      <p:sp>
        <p:nvSpPr>
          <p:cNvPr id="104461" name="Rectangle 13">
            <a:extLst>
              <a:ext uri="{FF2B5EF4-FFF2-40B4-BE49-F238E27FC236}">
                <a16:creationId xmlns:a16="http://schemas.microsoft.com/office/drawing/2014/main" id="{F8D877F2-FCE7-A12D-C471-4D5C1E12BD73}"/>
              </a:ext>
            </a:extLst>
          </p:cNvPr>
          <p:cNvSpPr>
            <a:spLocks noChangeArrowheads="1"/>
          </p:cNvSpPr>
          <p:nvPr/>
        </p:nvSpPr>
        <p:spPr bwMode="auto">
          <a:xfrm>
            <a:off x="914400" y="1123950"/>
            <a:ext cx="231313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zh-TW" sz="1650" dirty="0">
                <a:solidFill>
                  <a:srgbClr val="000000"/>
                </a:solidFill>
                <a:latin typeface="Arial" panose="020B0604020202020204" pitchFamily="34" charset="0"/>
                <a:ea typeface="新細明體" panose="02020500000000000000" pitchFamily="18" charset="-120"/>
              </a:rPr>
              <a:t>Network computer or PC</a:t>
            </a:r>
            <a:endParaRPr lang="en-GB" altLang="zh-TW" sz="1800" dirty="0">
              <a:latin typeface="Times" panose="02020603050405020304" pitchFamily="18" charset="0"/>
              <a:ea typeface="新細明體" panose="02020500000000000000" pitchFamily="18" charset="-120"/>
            </a:endParaRPr>
          </a:p>
        </p:txBody>
      </p:sp>
      <p:sp>
        <p:nvSpPr>
          <p:cNvPr id="104462" name="Rectangle 14">
            <a:extLst>
              <a:ext uri="{FF2B5EF4-FFF2-40B4-BE49-F238E27FC236}">
                <a16:creationId xmlns:a16="http://schemas.microsoft.com/office/drawing/2014/main" id="{3D0DB81B-ED91-71AB-D2CB-C916D783EDFB}"/>
              </a:ext>
            </a:extLst>
          </p:cNvPr>
          <p:cNvSpPr>
            <a:spLocks noChangeArrowheads="1"/>
          </p:cNvSpPr>
          <p:nvPr/>
        </p:nvSpPr>
        <p:spPr bwMode="auto">
          <a:xfrm>
            <a:off x="5648325" y="940593"/>
            <a:ext cx="150201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zh-TW" sz="1650">
                <a:solidFill>
                  <a:srgbClr val="000000"/>
                </a:solidFill>
                <a:latin typeface="Arial" panose="020B0604020202020204" pitchFamily="34" charset="0"/>
                <a:ea typeface="新細明體" panose="02020500000000000000" pitchFamily="18" charset="-120"/>
              </a:rPr>
              <a:t>Compute server</a:t>
            </a:r>
            <a:endParaRPr lang="en-GB" altLang="zh-TW" sz="1800">
              <a:latin typeface="Times" panose="02020603050405020304" pitchFamily="18" charset="0"/>
              <a:ea typeface="新細明體" panose="02020500000000000000" pitchFamily="18" charset="-120"/>
            </a:endParaRPr>
          </a:p>
        </p:txBody>
      </p:sp>
      <p:sp>
        <p:nvSpPr>
          <p:cNvPr id="104463" name="Freeform 15">
            <a:extLst>
              <a:ext uri="{FF2B5EF4-FFF2-40B4-BE49-F238E27FC236}">
                <a16:creationId xmlns:a16="http://schemas.microsoft.com/office/drawing/2014/main" id="{0ABBC5EB-6B36-BBC1-AE29-A597BEC6529A}"/>
              </a:ext>
            </a:extLst>
          </p:cNvPr>
          <p:cNvSpPr>
            <a:spLocks/>
          </p:cNvSpPr>
          <p:nvPr/>
        </p:nvSpPr>
        <p:spPr bwMode="auto">
          <a:xfrm>
            <a:off x="2683669" y="1947863"/>
            <a:ext cx="313134" cy="78581"/>
          </a:xfrm>
          <a:custGeom>
            <a:avLst/>
            <a:gdLst>
              <a:gd name="T0" fmla="*/ 0 w 263"/>
              <a:gd name="T1" fmla="*/ 2147483646 h 66"/>
              <a:gd name="T2" fmla="*/ 2147483646 w 263"/>
              <a:gd name="T3" fmla="*/ 0 h 66"/>
              <a:gd name="T4" fmla="*/ 2147483646 w 263"/>
              <a:gd name="T5" fmla="*/ 2147483646 h 66"/>
              <a:gd name="T6" fmla="*/ 2147483646 w 263"/>
              <a:gd name="T7" fmla="*/ 2147483646 h 66"/>
              <a:gd name="T8" fmla="*/ 2147483646 w 263"/>
              <a:gd name="T9" fmla="*/ 2147483646 h 66"/>
              <a:gd name="T10" fmla="*/ 0 60000 65536"/>
              <a:gd name="T11" fmla="*/ 0 60000 65536"/>
              <a:gd name="T12" fmla="*/ 0 60000 65536"/>
              <a:gd name="T13" fmla="*/ 0 60000 65536"/>
              <a:gd name="T14" fmla="*/ 0 60000 65536"/>
              <a:gd name="T15" fmla="*/ 0 w 263"/>
              <a:gd name="T16" fmla="*/ 0 h 66"/>
              <a:gd name="T17" fmla="*/ 263 w 263"/>
              <a:gd name="T18" fmla="*/ 66 h 66"/>
            </a:gdLst>
            <a:ahLst/>
            <a:cxnLst>
              <a:cxn ang="T10">
                <a:pos x="T0" y="T1"/>
              </a:cxn>
              <a:cxn ang="T11">
                <a:pos x="T2" y="T3"/>
              </a:cxn>
              <a:cxn ang="T12">
                <a:pos x="T4" y="T5"/>
              </a:cxn>
              <a:cxn ang="T13">
                <a:pos x="T6" y="T7"/>
              </a:cxn>
              <a:cxn ang="T14">
                <a:pos x="T8" y="T9"/>
              </a:cxn>
            </a:cxnLst>
            <a:rect l="T15" t="T16" r="T17" b="T18"/>
            <a:pathLst>
              <a:path w="263" h="66">
                <a:moveTo>
                  <a:pt x="0" y="22"/>
                </a:moveTo>
                <a:lnTo>
                  <a:pt x="66" y="0"/>
                </a:lnTo>
                <a:lnTo>
                  <a:pt x="176" y="22"/>
                </a:lnTo>
                <a:lnTo>
                  <a:pt x="220" y="44"/>
                </a:lnTo>
                <a:lnTo>
                  <a:pt x="263" y="66"/>
                </a:lnTo>
              </a:path>
            </a:pathLst>
          </a:custGeom>
          <a:noFill/>
          <a:ln w="508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104464" name="Freeform 16">
            <a:extLst>
              <a:ext uri="{FF2B5EF4-FFF2-40B4-BE49-F238E27FC236}">
                <a16:creationId xmlns:a16="http://schemas.microsoft.com/office/drawing/2014/main" id="{ED0E4375-4D0C-7C8F-90E4-909B705AD9B9}"/>
              </a:ext>
            </a:extLst>
          </p:cNvPr>
          <p:cNvSpPr>
            <a:spLocks/>
          </p:cNvSpPr>
          <p:nvPr/>
        </p:nvSpPr>
        <p:spPr bwMode="auto">
          <a:xfrm>
            <a:off x="4957762" y="1947862"/>
            <a:ext cx="784622" cy="26194"/>
          </a:xfrm>
          <a:custGeom>
            <a:avLst/>
            <a:gdLst>
              <a:gd name="T0" fmla="*/ 2147483646 w 659"/>
              <a:gd name="T1" fmla="*/ 0 h 22"/>
              <a:gd name="T2" fmla="*/ 2147483646 w 659"/>
              <a:gd name="T3" fmla="*/ 2147483646 h 22"/>
              <a:gd name="T4" fmla="*/ 2147483646 w 659"/>
              <a:gd name="T5" fmla="*/ 2147483646 h 22"/>
              <a:gd name="T6" fmla="*/ 2147483646 w 659"/>
              <a:gd name="T7" fmla="*/ 2147483646 h 22"/>
              <a:gd name="T8" fmla="*/ 0 w 659"/>
              <a:gd name="T9" fmla="*/ 2147483646 h 22"/>
              <a:gd name="T10" fmla="*/ 0 60000 65536"/>
              <a:gd name="T11" fmla="*/ 0 60000 65536"/>
              <a:gd name="T12" fmla="*/ 0 60000 65536"/>
              <a:gd name="T13" fmla="*/ 0 60000 65536"/>
              <a:gd name="T14" fmla="*/ 0 60000 65536"/>
              <a:gd name="T15" fmla="*/ 0 w 659"/>
              <a:gd name="T16" fmla="*/ 0 h 22"/>
              <a:gd name="T17" fmla="*/ 659 w 659"/>
              <a:gd name="T18" fmla="*/ 22 h 22"/>
            </a:gdLst>
            <a:ahLst/>
            <a:cxnLst>
              <a:cxn ang="T10">
                <a:pos x="T0" y="T1"/>
              </a:cxn>
              <a:cxn ang="T11">
                <a:pos x="T2" y="T3"/>
              </a:cxn>
              <a:cxn ang="T12">
                <a:pos x="T4" y="T5"/>
              </a:cxn>
              <a:cxn ang="T13">
                <a:pos x="T6" y="T7"/>
              </a:cxn>
              <a:cxn ang="T14">
                <a:pos x="T8" y="T9"/>
              </a:cxn>
            </a:cxnLst>
            <a:rect l="T15" t="T16" r="T17" b="T18"/>
            <a:pathLst>
              <a:path w="659" h="22">
                <a:moveTo>
                  <a:pt x="659" y="0"/>
                </a:moveTo>
                <a:lnTo>
                  <a:pt x="527" y="22"/>
                </a:lnTo>
                <a:lnTo>
                  <a:pt x="286" y="22"/>
                </a:lnTo>
                <a:lnTo>
                  <a:pt x="110" y="22"/>
                </a:lnTo>
                <a:lnTo>
                  <a:pt x="0" y="22"/>
                </a:lnTo>
              </a:path>
            </a:pathLst>
          </a:custGeom>
          <a:noFill/>
          <a:ln w="508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sp>
        <p:nvSpPr>
          <p:cNvPr id="104465" name="Freeform 17">
            <a:extLst>
              <a:ext uri="{FF2B5EF4-FFF2-40B4-BE49-F238E27FC236}">
                <a16:creationId xmlns:a16="http://schemas.microsoft.com/office/drawing/2014/main" id="{FB8B8C73-C6D6-E1EE-6F96-D8BC99FE8320}"/>
              </a:ext>
            </a:extLst>
          </p:cNvPr>
          <p:cNvSpPr>
            <a:spLocks/>
          </p:cNvSpPr>
          <p:nvPr/>
        </p:nvSpPr>
        <p:spPr bwMode="auto">
          <a:xfrm>
            <a:off x="2970610" y="1477566"/>
            <a:ext cx="2118122" cy="863203"/>
          </a:xfrm>
          <a:custGeom>
            <a:avLst/>
            <a:gdLst>
              <a:gd name="T0" fmla="*/ 2147483646 w 1779"/>
              <a:gd name="T1" fmla="*/ 2147483646 h 725"/>
              <a:gd name="T2" fmla="*/ 2147483646 w 1779"/>
              <a:gd name="T3" fmla="*/ 2147483646 h 725"/>
              <a:gd name="T4" fmla="*/ 2147483646 w 1779"/>
              <a:gd name="T5" fmla="*/ 2147483646 h 725"/>
              <a:gd name="T6" fmla="*/ 2147483646 w 1779"/>
              <a:gd name="T7" fmla="*/ 2147483646 h 725"/>
              <a:gd name="T8" fmla="*/ 2147483646 w 1779"/>
              <a:gd name="T9" fmla="*/ 2147483646 h 725"/>
              <a:gd name="T10" fmla="*/ 2147483646 w 1779"/>
              <a:gd name="T11" fmla="*/ 2147483646 h 725"/>
              <a:gd name="T12" fmla="*/ 2147483646 w 1779"/>
              <a:gd name="T13" fmla="*/ 2147483646 h 725"/>
              <a:gd name="T14" fmla="*/ 2147483646 w 1779"/>
              <a:gd name="T15" fmla="*/ 2147483646 h 725"/>
              <a:gd name="T16" fmla="*/ 2147483646 w 1779"/>
              <a:gd name="T17" fmla="*/ 2147483646 h 725"/>
              <a:gd name="T18" fmla="*/ 2147483646 w 1779"/>
              <a:gd name="T19" fmla="*/ 2147483646 h 725"/>
              <a:gd name="T20" fmla="*/ 2147483646 w 1779"/>
              <a:gd name="T21" fmla="*/ 2147483646 h 725"/>
              <a:gd name="T22" fmla="*/ 2147483646 w 1779"/>
              <a:gd name="T23" fmla="*/ 2147483646 h 725"/>
              <a:gd name="T24" fmla="*/ 2147483646 w 1779"/>
              <a:gd name="T25" fmla="*/ 0 h 725"/>
              <a:gd name="T26" fmla="*/ 2147483646 w 1779"/>
              <a:gd name="T27" fmla="*/ 0 h 725"/>
              <a:gd name="T28" fmla="*/ 2147483646 w 1779"/>
              <a:gd name="T29" fmla="*/ 0 h 725"/>
              <a:gd name="T30" fmla="*/ 2147483646 w 1779"/>
              <a:gd name="T31" fmla="*/ 2147483646 h 725"/>
              <a:gd name="T32" fmla="*/ 2147483646 w 1779"/>
              <a:gd name="T33" fmla="*/ 2147483646 h 725"/>
              <a:gd name="T34" fmla="*/ 2147483646 w 1779"/>
              <a:gd name="T35" fmla="*/ 2147483646 h 725"/>
              <a:gd name="T36" fmla="*/ 2147483646 w 1779"/>
              <a:gd name="T37" fmla="*/ 2147483646 h 725"/>
              <a:gd name="T38" fmla="*/ 2147483646 w 1779"/>
              <a:gd name="T39" fmla="*/ 2147483646 h 725"/>
              <a:gd name="T40" fmla="*/ 2147483646 w 1779"/>
              <a:gd name="T41" fmla="*/ 2147483646 h 725"/>
              <a:gd name="T42" fmla="*/ 2147483646 w 1779"/>
              <a:gd name="T43" fmla="*/ 2147483646 h 725"/>
              <a:gd name="T44" fmla="*/ 2147483646 w 1779"/>
              <a:gd name="T45" fmla="*/ 2147483646 h 725"/>
              <a:gd name="T46" fmla="*/ 2147483646 w 1779"/>
              <a:gd name="T47" fmla="*/ 2147483646 h 725"/>
              <a:gd name="T48" fmla="*/ 2147483646 w 1779"/>
              <a:gd name="T49" fmla="*/ 2147483646 h 725"/>
              <a:gd name="T50" fmla="*/ 2147483646 w 1779"/>
              <a:gd name="T51" fmla="*/ 2147483646 h 725"/>
              <a:gd name="T52" fmla="*/ 2147483646 w 1779"/>
              <a:gd name="T53" fmla="*/ 2147483646 h 725"/>
              <a:gd name="T54" fmla="*/ 2147483646 w 1779"/>
              <a:gd name="T55" fmla="*/ 2147483646 h 725"/>
              <a:gd name="T56" fmla="*/ 2147483646 w 1779"/>
              <a:gd name="T57" fmla="*/ 2147483646 h 725"/>
              <a:gd name="T58" fmla="*/ 2147483646 w 1779"/>
              <a:gd name="T59" fmla="*/ 2147483646 h 725"/>
              <a:gd name="T60" fmla="*/ 2147483646 w 1779"/>
              <a:gd name="T61" fmla="*/ 2147483646 h 725"/>
              <a:gd name="T62" fmla="*/ 2147483646 w 1779"/>
              <a:gd name="T63" fmla="*/ 2147483646 h 725"/>
              <a:gd name="T64" fmla="*/ 2147483646 w 1779"/>
              <a:gd name="T65" fmla="*/ 2147483646 h 725"/>
              <a:gd name="T66" fmla="*/ 2147483646 w 1779"/>
              <a:gd name="T67" fmla="*/ 2147483646 h 725"/>
              <a:gd name="T68" fmla="*/ 2147483646 w 1779"/>
              <a:gd name="T69" fmla="*/ 2147483646 h 725"/>
              <a:gd name="T70" fmla="*/ 2147483646 w 1779"/>
              <a:gd name="T71" fmla="*/ 2147483646 h 725"/>
              <a:gd name="T72" fmla="*/ 2147483646 w 1779"/>
              <a:gd name="T73" fmla="*/ 2147483646 h 725"/>
              <a:gd name="T74" fmla="*/ 2147483646 w 1779"/>
              <a:gd name="T75" fmla="*/ 2147483646 h 725"/>
              <a:gd name="T76" fmla="*/ 2147483646 w 1779"/>
              <a:gd name="T77" fmla="*/ 2147483646 h 725"/>
              <a:gd name="T78" fmla="*/ 2147483646 w 1779"/>
              <a:gd name="T79" fmla="*/ 2147483646 h 725"/>
              <a:gd name="T80" fmla="*/ 2147483646 w 1779"/>
              <a:gd name="T81" fmla="*/ 2147483646 h 725"/>
              <a:gd name="T82" fmla="*/ 2147483646 w 1779"/>
              <a:gd name="T83" fmla="*/ 2147483646 h 725"/>
              <a:gd name="T84" fmla="*/ 2147483646 w 1779"/>
              <a:gd name="T85" fmla="*/ 2147483646 h 725"/>
              <a:gd name="T86" fmla="*/ 2147483646 w 1779"/>
              <a:gd name="T87" fmla="*/ 2147483646 h 725"/>
              <a:gd name="T88" fmla="*/ 0 w 1779"/>
              <a:gd name="T89" fmla="*/ 2147483646 h 725"/>
              <a:gd name="T90" fmla="*/ 0 w 1779"/>
              <a:gd name="T91" fmla="*/ 2147483646 h 725"/>
              <a:gd name="T92" fmla="*/ 0 w 1779"/>
              <a:gd name="T93" fmla="*/ 2147483646 h 725"/>
              <a:gd name="T94" fmla="*/ 2147483646 w 1779"/>
              <a:gd name="T95" fmla="*/ 2147483646 h 725"/>
              <a:gd name="T96" fmla="*/ 2147483646 w 1779"/>
              <a:gd name="T97" fmla="*/ 2147483646 h 725"/>
              <a:gd name="T98" fmla="*/ 2147483646 w 1779"/>
              <a:gd name="T99" fmla="*/ 2147483646 h 7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779"/>
              <a:gd name="T151" fmla="*/ 0 h 725"/>
              <a:gd name="T152" fmla="*/ 1779 w 1779"/>
              <a:gd name="T153" fmla="*/ 725 h 72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779" h="725">
                <a:moveTo>
                  <a:pt x="44" y="176"/>
                </a:moveTo>
                <a:lnTo>
                  <a:pt x="66" y="132"/>
                </a:lnTo>
                <a:lnTo>
                  <a:pt x="176" y="66"/>
                </a:lnTo>
                <a:lnTo>
                  <a:pt x="286" y="44"/>
                </a:lnTo>
                <a:lnTo>
                  <a:pt x="352" y="44"/>
                </a:lnTo>
                <a:lnTo>
                  <a:pt x="396" y="22"/>
                </a:lnTo>
                <a:lnTo>
                  <a:pt x="527" y="44"/>
                </a:lnTo>
                <a:lnTo>
                  <a:pt x="659" y="66"/>
                </a:lnTo>
                <a:lnTo>
                  <a:pt x="791" y="66"/>
                </a:lnTo>
                <a:lnTo>
                  <a:pt x="923" y="66"/>
                </a:lnTo>
                <a:lnTo>
                  <a:pt x="1010" y="44"/>
                </a:lnTo>
                <a:lnTo>
                  <a:pt x="1076" y="22"/>
                </a:lnTo>
                <a:lnTo>
                  <a:pt x="1164" y="0"/>
                </a:lnTo>
                <a:lnTo>
                  <a:pt x="1274" y="0"/>
                </a:lnTo>
                <a:lnTo>
                  <a:pt x="1362" y="0"/>
                </a:lnTo>
                <a:lnTo>
                  <a:pt x="1428" y="22"/>
                </a:lnTo>
                <a:lnTo>
                  <a:pt x="1472" y="44"/>
                </a:lnTo>
                <a:lnTo>
                  <a:pt x="1559" y="66"/>
                </a:lnTo>
                <a:lnTo>
                  <a:pt x="1647" y="132"/>
                </a:lnTo>
                <a:lnTo>
                  <a:pt x="1757" y="220"/>
                </a:lnTo>
                <a:lnTo>
                  <a:pt x="1779" y="351"/>
                </a:lnTo>
                <a:lnTo>
                  <a:pt x="1779" y="439"/>
                </a:lnTo>
                <a:lnTo>
                  <a:pt x="1757" y="505"/>
                </a:lnTo>
                <a:lnTo>
                  <a:pt x="1713" y="637"/>
                </a:lnTo>
                <a:lnTo>
                  <a:pt x="1625" y="681"/>
                </a:lnTo>
                <a:lnTo>
                  <a:pt x="1494" y="725"/>
                </a:lnTo>
                <a:lnTo>
                  <a:pt x="1362" y="703"/>
                </a:lnTo>
                <a:lnTo>
                  <a:pt x="1230" y="681"/>
                </a:lnTo>
                <a:lnTo>
                  <a:pt x="1120" y="681"/>
                </a:lnTo>
                <a:lnTo>
                  <a:pt x="1010" y="659"/>
                </a:lnTo>
                <a:lnTo>
                  <a:pt x="879" y="659"/>
                </a:lnTo>
                <a:lnTo>
                  <a:pt x="769" y="659"/>
                </a:lnTo>
                <a:lnTo>
                  <a:pt x="681" y="681"/>
                </a:lnTo>
                <a:lnTo>
                  <a:pt x="593" y="681"/>
                </a:lnTo>
                <a:lnTo>
                  <a:pt x="505" y="681"/>
                </a:lnTo>
                <a:lnTo>
                  <a:pt x="418" y="703"/>
                </a:lnTo>
                <a:lnTo>
                  <a:pt x="330" y="703"/>
                </a:lnTo>
                <a:lnTo>
                  <a:pt x="264" y="703"/>
                </a:lnTo>
                <a:lnTo>
                  <a:pt x="198" y="681"/>
                </a:lnTo>
                <a:lnTo>
                  <a:pt x="154" y="659"/>
                </a:lnTo>
                <a:lnTo>
                  <a:pt x="132" y="637"/>
                </a:lnTo>
                <a:lnTo>
                  <a:pt x="110" y="615"/>
                </a:lnTo>
                <a:lnTo>
                  <a:pt x="66" y="571"/>
                </a:lnTo>
                <a:lnTo>
                  <a:pt x="22" y="483"/>
                </a:lnTo>
                <a:lnTo>
                  <a:pt x="0" y="417"/>
                </a:lnTo>
                <a:lnTo>
                  <a:pt x="0" y="351"/>
                </a:lnTo>
                <a:lnTo>
                  <a:pt x="0" y="286"/>
                </a:lnTo>
                <a:lnTo>
                  <a:pt x="22" y="220"/>
                </a:lnTo>
                <a:lnTo>
                  <a:pt x="44" y="176"/>
                </a:lnTo>
                <a:close/>
              </a:path>
            </a:pathLst>
          </a:custGeom>
          <a:solidFill>
            <a:srgbClr val="FFDC99"/>
          </a:solidFill>
          <a:ln w="50800">
            <a:solidFill>
              <a:srgbClr val="FFDC99"/>
            </a:solidFill>
            <a:prstDash val="solid"/>
            <a:round/>
            <a:headEnd/>
            <a:tailEnd/>
          </a:ln>
        </p:spPr>
        <p:txBody>
          <a:bodyPr/>
          <a:lstStyle/>
          <a:p>
            <a:endParaRPr lang="en-US" sz="1350"/>
          </a:p>
        </p:txBody>
      </p:sp>
      <p:sp>
        <p:nvSpPr>
          <p:cNvPr id="104466" name="Rectangle 18">
            <a:extLst>
              <a:ext uri="{FF2B5EF4-FFF2-40B4-BE49-F238E27FC236}">
                <a16:creationId xmlns:a16="http://schemas.microsoft.com/office/drawing/2014/main" id="{232A401F-31C3-2E00-5695-1E3F094C623B}"/>
              </a:ext>
            </a:extLst>
          </p:cNvPr>
          <p:cNvSpPr>
            <a:spLocks noChangeArrowheads="1"/>
          </p:cNvSpPr>
          <p:nvPr/>
        </p:nvSpPr>
        <p:spPr bwMode="auto">
          <a:xfrm>
            <a:off x="3617119" y="1790700"/>
            <a:ext cx="73898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GB" altLang="zh-TW" sz="1650">
                <a:solidFill>
                  <a:srgbClr val="000000"/>
                </a:solidFill>
                <a:latin typeface="Arial" panose="020B0604020202020204" pitchFamily="34" charset="0"/>
                <a:ea typeface="新細明體" panose="02020500000000000000" pitchFamily="18" charset="-120"/>
              </a:rPr>
              <a:t>network</a:t>
            </a:r>
            <a:endParaRPr lang="en-GB" altLang="zh-TW" sz="1800">
              <a:latin typeface="Times" panose="02020603050405020304" pitchFamily="18" charset="0"/>
              <a:ea typeface="新細明體" panose="02020500000000000000" pitchFamily="18" charset="-120"/>
            </a:endParaRPr>
          </a:p>
        </p:txBody>
      </p:sp>
      <p:sp>
        <p:nvSpPr>
          <p:cNvPr id="104467" name="Slide Number Placeholder 18">
            <a:extLst>
              <a:ext uri="{FF2B5EF4-FFF2-40B4-BE49-F238E27FC236}">
                <a16:creationId xmlns:a16="http://schemas.microsoft.com/office/drawing/2014/main" id="{05E185AE-E624-8503-31F1-3A8F2427074B}"/>
              </a:ext>
            </a:extLst>
          </p:cNvPr>
          <p:cNvSpPr>
            <a:spLocks noGrp="1"/>
          </p:cNvSpPr>
          <p:nvPr>
            <p:ph type="sldNum" sz="quarter" idx="12"/>
          </p:nvPr>
        </p:nvSpPr>
        <p:spPr bwMode="auto">
          <a:xfrm>
            <a:off x="8805863" y="5734050"/>
            <a:ext cx="660400" cy="520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rtl="0" eaLnBrk="1" fontAlgn="base" hangingPunct="1">
              <a:spcBef>
                <a:spcPct val="0"/>
              </a:spcBef>
              <a:spcAft>
                <a:spcPct val="0"/>
              </a:spcAft>
              <a:defRPr sz="1400" b="1" kern="1200">
                <a:solidFill>
                  <a:srgbClr val="FFFFFF"/>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a:lstStyle>
          <a:p>
            <a:pPr>
              <a:defRPr/>
            </a:pPr>
            <a:fld id="{2BEFF210-52A1-4C6D-AF58-656C53A082CF}" type="slidenum">
              <a:rPr lang="en-US" altLang="en-US" smtClean="0"/>
              <a:pPr>
                <a:defRPr/>
              </a:pPr>
              <a:t>8</a:t>
            </a:fld>
            <a:endParaRPr lang="en-US" altLang="en-US" sz="1050">
              <a:solidFill>
                <a:srgbClr val="FFFFFF"/>
              </a:solidFill>
            </a:endParaRPr>
          </a:p>
        </p:txBody>
      </p:sp>
      <p:sp>
        <p:nvSpPr>
          <p:cNvPr id="2" name="object 2">
            <a:extLst>
              <a:ext uri="{FF2B5EF4-FFF2-40B4-BE49-F238E27FC236}">
                <a16:creationId xmlns:a16="http://schemas.microsoft.com/office/drawing/2014/main" id="{D871B844-7DF1-A9D1-0953-F5439B50F768}"/>
              </a:ext>
            </a:extLst>
          </p:cNvPr>
          <p:cNvSpPr txBox="1">
            <a:spLocks/>
          </p:cNvSpPr>
          <p:nvPr/>
        </p:nvSpPr>
        <p:spPr>
          <a:xfrm>
            <a:off x="152400" y="51988"/>
            <a:ext cx="8683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5" dirty="0">
                <a:solidFill>
                  <a:srgbClr val="202729"/>
                </a:solidFill>
              </a:rPr>
              <a:t>6. Thin Clients and Compute Servers</a:t>
            </a:r>
            <a:endParaRPr lang="en-US" sz="2800" kern="0" dirty="0"/>
          </a:p>
        </p:txBody>
      </p:sp>
      <p:sp>
        <p:nvSpPr>
          <p:cNvPr id="3" name="object 26">
            <a:extLst>
              <a:ext uri="{FF2B5EF4-FFF2-40B4-BE49-F238E27FC236}">
                <a16:creationId xmlns:a16="http://schemas.microsoft.com/office/drawing/2014/main" id="{D0E5C0F7-756B-34B9-D072-0423B6E496B1}"/>
              </a:ext>
            </a:extLst>
          </p:cNvPr>
          <p:cNvSpPr txBox="1"/>
          <p:nvPr/>
        </p:nvSpPr>
        <p:spPr>
          <a:xfrm>
            <a:off x="614975" y="2689053"/>
            <a:ext cx="7594383" cy="1718572"/>
          </a:xfrm>
          <a:prstGeom prst="rect">
            <a:avLst/>
          </a:prstGeom>
        </p:spPr>
        <p:txBody>
          <a:bodyPr vert="horz" wrap="square" lIns="0" tIns="17931" rIns="0" bIns="0" rtlCol="0">
            <a:spAutoFit/>
          </a:bodyPr>
          <a:lstStyle/>
          <a:p>
            <a:pPr marL="304625" marR="7550" indent="-285750">
              <a:spcBef>
                <a:spcPts val="141"/>
              </a:spcBef>
              <a:buFont typeface="Arial" panose="020B0604020202020204" pitchFamily="34" charset="0"/>
              <a:buChar char="•"/>
            </a:pPr>
            <a:r>
              <a:rPr lang="en-US" dirty="0">
                <a:latin typeface="Trebuchet MS" panose="020B0603020202020204" pitchFamily="34" charset="0"/>
                <a:cs typeface="Arial MT"/>
              </a:rPr>
              <a:t>A thin client is a lightweight computing device that depends heavily on a server for computational power, applications, and data storage.</a:t>
            </a:r>
          </a:p>
          <a:p>
            <a:pPr marL="304625" marR="7550" indent="-285750">
              <a:spcBef>
                <a:spcPts val="141"/>
              </a:spcBef>
              <a:buFont typeface="Arial" panose="020B0604020202020204" pitchFamily="34" charset="0"/>
              <a:buChar char="•"/>
            </a:pPr>
            <a:r>
              <a:rPr lang="en-US" dirty="0">
                <a:latin typeface="Trebuchet MS" panose="020B0603020202020204" pitchFamily="34" charset="0"/>
                <a:cs typeface="Arial MT"/>
              </a:rPr>
              <a:t>Minimal hardware requirements. No local storage or minimal local processing. Connects to a central server or cloud to perform tasks.</a:t>
            </a:r>
          </a:p>
          <a:p>
            <a:pPr marL="304625" marR="7550" indent="-285750">
              <a:spcBef>
                <a:spcPts val="141"/>
              </a:spcBef>
              <a:buFont typeface="Arial" panose="020B0604020202020204" pitchFamily="34" charset="0"/>
              <a:buChar char="•"/>
            </a:pPr>
            <a:r>
              <a:rPr lang="en-US" dirty="0">
                <a:latin typeface="Trebuchet MS" panose="020B0603020202020204" pitchFamily="34" charset="0"/>
                <a:cs typeface="Arial MT"/>
              </a:rPr>
              <a:t>Web browsers as thin clients for SaaS applications. </a:t>
            </a:r>
          </a:p>
          <a:p>
            <a:pPr marL="304625" marR="7550" indent="-285750">
              <a:spcBef>
                <a:spcPts val="141"/>
              </a:spcBef>
              <a:buFont typeface="Arial" panose="020B0604020202020204" pitchFamily="34" charset="0"/>
              <a:buChar char="•"/>
            </a:pPr>
            <a:r>
              <a:rPr lang="en-US" dirty="0">
                <a:latin typeface="Trebuchet MS" panose="020B0603020202020204" pitchFamily="34" charset="0"/>
                <a:cs typeface="Arial MT"/>
              </a:rPr>
              <a:t>Devices in virtual desktop infrastructure (VDI).</a:t>
            </a:r>
            <a:endParaRPr dirty="0">
              <a:latin typeface="Trebuchet MS" panose="020B0603020202020204" pitchFamily="34" charset="0"/>
              <a:cs typeface="Arial MT"/>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98BE5-E212-5C0A-3061-6E1053409A2F}"/>
              </a:ext>
            </a:extLst>
          </p:cNvPr>
          <p:cNvSpPr>
            <a:spLocks noGrp="1"/>
          </p:cNvSpPr>
          <p:nvPr>
            <p:ph type="title"/>
          </p:nvPr>
        </p:nvSpPr>
        <p:spPr>
          <a:xfrm>
            <a:off x="384724" y="503825"/>
            <a:ext cx="5482675" cy="861774"/>
          </a:xfrm>
        </p:spPr>
        <p:txBody>
          <a:bodyPr/>
          <a:lstStyle/>
          <a:p>
            <a:r>
              <a:rPr lang="en-US" dirty="0"/>
              <a:t>7. Event Driven Architecture </a:t>
            </a:r>
          </a:p>
        </p:txBody>
      </p:sp>
      <p:pic>
        <p:nvPicPr>
          <p:cNvPr id="4" name="Picture 3">
            <a:extLst>
              <a:ext uri="{FF2B5EF4-FFF2-40B4-BE49-F238E27FC236}">
                <a16:creationId xmlns:a16="http://schemas.microsoft.com/office/drawing/2014/main" id="{A565306C-3253-E6AC-9C9D-9B8A900767C1}"/>
              </a:ext>
            </a:extLst>
          </p:cNvPr>
          <p:cNvPicPr>
            <a:picLocks noChangeAspect="1"/>
          </p:cNvPicPr>
          <p:nvPr/>
        </p:nvPicPr>
        <p:blipFill>
          <a:blip r:embed="rId2"/>
          <a:stretch>
            <a:fillRect/>
          </a:stretch>
        </p:blipFill>
        <p:spPr>
          <a:xfrm>
            <a:off x="384725" y="1118985"/>
            <a:ext cx="6782747" cy="2905530"/>
          </a:xfrm>
          <a:prstGeom prst="rect">
            <a:avLst/>
          </a:prstGeom>
        </p:spPr>
      </p:pic>
      <p:sp>
        <p:nvSpPr>
          <p:cNvPr id="5" name="object 26">
            <a:extLst>
              <a:ext uri="{FF2B5EF4-FFF2-40B4-BE49-F238E27FC236}">
                <a16:creationId xmlns:a16="http://schemas.microsoft.com/office/drawing/2014/main" id="{C6AA540F-FA32-81B5-D4B0-51C7026114DF}"/>
              </a:ext>
            </a:extLst>
          </p:cNvPr>
          <p:cNvSpPr txBox="1"/>
          <p:nvPr/>
        </p:nvSpPr>
        <p:spPr>
          <a:xfrm>
            <a:off x="533400" y="4054747"/>
            <a:ext cx="7594383" cy="584928"/>
          </a:xfrm>
          <a:prstGeom prst="rect">
            <a:avLst/>
          </a:prstGeom>
        </p:spPr>
        <p:txBody>
          <a:bodyPr vert="horz" wrap="square" lIns="0" tIns="17931" rIns="0" bIns="0" rtlCol="0">
            <a:spAutoFit/>
          </a:bodyPr>
          <a:lstStyle/>
          <a:p>
            <a:pPr marL="304625" marR="7550" indent="-285750">
              <a:spcBef>
                <a:spcPts val="141"/>
              </a:spcBef>
              <a:buFont typeface="Arial" panose="020B0604020202020204" pitchFamily="34" charset="0"/>
              <a:buChar char="•"/>
            </a:pPr>
            <a:r>
              <a:rPr lang="en-US" dirty="0">
                <a:latin typeface="Trebuchet MS" panose="020B0603020202020204" pitchFamily="34" charset="0"/>
                <a:cs typeface="Arial MT"/>
              </a:rPr>
              <a:t>Asynchronous communication based on events. </a:t>
            </a:r>
          </a:p>
          <a:p>
            <a:pPr marL="304625" marR="7550" indent="-285750">
              <a:spcBef>
                <a:spcPts val="141"/>
              </a:spcBef>
              <a:buFont typeface="Arial" panose="020B0604020202020204" pitchFamily="34" charset="0"/>
              <a:buChar char="•"/>
            </a:pPr>
            <a:r>
              <a:rPr lang="en-US" dirty="0">
                <a:latin typeface="Trebuchet MS" panose="020B0603020202020204" pitchFamily="34" charset="0"/>
                <a:cs typeface="Arial MT"/>
              </a:rPr>
              <a:t>Examples: IoT systems, real-time analytics.</a:t>
            </a:r>
            <a:endParaRPr dirty="0">
              <a:latin typeface="Trebuchet MS" panose="020B0603020202020204" pitchFamily="34" charset="0"/>
              <a:cs typeface="Arial MT"/>
            </a:endParaRPr>
          </a:p>
        </p:txBody>
      </p:sp>
    </p:spTree>
    <p:extLst>
      <p:ext uri="{BB962C8B-B14F-4D97-AF65-F5344CB8AC3E}">
        <p14:creationId xmlns:p14="http://schemas.microsoft.com/office/powerpoint/2010/main" val="977364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58"/>
            <a:ext cx="1519456" cy="86825"/>
            <a:chOff x="3542982" y="3357104"/>
            <a:chExt cx="102235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sp>
          <p:nvSpPr>
            <p:cNvPr id="18" name="object 18"/>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19" name="object 19"/>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0" name="object 20"/>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sp>
          <p:nvSpPr>
            <p:cNvPr id="21" name="object 21"/>
            <p:cNvSpPr/>
            <p:nvPr/>
          </p:nvSpPr>
          <p:spPr>
            <a:xfrm>
              <a:off x="4153434" y="3360914"/>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5" name="object 25"/>
          <p:cNvSpPr txBox="1">
            <a:spLocks noGrp="1"/>
          </p:cNvSpPr>
          <p:nvPr>
            <p:ph type="title"/>
          </p:nvPr>
        </p:nvSpPr>
        <p:spPr>
          <a:xfrm>
            <a:off x="76200" y="-41564"/>
            <a:ext cx="4979099" cy="456618"/>
          </a:xfrm>
          <a:prstGeom prst="rect">
            <a:avLst/>
          </a:prstGeom>
        </p:spPr>
        <p:txBody>
          <a:bodyPr vert="horz" wrap="square" lIns="0" tIns="25482" rIns="0" bIns="0" rtlCol="0">
            <a:spAutoFit/>
          </a:bodyPr>
          <a:lstStyle/>
          <a:p>
            <a:pPr marL="18875">
              <a:spcBef>
                <a:spcPts val="201"/>
              </a:spcBef>
            </a:pPr>
            <a:r>
              <a:rPr dirty="0"/>
              <a:t>Cloud</a:t>
            </a:r>
            <a:r>
              <a:rPr spc="149" dirty="0"/>
              <a:t> </a:t>
            </a:r>
            <a:r>
              <a:rPr dirty="0"/>
              <a:t>Computing:</a:t>
            </a:r>
            <a:r>
              <a:rPr spc="327" dirty="0"/>
              <a:t> </a:t>
            </a:r>
            <a:r>
              <a:rPr spc="-15" dirty="0"/>
              <a:t>Origins</a:t>
            </a:r>
          </a:p>
        </p:txBody>
      </p:sp>
      <p:pic>
        <p:nvPicPr>
          <p:cNvPr id="26" name="object 26"/>
          <p:cNvPicPr/>
          <p:nvPr/>
        </p:nvPicPr>
        <p:blipFill>
          <a:blip r:embed="rId2" cstate="print"/>
          <a:stretch>
            <a:fillRect/>
          </a:stretch>
        </p:blipFill>
        <p:spPr>
          <a:xfrm>
            <a:off x="6684138" y="549578"/>
            <a:ext cx="1037081" cy="1501038"/>
          </a:xfrm>
          <a:prstGeom prst="rect">
            <a:avLst/>
          </a:prstGeom>
        </p:spPr>
      </p:pic>
      <p:pic>
        <p:nvPicPr>
          <p:cNvPr id="27" name="object 27"/>
          <p:cNvPicPr/>
          <p:nvPr/>
        </p:nvPicPr>
        <p:blipFill>
          <a:blip r:embed="rId3" cstate="print"/>
          <a:stretch>
            <a:fillRect/>
          </a:stretch>
        </p:blipFill>
        <p:spPr>
          <a:xfrm>
            <a:off x="6754679" y="2079963"/>
            <a:ext cx="1036963" cy="1230296"/>
          </a:xfrm>
          <a:prstGeom prst="rect">
            <a:avLst/>
          </a:prstGeom>
        </p:spPr>
      </p:pic>
      <p:sp>
        <p:nvSpPr>
          <p:cNvPr id="28" name="object 28"/>
          <p:cNvSpPr txBox="1"/>
          <p:nvPr/>
        </p:nvSpPr>
        <p:spPr>
          <a:xfrm>
            <a:off x="937219" y="549578"/>
            <a:ext cx="6173650" cy="3646865"/>
          </a:xfrm>
          <a:prstGeom prst="rect">
            <a:avLst/>
          </a:prstGeom>
        </p:spPr>
        <p:txBody>
          <a:bodyPr vert="horz" wrap="square" lIns="0" tIns="16988" rIns="0" bIns="0" rtlCol="0">
            <a:spAutoFit/>
          </a:bodyPr>
          <a:lstStyle/>
          <a:p>
            <a:pPr marL="44356" marR="360508" indent="310489">
              <a:lnSpc>
                <a:spcPct val="99800"/>
              </a:lnSpc>
              <a:spcBef>
                <a:spcPts val="134"/>
              </a:spcBef>
              <a:buFont typeface="Times New Roman"/>
              <a:buChar char="►"/>
              <a:tabLst>
                <a:tab pos="354845" algn="l"/>
              </a:tabLst>
            </a:pPr>
            <a:r>
              <a:rPr sz="1635" dirty="0">
                <a:latin typeface="Arial MT"/>
                <a:cs typeface="Arial MT"/>
              </a:rPr>
              <a:t>Computer</a:t>
            </a:r>
            <a:r>
              <a:rPr sz="1635" spc="-59" dirty="0">
                <a:latin typeface="Arial MT"/>
                <a:cs typeface="Arial MT"/>
              </a:rPr>
              <a:t> </a:t>
            </a:r>
            <a:r>
              <a:rPr sz="1635" dirty="0">
                <a:latin typeface="Arial MT"/>
                <a:cs typeface="Arial MT"/>
              </a:rPr>
              <a:t>Scientist</a:t>
            </a:r>
            <a:r>
              <a:rPr sz="1635" spc="-52" dirty="0">
                <a:latin typeface="Arial MT"/>
                <a:cs typeface="Arial MT"/>
              </a:rPr>
              <a:t> </a:t>
            </a:r>
            <a:r>
              <a:rPr sz="1635" i="1" dirty="0">
                <a:latin typeface="Arial"/>
                <a:cs typeface="Arial"/>
              </a:rPr>
              <a:t>John</a:t>
            </a:r>
            <a:r>
              <a:rPr sz="1635" i="1" spc="-59" dirty="0">
                <a:latin typeface="Arial"/>
                <a:cs typeface="Arial"/>
              </a:rPr>
              <a:t> </a:t>
            </a:r>
            <a:r>
              <a:rPr sz="1635" i="1" dirty="0">
                <a:latin typeface="Arial"/>
                <a:cs typeface="Arial"/>
              </a:rPr>
              <a:t>McCarthy</a:t>
            </a:r>
            <a:r>
              <a:rPr sz="1635" i="1" spc="89" dirty="0">
                <a:latin typeface="Arial"/>
                <a:cs typeface="Arial"/>
              </a:rPr>
              <a:t> </a:t>
            </a:r>
            <a:r>
              <a:rPr sz="1635" dirty="0">
                <a:latin typeface="Arial MT"/>
                <a:cs typeface="Arial MT"/>
              </a:rPr>
              <a:t>in</a:t>
            </a:r>
            <a:r>
              <a:rPr sz="1635" spc="-52" dirty="0">
                <a:latin typeface="Arial MT"/>
                <a:cs typeface="Arial MT"/>
              </a:rPr>
              <a:t> </a:t>
            </a:r>
            <a:r>
              <a:rPr sz="1635" spc="-15" dirty="0">
                <a:latin typeface="Arial MT"/>
                <a:cs typeface="Arial MT"/>
              </a:rPr>
              <a:t>1961: </a:t>
            </a:r>
            <a:r>
              <a:rPr sz="1635" i="1" dirty="0">
                <a:latin typeface="Arial"/>
                <a:cs typeface="Arial"/>
              </a:rPr>
              <a:t>“If</a:t>
            </a:r>
            <a:r>
              <a:rPr sz="1635" i="1" spc="-45" dirty="0">
                <a:latin typeface="Arial"/>
                <a:cs typeface="Arial"/>
              </a:rPr>
              <a:t> </a:t>
            </a:r>
            <a:r>
              <a:rPr sz="1635" i="1" dirty="0">
                <a:latin typeface="Arial"/>
                <a:cs typeface="Arial"/>
              </a:rPr>
              <a:t>computers</a:t>
            </a:r>
            <a:r>
              <a:rPr sz="1635" i="1" spc="-37" dirty="0">
                <a:latin typeface="Arial"/>
                <a:cs typeface="Arial"/>
              </a:rPr>
              <a:t> </a:t>
            </a:r>
            <a:r>
              <a:rPr sz="1635" i="1" dirty="0">
                <a:latin typeface="Arial"/>
                <a:cs typeface="Arial"/>
              </a:rPr>
              <a:t>of</a:t>
            </a:r>
            <a:r>
              <a:rPr sz="1635" i="1" spc="-45" dirty="0">
                <a:latin typeface="Arial"/>
                <a:cs typeface="Arial"/>
              </a:rPr>
              <a:t> </a:t>
            </a:r>
            <a:r>
              <a:rPr sz="1635" i="1" dirty="0">
                <a:latin typeface="Arial"/>
                <a:cs typeface="Arial"/>
              </a:rPr>
              <a:t>the</a:t>
            </a:r>
            <a:r>
              <a:rPr sz="1635" i="1" spc="-37" dirty="0">
                <a:latin typeface="Arial"/>
                <a:cs typeface="Arial"/>
              </a:rPr>
              <a:t> </a:t>
            </a:r>
            <a:r>
              <a:rPr sz="1635" i="1" dirty="0">
                <a:latin typeface="Arial"/>
                <a:cs typeface="Arial"/>
              </a:rPr>
              <a:t>kind</a:t>
            </a:r>
            <a:r>
              <a:rPr sz="1635" i="1" spc="-37" dirty="0">
                <a:latin typeface="Arial"/>
                <a:cs typeface="Arial"/>
              </a:rPr>
              <a:t> </a:t>
            </a:r>
            <a:r>
              <a:rPr sz="1635" i="1" dirty="0">
                <a:latin typeface="Arial"/>
                <a:cs typeface="Arial"/>
              </a:rPr>
              <a:t>I</a:t>
            </a:r>
            <a:r>
              <a:rPr sz="1635" i="1" spc="-45" dirty="0">
                <a:latin typeface="Arial"/>
                <a:cs typeface="Arial"/>
              </a:rPr>
              <a:t> </a:t>
            </a:r>
            <a:r>
              <a:rPr sz="1635" i="1" spc="-15" dirty="0">
                <a:latin typeface="Arial"/>
                <a:cs typeface="Arial"/>
              </a:rPr>
              <a:t>have</a:t>
            </a:r>
            <a:r>
              <a:rPr sz="1635" i="1" spc="-37" dirty="0">
                <a:latin typeface="Arial"/>
                <a:cs typeface="Arial"/>
              </a:rPr>
              <a:t> </a:t>
            </a:r>
            <a:r>
              <a:rPr sz="1635" i="1" spc="-15" dirty="0">
                <a:latin typeface="Arial"/>
                <a:cs typeface="Arial"/>
              </a:rPr>
              <a:t>advocated </a:t>
            </a:r>
            <a:r>
              <a:rPr sz="1635" i="1" dirty="0">
                <a:latin typeface="Arial"/>
                <a:cs typeface="Arial"/>
              </a:rPr>
              <a:t>become</a:t>
            </a:r>
            <a:r>
              <a:rPr sz="1635" i="1" spc="-67" dirty="0">
                <a:latin typeface="Arial"/>
                <a:cs typeface="Arial"/>
              </a:rPr>
              <a:t> </a:t>
            </a:r>
            <a:r>
              <a:rPr sz="1635" i="1" dirty="0">
                <a:latin typeface="Arial"/>
                <a:cs typeface="Arial"/>
              </a:rPr>
              <a:t>the</a:t>
            </a:r>
            <a:r>
              <a:rPr sz="1635" i="1" spc="-52" dirty="0">
                <a:latin typeface="Arial"/>
                <a:cs typeface="Arial"/>
              </a:rPr>
              <a:t> </a:t>
            </a:r>
            <a:r>
              <a:rPr sz="1635" i="1" dirty="0">
                <a:latin typeface="Arial"/>
                <a:cs typeface="Arial"/>
              </a:rPr>
              <a:t>computers</a:t>
            </a:r>
            <a:r>
              <a:rPr sz="1635" i="1" spc="-52" dirty="0">
                <a:latin typeface="Arial"/>
                <a:cs typeface="Arial"/>
              </a:rPr>
              <a:t> </a:t>
            </a:r>
            <a:r>
              <a:rPr sz="1635" i="1" dirty="0">
                <a:latin typeface="Arial"/>
                <a:cs typeface="Arial"/>
              </a:rPr>
              <a:t>of</a:t>
            </a:r>
            <a:r>
              <a:rPr sz="1635" i="1" spc="-52" dirty="0">
                <a:latin typeface="Arial"/>
                <a:cs typeface="Arial"/>
              </a:rPr>
              <a:t> </a:t>
            </a:r>
            <a:r>
              <a:rPr sz="1635" i="1" dirty="0">
                <a:latin typeface="Arial"/>
                <a:cs typeface="Arial"/>
              </a:rPr>
              <a:t>the</a:t>
            </a:r>
            <a:r>
              <a:rPr sz="1635" i="1" spc="-52" dirty="0">
                <a:latin typeface="Arial"/>
                <a:cs typeface="Arial"/>
              </a:rPr>
              <a:t> </a:t>
            </a:r>
            <a:r>
              <a:rPr sz="1635" i="1" dirty="0">
                <a:latin typeface="Arial"/>
                <a:cs typeface="Arial"/>
              </a:rPr>
              <a:t>future,</a:t>
            </a:r>
            <a:r>
              <a:rPr sz="1635" i="1" spc="-45" dirty="0">
                <a:latin typeface="Arial"/>
                <a:cs typeface="Arial"/>
              </a:rPr>
              <a:t> </a:t>
            </a:r>
            <a:r>
              <a:rPr sz="1635" i="1" spc="-30" dirty="0">
                <a:latin typeface="Arial"/>
                <a:cs typeface="Arial"/>
              </a:rPr>
              <a:t>then </a:t>
            </a:r>
            <a:r>
              <a:rPr sz="1635" i="1" dirty="0">
                <a:latin typeface="Arial"/>
                <a:cs typeface="Arial"/>
              </a:rPr>
              <a:t>computing</a:t>
            </a:r>
            <a:r>
              <a:rPr sz="1635" i="1" spc="-59" dirty="0">
                <a:latin typeface="Arial"/>
                <a:cs typeface="Arial"/>
              </a:rPr>
              <a:t> </a:t>
            </a:r>
            <a:r>
              <a:rPr sz="1635" i="1" dirty="0">
                <a:latin typeface="Arial"/>
                <a:cs typeface="Arial"/>
              </a:rPr>
              <a:t>may</a:t>
            </a:r>
            <a:r>
              <a:rPr sz="1635" i="1" spc="-59" dirty="0">
                <a:latin typeface="Arial"/>
                <a:cs typeface="Arial"/>
              </a:rPr>
              <a:t> </a:t>
            </a:r>
            <a:r>
              <a:rPr sz="1635" i="1" spc="-15" dirty="0">
                <a:latin typeface="Arial"/>
                <a:cs typeface="Arial"/>
              </a:rPr>
              <a:t>someday</a:t>
            </a:r>
            <a:r>
              <a:rPr sz="1635" i="1" spc="-59" dirty="0">
                <a:latin typeface="Arial"/>
                <a:cs typeface="Arial"/>
              </a:rPr>
              <a:t> </a:t>
            </a:r>
            <a:r>
              <a:rPr sz="1635" i="1" dirty="0">
                <a:latin typeface="Arial"/>
                <a:cs typeface="Arial"/>
              </a:rPr>
              <a:t>be</a:t>
            </a:r>
            <a:r>
              <a:rPr sz="1635" i="1" spc="-59" dirty="0">
                <a:latin typeface="Arial"/>
                <a:cs typeface="Arial"/>
              </a:rPr>
              <a:t> </a:t>
            </a:r>
            <a:r>
              <a:rPr sz="1635" i="1" dirty="0">
                <a:latin typeface="Arial"/>
                <a:cs typeface="Arial"/>
              </a:rPr>
              <a:t>organized</a:t>
            </a:r>
            <a:r>
              <a:rPr sz="1635" i="1" spc="-59" dirty="0">
                <a:latin typeface="Arial"/>
                <a:cs typeface="Arial"/>
              </a:rPr>
              <a:t> </a:t>
            </a:r>
            <a:r>
              <a:rPr sz="1635" i="1" dirty="0">
                <a:latin typeface="Arial"/>
                <a:cs typeface="Arial"/>
              </a:rPr>
              <a:t>as</a:t>
            </a:r>
            <a:r>
              <a:rPr sz="1635" i="1" spc="-59" dirty="0">
                <a:latin typeface="Arial"/>
                <a:cs typeface="Arial"/>
              </a:rPr>
              <a:t> </a:t>
            </a:r>
            <a:r>
              <a:rPr sz="1635" i="1" spc="-74" dirty="0">
                <a:latin typeface="Arial"/>
                <a:cs typeface="Arial"/>
              </a:rPr>
              <a:t>a </a:t>
            </a:r>
            <a:r>
              <a:rPr sz="1635" i="1" dirty="0">
                <a:solidFill>
                  <a:srgbClr val="FF0000"/>
                </a:solidFill>
                <a:latin typeface="Arial"/>
                <a:cs typeface="Arial"/>
              </a:rPr>
              <a:t>public</a:t>
            </a:r>
            <a:r>
              <a:rPr sz="1635" i="1" spc="-59" dirty="0">
                <a:solidFill>
                  <a:srgbClr val="FF0000"/>
                </a:solidFill>
                <a:latin typeface="Arial"/>
                <a:cs typeface="Arial"/>
              </a:rPr>
              <a:t> </a:t>
            </a:r>
            <a:r>
              <a:rPr sz="1635" i="1" dirty="0">
                <a:solidFill>
                  <a:srgbClr val="FF0000"/>
                </a:solidFill>
                <a:latin typeface="Arial"/>
                <a:cs typeface="Arial"/>
              </a:rPr>
              <a:t>utility</a:t>
            </a:r>
            <a:r>
              <a:rPr sz="1635" i="1" spc="-59" dirty="0">
                <a:solidFill>
                  <a:srgbClr val="FF0000"/>
                </a:solidFill>
                <a:latin typeface="Arial"/>
                <a:cs typeface="Arial"/>
              </a:rPr>
              <a:t> </a:t>
            </a:r>
            <a:r>
              <a:rPr sz="1635" i="1" dirty="0">
                <a:latin typeface="Arial"/>
                <a:cs typeface="Arial"/>
              </a:rPr>
              <a:t>just</a:t>
            </a:r>
            <a:r>
              <a:rPr sz="1635" i="1" spc="-59" dirty="0">
                <a:latin typeface="Arial"/>
                <a:cs typeface="Arial"/>
              </a:rPr>
              <a:t> </a:t>
            </a:r>
            <a:r>
              <a:rPr sz="1635" i="1" dirty="0">
                <a:latin typeface="Arial"/>
                <a:cs typeface="Arial"/>
              </a:rPr>
              <a:t>as</a:t>
            </a:r>
            <a:r>
              <a:rPr sz="1635" i="1" spc="-59" dirty="0">
                <a:latin typeface="Arial"/>
                <a:cs typeface="Arial"/>
              </a:rPr>
              <a:t> </a:t>
            </a:r>
            <a:r>
              <a:rPr sz="1635" i="1" dirty="0">
                <a:latin typeface="Arial"/>
                <a:cs typeface="Arial"/>
              </a:rPr>
              <a:t>the</a:t>
            </a:r>
            <a:r>
              <a:rPr sz="1635" i="1" spc="-59" dirty="0">
                <a:latin typeface="Arial"/>
                <a:cs typeface="Arial"/>
              </a:rPr>
              <a:t> </a:t>
            </a:r>
            <a:r>
              <a:rPr sz="1635" i="1" dirty="0">
                <a:latin typeface="Arial"/>
                <a:cs typeface="Arial"/>
              </a:rPr>
              <a:t>telephone</a:t>
            </a:r>
            <a:r>
              <a:rPr sz="1635" i="1" spc="-59" dirty="0">
                <a:latin typeface="Arial"/>
                <a:cs typeface="Arial"/>
              </a:rPr>
              <a:t> </a:t>
            </a:r>
            <a:r>
              <a:rPr sz="1635" i="1" dirty="0">
                <a:latin typeface="Arial"/>
                <a:cs typeface="Arial"/>
              </a:rPr>
              <a:t>system</a:t>
            </a:r>
            <a:r>
              <a:rPr sz="1635" i="1" spc="-59" dirty="0">
                <a:latin typeface="Arial"/>
                <a:cs typeface="Arial"/>
              </a:rPr>
              <a:t> </a:t>
            </a:r>
            <a:r>
              <a:rPr sz="1635" i="1" spc="-37" dirty="0">
                <a:latin typeface="Arial"/>
                <a:cs typeface="Arial"/>
              </a:rPr>
              <a:t>is</a:t>
            </a:r>
            <a:endParaRPr sz="1635" dirty="0">
              <a:latin typeface="Arial"/>
              <a:cs typeface="Arial"/>
            </a:endParaRPr>
          </a:p>
          <a:p>
            <a:pPr marL="44356" marR="944681">
              <a:lnSpc>
                <a:spcPct val="102600"/>
              </a:lnSpc>
              <a:spcBef>
                <a:spcPts val="7"/>
              </a:spcBef>
            </a:pPr>
            <a:r>
              <a:rPr sz="1635" i="1" dirty="0">
                <a:latin typeface="Arial"/>
                <a:cs typeface="Arial"/>
              </a:rPr>
              <a:t>...</a:t>
            </a:r>
            <a:r>
              <a:rPr sz="1635" i="1" spc="30" dirty="0">
                <a:latin typeface="Arial"/>
                <a:cs typeface="Arial"/>
              </a:rPr>
              <a:t> </a:t>
            </a:r>
            <a:r>
              <a:rPr sz="1635" i="1" dirty="0">
                <a:latin typeface="Arial"/>
                <a:cs typeface="Arial"/>
              </a:rPr>
              <a:t>The</a:t>
            </a:r>
            <a:r>
              <a:rPr sz="1635" i="1" spc="-59" dirty="0">
                <a:latin typeface="Arial"/>
                <a:cs typeface="Arial"/>
              </a:rPr>
              <a:t> </a:t>
            </a:r>
            <a:r>
              <a:rPr sz="1635" i="1" dirty="0">
                <a:latin typeface="Arial"/>
                <a:cs typeface="Arial"/>
              </a:rPr>
              <a:t>computer</a:t>
            </a:r>
            <a:r>
              <a:rPr sz="1635" i="1" spc="-59" dirty="0">
                <a:latin typeface="Arial"/>
                <a:cs typeface="Arial"/>
              </a:rPr>
              <a:t> </a:t>
            </a:r>
            <a:r>
              <a:rPr sz="1635" i="1" dirty="0">
                <a:latin typeface="Arial"/>
                <a:cs typeface="Arial"/>
              </a:rPr>
              <a:t>utility</a:t>
            </a:r>
            <a:r>
              <a:rPr sz="1635" i="1" spc="-59" dirty="0">
                <a:latin typeface="Arial"/>
                <a:cs typeface="Arial"/>
              </a:rPr>
              <a:t> </a:t>
            </a:r>
            <a:r>
              <a:rPr sz="1635" i="1" dirty="0">
                <a:latin typeface="Arial"/>
                <a:cs typeface="Arial"/>
              </a:rPr>
              <a:t>could</a:t>
            </a:r>
            <a:r>
              <a:rPr sz="1635" i="1" spc="-59" dirty="0">
                <a:latin typeface="Arial"/>
                <a:cs typeface="Arial"/>
              </a:rPr>
              <a:t> </a:t>
            </a:r>
            <a:r>
              <a:rPr sz="1635" i="1" dirty="0">
                <a:latin typeface="Arial"/>
                <a:cs typeface="Arial"/>
              </a:rPr>
              <a:t>become</a:t>
            </a:r>
            <a:r>
              <a:rPr sz="1635" i="1" spc="-59" dirty="0">
                <a:latin typeface="Arial"/>
                <a:cs typeface="Arial"/>
              </a:rPr>
              <a:t> </a:t>
            </a:r>
            <a:r>
              <a:rPr sz="1635" i="1" spc="-37" dirty="0">
                <a:latin typeface="Arial"/>
                <a:cs typeface="Arial"/>
              </a:rPr>
              <a:t>the </a:t>
            </a:r>
            <a:r>
              <a:rPr sz="1635" i="1" dirty="0">
                <a:latin typeface="Arial"/>
                <a:cs typeface="Arial"/>
              </a:rPr>
              <a:t>basis</a:t>
            </a:r>
            <a:r>
              <a:rPr sz="1635" i="1" spc="-45" dirty="0">
                <a:latin typeface="Arial"/>
                <a:cs typeface="Arial"/>
              </a:rPr>
              <a:t> </a:t>
            </a:r>
            <a:r>
              <a:rPr sz="1635" i="1" dirty="0">
                <a:latin typeface="Arial"/>
                <a:cs typeface="Arial"/>
              </a:rPr>
              <a:t>of</a:t>
            </a:r>
            <a:r>
              <a:rPr sz="1635" i="1" spc="-45" dirty="0">
                <a:latin typeface="Arial"/>
                <a:cs typeface="Arial"/>
              </a:rPr>
              <a:t> </a:t>
            </a:r>
            <a:r>
              <a:rPr sz="1635" i="1" dirty="0">
                <a:latin typeface="Arial"/>
                <a:cs typeface="Arial"/>
              </a:rPr>
              <a:t>a</a:t>
            </a:r>
            <a:r>
              <a:rPr sz="1635" i="1" spc="-45" dirty="0">
                <a:latin typeface="Arial"/>
                <a:cs typeface="Arial"/>
              </a:rPr>
              <a:t> </a:t>
            </a:r>
            <a:r>
              <a:rPr sz="1635" i="1" dirty="0">
                <a:latin typeface="Arial"/>
                <a:cs typeface="Arial"/>
              </a:rPr>
              <a:t>new</a:t>
            </a:r>
            <a:r>
              <a:rPr sz="1635" i="1" spc="-45" dirty="0">
                <a:latin typeface="Arial"/>
                <a:cs typeface="Arial"/>
              </a:rPr>
              <a:t> </a:t>
            </a:r>
            <a:r>
              <a:rPr sz="1635" i="1" dirty="0">
                <a:latin typeface="Arial"/>
                <a:cs typeface="Arial"/>
              </a:rPr>
              <a:t>and</a:t>
            </a:r>
            <a:r>
              <a:rPr sz="1635" i="1" spc="-45" dirty="0">
                <a:latin typeface="Arial"/>
                <a:cs typeface="Arial"/>
              </a:rPr>
              <a:t> </a:t>
            </a:r>
            <a:r>
              <a:rPr sz="1635" i="1" dirty="0">
                <a:latin typeface="Arial"/>
                <a:cs typeface="Arial"/>
              </a:rPr>
              <a:t>important</a:t>
            </a:r>
            <a:r>
              <a:rPr sz="1635" i="1" spc="-37" dirty="0">
                <a:latin typeface="Arial"/>
                <a:cs typeface="Arial"/>
              </a:rPr>
              <a:t> </a:t>
            </a:r>
            <a:r>
              <a:rPr sz="1635" i="1" spc="-15" dirty="0">
                <a:latin typeface="Arial"/>
                <a:cs typeface="Arial"/>
              </a:rPr>
              <a:t>industry.”</a:t>
            </a:r>
            <a:endParaRPr sz="1635" dirty="0">
              <a:latin typeface="Arial"/>
              <a:cs typeface="Arial"/>
            </a:endParaRPr>
          </a:p>
          <a:p>
            <a:pPr marL="1309907" marR="7550" lvl="1" indent="-7550">
              <a:lnSpc>
                <a:spcPct val="102600"/>
              </a:lnSpc>
              <a:spcBef>
                <a:spcPts val="1248"/>
              </a:spcBef>
              <a:buFont typeface="Times New Roman"/>
              <a:buChar char="►"/>
              <a:tabLst>
                <a:tab pos="1526021" algn="l"/>
              </a:tabLst>
            </a:pPr>
            <a:r>
              <a:rPr sz="1635" b="1" dirty="0">
                <a:latin typeface="Arial"/>
                <a:cs typeface="Arial"/>
              </a:rPr>
              <a:t>	1963</a:t>
            </a:r>
            <a:r>
              <a:rPr sz="1635" dirty="0">
                <a:latin typeface="Arial MT"/>
                <a:cs typeface="Arial MT"/>
              </a:rPr>
              <a:t>:</a:t>
            </a:r>
            <a:r>
              <a:rPr sz="1635" spc="37" dirty="0">
                <a:latin typeface="Arial MT"/>
                <a:cs typeface="Arial MT"/>
              </a:rPr>
              <a:t> </a:t>
            </a:r>
            <a:r>
              <a:rPr sz="1635" spc="-15" dirty="0">
                <a:latin typeface="Arial MT"/>
                <a:cs typeface="Arial MT"/>
              </a:rPr>
              <a:t>J.C.R.</a:t>
            </a:r>
            <a:r>
              <a:rPr sz="1635" spc="-59" dirty="0">
                <a:latin typeface="Arial MT"/>
                <a:cs typeface="Arial MT"/>
              </a:rPr>
              <a:t> </a:t>
            </a:r>
            <a:r>
              <a:rPr sz="1635" spc="-15" dirty="0">
                <a:latin typeface="Arial MT"/>
                <a:cs typeface="Arial MT"/>
              </a:rPr>
              <a:t>Licklider,</a:t>
            </a:r>
            <a:r>
              <a:rPr sz="1635" spc="-52" dirty="0">
                <a:latin typeface="Arial MT"/>
                <a:cs typeface="Arial MT"/>
              </a:rPr>
              <a:t> </a:t>
            </a:r>
            <a:r>
              <a:rPr sz="1635" dirty="0">
                <a:latin typeface="Arial MT"/>
                <a:cs typeface="Arial MT"/>
              </a:rPr>
              <a:t>a</a:t>
            </a:r>
            <a:r>
              <a:rPr sz="1635" spc="-59" dirty="0">
                <a:latin typeface="Arial MT"/>
                <a:cs typeface="Arial MT"/>
              </a:rPr>
              <a:t> </a:t>
            </a:r>
            <a:r>
              <a:rPr sz="1635" dirty="0">
                <a:latin typeface="Arial MT"/>
                <a:cs typeface="Arial MT"/>
              </a:rPr>
              <a:t>director</a:t>
            </a:r>
            <a:r>
              <a:rPr sz="1635" spc="-52" dirty="0">
                <a:latin typeface="Arial MT"/>
                <a:cs typeface="Arial MT"/>
              </a:rPr>
              <a:t> </a:t>
            </a:r>
            <a:r>
              <a:rPr sz="1635" spc="-37" dirty="0">
                <a:latin typeface="Arial MT"/>
                <a:cs typeface="Arial MT"/>
              </a:rPr>
              <a:t>at </a:t>
            </a:r>
            <a:r>
              <a:rPr sz="1635" i="1" spc="-15" dirty="0">
                <a:latin typeface="Arial"/>
                <a:cs typeface="Arial"/>
              </a:rPr>
              <a:t>Advanced</a:t>
            </a:r>
            <a:r>
              <a:rPr sz="1635" i="1" spc="-59" dirty="0">
                <a:latin typeface="Arial"/>
                <a:cs typeface="Arial"/>
              </a:rPr>
              <a:t> </a:t>
            </a:r>
            <a:r>
              <a:rPr sz="1635" i="1" dirty="0">
                <a:latin typeface="Arial"/>
                <a:cs typeface="Arial"/>
              </a:rPr>
              <a:t>Research</a:t>
            </a:r>
            <a:r>
              <a:rPr sz="1635" i="1" spc="-59" dirty="0">
                <a:latin typeface="Arial"/>
                <a:cs typeface="Arial"/>
              </a:rPr>
              <a:t> </a:t>
            </a:r>
            <a:r>
              <a:rPr sz="1635" i="1" dirty="0">
                <a:latin typeface="Arial"/>
                <a:cs typeface="Arial"/>
              </a:rPr>
              <a:t>Projects</a:t>
            </a:r>
            <a:r>
              <a:rPr sz="1635" i="1" spc="-59" dirty="0">
                <a:latin typeface="Arial"/>
                <a:cs typeface="Arial"/>
              </a:rPr>
              <a:t> </a:t>
            </a:r>
            <a:r>
              <a:rPr sz="1635" i="1" spc="-15" dirty="0">
                <a:latin typeface="Arial"/>
                <a:cs typeface="Arial"/>
              </a:rPr>
              <a:t>Agency </a:t>
            </a:r>
            <a:r>
              <a:rPr sz="1635" i="1" spc="-37" dirty="0">
                <a:latin typeface="Arial"/>
                <a:cs typeface="Arial"/>
              </a:rPr>
              <a:t>(ARPA)</a:t>
            </a:r>
            <a:r>
              <a:rPr sz="1635" spc="-37" dirty="0">
                <a:latin typeface="Arial MT"/>
                <a:cs typeface="Arial MT"/>
              </a:rPr>
              <a:t>,</a:t>
            </a:r>
            <a:r>
              <a:rPr sz="1635" spc="-59" dirty="0">
                <a:latin typeface="Arial MT"/>
                <a:cs typeface="Arial MT"/>
              </a:rPr>
              <a:t> </a:t>
            </a:r>
            <a:r>
              <a:rPr sz="1635" dirty="0">
                <a:latin typeface="Arial MT"/>
                <a:cs typeface="Arial MT"/>
              </a:rPr>
              <a:t>introduced</a:t>
            </a:r>
            <a:r>
              <a:rPr sz="1635" spc="-52" dirty="0">
                <a:latin typeface="Arial MT"/>
                <a:cs typeface="Arial MT"/>
              </a:rPr>
              <a:t> </a:t>
            </a:r>
            <a:r>
              <a:rPr sz="1635" dirty="0">
                <a:latin typeface="Arial MT"/>
                <a:cs typeface="Arial MT"/>
              </a:rPr>
              <a:t>the</a:t>
            </a:r>
            <a:r>
              <a:rPr sz="1635" spc="-59" dirty="0">
                <a:latin typeface="Arial MT"/>
                <a:cs typeface="Arial MT"/>
              </a:rPr>
              <a:t> </a:t>
            </a:r>
            <a:r>
              <a:rPr sz="1635" dirty="0">
                <a:latin typeface="Arial MT"/>
                <a:cs typeface="Arial MT"/>
              </a:rPr>
              <a:t>concept</a:t>
            </a:r>
            <a:r>
              <a:rPr sz="1635" spc="-52" dirty="0">
                <a:latin typeface="Arial MT"/>
                <a:cs typeface="Arial MT"/>
              </a:rPr>
              <a:t> </a:t>
            </a:r>
            <a:r>
              <a:rPr sz="1635" spc="-37" dirty="0">
                <a:latin typeface="Arial MT"/>
                <a:cs typeface="Arial MT"/>
              </a:rPr>
              <a:t>of </a:t>
            </a:r>
            <a:r>
              <a:rPr sz="1635" i="1" dirty="0">
                <a:latin typeface="Arial"/>
                <a:cs typeface="Arial"/>
              </a:rPr>
              <a:t>Intergalactic</a:t>
            </a:r>
            <a:r>
              <a:rPr sz="1635" i="1" spc="-89" dirty="0">
                <a:latin typeface="Arial"/>
                <a:cs typeface="Arial"/>
              </a:rPr>
              <a:t> </a:t>
            </a:r>
            <a:r>
              <a:rPr sz="1635" i="1" dirty="0">
                <a:latin typeface="Arial"/>
                <a:cs typeface="Arial"/>
              </a:rPr>
              <a:t>Computer</a:t>
            </a:r>
            <a:r>
              <a:rPr sz="1635" i="1" spc="-89" dirty="0">
                <a:latin typeface="Arial"/>
                <a:cs typeface="Arial"/>
              </a:rPr>
              <a:t> </a:t>
            </a:r>
            <a:r>
              <a:rPr sz="1635" i="1" spc="-15" dirty="0">
                <a:latin typeface="Arial"/>
                <a:cs typeface="Arial"/>
              </a:rPr>
              <a:t>Network</a:t>
            </a:r>
            <a:r>
              <a:rPr sz="1635" spc="-15" dirty="0">
                <a:latin typeface="Arial MT"/>
                <a:cs typeface="Arial MT"/>
              </a:rPr>
              <a:t>.</a:t>
            </a:r>
            <a:endParaRPr sz="1635" dirty="0">
              <a:latin typeface="Arial MT"/>
              <a:cs typeface="Arial MT"/>
            </a:endParaRPr>
          </a:p>
          <a:p>
            <a:pPr marL="18875" marR="782358" indent="-7550">
              <a:lnSpc>
                <a:spcPct val="102600"/>
              </a:lnSpc>
              <a:spcBef>
                <a:spcPts val="1159"/>
              </a:spcBef>
              <a:buFont typeface="Times New Roman"/>
              <a:buChar char="►"/>
              <a:tabLst>
                <a:tab pos="234991" algn="l"/>
              </a:tabLst>
            </a:pPr>
            <a:r>
              <a:rPr sz="1635" b="1" dirty="0">
                <a:latin typeface="Arial"/>
                <a:cs typeface="Arial"/>
              </a:rPr>
              <a:t>	1960</a:t>
            </a:r>
            <a:r>
              <a:rPr sz="1635" b="1" spc="-52" dirty="0">
                <a:latin typeface="Arial"/>
                <a:cs typeface="Arial"/>
              </a:rPr>
              <a:t> </a:t>
            </a:r>
            <a:r>
              <a:rPr sz="1635" dirty="0">
                <a:latin typeface="Arial MT"/>
                <a:cs typeface="Arial MT"/>
              </a:rPr>
              <a:t>Leonard</a:t>
            </a:r>
            <a:r>
              <a:rPr sz="1635" spc="-52" dirty="0">
                <a:latin typeface="Arial MT"/>
                <a:cs typeface="Arial MT"/>
              </a:rPr>
              <a:t> </a:t>
            </a:r>
            <a:r>
              <a:rPr sz="1635" spc="-15" dirty="0">
                <a:latin typeface="Arial MT"/>
                <a:cs typeface="Arial MT"/>
              </a:rPr>
              <a:t>Kleinrock</a:t>
            </a:r>
            <a:r>
              <a:rPr sz="1635" spc="-52" dirty="0">
                <a:latin typeface="Arial MT"/>
                <a:cs typeface="Arial MT"/>
              </a:rPr>
              <a:t> </a:t>
            </a:r>
            <a:r>
              <a:rPr sz="1635" spc="-15" dirty="0">
                <a:latin typeface="Arial MT"/>
                <a:cs typeface="Arial MT"/>
              </a:rPr>
              <a:t>(@ARPANET): </a:t>
            </a:r>
            <a:r>
              <a:rPr sz="1635" i="1" dirty="0">
                <a:latin typeface="Arial"/>
                <a:cs typeface="Arial"/>
              </a:rPr>
              <a:t>“As</a:t>
            </a:r>
            <a:r>
              <a:rPr sz="1635" i="1" spc="-52" dirty="0">
                <a:latin typeface="Arial"/>
                <a:cs typeface="Arial"/>
              </a:rPr>
              <a:t> </a:t>
            </a:r>
            <a:r>
              <a:rPr sz="1635" i="1" dirty="0">
                <a:latin typeface="Arial"/>
                <a:cs typeface="Arial"/>
              </a:rPr>
              <a:t>of</a:t>
            </a:r>
            <a:r>
              <a:rPr sz="1635" i="1" spc="-52" dirty="0">
                <a:latin typeface="Arial"/>
                <a:cs typeface="Arial"/>
              </a:rPr>
              <a:t> </a:t>
            </a:r>
            <a:r>
              <a:rPr sz="1635" i="1" spc="-30" dirty="0">
                <a:latin typeface="Arial"/>
                <a:cs typeface="Arial"/>
              </a:rPr>
              <a:t>now,</a:t>
            </a:r>
            <a:r>
              <a:rPr sz="1635" i="1" spc="-52" dirty="0">
                <a:latin typeface="Arial"/>
                <a:cs typeface="Arial"/>
              </a:rPr>
              <a:t> </a:t>
            </a:r>
            <a:r>
              <a:rPr sz="1635" i="1" dirty="0">
                <a:latin typeface="Arial"/>
                <a:cs typeface="Arial"/>
              </a:rPr>
              <a:t>computer</a:t>
            </a:r>
            <a:r>
              <a:rPr sz="1635" i="1" spc="-45" dirty="0">
                <a:latin typeface="Arial"/>
                <a:cs typeface="Arial"/>
              </a:rPr>
              <a:t> </a:t>
            </a:r>
            <a:r>
              <a:rPr sz="1635" i="1" dirty="0">
                <a:latin typeface="Arial"/>
                <a:cs typeface="Arial"/>
              </a:rPr>
              <a:t>networks</a:t>
            </a:r>
            <a:r>
              <a:rPr sz="1635" i="1" spc="-52" dirty="0">
                <a:latin typeface="Arial"/>
                <a:cs typeface="Arial"/>
              </a:rPr>
              <a:t> </a:t>
            </a:r>
            <a:r>
              <a:rPr sz="1635" i="1" dirty="0">
                <a:latin typeface="Arial"/>
                <a:cs typeface="Arial"/>
              </a:rPr>
              <a:t>are</a:t>
            </a:r>
            <a:r>
              <a:rPr sz="1635" i="1" spc="-52" dirty="0">
                <a:latin typeface="Arial"/>
                <a:cs typeface="Arial"/>
              </a:rPr>
              <a:t> </a:t>
            </a:r>
            <a:r>
              <a:rPr sz="1635" i="1" dirty="0">
                <a:latin typeface="Arial"/>
                <a:cs typeface="Arial"/>
              </a:rPr>
              <a:t>still</a:t>
            </a:r>
            <a:r>
              <a:rPr sz="1635" i="1" spc="-45" dirty="0">
                <a:latin typeface="Arial"/>
                <a:cs typeface="Arial"/>
              </a:rPr>
              <a:t> </a:t>
            </a:r>
            <a:r>
              <a:rPr sz="1635" i="1" spc="-37" dirty="0">
                <a:latin typeface="Arial"/>
                <a:cs typeface="Arial"/>
              </a:rPr>
              <a:t>in </a:t>
            </a:r>
            <a:r>
              <a:rPr sz="1635" i="1" dirty="0">
                <a:latin typeface="Arial"/>
                <a:cs typeface="Arial"/>
              </a:rPr>
              <a:t>their</a:t>
            </a:r>
            <a:r>
              <a:rPr sz="1635" i="1" spc="-52" dirty="0">
                <a:latin typeface="Arial"/>
                <a:cs typeface="Arial"/>
              </a:rPr>
              <a:t> </a:t>
            </a:r>
            <a:r>
              <a:rPr sz="1635" i="1" spc="-15" dirty="0">
                <a:latin typeface="Arial"/>
                <a:cs typeface="Arial"/>
              </a:rPr>
              <a:t>infancy.</a:t>
            </a:r>
            <a:r>
              <a:rPr sz="1635" i="1" spc="45" dirty="0">
                <a:latin typeface="Arial"/>
                <a:cs typeface="Arial"/>
              </a:rPr>
              <a:t> </a:t>
            </a:r>
            <a:r>
              <a:rPr sz="1635" i="1" dirty="0">
                <a:latin typeface="Arial"/>
                <a:cs typeface="Arial"/>
              </a:rPr>
              <a:t>But</a:t>
            </a:r>
            <a:r>
              <a:rPr sz="1635" i="1" spc="-52" dirty="0">
                <a:latin typeface="Arial"/>
                <a:cs typeface="Arial"/>
              </a:rPr>
              <a:t> </a:t>
            </a:r>
            <a:r>
              <a:rPr sz="1635" i="1" dirty="0">
                <a:latin typeface="Arial"/>
                <a:cs typeface="Arial"/>
              </a:rPr>
              <a:t>as</a:t>
            </a:r>
            <a:r>
              <a:rPr sz="1635" i="1" spc="-52" dirty="0">
                <a:latin typeface="Arial"/>
                <a:cs typeface="Arial"/>
              </a:rPr>
              <a:t> </a:t>
            </a:r>
            <a:r>
              <a:rPr sz="1635" i="1" dirty="0">
                <a:latin typeface="Arial"/>
                <a:cs typeface="Arial"/>
              </a:rPr>
              <a:t>they</a:t>
            </a:r>
            <a:r>
              <a:rPr sz="1635" i="1" spc="-52" dirty="0">
                <a:latin typeface="Arial"/>
                <a:cs typeface="Arial"/>
              </a:rPr>
              <a:t> </a:t>
            </a:r>
            <a:r>
              <a:rPr sz="1635" i="1" dirty="0">
                <a:latin typeface="Arial"/>
                <a:cs typeface="Arial"/>
              </a:rPr>
              <a:t>[...]</a:t>
            </a:r>
            <a:r>
              <a:rPr sz="1635" i="1" spc="45" dirty="0">
                <a:latin typeface="Arial"/>
                <a:cs typeface="Arial"/>
              </a:rPr>
              <a:t> </a:t>
            </a:r>
            <a:r>
              <a:rPr sz="1635" i="1" dirty="0">
                <a:latin typeface="Arial"/>
                <a:cs typeface="Arial"/>
              </a:rPr>
              <a:t>become</a:t>
            </a:r>
            <a:r>
              <a:rPr sz="1635" i="1" spc="-52" dirty="0">
                <a:latin typeface="Arial"/>
                <a:cs typeface="Arial"/>
              </a:rPr>
              <a:t> </a:t>
            </a:r>
            <a:r>
              <a:rPr sz="1635" i="1" spc="-30" dirty="0">
                <a:latin typeface="Arial"/>
                <a:cs typeface="Arial"/>
              </a:rPr>
              <a:t>more </a:t>
            </a:r>
            <a:r>
              <a:rPr sz="1635" i="1" dirty="0">
                <a:latin typeface="Arial"/>
                <a:cs typeface="Arial"/>
              </a:rPr>
              <a:t>sophisticated,</a:t>
            </a:r>
            <a:r>
              <a:rPr sz="1635" i="1" spc="-59" dirty="0">
                <a:latin typeface="Arial"/>
                <a:cs typeface="Arial"/>
              </a:rPr>
              <a:t> </a:t>
            </a:r>
            <a:r>
              <a:rPr sz="1635" i="1" dirty="0">
                <a:latin typeface="Arial"/>
                <a:cs typeface="Arial"/>
              </a:rPr>
              <a:t>we</a:t>
            </a:r>
            <a:r>
              <a:rPr sz="1635" i="1" spc="-59" dirty="0">
                <a:latin typeface="Arial"/>
                <a:cs typeface="Arial"/>
              </a:rPr>
              <a:t> </a:t>
            </a:r>
            <a:r>
              <a:rPr sz="1635" i="1" dirty="0">
                <a:latin typeface="Arial"/>
                <a:cs typeface="Arial"/>
              </a:rPr>
              <a:t>will</a:t>
            </a:r>
            <a:r>
              <a:rPr sz="1635" i="1" spc="-52" dirty="0">
                <a:latin typeface="Arial"/>
                <a:cs typeface="Arial"/>
              </a:rPr>
              <a:t> </a:t>
            </a:r>
            <a:r>
              <a:rPr sz="1635" i="1" spc="-15" dirty="0">
                <a:latin typeface="Arial"/>
                <a:cs typeface="Arial"/>
              </a:rPr>
              <a:t>probably</a:t>
            </a:r>
            <a:r>
              <a:rPr sz="1635" i="1" spc="-59" dirty="0">
                <a:latin typeface="Arial"/>
                <a:cs typeface="Arial"/>
              </a:rPr>
              <a:t> </a:t>
            </a:r>
            <a:r>
              <a:rPr sz="1635" i="1" dirty="0">
                <a:latin typeface="Arial"/>
                <a:cs typeface="Arial"/>
              </a:rPr>
              <a:t>see</a:t>
            </a:r>
            <a:r>
              <a:rPr sz="1635" i="1" spc="-52" dirty="0">
                <a:latin typeface="Arial"/>
                <a:cs typeface="Arial"/>
              </a:rPr>
              <a:t> </a:t>
            </a:r>
            <a:r>
              <a:rPr sz="1635" i="1" spc="-37" dirty="0">
                <a:latin typeface="Arial"/>
                <a:cs typeface="Arial"/>
              </a:rPr>
              <a:t>the </a:t>
            </a:r>
            <a:r>
              <a:rPr sz="1635" i="1" dirty="0">
                <a:latin typeface="Arial"/>
                <a:cs typeface="Arial"/>
              </a:rPr>
              <a:t>spread</a:t>
            </a:r>
            <a:r>
              <a:rPr sz="1635" i="1" spc="-52" dirty="0">
                <a:latin typeface="Arial"/>
                <a:cs typeface="Arial"/>
              </a:rPr>
              <a:t> </a:t>
            </a:r>
            <a:r>
              <a:rPr sz="1635" i="1" dirty="0">
                <a:latin typeface="Arial"/>
                <a:cs typeface="Arial"/>
              </a:rPr>
              <a:t>of</a:t>
            </a:r>
            <a:r>
              <a:rPr sz="1635" i="1" spc="-52" dirty="0">
                <a:latin typeface="Arial"/>
                <a:cs typeface="Arial"/>
              </a:rPr>
              <a:t> </a:t>
            </a:r>
            <a:r>
              <a:rPr sz="1635" i="1" dirty="0">
                <a:solidFill>
                  <a:srgbClr val="FF0000"/>
                </a:solidFill>
                <a:latin typeface="Arial"/>
                <a:cs typeface="Arial"/>
              </a:rPr>
              <a:t>computer</a:t>
            </a:r>
            <a:r>
              <a:rPr sz="1635" i="1" spc="-52" dirty="0">
                <a:solidFill>
                  <a:srgbClr val="FF0000"/>
                </a:solidFill>
                <a:latin typeface="Arial"/>
                <a:cs typeface="Arial"/>
              </a:rPr>
              <a:t> </a:t>
            </a:r>
            <a:r>
              <a:rPr sz="1635" i="1" spc="-15" dirty="0">
                <a:solidFill>
                  <a:srgbClr val="FF0000"/>
                </a:solidFill>
                <a:latin typeface="Arial"/>
                <a:cs typeface="Arial"/>
              </a:rPr>
              <a:t>utilities</a:t>
            </a:r>
            <a:r>
              <a:rPr sz="1635" i="1" spc="-15" dirty="0">
                <a:latin typeface="Arial"/>
                <a:cs typeface="Arial"/>
              </a:rPr>
              <a:t>.”</a:t>
            </a:r>
            <a:endParaRPr sz="1635" dirty="0">
              <a:latin typeface="Arial"/>
              <a:cs typeface="Arial"/>
            </a:endParaRPr>
          </a:p>
        </p:txBody>
      </p:sp>
      <p:pic>
        <p:nvPicPr>
          <p:cNvPr id="29" name="object 29"/>
          <p:cNvPicPr/>
          <p:nvPr/>
        </p:nvPicPr>
        <p:blipFill>
          <a:blip r:embed="rId4" cstate="print"/>
          <a:stretch>
            <a:fillRect/>
          </a:stretch>
        </p:blipFill>
        <p:spPr>
          <a:xfrm>
            <a:off x="6707260" y="3400731"/>
            <a:ext cx="1203861" cy="1605150"/>
          </a:xfrm>
          <a:prstGeom prst="rect">
            <a:avLst/>
          </a:prstGeom>
        </p:spPr>
      </p:pic>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3011487" y="72879"/>
            <a:ext cx="4780156" cy="456618"/>
          </a:xfrm>
          <a:prstGeom prst="rect">
            <a:avLst/>
          </a:prstGeom>
        </p:spPr>
        <p:txBody>
          <a:bodyPr vert="horz" wrap="square" lIns="0" tIns="25482" rIns="0" bIns="0" rtlCol="0">
            <a:spAutoFit/>
          </a:bodyPr>
          <a:lstStyle/>
          <a:p>
            <a:pPr marL="18875">
              <a:spcBef>
                <a:spcPts val="201"/>
              </a:spcBef>
            </a:pPr>
            <a:r>
              <a:rPr dirty="0"/>
              <a:t>Cloud</a:t>
            </a:r>
            <a:r>
              <a:rPr spc="149" dirty="0"/>
              <a:t> </a:t>
            </a:r>
            <a:r>
              <a:rPr dirty="0"/>
              <a:t>Computing:</a:t>
            </a:r>
            <a:r>
              <a:rPr spc="327" dirty="0"/>
              <a:t> </a:t>
            </a:r>
            <a:r>
              <a:rPr spc="-15" dirty="0"/>
              <a:t>Origins</a:t>
            </a:r>
          </a:p>
        </p:txBody>
      </p:sp>
      <p:sp>
        <p:nvSpPr>
          <p:cNvPr id="28" name="object 28"/>
          <p:cNvSpPr txBox="1"/>
          <p:nvPr/>
        </p:nvSpPr>
        <p:spPr>
          <a:xfrm>
            <a:off x="697636" y="819150"/>
            <a:ext cx="4028918" cy="2575398"/>
          </a:xfrm>
          <a:prstGeom prst="rect">
            <a:avLst/>
          </a:prstGeom>
        </p:spPr>
        <p:txBody>
          <a:bodyPr vert="horz" wrap="square" lIns="0" tIns="115139" rIns="0" bIns="0" rtlCol="0">
            <a:spAutoFit/>
          </a:bodyPr>
          <a:lstStyle/>
          <a:p>
            <a:pPr marL="139673">
              <a:spcBef>
                <a:spcPts val="907"/>
              </a:spcBef>
            </a:pPr>
            <a:r>
              <a:rPr sz="1635" spc="-15" dirty="0">
                <a:latin typeface="Arial MT"/>
                <a:cs typeface="Arial MT"/>
              </a:rPr>
              <a:t>(</a:t>
            </a:r>
            <a:r>
              <a:rPr sz="1635" i="1" spc="-15" dirty="0">
                <a:latin typeface="Arial"/>
                <a:cs typeface="Arial"/>
              </a:rPr>
              <a:t>Fast</a:t>
            </a:r>
            <a:r>
              <a:rPr sz="1635" i="1" spc="-52" dirty="0">
                <a:latin typeface="Arial"/>
                <a:cs typeface="Arial"/>
              </a:rPr>
              <a:t> </a:t>
            </a:r>
            <a:r>
              <a:rPr sz="1635" i="1" spc="-15" dirty="0">
                <a:latin typeface="Arial"/>
                <a:cs typeface="Arial"/>
              </a:rPr>
              <a:t>Forward</a:t>
            </a:r>
            <a:r>
              <a:rPr sz="1635" i="1" spc="-45" dirty="0">
                <a:latin typeface="Arial"/>
                <a:cs typeface="Arial"/>
              </a:rPr>
              <a:t> </a:t>
            </a:r>
            <a:r>
              <a:rPr sz="1635" i="1" dirty="0">
                <a:latin typeface="Arial"/>
                <a:cs typeface="Arial"/>
              </a:rPr>
              <a:t>30</a:t>
            </a:r>
            <a:r>
              <a:rPr sz="1635" i="1" spc="-45" dirty="0">
                <a:latin typeface="Arial"/>
                <a:cs typeface="Arial"/>
              </a:rPr>
              <a:t> </a:t>
            </a:r>
            <a:r>
              <a:rPr sz="1635" i="1" spc="-15" dirty="0">
                <a:latin typeface="Arial"/>
                <a:cs typeface="Arial"/>
              </a:rPr>
              <a:t>years</a:t>
            </a:r>
            <a:r>
              <a:rPr sz="1635" spc="-15" dirty="0">
                <a:latin typeface="Arial MT"/>
                <a:cs typeface="Arial MT"/>
              </a:rPr>
              <a:t>):</a:t>
            </a:r>
            <a:endParaRPr sz="1635" dirty="0">
              <a:latin typeface="Arial MT"/>
              <a:cs typeface="Arial MT"/>
            </a:endParaRPr>
          </a:p>
          <a:p>
            <a:pPr marL="18875" marR="112305" indent="-7550">
              <a:lnSpc>
                <a:spcPct val="102600"/>
              </a:lnSpc>
              <a:spcBef>
                <a:spcPts val="706"/>
              </a:spcBef>
              <a:buFont typeface="Times New Roman"/>
              <a:buChar char="►"/>
              <a:tabLst>
                <a:tab pos="234991" algn="l"/>
              </a:tabLst>
            </a:pPr>
            <a:r>
              <a:rPr sz="1635" b="1" dirty="0">
                <a:latin typeface="Arial"/>
                <a:cs typeface="Arial"/>
              </a:rPr>
              <a:t>	Late</a:t>
            </a:r>
            <a:r>
              <a:rPr sz="1635" b="1" spc="-22" dirty="0">
                <a:latin typeface="Arial"/>
                <a:cs typeface="Arial"/>
              </a:rPr>
              <a:t> </a:t>
            </a:r>
            <a:r>
              <a:rPr sz="1635" b="1" dirty="0">
                <a:latin typeface="Arial"/>
                <a:cs typeface="Arial"/>
              </a:rPr>
              <a:t>1990s</a:t>
            </a:r>
            <a:r>
              <a:rPr sz="1635" dirty="0">
                <a:latin typeface="Arial MT"/>
                <a:cs typeface="Arial MT"/>
              </a:rPr>
              <a:t>:</a:t>
            </a:r>
            <a:r>
              <a:rPr sz="1635" spc="82" dirty="0">
                <a:latin typeface="Arial MT"/>
                <a:cs typeface="Arial MT"/>
              </a:rPr>
              <a:t> </a:t>
            </a:r>
            <a:r>
              <a:rPr sz="1635" spc="126" dirty="0">
                <a:latin typeface="Calibri"/>
                <a:cs typeface="Calibri"/>
              </a:rPr>
              <a:t>Salesforce.com</a:t>
            </a:r>
            <a:r>
              <a:rPr sz="1635" spc="59" dirty="0">
                <a:latin typeface="Calibri"/>
                <a:cs typeface="Calibri"/>
              </a:rPr>
              <a:t> </a:t>
            </a:r>
            <a:r>
              <a:rPr sz="1635" spc="-15" dirty="0">
                <a:latin typeface="Arial MT"/>
                <a:cs typeface="Arial MT"/>
              </a:rPr>
              <a:t>pioneered </a:t>
            </a:r>
            <a:r>
              <a:rPr sz="1635" dirty="0">
                <a:latin typeface="Arial MT"/>
                <a:cs typeface="Arial MT"/>
              </a:rPr>
              <a:t>remotely</a:t>
            </a:r>
            <a:r>
              <a:rPr sz="1635" spc="-45" dirty="0">
                <a:latin typeface="Arial MT"/>
                <a:cs typeface="Arial MT"/>
              </a:rPr>
              <a:t> </a:t>
            </a:r>
            <a:r>
              <a:rPr sz="1635" spc="-15" dirty="0">
                <a:latin typeface="Arial MT"/>
                <a:cs typeface="Arial MT"/>
              </a:rPr>
              <a:t>provisioned</a:t>
            </a:r>
            <a:r>
              <a:rPr sz="1635" spc="-45" dirty="0">
                <a:latin typeface="Arial MT"/>
                <a:cs typeface="Arial MT"/>
              </a:rPr>
              <a:t> </a:t>
            </a:r>
            <a:r>
              <a:rPr sz="1635" spc="-15" dirty="0">
                <a:latin typeface="Arial MT"/>
                <a:cs typeface="Arial MT"/>
              </a:rPr>
              <a:t>services.</a:t>
            </a:r>
            <a:endParaRPr sz="1635" dirty="0">
              <a:latin typeface="Arial MT"/>
              <a:cs typeface="Arial MT"/>
            </a:endParaRPr>
          </a:p>
          <a:p>
            <a:pPr marL="18875" marR="7550" indent="-7550">
              <a:lnSpc>
                <a:spcPct val="102699"/>
              </a:lnSpc>
              <a:spcBef>
                <a:spcPts val="1665"/>
              </a:spcBef>
              <a:buFont typeface="Times New Roman"/>
              <a:buChar char="►"/>
              <a:tabLst>
                <a:tab pos="234991" algn="l"/>
              </a:tabLst>
            </a:pPr>
            <a:r>
              <a:rPr sz="1635" b="1" dirty="0">
                <a:latin typeface="Arial"/>
                <a:cs typeface="Arial"/>
              </a:rPr>
              <a:t>	2002</a:t>
            </a:r>
            <a:r>
              <a:rPr sz="1635" b="1" spc="-52" dirty="0">
                <a:latin typeface="Arial"/>
                <a:cs typeface="Arial"/>
              </a:rPr>
              <a:t> </a:t>
            </a:r>
            <a:r>
              <a:rPr sz="1635" spc="-15" dirty="0">
                <a:latin typeface="Calibri"/>
                <a:cs typeface="Calibri"/>
              </a:rPr>
              <a:t>Amazon.com</a:t>
            </a:r>
            <a:r>
              <a:rPr sz="1635" spc="30" dirty="0">
                <a:latin typeface="Calibri"/>
                <a:cs typeface="Calibri"/>
              </a:rPr>
              <a:t> </a:t>
            </a:r>
            <a:r>
              <a:rPr sz="1635" spc="-15" dirty="0">
                <a:latin typeface="Arial MT"/>
                <a:cs typeface="Arial MT"/>
              </a:rPr>
              <a:t>launched</a:t>
            </a:r>
            <a:r>
              <a:rPr sz="1635" spc="-45" dirty="0">
                <a:latin typeface="Arial MT"/>
                <a:cs typeface="Arial MT"/>
              </a:rPr>
              <a:t> </a:t>
            </a:r>
            <a:r>
              <a:rPr sz="1635" i="1" dirty="0">
                <a:latin typeface="Arial"/>
                <a:cs typeface="Arial"/>
              </a:rPr>
              <a:t>Amazon</a:t>
            </a:r>
            <a:r>
              <a:rPr sz="1635" i="1" spc="-52" dirty="0">
                <a:latin typeface="Arial"/>
                <a:cs typeface="Arial"/>
              </a:rPr>
              <a:t> </a:t>
            </a:r>
            <a:r>
              <a:rPr sz="1635" i="1" spc="-37" dirty="0">
                <a:latin typeface="Arial"/>
                <a:cs typeface="Arial"/>
              </a:rPr>
              <a:t>Web </a:t>
            </a:r>
            <a:r>
              <a:rPr sz="1635" i="1" dirty="0">
                <a:latin typeface="Arial"/>
                <a:cs typeface="Arial"/>
              </a:rPr>
              <a:t>Services</a:t>
            </a:r>
            <a:r>
              <a:rPr sz="1635" i="1" spc="-67" dirty="0">
                <a:latin typeface="Arial"/>
                <a:cs typeface="Arial"/>
              </a:rPr>
              <a:t> </a:t>
            </a:r>
            <a:r>
              <a:rPr sz="1635" i="1" spc="-15" dirty="0">
                <a:latin typeface="Arial"/>
                <a:cs typeface="Arial"/>
              </a:rPr>
              <a:t>(AWS)</a:t>
            </a:r>
            <a:r>
              <a:rPr sz="1635" i="1" spc="-52" dirty="0">
                <a:latin typeface="Arial"/>
                <a:cs typeface="Arial"/>
              </a:rPr>
              <a:t> </a:t>
            </a:r>
            <a:r>
              <a:rPr sz="1635" spc="-15" dirty="0">
                <a:latin typeface="Arial MT"/>
                <a:cs typeface="Arial MT"/>
              </a:rPr>
              <a:t>platform.</a:t>
            </a:r>
            <a:endParaRPr sz="1635" dirty="0">
              <a:latin typeface="Arial MT"/>
              <a:cs typeface="Arial MT"/>
            </a:endParaRPr>
          </a:p>
          <a:p>
            <a:pPr marL="18875" marR="277459" indent="-7550">
              <a:lnSpc>
                <a:spcPct val="102600"/>
              </a:lnSpc>
              <a:spcBef>
                <a:spcPts val="840"/>
              </a:spcBef>
              <a:buFont typeface="Times New Roman"/>
              <a:buChar char="►"/>
              <a:tabLst>
                <a:tab pos="234991" algn="l"/>
              </a:tabLst>
            </a:pPr>
            <a:r>
              <a:rPr sz="1635" b="1" dirty="0">
                <a:latin typeface="Arial"/>
                <a:cs typeface="Arial"/>
              </a:rPr>
              <a:t>	2006</a:t>
            </a:r>
            <a:r>
              <a:rPr sz="1635" dirty="0">
                <a:latin typeface="Arial MT"/>
                <a:cs typeface="Arial MT"/>
              </a:rPr>
              <a:t>:</a:t>
            </a:r>
            <a:r>
              <a:rPr sz="1635" spc="45" dirty="0">
                <a:latin typeface="Arial MT"/>
                <a:cs typeface="Arial MT"/>
              </a:rPr>
              <a:t> </a:t>
            </a:r>
            <a:r>
              <a:rPr sz="1635" dirty="0">
                <a:latin typeface="Arial MT"/>
                <a:cs typeface="Arial MT"/>
              </a:rPr>
              <a:t>The</a:t>
            </a:r>
            <a:r>
              <a:rPr sz="1635" spc="-52" dirty="0">
                <a:latin typeface="Arial MT"/>
                <a:cs typeface="Arial MT"/>
              </a:rPr>
              <a:t> </a:t>
            </a:r>
            <a:r>
              <a:rPr sz="1635" dirty="0">
                <a:latin typeface="Arial MT"/>
                <a:cs typeface="Arial MT"/>
              </a:rPr>
              <a:t>term</a:t>
            </a:r>
            <a:r>
              <a:rPr sz="1635" spc="-45" dirty="0">
                <a:latin typeface="Arial MT"/>
                <a:cs typeface="Arial MT"/>
              </a:rPr>
              <a:t> </a:t>
            </a:r>
            <a:r>
              <a:rPr sz="1635" dirty="0">
                <a:solidFill>
                  <a:srgbClr val="FF0000"/>
                </a:solidFill>
                <a:latin typeface="Arial MT"/>
                <a:cs typeface="Arial MT"/>
              </a:rPr>
              <a:t>Cloud</a:t>
            </a:r>
            <a:r>
              <a:rPr sz="1635" spc="-45" dirty="0">
                <a:solidFill>
                  <a:srgbClr val="FF0000"/>
                </a:solidFill>
                <a:latin typeface="Arial MT"/>
                <a:cs typeface="Arial MT"/>
              </a:rPr>
              <a:t> </a:t>
            </a:r>
            <a:r>
              <a:rPr sz="1635" spc="-15" dirty="0">
                <a:solidFill>
                  <a:srgbClr val="FF0000"/>
                </a:solidFill>
                <a:latin typeface="Arial MT"/>
                <a:cs typeface="Arial MT"/>
              </a:rPr>
              <a:t>Computing </a:t>
            </a:r>
            <a:r>
              <a:rPr sz="1635" dirty="0">
                <a:latin typeface="Arial MT"/>
                <a:cs typeface="Arial MT"/>
              </a:rPr>
              <a:t>emerged</a:t>
            </a:r>
            <a:r>
              <a:rPr sz="1635" spc="-82" dirty="0">
                <a:latin typeface="Arial MT"/>
                <a:cs typeface="Arial MT"/>
              </a:rPr>
              <a:t> </a:t>
            </a:r>
            <a:r>
              <a:rPr sz="1635" spc="-15" dirty="0">
                <a:latin typeface="Arial MT"/>
                <a:cs typeface="Arial MT"/>
              </a:rPr>
              <a:t>commercially.</a:t>
            </a:r>
            <a:r>
              <a:rPr sz="1635" spc="15" dirty="0">
                <a:latin typeface="Arial MT"/>
                <a:cs typeface="Arial MT"/>
              </a:rPr>
              <a:t> </a:t>
            </a:r>
            <a:r>
              <a:rPr sz="1635" spc="-37" dirty="0">
                <a:latin typeface="Calibri"/>
                <a:cs typeface="Calibri"/>
              </a:rPr>
              <a:t>Amazon</a:t>
            </a:r>
            <a:r>
              <a:rPr sz="1635" dirty="0">
                <a:latin typeface="Calibri"/>
                <a:cs typeface="Calibri"/>
              </a:rPr>
              <a:t> </a:t>
            </a:r>
            <a:r>
              <a:rPr sz="1635" spc="-15" dirty="0">
                <a:latin typeface="Arial MT"/>
                <a:cs typeface="Arial MT"/>
              </a:rPr>
              <a:t>launched </a:t>
            </a:r>
            <a:r>
              <a:rPr sz="1635" i="1" dirty="0">
                <a:latin typeface="Arial"/>
                <a:cs typeface="Arial"/>
              </a:rPr>
              <a:t>Elastic</a:t>
            </a:r>
            <a:r>
              <a:rPr sz="1635" i="1" spc="-97" dirty="0">
                <a:latin typeface="Arial"/>
                <a:cs typeface="Arial"/>
              </a:rPr>
              <a:t> </a:t>
            </a:r>
            <a:r>
              <a:rPr sz="1635" i="1" dirty="0">
                <a:latin typeface="Arial"/>
                <a:cs typeface="Arial"/>
              </a:rPr>
              <a:t>Compute</a:t>
            </a:r>
            <a:r>
              <a:rPr sz="1635" i="1" spc="-89" dirty="0">
                <a:latin typeface="Arial"/>
                <a:cs typeface="Arial"/>
              </a:rPr>
              <a:t> </a:t>
            </a:r>
            <a:r>
              <a:rPr sz="1635" i="1" dirty="0">
                <a:latin typeface="Arial"/>
                <a:cs typeface="Arial"/>
              </a:rPr>
              <a:t>Cloud</a:t>
            </a:r>
            <a:r>
              <a:rPr sz="1635" i="1" spc="-89" dirty="0">
                <a:latin typeface="Arial"/>
                <a:cs typeface="Arial"/>
              </a:rPr>
              <a:t> </a:t>
            </a:r>
            <a:r>
              <a:rPr sz="1635" i="1" spc="-15" dirty="0">
                <a:latin typeface="Arial"/>
                <a:cs typeface="Arial"/>
              </a:rPr>
              <a:t>(EC2)</a:t>
            </a:r>
            <a:r>
              <a:rPr sz="1635" spc="-15" dirty="0">
                <a:latin typeface="Arial MT"/>
                <a:cs typeface="Arial MT"/>
              </a:rPr>
              <a:t>.</a:t>
            </a:r>
            <a:endParaRPr sz="1635" dirty="0">
              <a:latin typeface="Arial MT"/>
              <a:cs typeface="Arial MT"/>
            </a:endParaRPr>
          </a:p>
        </p:txBody>
      </p:sp>
      <p:pic>
        <p:nvPicPr>
          <p:cNvPr id="29" name="object 29"/>
          <p:cNvPicPr/>
          <p:nvPr/>
        </p:nvPicPr>
        <p:blipFill>
          <a:blip r:embed="rId2" cstate="print"/>
          <a:stretch>
            <a:fillRect/>
          </a:stretch>
        </p:blipFill>
        <p:spPr>
          <a:xfrm>
            <a:off x="5002622" y="1205116"/>
            <a:ext cx="1140758" cy="716143"/>
          </a:xfrm>
          <a:prstGeom prst="rect">
            <a:avLst/>
          </a:prstGeom>
        </p:spPr>
      </p:pic>
      <p:pic>
        <p:nvPicPr>
          <p:cNvPr id="30" name="object 30"/>
          <p:cNvPicPr/>
          <p:nvPr/>
        </p:nvPicPr>
        <p:blipFill>
          <a:blip r:embed="rId3" cstate="print"/>
          <a:stretch>
            <a:fillRect/>
          </a:stretch>
        </p:blipFill>
        <p:spPr>
          <a:xfrm>
            <a:off x="5002622" y="2092646"/>
            <a:ext cx="1140583" cy="402558"/>
          </a:xfrm>
          <a:prstGeom prst="rect">
            <a:avLst/>
          </a:prstGeom>
        </p:spPr>
      </p:pic>
      <p:pic>
        <p:nvPicPr>
          <p:cNvPr id="31" name="object 31"/>
          <p:cNvPicPr/>
          <p:nvPr/>
        </p:nvPicPr>
        <p:blipFill>
          <a:blip r:embed="rId4" cstate="print"/>
          <a:stretch>
            <a:fillRect/>
          </a:stretch>
        </p:blipFill>
        <p:spPr>
          <a:xfrm>
            <a:off x="5050375" y="2927523"/>
            <a:ext cx="1058512" cy="230802"/>
          </a:xfrm>
          <a:prstGeom prst="rect">
            <a:avLst/>
          </a:prstGeom>
        </p:spPr>
      </p:pic>
      <p:sp>
        <p:nvSpPr>
          <p:cNvPr id="32" name="object 32"/>
          <p:cNvSpPr txBox="1"/>
          <p:nvPr/>
        </p:nvSpPr>
        <p:spPr>
          <a:xfrm>
            <a:off x="697636" y="3672218"/>
            <a:ext cx="3326759" cy="511773"/>
          </a:xfrm>
          <a:prstGeom prst="rect">
            <a:avLst/>
          </a:prstGeom>
        </p:spPr>
        <p:txBody>
          <a:bodyPr vert="horz" wrap="square" lIns="0" tIns="10381" rIns="0" bIns="0" rtlCol="0">
            <a:spAutoFit/>
          </a:bodyPr>
          <a:lstStyle/>
          <a:p>
            <a:pPr marL="18875" marR="7550" indent="-7550">
              <a:lnSpc>
                <a:spcPct val="102600"/>
              </a:lnSpc>
              <a:spcBef>
                <a:spcPts val="82"/>
              </a:spcBef>
              <a:buFont typeface="Times New Roman"/>
              <a:buChar char="►"/>
              <a:tabLst>
                <a:tab pos="234991" algn="l"/>
              </a:tabLst>
            </a:pPr>
            <a:r>
              <a:rPr sz="1635" b="1" dirty="0">
                <a:latin typeface="Arial"/>
                <a:cs typeface="Arial"/>
              </a:rPr>
              <a:t>	2009</a:t>
            </a:r>
            <a:r>
              <a:rPr sz="1635" dirty="0">
                <a:latin typeface="Arial MT"/>
                <a:cs typeface="Arial MT"/>
              </a:rPr>
              <a:t>:</a:t>
            </a:r>
            <a:r>
              <a:rPr sz="1635" spc="156" dirty="0">
                <a:latin typeface="Arial MT"/>
                <a:cs typeface="Arial MT"/>
              </a:rPr>
              <a:t> </a:t>
            </a:r>
            <a:r>
              <a:rPr sz="1635" dirty="0">
                <a:latin typeface="Calibri"/>
                <a:cs typeface="Calibri"/>
              </a:rPr>
              <a:t>Google</a:t>
            </a:r>
            <a:r>
              <a:rPr sz="1635" spc="119" dirty="0">
                <a:latin typeface="Calibri"/>
                <a:cs typeface="Calibri"/>
              </a:rPr>
              <a:t> </a:t>
            </a:r>
            <a:r>
              <a:rPr sz="1635" dirty="0">
                <a:latin typeface="Arial MT"/>
                <a:cs typeface="Arial MT"/>
              </a:rPr>
              <a:t>offered</a:t>
            </a:r>
            <a:r>
              <a:rPr sz="1635" spc="45" dirty="0">
                <a:latin typeface="Arial MT"/>
                <a:cs typeface="Arial MT"/>
              </a:rPr>
              <a:t> </a:t>
            </a:r>
            <a:r>
              <a:rPr sz="1635" i="1" dirty="0">
                <a:latin typeface="Arial"/>
                <a:cs typeface="Arial"/>
              </a:rPr>
              <a:t>Google</a:t>
            </a:r>
            <a:r>
              <a:rPr sz="1635" i="1" spc="37" dirty="0">
                <a:latin typeface="Arial"/>
                <a:cs typeface="Arial"/>
              </a:rPr>
              <a:t> </a:t>
            </a:r>
            <a:r>
              <a:rPr sz="1635" i="1" spc="-37" dirty="0">
                <a:latin typeface="Arial"/>
                <a:cs typeface="Arial"/>
              </a:rPr>
              <a:t>App </a:t>
            </a:r>
            <a:r>
              <a:rPr sz="1635" i="1" spc="-15" dirty="0">
                <a:latin typeface="Arial"/>
                <a:cs typeface="Arial"/>
              </a:rPr>
              <a:t>Engine</a:t>
            </a:r>
            <a:r>
              <a:rPr sz="1635" spc="-15" dirty="0">
                <a:latin typeface="Arial MT"/>
                <a:cs typeface="Arial MT"/>
              </a:rPr>
              <a:t>.</a:t>
            </a:r>
            <a:endParaRPr sz="1635">
              <a:latin typeface="Arial MT"/>
              <a:cs typeface="Arial MT"/>
            </a:endParaRPr>
          </a:p>
        </p:txBody>
      </p:sp>
      <p:pic>
        <p:nvPicPr>
          <p:cNvPr id="33" name="object 33"/>
          <p:cNvPicPr/>
          <p:nvPr/>
        </p:nvPicPr>
        <p:blipFill>
          <a:blip r:embed="rId5" cstate="print"/>
          <a:stretch>
            <a:fillRect/>
          </a:stretch>
        </p:blipFill>
        <p:spPr>
          <a:xfrm>
            <a:off x="5093879" y="3401530"/>
            <a:ext cx="942998" cy="1095095"/>
          </a:xfrm>
          <a:prstGeom prst="rect">
            <a:avLst/>
          </a:prstGeom>
        </p:spPr>
      </p:pic>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153130" y="4678785"/>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6" name="object 6"/>
          <p:cNvSpPr/>
          <p:nvPr/>
        </p:nvSpPr>
        <p:spPr>
          <a:xfrm>
            <a:off x="4034800" y="4672897"/>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7" name="object 7"/>
          <p:cNvSpPr/>
          <p:nvPr/>
        </p:nvSpPr>
        <p:spPr>
          <a:xfrm>
            <a:off x="4299057" y="4672897"/>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8" name="object 8"/>
          <p:cNvGrpSpPr/>
          <p:nvPr/>
        </p:nvGrpSpPr>
        <p:grpSpPr>
          <a:xfrm>
            <a:off x="4431803" y="4659698"/>
            <a:ext cx="302004" cy="83051"/>
            <a:chOff x="3275863" y="3358384"/>
            <a:chExt cx="203200" cy="55880"/>
          </a:xfrm>
        </p:grpSpPr>
        <p:sp>
          <p:nvSpPr>
            <p:cNvPr id="9" name="object 9"/>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0" name="object 10"/>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1" name="object 11"/>
          <p:cNvGrpSpPr/>
          <p:nvPr/>
        </p:nvGrpSpPr>
        <p:grpSpPr>
          <a:xfrm>
            <a:off x="4828805" y="4657818"/>
            <a:ext cx="302004" cy="86825"/>
            <a:chOff x="3542982" y="3357119"/>
            <a:chExt cx="203200" cy="58419"/>
          </a:xfrm>
        </p:grpSpPr>
        <p:sp>
          <p:nvSpPr>
            <p:cNvPr id="12" name="object 12"/>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3" name="object 13"/>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4" name="object 14"/>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5" name="object 15"/>
          <p:cNvGrpSpPr/>
          <p:nvPr/>
        </p:nvGrpSpPr>
        <p:grpSpPr>
          <a:xfrm>
            <a:off x="5225808" y="4657818"/>
            <a:ext cx="302004" cy="86825"/>
            <a:chOff x="3810101" y="3357119"/>
            <a:chExt cx="203200" cy="58419"/>
          </a:xfrm>
        </p:grpSpPr>
        <p:sp>
          <p:nvSpPr>
            <p:cNvPr id="16" name="object 16"/>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17" name="object 17"/>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8" name="object 18"/>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grpSp>
        <p:nvGrpSpPr>
          <p:cNvPr id="20" name="object 20"/>
          <p:cNvGrpSpPr/>
          <p:nvPr/>
        </p:nvGrpSpPr>
        <p:grpSpPr>
          <a:xfrm>
            <a:off x="5993422" y="4659697"/>
            <a:ext cx="354854" cy="84939"/>
            <a:chOff x="4326582" y="3358384"/>
            <a:chExt cx="238760" cy="57150"/>
          </a:xfrm>
        </p:grpSpPr>
        <p:sp>
          <p:nvSpPr>
            <p:cNvPr id="21" name="object 21"/>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2" name="object 22"/>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3" name="object 23"/>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4" name="object 24"/>
          <p:cNvSpPr txBox="1">
            <a:spLocks noGrp="1"/>
          </p:cNvSpPr>
          <p:nvPr>
            <p:ph type="title"/>
          </p:nvPr>
        </p:nvSpPr>
        <p:spPr>
          <a:xfrm>
            <a:off x="152400" y="174126"/>
            <a:ext cx="7197461" cy="893094"/>
          </a:xfrm>
          <a:prstGeom prst="rect">
            <a:avLst/>
          </a:prstGeom>
        </p:spPr>
        <p:txBody>
          <a:bodyPr vert="horz" wrap="square" lIns="0" tIns="3775" rIns="0" bIns="0" rtlCol="0">
            <a:spAutoFit/>
          </a:bodyPr>
          <a:lstStyle/>
          <a:p>
            <a:pPr marL="395426" marR="7550" indent="-228384">
              <a:lnSpc>
                <a:spcPct val="106700"/>
              </a:lnSpc>
              <a:spcBef>
                <a:spcPts val="30"/>
              </a:spcBef>
            </a:pPr>
            <a:r>
              <a:rPr dirty="0"/>
              <a:t>Technology</a:t>
            </a:r>
            <a:r>
              <a:rPr spc="45" dirty="0"/>
              <a:t> </a:t>
            </a:r>
            <a:r>
              <a:rPr dirty="0"/>
              <a:t>Innovations</a:t>
            </a:r>
            <a:r>
              <a:rPr spc="52" dirty="0"/>
              <a:t> </a:t>
            </a:r>
            <a:r>
              <a:rPr spc="-30" dirty="0"/>
              <a:t>that </a:t>
            </a:r>
            <a:r>
              <a:rPr dirty="0"/>
              <a:t>inspired</a:t>
            </a:r>
            <a:r>
              <a:rPr spc="134" dirty="0"/>
              <a:t> </a:t>
            </a:r>
            <a:r>
              <a:rPr dirty="0"/>
              <a:t>Cloud</a:t>
            </a:r>
            <a:r>
              <a:rPr spc="134" dirty="0"/>
              <a:t> </a:t>
            </a:r>
            <a:r>
              <a:rPr spc="-15" dirty="0"/>
              <a:t>Computing</a:t>
            </a:r>
          </a:p>
        </p:txBody>
      </p:sp>
      <p:pic>
        <p:nvPicPr>
          <p:cNvPr id="25" name="object 25"/>
          <p:cNvPicPr/>
          <p:nvPr/>
        </p:nvPicPr>
        <p:blipFill>
          <a:blip r:embed="rId2" cstate="print"/>
          <a:stretch>
            <a:fillRect/>
          </a:stretch>
        </p:blipFill>
        <p:spPr>
          <a:xfrm>
            <a:off x="1295400" y="819150"/>
            <a:ext cx="4536739" cy="2342939"/>
          </a:xfrm>
          <a:prstGeom prst="rect">
            <a:avLst/>
          </a:prstGeom>
        </p:spPr>
      </p:pic>
      <p:sp>
        <p:nvSpPr>
          <p:cNvPr id="26" name="object 26"/>
          <p:cNvSpPr txBox="1"/>
          <p:nvPr/>
        </p:nvSpPr>
        <p:spPr>
          <a:xfrm>
            <a:off x="940016" y="3360566"/>
            <a:ext cx="7594383" cy="1249212"/>
          </a:xfrm>
          <a:prstGeom prst="rect">
            <a:avLst/>
          </a:prstGeom>
        </p:spPr>
        <p:txBody>
          <a:bodyPr vert="horz" wrap="square" lIns="0" tIns="17931" rIns="0" bIns="0" rtlCol="0">
            <a:spAutoFit/>
          </a:bodyPr>
          <a:lstStyle/>
          <a:p>
            <a:pPr marL="18875" marR="7550">
              <a:spcBef>
                <a:spcPts val="141"/>
              </a:spcBef>
            </a:pPr>
            <a:r>
              <a:rPr sz="1600" dirty="0">
                <a:solidFill>
                  <a:srgbClr val="FF0000"/>
                </a:solidFill>
                <a:latin typeface="Trebuchet MS" panose="020B0603020202020204" pitchFamily="34" charset="0"/>
                <a:cs typeface="Arial MT"/>
              </a:rPr>
              <a:t>Virtualization</a:t>
            </a:r>
            <a:r>
              <a:rPr sz="1600" dirty="0">
                <a:latin typeface="Trebuchet MS" panose="020B0603020202020204" pitchFamily="34" charset="0"/>
                <a:cs typeface="Arial MT"/>
              </a:rPr>
              <a:t>:</a:t>
            </a:r>
            <a:r>
              <a:rPr sz="1600" spc="82" dirty="0">
                <a:latin typeface="Trebuchet MS" panose="020B0603020202020204" pitchFamily="34" charset="0"/>
                <a:cs typeface="Arial MT"/>
              </a:rPr>
              <a:t> </a:t>
            </a:r>
            <a:r>
              <a:rPr sz="1600" dirty="0">
                <a:latin typeface="Trebuchet MS" panose="020B0603020202020204" pitchFamily="34" charset="0"/>
                <a:cs typeface="Arial MT"/>
              </a:rPr>
              <a:t>enabled</a:t>
            </a:r>
            <a:r>
              <a:rPr sz="1600" spc="-15" dirty="0">
                <a:latin typeface="Trebuchet MS" panose="020B0603020202020204" pitchFamily="34" charset="0"/>
                <a:cs typeface="Arial MT"/>
              </a:rPr>
              <a:t> </a:t>
            </a:r>
            <a:r>
              <a:rPr sz="1600" dirty="0">
                <a:latin typeface="Trebuchet MS" panose="020B0603020202020204" pitchFamily="34" charset="0"/>
                <a:cs typeface="Arial MT"/>
              </a:rPr>
              <a:t>to</a:t>
            </a:r>
            <a:r>
              <a:rPr sz="1600" spc="-7" dirty="0">
                <a:latin typeface="Trebuchet MS" panose="020B0603020202020204" pitchFamily="34" charset="0"/>
                <a:cs typeface="Arial MT"/>
              </a:rPr>
              <a:t> </a:t>
            </a:r>
            <a:r>
              <a:rPr sz="1600" dirty="0">
                <a:latin typeface="Trebuchet MS" panose="020B0603020202020204" pitchFamily="34" charset="0"/>
                <a:cs typeface="Arial MT"/>
              </a:rPr>
              <a:t>decouple</a:t>
            </a:r>
            <a:r>
              <a:rPr sz="1600" spc="-15" dirty="0">
                <a:latin typeface="Trebuchet MS" panose="020B0603020202020204" pitchFamily="34" charset="0"/>
                <a:cs typeface="Arial MT"/>
              </a:rPr>
              <a:t> </a:t>
            </a:r>
            <a:r>
              <a:rPr sz="1600" dirty="0">
                <a:latin typeface="Trebuchet MS" panose="020B0603020202020204" pitchFamily="34" charset="0"/>
                <a:cs typeface="Arial MT"/>
              </a:rPr>
              <a:t>applications</a:t>
            </a:r>
            <a:r>
              <a:rPr sz="1600" spc="-7" dirty="0">
                <a:latin typeface="Trebuchet MS" panose="020B0603020202020204" pitchFamily="34" charset="0"/>
                <a:cs typeface="Arial MT"/>
              </a:rPr>
              <a:t> </a:t>
            </a:r>
            <a:r>
              <a:rPr sz="1600" dirty="0">
                <a:latin typeface="Trebuchet MS" panose="020B0603020202020204" pitchFamily="34" charset="0"/>
                <a:cs typeface="Arial MT"/>
              </a:rPr>
              <a:t>from</a:t>
            </a:r>
            <a:r>
              <a:rPr sz="1600" spc="-15" dirty="0">
                <a:latin typeface="Trebuchet MS" panose="020B0603020202020204" pitchFamily="34" charset="0"/>
                <a:cs typeface="Arial MT"/>
              </a:rPr>
              <a:t> </a:t>
            </a:r>
            <a:r>
              <a:rPr sz="1600" spc="-37" dirty="0">
                <a:latin typeface="Trebuchet MS" panose="020B0603020202020204" pitchFamily="34" charset="0"/>
                <a:cs typeface="Arial MT"/>
              </a:rPr>
              <a:t>the </a:t>
            </a:r>
            <a:r>
              <a:rPr sz="1600" dirty="0">
                <a:latin typeface="Trebuchet MS" panose="020B0603020202020204" pitchFamily="34" charset="0"/>
                <a:cs typeface="Arial MT"/>
              </a:rPr>
              <a:t>underlying</a:t>
            </a:r>
            <a:r>
              <a:rPr sz="1600" spc="-37" dirty="0">
                <a:latin typeface="Trebuchet MS" panose="020B0603020202020204" pitchFamily="34" charset="0"/>
                <a:cs typeface="Arial MT"/>
              </a:rPr>
              <a:t> </a:t>
            </a:r>
            <a:r>
              <a:rPr sz="1600" dirty="0">
                <a:latin typeface="Trebuchet MS" panose="020B0603020202020204" pitchFamily="34" charset="0"/>
                <a:cs typeface="Arial MT"/>
              </a:rPr>
              <a:t>hardware,</a:t>
            </a:r>
            <a:r>
              <a:rPr sz="1600" spc="-37" dirty="0">
                <a:latin typeface="Trebuchet MS" panose="020B0603020202020204" pitchFamily="34" charset="0"/>
                <a:cs typeface="Arial MT"/>
              </a:rPr>
              <a:t> </a:t>
            </a:r>
            <a:r>
              <a:rPr sz="1600" dirty="0">
                <a:latin typeface="Trebuchet MS" panose="020B0603020202020204" pitchFamily="34" charset="0"/>
                <a:cs typeface="Arial MT"/>
              </a:rPr>
              <a:t>drivers,</a:t>
            </a:r>
            <a:r>
              <a:rPr sz="1600" spc="-37" dirty="0">
                <a:latin typeface="Trebuchet MS" panose="020B0603020202020204" pitchFamily="34" charset="0"/>
                <a:cs typeface="Arial MT"/>
              </a:rPr>
              <a:t> </a:t>
            </a:r>
            <a:r>
              <a:rPr sz="1600" dirty="0">
                <a:latin typeface="Trebuchet MS" panose="020B0603020202020204" pitchFamily="34" charset="0"/>
                <a:cs typeface="Arial MT"/>
              </a:rPr>
              <a:t>OS.</a:t>
            </a:r>
            <a:r>
              <a:rPr sz="1600" spc="-30" dirty="0">
                <a:latin typeface="Trebuchet MS" panose="020B0603020202020204" pitchFamily="34" charset="0"/>
                <a:cs typeface="Arial MT"/>
              </a:rPr>
              <a:t> </a:t>
            </a:r>
            <a:r>
              <a:rPr sz="1600" dirty="0">
                <a:latin typeface="Trebuchet MS" panose="020B0603020202020204" pitchFamily="34" charset="0"/>
                <a:cs typeface="Arial MT"/>
              </a:rPr>
              <a:t>Enabled</a:t>
            </a:r>
            <a:r>
              <a:rPr sz="1600" spc="-37" dirty="0">
                <a:latin typeface="Trebuchet MS" panose="020B0603020202020204" pitchFamily="34" charset="0"/>
                <a:cs typeface="Arial MT"/>
              </a:rPr>
              <a:t> </a:t>
            </a:r>
            <a:r>
              <a:rPr sz="1600" dirty="0">
                <a:latin typeface="Trebuchet MS" panose="020B0603020202020204" pitchFamily="34" charset="0"/>
                <a:cs typeface="Arial MT"/>
              </a:rPr>
              <a:t>sharing</a:t>
            </a:r>
            <a:r>
              <a:rPr sz="1600" spc="-37" dirty="0">
                <a:latin typeface="Trebuchet MS" panose="020B0603020202020204" pitchFamily="34" charset="0"/>
                <a:cs typeface="Arial MT"/>
              </a:rPr>
              <a:t> </a:t>
            </a:r>
            <a:r>
              <a:rPr sz="1600" dirty="0">
                <a:latin typeface="Trebuchet MS" panose="020B0603020202020204" pitchFamily="34" charset="0"/>
                <a:cs typeface="Arial MT"/>
              </a:rPr>
              <a:t>of</a:t>
            </a:r>
            <a:r>
              <a:rPr sz="1600" spc="-37" dirty="0">
                <a:latin typeface="Trebuchet MS" panose="020B0603020202020204" pitchFamily="34" charset="0"/>
                <a:cs typeface="Arial MT"/>
              </a:rPr>
              <a:t> the </a:t>
            </a:r>
            <a:r>
              <a:rPr sz="1600" dirty="0">
                <a:latin typeface="Trebuchet MS" panose="020B0603020202020204" pitchFamily="34" charset="0"/>
                <a:cs typeface="Arial MT"/>
              </a:rPr>
              <a:t>underlying</a:t>
            </a:r>
            <a:r>
              <a:rPr sz="1600" spc="-30" dirty="0">
                <a:latin typeface="Trebuchet MS" panose="020B0603020202020204" pitchFamily="34" charset="0"/>
                <a:cs typeface="Arial MT"/>
              </a:rPr>
              <a:t> </a:t>
            </a:r>
            <a:r>
              <a:rPr sz="1600" dirty="0">
                <a:latin typeface="Trebuchet MS" panose="020B0603020202020204" pitchFamily="34" charset="0"/>
                <a:cs typeface="Arial MT"/>
              </a:rPr>
              <a:t>processing</a:t>
            </a:r>
            <a:r>
              <a:rPr sz="1600" spc="-22" dirty="0">
                <a:latin typeface="Trebuchet MS" panose="020B0603020202020204" pitchFamily="34" charset="0"/>
                <a:cs typeface="Arial MT"/>
              </a:rPr>
              <a:t> </a:t>
            </a:r>
            <a:r>
              <a:rPr sz="1600" dirty="0">
                <a:latin typeface="Trebuchet MS" panose="020B0603020202020204" pitchFamily="34" charset="0"/>
                <a:cs typeface="Arial MT"/>
              </a:rPr>
              <a:t>capabilities</a:t>
            </a:r>
            <a:r>
              <a:rPr sz="1600" spc="-22" dirty="0">
                <a:latin typeface="Trebuchet MS" panose="020B0603020202020204" pitchFamily="34" charset="0"/>
                <a:cs typeface="Arial MT"/>
              </a:rPr>
              <a:t> </a:t>
            </a:r>
            <a:r>
              <a:rPr sz="1600" dirty="0">
                <a:latin typeface="Trebuchet MS" panose="020B0603020202020204" pitchFamily="34" charset="0"/>
                <a:cs typeface="Arial MT"/>
              </a:rPr>
              <a:t>by</a:t>
            </a:r>
            <a:r>
              <a:rPr sz="1600" spc="-22" dirty="0">
                <a:latin typeface="Trebuchet MS" panose="020B0603020202020204" pitchFamily="34" charset="0"/>
                <a:cs typeface="Arial MT"/>
              </a:rPr>
              <a:t> </a:t>
            </a:r>
            <a:r>
              <a:rPr sz="1600" dirty="0">
                <a:latin typeface="Trebuchet MS" panose="020B0603020202020204" pitchFamily="34" charset="0"/>
                <a:cs typeface="Arial MT"/>
              </a:rPr>
              <a:t>multiple</a:t>
            </a:r>
            <a:r>
              <a:rPr sz="1600" spc="-30" dirty="0">
                <a:latin typeface="Trebuchet MS" panose="020B0603020202020204" pitchFamily="34" charset="0"/>
                <a:cs typeface="Arial MT"/>
              </a:rPr>
              <a:t> </a:t>
            </a:r>
            <a:r>
              <a:rPr sz="1600" dirty="0">
                <a:latin typeface="Trebuchet MS" panose="020B0603020202020204" pitchFamily="34" charset="0"/>
                <a:cs typeface="Arial MT"/>
              </a:rPr>
              <a:t>users</a:t>
            </a:r>
            <a:r>
              <a:rPr sz="1600" spc="-22" dirty="0">
                <a:latin typeface="Trebuchet MS" panose="020B0603020202020204" pitchFamily="34" charset="0"/>
                <a:cs typeface="Arial MT"/>
              </a:rPr>
              <a:t> </a:t>
            </a:r>
            <a:r>
              <a:rPr sz="1600" dirty="0">
                <a:latin typeface="Trebuchet MS" panose="020B0603020202020204" pitchFamily="34" charset="0"/>
                <a:cs typeface="Arial MT"/>
              </a:rPr>
              <a:t>that</a:t>
            </a:r>
            <a:r>
              <a:rPr sz="1600" spc="-22" dirty="0">
                <a:latin typeface="Trebuchet MS" panose="020B0603020202020204" pitchFamily="34" charset="0"/>
                <a:cs typeface="Arial MT"/>
              </a:rPr>
              <a:t> </a:t>
            </a:r>
            <a:r>
              <a:rPr sz="1600" spc="-30" dirty="0">
                <a:latin typeface="Trebuchet MS" panose="020B0603020202020204" pitchFamily="34" charset="0"/>
                <a:cs typeface="Arial MT"/>
              </a:rPr>
              <a:t>need </a:t>
            </a:r>
            <a:r>
              <a:rPr sz="1600" dirty="0">
                <a:latin typeface="Trebuchet MS" panose="020B0603020202020204" pitchFamily="34" charset="0"/>
                <a:cs typeface="Arial MT"/>
              </a:rPr>
              <a:t>their</a:t>
            </a:r>
            <a:r>
              <a:rPr sz="1600" spc="15" dirty="0">
                <a:latin typeface="Trebuchet MS" panose="020B0603020202020204" pitchFamily="34" charset="0"/>
                <a:cs typeface="Arial MT"/>
              </a:rPr>
              <a:t> </a:t>
            </a:r>
            <a:r>
              <a:rPr sz="1600" dirty="0">
                <a:latin typeface="Trebuchet MS" panose="020B0603020202020204" pitchFamily="34" charset="0"/>
                <a:cs typeface="Arial MT"/>
              </a:rPr>
              <a:t>own</a:t>
            </a:r>
            <a:r>
              <a:rPr sz="1600" spc="15" dirty="0">
                <a:latin typeface="Trebuchet MS" panose="020B0603020202020204" pitchFamily="34" charset="0"/>
                <a:cs typeface="Arial MT"/>
              </a:rPr>
              <a:t> </a:t>
            </a:r>
            <a:r>
              <a:rPr sz="1600" spc="-15" dirty="0">
                <a:latin typeface="Trebuchet MS" panose="020B0603020202020204" pitchFamily="34" charset="0"/>
                <a:cs typeface="Arial MT"/>
              </a:rPr>
              <a:t>platform/hardware</a:t>
            </a:r>
            <a:r>
              <a:rPr sz="1600" spc="15" dirty="0">
                <a:latin typeface="Trebuchet MS" panose="020B0603020202020204" pitchFamily="34" charset="0"/>
                <a:cs typeface="Arial MT"/>
              </a:rPr>
              <a:t> </a:t>
            </a:r>
            <a:r>
              <a:rPr sz="1600" dirty="0">
                <a:latin typeface="Trebuchet MS" panose="020B0603020202020204" pitchFamily="34" charset="0"/>
                <a:cs typeface="Arial MT"/>
              </a:rPr>
              <a:t>requirement.</a:t>
            </a:r>
            <a:r>
              <a:rPr sz="1600" spc="126" dirty="0">
                <a:latin typeface="Trebuchet MS" panose="020B0603020202020204" pitchFamily="34" charset="0"/>
                <a:cs typeface="Arial MT"/>
              </a:rPr>
              <a:t> </a:t>
            </a:r>
            <a:r>
              <a:rPr sz="1600" spc="-15" dirty="0">
                <a:latin typeface="Trebuchet MS" panose="020B0603020202020204" pitchFamily="34" charset="0"/>
                <a:cs typeface="Arial MT"/>
              </a:rPr>
              <a:t>Enabled </a:t>
            </a:r>
            <a:r>
              <a:rPr sz="1600" dirty="0">
                <a:latin typeface="Trebuchet MS" panose="020B0603020202020204" pitchFamily="34" charset="0"/>
                <a:cs typeface="Arial MT"/>
              </a:rPr>
              <a:t>maintaining</a:t>
            </a:r>
            <a:r>
              <a:rPr sz="1600" spc="-30" dirty="0">
                <a:latin typeface="Trebuchet MS" panose="020B0603020202020204" pitchFamily="34" charset="0"/>
                <a:cs typeface="Arial MT"/>
              </a:rPr>
              <a:t> </a:t>
            </a:r>
            <a:r>
              <a:rPr sz="1600" dirty="0">
                <a:latin typeface="Trebuchet MS" panose="020B0603020202020204" pitchFamily="34" charset="0"/>
                <a:cs typeface="Arial MT"/>
              </a:rPr>
              <a:t>images</a:t>
            </a:r>
            <a:r>
              <a:rPr sz="1600" spc="-30" dirty="0">
                <a:latin typeface="Trebuchet MS" panose="020B0603020202020204" pitchFamily="34" charset="0"/>
                <a:cs typeface="Arial MT"/>
              </a:rPr>
              <a:t> </a:t>
            </a:r>
            <a:r>
              <a:rPr sz="1600" dirty="0">
                <a:latin typeface="Trebuchet MS" panose="020B0603020202020204" pitchFamily="34" charset="0"/>
                <a:cs typeface="Arial MT"/>
              </a:rPr>
              <a:t>for</a:t>
            </a:r>
            <a:r>
              <a:rPr sz="1600" spc="-22" dirty="0">
                <a:latin typeface="Trebuchet MS" panose="020B0603020202020204" pitchFamily="34" charset="0"/>
                <a:cs typeface="Arial MT"/>
              </a:rPr>
              <a:t> </a:t>
            </a:r>
            <a:r>
              <a:rPr sz="1600" dirty="0">
                <a:latin typeface="Trebuchet MS" panose="020B0603020202020204" pitchFamily="34" charset="0"/>
                <a:cs typeface="Arial MT"/>
              </a:rPr>
              <a:t>a</a:t>
            </a:r>
            <a:r>
              <a:rPr sz="1600" spc="-30" dirty="0">
                <a:latin typeface="Trebuchet MS" panose="020B0603020202020204" pitchFamily="34" charset="0"/>
                <a:cs typeface="Arial MT"/>
              </a:rPr>
              <a:t> </a:t>
            </a:r>
            <a:r>
              <a:rPr sz="1600" dirty="0">
                <a:latin typeface="Trebuchet MS" panose="020B0603020202020204" pitchFamily="34" charset="0"/>
                <a:cs typeface="Arial MT"/>
              </a:rPr>
              <a:t>standardized</a:t>
            </a:r>
            <a:r>
              <a:rPr sz="1600" spc="-30" dirty="0">
                <a:latin typeface="Trebuchet MS" panose="020B0603020202020204" pitchFamily="34" charset="0"/>
                <a:cs typeface="Arial MT"/>
              </a:rPr>
              <a:t> </a:t>
            </a:r>
            <a:r>
              <a:rPr sz="1600" dirty="0">
                <a:latin typeface="Trebuchet MS" panose="020B0603020202020204" pitchFamily="34" charset="0"/>
                <a:cs typeface="Arial MT"/>
              </a:rPr>
              <a:t>service</a:t>
            </a:r>
            <a:r>
              <a:rPr sz="1600" spc="-22" dirty="0">
                <a:latin typeface="Trebuchet MS" panose="020B0603020202020204" pitchFamily="34" charset="0"/>
                <a:cs typeface="Arial MT"/>
              </a:rPr>
              <a:t> </a:t>
            </a:r>
            <a:r>
              <a:rPr sz="1600" dirty="0">
                <a:latin typeface="Trebuchet MS" panose="020B0603020202020204" pitchFamily="34" charset="0"/>
                <a:cs typeface="Arial MT"/>
              </a:rPr>
              <a:t>and</a:t>
            </a:r>
            <a:r>
              <a:rPr sz="1600" spc="-30" dirty="0">
                <a:latin typeface="Trebuchet MS" panose="020B0603020202020204" pitchFamily="34" charset="0"/>
                <a:cs typeface="Arial MT"/>
              </a:rPr>
              <a:t> </a:t>
            </a:r>
            <a:r>
              <a:rPr sz="1600" spc="-15" dirty="0">
                <a:latin typeface="Trebuchet MS" panose="020B0603020202020204" pitchFamily="34" charset="0"/>
                <a:cs typeface="Arial MT"/>
              </a:rPr>
              <a:t>spawning </a:t>
            </a:r>
            <a:r>
              <a:rPr sz="1600" dirty="0">
                <a:latin typeface="Trebuchet MS" panose="020B0603020202020204" pitchFamily="34" charset="0"/>
                <a:cs typeface="Arial MT"/>
              </a:rPr>
              <a:t>as</a:t>
            </a:r>
            <a:r>
              <a:rPr sz="1600" spc="-37" dirty="0">
                <a:latin typeface="Trebuchet MS" panose="020B0603020202020204" pitchFamily="34" charset="0"/>
                <a:cs typeface="Arial MT"/>
              </a:rPr>
              <a:t> </a:t>
            </a:r>
            <a:r>
              <a:rPr sz="1600" dirty="0">
                <a:latin typeface="Trebuchet MS" panose="020B0603020202020204" pitchFamily="34" charset="0"/>
                <a:cs typeface="Arial MT"/>
              </a:rPr>
              <a:t>many</a:t>
            </a:r>
            <a:r>
              <a:rPr sz="1600" spc="-7" dirty="0">
                <a:latin typeface="Trebuchet MS" panose="020B0603020202020204" pitchFamily="34" charset="0"/>
                <a:cs typeface="Arial MT"/>
              </a:rPr>
              <a:t> </a:t>
            </a:r>
            <a:r>
              <a:rPr sz="1600" dirty="0">
                <a:latin typeface="Trebuchet MS" panose="020B0603020202020204" pitchFamily="34" charset="0"/>
                <a:cs typeface="Arial MT"/>
              </a:rPr>
              <a:t>copies</a:t>
            </a:r>
            <a:r>
              <a:rPr sz="1600" spc="-15" dirty="0">
                <a:latin typeface="Trebuchet MS" panose="020B0603020202020204" pitchFamily="34" charset="0"/>
                <a:cs typeface="Arial MT"/>
              </a:rPr>
              <a:t> </a:t>
            </a:r>
            <a:r>
              <a:rPr sz="1600" dirty="0">
                <a:latin typeface="Trebuchet MS" panose="020B0603020202020204" pitchFamily="34" charset="0"/>
                <a:cs typeface="Arial MT"/>
              </a:rPr>
              <a:t>of</a:t>
            </a:r>
            <a:r>
              <a:rPr sz="1600" spc="-7" dirty="0">
                <a:latin typeface="Trebuchet MS" panose="020B0603020202020204" pitchFamily="34" charset="0"/>
                <a:cs typeface="Arial MT"/>
              </a:rPr>
              <a:t> </a:t>
            </a:r>
            <a:r>
              <a:rPr sz="1600" dirty="0">
                <a:latin typeface="Trebuchet MS" panose="020B0603020202020204" pitchFamily="34" charset="0"/>
                <a:cs typeface="Arial MT"/>
              </a:rPr>
              <a:t>them</a:t>
            </a:r>
            <a:r>
              <a:rPr sz="1600" spc="-15" dirty="0">
                <a:latin typeface="Trebuchet MS" panose="020B0603020202020204" pitchFamily="34" charset="0"/>
                <a:cs typeface="Arial MT"/>
              </a:rPr>
              <a:t> </a:t>
            </a:r>
            <a:r>
              <a:rPr sz="1600" dirty="0">
                <a:latin typeface="Trebuchet MS" panose="020B0603020202020204" pitchFamily="34" charset="0"/>
                <a:cs typeface="Arial MT"/>
              </a:rPr>
              <a:t>as</a:t>
            </a:r>
            <a:r>
              <a:rPr sz="1600" spc="-7" dirty="0">
                <a:latin typeface="Trebuchet MS" panose="020B0603020202020204" pitchFamily="34" charset="0"/>
                <a:cs typeface="Arial MT"/>
              </a:rPr>
              <a:t> </a:t>
            </a:r>
            <a:r>
              <a:rPr sz="1600" dirty="0">
                <a:latin typeface="Trebuchet MS" panose="020B0603020202020204" pitchFamily="34" charset="0"/>
                <a:cs typeface="Arial MT"/>
                <a:hlinkClick r:id="rId3" action="ppaction://hlinksldjump"/>
              </a:rPr>
              <a:t>demanded,</a:t>
            </a:r>
            <a:r>
              <a:rPr sz="1600" spc="-7" dirty="0">
                <a:latin typeface="Trebuchet MS" panose="020B0603020202020204" pitchFamily="34" charset="0"/>
                <a:cs typeface="Arial MT"/>
              </a:rPr>
              <a:t> </a:t>
            </a:r>
            <a:r>
              <a:rPr sz="1600" dirty="0">
                <a:latin typeface="Trebuchet MS" panose="020B0603020202020204" pitchFamily="34" charset="0"/>
                <a:cs typeface="Arial MT"/>
                <a:hlinkClick r:id="rId4" action="ppaction://hlinksldjump"/>
              </a:rPr>
              <a:t>.</a:t>
            </a:r>
            <a:r>
              <a:rPr sz="1600" spc="-169" dirty="0">
                <a:latin typeface="Trebuchet MS" panose="020B0603020202020204" pitchFamily="34" charset="0"/>
                <a:cs typeface="Arial MT"/>
                <a:hlinkClick r:id="rId4" action="ppaction://hlinksldjump"/>
              </a:rPr>
              <a:t> </a:t>
            </a:r>
            <a:r>
              <a:rPr sz="1600" dirty="0">
                <a:latin typeface="Trebuchet MS" panose="020B0603020202020204" pitchFamily="34" charset="0"/>
                <a:cs typeface="Arial MT"/>
                <a:hlinkClick r:id="rId4" action="ppaction://hlinksldjump"/>
              </a:rPr>
              <a:t>.</a:t>
            </a:r>
            <a:r>
              <a:rPr sz="1600" spc="-169" dirty="0">
                <a:latin typeface="Trebuchet MS" panose="020B0603020202020204" pitchFamily="34" charset="0"/>
                <a:cs typeface="Arial MT"/>
              </a:rPr>
              <a:t> </a:t>
            </a:r>
            <a:r>
              <a:rPr sz="1600" spc="-74" dirty="0">
                <a:latin typeface="Trebuchet MS" panose="020B0603020202020204" pitchFamily="34" charset="0"/>
                <a:cs typeface="Arial MT"/>
                <a:hlinkClick r:id="rId3" action="ppaction://hlinksldjump"/>
              </a:rPr>
              <a:t>.</a:t>
            </a:r>
            <a:endParaRPr sz="1600" dirty="0">
              <a:latin typeface="Trebuchet MS" panose="020B0603020202020204" pitchFamily="34" charset="0"/>
              <a:cs typeface="Arial MT"/>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288668" y="534745"/>
            <a:ext cx="5479607" cy="913153"/>
          </a:xfrm>
          <a:prstGeom prst="rect">
            <a:avLst/>
          </a:prstGeom>
        </p:spPr>
        <p:txBody>
          <a:bodyPr vert="horz" wrap="square" lIns="0" tIns="25482" rIns="0" bIns="0" rtlCol="0">
            <a:spAutoFit/>
          </a:bodyPr>
          <a:lstStyle/>
          <a:p>
            <a:pPr marR="7550" algn="r">
              <a:spcBef>
                <a:spcPts val="201"/>
              </a:spcBef>
            </a:pPr>
            <a:r>
              <a:rPr dirty="0"/>
              <a:t>Essential</a:t>
            </a:r>
            <a:r>
              <a:rPr spc="163" dirty="0"/>
              <a:t> </a:t>
            </a:r>
            <a:r>
              <a:rPr dirty="0"/>
              <a:t>Characteristics</a:t>
            </a:r>
            <a:r>
              <a:rPr spc="163" dirty="0"/>
              <a:t> </a:t>
            </a:r>
            <a:r>
              <a:rPr spc="-37" dirty="0"/>
              <a:t>of</a:t>
            </a:r>
          </a:p>
          <a:p>
            <a:pPr marR="7550" algn="r">
              <a:spcBef>
                <a:spcPts val="163"/>
              </a:spcBef>
            </a:pPr>
            <a:r>
              <a:rPr dirty="0"/>
              <a:t>Cloud</a:t>
            </a:r>
            <a:r>
              <a:rPr spc="111" dirty="0"/>
              <a:t> </a:t>
            </a:r>
            <a:r>
              <a:rPr spc="-15" dirty="0"/>
              <a:t>Computing</a:t>
            </a:r>
          </a:p>
        </p:txBody>
      </p:sp>
      <p:sp>
        <p:nvSpPr>
          <p:cNvPr id="28" name="object 28"/>
          <p:cNvSpPr txBox="1"/>
          <p:nvPr/>
        </p:nvSpPr>
        <p:spPr>
          <a:xfrm>
            <a:off x="1362796" y="1889059"/>
            <a:ext cx="4373391" cy="511773"/>
          </a:xfrm>
          <a:prstGeom prst="rect">
            <a:avLst/>
          </a:prstGeom>
        </p:spPr>
        <p:txBody>
          <a:bodyPr vert="horz" wrap="square" lIns="0" tIns="10381" rIns="0" bIns="0" rtlCol="0">
            <a:spAutoFit/>
          </a:bodyPr>
          <a:lstStyle/>
          <a:p>
            <a:pPr marL="18875" marR="7550">
              <a:lnSpc>
                <a:spcPct val="102600"/>
              </a:lnSpc>
              <a:spcBef>
                <a:spcPts val="82"/>
              </a:spcBef>
            </a:pPr>
            <a:r>
              <a:rPr sz="1635" dirty="0">
                <a:latin typeface="Arial MT"/>
                <a:cs typeface="Arial MT"/>
              </a:rPr>
              <a:t>NIST</a:t>
            </a:r>
            <a:r>
              <a:rPr sz="1635" spc="-37" dirty="0">
                <a:latin typeface="Arial MT"/>
                <a:cs typeface="Arial MT"/>
              </a:rPr>
              <a:t> </a:t>
            </a:r>
            <a:r>
              <a:rPr sz="1635" dirty="0">
                <a:latin typeface="Arial MT"/>
                <a:cs typeface="Arial MT"/>
              </a:rPr>
              <a:t>lists</a:t>
            </a:r>
            <a:r>
              <a:rPr sz="1635" spc="-30" dirty="0">
                <a:latin typeface="Arial MT"/>
                <a:cs typeface="Arial MT"/>
              </a:rPr>
              <a:t> </a:t>
            </a:r>
            <a:r>
              <a:rPr sz="1635" dirty="0">
                <a:latin typeface="Arial MT"/>
                <a:cs typeface="Arial MT"/>
              </a:rPr>
              <a:t>5</a:t>
            </a:r>
            <a:r>
              <a:rPr sz="1635" spc="-30" dirty="0">
                <a:latin typeface="Arial MT"/>
                <a:cs typeface="Arial MT"/>
              </a:rPr>
              <a:t> </a:t>
            </a:r>
            <a:r>
              <a:rPr sz="1635" b="1" dirty="0">
                <a:latin typeface="Arial"/>
                <a:cs typeface="Arial"/>
              </a:rPr>
              <a:t>essential</a:t>
            </a:r>
            <a:r>
              <a:rPr sz="1635" b="1" spc="-37" dirty="0">
                <a:latin typeface="Arial"/>
                <a:cs typeface="Arial"/>
              </a:rPr>
              <a:t> </a:t>
            </a:r>
            <a:r>
              <a:rPr sz="1635" b="1" spc="-15" dirty="0">
                <a:latin typeface="Arial"/>
                <a:cs typeface="Arial"/>
              </a:rPr>
              <a:t>chatacteristics</a:t>
            </a:r>
            <a:r>
              <a:rPr sz="1635" b="1" spc="-30" dirty="0">
                <a:latin typeface="Arial"/>
                <a:cs typeface="Arial"/>
              </a:rPr>
              <a:t> </a:t>
            </a:r>
            <a:r>
              <a:rPr sz="1635" spc="-15" dirty="0">
                <a:latin typeface="Arial MT"/>
                <a:cs typeface="Arial MT"/>
              </a:rPr>
              <a:t>(defining </a:t>
            </a:r>
            <a:r>
              <a:rPr sz="1635" dirty="0">
                <a:latin typeface="Arial MT"/>
                <a:cs typeface="Arial MT"/>
              </a:rPr>
              <a:t>properties)</a:t>
            </a:r>
            <a:r>
              <a:rPr sz="1635" spc="-67" dirty="0">
                <a:latin typeface="Arial MT"/>
                <a:cs typeface="Arial MT"/>
              </a:rPr>
              <a:t> </a:t>
            </a:r>
            <a:r>
              <a:rPr sz="1635" dirty="0">
                <a:latin typeface="Arial MT"/>
                <a:cs typeface="Arial MT"/>
              </a:rPr>
              <a:t>for</a:t>
            </a:r>
            <a:r>
              <a:rPr sz="1635" spc="-59" dirty="0">
                <a:latin typeface="Arial MT"/>
                <a:cs typeface="Arial MT"/>
              </a:rPr>
              <a:t> </a:t>
            </a:r>
            <a:r>
              <a:rPr sz="1635" dirty="0">
                <a:latin typeface="Arial MT"/>
                <a:cs typeface="Arial MT"/>
              </a:rPr>
              <a:t>cloud</a:t>
            </a:r>
            <a:r>
              <a:rPr sz="1635" spc="-59" dirty="0">
                <a:latin typeface="Arial MT"/>
                <a:cs typeface="Arial MT"/>
              </a:rPr>
              <a:t> </a:t>
            </a:r>
            <a:r>
              <a:rPr sz="1635" spc="-15" dirty="0">
                <a:latin typeface="Arial MT"/>
                <a:cs typeface="Arial MT"/>
              </a:rPr>
              <a:t>computing:</a:t>
            </a:r>
            <a:endParaRPr sz="1635">
              <a:latin typeface="Arial MT"/>
              <a:cs typeface="Arial MT"/>
            </a:endParaRPr>
          </a:p>
        </p:txBody>
      </p:sp>
      <p:sp>
        <p:nvSpPr>
          <p:cNvPr id="29" name="object 29"/>
          <p:cNvSpPr/>
          <p:nvPr/>
        </p:nvSpPr>
        <p:spPr>
          <a:xfrm>
            <a:off x="1513515" y="2592597"/>
            <a:ext cx="177427" cy="177427"/>
          </a:xfrm>
          <a:custGeom>
            <a:avLst/>
            <a:gdLst/>
            <a:ahLst/>
            <a:cxnLst/>
            <a:rect l="l" t="t" r="r" b="b"/>
            <a:pathLst>
              <a:path w="119380" h="119380">
                <a:moveTo>
                  <a:pt x="119113" y="0"/>
                </a:moveTo>
                <a:lnTo>
                  <a:pt x="0" y="0"/>
                </a:lnTo>
                <a:lnTo>
                  <a:pt x="0" y="119113"/>
                </a:lnTo>
                <a:lnTo>
                  <a:pt x="119113" y="119113"/>
                </a:lnTo>
                <a:lnTo>
                  <a:pt x="119113" y="0"/>
                </a:lnTo>
                <a:close/>
              </a:path>
            </a:pathLst>
          </a:custGeom>
          <a:solidFill>
            <a:srgbClr val="CCCCCC"/>
          </a:solidFill>
        </p:spPr>
        <p:txBody>
          <a:bodyPr wrap="square" lIns="0" tIns="0" rIns="0" bIns="0" rtlCol="0"/>
          <a:lstStyle/>
          <a:p>
            <a:endParaRPr sz="2675"/>
          </a:p>
        </p:txBody>
      </p:sp>
      <p:sp>
        <p:nvSpPr>
          <p:cNvPr id="30" name="object 30"/>
          <p:cNvSpPr/>
          <p:nvPr/>
        </p:nvSpPr>
        <p:spPr>
          <a:xfrm>
            <a:off x="1513515" y="2904756"/>
            <a:ext cx="177427" cy="177427"/>
          </a:xfrm>
          <a:custGeom>
            <a:avLst/>
            <a:gdLst/>
            <a:ahLst/>
            <a:cxnLst/>
            <a:rect l="l" t="t" r="r" b="b"/>
            <a:pathLst>
              <a:path w="119380" h="119380">
                <a:moveTo>
                  <a:pt x="119113" y="0"/>
                </a:moveTo>
                <a:lnTo>
                  <a:pt x="0" y="0"/>
                </a:lnTo>
                <a:lnTo>
                  <a:pt x="0" y="119113"/>
                </a:lnTo>
                <a:lnTo>
                  <a:pt x="119113" y="119113"/>
                </a:lnTo>
                <a:lnTo>
                  <a:pt x="119113" y="0"/>
                </a:lnTo>
                <a:close/>
              </a:path>
            </a:pathLst>
          </a:custGeom>
          <a:solidFill>
            <a:srgbClr val="CCCCCC"/>
          </a:solidFill>
        </p:spPr>
        <p:txBody>
          <a:bodyPr wrap="square" lIns="0" tIns="0" rIns="0" bIns="0" rtlCol="0"/>
          <a:lstStyle/>
          <a:p>
            <a:endParaRPr sz="2675"/>
          </a:p>
        </p:txBody>
      </p:sp>
      <p:sp>
        <p:nvSpPr>
          <p:cNvPr id="31" name="object 31"/>
          <p:cNvSpPr/>
          <p:nvPr/>
        </p:nvSpPr>
        <p:spPr>
          <a:xfrm>
            <a:off x="1513515" y="3216915"/>
            <a:ext cx="177427" cy="177427"/>
          </a:xfrm>
          <a:custGeom>
            <a:avLst/>
            <a:gdLst/>
            <a:ahLst/>
            <a:cxnLst/>
            <a:rect l="l" t="t" r="r" b="b"/>
            <a:pathLst>
              <a:path w="119380" h="119380">
                <a:moveTo>
                  <a:pt x="119113" y="0"/>
                </a:moveTo>
                <a:lnTo>
                  <a:pt x="0" y="0"/>
                </a:lnTo>
                <a:lnTo>
                  <a:pt x="0" y="119113"/>
                </a:lnTo>
                <a:lnTo>
                  <a:pt x="119113" y="119113"/>
                </a:lnTo>
                <a:lnTo>
                  <a:pt x="119113" y="0"/>
                </a:lnTo>
                <a:close/>
              </a:path>
            </a:pathLst>
          </a:custGeom>
          <a:solidFill>
            <a:srgbClr val="CCCCCC"/>
          </a:solidFill>
        </p:spPr>
        <p:txBody>
          <a:bodyPr wrap="square" lIns="0" tIns="0" rIns="0" bIns="0" rtlCol="0"/>
          <a:lstStyle/>
          <a:p>
            <a:endParaRPr sz="2675"/>
          </a:p>
        </p:txBody>
      </p:sp>
      <p:sp>
        <p:nvSpPr>
          <p:cNvPr id="32" name="object 32"/>
          <p:cNvSpPr/>
          <p:nvPr/>
        </p:nvSpPr>
        <p:spPr>
          <a:xfrm>
            <a:off x="1513515" y="3529073"/>
            <a:ext cx="177427" cy="177427"/>
          </a:xfrm>
          <a:custGeom>
            <a:avLst/>
            <a:gdLst/>
            <a:ahLst/>
            <a:cxnLst/>
            <a:rect l="l" t="t" r="r" b="b"/>
            <a:pathLst>
              <a:path w="119380" h="119380">
                <a:moveTo>
                  <a:pt x="119113" y="0"/>
                </a:moveTo>
                <a:lnTo>
                  <a:pt x="0" y="0"/>
                </a:lnTo>
                <a:lnTo>
                  <a:pt x="0" y="119113"/>
                </a:lnTo>
                <a:lnTo>
                  <a:pt x="119113" y="119113"/>
                </a:lnTo>
                <a:lnTo>
                  <a:pt x="119113" y="0"/>
                </a:lnTo>
                <a:close/>
              </a:path>
            </a:pathLst>
          </a:custGeom>
          <a:solidFill>
            <a:srgbClr val="CCCCCC"/>
          </a:solidFill>
        </p:spPr>
        <p:txBody>
          <a:bodyPr wrap="square" lIns="0" tIns="0" rIns="0" bIns="0" rtlCol="0"/>
          <a:lstStyle/>
          <a:p>
            <a:endParaRPr sz="2675"/>
          </a:p>
        </p:txBody>
      </p:sp>
      <p:sp>
        <p:nvSpPr>
          <p:cNvPr id="33" name="object 33"/>
          <p:cNvSpPr/>
          <p:nvPr/>
        </p:nvSpPr>
        <p:spPr>
          <a:xfrm>
            <a:off x="1513515" y="3841232"/>
            <a:ext cx="177427" cy="177427"/>
          </a:xfrm>
          <a:custGeom>
            <a:avLst/>
            <a:gdLst/>
            <a:ahLst/>
            <a:cxnLst/>
            <a:rect l="l" t="t" r="r" b="b"/>
            <a:pathLst>
              <a:path w="119380" h="119380">
                <a:moveTo>
                  <a:pt x="119113" y="0"/>
                </a:moveTo>
                <a:lnTo>
                  <a:pt x="0" y="0"/>
                </a:lnTo>
                <a:lnTo>
                  <a:pt x="0" y="119113"/>
                </a:lnTo>
                <a:lnTo>
                  <a:pt x="119113" y="119113"/>
                </a:lnTo>
                <a:lnTo>
                  <a:pt x="119113" y="0"/>
                </a:lnTo>
                <a:close/>
              </a:path>
            </a:pathLst>
          </a:custGeom>
          <a:solidFill>
            <a:srgbClr val="CCCCCC"/>
          </a:solidFill>
        </p:spPr>
        <p:txBody>
          <a:bodyPr wrap="square" lIns="0" tIns="0" rIns="0" bIns="0" rtlCol="0"/>
          <a:lstStyle/>
          <a:p>
            <a:endParaRPr sz="2675"/>
          </a:p>
        </p:txBody>
      </p:sp>
      <p:sp>
        <p:nvSpPr>
          <p:cNvPr id="34" name="object 34"/>
          <p:cNvSpPr txBox="1"/>
          <p:nvPr/>
        </p:nvSpPr>
        <p:spPr>
          <a:xfrm>
            <a:off x="1541337" y="2448312"/>
            <a:ext cx="3522118" cy="1597425"/>
          </a:xfrm>
          <a:prstGeom prst="rect">
            <a:avLst/>
          </a:prstGeom>
        </p:spPr>
        <p:txBody>
          <a:bodyPr vert="horz" wrap="square" lIns="0" tIns="82106" rIns="0" bIns="0" rtlCol="0">
            <a:spAutoFit/>
          </a:bodyPr>
          <a:lstStyle/>
          <a:p>
            <a:pPr marL="252922" indent="-234047">
              <a:spcBef>
                <a:spcPts val="645"/>
              </a:spcBef>
              <a:buSzPct val="72727"/>
              <a:buAutoNum type="arabicPlain"/>
              <a:tabLst>
                <a:tab pos="252922" algn="l"/>
              </a:tabLst>
            </a:pPr>
            <a:r>
              <a:rPr sz="1635" spc="-15" dirty="0">
                <a:latin typeface="Arial MT"/>
                <a:cs typeface="Arial MT"/>
              </a:rPr>
              <a:t>Ubiquitous</a:t>
            </a:r>
            <a:r>
              <a:rPr sz="1635" spc="-67" dirty="0">
                <a:latin typeface="Arial MT"/>
                <a:cs typeface="Arial MT"/>
              </a:rPr>
              <a:t> </a:t>
            </a:r>
            <a:r>
              <a:rPr sz="1635" dirty="0">
                <a:latin typeface="Arial MT"/>
                <a:cs typeface="Arial MT"/>
              </a:rPr>
              <a:t>(Broad)</a:t>
            </a:r>
            <a:r>
              <a:rPr sz="1635" spc="-59" dirty="0">
                <a:latin typeface="Arial MT"/>
                <a:cs typeface="Arial MT"/>
              </a:rPr>
              <a:t> </a:t>
            </a:r>
            <a:r>
              <a:rPr sz="1635" dirty="0">
                <a:latin typeface="Arial MT"/>
                <a:cs typeface="Arial MT"/>
              </a:rPr>
              <a:t>Network</a:t>
            </a:r>
            <a:r>
              <a:rPr sz="1635" spc="-59" dirty="0">
                <a:latin typeface="Arial MT"/>
                <a:cs typeface="Arial MT"/>
              </a:rPr>
              <a:t> </a:t>
            </a:r>
            <a:r>
              <a:rPr sz="1635" spc="-15" dirty="0">
                <a:latin typeface="Arial MT"/>
                <a:cs typeface="Arial MT"/>
              </a:rPr>
              <a:t>Access</a:t>
            </a:r>
            <a:endParaRPr sz="1635">
              <a:latin typeface="Arial MT"/>
              <a:cs typeface="Arial MT"/>
            </a:endParaRPr>
          </a:p>
          <a:p>
            <a:pPr marL="252922" indent="-234047">
              <a:spcBef>
                <a:spcPts val="496"/>
              </a:spcBef>
              <a:buSzPct val="72727"/>
              <a:buAutoNum type="arabicPlain"/>
              <a:tabLst>
                <a:tab pos="252922" algn="l"/>
              </a:tabLst>
            </a:pPr>
            <a:r>
              <a:rPr sz="1635" spc="-15" dirty="0">
                <a:latin typeface="Arial MT"/>
                <a:cs typeface="Arial MT"/>
              </a:rPr>
              <a:t>On-</a:t>
            </a:r>
            <a:r>
              <a:rPr sz="1635" dirty="0">
                <a:latin typeface="Arial MT"/>
                <a:cs typeface="Arial MT"/>
              </a:rPr>
              <a:t>demand</a:t>
            </a:r>
            <a:r>
              <a:rPr sz="1635" spc="-15" dirty="0">
                <a:latin typeface="Arial MT"/>
                <a:cs typeface="Arial MT"/>
              </a:rPr>
              <a:t> Self-Service</a:t>
            </a:r>
            <a:endParaRPr sz="1635">
              <a:latin typeface="Arial MT"/>
              <a:cs typeface="Arial MT"/>
            </a:endParaRPr>
          </a:p>
          <a:p>
            <a:pPr marL="252922" indent="-234047">
              <a:spcBef>
                <a:spcPts val="490"/>
              </a:spcBef>
              <a:buSzPct val="72727"/>
              <a:buAutoNum type="arabicPlain"/>
              <a:tabLst>
                <a:tab pos="252922" algn="l"/>
              </a:tabLst>
            </a:pPr>
            <a:r>
              <a:rPr sz="1635" dirty="0">
                <a:latin typeface="Arial MT"/>
                <a:cs typeface="Arial MT"/>
              </a:rPr>
              <a:t>Rapid</a:t>
            </a:r>
            <a:r>
              <a:rPr sz="1635" spc="-37" dirty="0">
                <a:latin typeface="Arial MT"/>
                <a:cs typeface="Arial MT"/>
              </a:rPr>
              <a:t> </a:t>
            </a:r>
            <a:r>
              <a:rPr sz="1635" spc="-15" dirty="0">
                <a:latin typeface="Arial MT"/>
                <a:cs typeface="Arial MT"/>
              </a:rPr>
              <a:t>Elasticity</a:t>
            </a:r>
            <a:r>
              <a:rPr sz="1635" spc="-37" dirty="0">
                <a:latin typeface="Arial MT"/>
                <a:cs typeface="Arial MT"/>
              </a:rPr>
              <a:t> </a:t>
            </a:r>
            <a:r>
              <a:rPr sz="1635" dirty="0">
                <a:latin typeface="Arial MT"/>
                <a:cs typeface="Arial MT"/>
              </a:rPr>
              <a:t>or</a:t>
            </a:r>
            <a:r>
              <a:rPr sz="1635" spc="-30" dirty="0">
                <a:latin typeface="Arial MT"/>
                <a:cs typeface="Arial MT"/>
              </a:rPr>
              <a:t> </a:t>
            </a:r>
            <a:r>
              <a:rPr sz="1635" spc="-15" dirty="0">
                <a:latin typeface="Arial MT"/>
                <a:cs typeface="Arial MT"/>
              </a:rPr>
              <a:t>Expansion</a:t>
            </a:r>
            <a:endParaRPr sz="1635">
              <a:latin typeface="Arial MT"/>
              <a:cs typeface="Arial MT"/>
            </a:endParaRPr>
          </a:p>
          <a:p>
            <a:pPr marL="252922" indent="-234047">
              <a:spcBef>
                <a:spcPts val="498"/>
              </a:spcBef>
              <a:buSzPct val="72727"/>
              <a:buAutoNum type="arabicPlain"/>
              <a:tabLst>
                <a:tab pos="252922" algn="l"/>
              </a:tabLst>
            </a:pPr>
            <a:r>
              <a:rPr sz="1635" dirty="0">
                <a:latin typeface="Arial MT"/>
                <a:cs typeface="Arial MT"/>
              </a:rPr>
              <a:t>Resource</a:t>
            </a:r>
            <a:r>
              <a:rPr sz="1635" spc="-82" dirty="0">
                <a:latin typeface="Arial MT"/>
                <a:cs typeface="Arial MT"/>
              </a:rPr>
              <a:t> </a:t>
            </a:r>
            <a:r>
              <a:rPr sz="1635" spc="-15" dirty="0">
                <a:latin typeface="Arial MT"/>
                <a:cs typeface="Arial MT"/>
              </a:rPr>
              <a:t>Pooling</a:t>
            </a:r>
            <a:endParaRPr sz="1635">
              <a:latin typeface="Arial MT"/>
              <a:cs typeface="Arial MT"/>
            </a:endParaRPr>
          </a:p>
          <a:p>
            <a:pPr marL="252922" indent="-234047">
              <a:spcBef>
                <a:spcPts val="498"/>
              </a:spcBef>
              <a:buSzPct val="72727"/>
              <a:buAutoNum type="arabicPlain"/>
              <a:tabLst>
                <a:tab pos="252922" algn="l"/>
              </a:tabLst>
            </a:pPr>
            <a:r>
              <a:rPr sz="1635" dirty="0">
                <a:latin typeface="Arial MT"/>
                <a:cs typeface="Arial MT"/>
              </a:rPr>
              <a:t>Measured</a:t>
            </a:r>
            <a:r>
              <a:rPr sz="1635" spc="-82" dirty="0">
                <a:latin typeface="Arial MT"/>
                <a:cs typeface="Arial MT"/>
              </a:rPr>
              <a:t> </a:t>
            </a:r>
            <a:r>
              <a:rPr sz="1635" spc="-15" dirty="0">
                <a:latin typeface="Arial MT"/>
                <a:cs typeface="Arial MT"/>
              </a:rPr>
              <a:t>Service</a:t>
            </a:r>
            <a:endParaRPr sz="1635">
              <a:latin typeface="Arial MT"/>
              <a:cs typeface="Arial MT"/>
            </a:endParaRP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1066800" y="514350"/>
            <a:ext cx="4476259" cy="456618"/>
          </a:xfrm>
          <a:prstGeom prst="rect">
            <a:avLst/>
          </a:prstGeom>
        </p:spPr>
        <p:txBody>
          <a:bodyPr vert="horz" wrap="square" lIns="0" tIns="25482" rIns="0" bIns="0" rtlCol="0">
            <a:spAutoFit/>
          </a:bodyPr>
          <a:lstStyle/>
          <a:p>
            <a:pPr marL="319927">
              <a:spcBef>
                <a:spcPts val="201"/>
              </a:spcBef>
            </a:pPr>
            <a:r>
              <a:rPr dirty="0"/>
              <a:t>Essential</a:t>
            </a:r>
            <a:r>
              <a:rPr spc="104" dirty="0"/>
              <a:t> </a:t>
            </a:r>
            <a:r>
              <a:rPr spc="-15" dirty="0"/>
              <a:t>Characteristics</a:t>
            </a:r>
          </a:p>
        </p:txBody>
      </p:sp>
      <p:sp>
        <p:nvSpPr>
          <p:cNvPr id="28" name="object 28"/>
          <p:cNvSpPr txBox="1"/>
          <p:nvPr/>
        </p:nvSpPr>
        <p:spPr>
          <a:xfrm>
            <a:off x="485047" y="1428750"/>
            <a:ext cx="8277953" cy="2205203"/>
          </a:xfrm>
          <a:prstGeom prst="rect">
            <a:avLst/>
          </a:prstGeom>
        </p:spPr>
        <p:txBody>
          <a:bodyPr vert="horz" wrap="square" lIns="0" tIns="132127" rIns="0" bIns="0" rtlCol="0">
            <a:spAutoFit/>
          </a:bodyPr>
          <a:lstStyle/>
          <a:p>
            <a:pPr marL="18875">
              <a:spcBef>
                <a:spcPts val="1040"/>
              </a:spcBef>
            </a:pPr>
            <a:r>
              <a:rPr sz="2400" b="1" u="sng" dirty="0">
                <a:uFill>
                  <a:solidFill>
                    <a:srgbClr val="000000"/>
                  </a:solidFill>
                </a:uFill>
                <a:latin typeface="Trebuchet MS" panose="020B0603020202020204" pitchFamily="34" charset="0"/>
                <a:cs typeface="Arial"/>
              </a:rPr>
              <a:t>Ubiquitous</a:t>
            </a:r>
            <a:r>
              <a:rPr sz="2400" b="1" u="sng" spc="-104" dirty="0">
                <a:uFill>
                  <a:solidFill>
                    <a:srgbClr val="000000"/>
                  </a:solidFill>
                </a:uFill>
                <a:latin typeface="Trebuchet MS" panose="020B0603020202020204" pitchFamily="34" charset="0"/>
                <a:cs typeface="Arial"/>
              </a:rPr>
              <a:t> </a:t>
            </a:r>
            <a:r>
              <a:rPr sz="2400" b="1" u="sng" dirty="0">
                <a:uFill>
                  <a:solidFill>
                    <a:srgbClr val="000000"/>
                  </a:solidFill>
                </a:uFill>
                <a:latin typeface="Trebuchet MS" panose="020B0603020202020204" pitchFamily="34" charset="0"/>
                <a:cs typeface="Arial"/>
              </a:rPr>
              <a:t>Network</a:t>
            </a:r>
            <a:r>
              <a:rPr sz="2400" b="1" u="sng" spc="-104" dirty="0">
                <a:uFill>
                  <a:solidFill>
                    <a:srgbClr val="000000"/>
                  </a:solidFill>
                </a:uFill>
                <a:latin typeface="Trebuchet MS" panose="020B0603020202020204" pitchFamily="34" charset="0"/>
                <a:cs typeface="Arial"/>
              </a:rPr>
              <a:t> </a:t>
            </a:r>
            <a:r>
              <a:rPr sz="2400" b="1" u="sng" spc="-15" dirty="0">
                <a:uFill>
                  <a:solidFill>
                    <a:srgbClr val="000000"/>
                  </a:solidFill>
                </a:uFill>
                <a:latin typeface="Trebuchet MS" panose="020B0603020202020204" pitchFamily="34" charset="0"/>
                <a:cs typeface="Arial"/>
              </a:rPr>
              <a:t>Access:</a:t>
            </a:r>
            <a:endParaRPr sz="2400" dirty="0">
              <a:latin typeface="Trebuchet MS" panose="020B0603020202020204" pitchFamily="34" charset="0"/>
              <a:cs typeface="Arial"/>
            </a:endParaRPr>
          </a:p>
          <a:p>
            <a:pPr marL="297075" marR="280290" indent="-285750">
              <a:lnSpc>
                <a:spcPct val="102600"/>
              </a:lnSpc>
              <a:spcBef>
                <a:spcPts val="847"/>
              </a:spcBef>
              <a:buFont typeface="Arial" panose="020B0604020202020204" pitchFamily="34" charset="0"/>
              <a:buChar char="•"/>
              <a:tabLst>
                <a:tab pos="234991" algn="l"/>
              </a:tabLst>
            </a:pPr>
            <a:r>
              <a:rPr sz="2400" dirty="0">
                <a:latin typeface="Trebuchet MS" panose="020B0603020202020204" pitchFamily="34" charset="0"/>
                <a:cs typeface="Arial MT"/>
              </a:rPr>
              <a:t>The</a:t>
            </a:r>
            <a:r>
              <a:rPr sz="2400" spc="-45" dirty="0">
                <a:latin typeface="Trebuchet MS" panose="020B0603020202020204" pitchFamily="34" charset="0"/>
                <a:cs typeface="Arial MT"/>
              </a:rPr>
              <a:t> </a:t>
            </a:r>
            <a:r>
              <a:rPr sz="2400" dirty="0">
                <a:latin typeface="Trebuchet MS" panose="020B0603020202020204" pitchFamily="34" charset="0"/>
                <a:cs typeface="Arial MT"/>
              </a:rPr>
              <a:t>property</a:t>
            </a:r>
            <a:r>
              <a:rPr sz="2400" spc="-37" dirty="0">
                <a:latin typeface="Trebuchet MS" panose="020B0603020202020204" pitchFamily="34" charset="0"/>
                <a:cs typeface="Arial MT"/>
              </a:rPr>
              <a:t> </a:t>
            </a:r>
            <a:r>
              <a:rPr sz="2400" dirty="0">
                <a:latin typeface="Trebuchet MS" panose="020B0603020202020204" pitchFamily="34" charset="0"/>
                <a:cs typeface="Arial MT"/>
              </a:rPr>
              <a:t>that</a:t>
            </a:r>
            <a:r>
              <a:rPr sz="2400" spc="-45" dirty="0">
                <a:latin typeface="Trebuchet MS" panose="020B0603020202020204" pitchFamily="34" charset="0"/>
                <a:cs typeface="Arial MT"/>
              </a:rPr>
              <a:t> </a:t>
            </a:r>
            <a:r>
              <a:rPr sz="2400" dirty="0">
                <a:latin typeface="Trebuchet MS" panose="020B0603020202020204" pitchFamily="34" charset="0"/>
                <a:cs typeface="Arial MT"/>
              </a:rPr>
              <a:t>the</a:t>
            </a:r>
            <a:r>
              <a:rPr sz="2400" spc="-37" dirty="0">
                <a:latin typeface="Trebuchet MS" panose="020B0603020202020204" pitchFamily="34" charset="0"/>
                <a:cs typeface="Arial MT"/>
              </a:rPr>
              <a:t> </a:t>
            </a:r>
            <a:r>
              <a:rPr sz="2400" dirty="0">
                <a:latin typeface="Trebuchet MS" panose="020B0603020202020204" pitchFamily="34" charset="0"/>
                <a:cs typeface="Arial MT"/>
              </a:rPr>
              <a:t>cloud</a:t>
            </a:r>
            <a:r>
              <a:rPr sz="2400" spc="-45" dirty="0">
                <a:latin typeface="Trebuchet MS" panose="020B0603020202020204" pitchFamily="34" charset="0"/>
                <a:cs typeface="Arial MT"/>
              </a:rPr>
              <a:t> </a:t>
            </a:r>
            <a:r>
              <a:rPr sz="2400" dirty="0">
                <a:latin typeface="Trebuchet MS" panose="020B0603020202020204" pitchFamily="34" charset="0"/>
                <a:cs typeface="Arial MT"/>
              </a:rPr>
              <a:t>service</a:t>
            </a:r>
            <a:r>
              <a:rPr sz="2400" spc="-37" dirty="0">
                <a:latin typeface="Trebuchet MS" panose="020B0603020202020204" pitchFamily="34" charset="0"/>
                <a:cs typeface="Arial MT"/>
              </a:rPr>
              <a:t> </a:t>
            </a:r>
            <a:r>
              <a:rPr sz="2400" dirty="0">
                <a:latin typeface="Trebuchet MS" panose="020B0603020202020204" pitchFamily="34" charset="0"/>
                <a:cs typeface="Arial MT"/>
              </a:rPr>
              <a:t>(the</a:t>
            </a:r>
            <a:r>
              <a:rPr sz="2400" spc="-45" dirty="0">
                <a:latin typeface="Trebuchet MS" panose="020B0603020202020204" pitchFamily="34" charset="0"/>
                <a:cs typeface="Arial MT"/>
              </a:rPr>
              <a:t> </a:t>
            </a:r>
            <a:r>
              <a:rPr sz="2400" dirty="0">
                <a:latin typeface="Trebuchet MS" panose="020B0603020202020204" pitchFamily="34" charset="0"/>
                <a:cs typeface="Arial MT"/>
              </a:rPr>
              <a:t>IT</a:t>
            </a:r>
            <a:r>
              <a:rPr sz="2400" spc="-37" dirty="0">
                <a:latin typeface="Trebuchet MS" panose="020B0603020202020204" pitchFamily="34" charset="0"/>
                <a:cs typeface="Arial MT"/>
              </a:rPr>
              <a:t> </a:t>
            </a:r>
            <a:r>
              <a:rPr sz="2400" spc="-15" dirty="0">
                <a:latin typeface="Trebuchet MS" panose="020B0603020202020204" pitchFamily="34" charset="0"/>
                <a:cs typeface="Arial MT"/>
              </a:rPr>
              <a:t>resource </a:t>
            </a:r>
            <a:r>
              <a:rPr sz="2400" dirty="0">
                <a:latin typeface="Trebuchet MS" panose="020B0603020202020204" pitchFamily="34" charset="0"/>
                <a:cs typeface="Arial MT"/>
              </a:rPr>
              <a:t>that</a:t>
            </a:r>
            <a:r>
              <a:rPr sz="2400" spc="-59" dirty="0">
                <a:latin typeface="Trebuchet MS" panose="020B0603020202020204" pitchFamily="34" charset="0"/>
                <a:cs typeface="Arial MT"/>
              </a:rPr>
              <a:t> </a:t>
            </a:r>
            <a:r>
              <a:rPr sz="2400" dirty="0">
                <a:latin typeface="Trebuchet MS" panose="020B0603020202020204" pitchFamily="34" charset="0"/>
                <a:cs typeface="Arial MT"/>
              </a:rPr>
              <a:t>it</a:t>
            </a:r>
            <a:r>
              <a:rPr sz="2400" spc="-59" dirty="0">
                <a:latin typeface="Trebuchet MS" panose="020B0603020202020204" pitchFamily="34" charset="0"/>
                <a:cs typeface="Arial MT"/>
              </a:rPr>
              <a:t> </a:t>
            </a:r>
            <a:r>
              <a:rPr sz="2400" dirty="0">
                <a:latin typeface="Trebuchet MS" panose="020B0603020202020204" pitchFamily="34" charset="0"/>
                <a:cs typeface="Arial MT"/>
              </a:rPr>
              <a:t>provides)</a:t>
            </a:r>
            <a:r>
              <a:rPr sz="2400" spc="-52" dirty="0">
                <a:latin typeface="Trebuchet MS" panose="020B0603020202020204" pitchFamily="34" charset="0"/>
                <a:cs typeface="Arial MT"/>
              </a:rPr>
              <a:t> </a:t>
            </a:r>
            <a:r>
              <a:rPr sz="2400" dirty="0">
                <a:latin typeface="Trebuchet MS" panose="020B0603020202020204" pitchFamily="34" charset="0"/>
                <a:cs typeface="Arial MT"/>
              </a:rPr>
              <a:t>be</a:t>
            </a:r>
            <a:r>
              <a:rPr sz="2400" spc="-59" dirty="0">
                <a:latin typeface="Trebuchet MS" panose="020B0603020202020204" pitchFamily="34" charset="0"/>
                <a:cs typeface="Arial MT"/>
              </a:rPr>
              <a:t> </a:t>
            </a:r>
            <a:r>
              <a:rPr sz="2400" dirty="0">
                <a:latin typeface="Trebuchet MS" panose="020B0603020202020204" pitchFamily="34" charset="0"/>
                <a:cs typeface="Arial MT"/>
              </a:rPr>
              <a:t>widely</a:t>
            </a:r>
            <a:r>
              <a:rPr sz="2400" spc="-52" dirty="0">
                <a:latin typeface="Trebuchet MS" panose="020B0603020202020204" pitchFamily="34" charset="0"/>
                <a:cs typeface="Arial MT"/>
              </a:rPr>
              <a:t> </a:t>
            </a:r>
            <a:r>
              <a:rPr sz="2400" spc="-15" dirty="0">
                <a:latin typeface="Trebuchet MS" panose="020B0603020202020204" pitchFamily="34" charset="0"/>
                <a:cs typeface="Arial MT"/>
              </a:rPr>
              <a:t>accessible.</a:t>
            </a:r>
            <a:endParaRPr lang="en-US" sz="2400" spc="-15" dirty="0">
              <a:latin typeface="Trebuchet MS" panose="020B0603020202020204" pitchFamily="34" charset="0"/>
              <a:cs typeface="Arial MT"/>
            </a:endParaRPr>
          </a:p>
          <a:p>
            <a:pPr marL="297075" marR="280290" indent="-285750">
              <a:lnSpc>
                <a:spcPct val="102600"/>
              </a:lnSpc>
              <a:spcBef>
                <a:spcPts val="847"/>
              </a:spcBef>
              <a:buFont typeface="Arial" panose="020B0604020202020204" pitchFamily="34" charset="0"/>
              <a:buChar char="•"/>
              <a:tabLst>
                <a:tab pos="234991" algn="l"/>
              </a:tabLst>
            </a:pPr>
            <a:r>
              <a:rPr sz="2400" dirty="0">
                <a:latin typeface="Trebuchet MS" panose="020B0603020202020204" pitchFamily="34" charset="0"/>
                <a:cs typeface="Arial MT"/>
              </a:rPr>
              <a:t>This</a:t>
            </a:r>
            <a:r>
              <a:rPr sz="2400" spc="-37" dirty="0">
                <a:latin typeface="Trebuchet MS" panose="020B0603020202020204" pitchFamily="34" charset="0"/>
                <a:cs typeface="Arial MT"/>
              </a:rPr>
              <a:t> </a:t>
            </a:r>
            <a:r>
              <a:rPr sz="2400" dirty="0">
                <a:latin typeface="Trebuchet MS" panose="020B0603020202020204" pitchFamily="34" charset="0"/>
                <a:cs typeface="Arial MT"/>
              </a:rPr>
              <a:t>requires</a:t>
            </a:r>
            <a:r>
              <a:rPr sz="2400" spc="-37" dirty="0">
                <a:latin typeface="Trebuchet MS" panose="020B0603020202020204" pitchFamily="34" charset="0"/>
                <a:cs typeface="Arial MT"/>
              </a:rPr>
              <a:t> </a:t>
            </a:r>
            <a:r>
              <a:rPr sz="2400" dirty="0">
                <a:latin typeface="Trebuchet MS" panose="020B0603020202020204" pitchFamily="34" charset="0"/>
                <a:cs typeface="Arial MT"/>
              </a:rPr>
              <a:t>the</a:t>
            </a:r>
            <a:r>
              <a:rPr sz="2400" spc="-45" dirty="0">
                <a:latin typeface="Trebuchet MS" panose="020B0603020202020204" pitchFamily="34" charset="0"/>
                <a:cs typeface="Arial MT"/>
              </a:rPr>
              <a:t> </a:t>
            </a:r>
            <a:r>
              <a:rPr sz="2400" dirty="0">
                <a:latin typeface="Trebuchet MS" panose="020B0603020202020204" pitchFamily="34" charset="0"/>
                <a:cs typeface="Arial MT"/>
              </a:rPr>
              <a:t>cloud</a:t>
            </a:r>
            <a:r>
              <a:rPr sz="2400" spc="-37" dirty="0">
                <a:latin typeface="Trebuchet MS" panose="020B0603020202020204" pitchFamily="34" charset="0"/>
                <a:cs typeface="Arial MT"/>
              </a:rPr>
              <a:t> </a:t>
            </a:r>
            <a:r>
              <a:rPr sz="2400" dirty="0">
                <a:latin typeface="Trebuchet MS" panose="020B0603020202020204" pitchFamily="34" charset="0"/>
                <a:cs typeface="Arial MT"/>
              </a:rPr>
              <a:t>to</a:t>
            </a:r>
            <a:r>
              <a:rPr sz="2400" spc="-37" dirty="0">
                <a:latin typeface="Trebuchet MS" panose="020B0603020202020204" pitchFamily="34" charset="0"/>
                <a:cs typeface="Arial MT"/>
              </a:rPr>
              <a:t> </a:t>
            </a:r>
            <a:r>
              <a:rPr sz="2400" dirty="0">
                <a:latin typeface="Trebuchet MS" panose="020B0603020202020204" pitchFamily="34" charset="0"/>
                <a:cs typeface="Arial MT"/>
              </a:rPr>
              <a:t>support</a:t>
            </a:r>
            <a:r>
              <a:rPr sz="2400" spc="-37" dirty="0">
                <a:latin typeface="Trebuchet MS" panose="020B0603020202020204" pitchFamily="34" charset="0"/>
                <a:cs typeface="Arial MT"/>
              </a:rPr>
              <a:t> </a:t>
            </a:r>
            <a:r>
              <a:rPr sz="2400" dirty="0">
                <a:latin typeface="Trebuchet MS" panose="020B0603020202020204" pitchFamily="34" charset="0"/>
                <a:cs typeface="Arial MT"/>
              </a:rPr>
              <a:t>a</a:t>
            </a:r>
            <a:r>
              <a:rPr sz="2400" spc="-45" dirty="0">
                <a:latin typeface="Trebuchet MS" panose="020B0603020202020204" pitchFamily="34" charset="0"/>
                <a:cs typeface="Arial MT"/>
              </a:rPr>
              <a:t> </a:t>
            </a:r>
            <a:r>
              <a:rPr sz="2400" dirty="0">
                <a:latin typeface="Trebuchet MS" panose="020B0603020202020204" pitchFamily="34" charset="0"/>
                <a:cs typeface="Arial MT"/>
              </a:rPr>
              <a:t>range</a:t>
            </a:r>
            <a:r>
              <a:rPr sz="2400" spc="-37" dirty="0">
                <a:latin typeface="Trebuchet MS" panose="020B0603020202020204" pitchFamily="34" charset="0"/>
                <a:cs typeface="Arial MT"/>
              </a:rPr>
              <a:t> </a:t>
            </a:r>
            <a:r>
              <a:rPr sz="2400" dirty="0">
                <a:latin typeface="Trebuchet MS" panose="020B0603020202020204" pitchFamily="34" charset="0"/>
                <a:cs typeface="Arial MT"/>
              </a:rPr>
              <a:t>of</a:t>
            </a:r>
            <a:r>
              <a:rPr sz="2400" spc="-37" dirty="0">
                <a:latin typeface="Trebuchet MS" panose="020B0603020202020204" pitchFamily="34" charset="0"/>
                <a:cs typeface="Arial MT"/>
              </a:rPr>
              <a:t> </a:t>
            </a:r>
            <a:r>
              <a:rPr sz="2400" spc="-15" dirty="0">
                <a:latin typeface="Trebuchet MS" panose="020B0603020202020204" pitchFamily="34" charset="0"/>
                <a:cs typeface="Arial MT"/>
              </a:rPr>
              <a:t>transport </a:t>
            </a:r>
            <a:r>
              <a:rPr sz="2400" dirty="0">
                <a:latin typeface="Trebuchet MS" panose="020B0603020202020204" pitchFamily="34" charset="0"/>
                <a:cs typeface="Arial MT"/>
              </a:rPr>
              <a:t>protocols,</a:t>
            </a:r>
            <a:r>
              <a:rPr sz="2400" spc="-45" dirty="0">
                <a:latin typeface="Trebuchet MS" panose="020B0603020202020204" pitchFamily="34" charset="0"/>
                <a:cs typeface="Arial MT"/>
              </a:rPr>
              <a:t> </a:t>
            </a:r>
            <a:r>
              <a:rPr sz="2400" spc="-15" dirty="0">
                <a:latin typeface="Trebuchet MS" panose="020B0603020202020204" pitchFamily="34" charset="0"/>
                <a:cs typeface="Arial MT"/>
              </a:rPr>
              <a:t>interfaces,</a:t>
            </a:r>
            <a:r>
              <a:rPr sz="2400" spc="-45" dirty="0">
                <a:latin typeface="Trebuchet MS" panose="020B0603020202020204" pitchFamily="34" charset="0"/>
                <a:cs typeface="Arial MT"/>
              </a:rPr>
              <a:t> </a:t>
            </a:r>
            <a:r>
              <a:rPr sz="2400" dirty="0">
                <a:latin typeface="Trebuchet MS" panose="020B0603020202020204" pitchFamily="34" charset="0"/>
                <a:cs typeface="Arial MT"/>
              </a:rPr>
              <a:t>and</a:t>
            </a:r>
            <a:r>
              <a:rPr sz="2400" spc="-37" dirty="0">
                <a:latin typeface="Trebuchet MS" panose="020B0603020202020204" pitchFamily="34" charset="0"/>
                <a:cs typeface="Arial MT"/>
              </a:rPr>
              <a:t> </a:t>
            </a:r>
            <a:r>
              <a:rPr sz="2400" dirty="0">
                <a:latin typeface="Trebuchet MS" panose="020B0603020202020204" pitchFamily="34" charset="0"/>
                <a:cs typeface="Arial MT"/>
              </a:rPr>
              <a:t>security</a:t>
            </a:r>
            <a:r>
              <a:rPr sz="2400" spc="-45" dirty="0">
                <a:latin typeface="Trebuchet MS" panose="020B0603020202020204" pitchFamily="34" charset="0"/>
                <a:cs typeface="Arial MT"/>
              </a:rPr>
              <a:t> </a:t>
            </a:r>
            <a:r>
              <a:rPr sz="2400" spc="-15" dirty="0">
                <a:latin typeface="Trebuchet MS" panose="020B0603020202020204" pitchFamily="34" charset="0"/>
                <a:cs typeface="Arial MT"/>
              </a:rPr>
              <a:t>technologies.</a:t>
            </a:r>
            <a:endParaRPr sz="2400" dirty="0">
              <a:latin typeface="Trebuchet MS" panose="020B0603020202020204" pitchFamily="34" charset="0"/>
              <a:cs typeface="Arial MT"/>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762000" y="386855"/>
            <a:ext cx="5951866" cy="456618"/>
          </a:xfrm>
          <a:prstGeom prst="rect">
            <a:avLst/>
          </a:prstGeom>
        </p:spPr>
        <p:txBody>
          <a:bodyPr vert="horz" wrap="square" lIns="0" tIns="25482" rIns="0" bIns="0" rtlCol="0">
            <a:spAutoFit/>
          </a:bodyPr>
          <a:lstStyle/>
          <a:p>
            <a:pPr marL="319927">
              <a:spcBef>
                <a:spcPts val="201"/>
              </a:spcBef>
            </a:pPr>
            <a:r>
              <a:rPr dirty="0"/>
              <a:t>Essential</a:t>
            </a:r>
            <a:r>
              <a:rPr spc="104" dirty="0"/>
              <a:t> </a:t>
            </a:r>
            <a:r>
              <a:rPr spc="-15" dirty="0"/>
              <a:t>Characteristics</a:t>
            </a:r>
          </a:p>
        </p:txBody>
      </p:sp>
      <p:sp>
        <p:nvSpPr>
          <p:cNvPr id="28" name="object 28"/>
          <p:cNvSpPr txBox="1"/>
          <p:nvPr/>
        </p:nvSpPr>
        <p:spPr>
          <a:xfrm>
            <a:off x="429491" y="1202210"/>
            <a:ext cx="8285018" cy="2594669"/>
          </a:xfrm>
          <a:prstGeom prst="rect">
            <a:avLst/>
          </a:prstGeom>
        </p:spPr>
        <p:txBody>
          <a:bodyPr vert="horz" wrap="square" lIns="0" tIns="132127" rIns="0" bIns="0" rtlCol="0">
            <a:spAutoFit/>
          </a:bodyPr>
          <a:lstStyle/>
          <a:p>
            <a:pPr marL="18875">
              <a:spcBef>
                <a:spcPts val="1040"/>
              </a:spcBef>
            </a:pPr>
            <a:r>
              <a:rPr b="1" u="sng" spc="-15" dirty="0">
                <a:uFill>
                  <a:solidFill>
                    <a:srgbClr val="000000"/>
                  </a:solidFill>
                </a:uFill>
                <a:latin typeface="Trebuchet MS" panose="020B0603020202020204" pitchFamily="34" charset="0"/>
                <a:cs typeface="Arial"/>
              </a:rPr>
              <a:t>On-</a:t>
            </a:r>
            <a:r>
              <a:rPr b="1" u="sng" dirty="0">
                <a:uFill>
                  <a:solidFill>
                    <a:srgbClr val="000000"/>
                  </a:solidFill>
                </a:uFill>
                <a:latin typeface="Trebuchet MS" panose="020B0603020202020204" pitchFamily="34" charset="0"/>
                <a:cs typeface="Arial"/>
              </a:rPr>
              <a:t>demand</a:t>
            </a:r>
            <a:r>
              <a:rPr b="1" u="sng" spc="-30" dirty="0">
                <a:uFill>
                  <a:solidFill>
                    <a:srgbClr val="000000"/>
                  </a:solidFill>
                </a:uFill>
                <a:latin typeface="Trebuchet MS" panose="020B0603020202020204" pitchFamily="34" charset="0"/>
                <a:cs typeface="Arial"/>
              </a:rPr>
              <a:t> </a:t>
            </a:r>
            <a:r>
              <a:rPr b="1" u="sng" spc="-15" dirty="0">
                <a:uFill>
                  <a:solidFill>
                    <a:srgbClr val="000000"/>
                  </a:solidFill>
                </a:uFill>
                <a:latin typeface="Trebuchet MS" panose="020B0603020202020204" pitchFamily="34" charset="0"/>
                <a:cs typeface="Arial"/>
              </a:rPr>
              <a:t>Self-Service:</a:t>
            </a:r>
            <a:endParaRPr dirty="0">
              <a:latin typeface="Trebuchet MS" panose="020B0603020202020204" pitchFamily="34" charset="0"/>
              <a:cs typeface="Arial"/>
            </a:endParaRPr>
          </a:p>
          <a:p>
            <a:pPr marL="18875" marR="21704" indent="-7550">
              <a:lnSpc>
                <a:spcPct val="102600"/>
              </a:lnSpc>
              <a:spcBef>
                <a:spcPts val="847"/>
              </a:spcBef>
              <a:buFont typeface="Times New Roman"/>
              <a:buChar char="►"/>
              <a:tabLst>
                <a:tab pos="234991" algn="l"/>
              </a:tabLst>
            </a:pPr>
            <a:r>
              <a:rPr lang="en-US" dirty="0">
                <a:latin typeface="Trebuchet MS" panose="020B0603020202020204" pitchFamily="34" charset="0"/>
                <a:cs typeface="Arial MT"/>
              </a:rPr>
              <a:t> </a:t>
            </a:r>
            <a:r>
              <a:rPr dirty="0">
                <a:latin typeface="Trebuchet MS" panose="020B0603020202020204" pitchFamily="34" charset="0"/>
                <a:cs typeface="Arial MT"/>
              </a:rPr>
              <a:t>The</a:t>
            </a:r>
            <a:r>
              <a:rPr spc="-52" dirty="0">
                <a:latin typeface="Trebuchet MS" panose="020B0603020202020204" pitchFamily="34" charset="0"/>
                <a:cs typeface="Arial MT"/>
              </a:rPr>
              <a:t> </a:t>
            </a:r>
            <a:r>
              <a:rPr dirty="0">
                <a:latin typeface="Trebuchet MS" panose="020B0603020202020204" pitchFamily="34" charset="0"/>
                <a:cs typeface="Arial MT"/>
              </a:rPr>
              <a:t>property</a:t>
            </a:r>
            <a:r>
              <a:rPr spc="-52" dirty="0">
                <a:latin typeface="Trebuchet MS" panose="020B0603020202020204" pitchFamily="34" charset="0"/>
                <a:cs typeface="Arial MT"/>
              </a:rPr>
              <a:t> </a:t>
            </a:r>
            <a:r>
              <a:rPr dirty="0">
                <a:latin typeface="Trebuchet MS" panose="020B0603020202020204" pitchFamily="34" charset="0"/>
                <a:cs typeface="Arial MT"/>
              </a:rPr>
              <a:t>that</a:t>
            </a:r>
            <a:r>
              <a:rPr spc="-45" dirty="0">
                <a:latin typeface="Trebuchet MS" panose="020B0603020202020204" pitchFamily="34" charset="0"/>
                <a:cs typeface="Arial MT"/>
              </a:rPr>
              <a:t> </a:t>
            </a:r>
            <a:r>
              <a:rPr dirty="0">
                <a:latin typeface="Trebuchet MS" panose="020B0603020202020204" pitchFamily="34" charset="0"/>
                <a:cs typeface="Arial MT"/>
              </a:rPr>
              <a:t>the</a:t>
            </a:r>
            <a:r>
              <a:rPr spc="-52" dirty="0">
                <a:latin typeface="Trebuchet MS" panose="020B0603020202020204" pitchFamily="34" charset="0"/>
                <a:cs typeface="Arial MT"/>
              </a:rPr>
              <a:t> </a:t>
            </a:r>
            <a:r>
              <a:rPr dirty="0">
                <a:latin typeface="Trebuchet MS" panose="020B0603020202020204" pitchFamily="34" charset="0"/>
                <a:cs typeface="Arial MT"/>
              </a:rPr>
              <a:t>cloud</a:t>
            </a:r>
            <a:r>
              <a:rPr spc="-52" dirty="0">
                <a:latin typeface="Trebuchet MS" panose="020B0603020202020204" pitchFamily="34" charset="0"/>
                <a:cs typeface="Arial MT"/>
              </a:rPr>
              <a:t> </a:t>
            </a:r>
            <a:r>
              <a:rPr dirty="0">
                <a:latin typeface="Trebuchet MS" panose="020B0603020202020204" pitchFamily="34" charset="0"/>
                <a:cs typeface="Arial MT"/>
              </a:rPr>
              <a:t>consumer</a:t>
            </a:r>
            <a:r>
              <a:rPr spc="-45" dirty="0">
                <a:latin typeface="Trebuchet MS" panose="020B0603020202020204" pitchFamily="34" charset="0"/>
                <a:cs typeface="Arial MT"/>
              </a:rPr>
              <a:t> </a:t>
            </a:r>
            <a:r>
              <a:rPr dirty="0">
                <a:latin typeface="Trebuchet MS" panose="020B0603020202020204" pitchFamily="34" charset="0"/>
                <a:cs typeface="Arial MT"/>
              </a:rPr>
              <a:t>can</a:t>
            </a:r>
            <a:r>
              <a:rPr spc="-52" dirty="0">
                <a:latin typeface="Trebuchet MS" panose="020B0603020202020204" pitchFamily="34" charset="0"/>
                <a:cs typeface="Arial MT"/>
              </a:rPr>
              <a:t> </a:t>
            </a:r>
            <a:r>
              <a:rPr dirty="0">
                <a:latin typeface="Trebuchet MS" panose="020B0603020202020204" pitchFamily="34" charset="0"/>
                <a:cs typeface="Arial MT"/>
              </a:rPr>
              <a:t>access</a:t>
            </a:r>
            <a:r>
              <a:rPr spc="-45" dirty="0">
                <a:latin typeface="Trebuchet MS" panose="020B0603020202020204" pitchFamily="34" charset="0"/>
                <a:cs typeface="Arial MT"/>
              </a:rPr>
              <a:t> </a:t>
            </a:r>
            <a:r>
              <a:rPr spc="-37" dirty="0">
                <a:latin typeface="Trebuchet MS" panose="020B0603020202020204" pitchFamily="34" charset="0"/>
                <a:cs typeface="Arial MT"/>
              </a:rPr>
              <a:t>and </a:t>
            </a:r>
            <a:r>
              <a:rPr dirty="0">
                <a:latin typeface="Trebuchet MS" panose="020B0603020202020204" pitchFamily="34" charset="0"/>
                <a:cs typeface="Arial MT"/>
              </a:rPr>
              <a:t>scale</a:t>
            </a:r>
            <a:r>
              <a:rPr spc="-59" dirty="0">
                <a:latin typeface="Trebuchet MS" panose="020B0603020202020204" pitchFamily="34" charset="0"/>
                <a:cs typeface="Arial MT"/>
              </a:rPr>
              <a:t> </a:t>
            </a:r>
            <a:r>
              <a:rPr dirty="0">
                <a:latin typeface="Trebuchet MS" panose="020B0603020202020204" pitchFamily="34" charset="0"/>
                <a:cs typeface="Arial MT"/>
              </a:rPr>
              <a:t>the</a:t>
            </a:r>
            <a:r>
              <a:rPr spc="-59" dirty="0">
                <a:latin typeface="Trebuchet MS" panose="020B0603020202020204" pitchFamily="34" charset="0"/>
                <a:cs typeface="Arial MT"/>
              </a:rPr>
              <a:t> </a:t>
            </a:r>
            <a:r>
              <a:rPr dirty="0">
                <a:latin typeface="Trebuchet MS" panose="020B0603020202020204" pitchFamily="34" charset="0"/>
                <a:cs typeface="Arial MT"/>
              </a:rPr>
              <a:t>offered</a:t>
            </a:r>
            <a:r>
              <a:rPr spc="-59" dirty="0">
                <a:latin typeface="Trebuchet MS" panose="020B0603020202020204" pitchFamily="34" charset="0"/>
                <a:cs typeface="Arial MT"/>
              </a:rPr>
              <a:t> </a:t>
            </a:r>
            <a:r>
              <a:rPr spc="-15" dirty="0">
                <a:latin typeface="Trebuchet MS" panose="020B0603020202020204" pitchFamily="34" charset="0"/>
                <a:cs typeface="Arial MT"/>
              </a:rPr>
              <a:t>cloud-</a:t>
            </a:r>
            <a:r>
              <a:rPr dirty="0">
                <a:latin typeface="Trebuchet MS" panose="020B0603020202020204" pitchFamily="34" charset="0"/>
                <a:cs typeface="Arial MT"/>
              </a:rPr>
              <a:t>based</a:t>
            </a:r>
            <a:r>
              <a:rPr spc="-59" dirty="0">
                <a:latin typeface="Trebuchet MS" panose="020B0603020202020204" pitchFamily="34" charset="0"/>
                <a:cs typeface="Arial MT"/>
              </a:rPr>
              <a:t> </a:t>
            </a:r>
            <a:r>
              <a:rPr dirty="0">
                <a:latin typeface="Trebuchet MS" panose="020B0603020202020204" pitchFamily="34" charset="0"/>
                <a:cs typeface="Arial MT"/>
              </a:rPr>
              <a:t>resources</a:t>
            </a:r>
            <a:r>
              <a:rPr spc="-59" dirty="0">
                <a:latin typeface="Trebuchet MS" panose="020B0603020202020204" pitchFamily="34" charset="0"/>
                <a:cs typeface="Arial MT"/>
              </a:rPr>
              <a:t> </a:t>
            </a:r>
            <a:r>
              <a:rPr spc="-15" dirty="0">
                <a:latin typeface="Trebuchet MS" panose="020B0603020202020204" pitchFamily="34" charset="0"/>
                <a:cs typeface="Arial MT"/>
              </a:rPr>
              <a:t>independently </a:t>
            </a:r>
            <a:r>
              <a:rPr dirty="0">
                <a:latin typeface="Trebuchet MS" panose="020B0603020202020204" pitchFamily="34" charset="0"/>
                <a:cs typeface="Arial MT"/>
              </a:rPr>
              <a:t>(through</a:t>
            </a:r>
            <a:r>
              <a:rPr spc="-22" dirty="0">
                <a:latin typeface="Trebuchet MS" panose="020B0603020202020204" pitchFamily="34" charset="0"/>
                <a:cs typeface="Arial MT"/>
              </a:rPr>
              <a:t> </a:t>
            </a:r>
            <a:r>
              <a:rPr dirty="0">
                <a:latin typeface="Trebuchet MS" panose="020B0603020202020204" pitchFamily="34" charset="0"/>
                <a:cs typeface="Arial MT"/>
              </a:rPr>
              <a:t>a</a:t>
            </a:r>
            <a:r>
              <a:rPr spc="-22" dirty="0">
                <a:latin typeface="Trebuchet MS" panose="020B0603020202020204" pitchFamily="34" charset="0"/>
                <a:cs typeface="Arial MT"/>
              </a:rPr>
              <a:t> </a:t>
            </a:r>
            <a:r>
              <a:rPr spc="-15" dirty="0">
                <a:latin typeface="Trebuchet MS" panose="020B0603020202020204" pitchFamily="34" charset="0"/>
                <a:cs typeface="Arial MT"/>
              </a:rPr>
              <a:t>graphical</a:t>
            </a:r>
            <a:r>
              <a:rPr spc="-22" dirty="0">
                <a:latin typeface="Trebuchet MS" panose="020B0603020202020204" pitchFamily="34" charset="0"/>
                <a:cs typeface="Arial MT"/>
              </a:rPr>
              <a:t> </a:t>
            </a:r>
            <a:r>
              <a:rPr dirty="0">
                <a:latin typeface="Trebuchet MS" panose="020B0603020202020204" pitchFamily="34" charset="0"/>
                <a:cs typeface="Arial MT"/>
              </a:rPr>
              <a:t>or</a:t>
            </a:r>
            <a:r>
              <a:rPr spc="-15" dirty="0">
                <a:latin typeface="Trebuchet MS" panose="020B0603020202020204" pitchFamily="34" charset="0"/>
                <a:cs typeface="Arial MT"/>
              </a:rPr>
              <a:t> command-</a:t>
            </a:r>
            <a:r>
              <a:rPr dirty="0">
                <a:latin typeface="Trebuchet MS" panose="020B0603020202020204" pitchFamily="34" charset="0"/>
                <a:cs typeface="Arial MT"/>
              </a:rPr>
              <a:t>line</a:t>
            </a:r>
            <a:r>
              <a:rPr spc="-22" dirty="0">
                <a:latin typeface="Trebuchet MS" panose="020B0603020202020204" pitchFamily="34" charset="0"/>
                <a:cs typeface="Arial MT"/>
              </a:rPr>
              <a:t> </a:t>
            </a:r>
            <a:r>
              <a:rPr spc="-15" dirty="0">
                <a:latin typeface="Trebuchet MS" panose="020B0603020202020204" pitchFamily="34" charset="0"/>
                <a:cs typeface="Arial MT"/>
              </a:rPr>
              <a:t>interface)</a:t>
            </a:r>
            <a:r>
              <a:rPr spc="-22" dirty="0">
                <a:latin typeface="Trebuchet MS" panose="020B0603020202020204" pitchFamily="34" charset="0"/>
                <a:cs typeface="Arial MT"/>
              </a:rPr>
              <a:t> </a:t>
            </a:r>
            <a:r>
              <a:rPr dirty="0">
                <a:latin typeface="Trebuchet MS" panose="020B0603020202020204" pitchFamily="34" charset="0"/>
                <a:cs typeface="Arial MT"/>
              </a:rPr>
              <a:t>and</a:t>
            </a:r>
            <a:r>
              <a:rPr spc="-22" dirty="0">
                <a:latin typeface="Trebuchet MS" panose="020B0603020202020204" pitchFamily="34" charset="0"/>
                <a:cs typeface="Arial MT"/>
              </a:rPr>
              <a:t> </a:t>
            </a:r>
            <a:r>
              <a:rPr spc="-52" dirty="0">
                <a:latin typeface="Trebuchet MS" panose="020B0603020202020204" pitchFamily="34" charset="0"/>
                <a:cs typeface="Arial MT"/>
              </a:rPr>
              <a:t>be </a:t>
            </a:r>
            <a:r>
              <a:rPr dirty="0">
                <a:latin typeface="Trebuchet MS" panose="020B0603020202020204" pitchFamily="34" charset="0"/>
                <a:cs typeface="Arial MT"/>
              </a:rPr>
              <a:t>able</a:t>
            </a:r>
            <a:r>
              <a:rPr spc="-52" dirty="0">
                <a:latin typeface="Trebuchet MS" panose="020B0603020202020204" pitchFamily="34" charset="0"/>
                <a:cs typeface="Arial MT"/>
              </a:rPr>
              <a:t> </a:t>
            </a:r>
            <a:r>
              <a:rPr dirty="0">
                <a:latin typeface="Trebuchet MS" panose="020B0603020202020204" pitchFamily="34" charset="0"/>
                <a:cs typeface="Arial MT"/>
              </a:rPr>
              <a:t>to</a:t>
            </a:r>
            <a:r>
              <a:rPr spc="-52" dirty="0">
                <a:latin typeface="Trebuchet MS" panose="020B0603020202020204" pitchFamily="34" charset="0"/>
                <a:cs typeface="Arial MT"/>
              </a:rPr>
              <a:t> </a:t>
            </a:r>
            <a:r>
              <a:rPr dirty="0">
                <a:latin typeface="Trebuchet MS" panose="020B0603020202020204" pitchFamily="34" charset="0"/>
                <a:cs typeface="Arial MT"/>
              </a:rPr>
              <a:t>control</a:t>
            </a:r>
            <a:r>
              <a:rPr spc="-52" dirty="0">
                <a:latin typeface="Trebuchet MS" panose="020B0603020202020204" pitchFamily="34" charset="0"/>
                <a:cs typeface="Arial MT"/>
              </a:rPr>
              <a:t> </a:t>
            </a:r>
            <a:r>
              <a:rPr dirty="0">
                <a:latin typeface="Trebuchet MS" panose="020B0603020202020204" pitchFamily="34" charset="0"/>
                <a:cs typeface="Arial MT"/>
              </a:rPr>
              <a:t>them</a:t>
            </a:r>
            <a:r>
              <a:rPr spc="-45" dirty="0">
                <a:latin typeface="Trebuchet MS" panose="020B0603020202020204" pitchFamily="34" charset="0"/>
                <a:cs typeface="Arial MT"/>
              </a:rPr>
              <a:t> </a:t>
            </a:r>
            <a:r>
              <a:rPr dirty="0">
                <a:latin typeface="Trebuchet MS" panose="020B0603020202020204" pitchFamily="34" charset="0"/>
                <a:cs typeface="Arial MT"/>
              </a:rPr>
              <a:t>at</a:t>
            </a:r>
            <a:r>
              <a:rPr spc="-52" dirty="0">
                <a:latin typeface="Trebuchet MS" panose="020B0603020202020204" pitchFamily="34" charset="0"/>
                <a:cs typeface="Arial MT"/>
              </a:rPr>
              <a:t> </a:t>
            </a:r>
            <a:r>
              <a:rPr dirty="0">
                <a:latin typeface="Trebuchet MS" panose="020B0603020202020204" pitchFamily="34" charset="0"/>
                <a:cs typeface="Arial MT"/>
              </a:rPr>
              <a:t>will,</a:t>
            </a:r>
            <a:r>
              <a:rPr spc="-52" dirty="0">
                <a:latin typeface="Trebuchet MS" panose="020B0603020202020204" pitchFamily="34" charset="0"/>
                <a:cs typeface="Arial MT"/>
              </a:rPr>
              <a:t> </a:t>
            </a:r>
            <a:r>
              <a:rPr dirty="0">
                <a:latin typeface="Trebuchet MS" panose="020B0603020202020204" pitchFamily="34" charset="0"/>
                <a:cs typeface="Arial MT"/>
              </a:rPr>
              <a:t>with</a:t>
            </a:r>
            <a:r>
              <a:rPr spc="-45" dirty="0">
                <a:latin typeface="Trebuchet MS" panose="020B0603020202020204" pitchFamily="34" charset="0"/>
                <a:cs typeface="Arial MT"/>
              </a:rPr>
              <a:t> </a:t>
            </a:r>
            <a:r>
              <a:rPr dirty="0">
                <a:latin typeface="Trebuchet MS" panose="020B0603020202020204" pitchFamily="34" charset="0"/>
                <a:cs typeface="Arial MT"/>
              </a:rPr>
              <a:t>no</a:t>
            </a:r>
            <a:r>
              <a:rPr spc="-52" dirty="0">
                <a:latin typeface="Trebuchet MS" panose="020B0603020202020204" pitchFamily="34" charset="0"/>
                <a:cs typeface="Arial MT"/>
              </a:rPr>
              <a:t> </a:t>
            </a:r>
            <a:r>
              <a:rPr dirty="0">
                <a:latin typeface="Trebuchet MS" panose="020B0603020202020204" pitchFamily="34" charset="0"/>
                <a:cs typeface="Arial MT"/>
              </a:rPr>
              <a:t>need</a:t>
            </a:r>
            <a:r>
              <a:rPr spc="-52" dirty="0">
                <a:latin typeface="Trebuchet MS" panose="020B0603020202020204" pitchFamily="34" charset="0"/>
                <a:cs typeface="Arial MT"/>
              </a:rPr>
              <a:t> </a:t>
            </a:r>
            <a:r>
              <a:rPr dirty="0">
                <a:latin typeface="Trebuchet MS" panose="020B0603020202020204" pitchFamily="34" charset="0"/>
                <a:cs typeface="Arial MT"/>
              </a:rPr>
              <a:t>for</a:t>
            </a:r>
            <a:r>
              <a:rPr spc="-45" dirty="0">
                <a:latin typeface="Trebuchet MS" panose="020B0603020202020204" pitchFamily="34" charset="0"/>
                <a:cs typeface="Arial MT"/>
              </a:rPr>
              <a:t> </a:t>
            </a:r>
            <a:r>
              <a:rPr spc="-37" dirty="0">
                <a:latin typeface="Trebuchet MS" panose="020B0603020202020204" pitchFamily="34" charset="0"/>
                <a:cs typeface="Arial MT"/>
              </a:rPr>
              <a:t>any</a:t>
            </a:r>
            <a:r>
              <a:rPr lang="en-US" spc="743" dirty="0">
                <a:latin typeface="Trebuchet MS" panose="020B0603020202020204" pitchFamily="34" charset="0"/>
                <a:cs typeface="Arial MT"/>
              </a:rPr>
              <a:t> </a:t>
            </a:r>
            <a:r>
              <a:rPr spc="-15" dirty="0">
                <a:latin typeface="Trebuchet MS" panose="020B0603020202020204" pitchFamily="34" charset="0"/>
                <a:cs typeface="Arial MT"/>
              </a:rPr>
              <a:t>decision-input/approval</a:t>
            </a:r>
            <a:r>
              <a:rPr spc="-37" dirty="0">
                <a:latin typeface="Trebuchet MS" panose="020B0603020202020204" pitchFamily="34" charset="0"/>
                <a:cs typeface="Arial MT"/>
              </a:rPr>
              <a:t> </a:t>
            </a:r>
            <a:r>
              <a:rPr dirty="0">
                <a:latin typeface="Trebuchet MS" panose="020B0603020202020204" pitchFamily="34" charset="0"/>
                <a:cs typeface="Arial MT"/>
              </a:rPr>
              <a:t>by</a:t>
            </a:r>
            <a:r>
              <a:rPr spc="-37" dirty="0">
                <a:latin typeface="Trebuchet MS" panose="020B0603020202020204" pitchFamily="34" charset="0"/>
                <a:cs typeface="Arial MT"/>
              </a:rPr>
              <a:t> </a:t>
            </a:r>
            <a:r>
              <a:rPr dirty="0">
                <a:latin typeface="Trebuchet MS" panose="020B0603020202020204" pitchFamily="34" charset="0"/>
                <a:cs typeface="Arial MT"/>
              </a:rPr>
              <a:t>the</a:t>
            </a:r>
            <a:r>
              <a:rPr spc="-37" dirty="0">
                <a:latin typeface="Trebuchet MS" panose="020B0603020202020204" pitchFamily="34" charset="0"/>
                <a:cs typeface="Arial MT"/>
              </a:rPr>
              <a:t> </a:t>
            </a:r>
            <a:r>
              <a:rPr dirty="0">
                <a:latin typeface="Trebuchet MS" panose="020B0603020202020204" pitchFamily="34" charset="0"/>
                <a:cs typeface="Arial MT"/>
              </a:rPr>
              <a:t>cloud</a:t>
            </a:r>
            <a:r>
              <a:rPr spc="-37" dirty="0">
                <a:latin typeface="Trebuchet MS" panose="020B0603020202020204" pitchFamily="34" charset="0"/>
                <a:cs typeface="Arial MT"/>
              </a:rPr>
              <a:t> </a:t>
            </a:r>
            <a:r>
              <a:rPr dirty="0">
                <a:latin typeface="Trebuchet MS" panose="020B0603020202020204" pitchFamily="34" charset="0"/>
                <a:cs typeface="Arial MT"/>
              </a:rPr>
              <a:t>provider</a:t>
            </a:r>
            <a:r>
              <a:rPr spc="-37" dirty="0">
                <a:latin typeface="Trebuchet MS" panose="020B0603020202020204" pitchFamily="34" charset="0"/>
                <a:cs typeface="Arial MT"/>
              </a:rPr>
              <a:t> </a:t>
            </a:r>
            <a:r>
              <a:rPr dirty="0">
                <a:latin typeface="Trebuchet MS" panose="020B0603020202020204" pitchFamily="34" charset="0"/>
                <a:cs typeface="Arial MT"/>
              </a:rPr>
              <a:t>or</a:t>
            </a:r>
            <a:r>
              <a:rPr spc="-37" dirty="0">
                <a:latin typeface="Trebuchet MS" panose="020B0603020202020204" pitchFamily="34" charset="0"/>
                <a:cs typeface="Arial MT"/>
              </a:rPr>
              <a:t> any </a:t>
            </a:r>
            <a:r>
              <a:rPr dirty="0">
                <a:latin typeface="Trebuchet MS" panose="020B0603020202020204" pitchFamily="34" charset="0"/>
                <a:cs typeface="Arial MT"/>
              </a:rPr>
              <a:t>disruptive</a:t>
            </a:r>
            <a:r>
              <a:rPr spc="-67" dirty="0">
                <a:latin typeface="Trebuchet MS" panose="020B0603020202020204" pitchFamily="34" charset="0"/>
                <a:cs typeface="Arial MT"/>
              </a:rPr>
              <a:t> </a:t>
            </a:r>
            <a:r>
              <a:rPr dirty="0">
                <a:latin typeface="Trebuchet MS" panose="020B0603020202020204" pitchFamily="34" charset="0"/>
                <a:cs typeface="Arial MT"/>
              </a:rPr>
              <a:t>impact</a:t>
            </a:r>
            <a:r>
              <a:rPr spc="-67" dirty="0">
                <a:latin typeface="Trebuchet MS" panose="020B0603020202020204" pitchFamily="34" charset="0"/>
                <a:cs typeface="Arial MT"/>
              </a:rPr>
              <a:t> </a:t>
            </a:r>
            <a:r>
              <a:rPr dirty="0">
                <a:latin typeface="Trebuchet MS" panose="020B0603020202020204" pitchFamily="34" charset="0"/>
                <a:cs typeface="Arial MT"/>
              </a:rPr>
              <a:t>on</a:t>
            </a:r>
            <a:r>
              <a:rPr spc="-59" dirty="0">
                <a:latin typeface="Trebuchet MS" panose="020B0603020202020204" pitchFamily="34" charset="0"/>
                <a:cs typeface="Arial MT"/>
              </a:rPr>
              <a:t> </a:t>
            </a:r>
            <a:r>
              <a:rPr dirty="0">
                <a:latin typeface="Trebuchet MS" panose="020B0603020202020204" pitchFamily="34" charset="0"/>
                <a:cs typeface="Arial MT"/>
              </a:rPr>
              <a:t>the</a:t>
            </a:r>
            <a:r>
              <a:rPr spc="-67" dirty="0">
                <a:latin typeface="Trebuchet MS" panose="020B0603020202020204" pitchFamily="34" charset="0"/>
                <a:cs typeface="Arial MT"/>
              </a:rPr>
              <a:t> </a:t>
            </a:r>
            <a:r>
              <a:rPr spc="-15" dirty="0">
                <a:latin typeface="Trebuchet MS" panose="020B0603020202020204" pitchFamily="34" charset="0"/>
                <a:cs typeface="Arial MT"/>
              </a:rPr>
              <a:t>cloud’s</a:t>
            </a:r>
            <a:r>
              <a:rPr spc="-59" dirty="0">
                <a:latin typeface="Trebuchet MS" panose="020B0603020202020204" pitchFamily="34" charset="0"/>
                <a:cs typeface="Arial MT"/>
              </a:rPr>
              <a:t> </a:t>
            </a:r>
            <a:r>
              <a:rPr dirty="0">
                <a:latin typeface="Trebuchet MS" panose="020B0603020202020204" pitchFamily="34" charset="0"/>
                <a:cs typeface="Arial MT"/>
              </a:rPr>
              <a:t>operation.</a:t>
            </a:r>
            <a:r>
              <a:rPr spc="30" dirty="0">
                <a:latin typeface="Trebuchet MS" panose="020B0603020202020204" pitchFamily="34" charset="0"/>
                <a:cs typeface="Arial MT"/>
              </a:rPr>
              <a:t> </a:t>
            </a:r>
            <a:endParaRPr lang="en-US" spc="30" dirty="0">
              <a:latin typeface="Trebuchet MS" panose="020B0603020202020204" pitchFamily="34" charset="0"/>
              <a:cs typeface="Arial MT"/>
            </a:endParaRPr>
          </a:p>
          <a:p>
            <a:pPr marL="18875" marR="21704" indent="-7550">
              <a:lnSpc>
                <a:spcPct val="102600"/>
              </a:lnSpc>
              <a:spcBef>
                <a:spcPts val="847"/>
              </a:spcBef>
              <a:buFont typeface="Times New Roman"/>
              <a:buChar char="►"/>
              <a:tabLst>
                <a:tab pos="234991" algn="l"/>
              </a:tabLst>
            </a:pPr>
            <a:r>
              <a:rPr dirty="0">
                <a:latin typeface="Trebuchet MS" panose="020B0603020202020204" pitchFamily="34" charset="0"/>
                <a:cs typeface="Arial MT"/>
              </a:rPr>
              <a:t>The</a:t>
            </a:r>
            <a:r>
              <a:rPr spc="-67" dirty="0">
                <a:latin typeface="Trebuchet MS" panose="020B0603020202020204" pitchFamily="34" charset="0"/>
                <a:cs typeface="Arial MT"/>
              </a:rPr>
              <a:t> </a:t>
            </a:r>
            <a:r>
              <a:rPr spc="-30" dirty="0">
                <a:latin typeface="Trebuchet MS" panose="020B0603020202020204" pitchFamily="34" charset="0"/>
                <a:cs typeface="Arial MT"/>
              </a:rPr>
              <a:t>cloud </a:t>
            </a:r>
            <a:r>
              <a:rPr dirty="0">
                <a:latin typeface="Trebuchet MS" panose="020B0603020202020204" pitchFamily="34" charset="0"/>
                <a:cs typeface="Arial MT"/>
              </a:rPr>
              <a:t>should</a:t>
            </a:r>
            <a:r>
              <a:rPr spc="-59" dirty="0">
                <a:latin typeface="Trebuchet MS" panose="020B0603020202020204" pitchFamily="34" charset="0"/>
                <a:cs typeface="Arial MT"/>
              </a:rPr>
              <a:t> </a:t>
            </a:r>
            <a:r>
              <a:rPr dirty="0">
                <a:latin typeface="Trebuchet MS" panose="020B0603020202020204" pitchFamily="34" charset="0"/>
                <a:cs typeface="Arial MT"/>
              </a:rPr>
              <a:t>also</a:t>
            </a:r>
            <a:r>
              <a:rPr spc="-59" dirty="0">
                <a:latin typeface="Trebuchet MS" panose="020B0603020202020204" pitchFamily="34" charset="0"/>
                <a:cs typeface="Arial MT"/>
              </a:rPr>
              <a:t> </a:t>
            </a:r>
            <a:r>
              <a:rPr spc="-15" dirty="0">
                <a:latin typeface="Trebuchet MS" panose="020B0603020202020204" pitchFamily="34" charset="0"/>
                <a:cs typeface="Arial MT"/>
              </a:rPr>
              <a:t>have</a:t>
            </a:r>
            <a:r>
              <a:rPr spc="-52" dirty="0">
                <a:latin typeface="Trebuchet MS" panose="020B0603020202020204" pitchFamily="34" charset="0"/>
                <a:cs typeface="Arial MT"/>
              </a:rPr>
              <a:t> </a:t>
            </a:r>
            <a:r>
              <a:rPr dirty="0">
                <a:latin typeface="Trebuchet MS" panose="020B0603020202020204" pitchFamily="34" charset="0"/>
                <a:cs typeface="Arial MT"/>
              </a:rPr>
              <a:t>the</a:t>
            </a:r>
            <a:r>
              <a:rPr spc="-59" dirty="0">
                <a:latin typeface="Trebuchet MS" panose="020B0603020202020204" pitchFamily="34" charset="0"/>
                <a:cs typeface="Arial MT"/>
              </a:rPr>
              <a:t> </a:t>
            </a:r>
            <a:r>
              <a:rPr dirty="0">
                <a:latin typeface="Trebuchet MS" panose="020B0603020202020204" pitchFamily="34" charset="0"/>
                <a:cs typeface="Arial MT"/>
              </a:rPr>
              <a:t>option</a:t>
            </a:r>
            <a:r>
              <a:rPr spc="-59" dirty="0">
                <a:latin typeface="Trebuchet MS" panose="020B0603020202020204" pitchFamily="34" charset="0"/>
                <a:cs typeface="Arial MT"/>
              </a:rPr>
              <a:t> </a:t>
            </a:r>
            <a:r>
              <a:rPr dirty="0">
                <a:latin typeface="Trebuchet MS" panose="020B0603020202020204" pitchFamily="34" charset="0"/>
                <a:cs typeface="Arial MT"/>
              </a:rPr>
              <a:t>to</a:t>
            </a:r>
            <a:r>
              <a:rPr spc="-52" dirty="0">
                <a:latin typeface="Trebuchet MS" panose="020B0603020202020204" pitchFamily="34" charset="0"/>
                <a:cs typeface="Arial MT"/>
              </a:rPr>
              <a:t> </a:t>
            </a:r>
            <a:r>
              <a:rPr dirty="0">
                <a:latin typeface="Trebuchet MS" panose="020B0603020202020204" pitchFamily="34" charset="0"/>
                <a:cs typeface="Arial MT"/>
              </a:rPr>
              <a:t>automate</a:t>
            </a:r>
            <a:r>
              <a:rPr spc="-59" dirty="0">
                <a:latin typeface="Trebuchet MS" panose="020B0603020202020204" pitchFamily="34" charset="0"/>
                <a:cs typeface="Arial MT"/>
              </a:rPr>
              <a:t> </a:t>
            </a:r>
            <a:r>
              <a:rPr dirty="0">
                <a:latin typeface="Trebuchet MS" panose="020B0603020202020204" pitchFamily="34" charset="0"/>
                <a:cs typeface="Arial MT"/>
              </a:rPr>
              <a:t>the</a:t>
            </a:r>
            <a:r>
              <a:rPr spc="-59" dirty="0">
                <a:latin typeface="Trebuchet MS" panose="020B0603020202020204" pitchFamily="34" charset="0"/>
                <a:cs typeface="Arial MT"/>
              </a:rPr>
              <a:t> </a:t>
            </a:r>
            <a:r>
              <a:rPr dirty="0">
                <a:latin typeface="Trebuchet MS" panose="020B0603020202020204" pitchFamily="34" charset="0"/>
                <a:cs typeface="Arial MT"/>
              </a:rPr>
              <a:t>process</a:t>
            </a:r>
            <a:r>
              <a:rPr spc="-52" dirty="0">
                <a:latin typeface="Trebuchet MS" panose="020B0603020202020204" pitchFamily="34" charset="0"/>
                <a:cs typeface="Arial MT"/>
              </a:rPr>
              <a:t> of</a:t>
            </a:r>
            <a:r>
              <a:rPr lang="en-US" spc="-52" dirty="0">
                <a:latin typeface="Trebuchet MS" panose="020B0603020202020204" pitchFamily="34" charset="0"/>
                <a:cs typeface="Arial MT"/>
              </a:rPr>
              <a:t> </a:t>
            </a:r>
            <a:r>
              <a:rPr dirty="0">
                <a:latin typeface="Trebuchet MS" panose="020B0603020202020204" pitchFamily="34" charset="0"/>
                <a:cs typeface="Arial MT"/>
              </a:rPr>
              <a:t>resource</a:t>
            </a:r>
            <a:r>
              <a:rPr spc="-37" dirty="0">
                <a:latin typeface="Trebuchet MS" panose="020B0603020202020204" pitchFamily="34" charset="0"/>
                <a:cs typeface="Arial MT"/>
              </a:rPr>
              <a:t> </a:t>
            </a:r>
            <a:r>
              <a:rPr spc="-15" dirty="0">
                <a:latin typeface="Trebuchet MS" panose="020B0603020202020204" pitchFamily="34" charset="0"/>
                <a:cs typeface="Arial MT"/>
              </a:rPr>
              <a:t>provisioning</a:t>
            </a:r>
            <a:r>
              <a:rPr spc="-30" dirty="0">
                <a:latin typeface="Trebuchet MS" panose="020B0603020202020204" pitchFamily="34" charset="0"/>
                <a:cs typeface="Arial MT"/>
              </a:rPr>
              <a:t> whenever </a:t>
            </a:r>
            <a:r>
              <a:rPr dirty="0">
                <a:latin typeface="Trebuchet MS" panose="020B0603020202020204" pitchFamily="34" charset="0"/>
                <a:cs typeface="Arial MT"/>
              </a:rPr>
              <a:t>needed</a:t>
            </a:r>
            <a:r>
              <a:rPr spc="-30" dirty="0">
                <a:latin typeface="Trebuchet MS" panose="020B0603020202020204" pitchFamily="34" charset="0"/>
                <a:cs typeface="Arial MT"/>
              </a:rPr>
              <a:t> </a:t>
            </a:r>
            <a:r>
              <a:rPr dirty="0">
                <a:latin typeface="Trebuchet MS" panose="020B0603020202020204" pitchFamily="34" charset="0"/>
                <a:cs typeface="Arial MT"/>
              </a:rPr>
              <a:t>(at</a:t>
            </a:r>
            <a:r>
              <a:rPr spc="-30" dirty="0">
                <a:latin typeface="Trebuchet MS" panose="020B0603020202020204" pitchFamily="34" charset="0"/>
                <a:cs typeface="Arial MT"/>
              </a:rPr>
              <a:t> </a:t>
            </a:r>
            <a:r>
              <a:rPr dirty="0">
                <a:latin typeface="Trebuchet MS" panose="020B0603020202020204" pitchFamily="34" charset="0"/>
                <a:cs typeface="Arial MT"/>
              </a:rPr>
              <a:t>the</a:t>
            </a:r>
            <a:r>
              <a:rPr spc="-30" dirty="0">
                <a:latin typeface="Trebuchet MS" panose="020B0603020202020204" pitchFamily="34" charset="0"/>
                <a:cs typeface="Arial MT"/>
              </a:rPr>
              <a:t> </a:t>
            </a:r>
            <a:r>
              <a:rPr spc="-15" dirty="0">
                <a:latin typeface="Trebuchet MS" panose="020B0603020202020204" pitchFamily="34" charset="0"/>
                <a:cs typeface="Arial MT"/>
              </a:rPr>
              <a:t>runtime).</a:t>
            </a:r>
            <a:endParaRPr dirty="0">
              <a:latin typeface="Trebuchet MS" panose="020B0603020202020204" pitchFamily="34" charset="0"/>
              <a:cs typeface="Arial MT"/>
            </a:endParaRP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71726"/>
            <a:chOff x="3542982" y="3357119"/>
            <a:chExt cx="203200" cy="48260"/>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38100" cy="0"/>
            </a:xfrm>
            <a:custGeom>
              <a:avLst/>
              <a:gdLst/>
              <a:ahLst/>
              <a:cxnLst/>
              <a:rect l="l" t="t" r="r" b="b"/>
              <a:pathLst>
                <a:path w="38100">
                  <a:moveTo>
                    <a:pt x="0" y="0"/>
                  </a:moveTo>
                  <a:lnTo>
                    <a:pt x="38100" y="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71726"/>
            <a:chOff x="3810101" y="3357119"/>
            <a:chExt cx="203200" cy="48260"/>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sp>
        <p:nvSpPr>
          <p:cNvPr id="21" name="object 21"/>
          <p:cNvSpPr/>
          <p:nvPr/>
        </p:nvSpPr>
        <p:spPr>
          <a:xfrm>
            <a:off x="7319139" y="4995120"/>
            <a:ext cx="75501" cy="18875"/>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999999"/>
            </a:solidFill>
          </a:ln>
        </p:spPr>
        <p:txBody>
          <a:bodyPr wrap="square" lIns="0" tIns="0" rIns="0" bIns="0" rtlCol="0"/>
          <a:lstStyle/>
          <a:p>
            <a:endParaRPr sz="2675"/>
          </a:p>
        </p:txBody>
      </p:sp>
      <p:grpSp>
        <p:nvGrpSpPr>
          <p:cNvPr id="22" name="object 22"/>
          <p:cNvGrpSpPr/>
          <p:nvPr/>
        </p:nvGrpSpPr>
        <p:grpSpPr>
          <a:xfrm>
            <a:off x="7576479" y="4991359"/>
            <a:ext cx="354854" cy="84939"/>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6" name="object 26"/>
          <p:cNvSpPr txBox="1">
            <a:spLocks noGrp="1"/>
          </p:cNvSpPr>
          <p:nvPr>
            <p:ph type="title"/>
          </p:nvPr>
        </p:nvSpPr>
        <p:spPr>
          <a:xfrm>
            <a:off x="927173" y="195253"/>
            <a:ext cx="5654567" cy="456618"/>
          </a:xfrm>
          <a:prstGeom prst="rect">
            <a:avLst/>
          </a:prstGeom>
        </p:spPr>
        <p:txBody>
          <a:bodyPr vert="horz" wrap="square" lIns="0" tIns="25482" rIns="0" bIns="0" rtlCol="0">
            <a:spAutoFit/>
          </a:bodyPr>
          <a:lstStyle/>
          <a:p>
            <a:pPr marL="18875">
              <a:spcBef>
                <a:spcPts val="201"/>
              </a:spcBef>
            </a:pPr>
            <a:r>
              <a:rPr dirty="0"/>
              <a:t>Essential</a:t>
            </a:r>
            <a:r>
              <a:rPr spc="104" dirty="0"/>
              <a:t> </a:t>
            </a:r>
            <a:r>
              <a:rPr spc="-15" dirty="0"/>
              <a:t>Characteristics</a:t>
            </a:r>
          </a:p>
        </p:txBody>
      </p:sp>
      <p:sp>
        <p:nvSpPr>
          <p:cNvPr id="27" name="object 27"/>
          <p:cNvSpPr txBox="1"/>
          <p:nvPr/>
        </p:nvSpPr>
        <p:spPr>
          <a:xfrm>
            <a:off x="304801" y="615870"/>
            <a:ext cx="8686800" cy="3677657"/>
          </a:xfrm>
          <a:prstGeom prst="rect">
            <a:avLst/>
          </a:prstGeom>
        </p:spPr>
        <p:txBody>
          <a:bodyPr vert="horz" wrap="square" lIns="0" tIns="132127" rIns="0" bIns="0" rtlCol="0">
            <a:spAutoFit/>
          </a:bodyPr>
          <a:lstStyle/>
          <a:p>
            <a:pPr marL="37749">
              <a:spcBef>
                <a:spcPts val="1040"/>
              </a:spcBef>
            </a:pPr>
            <a:r>
              <a:rPr b="1" u="sng" dirty="0">
                <a:uFill>
                  <a:solidFill>
                    <a:srgbClr val="000000"/>
                  </a:solidFill>
                </a:uFill>
                <a:latin typeface="Trebuchet MS" panose="020B0603020202020204" pitchFamily="34" charset="0"/>
                <a:cs typeface="Arial"/>
              </a:rPr>
              <a:t>Rapid</a:t>
            </a:r>
            <a:r>
              <a:rPr b="1" u="sng" spc="-67" dirty="0">
                <a:uFill>
                  <a:solidFill>
                    <a:srgbClr val="000000"/>
                  </a:solidFill>
                </a:uFill>
                <a:latin typeface="Trebuchet MS" panose="020B0603020202020204" pitchFamily="34" charset="0"/>
                <a:cs typeface="Arial"/>
              </a:rPr>
              <a:t> </a:t>
            </a:r>
            <a:r>
              <a:rPr b="1" u="sng" spc="-15" dirty="0">
                <a:uFill>
                  <a:solidFill>
                    <a:srgbClr val="000000"/>
                  </a:solidFill>
                </a:uFill>
                <a:latin typeface="Trebuchet MS" panose="020B0603020202020204" pitchFamily="34" charset="0"/>
                <a:cs typeface="Arial"/>
              </a:rPr>
              <a:t>Elasticity:</a:t>
            </a:r>
            <a:endParaRPr dirty="0">
              <a:latin typeface="Trebuchet MS" panose="020B0603020202020204" pitchFamily="34" charset="0"/>
              <a:cs typeface="Arial"/>
            </a:endParaRPr>
          </a:p>
          <a:p>
            <a:pPr marL="253865" indent="-223666">
              <a:spcBef>
                <a:spcPts val="899"/>
              </a:spcBef>
              <a:buFont typeface="Times New Roman"/>
              <a:buChar char="►"/>
              <a:tabLst>
                <a:tab pos="253865" algn="l"/>
              </a:tabLst>
            </a:pPr>
            <a:r>
              <a:rPr b="1" dirty="0">
                <a:latin typeface="Trebuchet MS" panose="020B0603020202020204" pitchFamily="34" charset="0"/>
                <a:cs typeface="Arial"/>
              </a:rPr>
              <a:t>Elasticity</a:t>
            </a:r>
            <a:r>
              <a:rPr b="1" spc="-82" dirty="0">
                <a:latin typeface="Trebuchet MS" panose="020B0603020202020204" pitchFamily="34" charset="0"/>
                <a:cs typeface="Arial"/>
              </a:rPr>
              <a:t> </a:t>
            </a:r>
            <a:r>
              <a:rPr b="1" spc="-15" dirty="0">
                <a:latin typeface="Trebuchet MS" panose="020B0603020202020204" pitchFamily="34" charset="0"/>
                <a:cs typeface="Arial"/>
              </a:rPr>
              <a:t>(scalability)</a:t>
            </a:r>
            <a:r>
              <a:rPr spc="-15" dirty="0">
                <a:latin typeface="Trebuchet MS" panose="020B0603020202020204" pitchFamily="34" charset="0"/>
                <a:cs typeface="Arial MT"/>
              </a:rPr>
              <a:t>:</a:t>
            </a:r>
            <a:endParaRPr dirty="0">
              <a:latin typeface="Trebuchet MS" panose="020B0603020202020204" pitchFamily="34" charset="0"/>
              <a:cs typeface="Arial MT"/>
            </a:endParaRPr>
          </a:p>
          <a:p>
            <a:pPr marL="449219" marR="353901">
              <a:lnSpc>
                <a:spcPct val="102600"/>
              </a:lnSpc>
              <a:spcBef>
                <a:spcPts val="535"/>
              </a:spcBef>
            </a:pPr>
            <a:r>
              <a:rPr i="1" dirty="0">
                <a:latin typeface="Trebuchet MS" panose="020B0603020202020204" pitchFamily="34" charset="0"/>
                <a:cs typeface="Arial"/>
              </a:rPr>
              <a:t>the</a:t>
            </a:r>
            <a:r>
              <a:rPr i="1" spc="-52" dirty="0">
                <a:latin typeface="Trebuchet MS" panose="020B0603020202020204" pitchFamily="34" charset="0"/>
                <a:cs typeface="Arial"/>
              </a:rPr>
              <a:t> </a:t>
            </a:r>
            <a:r>
              <a:rPr i="1" dirty="0">
                <a:latin typeface="Trebuchet MS" panose="020B0603020202020204" pitchFamily="34" charset="0"/>
                <a:cs typeface="Arial"/>
              </a:rPr>
              <a:t>degree</a:t>
            </a:r>
            <a:r>
              <a:rPr i="1" spc="-52" dirty="0">
                <a:latin typeface="Trebuchet MS" panose="020B0603020202020204" pitchFamily="34" charset="0"/>
                <a:cs typeface="Arial"/>
              </a:rPr>
              <a:t> </a:t>
            </a:r>
            <a:r>
              <a:rPr i="1" dirty="0">
                <a:latin typeface="Trebuchet MS" panose="020B0603020202020204" pitchFamily="34" charset="0"/>
                <a:cs typeface="Arial"/>
              </a:rPr>
              <a:t>to</a:t>
            </a:r>
            <a:r>
              <a:rPr i="1" spc="-45" dirty="0">
                <a:latin typeface="Trebuchet MS" panose="020B0603020202020204" pitchFamily="34" charset="0"/>
                <a:cs typeface="Arial"/>
              </a:rPr>
              <a:t> </a:t>
            </a:r>
            <a:r>
              <a:rPr i="1" dirty="0">
                <a:latin typeface="Trebuchet MS" panose="020B0603020202020204" pitchFamily="34" charset="0"/>
                <a:cs typeface="Arial"/>
              </a:rPr>
              <a:t>which</a:t>
            </a:r>
            <a:r>
              <a:rPr i="1" spc="-52" dirty="0">
                <a:latin typeface="Trebuchet MS" panose="020B0603020202020204" pitchFamily="34" charset="0"/>
                <a:cs typeface="Arial"/>
              </a:rPr>
              <a:t> </a:t>
            </a:r>
            <a:r>
              <a:rPr i="1" dirty="0">
                <a:latin typeface="Trebuchet MS" panose="020B0603020202020204" pitchFamily="34" charset="0"/>
                <a:cs typeface="Arial"/>
              </a:rPr>
              <a:t>a</a:t>
            </a:r>
            <a:r>
              <a:rPr i="1" spc="-45" dirty="0">
                <a:latin typeface="Trebuchet MS" panose="020B0603020202020204" pitchFamily="34" charset="0"/>
                <a:cs typeface="Arial"/>
              </a:rPr>
              <a:t> </a:t>
            </a:r>
            <a:r>
              <a:rPr i="1" dirty="0">
                <a:latin typeface="Trebuchet MS" panose="020B0603020202020204" pitchFamily="34" charset="0"/>
                <a:cs typeface="Arial"/>
              </a:rPr>
              <a:t>system</a:t>
            </a:r>
            <a:r>
              <a:rPr i="1" spc="-52" dirty="0">
                <a:latin typeface="Trebuchet MS" panose="020B0603020202020204" pitchFamily="34" charset="0"/>
                <a:cs typeface="Arial"/>
              </a:rPr>
              <a:t> </a:t>
            </a:r>
            <a:r>
              <a:rPr i="1" dirty="0">
                <a:latin typeface="Trebuchet MS" panose="020B0603020202020204" pitchFamily="34" charset="0"/>
                <a:cs typeface="Arial"/>
              </a:rPr>
              <a:t>is</a:t>
            </a:r>
            <a:r>
              <a:rPr i="1" spc="-45" dirty="0">
                <a:latin typeface="Trebuchet MS" panose="020B0603020202020204" pitchFamily="34" charset="0"/>
                <a:cs typeface="Arial"/>
              </a:rPr>
              <a:t> </a:t>
            </a:r>
            <a:r>
              <a:rPr i="1" dirty="0">
                <a:latin typeface="Trebuchet MS" panose="020B0603020202020204" pitchFamily="34" charset="0"/>
                <a:cs typeface="Arial"/>
              </a:rPr>
              <a:t>able</a:t>
            </a:r>
            <a:r>
              <a:rPr i="1" spc="-52" dirty="0">
                <a:latin typeface="Trebuchet MS" panose="020B0603020202020204" pitchFamily="34" charset="0"/>
                <a:cs typeface="Arial"/>
              </a:rPr>
              <a:t> </a:t>
            </a:r>
            <a:r>
              <a:rPr i="1" dirty="0">
                <a:latin typeface="Trebuchet MS" panose="020B0603020202020204" pitchFamily="34" charset="0"/>
                <a:cs typeface="Arial"/>
              </a:rPr>
              <a:t>to</a:t>
            </a:r>
            <a:r>
              <a:rPr i="1" spc="-52" dirty="0">
                <a:latin typeface="Trebuchet MS" panose="020B0603020202020204" pitchFamily="34" charset="0"/>
                <a:cs typeface="Arial"/>
              </a:rPr>
              <a:t> </a:t>
            </a:r>
            <a:r>
              <a:rPr i="1" dirty="0">
                <a:latin typeface="Trebuchet MS" panose="020B0603020202020204" pitchFamily="34" charset="0"/>
                <a:cs typeface="Arial"/>
              </a:rPr>
              <a:t>adapt</a:t>
            </a:r>
            <a:r>
              <a:rPr i="1" spc="-45" dirty="0">
                <a:latin typeface="Trebuchet MS" panose="020B0603020202020204" pitchFamily="34" charset="0"/>
                <a:cs typeface="Arial"/>
              </a:rPr>
              <a:t> </a:t>
            </a:r>
            <a:r>
              <a:rPr i="1" spc="-37" dirty="0">
                <a:latin typeface="Trebuchet MS" panose="020B0603020202020204" pitchFamily="34" charset="0"/>
                <a:cs typeface="Arial"/>
              </a:rPr>
              <a:t>to </a:t>
            </a:r>
            <a:r>
              <a:rPr i="1" spc="-15" dirty="0">
                <a:latin typeface="Trebuchet MS" panose="020B0603020202020204" pitchFamily="34" charset="0"/>
                <a:cs typeface="Arial"/>
              </a:rPr>
              <a:t>workload</a:t>
            </a:r>
            <a:r>
              <a:rPr i="1" spc="-37" dirty="0">
                <a:latin typeface="Trebuchet MS" panose="020B0603020202020204" pitchFamily="34" charset="0"/>
                <a:cs typeface="Arial"/>
              </a:rPr>
              <a:t> </a:t>
            </a:r>
            <a:r>
              <a:rPr i="1" dirty="0">
                <a:latin typeface="Trebuchet MS" panose="020B0603020202020204" pitchFamily="34" charset="0"/>
                <a:cs typeface="Arial"/>
              </a:rPr>
              <a:t>changes</a:t>
            </a:r>
            <a:r>
              <a:rPr i="1" spc="-37" dirty="0">
                <a:latin typeface="Trebuchet MS" panose="020B0603020202020204" pitchFamily="34" charset="0"/>
                <a:cs typeface="Arial"/>
              </a:rPr>
              <a:t> </a:t>
            </a:r>
            <a:r>
              <a:rPr i="1" dirty="0">
                <a:latin typeface="Trebuchet MS" panose="020B0603020202020204" pitchFamily="34" charset="0"/>
                <a:cs typeface="Arial"/>
              </a:rPr>
              <a:t>by</a:t>
            </a:r>
            <a:r>
              <a:rPr i="1" spc="-37" dirty="0">
                <a:latin typeface="Trebuchet MS" panose="020B0603020202020204" pitchFamily="34" charset="0"/>
                <a:cs typeface="Arial"/>
              </a:rPr>
              <a:t> </a:t>
            </a:r>
            <a:r>
              <a:rPr i="1" spc="-15" dirty="0">
                <a:latin typeface="Trebuchet MS" panose="020B0603020202020204" pitchFamily="34" charset="0"/>
                <a:cs typeface="Arial"/>
              </a:rPr>
              <a:t>provisioning</a:t>
            </a:r>
            <a:r>
              <a:rPr i="1" spc="-37" dirty="0">
                <a:latin typeface="Trebuchet MS" panose="020B0603020202020204" pitchFamily="34" charset="0"/>
                <a:cs typeface="Arial"/>
              </a:rPr>
              <a:t> and</a:t>
            </a:r>
            <a:r>
              <a:rPr lang="en-US" i="1" spc="-37" dirty="0">
                <a:latin typeface="Trebuchet MS" panose="020B0603020202020204" pitchFamily="34" charset="0"/>
                <a:cs typeface="Arial"/>
              </a:rPr>
              <a:t> </a:t>
            </a:r>
            <a:r>
              <a:rPr i="1" spc="-15" dirty="0">
                <a:latin typeface="Trebuchet MS" panose="020B0603020202020204" pitchFamily="34" charset="0"/>
                <a:cs typeface="Arial"/>
              </a:rPr>
              <a:t>de-provisioning</a:t>
            </a:r>
            <a:r>
              <a:rPr i="1" spc="-37" dirty="0">
                <a:latin typeface="Trebuchet MS" panose="020B0603020202020204" pitchFamily="34" charset="0"/>
                <a:cs typeface="Arial"/>
              </a:rPr>
              <a:t> </a:t>
            </a:r>
            <a:r>
              <a:rPr i="1" dirty="0">
                <a:latin typeface="Trebuchet MS" panose="020B0603020202020204" pitchFamily="34" charset="0"/>
                <a:cs typeface="Arial"/>
              </a:rPr>
              <a:t>resources</a:t>
            </a:r>
            <a:r>
              <a:rPr i="1" spc="-30" dirty="0">
                <a:latin typeface="Trebuchet MS" panose="020B0603020202020204" pitchFamily="34" charset="0"/>
                <a:cs typeface="Arial"/>
              </a:rPr>
              <a:t> </a:t>
            </a:r>
            <a:r>
              <a:rPr i="1" dirty="0">
                <a:latin typeface="Trebuchet MS" panose="020B0603020202020204" pitchFamily="34" charset="0"/>
                <a:cs typeface="Arial"/>
              </a:rPr>
              <a:t>in</a:t>
            </a:r>
            <a:r>
              <a:rPr i="1" spc="-30" dirty="0">
                <a:latin typeface="Trebuchet MS" panose="020B0603020202020204" pitchFamily="34" charset="0"/>
                <a:cs typeface="Arial"/>
              </a:rPr>
              <a:t> </a:t>
            </a:r>
            <a:r>
              <a:rPr i="1" dirty="0">
                <a:latin typeface="Trebuchet MS" panose="020B0603020202020204" pitchFamily="34" charset="0"/>
                <a:cs typeface="Arial"/>
              </a:rPr>
              <a:t>an</a:t>
            </a:r>
            <a:r>
              <a:rPr i="1" spc="-37" dirty="0">
                <a:latin typeface="Trebuchet MS" panose="020B0603020202020204" pitchFamily="34" charset="0"/>
                <a:cs typeface="Arial"/>
              </a:rPr>
              <a:t> </a:t>
            </a:r>
            <a:r>
              <a:rPr i="1" spc="-15" dirty="0">
                <a:latin typeface="Trebuchet MS" panose="020B0603020202020204" pitchFamily="34" charset="0"/>
                <a:cs typeface="Arial"/>
              </a:rPr>
              <a:t>autonomic manner,</a:t>
            </a:r>
            <a:r>
              <a:rPr i="1" spc="-37" dirty="0">
                <a:latin typeface="Trebuchet MS" panose="020B0603020202020204" pitchFamily="34" charset="0"/>
                <a:cs typeface="Arial"/>
              </a:rPr>
              <a:t> </a:t>
            </a:r>
            <a:r>
              <a:rPr i="1" dirty="0">
                <a:latin typeface="Trebuchet MS" panose="020B0603020202020204" pitchFamily="34" charset="0"/>
                <a:cs typeface="Arial"/>
              </a:rPr>
              <a:t>such</a:t>
            </a:r>
            <a:r>
              <a:rPr i="1" spc="-37" dirty="0">
                <a:latin typeface="Trebuchet MS" panose="020B0603020202020204" pitchFamily="34" charset="0"/>
                <a:cs typeface="Arial"/>
              </a:rPr>
              <a:t> </a:t>
            </a:r>
            <a:r>
              <a:rPr i="1" dirty="0">
                <a:latin typeface="Trebuchet MS" panose="020B0603020202020204" pitchFamily="34" charset="0"/>
                <a:cs typeface="Arial"/>
              </a:rPr>
              <a:t>that</a:t>
            </a:r>
            <a:r>
              <a:rPr i="1" spc="-37" dirty="0">
                <a:latin typeface="Trebuchet MS" panose="020B0603020202020204" pitchFamily="34" charset="0"/>
                <a:cs typeface="Arial"/>
              </a:rPr>
              <a:t> </a:t>
            </a:r>
            <a:r>
              <a:rPr i="1" dirty="0">
                <a:latin typeface="Trebuchet MS" panose="020B0603020202020204" pitchFamily="34" charset="0"/>
                <a:cs typeface="Arial"/>
              </a:rPr>
              <a:t>at</a:t>
            </a:r>
            <a:r>
              <a:rPr i="1" spc="-37" dirty="0">
                <a:latin typeface="Trebuchet MS" panose="020B0603020202020204" pitchFamily="34" charset="0"/>
                <a:cs typeface="Arial"/>
              </a:rPr>
              <a:t> </a:t>
            </a:r>
            <a:r>
              <a:rPr i="1" dirty="0">
                <a:latin typeface="Trebuchet MS" panose="020B0603020202020204" pitchFamily="34" charset="0"/>
                <a:cs typeface="Arial"/>
              </a:rPr>
              <a:t>each</a:t>
            </a:r>
            <a:r>
              <a:rPr i="1" spc="-37" dirty="0">
                <a:latin typeface="Trebuchet MS" panose="020B0603020202020204" pitchFamily="34" charset="0"/>
                <a:cs typeface="Arial"/>
              </a:rPr>
              <a:t> </a:t>
            </a:r>
            <a:r>
              <a:rPr i="1" dirty="0">
                <a:latin typeface="Trebuchet MS" panose="020B0603020202020204" pitchFamily="34" charset="0"/>
                <a:cs typeface="Arial"/>
              </a:rPr>
              <a:t>point</a:t>
            </a:r>
            <a:r>
              <a:rPr i="1" spc="-37" dirty="0">
                <a:latin typeface="Trebuchet MS" panose="020B0603020202020204" pitchFamily="34" charset="0"/>
                <a:cs typeface="Arial"/>
              </a:rPr>
              <a:t> </a:t>
            </a:r>
            <a:r>
              <a:rPr i="1" dirty="0">
                <a:latin typeface="Trebuchet MS" panose="020B0603020202020204" pitchFamily="34" charset="0"/>
                <a:cs typeface="Arial"/>
              </a:rPr>
              <a:t>in</a:t>
            </a:r>
            <a:r>
              <a:rPr i="1" spc="-37" dirty="0">
                <a:latin typeface="Trebuchet MS" panose="020B0603020202020204" pitchFamily="34" charset="0"/>
                <a:cs typeface="Arial"/>
              </a:rPr>
              <a:t> </a:t>
            </a:r>
            <a:r>
              <a:rPr i="1" dirty="0">
                <a:latin typeface="Trebuchet MS" panose="020B0603020202020204" pitchFamily="34" charset="0"/>
                <a:cs typeface="Arial"/>
              </a:rPr>
              <a:t>time</a:t>
            </a:r>
            <a:r>
              <a:rPr i="1" spc="-37" dirty="0">
                <a:latin typeface="Trebuchet MS" panose="020B0603020202020204" pitchFamily="34" charset="0"/>
                <a:cs typeface="Arial"/>
              </a:rPr>
              <a:t> the </a:t>
            </a:r>
            <a:r>
              <a:rPr i="1" spc="-30" dirty="0">
                <a:latin typeface="Trebuchet MS" panose="020B0603020202020204" pitchFamily="34" charset="0"/>
                <a:cs typeface="Arial"/>
              </a:rPr>
              <a:t>available</a:t>
            </a:r>
            <a:r>
              <a:rPr i="1" spc="-45" dirty="0">
                <a:latin typeface="Trebuchet MS" panose="020B0603020202020204" pitchFamily="34" charset="0"/>
                <a:cs typeface="Arial"/>
              </a:rPr>
              <a:t> </a:t>
            </a:r>
            <a:r>
              <a:rPr i="1" dirty="0">
                <a:latin typeface="Trebuchet MS" panose="020B0603020202020204" pitchFamily="34" charset="0"/>
                <a:cs typeface="Arial"/>
              </a:rPr>
              <a:t>resources</a:t>
            </a:r>
            <a:r>
              <a:rPr i="1" spc="-37" dirty="0">
                <a:latin typeface="Trebuchet MS" panose="020B0603020202020204" pitchFamily="34" charset="0"/>
                <a:cs typeface="Arial"/>
              </a:rPr>
              <a:t> </a:t>
            </a:r>
            <a:r>
              <a:rPr i="1" dirty="0">
                <a:latin typeface="Trebuchet MS" panose="020B0603020202020204" pitchFamily="34" charset="0"/>
                <a:cs typeface="Arial"/>
              </a:rPr>
              <a:t>match</a:t>
            </a:r>
            <a:r>
              <a:rPr i="1" spc="-37" dirty="0">
                <a:latin typeface="Trebuchet MS" panose="020B0603020202020204" pitchFamily="34" charset="0"/>
                <a:cs typeface="Arial"/>
              </a:rPr>
              <a:t> </a:t>
            </a:r>
            <a:r>
              <a:rPr i="1" dirty="0">
                <a:latin typeface="Trebuchet MS" panose="020B0603020202020204" pitchFamily="34" charset="0"/>
                <a:cs typeface="Arial"/>
              </a:rPr>
              <a:t>the</a:t>
            </a:r>
            <a:r>
              <a:rPr i="1" spc="-37" dirty="0">
                <a:latin typeface="Trebuchet MS" panose="020B0603020202020204" pitchFamily="34" charset="0"/>
                <a:cs typeface="Arial"/>
              </a:rPr>
              <a:t> </a:t>
            </a:r>
            <a:r>
              <a:rPr i="1" dirty="0">
                <a:latin typeface="Trebuchet MS" panose="020B0603020202020204" pitchFamily="34" charset="0"/>
                <a:cs typeface="Arial"/>
              </a:rPr>
              <a:t>current</a:t>
            </a:r>
            <a:r>
              <a:rPr i="1" spc="-37" dirty="0">
                <a:latin typeface="Trebuchet MS" panose="020B0603020202020204" pitchFamily="34" charset="0"/>
                <a:cs typeface="Arial"/>
              </a:rPr>
              <a:t> </a:t>
            </a:r>
            <a:r>
              <a:rPr i="1" spc="-15" dirty="0">
                <a:latin typeface="Trebuchet MS" panose="020B0603020202020204" pitchFamily="34" charset="0"/>
                <a:cs typeface="Arial"/>
              </a:rPr>
              <a:t>demand </a:t>
            </a:r>
            <a:r>
              <a:rPr i="1" dirty="0">
                <a:latin typeface="Trebuchet MS" panose="020B0603020202020204" pitchFamily="34" charset="0"/>
                <a:cs typeface="Arial"/>
              </a:rPr>
              <a:t>as</a:t>
            </a:r>
            <a:r>
              <a:rPr i="1" spc="-59" dirty="0">
                <a:latin typeface="Trebuchet MS" panose="020B0603020202020204" pitchFamily="34" charset="0"/>
                <a:cs typeface="Arial"/>
              </a:rPr>
              <a:t> </a:t>
            </a:r>
            <a:r>
              <a:rPr i="1" dirty="0">
                <a:latin typeface="Trebuchet MS" panose="020B0603020202020204" pitchFamily="34" charset="0"/>
                <a:cs typeface="Arial"/>
              </a:rPr>
              <a:t>closely</a:t>
            </a:r>
            <a:r>
              <a:rPr i="1" spc="-52" dirty="0">
                <a:latin typeface="Trebuchet MS" panose="020B0603020202020204" pitchFamily="34" charset="0"/>
                <a:cs typeface="Arial"/>
              </a:rPr>
              <a:t> </a:t>
            </a:r>
            <a:r>
              <a:rPr i="1" dirty="0">
                <a:latin typeface="Trebuchet MS" panose="020B0603020202020204" pitchFamily="34" charset="0"/>
                <a:cs typeface="Arial"/>
              </a:rPr>
              <a:t>as</a:t>
            </a:r>
            <a:r>
              <a:rPr i="1" spc="-52" dirty="0">
                <a:latin typeface="Trebuchet MS" panose="020B0603020202020204" pitchFamily="34" charset="0"/>
                <a:cs typeface="Arial"/>
              </a:rPr>
              <a:t> </a:t>
            </a:r>
            <a:r>
              <a:rPr i="1" spc="-15" dirty="0">
                <a:latin typeface="Trebuchet MS" panose="020B0603020202020204" pitchFamily="34" charset="0"/>
                <a:cs typeface="Arial"/>
              </a:rPr>
              <a:t>possible.</a:t>
            </a:r>
            <a:r>
              <a:rPr spc="-22" baseline="27777" dirty="0">
                <a:latin typeface="Trebuchet MS" panose="020B0603020202020204" pitchFamily="34" charset="0"/>
                <a:cs typeface="Arial MT"/>
              </a:rPr>
              <a:t>1</a:t>
            </a:r>
            <a:endParaRPr baseline="27777" dirty="0">
              <a:latin typeface="Trebuchet MS" panose="020B0603020202020204" pitchFamily="34" charset="0"/>
              <a:cs typeface="Arial MT"/>
            </a:endParaRPr>
          </a:p>
          <a:p>
            <a:pPr marL="253865" indent="-223666">
              <a:spcBef>
                <a:spcPts val="1286"/>
              </a:spcBef>
              <a:buFont typeface="Times New Roman"/>
              <a:buChar char="►"/>
              <a:tabLst>
                <a:tab pos="253865" algn="l"/>
              </a:tabLst>
            </a:pPr>
            <a:r>
              <a:rPr dirty="0">
                <a:latin typeface="Trebuchet MS" panose="020B0603020202020204" pitchFamily="34" charset="0"/>
                <a:cs typeface="Arial MT"/>
              </a:rPr>
              <a:t>There</a:t>
            </a:r>
            <a:r>
              <a:rPr spc="-45" dirty="0">
                <a:latin typeface="Trebuchet MS" panose="020B0603020202020204" pitchFamily="34" charset="0"/>
                <a:cs typeface="Arial MT"/>
              </a:rPr>
              <a:t> </a:t>
            </a:r>
            <a:r>
              <a:rPr dirty="0">
                <a:latin typeface="Trebuchet MS" panose="020B0603020202020204" pitchFamily="34" charset="0"/>
                <a:cs typeface="Arial MT"/>
              </a:rPr>
              <a:t>are</a:t>
            </a:r>
            <a:r>
              <a:rPr spc="-37" dirty="0">
                <a:latin typeface="Trebuchet MS" panose="020B0603020202020204" pitchFamily="34" charset="0"/>
                <a:cs typeface="Arial MT"/>
              </a:rPr>
              <a:t> </a:t>
            </a:r>
            <a:r>
              <a:rPr dirty="0">
                <a:latin typeface="Trebuchet MS" panose="020B0603020202020204" pitchFamily="34" charset="0"/>
                <a:cs typeface="Arial MT"/>
              </a:rPr>
              <a:t>two</a:t>
            </a:r>
            <a:r>
              <a:rPr spc="-45" dirty="0">
                <a:latin typeface="Trebuchet MS" panose="020B0603020202020204" pitchFamily="34" charset="0"/>
                <a:cs typeface="Arial MT"/>
              </a:rPr>
              <a:t> </a:t>
            </a:r>
            <a:r>
              <a:rPr dirty="0">
                <a:latin typeface="Trebuchet MS" panose="020B0603020202020204" pitchFamily="34" charset="0"/>
                <a:cs typeface="Arial MT"/>
              </a:rPr>
              <a:t>types</a:t>
            </a:r>
            <a:r>
              <a:rPr spc="-37" dirty="0">
                <a:latin typeface="Trebuchet MS" panose="020B0603020202020204" pitchFamily="34" charset="0"/>
                <a:cs typeface="Arial MT"/>
              </a:rPr>
              <a:t> </a:t>
            </a:r>
            <a:r>
              <a:rPr dirty="0">
                <a:latin typeface="Trebuchet MS" panose="020B0603020202020204" pitchFamily="34" charset="0"/>
                <a:cs typeface="Arial MT"/>
              </a:rPr>
              <a:t>of</a:t>
            </a:r>
            <a:r>
              <a:rPr spc="-45" dirty="0">
                <a:latin typeface="Trebuchet MS" panose="020B0603020202020204" pitchFamily="34" charset="0"/>
                <a:cs typeface="Arial MT"/>
              </a:rPr>
              <a:t> </a:t>
            </a:r>
            <a:r>
              <a:rPr spc="-15" dirty="0">
                <a:latin typeface="Trebuchet MS" panose="020B0603020202020204" pitchFamily="34" charset="0"/>
                <a:cs typeface="Arial MT"/>
              </a:rPr>
              <a:t>scaling:</a:t>
            </a:r>
            <a:endParaRPr dirty="0">
              <a:latin typeface="Trebuchet MS" panose="020B0603020202020204" pitchFamily="34" charset="0"/>
              <a:cs typeface="Arial MT"/>
            </a:endParaRPr>
          </a:p>
          <a:p>
            <a:pPr marL="449219" marR="26425" indent="-320871">
              <a:lnSpc>
                <a:spcPct val="102600"/>
              </a:lnSpc>
              <a:spcBef>
                <a:spcPts val="446"/>
              </a:spcBef>
            </a:pPr>
            <a:r>
              <a:rPr spc="193" dirty="0">
                <a:latin typeface="Trebuchet MS" panose="020B0603020202020204" pitchFamily="34" charset="0"/>
                <a:cs typeface="Times New Roman"/>
              </a:rPr>
              <a:t>  </a:t>
            </a:r>
            <a:r>
              <a:rPr b="1" dirty="0">
                <a:latin typeface="Trebuchet MS" panose="020B0603020202020204" pitchFamily="34" charset="0"/>
                <a:cs typeface="Arial MT"/>
              </a:rPr>
              <a:t>Horizontal</a:t>
            </a:r>
            <a:r>
              <a:rPr dirty="0">
                <a:latin typeface="Trebuchet MS" panose="020B0603020202020204" pitchFamily="34" charset="0"/>
                <a:cs typeface="Arial MT"/>
              </a:rPr>
              <a:t>:</a:t>
            </a:r>
            <a:r>
              <a:rPr spc="74" dirty="0">
                <a:latin typeface="Trebuchet MS" panose="020B0603020202020204" pitchFamily="34" charset="0"/>
                <a:cs typeface="Arial MT"/>
              </a:rPr>
              <a:t> </a:t>
            </a:r>
            <a:r>
              <a:rPr spc="-15" dirty="0">
                <a:latin typeface="Trebuchet MS" panose="020B0603020202020204" pitchFamily="34" charset="0"/>
                <a:cs typeface="Arial MT"/>
              </a:rPr>
              <a:t>Allocation/Releasing</a:t>
            </a:r>
            <a:r>
              <a:rPr spc="-22" dirty="0">
                <a:latin typeface="Trebuchet MS" panose="020B0603020202020204" pitchFamily="34" charset="0"/>
                <a:cs typeface="Arial MT"/>
              </a:rPr>
              <a:t> </a:t>
            </a:r>
            <a:r>
              <a:rPr dirty="0">
                <a:latin typeface="Trebuchet MS" panose="020B0603020202020204" pitchFamily="34" charset="0"/>
                <a:cs typeface="Arial MT"/>
              </a:rPr>
              <a:t>of</a:t>
            </a:r>
            <a:r>
              <a:rPr spc="-22" dirty="0">
                <a:latin typeface="Trebuchet MS" panose="020B0603020202020204" pitchFamily="34" charset="0"/>
                <a:cs typeface="Arial MT"/>
              </a:rPr>
              <a:t> </a:t>
            </a:r>
            <a:r>
              <a:rPr dirty="0">
                <a:latin typeface="Trebuchet MS" panose="020B0603020202020204" pitchFamily="34" charset="0"/>
                <a:cs typeface="Arial MT"/>
              </a:rPr>
              <a:t>resources</a:t>
            </a:r>
            <a:r>
              <a:rPr spc="-30" dirty="0">
                <a:latin typeface="Trebuchet MS" panose="020B0603020202020204" pitchFamily="34" charset="0"/>
                <a:cs typeface="Arial MT"/>
              </a:rPr>
              <a:t> </a:t>
            </a:r>
            <a:r>
              <a:rPr i="1" dirty="0">
                <a:latin typeface="Trebuchet MS" panose="020B0603020202020204" pitchFamily="34" charset="0"/>
                <a:cs typeface="Arial"/>
              </a:rPr>
              <a:t>of</a:t>
            </a:r>
            <a:r>
              <a:rPr i="1" spc="-22" dirty="0">
                <a:latin typeface="Trebuchet MS" panose="020B0603020202020204" pitchFamily="34" charset="0"/>
                <a:cs typeface="Arial"/>
              </a:rPr>
              <a:t> </a:t>
            </a:r>
            <a:r>
              <a:rPr i="1" spc="-37" dirty="0">
                <a:latin typeface="Trebuchet MS" panose="020B0603020202020204" pitchFamily="34" charset="0"/>
                <a:cs typeface="Arial"/>
              </a:rPr>
              <a:t>the </a:t>
            </a:r>
            <a:r>
              <a:rPr i="1" dirty="0">
                <a:latin typeface="Trebuchet MS" panose="020B0603020202020204" pitchFamily="34" charset="0"/>
                <a:cs typeface="Arial"/>
              </a:rPr>
              <a:t>same</a:t>
            </a:r>
            <a:r>
              <a:rPr i="1" spc="-67" dirty="0">
                <a:latin typeface="Trebuchet MS" panose="020B0603020202020204" pitchFamily="34" charset="0"/>
                <a:cs typeface="Arial"/>
              </a:rPr>
              <a:t> </a:t>
            </a:r>
            <a:r>
              <a:rPr i="1" dirty="0">
                <a:latin typeface="Trebuchet MS" panose="020B0603020202020204" pitchFamily="34" charset="0"/>
                <a:cs typeface="Arial"/>
              </a:rPr>
              <a:t>type</a:t>
            </a:r>
            <a:r>
              <a:rPr dirty="0">
                <a:latin typeface="Trebuchet MS" panose="020B0603020202020204" pitchFamily="34" charset="0"/>
                <a:cs typeface="Arial MT"/>
              </a:rPr>
              <a:t>,</a:t>
            </a:r>
            <a:r>
              <a:rPr spc="-67" dirty="0">
                <a:latin typeface="Trebuchet MS" panose="020B0603020202020204" pitchFamily="34" charset="0"/>
                <a:cs typeface="Arial MT"/>
              </a:rPr>
              <a:t> </a:t>
            </a:r>
            <a:r>
              <a:rPr dirty="0">
                <a:latin typeface="Trebuchet MS" panose="020B0603020202020204" pitchFamily="34" charset="0"/>
                <a:cs typeface="Arial MT"/>
              </a:rPr>
              <a:t>e.g.</a:t>
            </a:r>
            <a:r>
              <a:rPr spc="30" dirty="0">
                <a:latin typeface="Trebuchet MS" panose="020B0603020202020204" pitchFamily="34" charset="0"/>
                <a:cs typeface="Arial MT"/>
              </a:rPr>
              <a:t> </a:t>
            </a:r>
            <a:r>
              <a:rPr dirty="0">
                <a:latin typeface="Trebuchet MS" panose="020B0603020202020204" pitchFamily="34" charset="0"/>
                <a:cs typeface="Arial MT"/>
              </a:rPr>
              <a:t>nodes,</a:t>
            </a:r>
            <a:r>
              <a:rPr spc="-67" dirty="0">
                <a:latin typeface="Trebuchet MS" panose="020B0603020202020204" pitchFamily="34" charset="0"/>
                <a:cs typeface="Arial MT"/>
              </a:rPr>
              <a:t> </a:t>
            </a:r>
            <a:r>
              <a:rPr dirty="0">
                <a:latin typeface="Trebuchet MS" panose="020B0603020202020204" pitchFamily="34" charset="0"/>
                <a:cs typeface="Arial MT"/>
              </a:rPr>
              <a:t>servers,</a:t>
            </a:r>
            <a:r>
              <a:rPr spc="-67" dirty="0">
                <a:latin typeface="Trebuchet MS" panose="020B0603020202020204" pitchFamily="34" charset="0"/>
                <a:cs typeface="Arial MT"/>
              </a:rPr>
              <a:t> </a:t>
            </a:r>
            <a:r>
              <a:rPr dirty="0">
                <a:latin typeface="Trebuchet MS" panose="020B0603020202020204" pitchFamily="34" charset="0"/>
                <a:cs typeface="Arial MT"/>
              </a:rPr>
              <a:t>instances,</a:t>
            </a:r>
            <a:r>
              <a:rPr spc="-59" dirty="0">
                <a:latin typeface="Trebuchet MS" panose="020B0603020202020204" pitchFamily="34" charset="0"/>
                <a:cs typeface="Arial MT"/>
              </a:rPr>
              <a:t> </a:t>
            </a:r>
            <a:r>
              <a:rPr spc="-30" dirty="0">
                <a:latin typeface="Trebuchet MS" panose="020B0603020202020204" pitchFamily="34" charset="0"/>
                <a:cs typeface="Arial MT"/>
              </a:rPr>
              <a:t>etc.</a:t>
            </a:r>
            <a:endParaRPr dirty="0">
              <a:latin typeface="Trebuchet MS" panose="020B0603020202020204" pitchFamily="34" charset="0"/>
              <a:cs typeface="Arial MT"/>
            </a:endParaRPr>
          </a:p>
          <a:p>
            <a:pPr marL="449219" marR="540761" indent="-320871">
              <a:lnSpc>
                <a:spcPct val="102600"/>
              </a:lnSpc>
              <a:spcBef>
                <a:spcPts val="446"/>
              </a:spcBef>
            </a:pPr>
            <a:r>
              <a:rPr spc="186" dirty="0">
                <a:latin typeface="Trebuchet MS" panose="020B0603020202020204" pitchFamily="34" charset="0"/>
                <a:cs typeface="Times New Roman"/>
              </a:rPr>
              <a:t>  </a:t>
            </a:r>
            <a:r>
              <a:rPr b="1" dirty="0">
                <a:latin typeface="Trebuchet MS" panose="020B0603020202020204" pitchFamily="34" charset="0"/>
                <a:cs typeface="Arial MT"/>
              </a:rPr>
              <a:t>Vertical</a:t>
            </a:r>
            <a:r>
              <a:rPr dirty="0">
                <a:latin typeface="Trebuchet MS" panose="020B0603020202020204" pitchFamily="34" charset="0"/>
                <a:cs typeface="Arial MT"/>
              </a:rPr>
              <a:t>:</a:t>
            </a:r>
            <a:r>
              <a:rPr spc="67" dirty="0">
                <a:latin typeface="Trebuchet MS" panose="020B0603020202020204" pitchFamily="34" charset="0"/>
                <a:cs typeface="Arial MT"/>
              </a:rPr>
              <a:t> </a:t>
            </a:r>
            <a:r>
              <a:rPr spc="-15" dirty="0">
                <a:latin typeface="Trebuchet MS" panose="020B0603020202020204" pitchFamily="34" charset="0"/>
                <a:cs typeface="Arial MT"/>
              </a:rPr>
              <a:t>Adding/removing</a:t>
            </a:r>
            <a:r>
              <a:rPr spc="-22" dirty="0">
                <a:latin typeface="Trebuchet MS" panose="020B0603020202020204" pitchFamily="34" charset="0"/>
                <a:cs typeface="Arial MT"/>
              </a:rPr>
              <a:t> </a:t>
            </a:r>
            <a:r>
              <a:rPr dirty="0">
                <a:latin typeface="Trebuchet MS" panose="020B0603020202020204" pitchFamily="34" charset="0"/>
                <a:cs typeface="Arial MT"/>
              </a:rPr>
              <a:t>capacity</a:t>
            </a:r>
            <a:r>
              <a:rPr spc="-30" dirty="0">
                <a:latin typeface="Trebuchet MS" panose="020B0603020202020204" pitchFamily="34" charset="0"/>
                <a:cs typeface="Arial MT"/>
              </a:rPr>
              <a:t> </a:t>
            </a:r>
            <a:r>
              <a:rPr dirty="0">
                <a:latin typeface="Trebuchet MS" panose="020B0603020202020204" pitchFamily="34" charset="0"/>
                <a:cs typeface="Arial MT"/>
              </a:rPr>
              <a:t>to/from</a:t>
            </a:r>
            <a:r>
              <a:rPr spc="-30" dirty="0">
                <a:latin typeface="Trebuchet MS" panose="020B0603020202020204" pitchFamily="34" charset="0"/>
                <a:cs typeface="Arial MT"/>
              </a:rPr>
              <a:t> </a:t>
            </a:r>
            <a:r>
              <a:rPr spc="-37" dirty="0">
                <a:latin typeface="Trebuchet MS" panose="020B0603020202020204" pitchFamily="34" charset="0"/>
                <a:cs typeface="Arial MT"/>
              </a:rPr>
              <a:t>(or </a:t>
            </a:r>
            <a:r>
              <a:rPr spc="-15" dirty="0">
                <a:latin typeface="Trebuchet MS" panose="020B0603020202020204" pitchFamily="34" charset="0"/>
                <a:cs typeface="Arial MT"/>
              </a:rPr>
              <a:t>replacing)</a:t>
            </a:r>
            <a:r>
              <a:rPr spc="-30" dirty="0">
                <a:latin typeface="Trebuchet MS" panose="020B0603020202020204" pitchFamily="34" charset="0"/>
                <a:cs typeface="Arial MT"/>
              </a:rPr>
              <a:t> </a:t>
            </a:r>
            <a:r>
              <a:rPr dirty="0">
                <a:latin typeface="Trebuchet MS" panose="020B0603020202020204" pitchFamily="34" charset="0"/>
                <a:cs typeface="Arial MT"/>
              </a:rPr>
              <a:t>an</a:t>
            </a:r>
            <a:r>
              <a:rPr spc="-22" dirty="0">
                <a:latin typeface="Trebuchet MS" panose="020B0603020202020204" pitchFamily="34" charset="0"/>
                <a:cs typeface="Arial MT"/>
              </a:rPr>
              <a:t> </a:t>
            </a:r>
            <a:r>
              <a:rPr i="1" spc="-15" dirty="0">
                <a:latin typeface="Trebuchet MS" panose="020B0603020202020204" pitchFamily="34" charset="0"/>
                <a:cs typeface="Arial"/>
              </a:rPr>
              <a:t>existing</a:t>
            </a:r>
            <a:r>
              <a:rPr i="1" spc="-22" dirty="0">
                <a:latin typeface="Trebuchet MS" panose="020B0603020202020204" pitchFamily="34" charset="0"/>
                <a:cs typeface="Arial"/>
              </a:rPr>
              <a:t> </a:t>
            </a:r>
            <a:r>
              <a:rPr dirty="0">
                <a:latin typeface="Trebuchet MS" panose="020B0603020202020204" pitchFamily="34" charset="0"/>
                <a:cs typeface="Arial MT"/>
              </a:rPr>
              <a:t>IT</a:t>
            </a:r>
            <a:r>
              <a:rPr spc="-22" dirty="0">
                <a:latin typeface="Trebuchet MS" panose="020B0603020202020204" pitchFamily="34" charset="0"/>
                <a:cs typeface="Arial MT"/>
              </a:rPr>
              <a:t> </a:t>
            </a:r>
            <a:r>
              <a:rPr spc="-15" dirty="0">
                <a:latin typeface="Trebuchet MS" panose="020B0603020202020204" pitchFamily="34" charset="0"/>
                <a:cs typeface="Arial MT"/>
              </a:rPr>
              <a:t>resource.</a:t>
            </a:r>
            <a:endParaRPr dirty="0">
              <a:latin typeface="Trebuchet MS" panose="020B0603020202020204" pitchFamily="34" charset="0"/>
              <a:cs typeface="Arial MT"/>
            </a:endParaRPr>
          </a:p>
        </p:txBody>
      </p:sp>
      <p:sp>
        <p:nvSpPr>
          <p:cNvPr id="28" name="object 28"/>
          <p:cNvSpPr txBox="1"/>
          <p:nvPr/>
        </p:nvSpPr>
        <p:spPr>
          <a:xfrm>
            <a:off x="7708346" y="2830527"/>
            <a:ext cx="95320" cy="268761"/>
          </a:xfrm>
          <a:prstGeom prst="rect">
            <a:avLst/>
          </a:prstGeom>
        </p:spPr>
        <p:txBody>
          <a:bodyPr vert="horz" wrap="square" lIns="0" tIns="16988" rIns="0" bIns="0" rtlCol="0">
            <a:spAutoFit/>
          </a:bodyPr>
          <a:lstStyle/>
          <a:p>
            <a:pPr marL="18875">
              <a:spcBef>
                <a:spcPts val="134"/>
              </a:spcBef>
            </a:pPr>
            <a:r>
              <a:rPr sz="1635" spc="-74" dirty="0">
                <a:latin typeface="Arial MT"/>
                <a:cs typeface="Arial MT"/>
              </a:rPr>
              <a:t>.</a:t>
            </a:r>
            <a:endParaRPr sz="1635">
              <a:latin typeface="Arial MT"/>
              <a:cs typeface="Arial MT"/>
            </a:endParaRPr>
          </a:p>
        </p:txBody>
      </p:sp>
      <p:sp>
        <p:nvSpPr>
          <p:cNvPr id="29" name="object 29"/>
          <p:cNvSpPr/>
          <p:nvPr/>
        </p:nvSpPr>
        <p:spPr>
          <a:xfrm>
            <a:off x="2541950" y="4650327"/>
            <a:ext cx="2718033"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endParaRPr sz="2675"/>
          </a:p>
        </p:txBody>
      </p:sp>
      <p:sp>
        <p:nvSpPr>
          <p:cNvPr id="30" name="object 30"/>
          <p:cNvSpPr txBox="1"/>
          <p:nvPr/>
        </p:nvSpPr>
        <p:spPr>
          <a:xfrm>
            <a:off x="1922389" y="4430511"/>
            <a:ext cx="5299221" cy="429886"/>
          </a:xfrm>
          <a:prstGeom prst="rect">
            <a:avLst/>
          </a:prstGeom>
        </p:spPr>
        <p:txBody>
          <a:bodyPr vert="horz" wrap="square" lIns="0" tIns="17931" rIns="0" bIns="0" rtlCol="0">
            <a:spAutoFit/>
          </a:bodyPr>
          <a:lstStyle/>
          <a:p>
            <a:pPr marL="288784">
              <a:spcBef>
                <a:spcPts val="141"/>
              </a:spcBef>
            </a:pPr>
            <a:r>
              <a:rPr sz="1338" baseline="37037" dirty="0">
                <a:latin typeface="Arial MT"/>
                <a:cs typeface="Arial MT"/>
              </a:rPr>
              <a:t>1</a:t>
            </a:r>
            <a:r>
              <a:rPr sz="1338" dirty="0">
                <a:latin typeface="Arial MT"/>
                <a:cs typeface="Arial MT"/>
              </a:rPr>
              <a:t>Herbst,</a:t>
            </a:r>
            <a:r>
              <a:rPr sz="1338" spc="-52" dirty="0">
                <a:latin typeface="Arial MT"/>
                <a:cs typeface="Arial MT"/>
              </a:rPr>
              <a:t> </a:t>
            </a:r>
            <a:r>
              <a:rPr sz="1338" dirty="0">
                <a:latin typeface="Arial MT"/>
                <a:cs typeface="Arial MT"/>
              </a:rPr>
              <a:t>Nikolas</a:t>
            </a:r>
            <a:r>
              <a:rPr sz="1338" spc="-45" dirty="0">
                <a:latin typeface="Arial MT"/>
                <a:cs typeface="Arial MT"/>
              </a:rPr>
              <a:t> </a:t>
            </a:r>
            <a:r>
              <a:rPr sz="1338" dirty="0">
                <a:latin typeface="Arial MT"/>
                <a:cs typeface="Arial MT"/>
              </a:rPr>
              <a:t>Roman;</a:t>
            </a:r>
            <a:r>
              <a:rPr sz="1338" spc="-52" dirty="0">
                <a:latin typeface="Arial MT"/>
                <a:cs typeface="Arial MT"/>
              </a:rPr>
              <a:t> </a:t>
            </a:r>
            <a:r>
              <a:rPr sz="1338" dirty="0">
                <a:latin typeface="Arial MT"/>
                <a:cs typeface="Arial MT"/>
              </a:rPr>
              <a:t>Samuel</a:t>
            </a:r>
            <a:r>
              <a:rPr sz="1338" spc="-45" dirty="0">
                <a:latin typeface="Arial MT"/>
                <a:cs typeface="Arial MT"/>
              </a:rPr>
              <a:t> </a:t>
            </a:r>
            <a:r>
              <a:rPr sz="1338" spc="-15" dirty="0">
                <a:latin typeface="Arial MT"/>
                <a:cs typeface="Arial MT"/>
              </a:rPr>
              <a:t>Kounev;</a:t>
            </a:r>
            <a:r>
              <a:rPr sz="1338" spc="-45" dirty="0">
                <a:latin typeface="Arial MT"/>
                <a:cs typeface="Arial MT"/>
              </a:rPr>
              <a:t> </a:t>
            </a:r>
            <a:r>
              <a:rPr sz="1338" dirty="0">
                <a:latin typeface="Arial MT"/>
                <a:cs typeface="Arial MT"/>
              </a:rPr>
              <a:t>Ralf</a:t>
            </a:r>
            <a:r>
              <a:rPr sz="1338" spc="-52" dirty="0">
                <a:latin typeface="Arial MT"/>
                <a:cs typeface="Arial MT"/>
              </a:rPr>
              <a:t> </a:t>
            </a:r>
            <a:r>
              <a:rPr sz="1338" spc="-15" dirty="0">
                <a:latin typeface="Arial MT"/>
                <a:cs typeface="Arial MT"/>
              </a:rPr>
              <a:t>Reussner.</a:t>
            </a:r>
            <a:endParaRPr sz="1338" dirty="0">
              <a:latin typeface="Arial MT"/>
              <a:cs typeface="Arial MT"/>
            </a:endParaRPr>
          </a:p>
          <a:p>
            <a:pPr marL="56624">
              <a:spcBef>
                <a:spcPts val="22"/>
              </a:spcBef>
            </a:pPr>
            <a:r>
              <a:rPr sz="1338" i="1" dirty="0">
                <a:latin typeface="Arial"/>
                <a:cs typeface="Arial"/>
              </a:rPr>
              <a:t>Elasticity</a:t>
            </a:r>
            <a:r>
              <a:rPr sz="1338" i="1" spc="-82" dirty="0">
                <a:latin typeface="Arial"/>
                <a:cs typeface="Arial"/>
              </a:rPr>
              <a:t> </a:t>
            </a:r>
            <a:r>
              <a:rPr sz="1338" i="1" dirty="0">
                <a:latin typeface="Arial"/>
                <a:cs typeface="Arial"/>
              </a:rPr>
              <a:t>in</a:t>
            </a:r>
            <a:r>
              <a:rPr sz="1338" i="1" spc="-59" dirty="0">
                <a:latin typeface="Arial"/>
                <a:cs typeface="Arial"/>
              </a:rPr>
              <a:t> </a:t>
            </a:r>
            <a:r>
              <a:rPr sz="1338" i="1" dirty="0">
                <a:latin typeface="Arial"/>
                <a:cs typeface="Arial"/>
              </a:rPr>
              <a:t>Cloud</a:t>
            </a:r>
            <a:r>
              <a:rPr sz="1338" i="1" spc="-52" dirty="0">
                <a:latin typeface="Arial"/>
                <a:cs typeface="Arial"/>
              </a:rPr>
              <a:t> </a:t>
            </a:r>
            <a:r>
              <a:rPr sz="1338" i="1" dirty="0">
                <a:latin typeface="Arial"/>
                <a:cs typeface="Arial"/>
              </a:rPr>
              <a:t>Computing:</a:t>
            </a:r>
            <a:r>
              <a:rPr sz="1338" i="1" spc="37" dirty="0">
                <a:latin typeface="Arial"/>
                <a:cs typeface="Arial"/>
              </a:rPr>
              <a:t> </a:t>
            </a:r>
            <a:r>
              <a:rPr sz="1338" i="1" dirty="0">
                <a:latin typeface="Arial"/>
                <a:cs typeface="Arial"/>
              </a:rPr>
              <a:t>What</a:t>
            </a:r>
            <a:r>
              <a:rPr sz="1338" i="1" spc="-52" dirty="0">
                <a:latin typeface="Arial"/>
                <a:cs typeface="Arial"/>
              </a:rPr>
              <a:t> </a:t>
            </a:r>
            <a:r>
              <a:rPr sz="1338" i="1" dirty="0">
                <a:latin typeface="Arial"/>
                <a:cs typeface="Arial"/>
              </a:rPr>
              <a:t>It</a:t>
            </a:r>
            <a:r>
              <a:rPr sz="1338" i="1" spc="-52" dirty="0">
                <a:latin typeface="Arial"/>
                <a:cs typeface="Arial"/>
              </a:rPr>
              <a:t> </a:t>
            </a:r>
            <a:r>
              <a:rPr sz="1338" i="1" dirty="0">
                <a:latin typeface="Arial"/>
                <a:cs typeface="Arial"/>
              </a:rPr>
              <a:t>Is,</a:t>
            </a:r>
            <a:r>
              <a:rPr sz="1338" i="1" spc="-52" dirty="0">
                <a:latin typeface="Arial"/>
                <a:cs typeface="Arial"/>
              </a:rPr>
              <a:t> </a:t>
            </a:r>
            <a:r>
              <a:rPr sz="1338" i="1" dirty="0">
                <a:latin typeface="Arial"/>
                <a:cs typeface="Arial"/>
              </a:rPr>
              <a:t>&amp;</a:t>
            </a:r>
            <a:r>
              <a:rPr sz="1338" i="1" spc="-52" dirty="0">
                <a:latin typeface="Arial"/>
                <a:cs typeface="Arial"/>
              </a:rPr>
              <a:t> </a:t>
            </a:r>
            <a:r>
              <a:rPr sz="1338" i="1" dirty="0">
                <a:latin typeface="Arial"/>
                <a:cs typeface="Arial"/>
                <a:hlinkClick r:id="rId2" action="ppaction://hlinksldjump"/>
              </a:rPr>
              <a:t>What</a:t>
            </a:r>
            <a:r>
              <a:rPr sz="1338" i="1" spc="-52" dirty="0">
                <a:latin typeface="Arial"/>
                <a:cs typeface="Arial"/>
              </a:rPr>
              <a:t> </a:t>
            </a:r>
            <a:r>
              <a:rPr sz="1338" i="1" dirty="0">
                <a:latin typeface="Arial"/>
                <a:cs typeface="Arial"/>
                <a:hlinkClick r:id="rId3" action="ppaction://hlinksldjump"/>
              </a:rPr>
              <a:t>It</a:t>
            </a:r>
            <a:r>
              <a:rPr sz="1338" i="1" spc="-59" dirty="0">
                <a:latin typeface="Arial"/>
                <a:cs typeface="Arial"/>
              </a:rPr>
              <a:t> </a:t>
            </a:r>
            <a:r>
              <a:rPr sz="1338" i="1" spc="-15" dirty="0">
                <a:latin typeface="Arial"/>
                <a:cs typeface="Arial"/>
                <a:hlinkClick r:id="rId4" action="ppaction://hlinksldjump"/>
              </a:rPr>
              <a:t>Is</a:t>
            </a:r>
            <a:r>
              <a:rPr sz="1338" i="1" spc="-141" dirty="0">
                <a:latin typeface="Arial"/>
                <a:cs typeface="Arial"/>
              </a:rPr>
              <a:t> </a:t>
            </a:r>
            <a:r>
              <a:rPr sz="1338" i="1" u="heavy" spc="-230" dirty="0">
                <a:uFill>
                  <a:solidFill>
                    <a:srgbClr val="CCCCCC"/>
                  </a:solidFill>
                </a:uFill>
                <a:latin typeface="Arial"/>
                <a:cs typeface="Arial"/>
                <a:hlinkClick r:id="rId2" action="ppaction://hlinksldjump"/>
              </a:rPr>
              <a:t> </a:t>
            </a:r>
            <a:r>
              <a:rPr sz="1338" i="1" u="heavy" dirty="0">
                <a:uFill>
                  <a:solidFill>
                    <a:srgbClr val="CCCCCC"/>
                  </a:solidFill>
                </a:uFill>
                <a:latin typeface="Arial"/>
                <a:cs typeface="Arial"/>
                <a:hlinkClick r:id="rId3" action="ppaction://hlinksldjump"/>
              </a:rPr>
              <a:t>N</a:t>
            </a:r>
            <a:r>
              <a:rPr sz="1338" i="1" dirty="0">
                <a:latin typeface="Arial"/>
                <a:cs typeface="Arial"/>
                <a:hlinkClick r:id="rId5" action="ppaction://hlinksldjump"/>
              </a:rPr>
              <a:t>ot</a:t>
            </a:r>
            <a:r>
              <a:rPr sz="1338" i="1" spc="59" dirty="0">
                <a:latin typeface="Arial"/>
                <a:cs typeface="Arial"/>
              </a:rPr>
              <a:t> </a:t>
            </a:r>
            <a:r>
              <a:rPr sz="1338" spc="-15" dirty="0">
                <a:latin typeface="Arial MT"/>
                <a:cs typeface="Arial MT"/>
                <a:hlinkClick r:id="rId3" action="ppaction://hlinksldjump"/>
              </a:rPr>
              <a:t>I</a:t>
            </a:r>
            <a:r>
              <a:rPr sz="1338" u="heavy" spc="-15" dirty="0">
                <a:uFill>
                  <a:solidFill>
                    <a:srgbClr val="CCCCCC"/>
                  </a:solidFill>
                </a:uFill>
                <a:latin typeface="Arial MT"/>
                <a:cs typeface="Arial MT"/>
              </a:rPr>
              <a:t>C</a:t>
            </a:r>
            <a:r>
              <a:rPr sz="1338" spc="-15" dirty="0">
                <a:latin typeface="Arial MT"/>
                <a:cs typeface="Arial MT"/>
                <a:hlinkClick r:id="rId6" action="ppaction://hlinksldjump"/>
              </a:rPr>
              <a:t>A</a:t>
            </a:r>
            <a:r>
              <a:rPr sz="1338" spc="-15" dirty="0">
                <a:latin typeface="Arial MT"/>
                <a:cs typeface="Arial MT"/>
                <a:hlinkClick r:id="rId7" action="ppaction://hlinksldjump"/>
              </a:rPr>
              <a:t>C</a:t>
            </a:r>
            <a:r>
              <a:rPr sz="1338" spc="-52" dirty="0">
                <a:latin typeface="Arial MT"/>
                <a:cs typeface="Arial MT"/>
              </a:rPr>
              <a:t> </a:t>
            </a:r>
            <a:r>
              <a:rPr sz="1338" u="heavy" spc="-15" dirty="0">
                <a:uFill>
                  <a:solidFill>
                    <a:srgbClr val="999999"/>
                  </a:solidFill>
                </a:uFill>
                <a:latin typeface="Arial MT"/>
                <a:cs typeface="Arial MT"/>
                <a:hlinkClick r:id="rId8" action="ppaction://hlinksldjump"/>
              </a:rPr>
              <a:t>2</a:t>
            </a:r>
            <a:r>
              <a:rPr sz="1338" spc="-15" dirty="0">
                <a:latin typeface="Arial MT"/>
                <a:cs typeface="Arial MT"/>
              </a:rPr>
              <a:t>013.</a:t>
            </a:r>
            <a:endParaRPr sz="1338" dirty="0">
              <a:latin typeface="Arial MT"/>
              <a:cs typeface="Arial MT"/>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7" name="object 7"/>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8" name="object 8"/>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9" name="object 9"/>
          <p:cNvGrpSpPr/>
          <p:nvPr/>
        </p:nvGrpSpPr>
        <p:grpSpPr>
          <a:xfrm>
            <a:off x="6014860" y="4991360"/>
            <a:ext cx="302004" cy="83051"/>
            <a:chOff x="3275863" y="3358384"/>
            <a:chExt cx="203200" cy="55880"/>
          </a:xfrm>
        </p:grpSpPr>
        <p:sp>
          <p:nvSpPr>
            <p:cNvPr id="10" name="object 10"/>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1" name="object 11"/>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2" name="object 12"/>
          <p:cNvGrpSpPr/>
          <p:nvPr/>
        </p:nvGrpSpPr>
        <p:grpSpPr>
          <a:xfrm>
            <a:off x="6411862" y="4989480"/>
            <a:ext cx="302004" cy="86825"/>
            <a:chOff x="3542982" y="3357119"/>
            <a:chExt cx="203200" cy="58419"/>
          </a:xfrm>
        </p:grpSpPr>
        <p:sp>
          <p:nvSpPr>
            <p:cNvPr id="13" name="object 13"/>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4" name="object 14"/>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5" name="object 15"/>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6" name="object 16"/>
          <p:cNvGrpSpPr/>
          <p:nvPr/>
        </p:nvGrpSpPr>
        <p:grpSpPr>
          <a:xfrm>
            <a:off x="6808865" y="4989480"/>
            <a:ext cx="302004" cy="86825"/>
            <a:chOff x="3810101" y="3357119"/>
            <a:chExt cx="203200" cy="58419"/>
          </a:xfrm>
        </p:grpSpPr>
        <p:sp>
          <p:nvSpPr>
            <p:cNvPr id="17" name="object 17"/>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18" name="object 18"/>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9" name="object 19"/>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0" name="object 20"/>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1" name="object 21"/>
          <p:cNvGrpSpPr/>
          <p:nvPr/>
        </p:nvGrpSpPr>
        <p:grpSpPr>
          <a:xfrm>
            <a:off x="7576479" y="4991359"/>
            <a:ext cx="354854" cy="84939"/>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5" name="object 25"/>
          <p:cNvSpPr txBox="1">
            <a:spLocks noGrp="1"/>
          </p:cNvSpPr>
          <p:nvPr>
            <p:ph type="title"/>
          </p:nvPr>
        </p:nvSpPr>
        <p:spPr>
          <a:xfrm>
            <a:off x="773211" y="438150"/>
            <a:ext cx="4476259" cy="456618"/>
          </a:xfrm>
          <a:prstGeom prst="rect">
            <a:avLst/>
          </a:prstGeom>
        </p:spPr>
        <p:txBody>
          <a:bodyPr vert="horz" wrap="square" lIns="0" tIns="25482" rIns="0" bIns="0" rtlCol="0">
            <a:spAutoFit/>
          </a:bodyPr>
          <a:lstStyle/>
          <a:p>
            <a:pPr marL="319927">
              <a:spcBef>
                <a:spcPts val="201"/>
              </a:spcBef>
            </a:pPr>
            <a:r>
              <a:rPr dirty="0"/>
              <a:t>Essential</a:t>
            </a:r>
            <a:r>
              <a:rPr spc="104" dirty="0"/>
              <a:t> </a:t>
            </a:r>
            <a:r>
              <a:rPr spc="-15" dirty="0"/>
              <a:t>Characteristics</a:t>
            </a:r>
          </a:p>
        </p:txBody>
      </p:sp>
      <p:pic>
        <p:nvPicPr>
          <p:cNvPr id="26" name="object 26"/>
          <p:cNvPicPr/>
          <p:nvPr/>
        </p:nvPicPr>
        <p:blipFill>
          <a:blip r:embed="rId2" cstate="print"/>
          <a:stretch>
            <a:fillRect/>
          </a:stretch>
        </p:blipFill>
        <p:spPr>
          <a:xfrm>
            <a:off x="304800" y="1664227"/>
            <a:ext cx="3934424" cy="1414347"/>
          </a:xfrm>
          <a:prstGeom prst="rect">
            <a:avLst/>
          </a:prstGeom>
        </p:spPr>
      </p:pic>
      <p:sp>
        <p:nvSpPr>
          <p:cNvPr id="27" name="object 27"/>
          <p:cNvSpPr txBox="1"/>
          <p:nvPr/>
        </p:nvSpPr>
        <p:spPr>
          <a:xfrm>
            <a:off x="200692" y="3166744"/>
            <a:ext cx="4142640" cy="246758"/>
          </a:xfrm>
          <a:prstGeom prst="rect">
            <a:avLst/>
          </a:prstGeom>
        </p:spPr>
        <p:txBody>
          <a:bodyPr vert="horz" wrap="square" lIns="0" tIns="17931" rIns="0" bIns="0" rtlCol="0">
            <a:spAutoFit/>
          </a:bodyPr>
          <a:lstStyle/>
          <a:p>
            <a:pPr marL="18875" marR="7550">
              <a:spcBef>
                <a:spcPts val="141"/>
              </a:spcBef>
            </a:pPr>
            <a:r>
              <a:rPr sz="1486" dirty="0">
                <a:solidFill>
                  <a:srgbClr val="FF0000"/>
                </a:solidFill>
                <a:latin typeface="Arial MT"/>
                <a:cs typeface="Arial MT"/>
              </a:rPr>
              <a:t>Horizontal</a:t>
            </a:r>
            <a:r>
              <a:rPr sz="1486" spc="-30" dirty="0">
                <a:solidFill>
                  <a:srgbClr val="FF0000"/>
                </a:solidFill>
                <a:latin typeface="Arial MT"/>
                <a:cs typeface="Arial MT"/>
              </a:rPr>
              <a:t> </a:t>
            </a:r>
            <a:r>
              <a:rPr sz="1486" dirty="0">
                <a:solidFill>
                  <a:srgbClr val="FF0000"/>
                </a:solidFill>
                <a:latin typeface="Arial MT"/>
                <a:cs typeface="Arial MT"/>
              </a:rPr>
              <a:t>Scaling</a:t>
            </a:r>
            <a:r>
              <a:rPr sz="1486" dirty="0">
                <a:latin typeface="Arial MT"/>
                <a:cs typeface="Arial MT"/>
              </a:rPr>
              <a:t>:</a:t>
            </a:r>
            <a:r>
              <a:rPr sz="1486" spc="67" dirty="0">
                <a:latin typeface="Arial MT"/>
                <a:cs typeface="Arial MT"/>
              </a:rPr>
              <a:t> </a:t>
            </a:r>
            <a:r>
              <a:rPr sz="1486" spc="-15" dirty="0">
                <a:latin typeface="Arial MT"/>
                <a:cs typeface="Arial MT"/>
              </a:rPr>
              <a:t>Scaling </a:t>
            </a:r>
            <a:r>
              <a:rPr sz="1486" dirty="0">
                <a:latin typeface="Arial MT"/>
                <a:cs typeface="Arial MT"/>
              </a:rPr>
              <a:t>Out</a:t>
            </a:r>
            <a:r>
              <a:rPr sz="1486" spc="-7" dirty="0">
                <a:latin typeface="Arial MT"/>
                <a:cs typeface="Arial MT"/>
              </a:rPr>
              <a:t> </a:t>
            </a:r>
            <a:r>
              <a:rPr sz="1486" dirty="0">
                <a:latin typeface="Arial MT"/>
                <a:cs typeface="Arial MT"/>
              </a:rPr>
              <a:t>/</a:t>
            </a:r>
            <a:r>
              <a:rPr sz="1486" spc="-7" dirty="0">
                <a:latin typeface="Arial MT"/>
                <a:cs typeface="Arial MT"/>
              </a:rPr>
              <a:t> </a:t>
            </a:r>
            <a:r>
              <a:rPr sz="1486" dirty="0">
                <a:latin typeface="Arial MT"/>
                <a:cs typeface="Arial MT"/>
              </a:rPr>
              <a:t>Scaling</a:t>
            </a:r>
            <a:r>
              <a:rPr sz="1486" spc="-7" dirty="0">
                <a:latin typeface="Arial MT"/>
                <a:cs typeface="Arial MT"/>
              </a:rPr>
              <a:t> </a:t>
            </a:r>
            <a:r>
              <a:rPr sz="1486" spc="-37" dirty="0">
                <a:latin typeface="Arial MT"/>
                <a:cs typeface="Arial MT"/>
              </a:rPr>
              <a:t>In</a:t>
            </a:r>
            <a:endParaRPr sz="1486" dirty="0">
              <a:latin typeface="Arial MT"/>
              <a:cs typeface="Arial MT"/>
            </a:endParaRPr>
          </a:p>
        </p:txBody>
      </p:sp>
      <p:pic>
        <p:nvPicPr>
          <p:cNvPr id="28" name="object 28"/>
          <p:cNvPicPr/>
          <p:nvPr/>
        </p:nvPicPr>
        <p:blipFill>
          <a:blip r:embed="rId3" cstate="print"/>
          <a:stretch>
            <a:fillRect/>
          </a:stretch>
        </p:blipFill>
        <p:spPr>
          <a:xfrm>
            <a:off x="5655607" y="1546686"/>
            <a:ext cx="2401097" cy="1590686"/>
          </a:xfrm>
          <a:prstGeom prst="rect">
            <a:avLst/>
          </a:prstGeom>
        </p:spPr>
      </p:pic>
      <p:sp>
        <p:nvSpPr>
          <p:cNvPr id="29" name="object 29"/>
          <p:cNvSpPr txBox="1"/>
          <p:nvPr/>
        </p:nvSpPr>
        <p:spPr>
          <a:xfrm>
            <a:off x="5100122" y="3161648"/>
            <a:ext cx="3630041" cy="246758"/>
          </a:xfrm>
          <a:prstGeom prst="rect">
            <a:avLst/>
          </a:prstGeom>
        </p:spPr>
        <p:txBody>
          <a:bodyPr vert="horz" wrap="square" lIns="0" tIns="17931" rIns="0" bIns="0" rtlCol="0">
            <a:spAutoFit/>
          </a:bodyPr>
          <a:lstStyle/>
          <a:p>
            <a:pPr marL="18875" marR="7550">
              <a:spcBef>
                <a:spcPts val="141"/>
              </a:spcBef>
            </a:pPr>
            <a:r>
              <a:rPr sz="1486" spc="-15" dirty="0">
                <a:solidFill>
                  <a:srgbClr val="FF0000"/>
                </a:solidFill>
                <a:latin typeface="Arial MT"/>
                <a:cs typeface="Arial MT"/>
              </a:rPr>
              <a:t>Vertical </a:t>
            </a:r>
            <a:r>
              <a:rPr sz="1486" dirty="0">
                <a:solidFill>
                  <a:srgbClr val="FF0000"/>
                </a:solidFill>
                <a:latin typeface="Arial MT"/>
                <a:cs typeface="Arial MT"/>
              </a:rPr>
              <a:t>Scaling</a:t>
            </a:r>
            <a:r>
              <a:rPr sz="1486" spc="-7" dirty="0">
                <a:solidFill>
                  <a:srgbClr val="FF0000"/>
                </a:solidFill>
                <a:latin typeface="Arial MT"/>
                <a:cs typeface="Arial MT"/>
              </a:rPr>
              <a:t> </a:t>
            </a:r>
            <a:r>
              <a:rPr sz="1486" dirty="0">
                <a:latin typeface="Arial MT"/>
                <a:cs typeface="Arial MT"/>
              </a:rPr>
              <a:t>Scaling</a:t>
            </a:r>
            <a:r>
              <a:rPr sz="1486" spc="-7" dirty="0">
                <a:latin typeface="Arial MT"/>
                <a:cs typeface="Arial MT"/>
              </a:rPr>
              <a:t> </a:t>
            </a:r>
            <a:r>
              <a:rPr sz="1486" dirty="0">
                <a:latin typeface="Arial MT"/>
                <a:cs typeface="Arial MT"/>
              </a:rPr>
              <a:t>Up</a:t>
            </a:r>
            <a:r>
              <a:rPr sz="1486" spc="-7" dirty="0">
                <a:latin typeface="Arial MT"/>
                <a:cs typeface="Arial MT"/>
              </a:rPr>
              <a:t> </a:t>
            </a:r>
            <a:r>
              <a:rPr sz="1486" spc="-74" dirty="0">
                <a:latin typeface="Arial MT"/>
                <a:cs typeface="Arial MT"/>
              </a:rPr>
              <a:t>/ </a:t>
            </a:r>
            <a:r>
              <a:rPr sz="1486" dirty="0">
                <a:latin typeface="Arial MT"/>
                <a:cs typeface="Arial MT"/>
              </a:rPr>
              <a:t>Scaling</a:t>
            </a:r>
            <a:r>
              <a:rPr sz="1486" spc="-22" dirty="0">
                <a:latin typeface="Arial MT"/>
                <a:cs typeface="Arial MT"/>
              </a:rPr>
              <a:t> </a:t>
            </a:r>
            <a:r>
              <a:rPr sz="1486" spc="-30" dirty="0">
                <a:latin typeface="Arial MT"/>
                <a:cs typeface="Arial MT"/>
              </a:rPr>
              <a:t>Down</a:t>
            </a:r>
            <a:endParaRPr sz="1486">
              <a:latin typeface="Arial MT"/>
              <a:cs typeface="Arial MT"/>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608656" y="666750"/>
            <a:ext cx="4476259" cy="456618"/>
          </a:xfrm>
          <a:prstGeom prst="rect">
            <a:avLst/>
          </a:prstGeom>
        </p:spPr>
        <p:txBody>
          <a:bodyPr vert="horz" wrap="square" lIns="0" tIns="25482" rIns="0" bIns="0" rtlCol="0">
            <a:spAutoFit/>
          </a:bodyPr>
          <a:lstStyle/>
          <a:p>
            <a:pPr marL="319927">
              <a:spcBef>
                <a:spcPts val="201"/>
              </a:spcBef>
            </a:pPr>
            <a:r>
              <a:rPr dirty="0"/>
              <a:t>Essential</a:t>
            </a:r>
            <a:r>
              <a:rPr spc="104" dirty="0"/>
              <a:t> </a:t>
            </a:r>
            <a:r>
              <a:rPr spc="-15" dirty="0"/>
              <a:t>Characteristics</a:t>
            </a:r>
          </a:p>
        </p:txBody>
      </p:sp>
      <p:sp>
        <p:nvSpPr>
          <p:cNvPr id="28" name="object 28"/>
          <p:cNvSpPr txBox="1"/>
          <p:nvPr/>
        </p:nvSpPr>
        <p:spPr>
          <a:xfrm>
            <a:off x="1104551" y="1610922"/>
            <a:ext cx="7201249" cy="2041312"/>
          </a:xfrm>
          <a:prstGeom prst="rect">
            <a:avLst/>
          </a:prstGeom>
        </p:spPr>
        <p:txBody>
          <a:bodyPr vert="horz" wrap="square" lIns="0" tIns="132127" rIns="0" bIns="0" rtlCol="0">
            <a:spAutoFit/>
          </a:bodyPr>
          <a:lstStyle/>
          <a:p>
            <a:pPr marL="18875">
              <a:spcBef>
                <a:spcPts val="1040"/>
              </a:spcBef>
            </a:pPr>
            <a:r>
              <a:rPr b="1" u="sng" spc="-15" dirty="0">
                <a:uFill>
                  <a:solidFill>
                    <a:srgbClr val="000000"/>
                  </a:solidFill>
                </a:uFill>
                <a:latin typeface="Trebuchet MS" panose="020B0603020202020204" pitchFamily="34" charset="0"/>
                <a:cs typeface="Arial"/>
              </a:rPr>
              <a:t>Resource</a:t>
            </a:r>
            <a:r>
              <a:rPr b="1" u="sng" spc="-59" dirty="0">
                <a:uFill>
                  <a:solidFill>
                    <a:srgbClr val="000000"/>
                  </a:solidFill>
                </a:uFill>
                <a:latin typeface="Trebuchet MS" panose="020B0603020202020204" pitchFamily="34" charset="0"/>
                <a:cs typeface="Arial"/>
              </a:rPr>
              <a:t> </a:t>
            </a:r>
            <a:r>
              <a:rPr b="1" u="sng" spc="-15" dirty="0">
                <a:uFill>
                  <a:solidFill>
                    <a:srgbClr val="000000"/>
                  </a:solidFill>
                </a:uFill>
                <a:latin typeface="Trebuchet MS" panose="020B0603020202020204" pitchFamily="34" charset="0"/>
                <a:cs typeface="Arial"/>
              </a:rPr>
              <a:t>Pooling:</a:t>
            </a:r>
            <a:endParaRPr lang="en-US" b="1" u="sng" spc="-15" dirty="0">
              <a:uFill>
                <a:solidFill>
                  <a:srgbClr val="000000"/>
                </a:solidFill>
              </a:uFill>
              <a:latin typeface="Trebuchet MS" panose="020B0603020202020204" pitchFamily="34" charset="0"/>
              <a:cs typeface="Arial"/>
            </a:endParaRPr>
          </a:p>
          <a:p>
            <a:pPr marL="18875">
              <a:spcBef>
                <a:spcPts val="1040"/>
              </a:spcBef>
            </a:pPr>
            <a:endParaRPr dirty="0">
              <a:latin typeface="Trebuchet MS" panose="020B0603020202020204" pitchFamily="34" charset="0"/>
              <a:cs typeface="Arial"/>
            </a:endParaRPr>
          </a:p>
          <a:p>
            <a:pPr marL="18875" marR="7550" indent="-7550">
              <a:lnSpc>
                <a:spcPct val="102600"/>
              </a:lnSpc>
              <a:spcBef>
                <a:spcPts val="847"/>
              </a:spcBef>
              <a:buFont typeface="Times New Roman"/>
              <a:buChar char="►"/>
              <a:tabLst>
                <a:tab pos="234991" algn="l"/>
              </a:tabLst>
            </a:pPr>
            <a:r>
              <a:rPr lang="en-US" spc="-15" dirty="0">
                <a:latin typeface="Trebuchet MS" panose="020B0603020202020204" pitchFamily="34" charset="0"/>
                <a:cs typeface="Arial MT"/>
              </a:rPr>
              <a:t> </a:t>
            </a:r>
            <a:r>
              <a:rPr spc="-15" dirty="0">
                <a:latin typeface="Trebuchet MS" panose="020B0603020202020204" pitchFamily="34" charset="0"/>
                <a:cs typeface="Arial MT"/>
              </a:rPr>
              <a:t>Aggregation</a:t>
            </a:r>
            <a:r>
              <a:rPr spc="-45" dirty="0">
                <a:latin typeface="Trebuchet MS" panose="020B0603020202020204" pitchFamily="34" charset="0"/>
                <a:cs typeface="Arial MT"/>
              </a:rPr>
              <a:t> </a:t>
            </a:r>
            <a:r>
              <a:rPr dirty="0">
                <a:latin typeface="Trebuchet MS" panose="020B0603020202020204" pitchFamily="34" charset="0"/>
                <a:cs typeface="Arial MT"/>
              </a:rPr>
              <a:t>of</a:t>
            </a:r>
            <a:r>
              <a:rPr spc="-37" dirty="0">
                <a:latin typeface="Trebuchet MS" panose="020B0603020202020204" pitchFamily="34" charset="0"/>
                <a:cs typeface="Arial MT"/>
              </a:rPr>
              <a:t> </a:t>
            </a:r>
            <a:r>
              <a:rPr dirty="0">
                <a:latin typeface="Trebuchet MS" panose="020B0603020202020204" pitchFamily="34" charset="0"/>
                <a:cs typeface="Arial MT"/>
              </a:rPr>
              <a:t>computing</a:t>
            </a:r>
            <a:r>
              <a:rPr spc="-37" dirty="0">
                <a:latin typeface="Trebuchet MS" panose="020B0603020202020204" pitchFamily="34" charset="0"/>
                <a:cs typeface="Arial MT"/>
              </a:rPr>
              <a:t> </a:t>
            </a:r>
            <a:r>
              <a:rPr dirty="0">
                <a:latin typeface="Trebuchet MS" panose="020B0603020202020204" pitchFamily="34" charset="0"/>
                <a:cs typeface="Arial MT"/>
              </a:rPr>
              <a:t>resources</a:t>
            </a:r>
            <a:r>
              <a:rPr spc="-37" dirty="0">
                <a:latin typeface="Trebuchet MS" panose="020B0603020202020204" pitchFamily="34" charset="0"/>
                <a:cs typeface="Arial MT"/>
              </a:rPr>
              <a:t> </a:t>
            </a:r>
            <a:r>
              <a:rPr dirty="0">
                <a:latin typeface="Trebuchet MS" panose="020B0603020202020204" pitchFamily="34" charset="0"/>
                <a:cs typeface="Arial MT"/>
              </a:rPr>
              <a:t>such</a:t>
            </a:r>
            <a:r>
              <a:rPr spc="-45" dirty="0">
                <a:latin typeface="Trebuchet MS" panose="020B0603020202020204" pitchFamily="34" charset="0"/>
                <a:cs typeface="Arial MT"/>
              </a:rPr>
              <a:t> </a:t>
            </a:r>
            <a:r>
              <a:rPr dirty="0">
                <a:latin typeface="Trebuchet MS" panose="020B0603020202020204" pitchFamily="34" charset="0"/>
                <a:cs typeface="Arial MT"/>
              </a:rPr>
              <a:t>as</a:t>
            </a:r>
            <a:r>
              <a:rPr spc="-37" dirty="0">
                <a:latin typeface="Trebuchet MS" panose="020B0603020202020204" pitchFamily="34" charset="0"/>
                <a:cs typeface="Arial MT"/>
              </a:rPr>
              <a:t> </a:t>
            </a:r>
            <a:r>
              <a:rPr spc="-15" dirty="0">
                <a:latin typeface="Trebuchet MS" panose="020B0603020202020204" pitchFamily="34" charset="0"/>
                <a:cs typeface="Arial MT"/>
              </a:rPr>
              <a:t>storage, </a:t>
            </a:r>
            <a:r>
              <a:rPr dirty="0">
                <a:latin typeface="Trebuchet MS" panose="020B0603020202020204" pitchFamily="34" charset="0"/>
                <a:cs typeface="Arial MT"/>
              </a:rPr>
              <a:t>processing,</a:t>
            </a:r>
            <a:r>
              <a:rPr spc="-59" dirty="0">
                <a:latin typeface="Trebuchet MS" panose="020B0603020202020204" pitchFamily="34" charset="0"/>
                <a:cs typeface="Arial MT"/>
              </a:rPr>
              <a:t> </a:t>
            </a:r>
            <a:r>
              <a:rPr spc="-15" dirty="0">
                <a:latin typeface="Trebuchet MS" panose="020B0603020202020204" pitchFamily="34" charset="0"/>
                <a:cs typeface="Arial MT"/>
              </a:rPr>
              <a:t>memory,</a:t>
            </a:r>
            <a:r>
              <a:rPr spc="-59" dirty="0">
                <a:latin typeface="Trebuchet MS" panose="020B0603020202020204" pitchFamily="34" charset="0"/>
                <a:cs typeface="Arial MT"/>
              </a:rPr>
              <a:t> </a:t>
            </a:r>
            <a:r>
              <a:rPr dirty="0">
                <a:latin typeface="Trebuchet MS" panose="020B0603020202020204" pitchFamily="34" charset="0"/>
                <a:cs typeface="Arial MT"/>
              </a:rPr>
              <a:t>and</a:t>
            </a:r>
            <a:r>
              <a:rPr spc="-59" dirty="0">
                <a:latin typeface="Trebuchet MS" panose="020B0603020202020204" pitchFamily="34" charset="0"/>
                <a:cs typeface="Arial MT"/>
              </a:rPr>
              <a:t> </a:t>
            </a:r>
            <a:r>
              <a:rPr dirty="0">
                <a:latin typeface="Trebuchet MS" panose="020B0603020202020204" pitchFamily="34" charset="0"/>
                <a:cs typeface="Arial MT"/>
              </a:rPr>
              <a:t>network</a:t>
            </a:r>
            <a:r>
              <a:rPr spc="-59" dirty="0">
                <a:latin typeface="Trebuchet MS" panose="020B0603020202020204" pitchFamily="34" charset="0"/>
                <a:cs typeface="Arial MT"/>
              </a:rPr>
              <a:t> </a:t>
            </a:r>
            <a:r>
              <a:rPr spc="-15" dirty="0">
                <a:latin typeface="Trebuchet MS" panose="020B0603020202020204" pitchFamily="34" charset="0"/>
                <a:cs typeface="Arial MT"/>
              </a:rPr>
              <a:t>bandwidth</a:t>
            </a:r>
            <a:r>
              <a:rPr spc="-59" dirty="0">
                <a:latin typeface="Trebuchet MS" panose="020B0603020202020204" pitchFamily="34" charset="0"/>
                <a:cs typeface="Arial MT"/>
              </a:rPr>
              <a:t> </a:t>
            </a:r>
            <a:r>
              <a:rPr spc="-15" dirty="0">
                <a:latin typeface="Trebuchet MS" panose="020B0603020202020204" pitchFamily="34" charset="0"/>
                <a:cs typeface="Arial MT"/>
              </a:rPr>
              <a:t>across different</a:t>
            </a:r>
            <a:r>
              <a:rPr spc="-45" dirty="0">
                <a:latin typeface="Trebuchet MS" panose="020B0603020202020204" pitchFamily="34" charset="0"/>
                <a:cs typeface="Arial MT"/>
              </a:rPr>
              <a:t> </a:t>
            </a:r>
            <a:r>
              <a:rPr spc="-15" dirty="0">
                <a:latin typeface="Trebuchet MS" panose="020B0603020202020204" pitchFamily="34" charset="0"/>
                <a:cs typeface="Arial MT"/>
              </a:rPr>
              <a:t>physical</a:t>
            </a:r>
            <a:r>
              <a:rPr spc="-37" dirty="0">
                <a:latin typeface="Trebuchet MS" panose="020B0603020202020204" pitchFamily="34" charset="0"/>
                <a:cs typeface="Arial MT"/>
              </a:rPr>
              <a:t> </a:t>
            </a:r>
            <a:r>
              <a:rPr dirty="0">
                <a:latin typeface="Trebuchet MS" panose="020B0603020202020204" pitchFamily="34" charset="0"/>
                <a:cs typeface="Arial MT"/>
              </a:rPr>
              <a:t>machines</a:t>
            </a:r>
            <a:r>
              <a:rPr spc="-37" dirty="0">
                <a:latin typeface="Trebuchet MS" panose="020B0603020202020204" pitchFamily="34" charset="0"/>
                <a:cs typeface="Arial MT"/>
              </a:rPr>
              <a:t> </a:t>
            </a:r>
            <a:r>
              <a:rPr dirty="0">
                <a:latin typeface="Trebuchet MS" panose="020B0603020202020204" pitchFamily="34" charset="0"/>
                <a:cs typeface="Arial MT"/>
              </a:rPr>
              <a:t>so</a:t>
            </a:r>
            <a:r>
              <a:rPr spc="-37" dirty="0">
                <a:latin typeface="Trebuchet MS" panose="020B0603020202020204" pitchFamily="34" charset="0"/>
                <a:cs typeface="Arial MT"/>
              </a:rPr>
              <a:t> </a:t>
            </a:r>
            <a:r>
              <a:rPr dirty="0">
                <a:latin typeface="Trebuchet MS" panose="020B0603020202020204" pitchFamily="34" charset="0"/>
                <a:cs typeface="Arial MT"/>
              </a:rPr>
              <a:t>that</a:t>
            </a:r>
            <a:r>
              <a:rPr spc="-37" dirty="0">
                <a:latin typeface="Trebuchet MS" panose="020B0603020202020204" pitchFamily="34" charset="0"/>
                <a:cs typeface="Arial MT"/>
              </a:rPr>
              <a:t> </a:t>
            </a:r>
            <a:r>
              <a:rPr dirty="0">
                <a:latin typeface="Trebuchet MS" panose="020B0603020202020204" pitchFamily="34" charset="0"/>
                <a:cs typeface="Arial MT"/>
              </a:rPr>
              <a:t>they</a:t>
            </a:r>
            <a:r>
              <a:rPr spc="-37" dirty="0">
                <a:latin typeface="Trebuchet MS" panose="020B0603020202020204" pitchFamily="34" charset="0"/>
                <a:cs typeface="Arial MT"/>
              </a:rPr>
              <a:t> </a:t>
            </a:r>
            <a:r>
              <a:rPr dirty="0">
                <a:latin typeface="Trebuchet MS" panose="020B0603020202020204" pitchFamily="34" charset="0"/>
                <a:cs typeface="Arial MT"/>
              </a:rPr>
              <a:t>can</a:t>
            </a:r>
            <a:r>
              <a:rPr spc="-37" dirty="0">
                <a:latin typeface="Trebuchet MS" panose="020B0603020202020204" pitchFamily="34" charset="0"/>
                <a:cs typeface="Arial MT"/>
              </a:rPr>
              <a:t> </a:t>
            </a:r>
            <a:r>
              <a:rPr dirty="0">
                <a:latin typeface="Trebuchet MS" panose="020B0603020202020204" pitchFamily="34" charset="0"/>
                <a:cs typeface="Arial MT"/>
              </a:rPr>
              <a:t>be</a:t>
            </a:r>
            <a:r>
              <a:rPr spc="-37" dirty="0">
                <a:latin typeface="Trebuchet MS" panose="020B0603020202020204" pitchFamily="34" charset="0"/>
                <a:cs typeface="Arial MT"/>
              </a:rPr>
              <a:t> </a:t>
            </a:r>
            <a:r>
              <a:rPr dirty="0">
                <a:latin typeface="Trebuchet MS" panose="020B0603020202020204" pitchFamily="34" charset="0"/>
                <a:cs typeface="Arial MT"/>
              </a:rPr>
              <a:t>used</a:t>
            </a:r>
            <a:r>
              <a:rPr spc="-37" dirty="0">
                <a:latin typeface="Trebuchet MS" panose="020B0603020202020204" pitchFamily="34" charset="0"/>
                <a:cs typeface="Arial MT"/>
              </a:rPr>
              <a:t> by </a:t>
            </a:r>
            <a:r>
              <a:rPr spc="-15" dirty="0">
                <a:latin typeface="Trebuchet MS" panose="020B0603020202020204" pitchFamily="34" charset="0"/>
                <a:cs typeface="Arial MT"/>
              </a:rPr>
              <a:t>multiple</a:t>
            </a:r>
            <a:r>
              <a:rPr spc="-30" dirty="0">
                <a:latin typeface="Trebuchet MS" panose="020B0603020202020204" pitchFamily="34" charset="0"/>
                <a:cs typeface="Arial MT"/>
              </a:rPr>
              <a:t> </a:t>
            </a:r>
            <a:r>
              <a:rPr dirty="0">
                <a:latin typeface="Trebuchet MS" panose="020B0603020202020204" pitchFamily="34" charset="0"/>
                <a:cs typeface="Arial MT"/>
              </a:rPr>
              <a:t>users</a:t>
            </a:r>
            <a:r>
              <a:rPr spc="-30" dirty="0">
                <a:latin typeface="Trebuchet MS" panose="020B0603020202020204" pitchFamily="34" charset="0"/>
                <a:cs typeface="Arial MT"/>
              </a:rPr>
              <a:t> </a:t>
            </a:r>
            <a:r>
              <a:rPr dirty="0">
                <a:latin typeface="Trebuchet MS" panose="020B0603020202020204" pitchFamily="34" charset="0"/>
                <a:cs typeface="Arial MT"/>
              </a:rPr>
              <a:t>and</a:t>
            </a:r>
            <a:r>
              <a:rPr spc="-22" dirty="0">
                <a:latin typeface="Trebuchet MS" panose="020B0603020202020204" pitchFamily="34" charset="0"/>
                <a:cs typeface="Arial MT"/>
              </a:rPr>
              <a:t> </a:t>
            </a:r>
            <a:r>
              <a:rPr spc="-15" dirty="0">
                <a:latin typeface="Trebuchet MS" panose="020B0603020202020204" pitchFamily="34" charset="0"/>
                <a:cs typeface="Arial MT"/>
              </a:rPr>
              <a:t>dynamically</a:t>
            </a:r>
            <a:r>
              <a:rPr spc="-30" dirty="0">
                <a:latin typeface="Trebuchet MS" panose="020B0603020202020204" pitchFamily="34" charset="0"/>
                <a:cs typeface="Arial MT"/>
              </a:rPr>
              <a:t> </a:t>
            </a:r>
            <a:r>
              <a:rPr spc="-15" dirty="0">
                <a:latin typeface="Trebuchet MS" panose="020B0603020202020204" pitchFamily="34" charset="0"/>
                <a:cs typeface="Arial MT"/>
              </a:rPr>
              <a:t>assigned</a:t>
            </a:r>
            <a:r>
              <a:rPr spc="-30" dirty="0">
                <a:latin typeface="Trebuchet MS" panose="020B0603020202020204" pitchFamily="34" charset="0"/>
                <a:cs typeface="Arial MT"/>
              </a:rPr>
              <a:t> </a:t>
            </a:r>
            <a:r>
              <a:rPr dirty="0">
                <a:latin typeface="Trebuchet MS" panose="020B0603020202020204" pitchFamily="34" charset="0"/>
                <a:cs typeface="Arial MT"/>
              </a:rPr>
              <a:t>and</a:t>
            </a:r>
            <a:r>
              <a:rPr spc="-22" dirty="0">
                <a:latin typeface="Trebuchet MS" panose="020B0603020202020204" pitchFamily="34" charset="0"/>
                <a:cs typeface="Arial MT"/>
              </a:rPr>
              <a:t> </a:t>
            </a:r>
            <a:r>
              <a:rPr spc="-15" dirty="0">
                <a:latin typeface="Trebuchet MS" panose="020B0603020202020204" pitchFamily="34" charset="0"/>
                <a:cs typeface="Arial MT"/>
              </a:rPr>
              <a:t>released </a:t>
            </a:r>
            <a:r>
              <a:rPr dirty="0">
                <a:latin typeface="Trebuchet MS" panose="020B0603020202020204" pitchFamily="34" charset="0"/>
                <a:cs typeface="Arial MT"/>
              </a:rPr>
              <a:t>per</a:t>
            </a:r>
            <a:r>
              <a:rPr spc="-37" dirty="0">
                <a:latin typeface="Trebuchet MS" panose="020B0603020202020204" pitchFamily="34" charset="0"/>
                <a:cs typeface="Arial MT"/>
              </a:rPr>
              <a:t> </a:t>
            </a:r>
            <a:r>
              <a:rPr spc="-15" dirty="0">
                <a:latin typeface="Trebuchet MS" panose="020B0603020202020204" pitchFamily="34" charset="0"/>
                <a:cs typeface="Arial MT"/>
              </a:rPr>
              <a:t>demand.</a:t>
            </a:r>
            <a:endParaRPr dirty="0">
              <a:latin typeface="Trebuchet MS" panose="020B0603020202020204" pitchFamily="34" charset="0"/>
              <a:cs typeface="Arial MT"/>
            </a:endParaRP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533400" y="590550"/>
            <a:ext cx="4476259" cy="456618"/>
          </a:xfrm>
          <a:prstGeom prst="rect">
            <a:avLst/>
          </a:prstGeom>
        </p:spPr>
        <p:txBody>
          <a:bodyPr vert="horz" wrap="square" lIns="0" tIns="25482" rIns="0" bIns="0" rtlCol="0">
            <a:spAutoFit/>
          </a:bodyPr>
          <a:lstStyle/>
          <a:p>
            <a:pPr marL="319927">
              <a:spcBef>
                <a:spcPts val="201"/>
              </a:spcBef>
            </a:pPr>
            <a:r>
              <a:rPr dirty="0"/>
              <a:t>Essential</a:t>
            </a:r>
            <a:r>
              <a:rPr spc="104" dirty="0"/>
              <a:t> </a:t>
            </a:r>
            <a:r>
              <a:rPr spc="-15" dirty="0"/>
              <a:t>Characteristics</a:t>
            </a:r>
          </a:p>
        </p:txBody>
      </p:sp>
      <p:sp>
        <p:nvSpPr>
          <p:cNvPr id="28" name="object 28"/>
          <p:cNvSpPr txBox="1"/>
          <p:nvPr/>
        </p:nvSpPr>
        <p:spPr>
          <a:xfrm>
            <a:off x="1090936" y="1504950"/>
            <a:ext cx="7672064" cy="1885353"/>
          </a:xfrm>
          <a:prstGeom prst="rect">
            <a:avLst/>
          </a:prstGeom>
        </p:spPr>
        <p:txBody>
          <a:bodyPr vert="horz" wrap="square" lIns="0" tIns="79276" rIns="0" bIns="0" rtlCol="0">
            <a:spAutoFit/>
          </a:bodyPr>
          <a:lstStyle/>
          <a:p>
            <a:pPr marL="18875">
              <a:spcBef>
                <a:spcPts val="624"/>
              </a:spcBef>
            </a:pPr>
            <a:r>
              <a:rPr b="1" u="sng" dirty="0">
                <a:uFill>
                  <a:solidFill>
                    <a:srgbClr val="000000"/>
                  </a:solidFill>
                </a:uFill>
                <a:latin typeface="Trebuchet MS" panose="020B0603020202020204" pitchFamily="34" charset="0"/>
                <a:cs typeface="Arial"/>
              </a:rPr>
              <a:t>Measured</a:t>
            </a:r>
            <a:r>
              <a:rPr b="1" u="sng" spc="-97" dirty="0">
                <a:uFill>
                  <a:solidFill>
                    <a:srgbClr val="000000"/>
                  </a:solidFill>
                </a:uFill>
                <a:latin typeface="Trebuchet MS" panose="020B0603020202020204" pitchFamily="34" charset="0"/>
                <a:cs typeface="Arial"/>
              </a:rPr>
              <a:t> </a:t>
            </a:r>
            <a:r>
              <a:rPr b="1" u="sng" spc="-15" dirty="0">
                <a:uFill>
                  <a:solidFill>
                    <a:srgbClr val="000000"/>
                  </a:solidFill>
                </a:uFill>
                <a:latin typeface="Trebuchet MS" panose="020B0603020202020204" pitchFamily="34" charset="0"/>
                <a:cs typeface="Arial"/>
              </a:rPr>
              <a:t>Service:</a:t>
            </a:r>
            <a:endParaRPr lang="en-US" b="1" u="sng" spc="-15" dirty="0">
              <a:uFill>
                <a:solidFill>
                  <a:srgbClr val="000000"/>
                </a:solidFill>
              </a:uFill>
              <a:latin typeface="Trebuchet MS" panose="020B0603020202020204" pitchFamily="34" charset="0"/>
              <a:cs typeface="Arial"/>
            </a:endParaRPr>
          </a:p>
          <a:p>
            <a:pPr marL="18875">
              <a:spcBef>
                <a:spcPts val="624"/>
              </a:spcBef>
            </a:pPr>
            <a:endParaRPr dirty="0">
              <a:latin typeface="Trebuchet MS" panose="020B0603020202020204" pitchFamily="34" charset="0"/>
              <a:cs typeface="Arial"/>
            </a:endParaRPr>
          </a:p>
          <a:p>
            <a:pPr marL="18875" marR="7550" indent="-7550">
              <a:lnSpc>
                <a:spcPct val="102600"/>
              </a:lnSpc>
              <a:spcBef>
                <a:spcPts val="422"/>
              </a:spcBef>
              <a:buFont typeface="Times New Roman"/>
              <a:buChar char="►"/>
              <a:tabLst>
                <a:tab pos="234991" algn="l"/>
              </a:tabLst>
            </a:pPr>
            <a:r>
              <a:rPr lang="en-US" dirty="0">
                <a:latin typeface="Trebuchet MS" panose="020B0603020202020204" pitchFamily="34" charset="0"/>
                <a:cs typeface="Arial MT"/>
              </a:rPr>
              <a:t> </a:t>
            </a:r>
            <a:r>
              <a:rPr dirty="0">
                <a:latin typeface="Trebuchet MS" panose="020B0603020202020204" pitchFamily="34" charset="0"/>
                <a:cs typeface="Arial MT"/>
              </a:rPr>
              <a:t>Cloud</a:t>
            </a:r>
            <a:r>
              <a:rPr spc="-37" dirty="0">
                <a:latin typeface="Trebuchet MS" panose="020B0603020202020204" pitchFamily="34" charset="0"/>
                <a:cs typeface="Arial MT"/>
              </a:rPr>
              <a:t> </a:t>
            </a:r>
            <a:r>
              <a:rPr dirty="0">
                <a:latin typeface="Trebuchet MS" panose="020B0603020202020204" pitchFamily="34" charset="0"/>
                <a:cs typeface="Arial MT"/>
              </a:rPr>
              <a:t>systems</a:t>
            </a:r>
            <a:r>
              <a:rPr spc="-30" dirty="0">
                <a:latin typeface="Trebuchet MS" panose="020B0603020202020204" pitchFamily="34" charset="0"/>
                <a:cs typeface="Arial MT"/>
              </a:rPr>
              <a:t> </a:t>
            </a:r>
            <a:r>
              <a:rPr spc="-15" dirty="0">
                <a:latin typeface="Trebuchet MS" panose="020B0603020202020204" pitchFamily="34" charset="0"/>
                <a:cs typeface="Arial MT"/>
              </a:rPr>
              <a:t>transparently</a:t>
            </a:r>
            <a:r>
              <a:rPr spc="-30" dirty="0">
                <a:latin typeface="Trebuchet MS" panose="020B0603020202020204" pitchFamily="34" charset="0"/>
                <a:cs typeface="Arial MT"/>
              </a:rPr>
              <a:t> </a:t>
            </a:r>
            <a:r>
              <a:rPr spc="-15" dirty="0">
                <a:latin typeface="Trebuchet MS" panose="020B0603020202020204" pitchFamily="34" charset="0"/>
                <a:cs typeface="Arial MT"/>
              </a:rPr>
              <a:t>monitor,</a:t>
            </a:r>
            <a:r>
              <a:rPr spc="-37" dirty="0">
                <a:latin typeface="Trebuchet MS" panose="020B0603020202020204" pitchFamily="34" charset="0"/>
                <a:cs typeface="Arial MT"/>
              </a:rPr>
              <a:t> </a:t>
            </a:r>
            <a:r>
              <a:rPr dirty="0">
                <a:latin typeface="Trebuchet MS" panose="020B0603020202020204" pitchFamily="34" charset="0"/>
                <a:cs typeface="Arial MT"/>
              </a:rPr>
              <a:t>control</a:t>
            </a:r>
            <a:r>
              <a:rPr spc="-30" dirty="0">
                <a:latin typeface="Trebuchet MS" panose="020B0603020202020204" pitchFamily="34" charset="0"/>
                <a:cs typeface="Arial MT"/>
              </a:rPr>
              <a:t> </a:t>
            </a:r>
            <a:r>
              <a:rPr spc="-37" dirty="0">
                <a:latin typeface="Trebuchet MS" panose="020B0603020202020204" pitchFamily="34" charset="0"/>
                <a:cs typeface="Arial MT"/>
              </a:rPr>
              <a:t>and </a:t>
            </a:r>
            <a:r>
              <a:rPr dirty="0">
                <a:latin typeface="Trebuchet MS" panose="020B0603020202020204" pitchFamily="34" charset="0"/>
                <a:cs typeface="Arial MT"/>
              </a:rPr>
              <a:t>report</a:t>
            </a:r>
            <a:r>
              <a:rPr spc="-52" dirty="0">
                <a:latin typeface="Trebuchet MS" panose="020B0603020202020204" pitchFamily="34" charset="0"/>
                <a:cs typeface="Arial MT"/>
              </a:rPr>
              <a:t> </a:t>
            </a:r>
            <a:r>
              <a:rPr dirty="0">
                <a:latin typeface="Trebuchet MS" panose="020B0603020202020204" pitchFamily="34" charset="0"/>
                <a:cs typeface="Arial MT"/>
              </a:rPr>
              <a:t>the</a:t>
            </a:r>
            <a:r>
              <a:rPr spc="-45" dirty="0">
                <a:latin typeface="Trebuchet MS" panose="020B0603020202020204" pitchFamily="34" charset="0"/>
                <a:cs typeface="Arial MT"/>
              </a:rPr>
              <a:t> </a:t>
            </a:r>
            <a:r>
              <a:rPr dirty="0">
                <a:latin typeface="Trebuchet MS" panose="020B0603020202020204" pitchFamily="34" charset="0"/>
                <a:cs typeface="Arial MT"/>
              </a:rPr>
              <a:t>usage</a:t>
            </a:r>
            <a:r>
              <a:rPr spc="-45" dirty="0">
                <a:latin typeface="Trebuchet MS" panose="020B0603020202020204" pitchFamily="34" charset="0"/>
                <a:cs typeface="Arial MT"/>
              </a:rPr>
              <a:t> </a:t>
            </a:r>
            <a:r>
              <a:rPr dirty="0">
                <a:latin typeface="Trebuchet MS" panose="020B0603020202020204" pitchFamily="34" charset="0"/>
                <a:cs typeface="Arial MT"/>
              </a:rPr>
              <a:t>of</a:t>
            </a:r>
            <a:r>
              <a:rPr spc="-45" dirty="0">
                <a:latin typeface="Trebuchet MS" panose="020B0603020202020204" pitchFamily="34" charset="0"/>
                <a:cs typeface="Arial MT"/>
              </a:rPr>
              <a:t> </a:t>
            </a:r>
            <a:r>
              <a:rPr dirty="0">
                <a:latin typeface="Trebuchet MS" panose="020B0603020202020204" pitchFamily="34" charset="0"/>
                <a:cs typeface="Arial MT"/>
              </a:rPr>
              <a:t>resources</a:t>
            </a:r>
            <a:r>
              <a:rPr spc="-52" dirty="0">
                <a:latin typeface="Trebuchet MS" panose="020B0603020202020204" pitchFamily="34" charset="0"/>
                <a:cs typeface="Arial MT"/>
              </a:rPr>
              <a:t> </a:t>
            </a:r>
            <a:r>
              <a:rPr dirty="0">
                <a:latin typeface="Trebuchet MS" panose="020B0603020202020204" pitchFamily="34" charset="0"/>
                <a:cs typeface="Arial MT"/>
              </a:rPr>
              <a:t>(e.g.,</a:t>
            </a:r>
            <a:r>
              <a:rPr spc="-45" dirty="0">
                <a:latin typeface="Trebuchet MS" panose="020B0603020202020204" pitchFamily="34" charset="0"/>
                <a:cs typeface="Arial MT"/>
              </a:rPr>
              <a:t> </a:t>
            </a:r>
            <a:r>
              <a:rPr dirty="0">
                <a:latin typeface="Trebuchet MS" panose="020B0603020202020204" pitchFamily="34" charset="0"/>
                <a:cs typeface="Arial MT"/>
              </a:rPr>
              <a:t>storage,</a:t>
            </a:r>
            <a:r>
              <a:rPr spc="-45" dirty="0">
                <a:latin typeface="Trebuchet MS" panose="020B0603020202020204" pitchFamily="34" charset="0"/>
                <a:cs typeface="Arial MT"/>
              </a:rPr>
              <a:t> </a:t>
            </a:r>
            <a:r>
              <a:rPr spc="-15" dirty="0">
                <a:latin typeface="Trebuchet MS" panose="020B0603020202020204" pitchFamily="34" charset="0"/>
                <a:cs typeface="Arial MT"/>
              </a:rPr>
              <a:t>processing, </a:t>
            </a:r>
            <a:r>
              <a:rPr dirty="0">
                <a:latin typeface="Trebuchet MS" panose="020B0603020202020204" pitchFamily="34" charset="0"/>
                <a:cs typeface="Arial MT"/>
              </a:rPr>
              <a:t>bandwidth,</a:t>
            </a:r>
            <a:r>
              <a:rPr spc="-67" dirty="0">
                <a:latin typeface="Trebuchet MS" panose="020B0603020202020204" pitchFamily="34" charset="0"/>
                <a:cs typeface="Arial MT"/>
              </a:rPr>
              <a:t> </a:t>
            </a:r>
            <a:r>
              <a:rPr dirty="0">
                <a:latin typeface="Trebuchet MS" panose="020B0603020202020204" pitchFamily="34" charset="0"/>
                <a:cs typeface="Arial MT"/>
              </a:rPr>
              <a:t>and</a:t>
            </a:r>
            <a:r>
              <a:rPr spc="-59" dirty="0">
                <a:latin typeface="Trebuchet MS" panose="020B0603020202020204" pitchFamily="34" charset="0"/>
                <a:cs typeface="Arial MT"/>
              </a:rPr>
              <a:t> </a:t>
            </a:r>
            <a:r>
              <a:rPr dirty="0">
                <a:latin typeface="Trebuchet MS" panose="020B0603020202020204" pitchFamily="34" charset="0"/>
                <a:cs typeface="Arial MT"/>
              </a:rPr>
              <a:t>active</a:t>
            </a:r>
            <a:r>
              <a:rPr spc="-59" dirty="0">
                <a:latin typeface="Trebuchet MS" panose="020B0603020202020204" pitchFamily="34" charset="0"/>
                <a:cs typeface="Arial MT"/>
              </a:rPr>
              <a:t> </a:t>
            </a:r>
            <a:r>
              <a:rPr dirty="0">
                <a:latin typeface="Trebuchet MS" panose="020B0603020202020204" pitchFamily="34" charset="0"/>
                <a:cs typeface="Arial MT"/>
              </a:rPr>
              <a:t>user</a:t>
            </a:r>
            <a:r>
              <a:rPr spc="-67" dirty="0">
                <a:latin typeface="Trebuchet MS" panose="020B0603020202020204" pitchFamily="34" charset="0"/>
                <a:cs typeface="Arial MT"/>
              </a:rPr>
              <a:t> </a:t>
            </a:r>
            <a:r>
              <a:rPr dirty="0">
                <a:latin typeface="Trebuchet MS" panose="020B0603020202020204" pitchFamily="34" charset="0"/>
                <a:cs typeface="Arial MT"/>
              </a:rPr>
              <a:t>accounts)</a:t>
            </a:r>
            <a:r>
              <a:rPr spc="-59" dirty="0">
                <a:latin typeface="Trebuchet MS" panose="020B0603020202020204" pitchFamily="34" charset="0"/>
                <a:cs typeface="Arial MT"/>
              </a:rPr>
              <a:t> </a:t>
            </a:r>
            <a:r>
              <a:rPr dirty="0">
                <a:latin typeface="Trebuchet MS" panose="020B0603020202020204" pitchFamily="34" charset="0"/>
                <a:cs typeface="Arial MT"/>
              </a:rPr>
              <a:t>according</a:t>
            </a:r>
            <a:r>
              <a:rPr spc="-59" dirty="0">
                <a:latin typeface="Trebuchet MS" panose="020B0603020202020204" pitchFamily="34" charset="0"/>
                <a:cs typeface="Arial MT"/>
              </a:rPr>
              <a:t> </a:t>
            </a:r>
            <a:r>
              <a:rPr dirty="0">
                <a:latin typeface="Trebuchet MS" panose="020B0603020202020204" pitchFamily="34" charset="0"/>
                <a:cs typeface="Arial MT"/>
              </a:rPr>
              <a:t>to</a:t>
            </a:r>
            <a:r>
              <a:rPr spc="-67" dirty="0">
                <a:latin typeface="Trebuchet MS" panose="020B0603020202020204" pitchFamily="34" charset="0"/>
                <a:cs typeface="Arial MT"/>
              </a:rPr>
              <a:t> </a:t>
            </a:r>
            <a:r>
              <a:rPr spc="-37" dirty="0">
                <a:latin typeface="Trebuchet MS" panose="020B0603020202020204" pitchFamily="34" charset="0"/>
                <a:cs typeface="Arial MT"/>
              </a:rPr>
              <a:t>the </a:t>
            </a:r>
            <a:r>
              <a:rPr dirty="0">
                <a:latin typeface="Trebuchet MS" panose="020B0603020202020204" pitchFamily="34" charset="0"/>
                <a:cs typeface="Arial MT"/>
              </a:rPr>
              <a:t>abstraction</a:t>
            </a:r>
            <a:r>
              <a:rPr spc="-45" dirty="0">
                <a:latin typeface="Trebuchet MS" panose="020B0603020202020204" pitchFamily="34" charset="0"/>
                <a:cs typeface="Arial MT"/>
              </a:rPr>
              <a:t> </a:t>
            </a:r>
            <a:r>
              <a:rPr spc="-15" dirty="0">
                <a:latin typeface="Trebuchet MS" panose="020B0603020202020204" pitchFamily="34" charset="0"/>
                <a:cs typeface="Arial MT"/>
              </a:rPr>
              <a:t>level</a:t>
            </a:r>
            <a:r>
              <a:rPr spc="-37" dirty="0">
                <a:latin typeface="Trebuchet MS" panose="020B0603020202020204" pitchFamily="34" charset="0"/>
                <a:cs typeface="Arial MT"/>
              </a:rPr>
              <a:t> </a:t>
            </a:r>
            <a:r>
              <a:rPr dirty="0">
                <a:latin typeface="Trebuchet MS" panose="020B0603020202020204" pitchFamily="34" charset="0"/>
                <a:cs typeface="Arial MT"/>
              </a:rPr>
              <a:t>of</a:t>
            </a:r>
            <a:r>
              <a:rPr spc="-37" dirty="0">
                <a:latin typeface="Trebuchet MS" panose="020B0603020202020204" pitchFamily="34" charset="0"/>
                <a:cs typeface="Arial MT"/>
              </a:rPr>
              <a:t> </a:t>
            </a:r>
            <a:r>
              <a:rPr dirty="0">
                <a:latin typeface="Trebuchet MS" panose="020B0603020202020204" pitchFamily="34" charset="0"/>
                <a:cs typeface="Arial MT"/>
              </a:rPr>
              <a:t>the</a:t>
            </a:r>
            <a:r>
              <a:rPr spc="-37" dirty="0">
                <a:latin typeface="Trebuchet MS" panose="020B0603020202020204" pitchFamily="34" charset="0"/>
                <a:cs typeface="Arial MT"/>
              </a:rPr>
              <a:t> </a:t>
            </a:r>
            <a:r>
              <a:rPr dirty="0">
                <a:latin typeface="Trebuchet MS" panose="020B0603020202020204" pitchFamily="34" charset="0"/>
                <a:cs typeface="Arial MT"/>
              </a:rPr>
              <a:t>service,</a:t>
            </a:r>
            <a:r>
              <a:rPr spc="-37" dirty="0">
                <a:latin typeface="Trebuchet MS" panose="020B0603020202020204" pitchFamily="34" charset="0"/>
                <a:cs typeface="Arial MT"/>
              </a:rPr>
              <a:t> </a:t>
            </a:r>
            <a:r>
              <a:rPr spc="-15" dirty="0">
                <a:latin typeface="Trebuchet MS" panose="020B0603020202020204" pitchFamily="34" charset="0"/>
                <a:cs typeface="Arial MT"/>
              </a:rPr>
              <a:t>providing</a:t>
            </a:r>
            <a:r>
              <a:rPr spc="-37" dirty="0">
                <a:latin typeface="Trebuchet MS" panose="020B0603020202020204" pitchFamily="34" charset="0"/>
                <a:cs typeface="Arial MT"/>
              </a:rPr>
              <a:t> </a:t>
            </a:r>
            <a:r>
              <a:rPr spc="-15" dirty="0">
                <a:latin typeface="Trebuchet MS" panose="020B0603020202020204" pitchFamily="34" charset="0"/>
                <a:cs typeface="Arial MT"/>
              </a:rPr>
              <a:t>transparency</a:t>
            </a:r>
            <a:r>
              <a:rPr spc="-45" dirty="0">
                <a:latin typeface="Trebuchet MS" panose="020B0603020202020204" pitchFamily="34" charset="0"/>
                <a:cs typeface="Arial MT"/>
              </a:rPr>
              <a:t> </a:t>
            </a:r>
            <a:r>
              <a:rPr spc="-37" dirty="0">
                <a:latin typeface="Trebuchet MS" panose="020B0603020202020204" pitchFamily="34" charset="0"/>
                <a:cs typeface="Arial MT"/>
              </a:rPr>
              <a:t>to </a:t>
            </a:r>
            <a:r>
              <a:rPr dirty="0">
                <a:latin typeface="Trebuchet MS" panose="020B0603020202020204" pitchFamily="34" charset="0"/>
                <a:cs typeface="Arial MT"/>
              </a:rPr>
              <a:t>both</a:t>
            </a:r>
            <a:r>
              <a:rPr spc="-52" dirty="0">
                <a:latin typeface="Trebuchet MS" panose="020B0603020202020204" pitchFamily="34" charset="0"/>
                <a:cs typeface="Arial MT"/>
              </a:rPr>
              <a:t> </a:t>
            </a:r>
            <a:r>
              <a:rPr dirty="0">
                <a:latin typeface="Trebuchet MS" panose="020B0603020202020204" pitchFamily="34" charset="0"/>
                <a:cs typeface="Arial MT"/>
              </a:rPr>
              <a:t>the</a:t>
            </a:r>
            <a:r>
              <a:rPr spc="-45" dirty="0">
                <a:latin typeface="Trebuchet MS" panose="020B0603020202020204" pitchFamily="34" charset="0"/>
                <a:cs typeface="Arial MT"/>
              </a:rPr>
              <a:t> </a:t>
            </a:r>
            <a:r>
              <a:rPr dirty="0">
                <a:latin typeface="Trebuchet MS" panose="020B0603020202020204" pitchFamily="34" charset="0"/>
                <a:cs typeface="Arial MT"/>
              </a:rPr>
              <a:t>provider</a:t>
            </a:r>
            <a:r>
              <a:rPr spc="-52" dirty="0">
                <a:latin typeface="Trebuchet MS" panose="020B0603020202020204" pitchFamily="34" charset="0"/>
                <a:cs typeface="Arial MT"/>
              </a:rPr>
              <a:t> </a:t>
            </a:r>
            <a:r>
              <a:rPr dirty="0">
                <a:latin typeface="Trebuchet MS" panose="020B0603020202020204" pitchFamily="34" charset="0"/>
                <a:cs typeface="Arial MT"/>
              </a:rPr>
              <a:t>and</a:t>
            </a:r>
            <a:r>
              <a:rPr spc="-45" dirty="0">
                <a:latin typeface="Trebuchet MS" panose="020B0603020202020204" pitchFamily="34" charset="0"/>
                <a:cs typeface="Arial MT"/>
              </a:rPr>
              <a:t> </a:t>
            </a:r>
            <a:r>
              <a:rPr dirty="0">
                <a:latin typeface="Trebuchet MS" panose="020B0603020202020204" pitchFamily="34" charset="0"/>
                <a:cs typeface="Arial MT"/>
              </a:rPr>
              <a:t>consumer</a:t>
            </a:r>
            <a:r>
              <a:rPr spc="-45" dirty="0">
                <a:latin typeface="Trebuchet MS" panose="020B0603020202020204" pitchFamily="34" charset="0"/>
                <a:cs typeface="Arial MT"/>
              </a:rPr>
              <a:t> </a:t>
            </a:r>
            <a:r>
              <a:rPr dirty="0">
                <a:latin typeface="Trebuchet MS" panose="020B0603020202020204" pitchFamily="34" charset="0"/>
                <a:cs typeface="Arial MT"/>
              </a:rPr>
              <a:t>of</a:t>
            </a:r>
            <a:r>
              <a:rPr spc="-52" dirty="0">
                <a:latin typeface="Trebuchet MS" panose="020B0603020202020204" pitchFamily="34" charset="0"/>
                <a:cs typeface="Arial MT"/>
              </a:rPr>
              <a:t> </a:t>
            </a:r>
            <a:r>
              <a:rPr dirty="0">
                <a:latin typeface="Trebuchet MS" panose="020B0603020202020204" pitchFamily="34" charset="0"/>
                <a:cs typeface="Arial MT"/>
              </a:rPr>
              <a:t>the</a:t>
            </a:r>
            <a:r>
              <a:rPr spc="-45" dirty="0">
                <a:latin typeface="Trebuchet MS" panose="020B0603020202020204" pitchFamily="34" charset="0"/>
                <a:cs typeface="Arial MT"/>
              </a:rPr>
              <a:t> </a:t>
            </a:r>
            <a:r>
              <a:rPr spc="-15" dirty="0">
                <a:latin typeface="Trebuchet MS" panose="020B0603020202020204" pitchFamily="34" charset="0"/>
                <a:cs typeface="Arial MT"/>
              </a:rPr>
              <a:t>service.</a:t>
            </a:r>
            <a:endParaRPr dirty="0">
              <a:latin typeface="Trebuchet MS" panose="020B0603020202020204" pitchFamily="34" charset="0"/>
              <a:cs typeface="Arial MT"/>
            </a:endParaRP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457200" y="257772"/>
            <a:ext cx="4886971" cy="456618"/>
          </a:xfrm>
          <a:prstGeom prst="rect">
            <a:avLst/>
          </a:prstGeom>
        </p:spPr>
        <p:txBody>
          <a:bodyPr vert="horz" wrap="square" lIns="0" tIns="25482" rIns="0" bIns="0" rtlCol="0">
            <a:spAutoFit/>
          </a:bodyPr>
          <a:lstStyle/>
          <a:p>
            <a:pPr marL="18875">
              <a:spcBef>
                <a:spcPts val="201"/>
              </a:spcBef>
            </a:pPr>
            <a:r>
              <a:rPr dirty="0"/>
              <a:t>Useful</a:t>
            </a:r>
            <a:r>
              <a:rPr spc="119" dirty="0"/>
              <a:t> </a:t>
            </a:r>
            <a:r>
              <a:rPr spc="-15" dirty="0"/>
              <a:t>terminologies</a:t>
            </a:r>
          </a:p>
        </p:txBody>
      </p:sp>
      <p:sp>
        <p:nvSpPr>
          <p:cNvPr id="28" name="object 28"/>
          <p:cNvSpPr txBox="1"/>
          <p:nvPr/>
        </p:nvSpPr>
        <p:spPr>
          <a:xfrm>
            <a:off x="710023" y="753131"/>
            <a:ext cx="6908595" cy="4270562"/>
          </a:xfrm>
          <a:prstGeom prst="rect">
            <a:avLst/>
          </a:prstGeom>
        </p:spPr>
        <p:txBody>
          <a:bodyPr vert="horz" wrap="square" lIns="0" tIns="16988" rIns="0" bIns="0" rtlCol="0">
            <a:spAutoFit/>
          </a:bodyPr>
          <a:lstStyle/>
          <a:p>
            <a:pPr marL="234991" indent="-223666">
              <a:spcBef>
                <a:spcPts val="134"/>
              </a:spcBef>
              <a:buFont typeface="Times New Roman"/>
              <a:buChar char="►"/>
              <a:tabLst>
                <a:tab pos="234991" algn="l"/>
              </a:tabLst>
            </a:pPr>
            <a:r>
              <a:rPr b="1" dirty="0">
                <a:latin typeface="Trebuchet MS" panose="020B0603020202020204" pitchFamily="34" charset="0"/>
                <a:cs typeface="Arial"/>
              </a:rPr>
              <a:t>Q:</a:t>
            </a:r>
            <a:r>
              <a:rPr b="1" spc="-37" dirty="0">
                <a:latin typeface="Trebuchet MS" panose="020B0603020202020204" pitchFamily="34" charset="0"/>
                <a:cs typeface="Arial"/>
              </a:rPr>
              <a:t> </a:t>
            </a:r>
            <a:r>
              <a:rPr b="1" dirty="0">
                <a:latin typeface="Trebuchet MS" panose="020B0603020202020204" pitchFamily="34" charset="0"/>
                <a:cs typeface="Arial"/>
              </a:rPr>
              <a:t>What</a:t>
            </a:r>
            <a:r>
              <a:rPr b="1" spc="-30" dirty="0">
                <a:latin typeface="Trebuchet MS" panose="020B0603020202020204" pitchFamily="34" charset="0"/>
                <a:cs typeface="Arial"/>
              </a:rPr>
              <a:t> </a:t>
            </a:r>
            <a:r>
              <a:rPr b="1" dirty="0">
                <a:latin typeface="Trebuchet MS" panose="020B0603020202020204" pitchFamily="34" charset="0"/>
                <a:cs typeface="Arial"/>
              </a:rPr>
              <a:t>are</a:t>
            </a:r>
            <a:r>
              <a:rPr b="1" spc="-30" dirty="0">
                <a:latin typeface="Trebuchet MS" panose="020B0603020202020204" pitchFamily="34" charset="0"/>
                <a:cs typeface="Arial"/>
              </a:rPr>
              <a:t> </a:t>
            </a:r>
            <a:r>
              <a:rPr b="1" dirty="0">
                <a:latin typeface="Trebuchet MS" panose="020B0603020202020204" pitchFamily="34" charset="0"/>
                <a:cs typeface="Arial"/>
              </a:rPr>
              <a:t>IT</a:t>
            </a:r>
            <a:r>
              <a:rPr b="1" spc="-37" dirty="0">
                <a:latin typeface="Trebuchet MS" panose="020B0603020202020204" pitchFamily="34" charset="0"/>
                <a:cs typeface="Arial"/>
              </a:rPr>
              <a:t> </a:t>
            </a:r>
            <a:r>
              <a:rPr b="1" spc="-15" dirty="0">
                <a:latin typeface="Trebuchet MS" panose="020B0603020202020204" pitchFamily="34" charset="0"/>
                <a:cs typeface="Arial"/>
              </a:rPr>
              <a:t>resources?</a:t>
            </a:r>
            <a:endParaRPr dirty="0">
              <a:latin typeface="Trebuchet MS" panose="020B0603020202020204" pitchFamily="34" charset="0"/>
              <a:cs typeface="Arial"/>
            </a:endParaRPr>
          </a:p>
          <a:p>
            <a:pPr marL="18875" marR="7550">
              <a:lnSpc>
                <a:spcPct val="102600"/>
              </a:lnSpc>
            </a:pPr>
            <a:r>
              <a:rPr b="1" dirty="0">
                <a:latin typeface="Trebuchet MS" panose="020B0603020202020204" pitchFamily="34" charset="0"/>
                <a:cs typeface="Arial"/>
              </a:rPr>
              <a:t>A:</a:t>
            </a:r>
            <a:r>
              <a:rPr b="1" spc="-45" dirty="0">
                <a:latin typeface="Trebuchet MS" panose="020B0603020202020204" pitchFamily="34" charset="0"/>
                <a:cs typeface="Arial"/>
              </a:rPr>
              <a:t> </a:t>
            </a:r>
            <a:r>
              <a:rPr dirty="0">
                <a:latin typeface="Trebuchet MS" panose="020B0603020202020204" pitchFamily="34" charset="0"/>
                <a:cs typeface="Arial MT"/>
              </a:rPr>
              <a:t>Any</a:t>
            </a:r>
            <a:r>
              <a:rPr spc="-37" dirty="0">
                <a:latin typeface="Trebuchet MS" panose="020B0603020202020204" pitchFamily="34" charset="0"/>
                <a:cs typeface="Arial MT"/>
              </a:rPr>
              <a:t> </a:t>
            </a:r>
            <a:r>
              <a:rPr dirty="0">
                <a:latin typeface="Trebuchet MS" panose="020B0603020202020204" pitchFamily="34" charset="0"/>
                <a:cs typeface="Arial MT"/>
              </a:rPr>
              <a:t>asset</a:t>
            </a:r>
            <a:r>
              <a:rPr spc="-45" dirty="0">
                <a:latin typeface="Trebuchet MS" panose="020B0603020202020204" pitchFamily="34" charset="0"/>
                <a:cs typeface="Arial MT"/>
              </a:rPr>
              <a:t> </a:t>
            </a:r>
            <a:r>
              <a:rPr dirty="0">
                <a:latin typeface="Trebuchet MS" panose="020B0603020202020204" pitchFamily="34" charset="0"/>
                <a:cs typeface="Arial MT"/>
              </a:rPr>
              <a:t>that</a:t>
            </a:r>
            <a:r>
              <a:rPr spc="-37" dirty="0">
                <a:latin typeface="Trebuchet MS" panose="020B0603020202020204" pitchFamily="34" charset="0"/>
                <a:cs typeface="Arial MT"/>
              </a:rPr>
              <a:t> </a:t>
            </a:r>
            <a:r>
              <a:rPr spc="-15" dirty="0">
                <a:latin typeface="Trebuchet MS" panose="020B0603020202020204" pitchFamily="34" charset="0"/>
                <a:cs typeface="Arial MT"/>
              </a:rPr>
              <a:t>provides</a:t>
            </a:r>
            <a:r>
              <a:rPr spc="-45" dirty="0">
                <a:latin typeface="Trebuchet MS" panose="020B0603020202020204" pitchFamily="34" charset="0"/>
                <a:cs typeface="Arial MT"/>
              </a:rPr>
              <a:t> </a:t>
            </a:r>
            <a:r>
              <a:rPr dirty="0">
                <a:latin typeface="Trebuchet MS" panose="020B0603020202020204" pitchFamily="34" charset="0"/>
                <a:cs typeface="Arial MT"/>
              </a:rPr>
              <a:t>an</a:t>
            </a:r>
            <a:r>
              <a:rPr spc="-37" dirty="0">
                <a:latin typeface="Trebuchet MS" panose="020B0603020202020204" pitchFamily="34" charset="0"/>
                <a:cs typeface="Arial MT"/>
              </a:rPr>
              <a:t> </a:t>
            </a:r>
            <a:r>
              <a:rPr dirty="0">
                <a:latin typeface="Trebuchet MS" panose="020B0603020202020204" pitchFamily="34" charset="0"/>
                <a:cs typeface="Arial MT"/>
              </a:rPr>
              <a:t>IT</a:t>
            </a:r>
            <a:r>
              <a:rPr spc="-45" dirty="0">
                <a:latin typeface="Trebuchet MS" panose="020B0603020202020204" pitchFamily="34" charset="0"/>
                <a:cs typeface="Arial MT"/>
              </a:rPr>
              <a:t> </a:t>
            </a:r>
            <a:r>
              <a:rPr dirty="0">
                <a:latin typeface="Trebuchet MS" panose="020B0603020202020204" pitchFamily="34" charset="0"/>
                <a:cs typeface="Arial MT"/>
              </a:rPr>
              <a:t>service.</a:t>
            </a:r>
            <a:r>
              <a:rPr spc="67" dirty="0">
                <a:latin typeface="Trebuchet MS" panose="020B0603020202020204" pitchFamily="34" charset="0"/>
                <a:cs typeface="Arial MT"/>
              </a:rPr>
              <a:t> </a:t>
            </a:r>
            <a:r>
              <a:rPr dirty="0">
                <a:latin typeface="Trebuchet MS" panose="020B0603020202020204" pitchFamily="34" charset="0"/>
                <a:cs typeface="Arial MT"/>
              </a:rPr>
              <a:t>This</a:t>
            </a:r>
            <a:r>
              <a:rPr spc="-45" dirty="0">
                <a:latin typeface="Trebuchet MS" panose="020B0603020202020204" pitchFamily="34" charset="0"/>
                <a:cs typeface="Arial MT"/>
              </a:rPr>
              <a:t> </a:t>
            </a:r>
            <a:r>
              <a:rPr spc="-15" dirty="0">
                <a:latin typeface="Trebuchet MS" panose="020B0603020202020204" pitchFamily="34" charset="0"/>
                <a:cs typeface="Arial MT"/>
              </a:rPr>
              <a:t>includes physical/virtualized</a:t>
            </a:r>
            <a:r>
              <a:rPr spc="-52" dirty="0">
                <a:latin typeface="Trebuchet MS" panose="020B0603020202020204" pitchFamily="34" charset="0"/>
                <a:cs typeface="Arial MT"/>
              </a:rPr>
              <a:t> </a:t>
            </a:r>
            <a:r>
              <a:rPr dirty="0">
                <a:latin typeface="Trebuchet MS" panose="020B0603020202020204" pitchFamily="34" charset="0"/>
                <a:cs typeface="Arial MT"/>
              </a:rPr>
              <a:t>resources</a:t>
            </a:r>
            <a:r>
              <a:rPr spc="-52" dirty="0">
                <a:latin typeface="Trebuchet MS" panose="020B0603020202020204" pitchFamily="34" charset="0"/>
                <a:cs typeface="Arial MT"/>
              </a:rPr>
              <a:t> </a:t>
            </a:r>
            <a:r>
              <a:rPr dirty="0">
                <a:latin typeface="Trebuchet MS" panose="020B0603020202020204" pitchFamily="34" charset="0"/>
                <a:cs typeface="Arial MT"/>
              </a:rPr>
              <a:t>like</a:t>
            </a:r>
            <a:r>
              <a:rPr spc="-52" dirty="0">
                <a:latin typeface="Trebuchet MS" panose="020B0603020202020204" pitchFamily="34" charset="0"/>
                <a:cs typeface="Arial MT"/>
              </a:rPr>
              <a:t> </a:t>
            </a:r>
            <a:endParaRPr lang="en-US" spc="-52" dirty="0">
              <a:latin typeface="Trebuchet MS" panose="020B0603020202020204" pitchFamily="34" charset="0"/>
              <a:cs typeface="Arial MT"/>
            </a:endParaRPr>
          </a:p>
          <a:p>
            <a:pPr marL="304625" marR="7550" indent="-285750">
              <a:lnSpc>
                <a:spcPct val="102600"/>
              </a:lnSpc>
              <a:buFont typeface="Arial" panose="020B0604020202020204" pitchFamily="34" charset="0"/>
              <a:buChar char="•"/>
            </a:pPr>
            <a:r>
              <a:rPr dirty="0">
                <a:latin typeface="Trebuchet MS" panose="020B0603020202020204" pitchFamily="34" charset="0"/>
                <a:cs typeface="Arial MT"/>
              </a:rPr>
              <a:t>Servers</a:t>
            </a:r>
            <a:r>
              <a:rPr spc="-45" dirty="0">
                <a:latin typeface="Trebuchet MS" panose="020B0603020202020204" pitchFamily="34" charset="0"/>
                <a:cs typeface="Arial MT"/>
              </a:rPr>
              <a:t> </a:t>
            </a:r>
            <a:r>
              <a:rPr spc="-15" dirty="0">
                <a:latin typeface="Trebuchet MS" panose="020B0603020202020204" pitchFamily="34" charset="0"/>
                <a:cs typeface="Arial MT"/>
              </a:rPr>
              <a:t>(computers </a:t>
            </a:r>
            <a:r>
              <a:rPr dirty="0">
                <a:latin typeface="Trebuchet MS" panose="020B0603020202020204" pitchFamily="34" charset="0"/>
                <a:cs typeface="Arial MT"/>
              </a:rPr>
              <a:t>where</a:t>
            </a:r>
            <a:r>
              <a:rPr spc="-74" dirty="0">
                <a:latin typeface="Trebuchet MS" panose="020B0603020202020204" pitchFamily="34" charset="0"/>
                <a:cs typeface="Arial MT"/>
              </a:rPr>
              <a:t> </a:t>
            </a:r>
            <a:r>
              <a:rPr spc="-15" dirty="0">
                <a:latin typeface="Trebuchet MS" panose="020B0603020202020204" pitchFamily="34" charset="0"/>
                <a:cs typeface="Arial MT"/>
              </a:rPr>
              <a:t>applications</a:t>
            </a:r>
            <a:r>
              <a:rPr spc="-74" dirty="0">
                <a:latin typeface="Trebuchet MS" panose="020B0603020202020204" pitchFamily="34" charset="0"/>
                <a:cs typeface="Arial MT"/>
              </a:rPr>
              <a:t> </a:t>
            </a:r>
            <a:r>
              <a:rPr dirty="0">
                <a:latin typeface="Trebuchet MS" panose="020B0603020202020204" pitchFamily="34" charset="0"/>
                <a:cs typeface="Arial MT"/>
              </a:rPr>
              <a:t>reside),</a:t>
            </a:r>
            <a:r>
              <a:rPr spc="-74" dirty="0">
                <a:latin typeface="Trebuchet MS" panose="020B0603020202020204" pitchFamily="34" charset="0"/>
                <a:cs typeface="Arial MT"/>
              </a:rPr>
              <a:t> </a:t>
            </a:r>
            <a:r>
              <a:rPr dirty="0">
                <a:latin typeface="Trebuchet MS" panose="020B0603020202020204" pitchFamily="34" charset="0"/>
                <a:cs typeface="Arial MT"/>
              </a:rPr>
              <a:t>Databases</a:t>
            </a:r>
            <a:r>
              <a:rPr spc="-74" dirty="0">
                <a:latin typeface="Trebuchet MS" panose="020B0603020202020204" pitchFamily="34" charset="0"/>
                <a:cs typeface="Arial MT"/>
              </a:rPr>
              <a:t> </a:t>
            </a:r>
            <a:r>
              <a:rPr dirty="0">
                <a:latin typeface="Trebuchet MS" panose="020B0603020202020204" pitchFamily="34" charset="0"/>
                <a:cs typeface="Arial MT"/>
              </a:rPr>
              <a:t>(computers</a:t>
            </a:r>
            <a:r>
              <a:rPr spc="-74" dirty="0">
                <a:latin typeface="Trebuchet MS" panose="020B0603020202020204" pitchFamily="34" charset="0"/>
                <a:cs typeface="Arial MT"/>
              </a:rPr>
              <a:t> </a:t>
            </a:r>
            <a:r>
              <a:rPr spc="-15" dirty="0">
                <a:latin typeface="Trebuchet MS" panose="020B0603020202020204" pitchFamily="34" charset="0"/>
                <a:cs typeface="Arial MT"/>
              </a:rPr>
              <a:t>where </a:t>
            </a:r>
            <a:r>
              <a:rPr dirty="0">
                <a:latin typeface="Trebuchet MS" panose="020B0603020202020204" pitchFamily="34" charset="0"/>
                <a:cs typeface="Arial MT"/>
              </a:rPr>
              <a:t>data</a:t>
            </a:r>
            <a:r>
              <a:rPr spc="-52" dirty="0">
                <a:latin typeface="Trebuchet MS" panose="020B0603020202020204" pitchFamily="34" charset="0"/>
                <a:cs typeface="Arial MT"/>
              </a:rPr>
              <a:t> </a:t>
            </a:r>
            <a:r>
              <a:rPr dirty="0">
                <a:latin typeface="Trebuchet MS" panose="020B0603020202020204" pitchFamily="34" charset="0"/>
                <a:cs typeface="Arial MT"/>
              </a:rPr>
              <a:t>resides</a:t>
            </a:r>
            <a:r>
              <a:rPr spc="-37" dirty="0">
                <a:latin typeface="Trebuchet MS" panose="020B0603020202020204" pitchFamily="34" charset="0"/>
                <a:cs typeface="Arial MT"/>
              </a:rPr>
              <a:t> </a:t>
            </a:r>
            <a:r>
              <a:rPr dirty="0">
                <a:latin typeface="Trebuchet MS" panose="020B0603020202020204" pitchFamily="34" charset="0"/>
                <a:cs typeface="Arial MT"/>
              </a:rPr>
              <a:t>in</a:t>
            </a:r>
            <a:r>
              <a:rPr spc="-45" dirty="0">
                <a:latin typeface="Trebuchet MS" panose="020B0603020202020204" pitchFamily="34" charset="0"/>
                <a:cs typeface="Arial MT"/>
              </a:rPr>
              <a:t> </a:t>
            </a:r>
            <a:r>
              <a:rPr dirty="0">
                <a:latin typeface="Trebuchet MS" panose="020B0603020202020204" pitchFamily="34" charset="0"/>
                <a:cs typeface="Arial MT"/>
              </a:rPr>
              <a:t>a</a:t>
            </a:r>
            <a:r>
              <a:rPr spc="-37" dirty="0">
                <a:latin typeface="Trebuchet MS" panose="020B0603020202020204" pitchFamily="34" charset="0"/>
                <a:cs typeface="Arial MT"/>
              </a:rPr>
              <a:t> </a:t>
            </a:r>
            <a:r>
              <a:rPr dirty="0">
                <a:latin typeface="Trebuchet MS" panose="020B0603020202020204" pitchFamily="34" charset="0"/>
                <a:cs typeface="Arial MT"/>
              </a:rPr>
              <a:t>structured</a:t>
            </a:r>
            <a:r>
              <a:rPr spc="-45" dirty="0">
                <a:latin typeface="Trebuchet MS" panose="020B0603020202020204" pitchFamily="34" charset="0"/>
                <a:cs typeface="Arial MT"/>
              </a:rPr>
              <a:t> </a:t>
            </a:r>
            <a:r>
              <a:rPr spc="-15" dirty="0">
                <a:latin typeface="Trebuchet MS" panose="020B0603020202020204" pitchFamily="34" charset="0"/>
                <a:cs typeface="Arial MT"/>
              </a:rPr>
              <a:t>way),</a:t>
            </a:r>
            <a:r>
              <a:rPr spc="-37" dirty="0">
                <a:latin typeface="Trebuchet MS" panose="020B0603020202020204" pitchFamily="34" charset="0"/>
                <a:cs typeface="Arial MT"/>
              </a:rPr>
              <a:t> </a:t>
            </a:r>
            <a:r>
              <a:rPr spc="-15" dirty="0">
                <a:latin typeface="Trebuchet MS" panose="020B0603020202020204" pitchFamily="34" charset="0"/>
                <a:cs typeface="Arial MT"/>
              </a:rPr>
              <a:t>Workstations</a:t>
            </a:r>
            <a:r>
              <a:rPr spc="-45" dirty="0">
                <a:latin typeface="Trebuchet MS" panose="020B0603020202020204" pitchFamily="34" charset="0"/>
                <a:cs typeface="Arial MT"/>
              </a:rPr>
              <a:t> </a:t>
            </a:r>
            <a:r>
              <a:rPr dirty="0">
                <a:latin typeface="Trebuchet MS" panose="020B0603020202020204" pitchFamily="34" charset="0"/>
                <a:cs typeface="Arial MT"/>
              </a:rPr>
              <a:t>or</a:t>
            </a:r>
            <a:r>
              <a:rPr spc="-45" dirty="0">
                <a:latin typeface="Trebuchet MS" panose="020B0603020202020204" pitchFamily="34" charset="0"/>
                <a:cs typeface="Arial MT"/>
              </a:rPr>
              <a:t> </a:t>
            </a:r>
            <a:r>
              <a:rPr spc="-15" dirty="0">
                <a:latin typeface="Trebuchet MS" panose="020B0603020202020204" pitchFamily="34" charset="0"/>
                <a:cs typeface="Arial MT"/>
              </a:rPr>
              <a:t>Clients </a:t>
            </a:r>
            <a:r>
              <a:rPr dirty="0">
                <a:latin typeface="Trebuchet MS" panose="020B0603020202020204" pitchFamily="34" charset="0"/>
                <a:cs typeface="Arial MT"/>
              </a:rPr>
              <a:t>(where</a:t>
            </a:r>
            <a:r>
              <a:rPr spc="-30" dirty="0">
                <a:latin typeface="Trebuchet MS" panose="020B0603020202020204" pitchFamily="34" charset="0"/>
                <a:cs typeface="Arial MT"/>
              </a:rPr>
              <a:t> </a:t>
            </a:r>
            <a:r>
              <a:rPr dirty="0">
                <a:latin typeface="Trebuchet MS" panose="020B0603020202020204" pitchFamily="34" charset="0"/>
                <a:cs typeface="Arial MT"/>
              </a:rPr>
              <a:t>the</a:t>
            </a:r>
            <a:r>
              <a:rPr spc="-30" dirty="0">
                <a:latin typeface="Trebuchet MS" panose="020B0603020202020204" pitchFamily="34" charset="0"/>
                <a:cs typeface="Arial MT"/>
              </a:rPr>
              <a:t> </a:t>
            </a:r>
            <a:r>
              <a:rPr spc="-15" dirty="0">
                <a:latin typeface="Trebuchet MS" panose="020B0603020202020204" pitchFamily="34" charset="0"/>
                <a:cs typeface="Arial MT"/>
              </a:rPr>
              <a:t>applications</a:t>
            </a:r>
            <a:r>
              <a:rPr spc="-22" dirty="0">
                <a:latin typeface="Trebuchet MS" panose="020B0603020202020204" pitchFamily="34" charset="0"/>
                <a:cs typeface="Arial MT"/>
              </a:rPr>
              <a:t> </a:t>
            </a:r>
            <a:r>
              <a:rPr dirty="0">
                <a:latin typeface="Trebuchet MS" panose="020B0603020202020204" pitchFamily="34" charset="0"/>
                <a:cs typeface="Arial MT"/>
              </a:rPr>
              <a:t>to</a:t>
            </a:r>
            <a:r>
              <a:rPr spc="-30" dirty="0">
                <a:latin typeface="Trebuchet MS" panose="020B0603020202020204" pitchFamily="34" charset="0"/>
                <a:cs typeface="Arial MT"/>
              </a:rPr>
              <a:t> </a:t>
            </a:r>
            <a:r>
              <a:rPr spc="-15" dirty="0">
                <a:latin typeface="Trebuchet MS" panose="020B0603020202020204" pitchFamily="34" charset="0"/>
                <a:cs typeface="Arial MT"/>
              </a:rPr>
              <a:t>communicate</a:t>
            </a:r>
            <a:r>
              <a:rPr spc="-22" dirty="0">
                <a:latin typeface="Trebuchet MS" panose="020B0603020202020204" pitchFamily="34" charset="0"/>
                <a:cs typeface="Arial MT"/>
              </a:rPr>
              <a:t> </a:t>
            </a:r>
            <a:r>
              <a:rPr dirty="0">
                <a:latin typeface="Trebuchet MS" panose="020B0603020202020204" pitchFamily="34" charset="0"/>
                <a:cs typeface="Arial MT"/>
              </a:rPr>
              <a:t>with</a:t>
            </a:r>
            <a:r>
              <a:rPr spc="-30" dirty="0">
                <a:latin typeface="Trebuchet MS" panose="020B0603020202020204" pitchFamily="34" charset="0"/>
                <a:cs typeface="Arial MT"/>
              </a:rPr>
              <a:t> </a:t>
            </a:r>
            <a:r>
              <a:rPr dirty="0">
                <a:latin typeface="Trebuchet MS" panose="020B0603020202020204" pitchFamily="34" charset="0"/>
                <a:cs typeface="Arial MT"/>
              </a:rPr>
              <a:t>and</a:t>
            </a:r>
            <a:r>
              <a:rPr spc="-22" dirty="0">
                <a:latin typeface="Trebuchet MS" panose="020B0603020202020204" pitchFamily="34" charset="0"/>
                <a:cs typeface="Arial MT"/>
              </a:rPr>
              <a:t> </a:t>
            </a:r>
            <a:r>
              <a:rPr dirty="0">
                <a:latin typeface="Trebuchet MS" panose="020B0603020202020204" pitchFamily="34" charset="0"/>
                <a:cs typeface="Arial MT"/>
              </a:rPr>
              <a:t>use</a:t>
            </a:r>
            <a:r>
              <a:rPr spc="-30" dirty="0">
                <a:latin typeface="Trebuchet MS" panose="020B0603020202020204" pitchFamily="34" charset="0"/>
                <a:cs typeface="Arial MT"/>
              </a:rPr>
              <a:t> </a:t>
            </a:r>
            <a:r>
              <a:rPr spc="-37" dirty="0">
                <a:latin typeface="Trebuchet MS" panose="020B0603020202020204" pitchFamily="34" charset="0"/>
                <a:cs typeface="Arial MT"/>
              </a:rPr>
              <a:t>the </a:t>
            </a:r>
            <a:r>
              <a:rPr dirty="0">
                <a:latin typeface="Trebuchet MS" panose="020B0603020202020204" pitchFamily="34" charset="0"/>
                <a:cs typeface="Arial MT"/>
              </a:rPr>
              <a:t>servers</a:t>
            </a:r>
            <a:r>
              <a:rPr spc="-67" dirty="0">
                <a:latin typeface="Trebuchet MS" panose="020B0603020202020204" pitchFamily="34" charset="0"/>
                <a:cs typeface="Arial MT"/>
              </a:rPr>
              <a:t> </a:t>
            </a:r>
            <a:r>
              <a:rPr dirty="0">
                <a:latin typeface="Trebuchet MS" panose="020B0603020202020204" pitchFamily="34" charset="0"/>
                <a:cs typeface="Arial MT"/>
              </a:rPr>
              <a:t>reside),</a:t>
            </a:r>
            <a:r>
              <a:rPr spc="-59" dirty="0">
                <a:latin typeface="Trebuchet MS" panose="020B0603020202020204" pitchFamily="34" charset="0"/>
                <a:cs typeface="Arial MT"/>
              </a:rPr>
              <a:t> </a:t>
            </a:r>
            <a:r>
              <a:rPr dirty="0">
                <a:latin typeface="Trebuchet MS" panose="020B0603020202020204" pitchFamily="34" charset="0"/>
                <a:cs typeface="Arial MT"/>
              </a:rPr>
              <a:t>network</a:t>
            </a:r>
            <a:r>
              <a:rPr spc="-59" dirty="0">
                <a:latin typeface="Trebuchet MS" panose="020B0603020202020204" pitchFamily="34" charset="0"/>
                <a:cs typeface="Arial MT"/>
              </a:rPr>
              <a:t> </a:t>
            </a:r>
            <a:r>
              <a:rPr spc="-15" dirty="0">
                <a:latin typeface="Trebuchet MS" panose="020B0603020202020204" pitchFamily="34" charset="0"/>
                <a:cs typeface="Arial MT"/>
              </a:rPr>
              <a:t>devices</a:t>
            </a:r>
            <a:r>
              <a:rPr spc="-59" dirty="0">
                <a:latin typeface="Trebuchet MS" panose="020B0603020202020204" pitchFamily="34" charset="0"/>
                <a:cs typeface="Arial MT"/>
              </a:rPr>
              <a:t> </a:t>
            </a:r>
            <a:r>
              <a:rPr dirty="0">
                <a:latin typeface="Trebuchet MS" panose="020B0603020202020204" pitchFamily="34" charset="0"/>
                <a:cs typeface="Arial MT"/>
              </a:rPr>
              <a:t>(access</a:t>
            </a:r>
            <a:r>
              <a:rPr spc="-59" dirty="0">
                <a:latin typeface="Trebuchet MS" panose="020B0603020202020204" pitchFamily="34" charset="0"/>
                <a:cs typeface="Arial MT"/>
              </a:rPr>
              <a:t> </a:t>
            </a:r>
            <a:r>
              <a:rPr spc="-15" dirty="0">
                <a:latin typeface="Trebuchet MS" panose="020B0603020202020204" pitchFamily="34" charset="0"/>
                <a:cs typeface="Arial MT"/>
              </a:rPr>
              <a:t>points, switches,</a:t>
            </a:r>
            <a:r>
              <a:rPr spc="-52" dirty="0">
                <a:latin typeface="Trebuchet MS" panose="020B0603020202020204" pitchFamily="34" charset="0"/>
                <a:cs typeface="Arial MT"/>
              </a:rPr>
              <a:t> </a:t>
            </a:r>
            <a:r>
              <a:rPr dirty="0">
                <a:latin typeface="Trebuchet MS" panose="020B0603020202020204" pitchFamily="34" charset="0"/>
                <a:cs typeface="Arial MT"/>
              </a:rPr>
              <a:t>routers,</a:t>
            </a:r>
            <a:r>
              <a:rPr spc="-45" dirty="0">
                <a:latin typeface="Trebuchet MS" panose="020B0603020202020204" pitchFamily="34" charset="0"/>
                <a:cs typeface="Arial MT"/>
              </a:rPr>
              <a:t> </a:t>
            </a:r>
            <a:r>
              <a:rPr dirty="0">
                <a:latin typeface="Trebuchet MS" panose="020B0603020202020204" pitchFamily="34" charset="0"/>
                <a:cs typeface="Arial MT"/>
              </a:rPr>
              <a:t>bridges,</a:t>
            </a:r>
            <a:r>
              <a:rPr spc="-45" dirty="0">
                <a:latin typeface="Trebuchet MS" panose="020B0603020202020204" pitchFamily="34" charset="0"/>
                <a:cs typeface="Arial MT"/>
              </a:rPr>
              <a:t> </a:t>
            </a:r>
            <a:r>
              <a:rPr spc="-15" dirty="0">
                <a:latin typeface="Trebuchet MS" panose="020B0603020202020204" pitchFamily="34" charset="0"/>
                <a:cs typeface="Arial MT"/>
              </a:rPr>
              <a:t>backbone,</a:t>
            </a:r>
            <a:r>
              <a:rPr spc="-52" dirty="0">
                <a:latin typeface="Trebuchet MS" panose="020B0603020202020204" pitchFamily="34" charset="0"/>
                <a:cs typeface="Arial MT"/>
              </a:rPr>
              <a:t> </a:t>
            </a:r>
            <a:r>
              <a:rPr spc="-15" dirty="0">
                <a:latin typeface="Trebuchet MS" panose="020B0603020202020204" pitchFamily="34" charset="0"/>
                <a:cs typeface="Arial MT"/>
              </a:rPr>
              <a:t>backhaul),</a:t>
            </a:r>
            <a:r>
              <a:rPr spc="-45" dirty="0">
                <a:latin typeface="Trebuchet MS" panose="020B0603020202020204" pitchFamily="34" charset="0"/>
                <a:cs typeface="Arial MT"/>
              </a:rPr>
              <a:t> </a:t>
            </a:r>
            <a:r>
              <a:rPr spc="-37" dirty="0">
                <a:latin typeface="Trebuchet MS" panose="020B0603020202020204" pitchFamily="34" charset="0"/>
                <a:cs typeface="Arial MT"/>
              </a:rPr>
              <a:t>or </a:t>
            </a:r>
            <a:r>
              <a:rPr dirty="0">
                <a:latin typeface="Trebuchet MS" panose="020B0603020202020204" pitchFamily="34" charset="0"/>
                <a:cs typeface="Arial MT"/>
              </a:rPr>
              <a:t>software</a:t>
            </a:r>
            <a:r>
              <a:rPr spc="-67" dirty="0">
                <a:latin typeface="Trebuchet MS" panose="020B0603020202020204" pitchFamily="34" charset="0"/>
                <a:cs typeface="Arial MT"/>
              </a:rPr>
              <a:t> </a:t>
            </a:r>
            <a:r>
              <a:rPr dirty="0">
                <a:latin typeface="Trebuchet MS" panose="020B0603020202020204" pitchFamily="34" charset="0"/>
                <a:cs typeface="Arial MT"/>
              </a:rPr>
              <a:t>(firmware,</a:t>
            </a:r>
            <a:r>
              <a:rPr spc="-67" dirty="0">
                <a:latin typeface="Trebuchet MS" panose="020B0603020202020204" pitchFamily="34" charset="0"/>
                <a:cs typeface="Arial MT"/>
              </a:rPr>
              <a:t> </a:t>
            </a:r>
            <a:r>
              <a:rPr spc="-15" dirty="0">
                <a:latin typeface="Trebuchet MS" panose="020B0603020202020204" pitchFamily="34" charset="0"/>
                <a:cs typeface="Arial MT"/>
              </a:rPr>
              <a:t>Drivers,</a:t>
            </a:r>
            <a:r>
              <a:rPr spc="-59" dirty="0">
                <a:latin typeface="Trebuchet MS" panose="020B0603020202020204" pitchFamily="34" charset="0"/>
                <a:cs typeface="Arial MT"/>
              </a:rPr>
              <a:t> </a:t>
            </a:r>
            <a:r>
              <a:rPr dirty="0">
                <a:latin typeface="Trebuchet MS" panose="020B0603020202020204" pitchFamily="34" charset="0"/>
                <a:cs typeface="Arial MT"/>
              </a:rPr>
              <a:t>OS,</a:t>
            </a:r>
            <a:r>
              <a:rPr spc="-67" dirty="0">
                <a:latin typeface="Trebuchet MS" panose="020B0603020202020204" pitchFamily="34" charset="0"/>
                <a:cs typeface="Arial MT"/>
              </a:rPr>
              <a:t> </a:t>
            </a:r>
            <a:r>
              <a:rPr spc="-15" dirty="0">
                <a:latin typeface="Trebuchet MS" panose="020B0603020202020204" pitchFamily="34" charset="0"/>
                <a:cs typeface="Arial MT"/>
              </a:rPr>
              <a:t>middleware, </a:t>
            </a:r>
            <a:r>
              <a:rPr dirty="0">
                <a:latin typeface="Trebuchet MS" panose="020B0603020202020204" pitchFamily="34" charset="0"/>
                <a:cs typeface="Arial MT"/>
              </a:rPr>
              <a:t>Applications),</a:t>
            </a:r>
            <a:r>
              <a:rPr spc="-74" dirty="0">
                <a:latin typeface="Trebuchet MS" panose="020B0603020202020204" pitchFamily="34" charset="0"/>
                <a:cs typeface="Arial MT"/>
              </a:rPr>
              <a:t> </a:t>
            </a:r>
            <a:r>
              <a:rPr dirty="0">
                <a:latin typeface="Trebuchet MS" panose="020B0603020202020204" pitchFamily="34" charset="0"/>
                <a:cs typeface="Arial MT"/>
              </a:rPr>
              <a:t>or</a:t>
            </a:r>
            <a:r>
              <a:rPr spc="-67" dirty="0">
                <a:latin typeface="Trebuchet MS" panose="020B0603020202020204" pitchFamily="34" charset="0"/>
                <a:cs typeface="Arial MT"/>
              </a:rPr>
              <a:t> </a:t>
            </a:r>
            <a:r>
              <a:rPr dirty="0">
                <a:latin typeface="Trebuchet MS" panose="020B0603020202020204" pitchFamily="34" charset="0"/>
                <a:cs typeface="Arial MT"/>
              </a:rPr>
              <a:t>human</a:t>
            </a:r>
            <a:r>
              <a:rPr spc="-67" dirty="0">
                <a:latin typeface="Trebuchet MS" panose="020B0603020202020204" pitchFamily="34" charset="0"/>
                <a:cs typeface="Arial MT"/>
              </a:rPr>
              <a:t> </a:t>
            </a:r>
            <a:r>
              <a:rPr dirty="0">
                <a:latin typeface="Trebuchet MS" panose="020B0603020202020204" pitchFamily="34" charset="0"/>
                <a:cs typeface="Arial MT"/>
              </a:rPr>
              <a:t>resources</a:t>
            </a:r>
            <a:r>
              <a:rPr spc="-67" dirty="0">
                <a:latin typeface="Trebuchet MS" panose="020B0603020202020204" pitchFamily="34" charset="0"/>
                <a:cs typeface="Arial MT"/>
              </a:rPr>
              <a:t> </a:t>
            </a:r>
            <a:r>
              <a:rPr dirty="0">
                <a:latin typeface="Trebuchet MS" panose="020B0603020202020204" pitchFamily="34" charset="0"/>
                <a:cs typeface="Arial MT"/>
              </a:rPr>
              <a:t>(IT/mgmt</a:t>
            </a:r>
            <a:r>
              <a:rPr spc="-67" dirty="0">
                <a:latin typeface="Trebuchet MS" panose="020B0603020202020204" pitchFamily="34" charset="0"/>
                <a:cs typeface="Arial MT"/>
              </a:rPr>
              <a:t> </a:t>
            </a:r>
            <a:r>
              <a:rPr spc="-15" dirty="0">
                <a:latin typeface="Trebuchet MS" panose="020B0603020202020204" pitchFamily="34" charset="0"/>
                <a:cs typeface="Arial MT"/>
              </a:rPr>
              <a:t>expertise)</a:t>
            </a:r>
            <a:endParaRPr dirty="0">
              <a:latin typeface="Trebuchet MS" panose="020B0603020202020204" pitchFamily="34" charset="0"/>
              <a:cs typeface="Arial MT"/>
            </a:endParaRPr>
          </a:p>
          <a:p>
            <a:pPr marL="18875" marR="46243" indent="-7550">
              <a:lnSpc>
                <a:spcPct val="102600"/>
              </a:lnSpc>
              <a:buFont typeface="Times New Roman"/>
              <a:buChar char="►"/>
              <a:tabLst>
                <a:tab pos="234991" algn="l"/>
              </a:tabLst>
            </a:pPr>
            <a:r>
              <a:rPr b="1" spc="-15" dirty="0">
                <a:latin typeface="Trebuchet MS" panose="020B0603020202020204" pitchFamily="34" charset="0"/>
                <a:cs typeface="Arial"/>
              </a:rPr>
              <a:t>Q:What’s</a:t>
            </a:r>
            <a:r>
              <a:rPr b="1" spc="-45" dirty="0">
                <a:latin typeface="Trebuchet MS" panose="020B0603020202020204" pitchFamily="34" charset="0"/>
                <a:cs typeface="Arial"/>
              </a:rPr>
              <a:t> </a:t>
            </a:r>
            <a:r>
              <a:rPr b="1" dirty="0">
                <a:latin typeface="Trebuchet MS" panose="020B0603020202020204" pitchFamily="34" charset="0"/>
                <a:cs typeface="Arial"/>
              </a:rPr>
              <a:t>the</a:t>
            </a:r>
            <a:r>
              <a:rPr b="1" spc="-45" dirty="0">
                <a:latin typeface="Trebuchet MS" panose="020B0603020202020204" pitchFamily="34" charset="0"/>
                <a:cs typeface="Arial"/>
              </a:rPr>
              <a:t> </a:t>
            </a:r>
            <a:r>
              <a:rPr b="1" dirty="0">
                <a:latin typeface="Trebuchet MS" panose="020B0603020202020204" pitchFamily="34" charset="0"/>
                <a:cs typeface="Arial"/>
              </a:rPr>
              <a:t>opposite</a:t>
            </a:r>
            <a:r>
              <a:rPr b="1" spc="-45" dirty="0">
                <a:latin typeface="Trebuchet MS" panose="020B0603020202020204" pitchFamily="34" charset="0"/>
                <a:cs typeface="Arial"/>
              </a:rPr>
              <a:t> </a:t>
            </a:r>
            <a:r>
              <a:rPr b="1" dirty="0">
                <a:latin typeface="Trebuchet MS" panose="020B0603020202020204" pitchFamily="34" charset="0"/>
                <a:cs typeface="Arial"/>
              </a:rPr>
              <a:t>of</a:t>
            </a:r>
            <a:r>
              <a:rPr b="1" spc="-45" dirty="0">
                <a:latin typeface="Trebuchet MS" panose="020B0603020202020204" pitchFamily="34" charset="0"/>
                <a:cs typeface="Arial"/>
              </a:rPr>
              <a:t> </a:t>
            </a:r>
            <a:r>
              <a:rPr b="1" dirty="0">
                <a:latin typeface="Trebuchet MS" panose="020B0603020202020204" pitchFamily="34" charset="0"/>
                <a:cs typeface="Arial"/>
              </a:rPr>
              <a:t>a</a:t>
            </a:r>
            <a:r>
              <a:rPr b="1" spc="-45" dirty="0">
                <a:latin typeface="Trebuchet MS" panose="020B0603020202020204" pitchFamily="34" charset="0"/>
                <a:cs typeface="Arial"/>
              </a:rPr>
              <a:t> </a:t>
            </a:r>
            <a:r>
              <a:rPr b="1" spc="-15" dirty="0">
                <a:latin typeface="Trebuchet MS" panose="020B0603020202020204" pitchFamily="34" charset="0"/>
                <a:cs typeface="Arial"/>
              </a:rPr>
              <a:t>cloud-</a:t>
            </a:r>
            <a:r>
              <a:rPr b="1" dirty="0">
                <a:latin typeface="Trebuchet MS" panose="020B0603020202020204" pitchFamily="34" charset="0"/>
                <a:cs typeface="Arial"/>
              </a:rPr>
              <a:t>based</a:t>
            </a:r>
            <a:r>
              <a:rPr b="1" spc="-45" dirty="0">
                <a:latin typeface="Trebuchet MS" panose="020B0603020202020204" pitchFamily="34" charset="0"/>
                <a:cs typeface="Arial"/>
              </a:rPr>
              <a:t> </a:t>
            </a:r>
            <a:r>
              <a:rPr b="1" spc="-15" dirty="0">
                <a:latin typeface="Trebuchet MS" panose="020B0603020202020204" pitchFamily="34" charset="0"/>
                <a:cs typeface="Arial"/>
              </a:rPr>
              <a:t>resource? </a:t>
            </a:r>
            <a:endParaRPr lang="en-US" b="1" spc="-15" dirty="0">
              <a:latin typeface="Trebuchet MS" panose="020B0603020202020204" pitchFamily="34" charset="0"/>
              <a:cs typeface="Arial"/>
            </a:endParaRPr>
          </a:p>
          <a:p>
            <a:pPr marL="11325" marR="46243">
              <a:lnSpc>
                <a:spcPct val="102600"/>
              </a:lnSpc>
              <a:tabLst>
                <a:tab pos="234991" algn="l"/>
              </a:tabLst>
            </a:pPr>
            <a:r>
              <a:rPr b="1" dirty="0">
                <a:latin typeface="Trebuchet MS" panose="020B0603020202020204" pitchFamily="34" charset="0"/>
                <a:cs typeface="Arial"/>
              </a:rPr>
              <a:t>A:</a:t>
            </a:r>
            <a:r>
              <a:rPr b="1" spc="-30" dirty="0">
                <a:latin typeface="Trebuchet MS" panose="020B0603020202020204" pitchFamily="34" charset="0"/>
                <a:cs typeface="Arial"/>
              </a:rPr>
              <a:t> </a:t>
            </a:r>
            <a:r>
              <a:rPr b="1" spc="-15" dirty="0">
                <a:latin typeface="Trebuchet MS" panose="020B0603020202020204" pitchFamily="34" charset="0"/>
                <a:cs typeface="Arial"/>
              </a:rPr>
              <a:t>On-</a:t>
            </a:r>
            <a:r>
              <a:rPr b="1" dirty="0">
                <a:latin typeface="Trebuchet MS" panose="020B0603020202020204" pitchFamily="34" charset="0"/>
                <a:cs typeface="Arial"/>
              </a:rPr>
              <a:t>Premise</a:t>
            </a:r>
            <a:r>
              <a:rPr dirty="0">
                <a:latin typeface="Trebuchet MS" panose="020B0603020202020204" pitchFamily="34" charset="0"/>
                <a:cs typeface="Arial MT"/>
              </a:rPr>
              <a:t>:</a:t>
            </a:r>
            <a:r>
              <a:rPr spc="67" dirty="0">
                <a:latin typeface="Trebuchet MS" panose="020B0603020202020204" pitchFamily="34" charset="0"/>
                <a:cs typeface="Arial MT"/>
              </a:rPr>
              <a:t> </a:t>
            </a:r>
            <a:r>
              <a:rPr dirty="0">
                <a:latin typeface="Trebuchet MS" panose="020B0603020202020204" pitchFamily="34" charset="0"/>
                <a:cs typeface="Arial MT"/>
              </a:rPr>
              <a:t>in</a:t>
            </a:r>
            <a:r>
              <a:rPr spc="-22" dirty="0">
                <a:latin typeface="Trebuchet MS" panose="020B0603020202020204" pitchFamily="34" charset="0"/>
                <a:cs typeface="Arial MT"/>
              </a:rPr>
              <a:t> </a:t>
            </a:r>
            <a:r>
              <a:rPr dirty="0">
                <a:latin typeface="Trebuchet MS" panose="020B0603020202020204" pitchFamily="34" charset="0"/>
                <a:cs typeface="Arial MT"/>
              </a:rPr>
              <a:t>contrast</a:t>
            </a:r>
            <a:r>
              <a:rPr spc="-30" dirty="0">
                <a:latin typeface="Trebuchet MS" panose="020B0603020202020204" pitchFamily="34" charset="0"/>
                <a:cs typeface="Arial MT"/>
              </a:rPr>
              <a:t> </a:t>
            </a:r>
            <a:r>
              <a:rPr dirty="0">
                <a:latin typeface="Trebuchet MS" panose="020B0603020202020204" pitchFamily="34" charset="0"/>
                <a:cs typeface="Arial MT"/>
              </a:rPr>
              <a:t>to</a:t>
            </a:r>
            <a:r>
              <a:rPr spc="-30" dirty="0">
                <a:latin typeface="Trebuchet MS" panose="020B0603020202020204" pitchFamily="34" charset="0"/>
                <a:cs typeface="Arial MT"/>
              </a:rPr>
              <a:t> </a:t>
            </a:r>
            <a:r>
              <a:rPr dirty="0">
                <a:latin typeface="Trebuchet MS" panose="020B0603020202020204" pitchFamily="34" charset="0"/>
                <a:cs typeface="Arial MT"/>
              </a:rPr>
              <a:t>the</a:t>
            </a:r>
            <a:r>
              <a:rPr spc="-30" dirty="0">
                <a:latin typeface="Trebuchet MS" panose="020B0603020202020204" pitchFamily="34" charset="0"/>
                <a:cs typeface="Arial MT"/>
              </a:rPr>
              <a:t> </a:t>
            </a:r>
            <a:r>
              <a:rPr spc="-15" dirty="0">
                <a:latin typeface="Trebuchet MS" panose="020B0603020202020204" pitchFamily="34" charset="0"/>
                <a:cs typeface="Arial MT"/>
              </a:rPr>
              <a:t>“cloud”–based </a:t>
            </a:r>
            <a:r>
              <a:rPr dirty="0">
                <a:latin typeface="Trebuchet MS" panose="020B0603020202020204" pitchFamily="34" charset="0"/>
                <a:cs typeface="Arial MT"/>
              </a:rPr>
              <a:t>resources</a:t>
            </a:r>
            <a:r>
              <a:rPr spc="-45" dirty="0">
                <a:latin typeface="Trebuchet MS" panose="020B0603020202020204" pitchFamily="34" charset="0"/>
                <a:cs typeface="Arial MT"/>
              </a:rPr>
              <a:t> </a:t>
            </a:r>
            <a:r>
              <a:rPr dirty="0">
                <a:latin typeface="Trebuchet MS" panose="020B0603020202020204" pitchFamily="34" charset="0"/>
                <a:cs typeface="Arial MT"/>
              </a:rPr>
              <a:t>are</a:t>
            </a:r>
            <a:r>
              <a:rPr spc="-45" dirty="0">
                <a:latin typeface="Trebuchet MS" panose="020B0603020202020204" pitchFamily="34" charset="0"/>
                <a:cs typeface="Arial MT"/>
              </a:rPr>
              <a:t> </a:t>
            </a:r>
            <a:r>
              <a:rPr dirty="0">
                <a:latin typeface="Trebuchet MS" panose="020B0603020202020204" pitchFamily="34" charset="0"/>
                <a:cs typeface="Arial MT"/>
              </a:rPr>
              <a:t>remotely</a:t>
            </a:r>
            <a:r>
              <a:rPr spc="-45" dirty="0">
                <a:latin typeface="Trebuchet MS" panose="020B0603020202020204" pitchFamily="34" charset="0"/>
                <a:cs typeface="Arial MT"/>
              </a:rPr>
              <a:t> </a:t>
            </a:r>
            <a:r>
              <a:rPr spc="-15" dirty="0">
                <a:latin typeface="Trebuchet MS" panose="020B0603020202020204" pitchFamily="34" charset="0"/>
                <a:cs typeface="Arial MT"/>
              </a:rPr>
              <a:t>provisioned,</a:t>
            </a:r>
            <a:r>
              <a:rPr spc="-45" dirty="0">
                <a:latin typeface="Trebuchet MS" panose="020B0603020202020204" pitchFamily="34" charset="0"/>
                <a:cs typeface="Arial MT"/>
              </a:rPr>
              <a:t> </a:t>
            </a:r>
            <a:r>
              <a:rPr dirty="0">
                <a:latin typeface="Trebuchet MS" panose="020B0603020202020204" pitchFamily="34" charset="0"/>
                <a:cs typeface="Arial MT"/>
              </a:rPr>
              <a:t>and</a:t>
            </a:r>
            <a:r>
              <a:rPr spc="-37" dirty="0">
                <a:latin typeface="Trebuchet MS" panose="020B0603020202020204" pitchFamily="34" charset="0"/>
                <a:cs typeface="Arial MT"/>
              </a:rPr>
              <a:t> </a:t>
            </a:r>
            <a:r>
              <a:rPr dirty="0">
                <a:latin typeface="Trebuchet MS" panose="020B0603020202020204" pitchFamily="34" charset="0"/>
                <a:cs typeface="Arial MT"/>
              </a:rPr>
              <a:t>are</a:t>
            </a:r>
            <a:r>
              <a:rPr spc="-45" dirty="0">
                <a:latin typeface="Trebuchet MS" panose="020B0603020202020204" pitchFamily="34" charset="0"/>
                <a:cs typeface="Arial MT"/>
              </a:rPr>
              <a:t> </a:t>
            </a:r>
            <a:r>
              <a:rPr spc="-15" dirty="0">
                <a:latin typeface="Trebuchet MS" panose="020B0603020202020204" pitchFamily="34" charset="0"/>
                <a:cs typeface="Arial MT"/>
              </a:rPr>
              <a:t>scalable </a:t>
            </a:r>
            <a:r>
              <a:rPr dirty="0">
                <a:latin typeface="Trebuchet MS" panose="020B0603020202020204" pitchFamily="34" charset="0"/>
                <a:cs typeface="Arial MT"/>
              </a:rPr>
              <a:t>and</a:t>
            </a:r>
            <a:r>
              <a:rPr spc="-52" dirty="0">
                <a:latin typeface="Trebuchet MS" panose="020B0603020202020204" pitchFamily="34" charset="0"/>
                <a:cs typeface="Arial MT"/>
              </a:rPr>
              <a:t> </a:t>
            </a:r>
            <a:r>
              <a:rPr dirty="0">
                <a:latin typeface="Trebuchet MS" panose="020B0603020202020204" pitchFamily="34" charset="0"/>
                <a:cs typeface="Arial MT"/>
              </a:rPr>
              <a:t>measured,</a:t>
            </a:r>
            <a:r>
              <a:rPr spc="-45" dirty="0">
                <a:latin typeface="Trebuchet MS" panose="020B0603020202020204" pitchFamily="34" charset="0"/>
                <a:cs typeface="Arial MT"/>
              </a:rPr>
              <a:t> </a:t>
            </a:r>
            <a:r>
              <a:rPr dirty="0">
                <a:latin typeface="Trebuchet MS" panose="020B0603020202020204" pitchFamily="34" charset="0"/>
                <a:cs typeface="Arial MT"/>
              </a:rPr>
              <a:t>the</a:t>
            </a:r>
            <a:r>
              <a:rPr spc="-45" dirty="0">
                <a:latin typeface="Trebuchet MS" panose="020B0603020202020204" pitchFamily="34" charset="0"/>
                <a:cs typeface="Arial MT"/>
              </a:rPr>
              <a:t> </a:t>
            </a:r>
            <a:r>
              <a:rPr spc="-15" dirty="0">
                <a:latin typeface="Trebuchet MS" panose="020B0603020202020204" pitchFamily="34" charset="0"/>
                <a:cs typeface="Arial MT"/>
              </a:rPr>
              <a:t>conventional</a:t>
            </a:r>
            <a:r>
              <a:rPr spc="-45" dirty="0">
                <a:latin typeface="Trebuchet MS" panose="020B0603020202020204" pitchFamily="34" charset="0"/>
                <a:cs typeface="Arial MT"/>
              </a:rPr>
              <a:t> </a:t>
            </a:r>
            <a:r>
              <a:rPr spc="-15" dirty="0">
                <a:latin typeface="Trebuchet MS" panose="020B0603020202020204" pitchFamily="34" charset="0"/>
                <a:cs typeface="Arial MT"/>
              </a:rPr>
              <a:t>non-</a:t>
            </a:r>
            <a:r>
              <a:rPr dirty="0">
                <a:latin typeface="Trebuchet MS" panose="020B0603020202020204" pitchFamily="34" charset="0"/>
                <a:cs typeface="Arial MT"/>
              </a:rPr>
              <a:t>cloud</a:t>
            </a:r>
            <a:r>
              <a:rPr spc="-45" dirty="0">
                <a:latin typeface="Trebuchet MS" panose="020B0603020202020204" pitchFamily="34" charset="0"/>
                <a:cs typeface="Arial MT"/>
              </a:rPr>
              <a:t> </a:t>
            </a:r>
            <a:r>
              <a:rPr spc="-15" dirty="0">
                <a:latin typeface="Trebuchet MS" panose="020B0603020202020204" pitchFamily="34" charset="0"/>
                <a:cs typeface="Arial MT"/>
              </a:rPr>
              <a:t>based </a:t>
            </a:r>
            <a:r>
              <a:rPr dirty="0">
                <a:latin typeface="Trebuchet MS" panose="020B0603020202020204" pitchFamily="34" charset="0"/>
                <a:cs typeface="Arial MT"/>
              </a:rPr>
              <a:t>resources</a:t>
            </a:r>
            <a:r>
              <a:rPr spc="-59" dirty="0">
                <a:latin typeface="Trebuchet MS" panose="020B0603020202020204" pitchFamily="34" charset="0"/>
                <a:cs typeface="Arial MT"/>
              </a:rPr>
              <a:t> </a:t>
            </a:r>
            <a:r>
              <a:rPr dirty="0">
                <a:latin typeface="Trebuchet MS" panose="020B0603020202020204" pitchFamily="34" charset="0"/>
                <a:cs typeface="Arial MT"/>
              </a:rPr>
              <a:t>are</a:t>
            </a:r>
            <a:r>
              <a:rPr spc="-52" dirty="0">
                <a:latin typeface="Trebuchet MS" panose="020B0603020202020204" pitchFamily="34" charset="0"/>
                <a:cs typeface="Arial MT"/>
              </a:rPr>
              <a:t> </a:t>
            </a:r>
            <a:r>
              <a:rPr dirty="0">
                <a:latin typeface="Trebuchet MS" panose="020B0603020202020204" pitchFamily="34" charset="0"/>
                <a:cs typeface="Arial MT"/>
              </a:rPr>
              <a:t>called</a:t>
            </a:r>
            <a:r>
              <a:rPr spc="-52" dirty="0">
                <a:latin typeface="Trebuchet MS" panose="020B0603020202020204" pitchFamily="34" charset="0"/>
                <a:cs typeface="Arial MT"/>
              </a:rPr>
              <a:t> </a:t>
            </a:r>
            <a:r>
              <a:rPr i="1" spc="-15" dirty="0">
                <a:latin typeface="Trebuchet MS" panose="020B0603020202020204" pitchFamily="34" charset="0"/>
                <a:cs typeface="Arial"/>
              </a:rPr>
              <a:t>on-</a:t>
            </a:r>
            <a:r>
              <a:rPr i="1" dirty="0">
                <a:latin typeface="Trebuchet MS" panose="020B0603020202020204" pitchFamily="34" charset="0"/>
                <a:cs typeface="Arial"/>
              </a:rPr>
              <a:t>premise</a:t>
            </a:r>
            <a:r>
              <a:rPr i="1" spc="-59" dirty="0">
                <a:latin typeface="Trebuchet MS" panose="020B0603020202020204" pitchFamily="34" charset="0"/>
                <a:cs typeface="Arial"/>
              </a:rPr>
              <a:t> </a:t>
            </a:r>
            <a:r>
              <a:rPr dirty="0">
                <a:latin typeface="Trebuchet MS" panose="020B0603020202020204" pitchFamily="34" charset="0"/>
                <a:cs typeface="Arial MT"/>
              </a:rPr>
              <a:t>(in</a:t>
            </a:r>
            <a:r>
              <a:rPr spc="-52" dirty="0">
                <a:latin typeface="Trebuchet MS" panose="020B0603020202020204" pitchFamily="34" charset="0"/>
                <a:cs typeface="Arial MT"/>
              </a:rPr>
              <a:t> </a:t>
            </a:r>
            <a:r>
              <a:rPr dirty="0">
                <a:latin typeface="Trebuchet MS" panose="020B0603020202020204" pitchFamily="34" charset="0"/>
                <a:cs typeface="Arial MT"/>
              </a:rPr>
              <a:t>that</a:t>
            </a:r>
            <a:r>
              <a:rPr spc="-52" dirty="0">
                <a:latin typeface="Trebuchet MS" panose="020B0603020202020204" pitchFamily="34" charset="0"/>
                <a:cs typeface="Arial MT"/>
              </a:rPr>
              <a:t> </a:t>
            </a:r>
            <a:r>
              <a:rPr dirty="0">
                <a:latin typeface="Trebuchet MS" panose="020B0603020202020204" pitchFamily="34" charset="0"/>
                <a:cs typeface="Arial MT"/>
              </a:rPr>
              <a:t>they</a:t>
            </a:r>
            <a:r>
              <a:rPr spc="-52" dirty="0">
                <a:latin typeface="Trebuchet MS" panose="020B0603020202020204" pitchFamily="34" charset="0"/>
                <a:cs typeface="Arial MT"/>
              </a:rPr>
              <a:t> </a:t>
            </a:r>
            <a:r>
              <a:rPr dirty="0">
                <a:latin typeface="Trebuchet MS" panose="020B0603020202020204" pitchFamily="34" charset="0"/>
                <a:cs typeface="Arial MT"/>
              </a:rPr>
              <a:t>are</a:t>
            </a:r>
            <a:r>
              <a:rPr spc="-59" dirty="0">
                <a:latin typeface="Trebuchet MS" panose="020B0603020202020204" pitchFamily="34" charset="0"/>
                <a:cs typeface="Arial MT"/>
              </a:rPr>
              <a:t> </a:t>
            </a:r>
            <a:r>
              <a:rPr spc="-15" dirty="0">
                <a:latin typeface="Trebuchet MS" panose="020B0603020202020204" pitchFamily="34" charset="0"/>
                <a:cs typeface="Arial MT"/>
              </a:rPr>
              <a:t>located </a:t>
            </a:r>
            <a:r>
              <a:rPr dirty="0">
                <a:latin typeface="Trebuchet MS" panose="020B0603020202020204" pitchFamily="34" charset="0"/>
                <a:cs typeface="Arial MT"/>
              </a:rPr>
              <a:t>on</a:t>
            </a:r>
            <a:r>
              <a:rPr spc="-37" dirty="0">
                <a:latin typeface="Trebuchet MS" panose="020B0603020202020204" pitchFamily="34" charset="0"/>
                <a:cs typeface="Arial MT"/>
              </a:rPr>
              <a:t> </a:t>
            </a:r>
            <a:r>
              <a:rPr dirty="0">
                <a:latin typeface="Trebuchet MS" panose="020B0603020202020204" pitchFamily="34" charset="0"/>
                <a:cs typeface="Arial MT"/>
              </a:rPr>
              <a:t>the</a:t>
            </a:r>
            <a:r>
              <a:rPr spc="-37" dirty="0">
                <a:latin typeface="Trebuchet MS" panose="020B0603020202020204" pitchFamily="34" charset="0"/>
                <a:cs typeface="Arial MT"/>
              </a:rPr>
              <a:t> </a:t>
            </a:r>
            <a:r>
              <a:rPr dirty="0">
                <a:latin typeface="Trebuchet MS" panose="020B0603020202020204" pitchFamily="34" charset="0"/>
                <a:cs typeface="Arial MT"/>
              </a:rPr>
              <a:t>“premises”</a:t>
            </a:r>
            <a:r>
              <a:rPr spc="-37" dirty="0">
                <a:latin typeface="Trebuchet MS" panose="020B0603020202020204" pitchFamily="34" charset="0"/>
                <a:cs typeface="Arial MT"/>
              </a:rPr>
              <a:t> </a:t>
            </a:r>
            <a:r>
              <a:rPr dirty="0">
                <a:latin typeface="Trebuchet MS" panose="020B0603020202020204" pitchFamily="34" charset="0"/>
                <a:cs typeface="Arial MT"/>
              </a:rPr>
              <a:t>of</a:t>
            </a:r>
            <a:r>
              <a:rPr spc="-37" dirty="0">
                <a:latin typeface="Trebuchet MS" panose="020B0603020202020204" pitchFamily="34" charset="0"/>
                <a:cs typeface="Arial MT"/>
              </a:rPr>
              <a:t> </a:t>
            </a:r>
            <a:r>
              <a:rPr dirty="0">
                <a:latin typeface="Trebuchet MS" panose="020B0603020202020204" pitchFamily="34" charset="0"/>
                <a:cs typeface="Arial MT"/>
              </a:rPr>
              <a:t>the</a:t>
            </a:r>
            <a:r>
              <a:rPr spc="-30" dirty="0">
                <a:latin typeface="Trebuchet MS" panose="020B0603020202020204" pitchFamily="34" charset="0"/>
                <a:cs typeface="Arial MT"/>
              </a:rPr>
              <a:t> </a:t>
            </a:r>
            <a:r>
              <a:rPr dirty="0">
                <a:latin typeface="Trebuchet MS" panose="020B0603020202020204" pitchFamily="34" charset="0"/>
                <a:cs typeface="Arial MT"/>
              </a:rPr>
              <a:t>IT</a:t>
            </a:r>
            <a:r>
              <a:rPr spc="-37" dirty="0">
                <a:latin typeface="Trebuchet MS" panose="020B0603020202020204" pitchFamily="34" charset="0"/>
                <a:cs typeface="Arial MT"/>
              </a:rPr>
              <a:t> </a:t>
            </a:r>
            <a:r>
              <a:rPr spc="-15" dirty="0">
                <a:latin typeface="Trebuchet MS" panose="020B0603020202020204" pitchFamily="34" charset="0"/>
                <a:cs typeface="Arial MT"/>
              </a:rPr>
              <a:t>enterprise).</a:t>
            </a:r>
            <a:endParaRPr dirty="0">
              <a:latin typeface="Trebuchet MS" panose="020B0603020202020204" pitchFamily="34" charset="0"/>
              <a:cs typeface="Arial MT"/>
            </a:endParaRP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95741" y="361950"/>
            <a:ext cx="4476259" cy="456618"/>
          </a:xfrm>
          <a:prstGeom prst="rect">
            <a:avLst/>
          </a:prstGeom>
        </p:spPr>
        <p:txBody>
          <a:bodyPr vert="horz" wrap="square" lIns="0" tIns="25482" rIns="0" bIns="0" rtlCol="0">
            <a:spAutoFit/>
          </a:bodyPr>
          <a:lstStyle/>
          <a:p>
            <a:pPr marL="869182">
              <a:spcBef>
                <a:spcPts val="201"/>
              </a:spcBef>
            </a:pPr>
            <a:r>
              <a:rPr dirty="0"/>
              <a:t>Cloud</a:t>
            </a:r>
            <a:r>
              <a:rPr spc="156" dirty="0"/>
              <a:t> </a:t>
            </a:r>
            <a:r>
              <a:rPr dirty="0"/>
              <a:t>Service</a:t>
            </a:r>
            <a:r>
              <a:rPr spc="163" dirty="0"/>
              <a:t> </a:t>
            </a:r>
            <a:r>
              <a:rPr spc="-15" dirty="0"/>
              <a:t>Models</a:t>
            </a:r>
          </a:p>
        </p:txBody>
      </p:sp>
      <p:sp>
        <p:nvSpPr>
          <p:cNvPr id="31" name="object 31"/>
          <p:cNvSpPr txBox="1"/>
          <p:nvPr/>
        </p:nvSpPr>
        <p:spPr>
          <a:xfrm>
            <a:off x="623912" y="1504950"/>
            <a:ext cx="7076525" cy="1586363"/>
          </a:xfrm>
          <a:prstGeom prst="rect">
            <a:avLst/>
          </a:prstGeom>
        </p:spPr>
        <p:txBody>
          <a:bodyPr vert="horz" wrap="square" lIns="0" tIns="10381" rIns="0" bIns="0" rtlCol="0">
            <a:spAutoFit/>
          </a:bodyPr>
          <a:lstStyle/>
          <a:p>
            <a:pPr marL="18875" marR="7550">
              <a:lnSpc>
                <a:spcPct val="102600"/>
              </a:lnSpc>
              <a:spcBef>
                <a:spcPts val="82"/>
              </a:spcBef>
            </a:pPr>
            <a:r>
              <a:rPr dirty="0">
                <a:latin typeface="Trebuchet MS" panose="020B0603020202020204" pitchFamily="34" charset="0"/>
                <a:cs typeface="Arial MT"/>
              </a:rPr>
              <a:t>NIST</a:t>
            </a:r>
            <a:r>
              <a:rPr spc="-45" dirty="0">
                <a:latin typeface="Trebuchet MS" panose="020B0603020202020204" pitchFamily="34" charset="0"/>
                <a:cs typeface="Arial MT"/>
              </a:rPr>
              <a:t> </a:t>
            </a:r>
            <a:r>
              <a:rPr dirty="0">
                <a:latin typeface="Trebuchet MS" panose="020B0603020202020204" pitchFamily="34" charset="0"/>
                <a:cs typeface="Arial MT"/>
              </a:rPr>
              <a:t>lists</a:t>
            </a:r>
            <a:r>
              <a:rPr spc="-45" dirty="0">
                <a:latin typeface="Trebuchet MS" panose="020B0603020202020204" pitchFamily="34" charset="0"/>
                <a:cs typeface="Arial MT"/>
              </a:rPr>
              <a:t> </a:t>
            </a:r>
            <a:r>
              <a:rPr dirty="0">
                <a:latin typeface="Trebuchet MS" panose="020B0603020202020204" pitchFamily="34" charset="0"/>
                <a:cs typeface="Arial MT"/>
              </a:rPr>
              <a:t>out</a:t>
            </a:r>
            <a:r>
              <a:rPr spc="-45" dirty="0">
                <a:latin typeface="Trebuchet MS" panose="020B0603020202020204" pitchFamily="34" charset="0"/>
                <a:cs typeface="Arial MT"/>
              </a:rPr>
              <a:t> </a:t>
            </a:r>
            <a:r>
              <a:rPr dirty="0">
                <a:latin typeface="Trebuchet MS" panose="020B0603020202020204" pitchFamily="34" charset="0"/>
                <a:cs typeface="Arial MT"/>
              </a:rPr>
              <a:t>three</a:t>
            </a:r>
            <a:r>
              <a:rPr spc="-45" dirty="0">
                <a:latin typeface="Trebuchet MS" panose="020B0603020202020204" pitchFamily="34" charset="0"/>
                <a:cs typeface="Arial MT"/>
              </a:rPr>
              <a:t> </a:t>
            </a:r>
            <a:r>
              <a:rPr dirty="0">
                <a:latin typeface="Trebuchet MS" panose="020B0603020202020204" pitchFamily="34" charset="0"/>
                <a:cs typeface="Arial MT"/>
              </a:rPr>
              <a:t>service</a:t>
            </a:r>
            <a:r>
              <a:rPr spc="-37" dirty="0">
                <a:latin typeface="Trebuchet MS" panose="020B0603020202020204" pitchFamily="34" charset="0"/>
                <a:cs typeface="Arial MT"/>
              </a:rPr>
              <a:t> </a:t>
            </a:r>
            <a:r>
              <a:rPr spc="-15" dirty="0">
                <a:latin typeface="Trebuchet MS" panose="020B0603020202020204" pitchFamily="34" charset="0"/>
                <a:cs typeface="Arial MT"/>
              </a:rPr>
              <a:t>(delivery)</a:t>
            </a:r>
            <a:r>
              <a:rPr spc="-45" dirty="0">
                <a:latin typeface="Trebuchet MS" panose="020B0603020202020204" pitchFamily="34" charset="0"/>
                <a:cs typeface="Arial MT"/>
              </a:rPr>
              <a:t> </a:t>
            </a:r>
            <a:r>
              <a:rPr dirty="0">
                <a:latin typeface="Trebuchet MS" panose="020B0603020202020204" pitchFamily="34" charset="0"/>
                <a:cs typeface="Arial MT"/>
              </a:rPr>
              <a:t>models</a:t>
            </a:r>
            <a:r>
              <a:rPr spc="-45" dirty="0">
                <a:latin typeface="Trebuchet MS" panose="020B0603020202020204" pitchFamily="34" charset="0"/>
                <a:cs typeface="Arial MT"/>
              </a:rPr>
              <a:t> </a:t>
            </a:r>
            <a:r>
              <a:rPr dirty="0">
                <a:latin typeface="Trebuchet MS" panose="020B0603020202020204" pitchFamily="34" charset="0"/>
                <a:cs typeface="Arial MT"/>
              </a:rPr>
              <a:t>based</a:t>
            </a:r>
            <a:r>
              <a:rPr spc="-45" dirty="0">
                <a:latin typeface="Trebuchet MS" panose="020B0603020202020204" pitchFamily="34" charset="0"/>
                <a:cs typeface="Arial MT"/>
              </a:rPr>
              <a:t> </a:t>
            </a:r>
            <a:r>
              <a:rPr spc="-37" dirty="0">
                <a:latin typeface="Trebuchet MS" panose="020B0603020202020204" pitchFamily="34" charset="0"/>
                <a:cs typeface="Arial MT"/>
              </a:rPr>
              <a:t>on </a:t>
            </a:r>
            <a:r>
              <a:rPr dirty="0">
                <a:latin typeface="Trebuchet MS" panose="020B0603020202020204" pitchFamily="34" charset="0"/>
                <a:cs typeface="Arial MT"/>
              </a:rPr>
              <a:t>the</a:t>
            </a:r>
            <a:r>
              <a:rPr spc="-74" dirty="0">
                <a:latin typeface="Trebuchet MS" panose="020B0603020202020204" pitchFamily="34" charset="0"/>
                <a:cs typeface="Arial MT"/>
              </a:rPr>
              <a:t> </a:t>
            </a:r>
            <a:r>
              <a:rPr dirty="0">
                <a:latin typeface="Trebuchet MS" panose="020B0603020202020204" pitchFamily="34" charset="0"/>
                <a:cs typeface="Arial MT"/>
              </a:rPr>
              <a:t>abstraction</a:t>
            </a:r>
            <a:r>
              <a:rPr spc="-67" dirty="0">
                <a:latin typeface="Trebuchet MS" panose="020B0603020202020204" pitchFamily="34" charset="0"/>
                <a:cs typeface="Arial MT"/>
              </a:rPr>
              <a:t> </a:t>
            </a:r>
            <a:r>
              <a:rPr spc="-15" dirty="0">
                <a:latin typeface="Trebuchet MS" panose="020B0603020202020204" pitchFamily="34" charset="0"/>
                <a:cs typeface="Arial MT"/>
              </a:rPr>
              <a:t>level:</a:t>
            </a:r>
            <a:endParaRPr dirty="0">
              <a:latin typeface="Trebuchet MS" panose="020B0603020202020204" pitchFamily="34" charset="0"/>
              <a:cs typeface="Arial MT"/>
            </a:endParaRPr>
          </a:p>
          <a:p>
            <a:pPr marL="773244" marR="1563772" indent="-342900">
              <a:lnSpc>
                <a:spcPct val="125299"/>
              </a:lnSpc>
              <a:buFont typeface="+mj-lt"/>
              <a:buAutoNum type="arabicPeriod"/>
            </a:pPr>
            <a:r>
              <a:rPr dirty="0">
                <a:latin typeface="Trebuchet MS" panose="020B0603020202020204" pitchFamily="34" charset="0"/>
                <a:cs typeface="Arial MT"/>
              </a:rPr>
              <a:t>Infrastructure</a:t>
            </a:r>
            <a:r>
              <a:rPr spc="-45" dirty="0">
                <a:latin typeface="Trebuchet MS" panose="020B0603020202020204" pitchFamily="34" charset="0"/>
                <a:cs typeface="Arial MT"/>
              </a:rPr>
              <a:t> </a:t>
            </a:r>
            <a:r>
              <a:rPr dirty="0">
                <a:latin typeface="Trebuchet MS" panose="020B0603020202020204" pitchFamily="34" charset="0"/>
                <a:cs typeface="Arial MT"/>
              </a:rPr>
              <a:t>as</a:t>
            </a:r>
            <a:r>
              <a:rPr spc="-45" dirty="0">
                <a:latin typeface="Trebuchet MS" panose="020B0603020202020204" pitchFamily="34" charset="0"/>
                <a:cs typeface="Arial MT"/>
              </a:rPr>
              <a:t> </a:t>
            </a:r>
            <a:r>
              <a:rPr dirty="0">
                <a:latin typeface="Trebuchet MS" panose="020B0603020202020204" pitchFamily="34" charset="0"/>
                <a:cs typeface="Arial MT"/>
              </a:rPr>
              <a:t>a</a:t>
            </a:r>
            <a:r>
              <a:rPr spc="-37" dirty="0">
                <a:latin typeface="Trebuchet MS" panose="020B0603020202020204" pitchFamily="34" charset="0"/>
                <a:cs typeface="Arial MT"/>
              </a:rPr>
              <a:t> </a:t>
            </a:r>
            <a:r>
              <a:rPr dirty="0">
                <a:latin typeface="Trebuchet MS" panose="020B0603020202020204" pitchFamily="34" charset="0"/>
                <a:cs typeface="Arial MT"/>
              </a:rPr>
              <a:t>Service</a:t>
            </a:r>
            <a:r>
              <a:rPr spc="-45" dirty="0">
                <a:latin typeface="Trebuchet MS" panose="020B0603020202020204" pitchFamily="34" charset="0"/>
                <a:cs typeface="Arial MT"/>
              </a:rPr>
              <a:t> </a:t>
            </a:r>
            <a:r>
              <a:rPr spc="-15" dirty="0">
                <a:latin typeface="Trebuchet MS" panose="020B0603020202020204" pitchFamily="34" charset="0"/>
                <a:cs typeface="Arial MT"/>
              </a:rPr>
              <a:t>(IaaS) </a:t>
            </a:r>
            <a:endParaRPr lang="en-US" spc="-15" dirty="0">
              <a:latin typeface="Trebuchet MS" panose="020B0603020202020204" pitchFamily="34" charset="0"/>
              <a:cs typeface="Arial MT"/>
            </a:endParaRPr>
          </a:p>
          <a:p>
            <a:pPr marL="773244" marR="1563772" indent="-342900">
              <a:lnSpc>
                <a:spcPct val="125299"/>
              </a:lnSpc>
              <a:buFont typeface="+mj-lt"/>
              <a:buAutoNum type="arabicPeriod"/>
            </a:pPr>
            <a:r>
              <a:rPr spc="-15" dirty="0">
                <a:latin typeface="Trebuchet MS" panose="020B0603020202020204" pitchFamily="34" charset="0"/>
                <a:cs typeface="Arial MT"/>
              </a:rPr>
              <a:t>Platform-as-a-</a:t>
            </a:r>
            <a:r>
              <a:rPr dirty="0">
                <a:latin typeface="Trebuchet MS" panose="020B0603020202020204" pitchFamily="34" charset="0"/>
                <a:cs typeface="Arial MT"/>
              </a:rPr>
              <a:t>Service</a:t>
            </a:r>
            <a:r>
              <a:rPr spc="37" dirty="0">
                <a:latin typeface="Trebuchet MS" panose="020B0603020202020204" pitchFamily="34" charset="0"/>
                <a:cs typeface="Arial MT"/>
              </a:rPr>
              <a:t> </a:t>
            </a:r>
            <a:r>
              <a:rPr spc="-15" dirty="0">
                <a:latin typeface="Trebuchet MS" panose="020B0603020202020204" pitchFamily="34" charset="0"/>
                <a:cs typeface="Arial MT"/>
              </a:rPr>
              <a:t>(PaaS)</a:t>
            </a:r>
            <a:endParaRPr lang="en-US" spc="-15" dirty="0">
              <a:latin typeface="Trebuchet MS" panose="020B0603020202020204" pitchFamily="34" charset="0"/>
              <a:cs typeface="Arial MT"/>
            </a:endParaRPr>
          </a:p>
          <a:p>
            <a:pPr marL="773244" marR="1563772" indent="-342900">
              <a:lnSpc>
                <a:spcPct val="125299"/>
              </a:lnSpc>
              <a:buFont typeface="+mj-lt"/>
              <a:buAutoNum type="arabicPeriod"/>
            </a:pPr>
            <a:r>
              <a:rPr spc="-15" dirty="0">
                <a:latin typeface="Trebuchet MS" panose="020B0603020202020204" pitchFamily="34" charset="0"/>
                <a:cs typeface="Arial MT"/>
              </a:rPr>
              <a:t>Software-as-a-</a:t>
            </a:r>
            <a:r>
              <a:rPr dirty="0">
                <a:latin typeface="Trebuchet MS" panose="020B0603020202020204" pitchFamily="34" charset="0"/>
                <a:cs typeface="Arial MT"/>
              </a:rPr>
              <a:t>Service</a:t>
            </a:r>
            <a:r>
              <a:rPr spc="22" dirty="0">
                <a:latin typeface="Trebuchet MS" panose="020B0603020202020204" pitchFamily="34" charset="0"/>
                <a:cs typeface="Arial MT"/>
              </a:rPr>
              <a:t> </a:t>
            </a:r>
            <a:r>
              <a:rPr spc="-15" dirty="0">
                <a:latin typeface="Trebuchet MS" panose="020B0603020202020204" pitchFamily="34" charset="0"/>
                <a:cs typeface="Arial MT"/>
              </a:rPr>
              <a:t>(SaaS)</a:t>
            </a:r>
            <a:endParaRPr dirty="0">
              <a:latin typeface="Trebuchet MS" panose="020B0603020202020204" pitchFamily="34" charset="0"/>
              <a:cs typeface="Arial MT"/>
            </a:endParaRP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E9709-2231-8DFE-9AC0-542D3534C5A3}"/>
              </a:ext>
            </a:extLst>
          </p:cNvPr>
          <p:cNvSpPr>
            <a:spLocks noGrp="1"/>
          </p:cNvSpPr>
          <p:nvPr>
            <p:ph type="title"/>
          </p:nvPr>
        </p:nvSpPr>
        <p:spPr>
          <a:xfrm>
            <a:off x="228600" y="84577"/>
            <a:ext cx="6244675" cy="861774"/>
          </a:xfrm>
        </p:spPr>
        <p:txBody>
          <a:bodyPr/>
          <a:lstStyle/>
          <a:p>
            <a:r>
              <a:rPr lang="en-US" dirty="0"/>
              <a:t>Main</a:t>
            </a:r>
            <a:r>
              <a:rPr lang="en-US" spc="75" dirty="0"/>
              <a:t> </a:t>
            </a:r>
            <a:r>
              <a:rPr lang="en-US" dirty="0"/>
              <a:t>Service</a:t>
            </a:r>
            <a:r>
              <a:rPr lang="en-US" spc="75" dirty="0"/>
              <a:t> </a:t>
            </a:r>
            <a:r>
              <a:rPr lang="en-US" spc="-10" dirty="0"/>
              <a:t>Models</a:t>
            </a:r>
            <a:endParaRPr lang="en-US" dirty="0"/>
          </a:p>
        </p:txBody>
      </p:sp>
      <p:sp>
        <p:nvSpPr>
          <p:cNvPr id="3" name="Text Placeholder 2">
            <a:extLst>
              <a:ext uri="{FF2B5EF4-FFF2-40B4-BE49-F238E27FC236}">
                <a16:creationId xmlns:a16="http://schemas.microsoft.com/office/drawing/2014/main" id="{DA6697E0-C7F8-9D33-52CC-4E55ABD436CC}"/>
              </a:ext>
            </a:extLst>
          </p:cNvPr>
          <p:cNvSpPr>
            <a:spLocks noGrp="1"/>
          </p:cNvSpPr>
          <p:nvPr>
            <p:ph type="body" idx="1"/>
          </p:nvPr>
        </p:nvSpPr>
        <p:spPr/>
        <p:txBody>
          <a:bodyPr/>
          <a:lstStyle/>
          <a:p>
            <a:endParaRPr lang="en-US"/>
          </a:p>
        </p:txBody>
      </p:sp>
      <p:pic>
        <p:nvPicPr>
          <p:cNvPr id="7" name="object 24">
            <a:extLst>
              <a:ext uri="{FF2B5EF4-FFF2-40B4-BE49-F238E27FC236}">
                <a16:creationId xmlns:a16="http://schemas.microsoft.com/office/drawing/2014/main" id="{90DCF31A-F73E-DEA0-D36F-FC528105633E}"/>
              </a:ext>
            </a:extLst>
          </p:cNvPr>
          <p:cNvPicPr/>
          <p:nvPr/>
        </p:nvPicPr>
        <p:blipFill>
          <a:blip r:embed="rId2" cstate="print"/>
          <a:stretch>
            <a:fillRect/>
          </a:stretch>
        </p:blipFill>
        <p:spPr>
          <a:xfrm>
            <a:off x="381000" y="666750"/>
            <a:ext cx="8534400" cy="4114800"/>
          </a:xfrm>
          <a:prstGeom prst="rect">
            <a:avLst/>
          </a:prstGeom>
        </p:spPr>
      </p:pic>
    </p:spTree>
    <p:extLst>
      <p:ext uri="{BB962C8B-B14F-4D97-AF65-F5344CB8AC3E}">
        <p14:creationId xmlns:p14="http://schemas.microsoft.com/office/powerpoint/2010/main" val="644378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909961-7967-4106-DB9F-790ED840F94F}"/>
              </a:ext>
            </a:extLst>
          </p:cNvPr>
          <p:cNvPicPr>
            <a:picLocks noChangeAspect="1"/>
          </p:cNvPicPr>
          <p:nvPr/>
        </p:nvPicPr>
        <p:blipFill>
          <a:blip r:embed="rId2"/>
          <a:stretch>
            <a:fillRect/>
          </a:stretch>
        </p:blipFill>
        <p:spPr>
          <a:xfrm>
            <a:off x="549194" y="666750"/>
            <a:ext cx="7786218" cy="3688209"/>
          </a:xfrm>
          <a:prstGeom prst="rect">
            <a:avLst/>
          </a:prstGeom>
        </p:spPr>
      </p:pic>
    </p:spTree>
    <p:extLst>
      <p:ext uri="{BB962C8B-B14F-4D97-AF65-F5344CB8AC3E}">
        <p14:creationId xmlns:p14="http://schemas.microsoft.com/office/powerpoint/2010/main" val="125654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477F87-ECAE-4BDF-C20F-57B4D2E608A6}"/>
              </a:ext>
            </a:extLst>
          </p:cNvPr>
          <p:cNvPicPr>
            <a:picLocks noChangeAspect="1"/>
          </p:cNvPicPr>
          <p:nvPr/>
        </p:nvPicPr>
        <p:blipFill>
          <a:blip r:embed="rId3"/>
          <a:stretch>
            <a:fillRect/>
          </a:stretch>
        </p:blipFill>
        <p:spPr>
          <a:xfrm>
            <a:off x="533400" y="438150"/>
            <a:ext cx="7487695" cy="3667637"/>
          </a:xfrm>
          <a:prstGeom prst="rect">
            <a:avLst/>
          </a:prstGeom>
        </p:spPr>
      </p:pic>
    </p:spTree>
    <p:extLst>
      <p:ext uri="{BB962C8B-B14F-4D97-AF65-F5344CB8AC3E}">
        <p14:creationId xmlns:p14="http://schemas.microsoft.com/office/powerpoint/2010/main" val="2424730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4508513" y="4788318"/>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4390183" y="4782430"/>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4654440" y="4782430"/>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4787186" y="4769231"/>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5184188" y="4767351"/>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5581191" y="4767351"/>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6091465" y="4772991"/>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6348805" y="4769230"/>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304800" y="75223"/>
            <a:ext cx="5105400" cy="456618"/>
          </a:xfrm>
          <a:prstGeom prst="rect">
            <a:avLst/>
          </a:prstGeom>
        </p:spPr>
        <p:txBody>
          <a:bodyPr vert="horz" wrap="square" lIns="0" tIns="25482" rIns="0" bIns="0" rtlCol="0">
            <a:spAutoFit/>
          </a:bodyPr>
          <a:lstStyle/>
          <a:p>
            <a:pPr marL="18875">
              <a:spcBef>
                <a:spcPts val="201"/>
              </a:spcBef>
            </a:pPr>
            <a:r>
              <a:rPr dirty="0"/>
              <a:t>Main</a:t>
            </a:r>
            <a:r>
              <a:rPr spc="111" dirty="0"/>
              <a:t> </a:t>
            </a:r>
            <a:r>
              <a:rPr dirty="0"/>
              <a:t>Service</a:t>
            </a:r>
            <a:r>
              <a:rPr spc="119" dirty="0"/>
              <a:t> </a:t>
            </a:r>
            <a:r>
              <a:rPr dirty="0"/>
              <a:t>Models:</a:t>
            </a:r>
            <a:r>
              <a:rPr spc="282" dirty="0"/>
              <a:t> </a:t>
            </a:r>
            <a:r>
              <a:rPr spc="-30" dirty="0"/>
              <a:t>IaaS</a:t>
            </a:r>
          </a:p>
        </p:txBody>
      </p:sp>
      <p:sp>
        <p:nvSpPr>
          <p:cNvPr id="29" name="object 29"/>
          <p:cNvSpPr txBox="1"/>
          <p:nvPr/>
        </p:nvSpPr>
        <p:spPr>
          <a:xfrm>
            <a:off x="685800" y="932999"/>
            <a:ext cx="6934200" cy="2390108"/>
          </a:xfrm>
          <a:prstGeom prst="rect">
            <a:avLst/>
          </a:prstGeom>
        </p:spPr>
        <p:txBody>
          <a:bodyPr vert="horz" wrap="square" lIns="0" tIns="10381" rIns="0" bIns="0" rtlCol="0">
            <a:spAutoFit/>
          </a:bodyPr>
          <a:lstStyle/>
          <a:p>
            <a:pPr marL="18875" marR="317096">
              <a:lnSpc>
                <a:spcPct val="102600"/>
              </a:lnSpc>
              <a:spcBef>
                <a:spcPts val="82"/>
              </a:spcBef>
            </a:pPr>
            <a:r>
              <a:rPr sz="1635" dirty="0">
                <a:latin typeface="Arial MT"/>
                <a:cs typeface="Arial MT"/>
              </a:rPr>
              <a:t>The</a:t>
            </a:r>
            <a:r>
              <a:rPr sz="1635" spc="-45" dirty="0">
                <a:latin typeface="Arial MT"/>
                <a:cs typeface="Arial MT"/>
              </a:rPr>
              <a:t> </a:t>
            </a:r>
            <a:r>
              <a:rPr sz="1635" dirty="0">
                <a:latin typeface="Arial MT"/>
                <a:cs typeface="Arial MT"/>
              </a:rPr>
              <a:t>NIST</a:t>
            </a:r>
            <a:r>
              <a:rPr sz="1635" spc="-37" dirty="0">
                <a:latin typeface="Arial MT"/>
                <a:cs typeface="Arial MT"/>
              </a:rPr>
              <a:t> </a:t>
            </a:r>
            <a:r>
              <a:rPr sz="1635" spc="-15" dirty="0">
                <a:latin typeface="Arial MT"/>
                <a:cs typeface="Arial MT"/>
              </a:rPr>
              <a:t>definition</a:t>
            </a:r>
            <a:r>
              <a:rPr sz="1635" spc="-45" dirty="0">
                <a:latin typeface="Arial MT"/>
                <a:cs typeface="Arial MT"/>
              </a:rPr>
              <a:t> </a:t>
            </a:r>
            <a:r>
              <a:rPr sz="1635" dirty="0">
                <a:latin typeface="Arial MT"/>
                <a:cs typeface="Arial MT"/>
              </a:rPr>
              <a:t>of</a:t>
            </a:r>
            <a:r>
              <a:rPr sz="1635" spc="-37" dirty="0">
                <a:latin typeface="Arial MT"/>
                <a:cs typeface="Arial MT"/>
              </a:rPr>
              <a:t> </a:t>
            </a:r>
            <a:r>
              <a:rPr sz="1635" dirty="0">
                <a:latin typeface="Arial MT"/>
                <a:cs typeface="Arial MT"/>
              </a:rPr>
              <a:t>Infrastructure</a:t>
            </a:r>
            <a:r>
              <a:rPr sz="1635" spc="-37" dirty="0">
                <a:latin typeface="Arial MT"/>
                <a:cs typeface="Arial MT"/>
              </a:rPr>
              <a:t> </a:t>
            </a:r>
            <a:r>
              <a:rPr sz="1635" dirty="0">
                <a:latin typeface="Arial MT"/>
                <a:cs typeface="Arial MT"/>
              </a:rPr>
              <a:t>as</a:t>
            </a:r>
            <a:r>
              <a:rPr sz="1635" spc="-45" dirty="0">
                <a:latin typeface="Arial MT"/>
                <a:cs typeface="Arial MT"/>
              </a:rPr>
              <a:t> </a:t>
            </a:r>
            <a:r>
              <a:rPr sz="1635" dirty="0">
                <a:latin typeface="Arial MT"/>
                <a:cs typeface="Arial MT"/>
              </a:rPr>
              <a:t>a</a:t>
            </a:r>
            <a:r>
              <a:rPr sz="1635" spc="-37" dirty="0">
                <a:latin typeface="Arial MT"/>
                <a:cs typeface="Arial MT"/>
              </a:rPr>
              <a:t> </a:t>
            </a:r>
            <a:r>
              <a:rPr sz="1635" spc="-15" dirty="0">
                <a:latin typeface="Arial MT"/>
                <a:cs typeface="Arial MT"/>
              </a:rPr>
              <a:t>Service (IaaS):</a:t>
            </a:r>
            <a:endParaRPr sz="1635" dirty="0">
              <a:latin typeface="Arial MT"/>
              <a:cs typeface="Arial MT"/>
            </a:endParaRPr>
          </a:p>
          <a:p>
            <a:pPr marL="430344" marR="7550">
              <a:lnSpc>
                <a:spcPct val="102600"/>
              </a:lnSpc>
              <a:spcBef>
                <a:spcPts val="535"/>
              </a:spcBef>
            </a:pPr>
            <a:r>
              <a:rPr sz="1635" i="1" dirty="0">
                <a:latin typeface="Arial"/>
                <a:cs typeface="Arial"/>
              </a:rPr>
              <a:t>“The</a:t>
            </a:r>
            <a:r>
              <a:rPr sz="1635" i="1" spc="-37" dirty="0">
                <a:latin typeface="Arial"/>
                <a:cs typeface="Arial"/>
              </a:rPr>
              <a:t> </a:t>
            </a:r>
            <a:r>
              <a:rPr sz="1635" i="1" spc="-15" dirty="0">
                <a:latin typeface="Arial"/>
                <a:cs typeface="Arial"/>
              </a:rPr>
              <a:t>capability</a:t>
            </a:r>
            <a:r>
              <a:rPr sz="1635" i="1" spc="-30" dirty="0">
                <a:latin typeface="Arial"/>
                <a:cs typeface="Arial"/>
              </a:rPr>
              <a:t> </a:t>
            </a:r>
            <a:r>
              <a:rPr sz="1635" i="1" spc="-15" dirty="0">
                <a:latin typeface="Arial"/>
                <a:cs typeface="Arial"/>
              </a:rPr>
              <a:t>provided</a:t>
            </a:r>
            <a:r>
              <a:rPr sz="1635" i="1" spc="-30" dirty="0">
                <a:latin typeface="Arial"/>
                <a:cs typeface="Arial"/>
              </a:rPr>
              <a:t> </a:t>
            </a:r>
            <a:r>
              <a:rPr sz="1635" i="1" dirty="0">
                <a:latin typeface="Arial"/>
                <a:cs typeface="Arial"/>
              </a:rPr>
              <a:t>to</a:t>
            </a:r>
            <a:r>
              <a:rPr sz="1635" i="1" spc="-30" dirty="0">
                <a:latin typeface="Arial"/>
                <a:cs typeface="Arial"/>
              </a:rPr>
              <a:t> </a:t>
            </a:r>
            <a:r>
              <a:rPr sz="1635" i="1" dirty="0">
                <a:latin typeface="Arial"/>
                <a:cs typeface="Arial"/>
              </a:rPr>
              <a:t>the</a:t>
            </a:r>
            <a:r>
              <a:rPr sz="1635" i="1" spc="-30" dirty="0">
                <a:latin typeface="Arial"/>
                <a:cs typeface="Arial"/>
              </a:rPr>
              <a:t> </a:t>
            </a:r>
            <a:r>
              <a:rPr sz="1635" i="1" dirty="0">
                <a:latin typeface="Arial"/>
                <a:cs typeface="Arial"/>
              </a:rPr>
              <a:t>consumer</a:t>
            </a:r>
            <a:r>
              <a:rPr sz="1635" i="1" spc="-37" dirty="0">
                <a:latin typeface="Arial"/>
                <a:cs typeface="Arial"/>
              </a:rPr>
              <a:t> </a:t>
            </a:r>
            <a:r>
              <a:rPr sz="1635" i="1" dirty="0">
                <a:latin typeface="Arial"/>
                <a:cs typeface="Arial"/>
              </a:rPr>
              <a:t>is</a:t>
            </a:r>
            <a:r>
              <a:rPr sz="1635" i="1" spc="-30" dirty="0">
                <a:latin typeface="Arial"/>
                <a:cs typeface="Arial"/>
              </a:rPr>
              <a:t> </a:t>
            </a:r>
            <a:r>
              <a:rPr sz="1635" i="1" spc="-37" dirty="0">
                <a:latin typeface="Arial"/>
                <a:cs typeface="Arial"/>
              </a:rPr>
              <a:t>to </a:t>
            </a:r>
            <a:r>
              <a:rPr sz="1635" i="1" spc="-15" dirty="0">
                <a:latin typeface="Arial"/>
                <a:cs typeface="Arial"/>
              </a:rPr>
              <a:t>provision</a:t>
            </a:r>
            <a:r>
              <a:rPr sz="1635" i="1" spc="-67" dirty="0">
                <a:latin typeface="Arial"/>
                <a:cs typeface="Arial"/>
              </a:rPr>
              <a:t> </a:t>
            </a:r>
            <a:r>
              <a:rPr sz="1635" i="1" dirty="0">
                <a:solidFill>
                  <a:srgbClr val="FF0000"/>
                </a:solidFill>
                <a:latin typeface="Arial"/>
                <a:cs typeface="Arial"/>
              </a:rPr>
              <a:t>processing</a:t>
            </a:r>
            <a:r>
              <a:rPr sz="1635" i="1" dirty="0">
                <a:latin typeface="Arial"/>
                <a:cs typeface="Arial"/>
              </a:rPr>
              <a:t>,</a:t>
            </a:r>
            <a:r>
              <a:rPr sz="1635" i="1" spc="-59" dirty="0">
                <a:latin typeface="Arial"/>
                <a:cs typeface="Arial"/>
              </a:rPr>
              <a:t> </a:t>
            </a:r>
            <a:r>
              <a:rPr sz="1635" i="1" dirty="0">
                <a:solidFill>
                  <a:srgbClr val="FF0000"/>
                </a:solidFill>
                <a:latin typeface="Arial"/>
                <a:cs typeface="Arial"/>
              </a:rPr>
              <a:t>storage</a:t>
            </a:r>
            <a:r>
              <a:rPr sz="1635" i="1" dirty="0">
                <a:latin typeface="Arial"/>
                <a:cs typeface="Arial"/>
              </a:rPr>
              <a:t>,</a:t>
            </a:r>
            <a:r>
              <a:rPr sz="1635" i="1" spc="-59" dirty="0">
                <a:latin typeface="Arial"/>
                <a:cs typeface="Arial"/>
              </a:rPr>
              <a:t> </a:t>
            </a:r>
            <a:r>
              <a:rPr sz="1635" i="1" dirty="0">
                <a:solidFill>
                  <a:srgbClr val="FF0000"/>
                </a:solidFill>
                <a:latin typeface="Arial"/>
                <a:cs typeface="Arial"/>
              </a:rPr>
              <a:t>networks</a:t>
            </a:r>
            <a:r>
              <a:rPr sz="1635" i="1" dirty="0">
                <a:latin typeface="Arial"/>
                <a:cs typeface="Arial"/>
              </a:rPr>
              <a:t>,</a:t>
            </a:r>
            <a:r>
              <a:rPr sz="1635" i="1" spc="-59" dirty="0">
                <a:latin typeface="Arial"/>
                <a:cs typeface="Arial"/>
              </a:rPr>
              <a:t> </a:t>
            </a:r>
            <a:r>
              <a:rPr sz="1635" i="1" spc="-37" dirty="0">
                <a:latin typeface="Arial"/>
                <a:cs typeface="Arial"/>
              </a:rPr>
              <a:t>and </a:t>
            </a:r>
            <a:r>
              <a:rPr sz="1635" i="1" dirty="0">
                <a:latin typeface="Arial"/>
                <a:cs typeface="Arial"/>
              </a:rPr>
              <a:t>other</a:t>
            </a:r>
            <a:r>
              <a:rPr sz="1635" i="1" spc="-82" dirty="0">
                <a:latin typeface="Arial"/>
                <a:cs typeface="Arial"/>
              </a:rPr>
              <a:t> </a:t>
            </a:r>
            <a:r>
              <a:rPr sz="1635" i="1" dirty="0">
                <a:latin typeface="Arial"/>
                <a:cs typeface="Arial"/>
              </a:rPr>
              <a:t>fundamental</a:t>
            </a:r>
            <a:r>
              <a:rPr sz="1635" i="1" spc="-74" dirty="0">
                <a:latin typeface="Arial"/>
                <a:cs typeface="Arial"/>
              </a:rPr>
              <a:t> </a:t>
            </a:r>
            <a:r>
              <a:rPr sz="1635" i="1" dirty="0">
                <a:latin typeface="Arial"/>
                <a:cs typeface="Arial"/>
              </a:rPr>
              <a:t>computing</a:t>
            </a:r>
            <a:r>
              <a:rPr sz="1635" i="1" spc="-74" dirty="0">
                <a:latin typeface="Arial"/>
                <a:cs typeface="Arial"/>
              </a:rPr>
              <a:t> </a:t>
            </a:r>
            <a:r>
              <a:rPr sz="1635" i="1" dirty="0">
                <a:latin typeface="Arial"/>
                <a:cs typeface="Arial"/>
              </a:rPr>
              <a:t>resources</a:t>
            </a:r>
            <a:r>
              <a:rPr sz="1635" i="1" spc="-74" dirty="0">
                <a:latin typeface="Arial"/>
                <a:cs typeface="Arial"/>
              </a:rPr>
              <a:t> </a:t>
            </a:r>
            <a:r>
              <a:rPr sz="1635" i="1" spc="-15" dirty="0">
                <a:latin typeface="Arial"/>
                <a:cs typeface="Arial"/>
              </a:rPr>
              <a:t>where </a:t>
            </a:r>
            <a:r>
              <a:rPr sz="1635" i="1" dirty="0">
                <a:latin typeface="Arial"/>
                <a:cs typeface="Arial"/>
              </a:rPr>
              <a:t>the</a:t>
            </a:r>
            <a:r>
              <a:rPr sz="1635" i="1" spc="-45" dirty="0">
                <a:latin typeface="Arial"/>
                <a:cs typeface="Arial"/>
              </a:rPr>
              <a:t> </a:t>
            </a:r>
            <a:r>
              <a:rPr sz="1635" i="1" dirty="0">
                <a:solidFill>
                  <a:srgbClr val="FF0000"/>
                </a:solidFill>
                <a:latin typeface="Arial"/>
                <a:cs typeface="Arial"/>
              </a:rPr>
              <a:t>consumer</a:t>
            </a:r>
            <a:r>
              <a:rPr sz="1635" i="1" spc="-45" dirty="0">
                <a:solidFill>
                  <a:srgbClr val="FF0000"/>
                </a:solidFill>
                <a:latin typeface="Arial"/>
                <a:cs typeface="Arial"/>
              </a:rPr>
              <a:t> </a:t>
            </a:r>
            <a:r>
              <a:rPr sz="1635" i="1" dirty="0">
                <a:solidFill>
                  <a:srgbClr val="FF0000"/>
                </a:solidFill>
                <a:latin typeface="Arial"/>
                <a:cs typeface="Arial"/>
              </a:rPr>
              <a:t>is</a:t>
            </a:r>
            <a:r>
              <a:rPr sz="1635" i="1" spc="-45" dirty="0">
                <a:solidFill>
                  <a:srgbClr val="FF0000"/>
                </a:solidFill>
                <a:latin typeface="Arial"/>
                <a:cs typeface="Arial"/>
              </a:rPr>
              <a:t> </a:t>
            </a:r>
            <a:r>
              <a:rPr sz="1635" i="1" dirty="0">
                <a:solidFill>
                  <a:srgbClr val="FF0000"/>
                </a:solidFill>
                <a:latin typeface="Arial"/>
                <a:cs typeface="Arial"/>
              </a:rPr>
              <a:t>able</a:t>
            </a:r>
            <a:r>
              <a:rPr sz="1635" i="1" spc="-45" dirty="0">
                <a:solidFill>
                  <a:srgbClr val="FF0000"/>
                </a:solidFill>
                <a:latin typeface="Arial"/>
                <a:cs typeface="Arial"/>
              </a:rPr>
              <a:t> </a:t>
            </a:r>
            <a:r>
              <a:rPr sz="1635" i="1" dirty="0">
                <a:solidFill>
                  <a:srgbClr val="FF0000"/>
                </a:solidFill>
                <a:latin typeface="Arial"/>
                <a:cs typeface="Arial"/>
              </a:rPr>
              <a:t>to</a:t>
            </a:r>
            <a:r>
              <a:rPr sz="1635" i="1" spc="-45" dirty="0">
                <a:solidFill>
                  <a:srgbClr val="FF0000"/>
                </a:solidFill>
                <a:latin typeface="Arial"/>
                <a:cs typeface="Arial"/>
              </a:rPr>
              <a:t> </a:t>
            </a:r>
            <a:r>
              <a:rPr sz="1635" i="1" spc="-15" dirty="0">
                <a:solidFill>
                  <a:srgbClr val="FF0000"/>
                </a:solidFill>
                <a:latin typeface="Arial"/>
                <a:cs typeface="Arial"/>
              </a:rPr>
              <a:t>deploy</a:t>
            </a:r>
            <a:r>
              <a:rPr sz="1635" i="1" spc="-37" dirty="0">
                <a:solidFill>
                  <a:srgbClr val="FF0000"/>
                </a:solidFill>
                <a:latin typeface="Arial"/>
                <a:cs typeface="Arial"/>
              </a:rPr>
              <a:t> </a:t>
            </a:r>
            <a:r>
              <a:rPr sz="1635" i="1" dirty="0">
                <a:solidFill>
                  <a:srgbClr val="FF0000"/>
                </a:solidFill>
                <a:latin typeface="Arial"/>
                <a:cs typeface="Arial"/>
              </a:rPr>
              <a:t>and</a:t>
            </a:r>
            <a:r>
              <a:rPr sz="1635" i="1" spc="-45" dirty="0">
                <a:solidFill>
                  <a:srgbClr val="FF0000"/>
                </a:solidFill>
                <a:latin typeface="Arial"/>
                <a:cs typeface="Arial"/>
              </a:rPr>
              <a:t> </a:t>
            </a:r>
            <a:r>
              <a:rPr sz="1635" i="1" dirty="0">
                <a:solidFill>
                  <a:srgbClr val="FF0000"/>
                </a:solidFill>
                <a:latin typeface="Arial"/>
                <a:cs typeface="Arial"/>
              </a:rPr>
              <a:t>run</a:t>
            </a:r>
            <a:r>
              <a:rPr sz="1635" i="1" spc="-45" dirty="0">
                <a:solidFill>
                  <a:srgbClr val="FF0000"/>
                </a:solidFill>
                <a:latin typeface="Arial"/>
                <a:cs typeface="Arial"/>
              </a:rPr>
              <a:t> </a:t>
            </a:r>
            <a:r>
              <a:rPr sz="1635" i="1" spc="-15" dirty="0">
                <a:solidFill>
                  <a:srgbClr val="FF0000"/>
                </a:solidFill>
                <a:latin typeface="Arial"/>
                <a:cs typeface="Arial"/>
              </a:rPr>
              <a:t>arbitrary </a:t>
            </a:r>
            <a:r>
              <a:rPr sz="1635" i="1" dirty="0">
                <a:solidFill>
                  <a:srgbClr val="FF0000"/>
                </a:solidFill>
                <a:latin typeface="Arial"/>
                <a:cs typeface="Arial"/>
              </a:rPr>
              <a:t>software</a:t>
            </a:r>
            <a:r>
              <a:rPr sz="1635" i="1" dirty="0">
                <a:latin typeface="Arial"/>
                <a:cs typeface="Arial"/>
              </a:rPr>
              <a:t>,</a:t>
            </a:r>
            <a:r>
              <a:rPr sz="1635" i="1" spc="-89" dirty="0">
                <a:latin typeface="Arial"/>
                <a:cs typeface="Arial"/>
              </a:rPr>
              <a:t> </a:t>
            </a:r>
            <a:r>
              <a:rPr sz="1635" i="1" dirty="0">
                <a:latin typeface="Arial"/>
                <a:cs typeface="Arial"/>
              </a:rPr>
              <a:t>which</a:t>
            </a:r>
            <a:r>
              <a:rPr sz="1635" i="1" spc="-89" dirty="0">
                <a:latin typeface="Arial"/>
                <a:cs typeface="Arial"/>
              </a:rPr>
              <a:t> </a:t>
            </a:r>
            <a:r>
              <a:rPr sz="1635" i="1" dirty="0">
                <a:latin typeface="Arial"/>
                <a:cs typeface="Arial"/>
              </a:rPr>
              <a:t>can</a:t>
            </a:r>
            <a:r>
              <a:rPr sz="1635" i="1" spc="-82" dirty="0">
                <a:latin typeface="Arial"/>
                <a:cs typeface="Arial"/>
              </a:rPr>
              <a:t> </a:t>
            </a:r>
            <a:r>
              <a:rPr sz="1635" i="1" dirty="0">
                <a:latin typeface="Arial"/>
                <a:cs typeface="Arial"/>
              </a:rPr>
              <a:t>include</a:t>
            </a:r>
            <a:r>
              <a:rPr sz="1635" i="1" spc="-89" dirty="0">
                <a:latin typeface="Arial"/>
                <a:cs typeface="Arial"/>
              </a:rPr>
              <a:t> </a:t>
            </a:r>
            <a:r>
              <a:rPr sz="1635" i="1" dirty="0">
                <a:latin typeface="Arial"/>
                <a:cs typeface="Arial"/>
              </a:rPr>
              <a:t>operating</a:t>
            </a:r>
            <a:r>
              <a:rPr sz="1635" i="1" spc="-82" dirty="0">
                <a:latin typeface="Arial"/>
                <a:cs typeface="Arial"/>
              </a:rPr>
              <a:t> </a:t>
            </a:r>
            <a:r>
              <a:rPr sz="1635" i="1" spc="-15" dirty="0">
                <a:latin typeface="Arial"/>
                <a:cs typeface="Arial"/>
              </a:rPr>
              <a:t>systems </a:t>
            </a:r>
            <a:r>
              <a:rPr sz="1635" i="1" dirty="0">
                <a:latin typeface="Arial"/>
                <a:cs typeface="Arial"/>
              </a:rPr>
              <a:t>and</a:t>
            </a:r>
            <a:r>
              <a:rPr sz="1635" i="1" spc="-52" dirty="0">
                <a:latin typeface="Arial"/>
                <a:cs typeface="Arial"/>
              </a:rPr>
              <a:t> </a:t>
            </a:r>
            <a:r>
              <a:rPr sz="1635" i="1" spc="-15" dirty="0">
                <a:latin typeface="Arial"/>
                <a:cs typeface="Arial"/>
              </a:rPr>
              <a:t>applications.</a:t>
            </a:r>
            <a:r>
              <a:rPr sz="1635" i="1" spc="52" dirty="0">
                <a:latin typeface="Arial"/>
                <a:cs typeface="Arial"/>
              </a:rPr>
              <a:t> </a:t>
            </a:r>
            <a:r>
              <a:rPr sz="1635" i="1" dirty="0">
                <a:latin typeface="Arial"/>
                <a:cs typeface="Arial"/>
              </a:rPr>
              <a:t>The</a:t>
            </a:r>
            <a:r>
              <a:rPr sz="1635" i="1" spc="-45" dirty="0">
                <a:latin typeface="Arial"/>
                <a:cs typeface="Arial"/>
              </a:rPr>
              <a:t> </a:t>
            </a:r>
            <a:r>
              <a:rPr sz="1635" i="1" dirty="0">
                <a:latin typeface="Arial"/>
                <a:cs typeface="Arial"/>
              </a:rPr>
              <a:t>consumer</a:t>
            </a:r>
            <a:r>
              <a:rPr sz="1635" i="1" spc="-45" dirty="0">
                <a:latin typeface="Arial"/>
                <a:cs typeface="Arial"/>
              </a:rPr>
              <a:t> </a:t>
            </a:r>
            <a:r>
              <a:rPr sz="1635" i="1" dirty="0">
                <a:solidFill>
                  <a:srgbClr val="0000FF"/>
                </a:solidFill>
                <a:latin typeface="Arial"/>
                <a:cs typeface="Arial"/>
              </a:rPr>
              <a:t>does</a:t>
            </a:r>
            <a:r>
              <a:rPr sz="1635" i="1" spc="-45" dirty="0">
                <a:solidFill>
                  <a:srgbClr val="0000FF"/>
                </a:solidFill>
                <a:latin typeface="Arial"/>
                <a:cs typeface="Arial"/>
              </a:rPr>
              <a:t> </a:t>
            </a:r>
            <a:r>
              <a:rPr sz="1635" i="1" spc="-37" dirty="0">
                <a:solidFill>
                  <a:srgbClr val="0000FF"/>
                </a:solidFill>
                <a:latin typeface="Arial"/>
                <a:cs typeface="Arial"/>
              </a:rPr>
              <a:t>not </a:t>
            </a:r>
            <a:r>
              <a:rPr sz="1635" i="1" dirty="0">
                <a:solidFill>
                  <a:srgbClr val="0000FF"/>
                </a:solidFill>
                <a:latin typeface="Arial"/>
                <a:cs typeface="Arial"/>
              </a:rPr>
              <a:t>manage</a:t>
            </a:r>
            <a:r>
              <a:rPr sz="1635" i="1" spc="-59" dirty="0">
                <a:solidFill>
                  <a:srgbClr val="0000FF"/>
                </a:solidFill>
                <a:latin typeface="Arial"/>
                <a:cs typeface="Arial"/>
              </a:rPr>
              <a:t> </a:t>
            </a:r>
            <a:r>
              <a:rPr sz="1635" i="1" dirty="0">
                <a:solidFill>
                  <a:srgbClr val="0000FF"/>
                </a:solidFill>
                <a:latin typeface="Arial"/>
                <a:cs typeface="Arial"/>
              </a:rPr>
              <a:t>or</a:t>
            </a:r>
            <a:r>
              <a:rPr sz="1635" i="1" spc="-52" dirty="0">
                <a:solidFill>
                  <a:srgbClr val="0000FF"/>
                </a:solidFill>
                <a:latin typeface="Arial"/>
                <a:cs typeface="Arial"/>
              </a:rPr>
              <a:t> </a:t>
            </a:r>
            <a:r>
              <a:rPr sz="1635" i="1" dirty="0">
                <a:solidFill>
                  <a:srgbClr val="0000FF"/>
                </a:solidFill>
                <a:latin typeface="Arial"/>
                <a:cs typeface="Arial"/>
              </a:rPr>
              <a:t>control</a:t>
            </a:r>
            <a:r>
              <a:rPr sz="1635" i="1" spc="-52" dirty="0">
                <a:solidFill>
                  <a:srgbClr val="0000FF"/>
                </a:solidFill>
                <a:latin typeface="Arial"/>
                <a:cs typeface="Arial"/>
              </a:rPr>
              <a:t> </a:t>
            </a:r>
            <a:r>
              <a:rPr sz="1635" i="1" dirty="0">
                <a:solidFill>
                  <a:srgbClr val="0000FF"/>
                </a:solidFill>
                <a:latin typeface="Arial"/>
                <a:cs typeface="Arial"/>
              </a:rPr>
              <a:t>the</a:t>
            </a:r>
            <a:r>
              <a:rPr sz="1635" i="1" spc="-59" dirty="0">
                <a:solidFill>
                  <a:srgbClr val="0000FF"/>
                </a:solidFill>
                <a:latin typeface="Arial"/>
                <a:cs typeface="Arial"/>
              </a:rPr>
              <a:t> </a:t>
            </a:r>
            <a:r>
              <a:rPr sz="1635" i="1" dirty="0">
                <a:solidFill>
                  <a:srgbClr val="0000FF"/>
                </a:solidFill>
                <a:latin typeface="Arial"/>
                <a:cs typeface="Arial"/>
              </a:rPr>
              <a:t>underlying</a:t>
            </a:r>
            <a:r>
              <a:rPr sz="1635" i="1" spc="-52" dirty="0">
                <a:solidFill>
                  <a:srgbClr val="0000FF"/>
                </a:solidFill>
                <a:latin typeface="Arial"/>
                <a:cs typeface="Arial"/>
              </a:rPr>
              <a:t> </a:t>
            </a:r>
            <a:r>
              <a:rPr sz="1635" i="1" spc="-15" dirty="0">
                <a:solidFill>
                  <a:srgbClr val="0000FF"/>
                </a:solidFill>
                <a:latin typeface="Arial"/>
                <a:cs typeface="Arial"/>
              </a:rPr>
              <a:t>cloud </a:t>
            </a:r>
            <a:r>
              <a:rPr sz="1635" i="1" dirty="0">
                <a:solidFill>
                  <a:srgbClr val="0000FF"/>
                </a:solidFill>
                <a:latin typeface="Arial"/>
                <a:cs typeface="Arial"/>
              </a:rPr>
              <a:t>infrastructure</a:t>
            </a:r>
            <a:r>
              <a:rPr sz="1635" i="1" spc="-67" dirty="0">
                <a:solidFill>
                  <a:srgbClr val="0000FF"/>
                </a:solidFill>
                <a:latin typeface="Arial"/>
                <a:cs typeface="Arial"/>
              </a:rPr>
              <a:t> </a:t>
            </a:r>
            <a:r>
              <a:rPr sz="1635" i="1" dirty="0">
                <a:latin typeface="Arial"/>
                <a:cs typeface="Arial"/>
              </a:rPr>
              <a:t>but</a:t>
            </a:r>
            <a:r>
              <a:rPr sz="1635" i="1" spc="-59" dirty="0">
                <a:latin typeface="Arial"/>
                <a:cs typeface="Arial"/>
              </a:rPr>
              <a:t> </a:t>
            </a:r>
            <a:r>
              <a:rPr sz="1635" i="1" dirty="0">
                <a:latin typeface="Arial"/>
                <a:cs typeface="Arial"/>
              </a:rPr>
              <a:t>has</a:t>
            </a:r>
            <a:r>
              <a:rPr sz="1635" i="1" spc="-67" dirty="0">
                <a:latin typeface="Arial"/>
                <a:cs typeface="Arial"/>
              </a:rPr>
              <a:t> </a:t>
            </a:r>
            <a:r>
              <a:rPr sz="1635" i="1" dirty="0">
                <a:latin typeface="Arial"/>
                <a:cs typeface="Arial"/>
              </a:rPr>
              <a:t>control</a:t>
            </a:r>
            <a:r>
              <a:rPr sz="1635" i="1" spc="-59" dirty="0">
                <a:latin typeface="Arial"/>
                <a:cs typeface="Arial"/>
              </a:rPr>
              <a:t> </a:t>
            </a:r>
            <a:r>
              <a:rPr sz="1635" i="1" spc="-15" dirty="0">
                <a:latin typeface="Arial"/>
                <a:cs typeface="Arial"/>
              </a:rPr>
              <a:t>over</a:t>
            </a:r>
            <a:r>
              <a:rPr sz="1635" i="1" spc="-67" dirty="0">
                <a:latin typeface="Arial"/>
                <a:cs typeface="Arial"/>
              </a:rPr>
              <a:t> </a:t>
            </a:r>
            <a:r>
              <a:rPr sz="1635" i="1" spc="-15" dirty="0">
                <a:latin typeface="Arial"/>
                <a:cs typeface="Arial"/>
              </a:rPr>
              <a:t>operating </a:t>
            </a:r>
            <a:r>
              <a:rPr sz="1635" i="1" dirty="0">
                <a:latin typeface="Arial"/>
                <a:cs typeface="Arial"/>
              </a:rPr>
              <a:t>systems,</a:t>
            </a:r>
            <a:r>
              <a:rPr sz="1635" i="1" spc="-82" dirty="0">
                <a:latin typeface="Arial"/>
                <a:cs typeface="Arial"/>
              </a:rPr>
              <a:t> </a:t>
            </a:r>
            <a:r>
              <a:rPr sz="1635" i="1" dirty="0">
                <a:latin typeface="Arial"/>
                <a:cs typeface="Arial"/>
              </a:rPr>
              <a:t>storage,</a:t>
            </a:r>
            <a:r>
              <a:rPr sz="1635" i="1" spc="-82" dirty="0">
                <a:latin typeface="Arial"/>
                <a:cs typeface="Arial"/>
              </a:rPr>
              <a:t> </a:t>
            </a:r>
            <a:r>
              <a:rPr sz="1635" i="1" dirty="0">
                <a:latin typeface="Arial"/>
                <a:cs typeface="Arial"/>
              </a:rPr>
              <a:t>and</a:t>
            </a:r>
            <a:r>
              <a:rPr sz="1635" i="1" spc="-82" dirty="0">
                <a:latin typeface="Arial"/>
                <a:cs typeface="Arial"/>
              </a:rPr>
              <a:t> </a:t>
            </a:r>
            <a:r>
              <a:rPr sz="1635" i="1" spc="-15" dirty="0">
                <a:latin typeface="Arial"/>
                <a:cs typeface="Arial"/>
              </a:rPr>
              <a:t>deployed</a:t>
            </a:r>
            <a:r>
              <a:rPr sz="1635" i="1" spc="-82" dirty="0">
                <a:latin typeface="Arial"/>
                <a:cs typeface="Arial"/>
              </a:rPr>
              <a:t> </a:t>
            </a:r>
            <a:r>
              <a:rPr sz="1635" i="1" spc="-15" dirty="0">
                <a:latin typeface="Arial"/>
                <a:cs typeface="Arial"/>
              </a:rPr>
              <a:t>applications; </a:t>
            </a:r>
            <a:r>
              <a:rPr sz="1635" i="1" dirty="0">
                <a:latin typeface="Arial"/>
                <a:cs typeface="Arial"/>
              </a:rPr>
              <a:t>and</a:t>
            </a:r>
            <a:r>
              <a:rPr sz="1635" i="1" spc="-52" dirty="0">
                <a:latin typeface="Arial"/>
                <a:cs typeface="Arial"/>
              </a:rPr>
              <a:t> </a:t>
            </a:r>
            <a:r>
              <a:rPr sz="1635" i="1" spc="-15" dirty="0">
                <a:latin typeface="Arial"/>
                <a:cs typeface="Arial"/>
              </a:rPr>
              <a:t>possibly</a:t>
            </a:r>
            <a:r>
              <a:rPr sz="1635" i="1" spc="-52" dirty="0">
                <a:latin typeface="Arial"/>
                <a:cs typeface="Arial"/>
              </a:rPr>
              <a:t> </a:t>
            </a:r>
            <a:r>
              <a:rPr sz="1635" i="1" dirty="0">
                <a:latin typeface="Arial"/>
                <a:cs typeface="Arial"/>
              </a:rPr>
              <a:t>limited</a:t>
            </a:r>
            <a:r>
              <a:rPr sz="1635" i="1" spc="-52" dirty="0">
                <a:latin typeface="Arial"/>
                <a:cs typeface="Arial"/>
              </a:rPr>
              <a:t> </a:t>
            </a:r>
            <a:r>
              <a:rPr sz="1635" i="1" dirty="0">
                <a:latin typeface="Arial"/>
                <a:cs typeface="Arial"/>
              </a:rPr>
              <a:t>control</a:t>
            </a:r>
            <a:r>
              <a:rPr sz="1635" i="1" spc="-52" dirty="0">
                <a:latin typeface="Arial"/>
                <a:cs typeface="Arial"/>
              </a:rPr>
              <a:t> </a:t>
            </a:r>
            <a:r>
              <a:rPr sz="1635" i="1" dirty="0">
                <a:latin typeface="Arial"/>
                <a:cs typeface="Arial"/>
              </a:rPr>
              <a:t>of</a:t>
            </a:r>
            <a:r>
              <a:rPr sz="1635" i="1" spc="-52" dirty="0">
                <a:latin typeface="Arial"/>
                <a:cs typeface="Arial"/>
              </a:rPr>
              <a:t> </a:t>
            </a:r>
            <a:r>
              <a:rPr sz="1635" i="1" dirty="0">
                <a:latin typeface="Arial"/>
                <a:cs typeface="Arial"/>
              </a:rPr>
              <a:t>select</a:t>
            </a:r>
            <a:r>
              <a:rPr sz="1635" i="1" spc="-52" dirty="0">
                <a:latin typeface="Arial"/>
                <a:cs typeface="Arial"/>
              </a:rPr>
              <a:t> </a:t>
            </a:r>
            <a:r>
              <a:rPr sz="1635" i="1" spc="-15" dirty="0">
                <a:latin typeface="Arial"/>
                <a:cs typeface="Arial"/>
              </a:rPr>
              <a:t>networking </a:t>
            </a:r>
            <a:r>
              <a:rPr sz="1635" i="1" dirty="0">
                <a:latin typeface="Arial"/>
                <a:cs typeface="Arial"/>
              </a:rPr>
              <a:t>components</a:t>
            </a:r>
            <a:r>
              <a:rPr sz="1635" i="1" spc="-67" dirty="0">
                <a:latin typeface="Arial"/>
                <a:cs typeface="Arial"/>
              </a:rPr>
              <a:t> </a:t>
            </a:r>
            <a:r>
              <a:rPr sz="1635" i="1" dirty="0">
                <a:latin typeface="Arial"/>
                <a:cs typeface="Arial"/>
              </a:rPr>
              <a:t>(e.g.,</a:t>
            </a:r>
            <a:r>
              <a:rPr sz="1635" i="1" spc="-59" dirty="0">
                <a:latin typeface="Arial"/>
                <a:cs typeface="Arial"/>
              </a:rPr>
              <a:t> </a:t>
            </a:r>
            <a:r>
              <a:rPr sz="1635" i="1" dirty="0">
                <a:latin typeface="Arial"/>
                <a:cs typeface="Arial"/>
              </a:rPr>
              <a:t>host</a:t>
            </a:r>
            <a:r>
              <a:rPr sz="1635" i="1" spc="-67" dirty="0">
                <a:latin typeface="Arial"/>
                <a:cs typeface="Arial"/>
              </a:rPr>
              <a:t> </a:t>
            </a:r>
            <a:r>
              <a:rPr sz="1635" i="1" spc="-15" dirty="0">
                <a:latin typeface="Arial"/>
                <a:cs typeface="Arial"/>
              </a:rPr>
              <a:t>firewalls).”</a:t>
            </a:r>
            <a:endParaRPr sz="1635" dirty="0">
              <a:latin typeface="Arial"/>
              <a:cs typeface="Arial"/>
            </a:endParaRPr>
          </a:p>
        </p:txBody>
      </p:sp>
      <p:sp>
        <p:nvSpPr>
          <p:cNvPr id="30" name="object 30"/>
          <p:cNvSpPr/>
          <p:nvPr/>
        </p:nvSpPr>
        <p:spPr>
          <a:xfrm>
            <a:off x="1314276" y="4221345"/>
            <a:ext cx="2718033"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endParaRPr sz="2675"/>
          </a:p>
        </p:txBody>
      </p:sp>
      <p:sp>
        <p:nvSpPr>
          <p:cNvPr id="31" name="object 31"/>
          <p:cNvSpPr txBox="1"/>
          <p:nvPr/>
        </p:nvSpPr>
        <p:spPr>
          <a:xfrm>
            <a:off x="1257651" y="4237267"/>
            <a:ext cx="5176532" cy="632468"/>
          </a:xfrm>
          <a:prstGeom prst="rect">
            <a:avLst/>
          </a:prstGeom>
        </p:spPr>
        <p:txBody>
          <a:bodyPr vert="horz" wrap="square" lIns="0" tIns="15100" rIns="0" bIns="0" rtlCol="0">
            <a:spAutoFit/>
          </a:bodyPr>
          <a:lstStyle/>
          <a:p>
            <a:pPr marL="56624" marR="45299" indent="232159">
              <a:lnSpc>
                <a:spcPct val="101499"/>
              </a:lnSpc>
              <a:spcBef>
                <a:spcPts val="119"/>
              </a:spcBef>
            </a:pPr>
            <a:r>
              <a:rPr sz="1338" baseline="37037" dirty="0">
                <a:latin typeface="Arial MT"/>
                <a:cs typeface="Arial MT"/>
              </a:rPr>
              <a:t>2</a:t>
            </a:r>
            <a:r>
              <a:rPr sz="1338" dirty="0">
                <a:latin typeface="Arial MT"/>
                <a:cs typeface="Arial MT"/>
              </a:rPr>
              <a:t>Mell,</a:t>
            </a:r>
            <a:r>
              <a:rPr sz="1338" spc="-37" dirty="0">
                <a:latin typeface="Arial MT"/>
                <a:cs typeface="Arial MT"/>
              </a:rPr>
              <a:t> </a:t>
            </a:r>
            <a:r>
              <a:rPr sz="1338" spc="-30" dirty="0">
                <a:latin typeface="Arial MT"/>
                <a:cs typeface="Arial MT"/>
              </a:rPr>
              <a:t>Peter, </a:t>
            </a:r>
            <a:r>
              <a:rPr sz="1338" dirty="0">
                <a:latin typeface="Arial MT"/>
                <a:cs typeface="Arial MT"/>
              </a:rPr>
              <a:t>and</a:t>
            </a:r>
            <a:r>
              <a:rPr sz="1338" spc="-30" dirty="0">
                <a:latin typeface="Arial MT"/>
                <a:cs typeface="Arial MT"/>
              </a:rPr>
              <a:t> </a:t>
            </a:r>
            <a:r>
              <a:rPr sz="1338" dirty="0">
                <a:latin typeface="Arial MT"/>
                <a:cs typeface="Arial MT"/>
              </a:rPr>
              <a:t>Tim</a:t>
            </a:r>
            <a:r>
              <a:rPr sz="1338" spc="-30" dirty="0">
                <a:latin typeface="Arial MT"/>
                <a:cs typeface="Arial MT"/>
              </a:rPr>
              <a:t> </a:t>
            </a:r>
            <a:r>
              <a:rPr sz="1338" dirty="0">
                <a:latin typeface="Arial MT"/>
                <a:cs typeface="Arial MT"/>
              </a:rPr>
              <a:t>Grance.</a:t>
            </a:r>
            <a:r>
              <a:rPr sz="1338" spc="52" dirty="0">
                <a:latin typeface="Arial MT"/>
                <a:cs typeface="Arial MT"/>
              </a:rPr>
              <a:t> </a:t>
            </a:r>
            <a:r>
              <a:rPr sz="1338" dirty="0">
                <a:latin typeface="Arial MT"/>
                <a:cs typeface="Arial MT"/>
              </a:rPr>
              <a:t>”The</a:t>
            </a:r>
            <a:r>
              <a:rPr sz="1338" spc="-30" dirty="0">
                <a:latin typeface="Arial MT"/>
                <a:cs typeface="Arial MT"/>
              </a:rPr>
              <a:t> </a:t>
            </a:r>
            <a:r>
              <a:rPr sz="1338" dirty="0">
                <a:latin typeface="Arial MT"/>
                <a:cs typeface="Arial MT"/>
              </a:rPr>
              <a:t>NIST</a:t>
            </a:r>
            <a:r>
              <a:rPr sz="1338" spc="-30" dirty="0">
                <a:latin typeface="Arial MT"/>
                <a:cs typeface="Arial MT"/>
              </a:rPr>
              <a:t> </a:t>
            </a:r>
            <a:r>
              <a:rPr sz="1338" dirty="0">
                <a:latin typeface="Arial MT"/>
                <a:cs typeface="Arial MT"/>
              </a:rPr>
              <a:t>definition</a:t>
            </a:r>
            <a:r>
              <a:rPr sz="1338" spc="-30" dirty="0">
                <a:latin typeface="Arial MT"/>
                <a:cs typeface="Arial MT"/>
              </a:rPr>
              <a:t> </a:t>
            </a:r>
            <a:r>
              <a:rPr sz="1338" dirty="0">
                <a:latin typeface="Arial MT"/>
                <a:cs typeface="Arial MT"/>
              </a:rPr>
              <a:t>of</a:t>
            </a:r>
            <a:r>
              <a:rPr sz="1338" spc="-30" dirty="0">
                <a:latin typeface="Arial MT"/>
                <a:cs typeface="Arial MT"/>
              </a:rPr>
              <a:t> </a:t>
            </a:r>
            <a:r>
              <a:rPr sz="1338" spc="-15" dirty="0">
                <a:latin typeface="Arial MT"/>
                <a:cs typeface="Arial MT"/>
              </a:rPr>
              <a:t>cloud computing.”</a:t>
            </a:r>
            <a:r>
              <a:rPr sz="1338" spc="-45" dirty="0">
                <a:latin typeface="Arial MT"/>
                <a:cs typeface="Arial MT"/>
              </a:rPr>
              <a:t> </a:t>
            </a:r>
            <a:r>
              <a:rPr sz="1338" dirty="0">
                <a:latin typeface="Arial MT"/>
                <a:cs typeface="Arial MT"/>
              </a:rPr>
              <a:t>(2011):</a:t>
            </a:r>
            <a:r>
              <a:rPr sz="1338" spc="30" dirty="0">
                <a:latin typeface="Arial MT"/>
                <a:cs typeface="Arial MT"/>
              </a:rPr>
              <a:t> </a:t>
            </a:r>
            <a:r>
              <a:rPr sz="1338" spc="119" dirty="0">
                <a:latin typeface="Calibri"/>
                <a:cs typeface="Calibri"/>
                <a:hlinkClick r:id="rId2"/>
              </a:rPr>
              <a:t>http://nvlpubs.nist.gov/nistpubs/Legacy/</a:t>
            </a:r>
            <a:r>
              <a:rPr sz="1338" spc="119" dirty="0">
                <a:latin typeface="Calibri"/>
                <a:cs typeface="Calibri"/>
              </a:rPr>
              <a:t> </a:t>
            </a:r>
            <a:r>
              <a:rPr sz="1338" spc="141" dirty="0">
                <a:latin typeface="Calibri"/>
                <a:cs typeface="Calibri"/>
                <a:hlinkClick r:id="rId2"/>
              </a:rPr>
              <a:t>SP/nistspecialpublication800-</a:t>
            </a:r>
            <a:r>
              <a:rPr sz="1338" spc="82" dirty="0">
                <a:latin typeface="Calibri"/>
                <a:cs typeface="Calibri"/>
                <a:hlinkClick r:id="rId3" action="ppaction://hlinksldjump"/>
              </a:rPr>
              <a:t>145.pdf</a:t>
            </a:r>
            <a:endParaRPr sz="1338">
              <a:latin typeface="Calibri"/>
              <a:cs typeface="Calibri"/>
            </a:endParaRPr>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533400" y="8659"/>
            <a:ext cx="5122207" cy="456618"/>
          </a:xfrm>
          <a:prstGeom prst="rect">
            <a:avLst/>
          </a:prstGeom>
        </p:spPr>
        <p:txBody>
          <a:bodyPr vert="horz" wrap="square" lIns="0" tIns="25482" rIns="0" bIns="0" rtlCol="0">
            <a:spAutoFit/>
          </a:bodyPr>
          <a:lstStyle/>
          <a:p>
            <a:pPr marL="18875">
              <a:spcBef>
                <a:spcPts val="201"/>
              </a:spcBef>
            </a:pPr>
            <a:r>
              <a:rPr dirty="0"/>
              <a:t>Main</a:t>
            </a:r>
            <a:r>
              <a:rPr spc="111" dirty="0"/>
              <a:t> </a:t>
            </a:r>
            <a:r>
              <a:rPr dirty="0"/>
              <a:t>Service</a:t>
            </a:r>
            <a:r>
              <a:rPr spc="119" dirty="0"/>
              <a:t> </a:t>
            </a:r>
            <a:r>
              <a:rPr dirty="0"/>
              <a:t>Models:</a:t>
            </a:r>
            <a:r>
              <a:rPr spc="282" dirty="0"/>
              <a:t> </a:t>
            </a:r>
            <a:r>
              <a:rPr spc="-30" dirty="0"/>
              <a:t>IaaS</a:t>
            </a:r>
          </a:p>
        </p:txBody>
      </p:sp>
      <p:sp>
        <p:nvSpPr>
          <p:cNvPr id="29" name="object 29"/>
          <p:cNvSpPr txBox="1"/>
          <p:nvPr/>
        </p:nvSpPr>
        <p:spPr>
          <a:xfrm>
            <a:off x="685800" y="666750"/>
            <a:ext cx="8077200" cy="4127956"/>
          </a:xfrm>
          <a:prstGeom prst="rect">
            <a:avLst/>
          </a:prstGeom>
        </p:spPr>
        <p:txBody>
          <a:bodyPr vert="horz" wrap="square" lIns="0" tIns="10381" rIns="0" bIns="0" rtlCol="0">
            <a:spAutoFit/>
          </a:bodyPr>
          <a:lstStyle/>
          <a:p>
            <a:pPr marL="18875" marR="1041886">
              <a:lnSpc>
                <a:spcPct val="102600"/>
              </a:lnSpc>
              <a:spcBef>
                <a:spcPts val="82"/>
              </a:spcBef>
            </a:pPr>
            <a:r>
              <a:rPr dirty="0">
                <a:latin typeface="Trebuchet MS" panose="020B0603020202020204" pitchFamily="34" charset="0"/>
                <a:cs typeface="Arial MT"/>
              </a:rPr>
              <a:t>So</a:t>
            </a:r>
            <a:r>
              <a:rPr spc="-59" dirty="0">
                <a:latin typeface="Trebuchet MS" panose="020B0603020202020204" pitchFamily="34" charset="0"/>
                <a:cs typeface="Arial MT"/>
              </a:rPr>
              <a:t> </a:t>
            </a:r>
            <a:r>
              <a:rPr dirty="0">
                <a:latin typeface="Trebuchet MS" panose="020B0603020202020204" pitchFamily="34" charset="0"/>
                <a:cs typeface="Arial MT"/>
              </a:rPr>
              <a:t>the</a:t>
            </a:r>
            <a:r>
              <a:rPr spc="-59" dirty="0">
                <a:latin typeface="Trebuchet MS" panose="020B0603020202020204" pitchFamily="34" charset="0"/>
                <a:cs typeface="Arial MT"/>
              </a:rPr>
              <a:t> </a:t>
            </a:r>
            <a:r>
              <a:rPr dirty="0">
                <a:latin typeface="Trebuchet MS" panose="020B0603020202020204" pitchFamily="34" charset="0"/>
                <a:cs typeface="Arial MT"/>
              </a:rPr>
              <a:t>main</a:t>
            </a:r>
            <a:r>
              <a:rPr spc="-59" dirty="0">
                <a:latin typeface="Trebuchet MS" panose="020B0603020202020204" pitchFamily="34" charset="0"/>
                <a:cs typeface="Arial MT"/>
              </a:rPr>
              <a:t> </a:t>
            </a:r>
            <a:r>
              <a:rPr dirty="0">
                <a:latin typeface="Trebuchet MS" panose="020B0603020202020204" pitchFamily="34" charset="0"/>
                <a:cs typeface="Arial MT"/>
              </a:rPr>
              <a:t>resources</a:t>
            </a:r>
            <a:r>
              <a:rPr spc="-52" dirty="0">
                <a:latin typeface="Trebuchet MS" panose="020B0603020202020204" pitchFamily="34" charset="0"/>
                <a:cs typeface="Arial MT"/>
              </a:rPr>
              <a:t> </a:t>
            </a:r>
            <a:r>
              <a:rPr dirty="0">
                <a:latin typeface="Trebuchet MS" panose="020B0603020202020204" pitchFamily="34" charset="0"/>
                <a:cs typeface="Arial MT"/>
              </a:rPr>
              <a:t>being</a:t>
            </a:r>
            <a:r>
              <a:rPr spc="-59" dirty="0">
                <a:latin typeface="Trebuchet MS" panose="020B0603020202020204" pitchFamily="34" charset="0"/>
                <a:cs typeface="Arial MT"/>
              </a:rPr>
              <a:t> </a:t>
            </a:r>
            <a:r>
              <a:rPr spc="-15" dirty="0">
                <a:latin typeface="Trebuchet MS" panose="020B0603020202020204" pitchFamily="34" charset="0"/>
                <a:cs typeface="Arial MT"/>
              </a:rPr>
              <a:t>provided:</a:t>
            </a:r>
            <a:endParaRPr lang="en-US" spc="743" dirty="0">
              <a:latin typeface="Trebuchet MS" panose="020B0603020202020204" pitchFamily="34" charset="0"/>
              <a:cs typeface="Arial MT"/>
            </a:endParaRPr>
          </a:p>
          <a:p>
            <a:pPr marL="304625" marR="1041886" indent="-285750">
              <a:lnSpc>
                <a:spcPct val="102600"/>
              </a:lnSpc>
              <a:spcBef>
                <a:spcPts val="82"/>
              </a:spcBef>
              <a:buFont typeface="Arial" panose="020B0604020202020204" pitchFamily="34" charset="0"/>
              <a:buChar char="•"/>
            </a:pPr>
            <a:r>
              <a:rPr dirty="0">
                <a:latin typeface="Trebuchet MS" panose="020B0603020202020204" pitchFamily="34" charset="0"/>
                <a:cs typeface="Arial MT"/>
              </a:rPr>
              <a:t>Servers</a:t>
            </a:r>
            <a:r>
              <a:rPr spc="-37" dirty="0">
                <a:latin typeface="Trebuchet MS" panose="020B0603020202020204" pitchFamily="34" charset="0"/>
                <a:cs typeface="Arial MT"/>
              </a:rPr>
              <a:t> </a:t>
            </a:r>
            <a:r>
              <a:rPr dirty="0">
                <a:latin typeface="Trebuchet MS" panose="020B0603020202020204" pitchFamily="34" charset="0"/>
                <a:cs typeface="Arial MT"/>
              </a:rPr>
              <a:t>(with</a:t>
            </a:r>
            <a:r>
              <a:rPr spc="-37" dirty="0">
                <a:latin typeface="Trebuchet MS" panose="020B0603020202020204" pitchFamily="34" charset="0"/>
                <a:cs typeface="Arial MT"/>
              </a:rPr>
              <a:t> </a:t>
            </a:r>
            <a:r>
              <a:rPr spc="-15" dirty="0">
                <a:latin typeface="Trebuchet MS" panose="020B0603020202020204" pitchFamily="34" charset="0"/>
                <a:cs typeface="Arial MT"/>
              </a:rPr>
              <a:t>CPU,</a:t>
            </a:r>
            <a:r>
              <a:rPr spc="-37" dirty="0">
                <a:latin typeface="Trebuchet MS" panose="020B0603020202020204" pitchFamily="34" charset="0"/>
                <a:cs typeface="Arial MT"/>
              </a:rPr>
              <a:t> </a:t>
            </a:r>
            <a:r>
              <a:rPr spc="-15" dirty="0">
                <a:latin typeface="Trebuchet MS" panose="020B0603020202020204" pitchFamily="34" charset="0"/>
                <a:cs typeface="Arial MT"/>
              </a:rPr>
              <a:t>Cache,</a:t>
            </a:r>
            <a:r>
              <a:rPr spc="-37" dirty="0">
                <a:latin typeface="Trebuchet MS" panose="020B0603020202020204" pitchFamily="34" charset="0"/>
                <a:cs typeface="Arial MT"/>
              </a:rPr>
              <a:t> </a:t>
            </a:r>
            <a:r>
              <a:rPr dirty="0">
                <a:latin typeface="Trebuchet MS" panose="020B0603020202020204" pitchFamily="34" charset="0"/>
                <a:cs typeface="Arial MT"/>
              </a:rPr>
              <a:t>RAM,</a:t>
            </a:r>
            <a:r>
              <a:rPr spc="-37" dirty="0">
                <a:latin typeface="Trebuchet MS" panose="020B0603020202020204" pitchFamily="34" charset="0"/>
                <a:cs typeface="Arial MT"/>
              </a:rPr>
              <a:t> </a:t>
            </a:r>
            <a:r>
              <a:rPr spc="-15" dirty="0" err="1">
                <a:latin typeface="Trebuchet MS" panose="020B0603020202020204" pitchFamily="34" charset="0"/>
                <a:cs typeface="Arial MT"/>
              </a:rPr>
              <a:t>etc</a:t>
            </a:r>
            <a:r>
              <a:rPr spc="-15" dirty="0">
                <a:latin typeface="Trebuchet MS" panose="020B0603020202020204" pitchFamily="34" charset="0"/>
                <a:cs typeface="Arial MT"/>
              </a:rPr>
              <a:t>)</a:t>
            </a:r>
            <a:endParaRPr lang="en-US" spc="30" dirty="0">
              <a:latin typeface="Trebuchet MS" panose="020B0603020202020204" pitchFamily="34" charset="0"/>
              <a:cs typeface="Times New Roman"/>
            </a:endParaRPr>
          </a:p>
          <a:p>
            <a:pPr marL="304625" marR="1041886" indent="-285750">
              <a:lnSpc>
                <a:spcPct val="102600"/>
              </a:lnSpc>
              <a:spcBef>
                <a:spcPts val="82"/>
              </a:spcBef>
              <a:buFont typeface="Arial" panose="020B0604020202020204" pitchFamily="34" charset="0"/>
              <a:buChar char="•"/>
            </a:pPr>
            <a:r>
              <a:rPr dirty="0">
                <a:latin typeface="Trebuchet MS" panose="020B0603020202020204" pitchFamily="34" charset="0"/>
                <a:cs typeface="Arial MT"/>
              </a:rPr>
              <a:t>Disk</a:t>
            </a:r>
            <a:r>
              <a:rPr spc="-15" dirty="0">
                <a:latin typeface="Trebuchet MS" panose="020B0603020202020204" pitchFamily="34" charset="0"/>
                <a:cs typeface="Arial MT"/>
              </a:rPr>
              <a:t> </a:t>
            </a:r>
            <a:r>
              <a:rPr dirty="0">
                <a:latin typeface="Trebuchet MS" panose="020B0603020202020204" pitchFamily="34" charset="0"/>
                <a:cs typeface="Arial MT"/>
              </a:rPr>
              <a:t>Storage</a:t>
            </a:r>
            <a:r>
              <a:rPr spc="-15" dirty="0">
                <a:latin typeface="Trebuchet MS" panose="020B0603020202020204" pitchFamily="34" charset="0"/>
                <a:cs typeface="Arial MT"/>
              </a:rPr>
              <a:t> </a:t>
            </a:r>
            <a:endParaRPr lang="en-US" spc="-15" dirty="0">
              <a:latin typeface="Trebuchet MS" panose="020B0603020202020204" pitchFamily="34" charset="0"/>
              <a:cs typeface="Times New Roman"/>
            </a:endParaRPr>
          </a:p>
          <a:p>
            <a:pPr marL="304625" marR="1041886" indent="-285750">
              <a:lnSpc>
                <a:spcPct val="102600"/>
              </a:lnSpc>
              <a:spcBef>
                <a:spcPts val="82"/>
              </a:spcBef>
              <a:buFont typeface="Arial" panose="020B0604020202020204" pitchFamily="34" charset="0"/>
              <a:buChar char="•"/>
            </a:pPr>
            <a:r>
              <a:rPr spc="-15" dirty="0">
                <a:latin typeface="Trebuchet MS" panose="020B0603020202020204" pitchFamily="34" charset="0"/>
                <a:cs typeface="Arial MT"/>
              </a:rPr>
              <a:t>Networking.</a:t>
            </a:r>
            <a:endParaRPr dirty="0">
              <a:latin typeface="Trebuchet MS" panose="020B0603020202020204" pitchFamily="34" charset="0"/>
              <a:cs typeface="Arial MT"/>
            </a:endParaRPr>
          </a:p>
          <a:p>
            <a:pPr marL="18875" marR="7550">
              <a:lnSpc>
                <a:spcPct val="102600"/>
              </a:lnSpc>
              <a:spcBef>
                <a:spcPts val="446"/>
              </a:spcBef>
            </a:pPr>
            <a:r>
              <a:rPr dirty="0">
                <a:latin typeface="Trebuchet MS" panose="020B0603020202020204" pitchFamily="34" charset="0"/>
                <a:cs typeface="Arial MT"/>
              </a:rPr>
              <a:t>In</a:t>
            </a:r>
            <a:r>
              <a:rPr spc="-52" dirty="0">
                <a:latin typeface="Trebuchet MS" panose="020B0603020202020204" pitchFamily="34" charset="0"/>
                <a:cs typeface="Arial MT"/>
              </a:rPr>
              <a:t> </a:t>
            </a:r>
            <a:r>
              <a:rPr dirty="0">
                <a:latin typeface="Trebuchet MS" panose="020B0603020202020204" pitchFamily="34" charset="0"/>
                <a:cs typeface="Arial MT"/>
              </a:rPr>
              <a:t>particular,</a:t>
            </a:r>
            <a:r>
              <a:rPr spc="-52" dirty="0">
                <a:latin typeface="Trebuchet MS" panose="020B0603020202020204" pitchFamily="34" charset="0"/>
                <a:cs typeface="Arial MT"/>
              </a:rPr>
              <a:t> </a:t>
            </a:r>
            <a:r>
              <a:rPr dirty="0">
                <a:latin typeface="Trebuchet MS" panose="020B0603020202020204" pitchFamily="34" charset="0"/>
                <a:cs typeface="Arial MT"/>
              </a:rPr>
              <a:t>the</a:t>
            </a:r>
            <a:r>
              <a:rPr spc="-52" dirty="0">
                <a:latin typeface="Trebuchet MS" panose="020B0603020202020204" pitchFamily="34" charset="0"/>
                <a:cs typeface="Arial MT"/>
              </a:rPr>
              <a:t> </a:t>
            </a:r>
            <a:r>
              <a:rPr dirty="0">
                <a:latin typeface="Trebuchet MS" panose="020B0603020202020204" pitchFamily="34" charset="0"/>
                <a:cs typeface="Arial MT"/>
              </a:rPr>
              <a:t>consumer</a:t>
            </a:r>
            <a:r>
              <a:rPr spc="-52" dirty="0">
                <a:latin typeface="Trebuchet MS" panose="020B0603020202020204" pitchFamily="34" charset="0"/>
                <a:cs typeface="Arial MT"/>
              </a:rPr>
              <a:t> </a:t>
            </a:r>
            <a:r>
              <a:rPr dirty="0">
                <a:latin typeface="Trebuchet MS" panose="020B0603020202020204" pitchFamily="34" charset="0"/>
                <a:cs typeface="Arial MT"/>
              </a:rPr>
              <a:t>has</a:t>
            </a:r>
            <a:r>
              <a:rPr spc="-52" dirty="0">
                <a:latin typeface="Trebuchet MS" panose="020B0603020202020204" pitchFamily="34" charset="0"/>
                <a:cs typeface="Arial MT"/>
              </a:rPr>
              <a:t> </a:t>
            </a:r>
            <a:r>
              <a:rPr dirty="0">
                <a:latin typeface="Trebuchet MS" panose="020B0603020202020204" pitchFamily="34" charset="0"/>
                <a:cs typeface="Arial MT"/>
              </a:rPr>
              <a:t>to</a:t>
            </a:r>
            <a:r>
              <a:rPr spc="-52" dirty="0">
                <a:latin typeface="Trebuchet MS" panose="020B0603020202020204" pitchFamily="34" charset="0"/>
                <a:cs typeface="Arial MT"/>
              </a:rPr>
              <a:t> </a:t>
            </a:r>
            <a:r>
              <a:rPr dirty="0">
                <a:latin typeface="Trebuchet MS" panose="020B0603020202020204" pitchFamily="34" charset="0"/>
                <a:cs typeface="Arial MT"/>
              </a:rPr>
              <a:t>install</a:t>
            </a:r>
            <a:r>
              <a:rPr spc="-52" dirty="0">
                <a:latin typeface="Trebuchet MS" panose="020B0603020202020204" pitchFamily="34" charset="0"/>
                <a:cs typeface="Arial MT"/>
              </a:rPr>
              <a:t> </a:t>
            </a:r>
            <a:r>
              <a:rPr dirty="0">
                <a:latin typeface="Trebuchet MS" panose="020B0603020202020204" pitchFamily="34" charset="0"/>
                <a:cs typeface="Arial MT"/>
              </a:rPr>
              <a:t>the</a:t>
            </a:r>
            <a:r>
              <a:rPr spc="-52" dirty="0">
                <a:latin typeface="Trebuchet MS" panose="020B0603020202020204" pitchFamily="34" charset="0"/>
                <a:cs typeface="Arial MT"/>
              </a:rPr>
              <a:t> </a:t>
            </a:r>
            <a:r>
              <a:rPr dirty="0">
                <a:latin typeface="Trebuchet MS" panose="020B0603020202020204" pitchFamily="34" charset="0"/>
                <a:cs typeface="Arial MT"/>
              </a:rPr>
              <a:t>OS,</a:t>
            </a:r>
            <a:r>
              <a:rPr spc="-52" dirty="0">
                <a:latin typeface="Trebuchet MS" panose="020B0603020202020204" pitchFamily="34" charset="0"/>
                <a:cs typeface="Arial MT"/>
              </a:rPr>
              <a:t> </a:t>
            </a:r>
            <a:r>
              <a:rPr spc="-37" dirty="0">
                <a:latin typeface="Trebuchet MS" panose="020B0603020202020204" pitchFamily="34" charset="0"/>
                <a:cs typeface="Arial MT"/>
              </a:rPr>
              <a:t>the </a:t>
            </a:r>
            <a:r>
              <a:rPr spc="-15" dirty="0">
                <a:latin typeface="Trebuchet MS" panose="020B0603020202020204" pitchFamily="34" charset="0"/>
                <a:cs typeface="Arial MT"/>
              </a:rPr>
              <a:t>application</a:t>
            </a:r>
            <a:r>
              <a:rPr spc="-45" dirty="0">
                <a:latin typeface="Trebuchet MS" panose="020B0603020202020204" pitchFamily="34" charset="0"/>
                <a:cs typeface="Arial MT"/>
              </a:rPr>
              <a:t> </a:t>
            </a:r>
            <a:r>
              <a:rPr dirty="0">
                <a:latin typeface="Trebuchet MS" panose="020B0603020202020204" pitchFamily="34" charset="0"/>
                <a:cs typeface="Arial MT"/>
              </a:rPr>
              <a:t>server</a:t>
            </a:r>
            <a:r>
              <a:rPr spc="-37" dirty="0">
                <a:latin typeface="Trebuchet MS" panose="020B0603020202020204" pitchFamily="34" charset="0"/>
                <a:cs typeface="Arial MT"/>
              </a:rPr>
              <a:t> </a:t>
            </a:r>
            <a:r>
              <a:rPr dirty="0">
                <a:latin typeface="Trebuchet MS" panose="020B0603020202020204" pitchFamily="34" charset="0"/>
                <a:cs typeface="Arial MT"/>
              </a:rPr>
              <a:t>(database</a:t>
            </a:r>
            <a:r>
              <a:rPr spc="-37" dirty="0">
                <a:latin typeface="Trebuchet MS" panose="020B0603020202020204" pitchFamily="34" charset="0"/>
                <a:cs typeface="Arial MT"/>
              </a:rPr>
              <a:t> </a:t>
            </a:r>
            <a:r>
              <a:rPr spc="-15" dirty="0">
                <a:latin typeface="Trebuchet MS" panose="020B0603020202020204" pitchFamily="34" charset="0"/>
                <a:cs typeface="Arial MT"/>
              </a:rPr>
              <a:t>server,</a:t>
            </a:r>
            <a:r>
              <a:rPr spc="-37" dirty="0">
                <a:latin typeface="Trebuchet MS" panose="020B0603020202020204" pitchFamily="34" charset="0"/>
                <a:cs typeface="Arial MT"/>
              </a:rPr>
              <a:t> </a:t>
            </a:r>
            <a:r>
              <a:rPr dirty="0">
                <a:latin typeface="Trebuchet MS" panose="020B0603020202020204" pitchFamily="34" charset="0"/>
                <a:cs typeface="Arial MT"/>
              </a:rPr>
              <a:t>the</a:t>
            </a:r>
            <a:r>
              <a:rPr spc="-37" dirty="0">
                <a:latin typeface="Trebuchet MS" panose="020B0603020202020204" pitchFamily="34" charset="0"/>
                <a:cs typeface="Arial MT"/>
              </a:rPr>
              <a:t> web</a:t>
            </a:r>
            <a:r>
              <a:rPr spc="743" dirty="0">
                <a:latin typeface="Trebuchet MS" panose="020B0603020202020204" pitchFamily="34" charset="0"/>
                <a:cs typeface="Arial MT"/>
              </a:rPr>
              <a:t> </a:t>
            </a:r>
            <a:r>
              <a:rPr dirty="0">
                <a:latin typeface="Trebuchet MS" panose="020B0603020202020204" pitchFamily="34" charset="0"/>
                <a:cs typeface="Arial MT"/>
              </a:rPr>
              <a:t>server),</a:t>
            </a:r>
            <a:r>
              <a:rPr spc="-52" dirty="0">
                <a:latin typeface="Trebuchet MS" panose="020B0603020202020204" pitchFamily="34" charset="0"/>
                <a:cs typeface="Arial MT"/>
              </a:rPr>
              <a:t> </a:t>
            </a:r>
            <a:r>
              <a:rPr dirty="0">
                <a:latin typeface="Trebuchet MS" panose="020B0603020202020204" pitchFamily="34" charset="0"/>
                <a:cs typeface="Arial MT"/>
              </a:rPr>
              <a:t>job</a:t>
            </a:r>
            <a:r>
              <a:rPr spc="-52" dirty="0">
                <a:latin typeface="Trebuchet MS" panose="020B0603020202020204" pitchFamily="34" charset="0"/>
                <a:cs typeface="Arial MT"/>
              </a:rPr>
              <a:t> </a:t>
            </a:r>
            <a:r>
              <a:rPr spc="-15" dirty="0">
                <a:latin typeface="Trebuchet MS" panose="020B0603020202020204" pitchFamily="34" charset="0"/>
                <a:cs typeface="Arial MT"/>
              </a:rPr>
              <a:t>scheduling,</a:t>
            </a:r>
            <a:r>
              <a:rPr spc="-45" dirty="0">
                <a:latin typeface="Trebuchet MS" panose="020B0603020202020204" pitchFamily="34" charset="0"/>
                <a:cs typeface="Arial MT"/>
              </a:rPr>
              <a:t> </a:t>
            </a:r>
            <a:r>
              <a:rPr dirty="0">
                <a:latin typeface="Trebuchet MS" panose="020B0603020202020204" pitchFamily="34" charset="0"/>
                <a:cs typeface="Arial MT"/>
              </a:rPr>
              <a:t>resource</a:t>
            </a:r>
            <a:r>
              <a:rPr spc="-52" dirty="0">
                <a:latin typeface="Trebuchet MS" panose="020B0603020202020204" pitchFamily="34" charset="0"/>
                <a:cs typeface="Arial MT"/>
              </a:rPr>
              <a:t> </a:t>
            </a:r>
            <a:r>
              <a:rPr spc="-15" dirty="0">
                <a:latin typeface="Trebuchet MS" panose="020B0603020202020204" pitchFamily="34" charset="0"/>
                <a:cs typeface="Arial MT"/>
              </a:rPr>
              <a:t>usage</a:t>
            </a:r>
            <a:r>
              <a:rPr spc="743" dirty="0">
                <a:latin typeface="Trebuchet MS" panose="020B0603020202020204" pitchFamily="34" charset="0"/>
                <a:cs typeface="Arial MT"/>
              </a:rPr>
              <a:t> </a:t>
            </a:r>
            <a:r>
              <a:rPr spc="-15" dirty="0">
                <a:latin typeface="Trebuchet MS" panose="020B0603020202020204" pitchFamily="34" charset="0"/>
                <a:cs typeface="Arial MT"/>
              </a:rPr>
              <a:t>governance,</a:t>
            </a:r>
            <a:r>
              <a:rPr spc="-7" dirty="0">
                <a:latin typeface="Trebuchet MS" panose="020B0603020202020204" pitchFamily="34" charset="0"/>
                <a:cs typeface="Arial MT"/>
              </a:rPr>
              <a:t> </a:t>
            </a:r>
            <a:r>
              <a:rPr spc="-15" dirty="0">
                <a:latin typeface="Trebuchet MS" panose="020B0603020202020204" pitchFamily="34" charset="0"/>
                <a:cs typeface="Arial MT"/>
              </a:rPr>
              <a:t>scaling,</a:t>
            </a:r>
            <a:r>
              <a:rPr spc="-7" dirty="0">
                <a:latin typeface="Trebuchet MS" panose="020B0603020202020204" pitchFamily="34" charset="0"/>
                <a:cs typeface="Arial MT"/>
              </a:rPr>
              <a:t> </a:t>
            </a:r>
            <a:r>
              <a:rPr spc="-15" dirty="0">
                <a:latin typeface="Trebuchet MS" panose="020B0603020202020204" pitchFamily="34" charset="0"/>
                <a:cs typeface="Arial MT"/>
              </a:rPr>
              <a:t>auto-</a:t>
            </a:r>
            <a:r>
              <a:rPr dirty="0">
                <a:latin typeface="Trebuchet MS" panose="020B0603020202020204" pitchFamily="34" charset="0"/>
                <a:cs typeface="Arial MT"/>
              </a:rPr>
              <a:t>scaling,</a:t>
            </a:r>
            <a:r>
              <a:rPr spc="-7" dirty="0">
                <a:latin typeface="Trebuchet MS" panose="020B0603020202020204" pitchFamily="34" charset="0"/>
                <a:cs typeface="Arial MT"/>
              </a:rPr>
              <a:t> </a:t>
            </a:r>
            <a:r>
              <a:rPr spc="-15" dirty="0">
                <a:latin typeface="Trebuchet MS" panose="020B0603020202020204" pitchFamily="34" charset="0"/>
                <a:cs typeface="Arial MT"/>
              </a:rPr>
              <a:t>caching,</a:t>
            </a:r>
            <a:endParaRPr dirty="0">
              <a:latin typeface="Trebuchet MS" panose="020B0603020202020204" pitchFamily="34" charset="0"/>
              <a:cs typeface="Arial MT"/>
            </a:endParaRPr>
          </a:p>
          <a:p>
            <a:pPr marL="18875" marR="27368">
              <a:lnSpc>
                <a:spcPct val="102600"/>
              </a:lnSpc>
            </a:pPr>
            <a:r>
              <a:rPr spc="-30" dirty="0">
                <a:latin typeface="Trebuchet MS" panose="020B0603020202020204" pitchFamily="34" charset="0"/>
                <a:cs typeface="Arial MT"/>
              </a:rPr>
              <a:t>middle-</a:t>
            </a:r>
            <a:r>
              <a:rPr dirty="0">
                <a:latin typeface="Trebuchet MS" panose="020B0603020202020204" pitchFamily="34" charset="0"/>
                <a:cs typeface="Arial MT"/>
              </a:rPr>
              <a:t>ware</a:t>
            </a:r>
            <a:r>
              <a:rPr spc="-59" dirty="0">
                <a:latin typeface="Trebuchet MS" panose="020B0603020202020204" pitchFamily="34" charset="0"/>
                <a:cs typeface="Arial MT"/>
              </a:rPr>
              <a:t> </a:t>
            </a:r>
            <a:r>
              <a:rPr dirty="0">
                <a:latin typeface="Trebuchet MS" panose="020B0603020202020204" pitchFamily="34" charset="0"/>
                <a:cs typeface="Arial MT"/>
              </a:rPr>
              <a:t>(messaging</a:t>
            </a:r>
            <a:r>
              <a:rPr spc="-59" dirty="0">
                <a:latin typeface="Trebuchet MS" panose="020B0603020202020204" pitchFamily="34" charset="0"/>
                <a:cs typeface="Arial MT"/>
              </a:rPr>
              <a:t> </a:t>
            </a:r>
            <a:r>
              <a:rPr dirty="0">
                <a:latin typeface="Trebuchet MS" panose="020B0603020202020204" pitchFamily="34" charset="0"/>
                <a:cs typeface="Arial MT"/>
              </a:rPr>
              <a:t>between</a:t>
            </a:r>
            <a:r>
              <a:rPr spc="-52" dirty="0">
                <a:latin typeface="Trebuchet MS" panose="020B0603020202020204" pitchFamily="34" charset="0"/>
                <a:cs typeface="Arial MT"/>
              </a:rPr>
              <a:t> </a:t>
            </a:r>
            <a:r>
              <a:rPr spc="-15" dirty="0">
                <a:latin typeface="Trebuchet MS" panose="020B0603020202020204" pitchFamily="34" charset="0"/>
                <a:cs typeface="Arial MT"/>
              </a:rPr>
              <a:t>applications), </a:t>
            </a:r>
            <a:r>
              <a:rPr dirty="0">
                <a:latin typeface="Trebuchet MS" panose="020B0603020202020204" pitchFamily="34" charset="0"/>
                <a:cs typeface="Arial MT"/>
              </a:rPr>
              <a:t>distributed</a:t>
            </a:r>
            <a:r>
              <a:rPr spc="-104" dirty="0">
                <a:latin typeface="Trebuchet MS" panose="020B0603020202020204" pitchFamily="34" charset="0"/>
                <a:cs typeface="Arial MT"/>
              </a:rPr>
              <a:t> </a:t>
            </a:r>
            <a:r>
              <a:rPr dirty="0">
                <a:latin typeface="Trebuchet MS" panose="020B0603020202020204" pitchFamily="34" charset="0"/>
                <a:cs typeface="Arial MT"/>
              </a:rPr>
              <a:t>computing,</a:t>
            </a:r>
            <a:r>
              <a:rPr spc="-97" dirty="0">
                <a:latin typeface="Trebuchet MS" panose="020B0603020202020204" pitchFamily="34" charset="0"/>
                <a:cs typeface="Arial MT"/>
              </a:rPr>
              <a:t> </a:t>
            </a:r>
            <a:r>
              <a:rPr spc="-15" dirty="0">
                <a:latin typeface="Trebuchet MS" panose="020B0603020202020204" pitchFamily="34" charset="0"/>
                <a:cs typeface="Arial MT"/>
              </a:rPr>
              <a:t>compilers/builders, deployment</a:t>
            </a:r>
            <a:r>
              <a:rPr spc="-30" dirty="0">
                <a:latin typeface="Trebuchet MS" panose="020B0603020202020204" pitchFamily="34" charset="0"/>
                <a:cs typeface="Arial MT"/>
              </a:rPr>
              <a:t> </a:t>
            </a:r>
            <a:r>
              <a:rPr dirty="0">
                <a:latin typeface="Trebuchet MS" panose="020B0603020202020204" pitchFamily="34" charset="0"/>
                <a:cs typeface="Arial MT"/>
              </a:rPr>
              <a:t>and</a:t>
            </a:r>
            <a:r>
              <a:rPr spc="-30" dirty="0">
                <a:latin typeface="Trebuchet MS" panose="020B0603020202020204" pitchFamily="34" charset="0"/>
                <a:cs typeface="Arial MT"/>
              </a:rPr>
              <a:t> </a:t>
            </a:r>
            <a:r>
              <a:rPr spc="-15" dirty="0">
                <a:latin typeface="Trebuchet MS" panose="020B0603020202020204" pitchFamily="34" charset="0"/>
                <a:cs typeface="Arial MT"/>
              </a:rPr>
              <a:t>integration</a:t>
            </a:r>
            <a:r>
              <a:rPr spc="-30" dirty="0">
                <a:latin typeface="Trebuchet MS" panose="020B0603020202020204" pitchFamily="34" charset="0"/>
                <a:cs typeface="Arial MT"/>
              </a:rPr>
              <a:t> </a:t>
            </a:r>
            <a:r>
              <a:rPr dirty="0">
                <a:latin typeface="Trebuchet MS" panose="020B0603020202020204" pitchFamily="34" charset="0"/>
                <a:cs typeface="Arial MT"/>
              </a:rPr>
              <a:t>tools,</a:t>
            </a:r>
            <a:r>
              <a:rPr spc="-30" dirty="0">
                <a:latin typeface="Trebuchet MS" panose="020B0603020202020204" pitchFamily="34" charset="0"/>
                <a:cs typeface="Arial MT"/>
              </a:rPr>
              <a:t> </a:t>
            </a:r>
            <a:r>
              <a:rPr dirty="0">
                <a:latin typeface="Trebuchet MS" panose="020B0603020202020204" pitchFamily="34" charset="0"/>
                <a:cs typeface="Arial MT"/>
              </a:rPr>
              <a:t>all</a:t>
            </a:r>
            <a:r>
              <a:rPr spc="-22" dirty="0">
                <a:latin typeface="Trebuchet MS" panose="020B0603020202020204" pitchFamily="34" charset="0"/>
                <a:cs typeface="Arial MT"/>
              </a:rPr>
              <a:t> </a:t>
            </a:r>
            <a:r>
              <a:rPr dirty="0">
                <a:latin typeface="Trebuchet MS" panose="020B0603020202020204" pitchFamily="34" charset="0"/>
                <a:cs typeface="Arial MT"/>
              </a:rPr>
              <a:t>the</a:t>
            </a:r>
            <a:r>
              <a:rPr spc="-30" dirty="0">
                <a:latin typeface="Trebuchet MS" panose="020B0603020202020204" pitchFamily="34" charset="0"/>
                <a:cs typeface="Arial MT"/>
              </a:rPr>
              <a:t> </a:t>
            </a:r>
            <a:r>
              <a:rPr spc="-15" dirty="0">
                <a:latin typeface="Trebuchet MS" panose="020B0603020202020204" pitchFamily="34" charset="0"/>
                <a:cs typeface="Arial MT"/>
              </a:rPr>
              <a:t>necessary </a:t>
            </a:r>
            <a:r>
              <a:rPr dirty="0">
                <a:latin typeface="Trebuchet MS" panose="020B0603020202020204" pitchFamily="34" charset="0"/>
                <a:cs typeface="Arial MT"/>
              </a:rPr>
              <a:t>runtime</a:t>
            </a:r>
            <a:r>
              <a:rPr spc="-37" dirty="0">
                <a:latin typeface="Trebuchet MS" panose="020B0603020202020204" pitchFamily="34" charset="0"/>
                <a:cs typeface="Arial MT"/>
              </a:rPr>
              <a:t> </a:t>
            </a:r>
            <a:r>
              <a:rPr spc="-15" dirty="0">
                <a:latin typeface="Trebuchet MS" panose="020B0603020202020204" pitchFamily="34" charset="0"/>
                <a:cs typeface="Arial MT"/>
              </a:rPr>
              <a:t>libraries,</a:t>
            </a:r>
            <a:r>
              <a:rPr spc="-30" dirty="0">
                <a:latin typeface="Trebuchet MS" panose="020B0603020202020204" pitchFamily="34" charset="0"/>
                <a:cs typeface="Arial MT"/>
              </a:rPr>
              <a:t> </a:t>
            </a:r>
            <a:r>
              <a:rPr spc="-15" dirty="0">
                <a:latin typeface="Trebuchet MS" panose="020B0603020202020204" pitchFamily="34" charset="0"/>
                <a:cs typeface="Arial MT"/>
              </a:rPr>
              <a:t>add-</a:t>
            </a:r>
            <a:r>
              <a:rPr dirty="0">
                <a:latin typeface="Trebuchet MS" panose="020B0603020202020204" pitchFamily="34" charset="0"/>
                <a:cs typeface="Arial MT"/>
              </a:rPr>
              <a:t>ons</a:t>
            </a:r>
            <a:r>
              <a:rPr spc="-30" dirty="0">
                <a:latin typeface="Trebuchet MS" panose="020B0603020202020204" pitchFamily="34" charset="0"/>
                <a:cs typeface="Arial MT"/>
              </a:rPr>
              <a:t> </a:t>
            </a:r>
            <a:r>
              <a:rPr dirty="0">
                <a:latin typeface="Trebuchet MS" panose="020B0603020202020204" pitchFamily="34" charset="0"/>
                <a:cs typeface="Arial MT"/>
              </a:rPr>
              <a:t>and</a:t>
            </a:r>
            <a:r>
              <a:rPr spc="-30" dirty="0">
                <a:latin typeface="Trebuchet MS" panose="020B0603020202020204" pitchFamily="34" charset="0"/>
                <a:cs typeface="Arial MT"/>
              </a:rPr>
              <a:t> </a:t>
            </a:r>
            <a:r>
              <a:rPr spc="-15" dirty="0">
                <a:latin typeface="Trebuchet MS" panose="020B0603020202020204" pitchFamily="34" charset="0"/>
                <a:cs typeface="Arial MT"/>
              </a:rPr>
              <a:t>plug-</a:t>
            </a:r>
            <a:r>
              <a:rPr dirty="0">
                <a:latin typeface="Trebuchet MS" panose="020B0603020202020204" pitchFamily="34" charset="0"/>
                <a:cs typeface="Arial MT"/>
              </a:rPr>
              <a:t>inns,</a:t>
            </a:r>
            <a:r>
              <a:rPr spc="-30" dirty="0">
                <a:latin typeface="Trebuchet MS" panose="020B0603020202020204" pitchFamily="34" charset="0"/>
                <a:cs typeface="Arial MT"/>
              </a:rPr>
              <a:t> </a:t>
            </a:r>
            <a:r>
              <a:rPr dirty="0">
                <a:latin typeface="Trebuchet MS" panose="020B0603020202020204" pitchFamily="34" charset="0"/>
                <a:cs typeface="Arial MT"/>
              </a:rPr>
              <a:t>and</a:t>
            </a:r>
            <a:r>
              <a:rPr spc="-37" dirty="0">
                <a:latin typeface="Trebuchet MS" panose="020B0603020202020204" pitchFamily="34" charset="0"/>
                <a:cs typeface="Arial MT"/>
              </a:rPr>
              <a:t> of </a:t>
            </a:r>
            <a:r>
              <a:rPr dirty="0">
                <a:latin typeface="Trebuchet MS" panose="020B0603020202020204" pitchFamily="34" charset="0"/>
                <a:cs typeface="Arial MT"/>
              </a:rPr>
              <a:t>course,</a:t>
            </a:r>
            <a:r>
              <a:rPr spc="-37" dirty="0">
                <a:latin typeface="Trebuchet MS" panose="020B0603020202020204" pitchFamily="34" charset="0"/>
                <a:cs typeface="Arial MT"/>
              </a:rPr>
              <a:t> </a:t>
            </a:r>
            <a:r>
              <a:rPr dirty="0">
                <a:latin typeface="Trebuchet MS" panose="020B0603020202020204" pitchFamily="34" charset="0"/>
                <a:cs typeface="Arial MT"/>
              </a:rPr>
              <a:t>their</a:t>
            </a:r>
            <a:r>
              <a:rPr spc="-30" dirty="0">
                <a:latin typeface="Trebuchet MS" panose="020B0603020202020204" pitchFamily="34" charset="0"/>
                <a:cs typeface="Arial MT"/>
              </a:rPr>
              <a:t> </a:t>
            </a:r>
            <a:r>
              <a:rPr spc="-15" dirty="0">
                <a:latin typeface="Trebuchet MS" panose="020B0603020202020204" pitchFamily="34" charset="0"/>
                <a:cs typeface="Arial MT"/>
              </a:rPr>
              <a:t>applications</a:t>
            </a:r>
            <a:r>
              <a:rPr spc="-37" dirty="0">
                <a:latin typeface="Trebuchet MS" panose="020B0603020202020204" pitchFamily="34" charset="0"/>
                <a:cs typeface="Arial MT"/>
              </a:rPr>
              <a:t> </a:t>
            </a:r>
            <a:r>
              <a:rPr spc="-15" dirty="0">
                <a:latin typeface="Trebuchet MS" panose="020B0603020202020204" pitchFamily="34" charset="0"/>
                <a:cs typeface="Arial MT"/>
              </a:rPr>
              <a:t>(including</a:t>
            </a:r>
            <a:r>
              <a:rPr spc="-30" dirty="0">
                <a:latin typeface="Trebuchet MS" panose="020B0603020202020204" pitchFamily="34" charset="0"/>
                <a:cs typeface="Arial MT"/>
              </a:rPr>
              <a:t> </a:t>
            </a:r>
            <a:r>
              <a:rPr dirty="0">
                <a:latin typeface="Trebuchet MS" panose="020B0603020202020204" pitchFamily="34" charset="0"/>
                <a:cs typeface="Arial MT"/>
              </a:rPr>
              <a:t>their</a:t>
            </a:r>
            <a:r>
              <a:rPr spc="-30" dirty="0">
                <a:latin typeface="Trebuchet MS" panose="020B0603020202020204" pitchFamily="34" charset="0"/>
                <a:cs typeface="Arial MT"/>
              </a:rPr>
              <a:t> </a:t>
            </a:r>
            <a:r>
              <a:rPr spc="-15" dirty="0">
                <a:latin typeface="Trebuchet MS" panose="020B0603020202020204" pitchFamily="34" charset="0"/>
                <a:cs typeface="Arial MT"/>
              </a:rPr>
              <a:t>application security/API/admin/</a:t>
            </a:r>
            <a:r>
              <a:rPr spc="-15" dirty="0" err="1">
                <a:latin typeface="Trebuchet MS" panose="020B0603020202020204" pitchFamily="34" charset="0"/>
                <a:cs typeface="Arial MT"/>
              </a:rPr>
              <a:t>etc</a:t>
            </a:r>
            <a:r>
              <a:rPr spc="-15" dirty="0">
                <a:latin typeface="Trebuchet MS" panose="020B0603020202020204" pitchFamily="34" charset="0"/>
                <a:cs typeface="Arial MT"/>
              </a:rPr>
              <a:t>).</a:t>
            </a:r>
            <a:endParaRPr lang="en-US" spc="-15" dirty="0">
              <a:latin typeface="Trebuchet MS" panose="020B0603020202020204" pitchFamily="34" charset="0"/>
              <a:cs typeface="Arial MT"/>
            </a:endParaRPr>
          </a:p>
          <a:p>
            <a:pPr marL="18875" marR="27368">
              <a:lnSpc>
                <a:spcPct val="102600"/>
              </a:lnSpc>
            </a:pPr>
            <a:endParaRPr dirty="0">
              <a:latin typeface="Trebuchet MS" panose="020B0603020202020204" pitchFamily="34" charset="0"/>
              <a:cs typeface="Arial MT"/>
            </a:endParaRPr>
          </a:p>
          <a:p>
            <a:pPr marL="18875" marR="314263">
              <a:lnSpc>
                <a:spcPct val="102600"/>
              </a:lnSpc>
              <a:spcBef>
                <a:spcPts val="446"/>
              </a:spcBef>
            </a:pPr>
            <a:r>
              <a:rPr dirty="0">
                <a:latin typeface="Trebuchet MS" panose="020B0603020202020204" pitchFamily="34" charset="0"/>
                <a:cs typeface="Arial MT"/>
              </a:rPr>
              <a:t>What</a:t>
            </a:r>
            <a:r>
              <a:rPr spc="-52" dirty="0">
                <a:latin typeface="Trebuchet MS" panose="020B0603020202020204" pitchFamily="34" charset="0"/>
                <a:cs typeface="Arial MT"/>
              </a:rPr>
              <a:t> </a:t>
            </a:r>
            <a:r>
              <a:rPr dirty="0">
                <a:latin typeface="Trebuchet MS" panose="020B0603020202020204" pitchFamily="34" charset="0"/>
                <a:cs typeface="Arial MT"/>
              </a:rPr>
              <a:t>they</a:t>
            </a:r>
            <a:r>
              <a:rPr spc="-45" dirty="0">
                <a:latin typeface="Trebuchet MS" panose="020B0603020202020204" pitchFamily="34" charset="0"/>
                <a:cs typeface="Arial MT"/>
              </a:rPr>
              <a:t> </a:t>
            </a:r>
            <a:r>
              <a:rPr dirty="0">
                <a:latin typeface="Trebuchet MS" panose="020B0603020202020204" pitchFamily="34" charset="0"/>
                <a:cs typeface="Arial MT"/>
              </a:rPr>
              <a:t>get</a:t>
            </a:r>
            <a:r>
              <a:rPr spc="-45" dirty="0">
                <a:latin typeface="Trebuchet MS" panose="020B0603020202020204" pitchFamily="34" charset="0"/>
                <a:cs typeface="Arial MT"/>
              </a:rPr>
              <a:t> </a:t>
            </a:r>
            <a:r>
              <a:rPr dirty="0">
                <a:latin typeface="Trebuchet MS" panose="020B0603020202020204" pitchFamily="34" charset="0"/>
                <a:cs typeface="Arial MT"/>
              </a:rPr>
              <a:t>is</a:t>
            </a:r>
            <a:r>
              <a:rPr spc="-52" dirty="0">
                <a:latin typeface="Trebuchet MS" panose="020B0603020202020204" pitchFamily="34" charset="0"/>
                <a:cs typeface="Arial MT"/>
              </a:rPr>
              <a:t> </a:t>
            </a:r>
            <a:r>
              <a:rPr dirty="0">
                <a:latin typeface="Trebuchet MS" panose="020B0603020202020204" pitchFamily="34" charset="0"/>
                <a:cs typeface="Arial MT"/>
              </a:rPr>
              <a:t>a</a:t>
            </a:r>
            <a:r>
              <a:rPr spc="-45" dirty="0">
                <a:latin typeface="Trebuchet MS" panose="020B0603020202020204" pitchFamily="34" charset="0"/>
                <a:cs typeface="Arial MT"/>
              </a:rPr>
              <a:t> </a:t>
            </a:r>
            <a:r>
              <a:rPr dirty="0">
                <a:latin typeface="Trebuchet MS" panose="020B0603020202020204" pitchFamily="34" charset="0"/>
                <a:cs typeface="Arial MT"/>
              </a:rPr>
              <a:t>virtually</a:t>
            </a:r>
            <a:r>
              <a:rPr spc="-45" dirty="0">
                <a:latin typeface="Trebuchet MS" panose="020B0603020202020204" pitchFamily="34" charset="0"/>
                <a:cs typeface="Arial MT"/>
              </a:rPr>
              <a:t> </a:t>
            </a:r>
            <a:r>
              <a:rPr dirty="0">
                <a:latin typeface="Trebuchet MS" panose="020B0603020202020204" pitchFamily="34" charset="0"/>
                <a:cs typeface="Arial MT"/>
              </a:rPr>
              <a:t>“infinite”</a:t>
            </a:r>
            <a:r>
              <a:rPr spc="-52" dirty="0">
                <a:latin typeface="Trebuchet MS" panose="020B0603020202020204" pitchFamily="34" charset="0"/>
                <a:cs typeface="Arial MT"/>
              </a:rPr>
              <a:t> </a:t>
            </a:r>
            <a:r>
              <a:rPr dirty="0">
                <a:latin typeface="Trebuchet MS" panose="020B0603020202020204" pitchFamily="34" charset="0"/>
                <a:cs typeface="Arial MT"/>
              </a:rPr>
              <a:t>pool</a:t>
            </a:r>
            <a:r>
              <a:rPr spc="-45" dirty="0">
                <a:latin typeface="Trebuchet MS" panose="020B0603020202020204" pitchFamily="34" charset="0"/>
                <a:cs typeface="Arial MT"/>
              </a:rPr>
              <a:t> </a:t>
            </a:r>
            <a:r>
              <a:rPr spc="-37" dirty="0">
                <a:latin typeface="Trebuchet MS" panose="020B0603020202020204" pitchFamily="34" charset="0"/>
                <a:cs typeface="Arial MT"/>
              </a:rPr>
              <a:t>of </a:t>
            </a:r>
            <a:r>
              <a:rPr dirty="0">
                <a:latin typeface="Trebuchet MS" panose="020B0603020202020204" pitchFamily="34" charset="0"/>
                <a:cs typeface="Arial MT"/>
              </a:rPr>
              <a:t>computing</a:t>
            </a:r>
            <a:r>
              <a:rPr spc="-52" dirty="0">
                <a:latin typeface="Trebuchet MS" panose="020B0603020202020204" pitchFamily="34" charset="0"/>
                <a:cs typeface="Arial MT"/>
              </a:rPr>
              <a:t> </a:t>
            </a:r>
            <a:r>
              <a:rPr dirty="0">
                <a:latin typeface="Trebuchet MS" panose="020B0603020202020204" pitchFamily="34" charset="0"/>
                <a:cs typeface="Arial MT"/>
              </a:rPr>
              <a:t>resources</a:t>
            </a:r>
            <a:r>
              <a:rPr spc="-52" dirty="0">
                <a:latin typeface="Trebuchet MS" panose="020B0603020202020204" pitchFamily="34" charset="0"/>
                <a:cs typeface="Arial MT"/>
              </a:rPr>
              <a:t> </a:t>
            </a:r>
            <a:r>
              <a:rPr dirty="0">
                <a:latin typeface="Trebuchet MS" panose="020B0603020202020204" pitchFamily="34" charset="0"/>
                <a:cs typeface="Arial MT"/>
              </a:rPr>
              <a:t>that</a:t>
            </a:r>
            <a:r>
              <a:rPr spc="-45" dirty="0">
                <a:latin typeface="Trebuchet MS" panose="020B0603020202020204" pitchFamily="34" charset="0"/>
                <a:cs typeface="Arial MT"/>
              </a:rPr>
              <a:t> </a:t>
            </a:r>
            <a:r>
              <a:rPr dirty="0">
                <a:latin typeface="Trebuchet MS" panose="020B0603020202020204" pitchFamily="34" charset="0"/>
                <a:cs typeface="Arial MT"/>
              </a:rPr>
              <a:t>they</a:t>
            </a:r>
            <a:r>
              <a:rPr spc="-52" dirty="0">
                <a:latin typeface="Trebuchet MS" panose="020B0603020202020204" pitchFamily="34" charset="0"/>
                <a:cs typeface="Arial MT"/>
              </a:rPr>
              <a:t> </a:t>
            </a:r>
            <a:r>
              <a:rPr dirty="0">
                <a:latin typeface="Trebuchet MS" panose="020B0603020202020204" pitchFamily="34" charset="0"/>
                <a:cs typeface="Arial MT"/>
              </a:rPr>
              <a:t>can</a:t>
            </a:r>
            <a:r>
              <a:rPr spc="-52" dirty="0">
                <a:latin typeface="Trebuchet MS" panose="020B0603020202020204" pitchFamily="34" charset="0"/>
                <a:cs typeface="Arial MT"/>
              </a:rPr>
              <a:t> </a:t>
            </a:r>
            <a:r>
              <a:rPr spc="-15" dirty="0">
                <a:latin typeface="Trebuchet MS" panose="020B0603020202020204" pitchFamily="34" charset="0"/>
                <a:cs typeface="Arial MT"/>
              </a:rPr>
              <a:t>use-per-</a:t>
            </a:r>
            <a:r>
              <a:rPr spc="-30" dirty="0">
                <a:latin typeface="Trebuchet MS" panose="020B0603020202020204" pitchFamily="34" charset="0"/>
                <a:cs typeface="Arial MT"/>
              </a:rPr>
              <a:t>need </a:t>
            </a:r>
            <a:r>
              <a:rPr dirty="0">
                <a:latin typeface="Trebuchet MS" panose="020B0603020202020204" pitchFamily="34" charset="0"/>
                <a:cs typeface="Arial MT"/>
              </a:rPr>
              <a:t>and</a:t>
            </a:r>
            <a:r>
              <a:rPr spc="30" dirty="0">
                <a:latin typeface="Trebuchet MS" panose="020B0603020202020204" pitchFamily="34" charset="0"/>
                <a:cs typeface="Arial MT"/>
              </a:rPr>
              <a:t> </a:t>
            </a:r>
            <a:r>
              <a:rPr spc="-30" dirty="0">
                <a:latin typeface="Trebuchet MS" panose="020B0603020202020204" pitchFamily="34" charset="0"/>
                <a:cs typeface="Arial MT"/>
              </a:rPr>
              <a:t>pay-</a:t>
            </a:r>
            <a:r>
              <a:rPr spc="-15" dirty="0">
                <a:latin typeface="Trebuchet MS" panose="020B0603020202020204" pitchFamily="34" charset="0"/>
                <a:cs typeface="Arial MT"/>
              </a:rPr>
              <a:t>per-</a:t>
            </a:r>
            <a:r>
              <a:rPr spc="-30" dirty="0">
                <a:latin typeface="Trebuchet MS" panose="020B0603020202020204" pitchFamily="34" charset="0"/>
                <a:cs typeface="Arial MT"/>
              </a:rPr>
              <a:t>use.</a:t>
            </a:r>
            <a:endParaRPr dirty="0">
              <a:latin typeface="Trebuchet MS" panose="020B0603020202020204" pitchFamily="34" charset="0"/>
              <a:cs typeface="Arial MT"/>
            </a:endParaRP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4170648" y="4471192"/>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4052318" y="4465304"/>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4316575" y="4465304"/>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4449321" y="4452105"/>
            <a:ext cx="302004" cy="83051"/>
            <a:chOff x="3275863" y="3358384"/>
            <a:chExt cx="203200" cy="55880"/>
          </a:xfrm>
        </p:grpSpPr>
        <p:sp>
          <p:nvSpPr>
            <p:cNvPr id="12" name="object 12">
              <a:hlinkClick r:id="rId2"/>
            </p:cNvPr>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4846323" y="4450225"/>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5243326" y="4450225"/>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5753600" y="4455865"/>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6010940" y="4452104"/>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152400" y="209550"/>
            <a:ext cx="4476259" cy="456618"/>
          </a:xfrm>
          <a:prstGeom prst="rect">
            <a:avLst/>
          </a:prstGeom>
        </p:spPr>
        <p:txBody>
          <a:bodyPr vert="horz" wrap="square" lIns="0" tIns="25482" rIns="0" bIns="0" rtlCol="0">
            <a:spAutoFit/>
          </a:bodyPr>
          <a:lstStyle/>
          <a:p>
            <a:pPr marL="38692">
              <a:spcBef>
                <a:spcPts val="201"/>
              </a:spcBef>
            </a:pPr>
            <a:r>
              <a:rPr dirty="0"/>
              <a:t>Main</a:t>
            </a:r>
            <a:r>
              <a:rPr spc="111" dirty="0"/>
              <a:t> </a:t>
            </a:r>
            <a:r>
              <a:rPr dirty="0"/>
              <a:t>Service</a:t>
            </a:r>
            <a:r>
              <a:rPr spc="119" dirty="0"/>
              <a:t> </a:t>
            </a:r>
            <a:r>
              <a:rPr dirty="0"/>
              <a:t>Models:</a:t>
            </a:r>
            <a:r>
              <a:rPr spc="282" dirty="0"/>
              <a:t> </a:t>
            </a:r>
            <a:r>
              <a:rPr spc="-30" dirty="0"/>
              <a:t>IaaS</a:t>
            </a:r>
          </a:p>
        </p:txBody>
      </p:sp>
      <p:sp>
        <p:nvSpPr>
          <p:cNvPr id="32" name="object 32"/>
          <p:cNvSpPr txBox="1">
            <a:spLocks noGrp="1"/>
          </p:cNvSpPr>
          <p:nvPr>
            <p:ph type="body" idx="1"/>
          </p:nvPr>
        </p:nvSpPr>
        <p:spPr>
          <a:xfrm>
            <a:off x="117764" y="1038602"/>
            <a:ext cx="8578743" cy="2385727"/>
          </a:xfrm>
          <a:prstGeom prst="rect">
            <a:avLst/>
          </a:prstGeom>
        </p:spPr>
        <p:txBody>
          <a:bodyPr vert="horz" wrap="square" lIns="0" tIns="53794" rIns="0" bIns="0" rtlCol="0">
            <a:spAutoFit/>
          </a:bodyPr>
          <a:lstStyle/>
          <a:p>
            <a:pPr marL="56624">
              <a:spcBef>
                <a:spcPts val="424"/>
              </a:spcBef>
            </a:pPr>
            <a:r>
              <a:rPr spc="97" dirty="0">
                <a:latin typeface="Trebuchet MS" panose="020B0603020202020204" pitchFamily="34" charset="0"/>
                <a:cs typeface="Calibri"/>
              </a:rPr>
              <a:t>Instagram</a:t>
            </a:r>
            <a:r>
              <a:rPr spc="97" dirty="0">
                <a:latin typeface="Trebuchet MS" panose="020B0603020202020204" pitchFamily="34" charset="0"/>
              </a:rPr>
              <a:t>:</a:t>
            </a:r>
            <a:r>
              <a:rPr spc="82" dirty="0">
                <a:latin typeface="Trebuchet MS" panose="020B0603020202020204" pitchFamily="34" charset="0"/>
              </a:rPr>
              <a:t> </a:t>
            </a:r>
            <a:r>
              <a:rPr dirty="0">
                <a:latin typeface="Trebuchet MS" panose="020B0603020202020204" pitchFamily="34" charset="0"/>
              </a:rPr>
              <a:t>a</a:t>
            </a:r>
            <a:r>
              <a:rPr spc="-15" dirty="0">
                <a:latin typeface="Trebuchet MS" panose="020B0603020202020204" pitchFamily="34" charset="0"/>
              </a:rPr>
              <a:t> </a:t>
            </a:r>
            <a:r>
              <a:rPr dirty="0">
                <a:latin typeface="Trebuchet MS" panose="020B0603020202020204" pitchFamily="34" charset="0"/>
              </a:rPr>
              <a:t>success</a:t>
            </a:r>
            <a:r>
              <a:rPr spc="-15" dirty="0">
                <a:latin typeface="Trebuchet MS" panose="020B0603020202020204" pitchFamily="34" charset="0"/>
              </a:rPr>
              <a:t> </a:t>
            </a:r>
            <a:r>
              <a:rPr dirty="0">
                <a:latin typeface="Trebuchet MS" panose="020B0603020202020204" pitchFamily="34" charset="0"/>
              </a:rPr>
              <a:t>story</a:t>
            </a:r>
            <a:r>
              <a:rPr spc="-15" dirty="0">
                <a:latin typeface="Trebuchet MS" panose="020B0603020202020204" pitchFamily="34" charset="0"/>
              </a:rPr>
              <a:t> </a:t>
            </a:r>
            <a:r>
              <a:rPr dirty="0">
                <a:latin typeface="Trebuchet MS" panose="020B0603020202020204" pitchFamily="34" charset="0"/>
              </a:rPr>
              <a:t>of</a:t>
            </a:r>
            <a:r>
              <a:rPr spc="-15" dirty="0">
                <a:latin typeface="Trebuchet MS" panose="020B0603020202020204" pitchFamily="34" charset="0"/>
              </a:rPr>
              <a:t> IaaS:</a:t>
            </a:r>
          </a:p>
          <a:p>
            <a:pPr marL="468094" marR="106642">
              <a:spcBef>
                <a:spcPts val="260"/>
              </a:spcBef>
            </a:pPr>
            <a:r>
              <a:rPr dirty="0">
                <a:latin typeface="Trebuchet MS" panose="020B0603020202020204" pitchFamily="34" charset="0"/>
              </a:rPr>
              <a:t>Three</a:t>
            </a:r>
            <a:r>
              <a:rPr spc="-30" dirty="0">
                <a:latin typeface="Trebuchet MS" panose="020B0603020202020204" pitchFamily="34" charset="0"/>
              </a:rPr>
              <a:t> </a:t>
            </a:r>
            <a:r>
              <a:rPr dirty="0">
                <a:latin typeface="Trebuchet MS" panose="020B0603020202020204" pitchFamily="34" charset="0"/>
              </a:rPr>
              <a:t>programmers</a:t>
            </a:r>
            <a:r>
              <a:rPr spc="-30" dirty="0">
                <a:latin typeface="Trebuchet MS" panose="020B0603020202020204" pitchFamily="34" charset="0"/>
              </a:rPr>
              <a:t> </a:t>
            </a:r>
            <a:r>
              <a:rPr dirty="0">
                <a:latin typeface="Trebuchet MS" panose="020B0603020202020204" pitchFamily="34" charset="0"/>
              </a:rPr>
              <a:t>on</a:t>
            </a:r>
            <a:r>
              <a:rPr spc="-22" dirty="0">
                <a:latin typeface="Trebuchet MS" panose="020B0603020202020204" pitchFamily="34" charset="0"/>
              </a:rPr>
              <a:t> </a:t>
            </a:r>
            <a:r>
              <a:rPr dirty="0">
                <a:latin typeface="Trebuchet MS" panose="020B0603020202020204" pitchFamily="34" charset="0"/>
              </a:rPr>
              <a:t>a</a:t>
            </a:r>
            <a:r>
              <a:rPr spc="-30" dirty="0">
                <a:latin typeface="Trebuchet MS" panose="020B0603020202020204" pitchFamily="34" charset="0"/>
              </a:rPr>
              <a:t> </a:t>
            </a:r>
            <a:r>
              <a:rPr dirty="0">
                <a:latin typeface="Trebuchet MS" panose="020B0603020202020204" pitchFamily="34" charset="0"/>
              </a:rPr>
              <a:t>bootstrap</a:t>
            </a:r>
            <a:r>
              <a:rPr spc="-30" dirty="0">
                <a:latin typeface="Trebuchet MS" panose="020B0603020202020204" pitchFamily="34" charset="0"/>
              </a:rPr>
              <a:t> </a:t>
            </a:r>
            <a:r>
              <a:rPr dirty="0">
                <a:latin typeface="Trebuchet MS" panose="020B0603020202020204" pitchFamily="34" charset="0"/>
              </a:rPr>
              <a:t>budget</a:t>
            </a:r>
            <a:r>
              <a:rPr spc="-22" dirty="0">
                <a:latin typeface="Trebuchet MS" panose="020B0603020202020204" pitchFamily="34" charset="0"/>
              </a:rPr>
              <a:t> </a:t>
            </a:r>
            <a:r>
              <a:rPr dirty="0">
                <a:latin typeface="Trebuchet MS" panose="020B0603020202020204" pitchFamily="34" charset="0"/>
              </a:rPr>
              <a:t>launch</a:t>
            </a:r>
            <a:r>
              <a:rPr spc="-30" dirty="0">
                <a:latin typeface="Trebuchet MS" panose="020B0603020202020204" pitchFamily="34" charset="0"/>
              </a:rPr>
              <a:t> </a:t>
            </a:r>
            <a:r>
              <a:rPr spc="-74" dirty="0">
                <a:latin typeface="Trebuchet MS" panose="020B0603020202020204" pitchFamily="34" charset="0"/>
              </a:rPr>
              <a:t>a </a:t>
            </a:r>
            <a:r>
              <a:rPr dirty="0">
                <a:latin typeface="Trebuchet MS" panose="020B0603020202020204" pitchFamily="34" charset="0"/>
              </a:rPr>
              <a:t>photo-sharing</a:t>
            </a:r>
            <a:r>
              <a:rPr spc="-22" dirty="0">
                <a:latin typeface="Trebuchet MS" panose="020B0603020202020204" pitchFamily="34" charset="0"/>
              </a:rPr>
              <a:t> </a:t>
            </a:r>
            <a:r>
              <a:rPr dirty="0">
                <a:latin typeface="Trebuchet MS" panose="020B0603020202020204" pitchFamily="34" charset="0"/>
              </a:rPr>
              <a:t>application,</a:t>
            </a:r>
            <a:r>
              <a:rPr spc="-7" dirty="0">
                <a:latin typeface="Trebuchet MS" panose="020B0603020202020204" pitchFamily="34" charset="0"/>
              </a:rPr>
              <a:t> </a:t>
            </a:r>
            <a:r>
              <a:rPr dirty="0">
                <a:latin typeface="Trebuchet MS" panose="020B0603020202020204" pitchFamily="34" charset="0"/>
              </a:rPr>
              <a:t>25,000 sign</a:t>
            </a:r>
            <a:r>
              <a:rPr spc="-7" dirty="0">
                <a:latin typeface="Trebuchet MS" panose="020B0603020202020204" pitchFamily="34" charset="0"/>
              </a:rPr>
              <a:t> </a:t>
            </a:r>
            <a:r>
              <a:rPr dirty="0">
                <a:latin typeface="Trebuchet MS" panose="020B0603020202020204" pitchFamily="34" charset="0"/>
              </a:rPr>
              <a:t>up</a:t>
            </a:r>
            <a:r>
              <a:rPr spc="-7" dirty="0">
                <a:latin typeface="Trebuchet MS" panose="020B0603020202020204" pitchFamily="34" charset="0"/>
              </a:rPr>
              <a:t> </a:t>
            </a:r>
            <a:r>
              <a:rPr dirty="0">
                <a:latin typeface="Trebuchet MS" panose="020B0603020202020204" pitchFamily="34" charset="0"/>
              </a:rPr>
              <a:t>the </a:t>
            </a:r>
            <a:r>
              <a:rPr spc="-15" dirty="0">
                <a:latin typeface="Trebuchet MS" panose="020B0603020202020204" pitchFamily="34" charset="0"/>
              </a:rPr>
              <a:t>first </a:t>
            </a:r>
            <a:r>
              <a:rPr spc="-37" dirty="0">
                <a:latin typeface="Trebuchet MS" panose="020B0603020202020204" pitchFamily="34" charset="0"/>
              </a:rPr>
              <a:t>day,</a:t>
            </a:r>
            <a:r>
              <a:rPr spc="-30" dirty="0">
                <a:latin typeface="Trebuchet MS" panose="020B0603020202020204" pitchFamily="34" charset="0"/>
              </a:rPr>
              <a:t> </a:t>
            </a:r>
            <a:r>
              <a:rPr dirty="0">
                <a:latin typeface="Trebuchet MS" panose="020B0603020202020204" pitchFamily="34" charset="0"/>
              </a:rPr>
              <a:t>40</a:t>
            </a:r>
            <a:r>
              <a:rPr spc="-22" dirty="0">
                <a:latin typeface="Trebuchet MS" panose="020B0603020202020204" pitchFamily="34" charset="0"/>
              </a:rPr>
              <a:t> </a:t>
            </a:r>
            <a:r>
              <a:rPr dirty="0">
                <a:latin typeface="Trebuchet MS" panose="020B0603020202020204" pitchFamily="34" charset="0"/>
              </a:rPr>
              <a:t>million</a:t>
            </a:r>
            <a:r>
              <a:rPr spc="-30" dirty="0">
                <a:latin typeface="Trebuchet MS" panose="020B0603020202020204" pitchFamily="34" charset="0"/>
              </a:rPr>
              <a:t> </a:t>
            </a:r>
            <a:r>
              <a:rPr dirty="0">
                <a:latin typeface="Trebuchet MS" panose="020B0603020202020204" pitchFamily="34" charset="0"/>
              </a:rPr>
              <a:t>in</a:t>
            </a:r>
            <a:r>
              <a:rPr spc="-22" dirty="0">
                <a:latin typeface="Trebuchet MS" panose="020B0603020202020204" pitchFamily="34" charset="0"/>
              </a:rPr>
              <a:t> </a:t>
            </a:r>
            <a:r>
              <a:rPr dirty="0">
                <a:latin typeface="Trebuchet MS" panose="020B0603020202020204" pitchFamily="34" charset="0"/>
              </a:rPr>
              <a:t>less</a:t>
            </a:r>
            <a:r>
              <a:rPr spc="-22" dirty="0">
                <a:latin typeface="Trebuchet MS" panose="020B0603020202020204" pitchFamily="34" charset="0"/>
              </a:rPr>
              <a:t> </a:t>
            </a:r>
            <a:r>
              <a:rPr dirty="0">
                <a:latin typeface="Trebuchet MS" panose="020B0603020202020204" pitchFamily="34" charset="0"/>
              </a:rPr>
              <a:t>than</a:t>
            </a:r>
            <a:r>
              <a:rPr spc="-30" dirty="0">
                <a:latin typeface="Trebuchet MS" panose="020B0603020202020204" pitchFamily="34" charset="0"/>
              </a:rPr>
              <a:t> </a:t>
            </a:r>
            <a:r>
              <a:rPr dirty="0">
                <a:latin typeface="Trebuchet MS" panose="020B0603020202020204" pitchFamily="34" charset="0"/>
              </a:rPr>
              <a:t>2</a:t>
            </a:r>
            <a:r>
              <a:rPr spc="-22" dirty="0">
                <a:latin typeface="Trebuchet MS" panose="020B0603020202020204" pitchFamily="34" charset="0"/>
              </a:rPr>
              <a:t> </a:t>
            </a:r>
            <a:r>
              <a:rPr spc="-15" dirty="0">
                <a:latin typeface="Trebuchet MS" panose="020B0603020202020204" pitchFamily="34" charset="0"/>
              </a:rPr>
              <a:t>year,</a:t>
            </a:r>
            <a:r>
              <a:rPr spc="-22" dirty="0">
                <a:latin typeface="Trebuchet MS" panose="020B0603020202020204" pitchFamily="34" charset="0"/>
              </a:rPr>
              <a:t> </a:t>
            </a:r>
            <a:r>
              <a:rPr dirty="0">
                <a:latin typeface="Trebuchet MS" panose="020B0603020202020204" pitchFamily="34" charset="0"/>
              </a:rPr>
              <a:t>when</a:t>
            </a:r>
            <a:r>
              <a:rPr spc="-30" dirty="0">
                <a:latin typeface="Trebuchet MS" panose="020B0603020202020204" pitchFamily="34" charset="0"/>
              </a:rPr>
              <a:t> </a:t>
            </a:r>
            <a:r>
              <a:rPr spc="-15" dirty="0">
                <a:latin typeface="Trebuchet MS" panose="020B0603020202020204" pitchFamily="34" charset="0"/>
              </a:rPr>
              <a:t>facebook </a:t>
            </a:r>
            <a:r>
              <a:rPr dirty="0">
                <a:latin typeface="Trebuchet MS" panose="020B0603020202020204" pitchFamily="34" charset="0"/>
              </a:rPr>
              <a:t>acquired</a:t>
            </a:r>
            <a:r>
              <a:rPr spc="-37" dirty="0">
                <a:latin typeface="Trebuchet MS" panose="020B0603020202020204" pitchFamily="34" charset="0"/>
              </a:rPr>
              <a:t> </a:t>
            </a:r>
            <a:r>
              <a:rPr dirty="0">
                <a:latin typeface="Trebuchet MS" panose="020B0603020202020204" pitchFamily="34" charset="0"/>
              </a:rPr>
              <a:t>it</a:t>
            </a:r>
            <a:r>
              <a:rPr spc="-30" dirty="0">
                <a:latin typeface="Trebuchet MS" panose="020B0603020202020204" pitchFamily="34" charset="0"/>
              </a:rPr>
              <a:t> </a:t>
            </a:r>
            <a:r>
              <a:rPr dirty="0">
                <a:latin typeface="Trebuchet MS" panose="020B0603020202020204" pitchFamily="34" charset="0"/>
              </a:rPr>
              <a:t>for</a:t>
            </a:r>
            <a:r>
              <a:rPr spc="-30" dirty="0">
                <a:latin typeface="Trebuchet MS" panose="020B0603020202020204" pitchFamily="34" charset="0"/>
              </a:rPr>
              <a:t> </a:t>
            </a:r>
            <a:r>
              <a:rPr dirty="0">
                <a:latin typeface="Trebuchet MS" panose="020B0603020202020204" pitchFamily="34" charset="0"/>
                <a:cs typeface="Lucida Sans Unicode"/>
              </a:rPr>
              <a:t>∼</a:t>
            </a:r>
            <a:r>
              <a:rPr spc="-82" dirty="0">
                <a:latin typeface="Trebuchet MS" panose="020B0603020202020204" pitchFamily="34" charset="0"/>
                <a:cs typeface="Lucida Sans Unicode"/>
              </a:rPr>
              <a:t> </a:t>
            </a:r>
            <a:r>
              <a:rPr dirty="0">
                <a:latin typeface="Trebuchet MS" panose="020B0603020202020204" pitchFamily="34" charset="0"/>
              </a:rPr>
              <a:t>1$</a:t>
            </a:r>
            <a:r>
              <a:rPr spc="-30" dirty="0">
                <a:latin typeface="Trebuchet MS" panose="020B0603020202020204" pitchFamily="34" charset="0"/>
              </a:rPr>
              <a:t> </a:t>
            </a:r>
            <a:r>
              <a:rPr spc="-15" dirty="0">
                <a:latin typeface="Trebuchet MS" panose="020B0603020202020204" pitchFamily="34" charset="0"/>
              </a:rPr>
              <a:t>Billion.</a:t>
            </a:r>
            <a:r>
              <a:rPr spc="-22" baseline="27777" dirty="0">
                <a:latin typeface="Trebuchet MS" panose="020B0603020202020204" pitchFamily="34" charset="0"/>
              </a:rPr>
              <a:t>3</a:t>
            </a:r>
            <a:endParaRPr baseline="27777" dirty="0">
              <a:latin typeface="Trebuchet MS" panose="020B0603020202020204" pitchFamily="34" charset="0"/>
              <a:cs typeface="Lucida Sans Unicode"/>
            </a:endParaRPr>
          </a:p>
          <a:p>
            <a:pPr marL="56624">
              <a:spcBef>
                <a:spcPts val="275"/>
              </a:spcBef>
            </a:pPr>
            <a:r>
              <a:rPr dirty="0">
                <a:latin typeface="Trebuchet MS" panose="020B0603020202020204" pitchFamily="34" charset="0"/>
              </a:rPr>
              <a:t>Another</a:t>
            </a:r>
            <a:r>
              <a:rPr spc="-37" dirty="0">
                <a:latin typeface="Trebuchet MS" panose="020B0603020202020204" pitchFamily="34" charset="0"/>
              </a:rPr>
              <a:t> </a:t>
            </a:r>
            <a:r>
              <a:rPr spc="-15" dirty="0">
                <a:latin typeface="Trebuchet MS" panose="020B0603020202020204" pitchFamily="34" charset="0"/>
              </a:rPr>
              <a:t>good-</a:t>
            </a:r>
            <a:r>
              <a:rPr dirty="0">
                <a:latin typeface="Trebuchet MS" panose="020B0603020202020204" pitchFamily="34" charset="0"/>
              </a:rPr>
              <a:t>use</a:t>
            </a:r>
            <a:r>
              <a:rPr spc="-30" dirty="0">
                <a:latin typeface="Trebuchet MS" panose="020B0603020202020204" pitchFamily="34" charset="0"/>
              </a:rPr>
              <a:t> </a:t>
            </a:r>
            <a:r>
              <a:rPr spc="-15" dirty="0">
                <a:latin typeface="Trebuchet MS" panose="020B0603020202020204" pitchFamily="34" charset="0"/>
              </a:rPr>
              <a:t>example:</a:t>
            </a:r>
          </a:p>
          <a:p>
            <a:pPr marL="468094" marR="45299">
              <a:spcBef>
                <a:spcPts val="253"/>
              </a:spcBef>
            </a:pPr>
            <a:r>
              <a:rPr dirty="0">
                <a:latin typeface="Trebuchet MS" panose="020B0603020202020204" pitchFamily="34" charset="0"/>
              </a:rPr>
              <a:t>When</a:t>
            </a:r>
            <a:r>
              <a:rPr spc="-30" dirty="0">
                <a:latin typeface="Trebuchet MS" panose="020B0603020202020204" pitchFamily="34" charset="0"/>
              </a:rPr>
              <a:t> </a:t>
            </a:r>
            <a:r>
              <a:rPr dirty="0">
                <a:latin typeface="Trebuchet MS" panose="020B0603020202020204" pitchFamily="34" charset="0"/>
              </a:rPr>
              <a:t>a</a:t>
            </a:r>
            <a:r>
              <a:rPr spc="-22" dirty="0">
                <a:latin typeface="Trebuchet MS" panose="020B0603020202020204" pitchFamily="34" charset="0"/>
              </a:rPr>
              <a:t> </a:t>
            </a:r>
            <a:r>
              <a:rPr dirty="0">
                <a:latin typeface="Trebuchet MS" panose="020B0603020202020204" pitchFamily="34" charset="0"/>
              </a:rPr>
              <a:t>consumer</a:t>
            </a:r>
            <a:r>
              <a:rPr spc="-30" dirty="0">
                <a:latin typeface="Trebuchet MS" panose="020B0603020202020204" pitchFamily="34" charset="0"/>
              </a:rPr>
              <a:t> </a:t>
            </a:r>
            <a:r>
              <a:rPr dirty="0">
                <a:latin typeface="Trebuchet MS" panose="020B0603020202020204" pitchFamily="34" charset="0"/>
              </a:rPr>
              <a:t>wants</a:t>
            </a:r>
            <a:r>
              <a:rPr spc="-22" dirty="0">
                <a:latin typeface="Trebuchet MS" panose="020B0603020202020204" pitchFamily="34" charset="0"/>
              </a:rPr>
              <a:t> </a:t>
            </a:r>
            <a:r>
              <a:rPr dirty="0">
                <a:latin typeface="Trebuchet MS" panose="020B0603020202020204" pitchFamily="34" charset="0"/>
              </a:rPr>
              <a:t>to</a:t>
            </a:r>
            <a:r>
              <a:rPr spc="-30" dirty="0">
                <a:latin typeface="Trebuchet MS" panose="020B0603020202020204" pitchFamily="34" charset="0"/>
              </a:rPr>
              <a:t> </a:t>
            </a:r>
            <a:r>
              <a:rPr dirty="0">
                <a:latin typeface="Trebuchet MS" panose="020B0603020202020204" pitchFamily="34" charset="0"/>
              </a:rPr>
              <a:t>build</a:t>
            </a:r>
            <a:r>
              <a:rPr spc="-22" dirty="0">
                <a:latin typeface="Trebuchet MS" panose="020B0603020202020204" pitchFamily="34" charset="0"/>
              </a:rPr>
              <a:t> </a:t>
            </a:r>
            <a:r>
              <a:rPr dirty="0">
                <a:latin typeface="Trebuchet MS" panose="020B0603020202020204" pitchFamily="34" charset="0"/>
              </a:rPr>
              <a:t>and</a:t>
            </a:r>
            <a:r>
              <a:rPr spc="-30" dirty="0">
                <a:latin typeface="Trebuchet MS" panose="020B0603020202020204" pitchFamily="34" charset="0"/>
              </a:rPr>
              <a:t> </a:t>
            </a:r>
            <a:r>
              <a:rPr spc="-15" dirty="0">
                <a:latin typeface="Trebuchet MS" panose="020B0603020202020204" pitchFamily="34" charset="0"/>
              </a:rPr>
              <a:t>deploy</a:t>
            </a:r>
            <a:r>
              <a:rPr spc="743" dirty="0">
                <a:latin typeface="Trebuchet MS" panose="020B0603020202020204" pitchFamily="34" charset="0"/>
              </a:rPr>
              <a:t> </a:t>
            </a:r>
            <a:r>
              <a:rPr dirty="0">
                <a:latin typeface="Trebuchet MS" panose="020B0603020202020204" pitchFamily="34" charset="0"/>
              </a:rPr>
              <a:t>different</a:t>
            </a:r>
            <a:r>
              <a:rPr spc="-45" dirty="0">
                <a:latin typeface="Trebuchet MS" panose="020B0603020202020204" pitchFamily="34" charset="0"/>
              </a:rPr>
              <a:t> </a:t>
            </a:r>
            <a:r>
              <a:rPr dirty="0">
                <a:latin typeface="Trebuchet MS" panose="020B0603020202020204" pitchFamily="34" charset="0"/>
              </a:rPr>
              <a:t>server</a:t>
            </a:r>
            <a:r>
              <a:rPr spc="-37" dirty="0">
                <a:latin typeface="Trebuchet MS" panose="020B0603020202020204" pitchFamily="34" charset="0"/>
              </a:rPr>
              <a:t> </a:t>
            </a:r>
            <a:r>
              <a:rPr dirty="0">
                <a:latin typeface="Trebuchet MS" panose="020B0603020202020204" pitchFamily="34" charset="0"/>
              </a:rPr>
              <a:t>configurations,</a:t>
            </a:r>
            <a:r>
              <a:rPr spc="-37" dirty="0">
                <a:latin typeface="Trebuchet MS" panose="020B0603020202020204" pitchFamily="34" charset="0"/>
              </a:rPr>
              <a:t> </a:t>
            </a:r>
            <a:r>
              <a:rPr dirty="0">
                <a:latin typeface="Trebuchet MS" panose="020B0603020202020204" pitchFamily="34" charset="0"/>
              </a:rPr>
              <a:t>“test”</a:t>
            </a:r>
            <a:r>
              <a:rPr spc="-37" dirty="0">
                <a:latin typeface="Trebuchet MS" panose="020B0603020202020204" pitchFamily="34" charset="0"/>
              </a:rPr>
              <a:t> </a:t>
            </a:r>
            <a:r>
              <a:rPr dirty="0">
                <a:latin typeface="Trebuchet MS" panose="020B0603020202020204" pitchFamily="34" charset="0"/>
              </a:rPr>
              <a:t>and</a:t>
            </a:r>
            <a:r>
              <a:rPr spc="-45" dirty="0">
                <a:latin typeface="Trebuchet MS" panose="020B0603020202020204" pitchFamily="34" charset="0"/>
              </a:rPr>
              <a:t> </a:t>
            </a:r>
            <a:r>
              <a:rPr spc="-15" dirty="0">
                <a:latin typeface="Trebuchet MS" panose="020B0603020202020204" pitchFamily="34" charset="0"/>
              </a:rPr>
              <a:t>decide </a:t>
            </a:r>
            <a:r>
              <a:rPr dirty="0">
                <a:latin typeface="Trebuchet MS" panose="020B0603020202020204" pitchFamily="34" charset="0"/>
              </a:rPr>
              <a:t>among</a:t>
            </a:r>
            <a:r>
              <a:rPr spc="-22" dirty="0">
                <a:latin typeface="Trebuchet MS" panose="020B0603020202020204" pitchFamily="34" charset="0"/>
              </a:rPr>
              <a:t> </a:t>
            </a:r>
            <a:r>
              <a:rPr dirty="0">
                <a:latin typeface="Trebuchet MS" panose="020B0603020202020204" pitchFamily="34" charset="0"/>
              </a:rPr>
              <a:t>them</a:t>
            </a:r>
            <a:r>
              <a:rPr spc="-15" dirty="0">
                <a:latin typeface="Trebuchet MS" panose="020B0603020202020204" pitchFamily="34" charset="0"/>
              </a:rPr>
              <a:t> (even </a:t>
            </a:r>
            <a:r>
              <a:rPr dirty="0">
                <a:latin typeface="Trebuchet MS" panose="020B0603020202020204" pitchFamily="34" charset="0"/>
              </a:rPr>
              <a:t>as</a:t>
            </a:r>
            <a:r>
              <a:rPr spc="-15" dirty="0">
                <a:latin typeface="Trebuchet MS" panose="020B0603020202020204" pitchFamily="34" charset="0"/>
              </a:rPr>
              <a:t> </a:t>
            </a:r>
            <a:r>
              <a:rPr dirty="0">
                <a:latin typeface="Trebuchet MS" panose="020B0603020202020204" pitchFamily="34" charset="0"/>
              </a:rPr>
              <a:t>an</a:t>
            </a:r>
            <a:r>
              <a:rPr spc="-15" dirty="0">
                <a:latin typeface="Trebuchet MS" panose="020B0603020202020204" pitchFamily="34" charset="0"/>
              </a:rPr>
              <a:t> on-</a:t>
            </a:r>
            <a:r>
              <a:rPr dirty="0">
                <a:latin typeface="Trebuchet MS" panose="020B0603020202020204" pitchFamily="34" charset="0"/>
              </a:rPr>
              <a:t>premise</a:t>
            </a:r>
            <a:r>
              <a:rPr spc="-15" dirty="0">
                <a:latin typeface="Trebuchet MS" panose="020B0603020202020204" pitchFamily="34" charset="0"/>
              </a:rPr>
              <a:t> </a:t>
            </a:r>
            <a:r>
              <a:rPr dirty="0">
                <a:latin typeface="Trebuchet MS" panose="020B0603020202020204" pitchFamily="34" charset="0"/>
              </a:rPr>
              <a:t>solution).</a:t>
            </a:r>
            <a:r>
              <a:rPr spc="82" dirty="0">
                <a:latin typeface="Trebuchet MS" panose="020B0603020202020204" pitchFamily="34" charset="0"/>
              </a:rPr>
              <a:t> </a:t>
            </a:r>
            <a:r>
              <a:rPr spc="-37" dirty="0">
                <a:latin typeface="Trebuchet MS" panose="020B0603020202020204" pitchFamily="34" charset="0"/>
              </a:rPr>
              <a:t>So </a:t>
            </a:r>
            <a:r>
              <a:rPr dirty="0">
                <a:latin typeface="Trebuchet MS" panose="020B0603020202020204" pitchFamily="34" charset="0"/>
              </a:rPr>
              <a:t>instead</a:t>
            </a:r>
            <a:r>
              <a:rPr spc="-7" dirty="0">
                <a:latin typeface="Trebuchet MS" panose="020B0603020202020204" pitchFamily="34" charset="0"/>
              </a:rPr>
              <a:t> </a:t>
            </a:r>
            <a:r>
              <a:rPr dirty="0">
                <a:latin typeface="Trebuchet MS" panose="020B0603020202020204" pitchFamily="34" charset="0"/>
              </a:rPr>
              <a:t>of</a:t>
            </a:r>
            <a:r>
              <a:rPr spc="-7" dirty="0">
                <a:latin typeface="Trebuchet MS" panose="020B0603020202020204" pitchFamily="34" charset="0"/>
              </a:rPr>
              <a:t> </a:t>
            </a:r>
            <a:r>
              <a:rPr dirty="0">
                <a:latin typeface="Trebuchet MS" panose="020B0603020202020204" pitchFamily="34" charset="0"/>
              </a:rPr>
              <a:t>hundreds</a:t>
            </a:r>
            <a:r>
              <a:rPr spc="-7" dirty="0">
                <a:latin typeface="Trebuchet MS" panose="020B0603020202020204" pitchFamily="34" charset="0"/>
              </a:rPr>
              <a:t> </a:t>
            </a:r>
            <a:r>
              <a:rPr dirty="0">
                <a:latin typeface="Trebuchet MS" panose="020B0603020202020204" pitchFamily="34" charset="0"/>
              </a:rPr>
              <a:t>of</a:t>
            </a:r>
            <a:r>
              <a:rPr spc="-7" dirty="0">
                <a:latin typeface="Trebuchet MS" panose="020B0603020202020204" pitchFamily="34" charset="0"/>
              </a:rPr>
              <a:t> </a:t>
            </a:r>
            <a:r>
              <a:rPr dirty="0">
                <a:latin typeface="Trebuchet MS" panose="020B0603020202020204" pitchFamily="34" charset="0"/>
              </a:rPr>
              <a:t>thousands</a:t>
            </a:r>
            <a:r>
              <a:rPr spc="-7" dirty="0">
                <a:latin typeface="Trebuchet MS" panose="020B0603020202020204" pitchFamily="34" charset="0"/>
              </a:rPr>
              <a:t> </a:t>
            </a:r>
            <a:r>
              <a:rPr dirty="0">
                <a:latin typeface="Trebuchet MS" panose="020B0603020202020204" pitchFamily="34" charset="0"/>
              </a:rPr>
              <a:t>of</a:t>
            </a:r>
            <a:r>
              <a:rPr spc="-7" dirty="0">
                <a:latin typeface="Trebuchet MS" panose="020B0603020202020204" pitchFamily="34" charset="0"/>
              </a:rPr>
              <a:t> </a:t>
            </a:r>
            <a:r>
              <a:rPr dirty="0">
                <a:latin typeface="Trebuchet MS" panose="020B0603020202020204" pitchFamily="34" charset="0"/>
              </a:rPr>
              <a:t>pounds</a:t>
            </a:r>
            <a:r>
              <a:rPr spc="-7" dirty="0">
                <a:latin typeface="Trebuchet MS" panose="020B0603020202020204" pitchFamily="34" charset="0"/>
              </a:rPr>
              <a:t> </a:t>
            </a:r>
            <a:r>
              <a:rPr dirty="0">
                <a:latin typeface="Trebuchet MS" panose="020B0603020202020204" pitchFamily="34" charset="0"/>
              </a:rPr>
              <a:t>this</a:t>
            </a:r>
            <a:r>
              <a:rPr spc="-7" dirty="0">
                <a:latin typeface="Trebuchet MS" panose="020B0603020202020204" pitchFamily="34" charset="0"/>
              </a:rPr>
              <a:t> </a:t>
            </a:r>
            <a:r>
              <a:rPr spc="-37" dirty="0">
                <a:latin typeface="Trebuchet MS" panose="020B0603020202020204" pitchFamily="34" charset="0"/>
              </a:rPr>
              <a:t>can </a:t>
            </a:r>
            <a:r>
              <a:rPr dirty="0">
                <a:latin typeface="Trebuchet MS" panose="020B0603020202020204" pitchFamily="34" charset="0"/>
              </a:rPr>
              <a:t>be</a:t>
            </a:r>
            <a:r>
              <a:rPr spc="-7" dirty="0">
                <a:latin typeface="Trebuchet MS" panose="020B0603020202020204" pitchFamily="34" charset="0"/>
              </a:rPr>
              <a:t> </a:t>
            </a:r>
            <a:r>
              <a:rPr dirty="0">
                <a:latin typeface="Trebuchet MS" panose="020B0603020202020204" pitchFamily="34" charset="0"/>
              </a:rPr>
              <a:t>done</a:t>
            </a:r>
            <a:r>
              <a:rPr spc="-7" dirty="0">
                <a:latin typeface="Trebuchet MS" panose="020B0603020202020204" pitchFamily="34" charset="0"/>
              </a:rPr>
              <a:t> </a:t>
            </a:r>
            <a:r>
              <a:rPr dirty="0">
                <a:latin typeface="Trebuchet MS" panose="020B0603020202020204" pitchFamily="34" charset="0"/>
              </a:rPr>
              <a:t>in</a:t>
            </a:r>
            <a:r>
              <a:rPr spc="-7" dirty="0">
                <a:latin typeface="Trebuchet MS" panose="020B0603020202020204" pitchFamily="34" charset="0"/>
              </a:rPr>
              <a:t> </a:t>
            </a:r>
            <a:r>
              <a:rPr dirty="0">
                <a:latin typeface="Trebuchet MS" panose="020B0603020202020204" pitchFamily="34" charset="0"/>
              </a:rPr>
              <a:t>couple</a:t>
            </a:r>
            <a:r>
              <a:rPr spc="-7" dirty="0">
                <a:latin typeface="Trebuchet MS" panose="020B0603020202020204" pitchFamily="34" charset="0"/>
              </a:rPr>
              <a:t> </a:t>
            </a:r>
            <a:r>
              <a:rPr dirty="0">
                <a:latin typeface="Trebuchet MS" panose="020B0603020202020204" pitchFamily="34" charset="0"/>
              </a:rPr>
              <a:t>of</a:t>
            </a:r>
            <a:r>
              <a:rPr spc="-7" dirty="0">
                <a:latin typeface="Trebuchet MS" panose="020B0603020202020204" pitchFamily="34" charset="0"/>
              </a:rPr>
              <a:t> </a:t>
            </a:r>
            <a:r>
              <a:rPr spc="-30" dirty="0">
                <a:latin typeface="Trebuchet MS" panose="020B0603020202020204" pitchFamily="34" charset="0"/>
              </a:rPr>
              <a:t>tens.</a:t>
            </a:r>
            <a:endParaRPr dirty="0">
              <a:latin typeface="Trebuchet MS" panose="020B0603020202020204" pitchFamily="34" charset="0"/>
            </a:endParaRPr>
          </a:p>
        </p:txBody>
      </p:sp>
      <p:sp>
        <p:nvSpPr>
          <p:cNvPr id="33" name="object 33"/>
          <p:cNvSpPr/>
          <p:nvPr/>
        </p:nvSpPr>
        <p:spPr>
          <a:xfrm>
            <a:off x="976411" y="3904219"/>
            <a:ext cx="2718033"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endParaRPr sz="2675"/>
          </a:p>
        </p:txBody>
      </p:sp>
      <p:sp>
        <p:nvSpPr>
          <p:cNvPr id="34" name="object 34"/>
          <p:cNvSpPr txBox="1"/>
          <p:nvPr/>
        </p:nvSpPr>
        <p:spPr>
          <a:xfrm>
            <a:off x="919785" y="3920142"/>
            <a:ext cx="5011373" cy="633275"/>
          </a:xfrm>
          <a:prstGeom prst="rect">
            <a:avLst/>
          </a:prstGeom>
        </p:spPr>
        <p:txBody>
          <a:bodyPr vert="horz" wrap="square" lIns="0" tIns="17931" rIns="0" bIns="0" rtlCol="0">
            <a:spAutoFit/>
          </a:bodyPr>
          <a:lstStyle/>
          <a:p>
            <a:pPr marL="288784">
              <a:spcBef>
                <a:spcPts val="141"/>
              </a:spcBef>
            </a:pPr>
            <a:r>
              <a:rPr sz="1338" baseline="37037" dirty="0">
                <a:latin typeface="Arial MT"/>
                <a:cs typeface="Arial MT"/>
              </a:rPr>
              <a:t>3</a:t>
            </a:r>
            <a:r>
              <a:rPr sz="1338" dirty="0">
                <a:latin typeface="Arial MT"/>
                <a:cs typeface="Arial MT"/>
              </a:rPr>
              <a:t>As</a:t>
            </a:r>
            <a:r>
              <a:rPr sz="1338" spc="-37" dirty="0">
                <a:latin typeface="Arial MT"/>
                <a:cs typeface="Arial MT"/>
              </a:rPr>
              <a:t> </a:t>
            </a:r>
            <a:r>
              <a:rPr sz="1338" dirty="0">
                <a:latin typeface="Arial MT"/>
                <a:cs typeface="Arial MT"/>
              </a:rPr>
              <a:t>of</a:t>
            </a:r>
            <a:r>
              <a:rPr sz="1338" spc="-30" dirty="0">
                <a:latin typeface="Arial MT"/>
                <a:cs typeface="Arial MT"/>
              </a:rPr>
              <a:t> </a:t>
            </a:r>
            <a:r>
              <a:rPr sz="1338" dirty="0">
                <a:latin typeface="Arial MT"/>
                <a:cs typeface="Arial MT"/>
              </a:rPr>
              <a:t>Sep</a:t>
            </a:r>
            <a:r>
              <a:rPr sz="1338" spc="-37" dirty="0">
                <a:latin typeface="Arial MT"/>
                <a:cs typeface="Arial MT"/>
              </a:rPr>
              <a:t> </a:t>
            </a:r>
            <a:r>
              <a:rPr sz="1338" dirty="0">
                <a:latin typeface="Arial MT"/>
                <a:cs typeface="Arial MT"/>
              </a:rPr>
              <a:t>2017</a:t>
            </a:r>
            <a:r>
              <a:rPr sz="1338" spc="-30" dirty="0">
                <a:latin typeface="Arial MT"/>
                <a:cs typeface="Arial MT"/>
              </a:rPr>
              <a:t> </a:t>
            </a:r>
            <a:r>
              <a:rPr sz="1338" dirty="0">
                <a:latin typeface="Arial MT"/>
                <a:cs typeface="Arial MT"/>
              </a:rPr>
              <a:t>it</a:t>
            </a:r>
            <a:r>
              <a:rPr sz="1338" spc="-30" dirty="0">
                <a:latin typeface="Arial MT"/>
                <a:cs typeface="Arial MT"/>
              </a:rPr>
              <a:t> </a:t>
            </a:r>
            <a:r>
              <a:rPr sz="1338" dirty="0">
                <a:latin typeface="Arial MT"/>
                <a:cs typeface="Arial MT"/>
              </a:rPr>
              <a:t>was</a:t>
            </a:r>
            <a:r>
              <a:rPr sz="1338" spc="-37" dirty="0">
                <a:latin typeface="Arial MT"/>
                <a:cs typeface="Arial MT"/>
              </a:rPr>
              <a:t> </a:t>
            </a:r>
            <a:r>
              <a:rPr sz="1338" dirty="0">
                <a:latin typeface="Arial MT"/>
                <a:cs typeface="Arial MT"/>
              </a:rPr>
              <a:t>about</a:t>
            </a:r>
            <a:r>
              <a:rPr sz="1338" spc="-30" dirty="0">
                <a:latin typeface="Arial MT"/>
                <a:cs typeface="Arial MT"/>
              </a:rPr>
              <a:t> </a:t>
            </a:r>
            <a:r>
              <a:rPr sz="1338" dirty="0">
                <a:latin typeface="Arial MT"/>
                <a:cs typeface="Arial MT"/>
              </a:rPr>
              <a:t>600</a:t>
            </a:r>
            <a:r>
              <a:rPr sz="1338" spc="-30" dirty="0">
                <a:latin typeface="Arial MT"/>
                <a:cs typeface="Arial MT"/>
              </a:rPr>
              <a:t> </a:t>
            </a:r>
            <a:r>
              <a:rPr sz="1338" dirty="0">
                <a:latin typeface="Arial MT"/>
                <a:cs typeface="Arial MT"/>
              </a:rPr>
              <a:t>million</a:t>
            </a:r>
            <a:r>
              <a:rPr sz="1338" spc="-37" dirty="0">
                <a:latin typeface="Arial MT"/>
                <a:cs typeface="Arial MT"/>
              </a:rPr>
              <a:t> </a:t>
            </a:r>
            <a:r>
              <a:rPr sz="1338" dirty="0">
                <a:latin typeface="Arial MT"/>
                <a:cs typeface="Arial MT"/>
              </a:rPr>
              <a:t>active</a:t>
            </a:r>
            <a:r>
              <a:rPr sz="1338" spc="-30" dirty="0">
                <a:latin typeface="Arial MT"/>
                <a:cs typeface="Arial MT"/>
              </a:rPr>
              <a:t> </a:t>
            </a:r>
            <a:r>
              <a:rPr sz="1338" dirty="0">
                <a:latin typeface="Arial MT"/>
                <a:cs typeface="Arial MT"/>
              </a:rPr>
              <a:t>users</a:t>
            </a:r>
            <a:r>
              <a:rPr sz="1338" spc="-30" dirty="0">
                <a:latin typeface="Arial MT"/>
                <a:cs typeface="Arial MT"/>
              </a:rPr>
              <a:t> </a:t>
            </a:r>
            <a:r>
              <a:rPr sz="1338" spc="-15" dirty="0">
                <a:latin typeface="Arial MT"/>
                <a:cs typeface="Arial MT"/>
              </a:rPr>
              <a:t>monthly:</a:t>
            </a:r>
            <a:endParaRPr sz="1338">
              <a:latin typeface="Arial MT"/>
              <a:cs typeface="Arial MT"/>
            </a:endParaRPr>
          </a:p>
          <a:p>
            <a:pPr marL="56624" marR="1122103">
              <a:lnSpc>
                <a:spcPct val="101499"/>
              </a:lnSpc>
            </a:pPr>
            <a:r>
              <a:rPr sz="1338" spc="111" dirty="0">
                <a:latin typeface="Calibri"/>
                <a:cs typeface="Calibri"/>
                <a:hlinkClick r:id="rId2"/>
              </a:rPr>
              <a:t>https://www.statista.com/statistics/253577/</a:t>
            </a:r>
            <a:r>
              <a:rPr sz="1338" spc="111" dirty="0">
                <a:latin typeface="Calibri"/>
                <a:cs typeface="Calibri"/>
              </a:rPr>
              <a:t> </a:t>
            </a:r>
            <a:r>
              <a:rPr sz="1338" dirty="0">
                <a:latin typeface="Calibri"/>
                <a:cs typeface="Calibri"/>
                <a:hlinkClick r:id="rId2"/>
              </a:rPr>
              <a:t>number-</a:t>
            </a:r>
            <a:r>
              <a:rPr sz="1338" spc="208" dirty="0">
                <a:latin typeface="Calibri"/>
                <a:cs typeface="Calibri"/>
                <a:hlinkClick r:id="rId2"/>
              </a:rPr>
              <a:t>of-</a:t>
            </a:r>
            <a:r>
              <a:rPr sz="1338" spc="82" dirty="0">
                <a:latin typeface="Calibri"/>
                <a:cs typeface="Calibri"/>
                <a:hlinkClick r:id="rId2"/>
              </a:rPr>
              <a:t>monthly-</a:t>
            </a:r>
            <a:r>
              <a:rPr sz="1338" spc="186" dirty="0">
                <a:latin typeface="Calibri"/>
                <a:cs typeface="Calibri"/>
                <a:hlinkClick r:id="rId2"/>
              </a:rPr>
              <a:t>active-</a:t>
            </a:r>
            <a:r>
              <a:rPr sz="1338" spc="111" dirty="0">
                <a:latin typeface="Calibri"/>
                <a:cs typeface="Calibri"/>
                <a:hlinkClick r:id="rId3" action="ppaction://hlinksldjump"/>
              </a:rPr>
              <a:t>instagram-</a:t>
            </a:r>
            <a:r>
              <a:rPr sz="1338" spc="111" dirty="0">
                <a:latin typeface="Calibri"/>
                <a:cs typeface="Calibri"/>
                <a:hlinkClick r:id="rId4" action="ppaction://hlinksldjump"/>
              </a:rPr>
              <a:t>users/</a:t>
            </a:r>
            <a:endParaRPr sz="1338">
              <a:latin typeface="Calibri"/>
              <a:cs typeface="Calibri"/>
            </a:endParaRP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4053964" y="4914975"/>
            <a:ext cx="88461"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7" name="object 7"/>
          <p:cNvSpPr/>
          <p:nvPr/>
        </p:nvSpPr>
        <p:spPr>
          <a:xfrm>
            <a:off x="3935634" y="4909087"/>
            <a:ext cx="52035"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8" name="object 8"/>
          <p:cNvSpPr/>
          <p:nvPr/>
        </p:nvSpPr>
        <p:spPr>
          <a:xfrm>
            <a:off x="4199891" y="4909087"/>
            <a:ext cx="52035"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9" name="object 9"/>
          <p:cNvGrpSpPr/>
          <p:nvPr/>
        </p:nvGrpSpPr>
        <p:grpSpPr>
          <a:xfrm>
            <a:off x="4332638" y="4895888"/>
            <a:ext cx="416288" cy="83051"/>
            <a:chOff x="3275863" y="3358384"/>
            <a:chExt cx="203200" cy="55880"/>
          </a:xfrm>
        </p:grpSpPr>
        <p:sp>
          <p:nvSpPr>
            <p:cNvPr id="10" name="object 10"/>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1" name="object 11"/>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2" name="object 12"/>
          <p:cNvGrpSpPr/>
          <p:nvPr/>
        </p:nvGrpSpPr>
        <p:grpSpPr>
          <a:xfrm>
            <a:off x="4729640" y="4894008"/>
            <a:ext cx="416288" cy="86825"/>
            <a:chOff x="3542982" y="3357119"/>
            <a:chExt cx="203200" cy="58419"/>
          </a:xfrm>
        </p:grpSpPr>
        <p:sp>
          <p:nvSpPr>
            <p:cNvPr id="13" name="object 13"/>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4" name="object 14"/>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5" name="object 15"/>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6" name="object 16"/>
          <p:cNvGrpSpPr/>
          <p:nvPr/>
        </p:nvGrpSpPr>
        <p:grpSpPr>
          <a:xfrm>
            <a:off x="5126643" y="4894008"/>
            <a:ext cx="416288" cy="86825"/>
            <a:chOff x="3810101" y="3357119"/>
            <a:chExt cx="203200" cy="58419"/>
          </a:xfrm>
        </p:grpSpPr>
        <p:sp>
          <p:nvSpPr>
            <p:cNvPr id="17" name="object 17"/>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18" name="object 18"/>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9" name="object 19"/>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0" name="object 20"/>
          <p:cNvSpPr/>
          <p:nvPr/>
        </p:nvSpPr>
        <p:spPr>
          <a:xfrm>
            <a:off x="5636917" y="4899648"/>
            <a:ext cx="104072"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1" name="object 21"/>
          <p:cNvGrpSpPr/>
          <p:nvPr/>
        </p:nvGrpSpPr>
        <p:grpSpPr>
          <a:xfrm>
            <a:off x="5894257" y="4895887"/>
            <a:ext cx="489138" cy="84939"/>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5" name="object 25"/>
          <p:cNvSpPr txBox="1">
            <a:spLocks noGrp="1"/>
          </p:cNvSpPr>
          <p:nvPr>
            <p:ph type="title"/>
          </p:nvPr>
        </p:nvSpPr>
        <p:spPr>
          <a:xfrm>
            <a:off x="487218" y="21997"/>
            <a:ext cx="5260275" cy="456618"/>
          </a:xfrm>
          <a:prstGeom prst="rect">
            <a:avLst/>
          </a:prstGeom>
        </p:spPr>
        <p:txBody>
          <a:bodyPr vert="horz" wrap="square" lIns="0" tIns="25482" rIns="0" bIns="0" rtlCol="0">
            <a:spAutoFit/>
          </a:bodyPr>
          <a:lstStyle/>
          <a:p>
            <a:pPr marL="18875">
              <a:spcBef>
                <a:spcPts val="201"/>
              </a:spcBef>
            </a:pPr>
            <a:r>
              <a:rPr dirty="0"/>
              <a:t>Main</a:t>
            </a:r>
            <a:r>
              <a:rPr spc="111" dirty="0"/>
              <a:t> </a:t>
            </a:r>
            <a:r>
              <a:rPr dirty="0"/>
              <a:t>Service</a:t>
            </a:r>
            <a:r>
              <a:rPr spc="119" dirty="0"/>
              <a:t> </a:t>
            </a:r>
            <a:r>
              <a:rPr dirty="0"/>
              <a:t>Models:</a:t>
            </a:r>
            <a:r>
              <a:rPr spc="282" dirty="0"/>
              <a:t> </a:t>
            </a:r>
            <a:r>
              <a:rPr spc="-30" dirty="0"/>
              <a:t>IaaS</a:t>
            </a:r>
          </a:p>
        </p:txBody>
      </p:sp>
      <p:sp>
        <p:nvSpPr>
          <p:cNvPr id="27" name="object 27"/>
          <p:cNvSpPr txBox="1"/>
          <p:nvPr/>
        </p:nvSpPr>
        <p:spPr>
          <a:xfrm>
            <a:off x="840853" y="478615"/>
            <a:ext cx="7160147" cy="1087273"/>
          </a:xfrm>
          <a:prstGeom prst="rect">
            <a:avLst/>
          </a:prstGeom>
        </p:spPr>
        <p:txBody>
          <a:bodyPr vert="horz" wrap="square" lIns="0" tIns="49074" rIns="0" bIns="0" rtlCol="0">
            <a:spAutoFit/>
          </a:bodyPr>
          <a:lstStyle/>
          <a:p>
            <a:pPr marL="18875">
              <a:spcBef>
                <a:spcPts val="385"/>
              </a:spcBef>
            </a:pPr>
            <a:r>
              <a:rPr sz="1635" dirty="0">
                <a:latin typeface="Arial MT"/>
                <a:cs typeface="Arial MT"/>
              </a:rPr>
              <a:t>Some</a:t>
            </a:r>
            <a:r>
              <a:rPr sz="1635" spc="-45" dirty="0">
                <a:latin typeface="Arial MT"/>
                <a:cs typeface="Arial MT"/>
              </a:rPr>
              <a:t> </a:t>
            </a:r>
            <a:r>
              <a:rPr sz="1635" dirty="0">
                <a:latin typeface="Arial MT"/>
                <a:cs typeface="Arial MT"/>
              </a:rPr>
              <a:t>currently</a:t>
            </a:r>
            <a:r>
              <a:rPr sz="1635" spc="-37" dirty="0">
                <a:latin typeface="Arial MT"/>
                <a:cs typeface="Arial MT"/>
              </a:rPr>
              <a:t> </a:t>
            </a:r>
            <a:r>
              <a:rPr sz="1635" spc="-30" dirty="0">
                <a:latin typeface="Arial MT"/>
                <a:cs typeface="Arial MT"/>
              </a:rPr>
              <a:t>well-</a:t>
            </a:r>
            <a:r>
              <a:rPr sz="1635" spc="-15" dirty="0">
                <a:latin typeface="Arial MT"/>
                <a:cs typeface="Arial MT"/>
              </a:rPr>
              <a:t>known</a:t>
            </a:r>
            <a:r>
              <a:rPr sz="1635" spc="-45" dirty="0">
                <a:latin typeface="Arial MT"/>
                <a:cs typeface="Arial MT"/>
              </a:rPr>
              <a:t> </a:t>
            </a:r>
            <a:r>
              <a:rPr sz="1635" dirty="0">
                <a:latin typeface="Arial MT"/>
                <a:cs typeface="Arial MT"/>
              </a:rPr>
              <a:t>IaaS</a:t>
            </a:r>
            <a:r>
              <a:rPr sz="1635" spc="-37" dirty="0">
                <a:latin typeface="Arial MT"/>
                <a:cs typeface="Arial MT"/>
              </a:rPr>
              <a:t> </a:t>
            </a:r>
            <a:r>
              <a:rPr sz="1635" spc="-15" dirty="0">
                <a:latin typeface="Arial MT"/>
                <a:cs typeface="Arial MT"/>
              </a:rPr>
              <a:t>vendors:</a:t>
            </a:r>
            <a:endParaRPr sz="1635">
              <a:latin typeface="Arial MT"/>
              <a:cs typeface="Arial MT"/>
            </a:endParaRPr>
          </a:p>
          <a:p>
            <a:pPr marL="430344" marR="7550">
              <a:lnSpc>
                <a:spcPct val="102600"/>
              </a:lnSpc>
              <a:spcBef>
                <a:spcPts val="178"/>
              </a:spcBef>
            </a:pPr>
            <a:r>
              <a:rPr sz="1635" dirty="0">
                <a:latin typeface="Arial MT"/>
                <a:cs typeface="Arial MT"/>
              </a:rPr>
              <a:t>Amazon</a:t>
            </a:r>
            <a:r>
              <a:rPr sz="1635" spc="-82" dirty="0">
                <a:latin typeface="Arial MT"/>
                <a:cs typeface="Arial MT"/>
              </a:rPr>
              <a:t> </a:t>
            </a:r>
            <a:r>
              <a:rPr sz="1635" dirty="0">
                <a:latin typeface="Arial MT"/>
                <a:cs typeface="Arial MT"/>
              </a:rPr>
              <a:t>Elastic</a:t>
            </a:r>
            <a:r>
              <a:rPr sz="1635" spc="-82" dirty="0">
                <a:latin typeface="Arial MT"/>
                <a:cs typeface="Arial MT"/>
              </a:rPr>
              <a:t> </a:t>
            </a:r>
            <a:r>
              <a:rPr sz="1635" dirty="0">
                <a:latin typeface="Arial MT"/>
                <a:cs typeface="Arial MT"/>
              </a:rPr>
              <a:t>Compute</a:t>
            </a:r>
            <a:r>
              <a:rPr sz="1635" spc="-82" dirty="0">
                <a:latin typeface="Arial MT"/>
                <a:cs typeface="Arial MT"/>
              </a:rPr>
              <a:t> </a:t>
            </a:r>
            <a:r>
              <a:rPr sz="1635" dirty="0">
                <a:latin typeface="Arial MT"/>
                <a:cs typeface="Arial MT"/>
              </a:rPr>
              <a:t>(EC2),</a:t>
            </a:r>
            <a:r>
              <a:rPr sz="1635" spc="-82" dirty="0">
                <a:latin typeface="Arial MT"/>
                <a:cs typeface="Arial MT"/>
              </a:rPr>
              <a:t> </a:t>
            </a:r>
            <a:r>
              <a:rPr sz="1635" dirty="0">
                <a:latin typeface="Arial MT"/>
                <a:cs typeface="Arial MT"/>
              </a:rPr>
              <a:t>Microsoft</a:t>
            </a:r>
            <a:r>
              <a:rPr sz="1635" spc="-82" dirty="0">
                <a:latin typeface="Arial MT"/>
                <a:cs typeface="Arial MT"/>
              </a:rPr>
              <a:t> </a:t>
            </a:r>
            <a:r>
              <a:rPr sz="1635" spc="-15" dirty="0">
                <a:latin typeface="Arial MT"/>
                <a:cs typeface="Arial MT"/>
              </a:rPr>
              <a:t>Azure, </a:t>
            </a:r>
            <a:r>
              <a:rPr sz="1635" dirty="0">
                <a:latin typeface="Arial MT"/>
                <a:cs typeface="Arial MT"/>
              </a:rPr>
              <a:t>IBM</a:t>
            </a:r>
            <a:r>
              <a:rPr sz="1635" spc="-59" dirty="0">
                <a:latin typeface="Arial MT"/>
                <a:cs typeface="Arial MT"/>
              </a:rPr>
              <a:t> </a:t>
            </a:r>
            <a:r>
              <a:rPr sz="1635" spc="-15" dirty="0">
                <a:latin typeface="Arial MT"/>
                <a:cs typeface="Arial MT"/>
              </a:rPr>
              <a:t>Softlayer,</a:t>
            </a:r>
            <a:r>
              <a:rPr sz="1635" spc="-59" dirty="0">
                <a:latin typeface="Arial MT"/>
                <a:cs typeface="Arial MT"/>
              </a:rPr>
              <a:t> </a:t>
            </a:r>
            <a:r>
              <a:rPr sz="1635" dirty="0">
                <a:latin typeface="Arial MT"/>
                <a:cs typeface="Arial MT"/>
              </a:rPr>
              <a:t>Google</a:t>
            </a:r>
            <a:r>
              <a:rPr sz="1635" spc="-59" dirty="0">
                <a:latin typeface="Arial MT"/>
                <a:cs typeface="Arial MT"/>
              </a:rPr>
              <a:t> </a:t>
            </a:r>
            <a:r>
              <a:rPr sz="1635" dirty="0">
                <a:latin typeface="Arial MT"/>
                <a:cs typeface="Arial MT"/>
              </a:rPr>
              <a:t>Compute</a:t>
            </a:r>
            <a:r>
              <a:rPr sz="1635" spc="-59" dirty="0">
                <a:latin typeface="Arial MT"/>
                <a:cs typeface="Arial MT"/>
              </a:rPr>
              <a:t> </a:t>
            </a:r>
            <a:r>
              <a:rPr sz="1635" spc="-15" dirty="0">
                <a:latin typeface="Arial MT"/>
                <a:cs typeface="Arial MT"/>
              </a:rPr>
              <a:t>Engine,</a:t>
            </a:r>
            <a:r>
              <a:rPr sz="1635" spc="-59" dirty="0">
                <a:latin typeface="Arial MT"/>
                <a:cs typeface="Arial MT"/>
              </a:rPr>
              <a:t> </a:t>
            </a:r>
            <a:r>
              <a:rPr sz="1635" spc="-15" dirty="0">
                <a:latin typeface="Arial MT"/>
                <a:cs typeface="Arial MT"/>
              </a:rPr>
              <a:t>RackSpace </a:t>
            </a:r>
            <a:r>
              <a:rPr sz="1635" dirty="0">
                <a:latin typeface="Arial MT"/>
                <a:cs typeface="Arial MT"/>
              </a:rPr>
              <a:t>Cloud</a:t>
            </a:r>
            <a:r>
              <a:rPr sz="1635" spc="-59" dirty="0">
                <a:latin typeface="Arial MT"/>
                <a:cs typeface="Arial MT"/>
              </a:rPr>
              <a:t> </a:t>
            </a:r>
            <a:r>
              <a:rPr sz="1635" dirty="0">
                <a:latin typeface="Arial MT"/>
                <a:cs typeface="Arial MT"/>
              </a:rPr>
              <a:t>Servers,</a:t>
            </a:r>
            <a:r>
              <a:rPr sz="1635" spc="-59" dirty="0">
                <a:latin typeface="Arial MT"/>
                <a:cs typeface="Arial MT"/>
              </a:rPr>
              <a:t> </a:t>
            </a:r>
            <a:r>
              <a:rPr sz="1635" spc="-15" dirty="0">
                <a:latin typeface="Arial MT"/>
                <a:cs typeface="Arial MT"/>
              </a:rPr>
              <a:t>vmware,</a:t>
            </a:r>
            <a:r>
              <a:rPr sz="1635" spc="-59" dirty="0">
                <a:latin typeface="Arial MT"/>
                <a:cs typeface="Arial MT"/>
              </a:rPr>
              <a:t> </a:t>
            </a:r>
            <a:r>
              <a:rPr sz="1635" spc="-15" dirty="0">
                <a:latin typeface="Arial MT"/>
                <a:cs typeface="Arial MT"/>
              </a:rPr>
              <a:t>CloudSigma,</a:t>
            </a:r>
            <a:r>
              <a:rPr sz="1635" spc="-52" dirty="0">
                <a:latin typeface="Arial MT"/>
                <a:cs typeface="Arial MT"/>
              </a:rPr>
              <a:t> </a:t>
            </a:r>
            <a:r>
              <a:rPr sz="1635" spc="-15" dirty="0">
                <a:latin typeface="Arial MT"/>
                <a:cs typeface="Arial MT"/>
              </a:rPr>
              <a:t>GoGrid, Joyent</a:t>
            </a:r>
            <a:endParaRPr sz="1635">
              <a:latin typeface="Arial MT"/>
              <a:cs typeface="Arial MT"/>
            </a:endParaRPr>
          </a:p>
        </p:txBody>
      </p:sp>
      <p:grpSp>
        <p:nvGrpSpPr>
          <p:cNvPr id="28" name="object 28"/>
          <p:cNvGrpSpPr/>
          <p:nvPr/>
        </p:nvGrpSpPr>
        <p:grpSpPr>
          <a:xfrm>
            <a:off x="-76200" y="1652445"/>
            <a:ext cx="7612983" cy="1872498"/>
            <a:chOff x="702495" y="1387677"/>
            <a:chExt cx="3813175" cy="1316355"/>
          </a:xfrm>
        </p:grpSpPr>
        <p:pic>
          <p:nvPicPr>
            <p:cNvPr id="29" name="object 29"/>
            <p:cNvPicPr/>
            <p:nvPr/>
          </p:nvPicPr>
          <p:blipFill>
            <a:blip r:embed="rId2" cstate="print"/>
            <a:stretch>
              <a:fillRect/>
            </a:stretch>
          </p:blipFill>
          <p:spPr>
            <a:xfrm>
              <a:off x="702495" y="1625150"/>
              <a:ext cx="1396247" cy="555167"/>
            </a:xfrm>
            <a:prstGeom prst="rect">
              <a:avLst/>
            </a:prstGeom>
          </p:spPr>
        </p:pic>
        <p:pic>
          <p:nvPicPr>
            <p:cNvPr id="30" name="object 30"/>
            <p:cNvPicPr/>
            <p:nvPr/>
          </p:nvPicPr>
          <p:blipFill>
            <a:blip r:embed="rId3" cstate="print"/>
            <a:stretch>
              <a:fillRect/>
            </a:stretch>
          </p:blipFill>
          <p:spPr>
            <a:xfrm>
              <a:off x="2045475" y="1387677"/>
              <a:ext cx="1373479" cy="1030109"/>
            </a:xfrm>
            <a:prstGeom prst="rect">
              <a:avLst/>
            </a:prstGeom>
          </p:spPr>
        </p:pic>
        <p:pic>
          <p:nvPicPr>
            <p:cNvPr id="31" name="object 31"/>
            <p:cNvPicPr/>
            <p:nvPr/>
          </p:nvPicPr>
          <p:blipFill>
            <a:blip r:embed="rId4" cstate="print"/>
            <a:stretch>
              <a:fillRect/>
            </a:stretch>
          </p:blipFill>
          <p:spPr>
            <a:xfrm>
              <a:off x="3425761" y="1608980"/>
              <a:ext cx="1081490" cy="587522"/>
            </a:xfrm>
            <a:prstGeom prst="rect">
              <a:avLst/>
            </a:prstGeom>
          </p:spPr>
        </p:pic>
        <p:pic>
          <p:nvPicPr>
            <p:cNvPr id="32" name="object 32"/>
            <p:cNvPicPr/>
            <p:nvPr/>
          </p:nvPicPr>
          <p:blipFill>
            <a:blip r:embed="rId5" cstate="print"/>
            <a:stretch>
              <a:fillRect/>
            </a:stretch>
          </p:blipFill>
          <p:spPr>
            <a:xfrm>
              <a:off x="774555" y="2081830"/>
              <a:ext cx="983742" cy="621724"/>
            </a:xfrm>
            <a:prstGeom prst="rect">
              <a:avLst/>
            </a:prstGeom>
          </p:spPr>
        </p:pic>
        <p:pic>
          <p:nvPicPr>
            <p:cNvPr id="33" name="object 33"/>
            <p:cNvPicPr/>
            <p:nvPr/>
          </p:nvPicPr>
          <p:blipFill>
            <a:blip r:embed="rId6" cstate="print"/>
            <a:stretch>
              <a:fillRect/>
            </a:stretch>
          </p:blipFill>
          <p:spPr>
            <a:xfrm>
              <a:off x="1776637" y="2127866"/>
              <a:ext cx="938890" cy="529630"/>
            </a:xfrm>
            <a:prstGeom prst="rect">
              <a:avLst/>
            </a:prstGeom>
          </p:spPr>
        </p:pic>
        <p:pic>
          <p:nvPicPr>
            <p:cNvPr id="34" name="object 34"/>
            <p:cNvPicPr/>
            <p:nvPr/>
          </p:nvPicPr>
          <p:blipFill>
            <a:blip r:embed="rId7" cstate="print"/>
            <a:stretch>
              <a:fillRect/>
            </a:stretch>
          </p:blipFill>
          <p:spPr>
            <a:xfrm>
              <a:off x="2789643" y="2283792"/>
              <a:ext cx="802419" cy="217789"/>
            </a:xfrm>
            <a:prstGeom prst="rect">
              <a:avLst/>
            </a:prstGeom>
          </p:spPr>
        </p:pic>
        <p:pic>
          <p:nvPicPr>
            <p:cNvPr id="35" name="object 35"/>
            <p:cNvPicPr/>
            <p:nvPr/>
          </p:nvPicPr>
          <p:blipFill>
            <a:blip r:embed="rId8" cstate="print"/>
            <a:stretch>
              <a:fillRect/>
            </a:stretch>
          </p:blipFill>
          <p:spPr>
            <a:xfrm>
              <a:off x="3757333" y="2273490"/>
              <a:ext cx="758309" cy="238404"/>
            </a:xfrm>
            <a:prstGeom prst="rect">
              <a:avLst/>
            </a:prstGeom>
          </p:spPr>
        </p:pic>
      </p:grpSp>
      <p:sp>
        <p:nvSpPr>
          <p:cNvPr id="37" name="object 37"/>
          <p:cNvSpPr txBox="1"/>
          <p:nvPr/>
        </p:nvSpPr>
        <p:spPr>
          <a:xfrm>
            <a:off x="1252671" y="4119232"/>
            <a:ext cx="7046387" cy="511773"/>
          </a:xfrm>
          <a:prstGeom prst="rect">
            <a:avLst/>
          </a:prstGeom>
        </p:spPr>
        <p:txBody>
          <a:bodyPr vert="horz" wrap="square" lIns="0" tIns="10381" rIns="0" bIns="0" rtlCol="0">
            <a:spAutoFit/>
          </a:bodyPr>
          <a:lstStyle/>
          <a:p>
            <a:pPr marL="18875" marR="7550">
              <a:lnSpc>
                <a:spcPct val="102600"/>
              </a:lnSpc>
              <a:spcBef>
                <a:spcPts val="82"/>
              </a:spcBef>
            </a:pPr>
            <a:r>
              <a:rPr sz="1635" dirty="0">
                <a:latin typeface="Arial MT"/>
                <a:cs typeface="Arial MT"/>
              </a:rPr>
              <a:t>But</a:t>
            </a:r>
            <a:r>
              <a:rPr sz="1635" spc="-67" dirty="0">
                <a:latin typeface="Arial MT"/>
                <a:cs typeface="Arial MT"/>
              </a:rPr>
              <a:t> </a:t>
            </a:r>
            <a:r>
              <a:rPr sz="1635" dirty="0">
                <a:latin typeface="Arial MT"/>
                <a:cs typeface="Arial MT"/>
              </a:rPr>
              <a:t>consumers</a:t>
            </a:r>
            <a:r>
              <a:rPr sz="1635" spc="-67" dirty="0">
                <a:latin typeface="Arial MT"/>
                <a:cs typeface="Arial MT"/>
              </a:rPr>
              <a:t> </a:t>
            </a:r>
            <a:r>
              <a:rPr sz="1635" dirty="0">
                <a:latin typeface="Arial MT"/>
                <a:cs typeface="Arial MT"/>
              </a:rPr>
              <a:t>can</a:t>
            </a:r>
            <a:r>
              <a:rPr sz="1635" spc="-67" dirty="0">
                <a:latin typeface="Arial MT"/>
                <a:cs typeface="Arial MT"/>
              </a:rPr>
              <a:t> </a:t>
            </a:r>
            <a:r>
              <a:rPr sz="1635" dirty="0">
                <a:latin typeface="Arial MT"/>
                <a:cs typeface="Arial MT"/>
              </a:rPr>
              <a:t>also</a:t>
            </a:r>
            <a:r>
              <a:rPr sz="1635" spc="-59" dirty="0">
                <a:latin typeface="Arial MT"/>
                <a:cs typeface="Arial MT"/>
              </a:rPr>
              <a:t> </a:t>
            </a:r>
            <a:r>
              <a:rPr sz="1635" dirty="0">
                <a:latin typeface="Arial MT"/>
                <a:cs typeface="Arial MT"/>
              </a:rPr>
              <a:t>build</a:t>
            </a:r>
            <a:r>
              <a:rPr sz="1635" spc="-67" dirty="0">
                <a:latin typeface="Arial MT"/>
                <a:cs typeface="Arial MT"/>
              </a:rPr>
              <a:t> </a:t>
            </a:r>
            <a:r>
              <a:rPr sz="1635" dirty="0">
                <a:latin typeface="Arial MT"/>
                <a:cs typeface="Arial MT"/>
              </a:rPr>
              <a:t>their</a:t>
            </a:r>
            <a:r>
              <a:rPr sz="1635" spc="-67" dirty="0">
                <a:latin typeface="Arial MT"/>
                <a:cs typeface="Arial MT"/>
              </a:rPr>
              <a:t> </a:t>
            </a:r>
            <a:r>
              <a:rPr sz="1635" dirty="0">
                <a:latin typeface="Arial MT"/>
                <a:cs typeface="Arial MT"/>
              </a:rPr>
              <a:t>own</a:t>
            </a:r>
            <a:r>
              <a:rPr sz="1635" spc="-59" dirty="0">
                <a:latin typeface="Arial MT"/>
                <a:cs typeface="Arial MT"/>
              </a:rPr>
              <a:t> </a:t>
            </a:r>
            <a:r>
              <a:rPr sz="1635" spc="-30" dirty="0">
                <a:latin typeface="Arial MT"/>
                <a:cs typeface="Arial MT"/>
              </a:rPr>
              <a:t>IaaS </a:t>
            </a:r>
            <a:r>
              <a:rPr sz="1635" spc="-15" dirty="0">
                <a:latin typeface="Arial MT"/>
                <a:cs typeface="Arial MT"/>
              </a:rPr>
              <a:t>capabilities</a:t>
            </a:r>
            <a:r>
              <a:rPr sz="1635" spc="-45" dirty="0">
                <a:latin typeface="Arial MT"/>
                <a:cs typeface="Arial MT"/>
              </a:rPr>
              <a:t> </a:t>
            </a:r>
            <a:r>
              <a:rPr sz="1635" spc="-15" dirty="0">
                <a:latin typeface="Arial MT"/>
                <a:cs typeface="Arial MT"/>
              </a:rPr>
              <a:t>in-</a:t>
            </a:r>
            <a:r>
              <a:rPr sz="1635" dirty="0">
                <a:latin typeface="Arial MT"/>
                <a:cs typeface="Arial MT"/>
              </a:rPr>
              <a:t>house</a:t>
            </a:r>
            <a:r>
              <a:rPr sz="1635" spc="-37" dirty="0">
                <a:latin typeface="Arial MT"/>
                <a:cs typeface="Arial MT"/>
              </a:rPr>
              <a:t> </a:t>
            </a:r>
            <a:r>
              <a:rPr sz="1635" dirty="0">
                <a:latin typeface="Arial MT"/>
                <a:cs typeface="Arial MT"/>
              </a:rPr>
              <a:t>(i.e.,</a:t>
            </a:r>
            <a:r>
              <a:rPr sz="1635" spc="-37" dirty="0">
                <a:latin typeface="Arial MT"/>
                <a:cs typeface="Arial MT"/>
              </a:rPr>
              <a:t> </a:t>
            </a:r>
            <a:r>
              <a:rPr sz="1635" dirty="0">
                <a:latin typeface="Arial MT"/>
                <a:cs typeface="Arial MT"/>
              </a:rPr>
              <a:t>a</a:t>
            </a:r>
            <a:r>
              <a:rPr sz="1635" spc="-37" dirty="0">
                <a:latin typeface="Arial MT"/>
                <a:cs typeface="Arial MT"/>
              </a:rPr>
              <a:t> </a:t>
            </a:r>
            <a:r>
              <a:rPr sz="1635" dirty="0">
                <a:latin typeface="Arial MT"/>
                <a:cs typeface="Arial MT"/>
              </a:rPr>
              <a:t>private</a:t>
            </a:r>
            <a:r>
              <a:rPr sz="1635" spc="-37" dirty="0">
                <a:latin typeface="Arial MT"/>
                <a:cs typeface="Arial MT"/>
              </a:rPr>
              <a:t> </a:t>
            </a:r>
            <a:r>
              <a:rPr sz="1635" dirty="0">
                <a:latin typeface="Arial MT"/>
                <a:cs typeface="Arial MT"/>
              </a:rPr>
              <a:t>cloud)</a:t>
            </a:r>
            <a:r>
              <a:rPr sz="1635" spc="-37" dirty="0">
                <a:latin typeface="Arial MT"/>
                <a:cs typeface="Arial MT"/>
              </a:rPr>
              <a:t> </a:t>
            </a:r>
            <a:r>
              <a:rPr sz="1635" spc="-15" dirty="0">
                <a:latin typeface="Arial MT"/>
                <a:cs typeface="Arial MT"/>
              </a:rPr>
              <a:t>using </a:t>
            </a:r>
            <a:r>
              <a:rPr sz="1635" b="1" spc="-15" dirty="0">
                <a:latin typeface="Arial"/>
                <a:cs typeface="Arial"/>
              </a:rPr>
              <a:t>OpenStack</a:t>
            </a:r>
            <a:r>
              <a:rPr sz="1635" b="1" spc="-45" dirty="0">
                <a:latin typeface="Arial"/>
                <a:cs typeface="Arial"/>
              </a:rPr>
              <a:t> </a:t>
            </a:r>
            <a:r>
              <a:rPr sz="1635" spc="-37" dirty="0">
                <a:latin typeface="Arial MT"/>
                <a:cs typeface="Arial MT"/>
              </a:rPr>
              <a:t>(say, </a:t>
            </a:r>
            <a:r>
              <a:rPr sz="1635" dirty="0">
                <a:latin typeface="Arial MT"/>
                <a:cs typeface="Arial MT"/>
              </a:rPr>
              <a:t>to</a:t>
            </a:r>
            <a:r>
              <a:rPr sz="1635" spc="-45" dirty="0">
                <a:latin typeface="Arial MT"/>
                <a:cs typeface="Arial MT"/>
              </a:rPr>
              <a:t> </a:t>
            </a:r>
            <a:r>
              <a:rPr sz="1635" spc="-15" dirty="0">
                <a:latin typeface="Arial MT"/>
                <a:cs typeface="Arial MT"/>
              </a:rPr>
              <a:t>avoid</a:t>
            </a:r>
            <a:r>
              <a:rPr sz="1635" spc="-37" dirty="0">
                <a:latin typeface="Arial MT"/>
                <a:cs typeface="Arial MT"/>
              </a:rPr>
              <a:t> </a:t>
            </a:r>
            <a:r>
              <a:rPr sz="1635" dirty="0">
                <a:latin typeface="Arial MT"/>
                <a:cs typeface="Arial MT"/>
              </a:rPr>
              <a:t>vendor</a:t>
            </a:r>
            <a:r>
              <a:rPr sz="1635" spc="-45" dirty="0">
                <a:latin typeface="Arial MT"/>
                <a:cs typeface="Arial MT"/>
              </a:rPr>
              <a:t> </a:t>
            </a:r>
            <a:r>
              <a:rPr sz="1635" spc="-30" dirty="0">
                <a:latin typeface="Arial MT"/>
                <a:cs typeface="Arial MT"/>
              </a:rPr>
              <a:t>lock-</a:t>
            </a:r>
            <a:r>
              <a:rPr sz="1635" spc="-37" dirty="0">
                <a:latin typeface="Arial MT"/>
                <a:cs typeface="Arial MT"/>
              </a:rPr>
              <a:t>in)</a:t>
            </a:r>
            <a:endParaRPr sz="1635" dirty="0">
              <a:latin typeface="Arial MT"/>
              <a:cs typeface="Arial MT"/>
            </a:endParaRPr>
          </a:p>
        </p:txBody>
      </p:sp>
      <p:pic>
        <p:nvPicPr>
          <p:cNvPr id="3" name="Picture 2">
            <a:extLst>
              <a:ext uri="{FF2B5EF4-FFF2-40B4-BE49-F238E27FC236}">
                <a16:creationId xmlns:a16="http://schemas.microsoft.com/office/drawing/2014/main" id="{98DE2BBA-2E66-2738-AE0B-983BAA146B3A}"/>
              </a:ext>
            </a:extLst>
          </p:cNvPr>
          <p:cNvPicPr>
            <a:picLocks noChangeAspect="1"/>
          </p:cNvPicPr>
          <p:nvPr/>
        </p:nvPicPr>
        <p:blipFill>
          <a:blip r:embed="rId9"/>
          <a:stretch>
            <a:fillRect/>
          </a:stretch>
        </p:blipFill>
        <p:spPr>
          <a:xfrm>
            <a:off x="7743378" y="3139065"/>
            <a:ext cx="1415038" cy="1004221"/>
          </a:xfrm>
          <a:prstGeom prst="rect">
            <a:avLst/>
          </a:prstGeom>
        </p:spPr>
      </p:pic>
      <p:pic>
        <p:nvPicPr>
          <p:cNvPr id="5" name="Picture 4">
            <a:extLst>
              <a:ext uri="{FF2B5EF4-FFF2-40B4-BE49-F238E27FC236}">
                <a16:creationId xmlns:a16="http://schemas.microsoft.com/office/drawing/2014/main" id="{D2A7AB49-8F04-77C0-4A30-968D8EDEE805}"/>
              </a:ext>
            </a:extLst>
          </p:cNvPr>
          <p:cNvPicPr>
            <a:picLocks noChangeAspect="1"/>
          </p:cNvPicPr>
          <p:nvPr/>
        </p:nvPicPr>
        <p:blipFill>
          <a:blip r:embed="rId10"/>
          <a:stretch>
            <a:fillRect/>
          </a:stretch>
        </p:blipFill>
        <p:spPr>
          <a:xfrm>
            <a:off x="7685007" y="1011503"/>
            <a:ext cx="1452066" cy="1017116"/>
          </a:xfrm>
          <a:prstGeom prst="rect">
            <a:avLst/>
          </a:prstGeom>
        </p:spPr>
      </p:pic>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object 18"/>
          <p:cNvGrpSpPr/>
          <p:nvPr/>
        </p:nvGrpSpPr>
        <p:grpSpPr>
          <a:xfrm>
            <a:off x="7576479" y="4991359"/>
            <a:ext cx="354854" cy="84939"/>
            <a:chOff x="4326582" y="3358384"/>
            <a:chExt cx="238760" cy="57150"/>
          </a:xfrm>
        </p:grpSpPr>
        <p:sp>
          <p:nvSpPr>
            <p:cNvPr id="19" name="object 19"/>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0" name="object 20"/>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1" name="object 21"/>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pic>
        <p:nvPicPr>
          <p:cNvPr id="29" name="Picture 28">
            <a:extLst>
              <a:ext uri="{FF2B5EF4-FFF2-40B4-BE49-F238E27FC236}">
                <a16:creationId xmlns:a16="http://schemas.microsoft.com/office/drawing/2014/main" id="{93F9EC22-7586-FC46-B000-02A98388317C}"/>
              </a:ext>
            </a:extLst>
          </p:cNvPr>
          <p:cNvPicPr>
            <a:picLocks noChangeAspect="1"/>
          </p:cNvPicPr>
          <p:nvPr/>
        </p:nvPicPr>
        <p:blipFill>
          <a:blip r:embed="rId2"/>
          <a:stretch>
            <a:fillRect/>
          </a:stretch>
        </p:blipFill>
        <p:spPr>
          <a:xfrm>
            <a:off x="1161574" y="32983"/>
            <a:ext cx="6820852" cy="5077534"/>
          </a:xfrm>
          <a:prstGeom prst="rect">
            <a:avLst/>
          </a:prstGeom>
        </p:spPr>
      </p:pic>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3BE7C9-AE58-5E8B-578B-7B5CCBF7754C}"/>
              </a:ext>
            </a:extLst>
          </p:cNvPr>
          <p:cNvPicPr>
            <a:picLocks noChangeAspect="1"/>
          </p:cNvPicPr>
          <p:nvPr/>
        </p:nvPicPr>
        <p:blipFill>
          <a:blip r:embed="rId2"/>
          <a:stretch>
            <a:fillRect/>
          </a:stretch>
        </p:blipFill>
        <p:spPr>
          <a:xfrm>
            <a:off x="1066800" y="57150"/>
            <a:ext cx="6744641" cy="4677428"/>
          </a:xfrm>
          <a:prstGeom prst="rect">
            <a:avLst/>
          </a:prstGeom>
        </p:spPr>
      </p:pic>
    </p:spTree>
    <p:extLst>
      <p:ext uri="{BB962C8B-B14F-4D97-AF65-F5344CB8AC3E}">
        <p14:creationId xmlns:p14="http://schemas.microsoft.com/office/powerpoint/2010/main" val="9618300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B7CF9C-EDC9-DF03-9E5C-5163E4FFC216}"/>
              </a:ext>
            </a:extLst>
          </p:cNvPr>
          <p:cNvPicPr>
            <a:picLocks noChangeAspect="1"/>
          </p:cNvPicPr>
          <p:nvPr/>
        </p:nvPicPr>
        <p:blipFill>
          <a:blip r:embed="rId2"/>
          <a:stretch>
            <a:fillRect/>
          </a:stretch>
        </p:blipFill>
        <p:spPr>
          <a:xfrm>
            <a:off x="1066800" y="209550"/>
            <a:ext cx="6820852" cy="4591691"/>
          </a:xfrm>
          <a:prstGeom prst="rect">
            <a:avLst/>
          </a:prstGeom>
        </p:spPr>
      </p:pic>
    </p:spTree>
    <p:extLst>
      <p:ext uri="{BB962C8B-B14F-4D97-AF65-F5344CB8AC3E}">
        <p14:creationId xmlns:p14="http://schemas.microsoft.com/office/powerpoint/2010/main" val="28394610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1E477F-B253-B490-B563-AE09F018044F}"/>
              </a:ext>
            </a:extLst>
          </p:cNvPr>
          <p:cNvPicPr>
            <a:picLocks noChangeAspect="1"/>
          </p:cNvPicPr>
          <p:nvPr/>
        </p:nvPicPr>
        <p:blipFill>
          <a:blip r:embed="rId2"/>
          <a:stretch>
            <a:fillRect/>
          </a:stretch>
        </p:blipFill>
        <p:spPr>
          <a:xfrm>
            <a:off x="2209800" y="0"/>
            <a:ext cx="4408326" cy="4857750"/>
          </a:xfrm>
          <a:prstGeom prst="rect">
            <a:avLst/>
          </a:prstGeom>
        </p:spPr>
      </p:pic>
    </p:spTree>
    <p:extLst>
      <p:ext uri="{BB962C8B-B14F-4D97-AF65-F5344CB8AC3E}">
        <p14:creationId xmlns:p14="http://schemas.microsoft.com/office/powerpoint/2010/main" val="3737135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332396" y="243407"/>
            <a:ext cx="5271606" cy="456618"/>
          </a:xfrm>
          <a:prstGeom prst="rect">
            <a:avLst/>
          </a:prstGeom>
        </p:spPr>
        <p:txBody>
          <a:bodyPr vert="horz" wrap="square" lIns="0" tIns="25482" rIns="0" bIns="0" rtlCol="0">
            <a:spAutoFit/>
          </a:bodyPr>
          <a:lstStyle/>
          <a:p>
            <a:pPr marL="18875">
              <a:spcBef>
                <a:spcPts val="201"/>
              </a:spcBef>
            </a:pPr>
            <a:r>
              <a:rPr dirty="0"/>
              <a:t>Main</a:t>
            </a:r>
            <a:r>
              <a:rPr spc="111" dirty="0"/>
              <a:t> </a:t>
            </a:r>
            <a:r>
              <a:rPr dirty="0"/>
              <a:t>Service</a:t>
            </a:r>
            <a:r>
              <a:rPr spc="119" dirty="0"/>
              <a:t> </a:t>
            </a:r>
            <a:r>
              <a:rPr dirty="0"/>
              <a:t>Models:</a:t>
            </a:r>
            <a:r>
              <a:rPr spc="282" dirty="0"/>
              <a:t> </a:t>
            </a:r>
            <a:r>
              <a:rPr spc="-30" dirty="0"/>
              <a:t>PaaS</a:t>
            </a:r>
          </a:p>
        </p:txBody>
      </p:sp>
      <p:sp>
        <p:nvSpPr>
          <p:cNvPr id="28" name="object 28"/>
          <p:cNvSpPr txBox="1"/>
          <p:nvPr/>
        </p:nvSpPr>
        <p:spPr>
          <a:xfrm>
            <a:off x="882060" y="819150"/>
            <a:ext cx="7728540" cy="2621369"/>
          </a:xfrm>
          <a:prstGeom prst="rect">
            <a:avLst/>
          </a:prstGeom>
        </p:spPr>
        <p:txBody>
          <a:bodyPr vert="horz" wrap="square" lIns="0" tIns="53794" rIns="0" bIns="0" rtlCol="0">
            <a:spAutoFit/>
          </a:bodyPr>
          <a:lstStyle/>
          <a:p>
            <a:pPr marL="37749">
              <a:spcBef>
                <a:spcPts val="424"/>
              </a:spcBef>
            </a:pPr>
            <a:r>
              <a:rPr spc="-15" dirty="0">
                <a:latin typeface="Trebuchet MS" panose="020B0603020202020204" pitchFamily="34" charset="0"/>
                <a:cs typeface="Arial MT"/>
              </a:rPr>
              <a:t>NIST’s</a:t>
            </a:r>
            <a:r>
              <a:rPr spc="-37" dirty="0">
                <a:latin typeface="Trebuchet MS" panose="020B0603020202020204" pitchFamily="34" charset="0"/>
                <a:cs typeface="Arial MT"/>
              </a:rPr>
              <a:t> </a:t>
            </a:r>
            <a:r>
              <a:rPr spc="-15" dirty="0">
                <a:latin typeface="Trebuchet MS" panose="020B0603020202020204" pitchFamily="34" charset="0"/>
                <a:cs typeface="Arial MT"/>
              </a:rPr>
              <a:t>definition</a:t>
            </a:r>
            <a:r>
              <a:rPr spc="-37" dirty="0">
                <a:latin typeface="Trebuchet MS" panose="020B0603020202020204" pitchFamily="34" charset="0"/>
                <a:cs typeface="Arial MT"/>
              </a:rPr>
              <a:t> </a:t>
            </a:r>
            <a:r>
              <a:rPr dirty="0">
                <a:latin typeface="Trebuchet MS" panose="020B0603020202020204" pitchFamily="34" charset="0"/>
                <a:cs typeface="Arial MT"/>
              </a:rPr>
              <a:t>of</a:t>
            </a:r>
            <a:r>
              <a:rPr spc="-30" dirty="0">
                <a:latin typeface="Trebuchet MS" panose="020B0603020202020204" pitchFamily="34" charset="0"/>
                <a:cs typeface="Arial MT"/>
              </a:rPr>
              <a:t> </a:t>
            </a:r>
            <a:r>
              <a:rPr spc="-15" dirty="0">
                <a:latin typeface="Trebuchet MS" panose="020B0603020202020204" pitchFamily="34" charset="0"/>
                <a:cs typeface="Arial MT"/>
              </a:rPr>
              <a:t>PaaS:</a:t>
            </a:r>
            <a:r>
              <a:rPr spc="-22" baseline="27777" dirty="0">
                <a:latin typeface="Trebuchet MS" panose="020B0603020202020204" pitchFamily="34" charset="0"/>
                <a:cs typeface="Arial MT"/>
              </a:rPr>
              <a:t>4</a:t>
            </a:r>
            <a:endParaRPr baseline="27777" dirty="0">
              <a:latin typeface="Trebuchet MS" panose="020B0603020202020204" pitchFamily="34" charset="0"/>
              <a:cs typeface="Arial MT"/>
            </a:endParaRPr>
          </a:p>
          <a:p>
            <a:pPr marL="449219" marR="160435">
              <a:lnSpc>
                <a:spcPct val="102600"/>
              </a:lnSpc>
              <a:spcBef>
                <a:spcPts val="223"/>
              </a:spcBef>
            </a:pPr>
            <a:r>
              <a:rPr i="1" dirty="0">
                <a:latin typeface="Trebuchet MS" panose="020B0603020202020204" pitchFamily="34" charset="0"/>
                <a:cs typeface="Arial"/>
              </a:rPr>
              <a:t>“The</a:t>
            </a:r>
            <a:r>
              <a:rPr i="1" spc="-37" dirty="0">
                <a:latin typeface="Trebuchet MS" panose="020B0603020202020204" pitchFamily="34" charset="0"/>
                <a:cs typeface="Arial"/>
              </a:rPr>
              <a:t> </a:t>
            </a:r>
            <a:r>
              <a:rPr i="1" spc="-15" dirty="0">
                <a:latin typeface="Trebuchet MS" panose="020B0603020202020204" pitchFamily="34" charset="0"/>
                <a:cs typeface="Arial"/>
              </a:rPr>
              <a:t>capability</a:t>
            </a:r>
            <a:r>
              <a:rPr i="1" spc="-30" dirty="0">
                <a:latin typeface="Trebuchet MS" panose="020B0603020202020204" pitchFamily="34" charset="0"/>
                <a:cs typeface="Arial"/>
              </a:rPr>
              <a:t> </a:t>
            </a:r>
            <a:r>
              <a:rPr i="1" spc="-15" dirty="0">
                <a:latin typeface="Trebuchet MS" panose="020B0603020202020204" pitchFamily="34" charset="0"/>
                <a:cs typeface="Arial"/>
              </a:rPr>
              <a:t>provided</a:t>
            </a:r>
            <a:r>
              <a:rPr i="1" spc="-30" dirty="0">
                <a:latin typeface="Trebuchet MS" panose="020B0603020202020204" pitchFamily="34" charset="0"/>
                <a:cs typeface="Arial"/>
              </a:rPr>
              <a:t> </a:t>
            </a:r>
            <a:r>
              <a:rPr i="1" dirty="0">
                <a:latin typeface="Trebuchet MS" panose="020B0603020202020204" pitchFamily="34" charset="0"/>
                <a:cs typeface="Arial"/>
              </a:rPr>
              <a:t>to</a:t>
            </a:r>
            <a:r>
              <a:rPr i="1" spc="-30" dirty="0">
                <a:latin typeface="Trebuchet MS" panose="020B0603020202020204" pitchFamily="34" charset="0"/>
                <a:cs typeface="Arial"/>
              </a:rPr>
              <a:t> </a:t>
            </a:r>
            <a:r>
              <a:rPr i="1" dirty="0">
                <a:latin typeface="Trebuchet MS" panose="020B0603020202020204" pitchFamily="34" charset="0"/>
                <a:cs typeface="Arial"/>
              </a:rPr>
              <a:t>the</a:t>
            </a:r>
            <a:r>
              <a:rPr i="1" spc="-30" dirty="0">
                <a:latin typeface="Trebuchet MS" panose="020B0603020202020204" pitchFamily="34" charset="0"/>
                <a:cs typeface="Arial"/>
              </a:rPr>
              <a:t> </a:t>
            </a:r>
            <a:r>
              <a:rPr i="1" dirty="0">
                <a:latin typeface="Trebuchet MS" panose="020B0603020202020204" pitchFamily="34" charset="0"/>
                <a:cs typeface="Arial"/>
              </a:rPr>
              <a:t>consumer</a:t>
            </a:r>
            <a:r>
              <a:rPr i="1" spc="-37" dirty="0">
                <a:latin typeface="Trebuchet MS" panose="020B0603020202020204" pitchFamily="34" charset="0"/>
                <a:cs typeface="Arial"/>
              </a:rPr>
              <a:t> </a:t>
            </a:r>
            <a:r>
              <a:rPr i="1" dirty="0">
                <a:latin typeface="Trebuchet MS" panose="020B0603020202020204" pitchFamily="34" charset="0"/>
                <a:cs typeface="Arial"/>
              </a:rPr>
              <a:t>is</a:t>
            </a:r>
            <a:r>
              <a:rPr i="1" spc="-30" dirty="0">
                <a:latin typeface="Trebuchet MS" panose="020B0603020202020204" pitchFamily="34" charset="0"/>
                <a:cs typeface="Arial"/>
              </a:rPr>
              <a:t> </a:t>
            </a:r>
            <a:r>
              <a:rPr i="1" spc="-37" dirty="0">
                <a:latin typeface="Trebuchet MS" panose="020B0603020202020204" pitchFamily="34" charset="0"/>
                <a:cs typeface="Arial"/>
              </a:rPr>
              <a:t>to </a:t>
            </a:r>
            <a:r>
              <a:rPr i="1" spc="-15" dirty="0">
                <a:solidFill>
                  <a:srgbClr val="FF0000"/>
                </a:solidFill>
                <a:latin typeface="Trebuchet MS" panose="020B0603020202020204" pitchFamily="34" charset="0"/>
                <a:cs typeface="Arial"/>
              </a:rPr>
              <a:t>deploy</a:t>
            </a:r>
            <a:r>
              <a:rPr i="1" spc="-59" dirty="0">
                <a:solidFill>
                  <a:srgbClr val="FF0000"/>
                </a:solidFill>
                <a:latin typeface="Trebuchet MS" panose="020B0603020202020204" pitchFamily="34" charset="0"/>
                <a:cs typeface="Arial"/>
              </a:rPr>
              <a:t> </a:t>
            </a:r>
            <a:r>
              <a:rPr i="1" dirty="0">
                <a:latin typeface="Trebuchet MS" panose="020B0603020202020204" pitchFamily="34" charset="0"/>
                <a:cs typeface="Arial"/>
              </a:rPr>
              <a:t>onto</a:t>
            </a:r>
            <a:r>
              <a:rPr i="1" spc="-52" dirty="0">
                <a:latin typeface="Trebuchet MS" panose="020B0603020202020204" pitchFamily="34" charset="0"/>
                <a:cs typeface="Arial"/>
              </a:rPr>
              <a:t> </a:t>
            </a:r>
            <a:r>
              <a:rPr i="1" dirty="0">
                <a:latin typeface="Trebuchet MS" panose="020B0603020202020204" pitchFamily="34" charset="0"/>
                <a:cs typeface="Arial"/>
              </a:rPr>
              <a:t>the</a:t>
            </a:r>
            <a:r>
              <a:rPr i="1" spc="-52" dirty="0">
                <a:latin typeface="Trebuchet MS" panose="020B0603020202020204" pitchFamily="34" charset="0"/>
                <a:cs typeface="Arial"/>
              </a:rPr>
              <a:t> </a:t>
            </a:r>
            <a:r>
              <a:rPr i="1" dirty="0">
                <a:latin typeface="Trebuchet MS" panose="020B0603020202020204" pitchFamily="34" charset="0"/>
                <a:cs typeface="Arial"/>
              </a:rPr>
              <a:t>cloud</a:t>
            </a:r>
            <a:r>
              <a:rPr i="1" spc="-52" dirty="0">
                <a:latin typeface="Trebuchet MS" panose="020B0603020202020204" pitchFamily="34" charset="0"/>
                <a:cs typeface="Arial"/>
              </a:rPr>
              <a:t> </a:t>
            </a:r>
            <a:r>
              <a:rPr i="1" spc="-15" dirty="0">
                <a:latin typeface="Trebuchet MS" panose="020B0603020202020204" pitchFamily="34" charset="0"/>
                <a:cs typeface="Arial"/>
              </a:rPr>
              <a:t>infrastructure</a:t>
            </a:r>
            <a:r>
              <a:rPr i="1" spc="743" dirty="0">
                <a:latin typeface="Trebuchet MS" panose="020B0603020202020204" pitchFamily="34" charset="0"/>
                <a:cs typeface="Arial"/>
              </a:rPr>
              <a:t> </a:t>
            </a:r>
            <a:r>
              <a:rPr i="1" spc="-15" dirty="0">
                <a:solidFill>
                  <a:srgbClr val="FF0000"/>
                </a:solidFill>
                <a:latin typeface="Trebuchet MS" panose="020B0603020202020204" pitchFamily="34" charset="0"/>
                <a:cs typeface="Arial"/>
              </a:rPr>
              <a:t>consumer-</a:t>
            </a:r>
            <a:r>
              <a:rPr i="1" dirty="0">
                <a:solidFill>
                  <a:srgbClr val="FF0000"/>
                </a:solidFill>
                <a:latin typeface="Trebuchet MS" panose="020B0603020202020204" pitchFamily="34" charset="0"/>
                <a:cs typeface="Arial"/>
              </a:rPr>
              <a:t>created</a:t>
            </a:r>
            <a:r>
              <a:rPr i="1" spc="-37" dirty="0">
                <a:solidFill>
                  <a:srgbClr val="FF0000"/>
                </a:solidFill>
                <a:latin typeface="Trebuchet MS" panose="020B0603020202020204" pitchFamily="34" charset="0"/>
                <a:cs typeface="Arial"/>
              </a:rPr>
              <a:t> </a:t>
            </a:r>
            <a:r>
              <a:rPr i="1" dirty="0">
                <a:latin typeface="Trebuchet MS" panose="020B0603020202020204" pitchFamily="34" charset="0"/>
                <a:cs typeface="Arial"/>
              </a:rPr>
              <a:t>or</a:t>
            </a:r>
            <a:r>
              <a:rPr i="1" spc="-30" dirty="0">
                <a:latin typeface="Trebuchet MS" panose="020B0603020202020204" pitchFamily="34" charset="0"/>
                <a:cs typeface="Arial"/>
              </a:rPr>
              <a:t> </a:t>
            </a:r>
            <a:r>
              <a:rPr i="1" dirty="0">
                <a:solidFill>
                  <a:srgbClr val="FF0000"/>
                </a:solidFill>
                <a:latin typeface="Trebuchet MS" panose="020B0603020202020204" pitchFamily="34" charset="0"/>
                <a:cs typeface="Arial"/>
              </a:rPr>
              <a:t>acquired</a:t>
            </a:r>
            <a:r>
              <a:rPr i="1" spc="-37" dirty="0">
                <a:solidFill>
                  <a:srgbClr val="FF0000"/>
                </a:solidFill>
                <a:latin typeface="Trebuchet MS" panose="020B0603020202020204" pitchFamily="34" charset="0"/>
                <a:cs typeface="Arial"/>
              </a:rPr>
              <a:t> </a:t>
            </a:r>
            <a:r>
              <a:rPr i="1" spc="-15" dirty="0">
                <a:solidFill>
                  <a:srgbClr val="FF0000"/>
                </a:solidFill>
                <a:latin typeface="Trebuchet MS" panose="020B0603020202020204" pitchFamily="34" charset="0"/>
                <a:cs typeface="Arial"/>
              </a:rPr>
              <a:t>applications </a:t>
            </a:r>
            <a:r>
              <a:rPr i="1" dirty="0">
                <a:latin typeface="Trebuchet MS" panose="020B0603020202020204" pitchFamily="34" charset="0"/>
                <a:cs typeface="Arial"/>
              </a:rPr>
              <a:t>created</a:t>
            </a:r>
            <a:r>
              <a:rPr i="1" spc="-37" dirty="0">
                <a:latin typeface="Trebuchet MS" panose="020B0603020202020204" pitchFamily="34" charset="0"/>
                <a:cs typeface="Arial"/>
              </a:rPr>
              <a:t> </a:t>
            </a:r>
            <a:r>
              <a:rPr b="1" i="1" dirty="0">
                <a:latin typeface="Trebuchet MS" panose="020B0603020202020204" pitchFamily="34" charset="0"/>
                <a:cs typeface="Arial"/>
              </a:rPr>
              <a:t>using</a:t>
            </a:r>
            <a:r>
              <a:rPr b="1" i="1" spc="-30" dirty="0">
                <a:latin typeface="Trebuchet MS" panose="020B0603020202020204" pitchFamily="34" charset="0"/>
                <a:cs typeface="Arial"/>
              </a:rPr>
              <a:t> </a:t>
            </a:r>
            <a:r>
              <a:rPr i="1" spc="-15" dirty="0">
                <a:solidFill>
                  <a:srgbClr val="FF0000"/>
                </a:solidFill>
                <a:latin typeface="Trebuchet MS" panose="020B0603020202020204" pitchFamily="34" charset="0"/>
                <a:cs typeface="Arial"/>
              </a:rPr>
              <a:t>programming</a:t>
            </a:r>
            <a:r>
              <a:rPr i="1" spc="-30" dirty="0">
                <a:solidFill>
                  <a:srgbClr val="FF0000"/>
                </a:solidFill>
                <a:latin typeface="Trebuchet MS" panose="020B0603020202020204" pitchFamily="34" charset="0"/>
                <a:cs typeface="Arial"/>
              </a:rPr>
              <a:t> </a:t>
            </a:r>
            <a:r>
              <a:rPr i="1" spc="-15" dirty="0">
                <a:solidFill>
                  <a:srgbClr val="FF0000"/>
                </a:solidFill>
                <a:latin typeface="Trebuchet MS" panose="020B0603020202020204" pitchFamily="34" charset="0"/>
                <a:cs typeface="Arial"/>
              </a:rPr>
              <a:t>languages</a:t>
            </a:r>
            <a:r>
              <a:rPr i="1" spc="-15" dirty="0">
                <a:latin typeface="Trebuchet MS" panose="020B0603020202020204" pitchFamily="34" charset="0"/>
                <a:cs typeface="Arial"/>
              </a:rPr>
              <a:t>,</a:t>
            </a:r>
            <a:endParaRPr dirty="0">
              <a:latin typeface="Trebuchet MS" panose="020B0603020202020204" pitchFamily="34" charset="0"/>
              <a:cs typeface="Arial"/>
            </a:endParaRPr>
          </a:p>
          <a:p>
            <a:pPr marL="449219" marR="26425">
              <a:lnSpc>
                <a:spcPct val="102600"/>
              </a:lnSpc>
            </a:pPr>
            <a:r>
              <a:rPr i="1" dirty="0">
                <a:solidFill>
                  <a:srgbClr val="FF0000"/>
                </a:solidFill>
                <a:latin typeface="Trebuchet MS" panose="020B0603020202020204" pitchFamily="34" charset="0"/>
                <a:cs typeface="Arial"/>
              </a:rPr>
              <a:t>libraries</a:t>
            </a:r>
            <a:r>
              <a:rPr i="1" dirty="0">
                <a:latin typeface="Trebuchet MS" panose="020B0603020202020204" pitchFamily="34" charset="0"/>
                <a:cs typeface="Arial"/>
              </a:rPr>
              <a:t>,</a:t>
            </a:r>
            <a:r>
              <a:rPr i="1" spc="-52" dirty="0">
                <a:latin typeface="Trebuchet MS" panose="020B0603020202020204" pitchFamily="34" charset="0"/>
                <a:cs typeface="Arial"/>
              </a:rPr>
              <a:t> </a:t>
            </a:r>
            <a:r>
              <a:rPr i="1" dirty="0">
                <a:solidFill>
                  <a:srgbClr val="FF0000"/>
                </a:solidFill>
                <a:latin typeface="Trebuchet MS" panose="020B0603020202020204" pitchFamily="34" charset="0"/>
                <a:cs typeface="Arial"/>
              </a:rPr>
              <a:t>services</a:t>
            </a:r>
            <a:r>
              <a:rPr i="1" dirty="0">
                <a:latin typeface="Trebuchet MS" panose="020B0603020202020204" pitchFamily="34" charset="0"/>
                <a:cs typeface="Arial"/>
              </a:rPr>
              <a:t>,</a:t>
            </a:r>
            <a:r>
              <a:rPr i="1" spc="-45" dirty="0">
                <a:latin typeface="Trebuchet MS" panose="020B0603020202020204" pitchFamily="34" charset="0"/>
                <a:cs typeface="Arial"/>
              </a:rPr>
              <a:t> </a:t>
            </a:r>
            <a:r>
              <a:rPr i="1" dirty="0">
                <a:latin typeface="Trebuchet MS" panose="020B0603020202020204" pitchFamily="34" charset="0"/>
                <a:cs typeface="Arial"/>
              </a:rPr>
              <a:t>and</a:t>
            </a:r>
            <a:r>
              <a:rPr i="1" spc="-52" dirty="0">
                <a:latin typeface="Trebuchet MS" panose="020B0603020202020204" pitchFamily="34" charset="0"/>
                <a:cs typeface="Arial"/>
              </a:rPr>
              <a:t> </a:t>
            </a:r>
            <a:r>
              <a:rPr i="1" dirty="0">
                <a:solidFill>
                  <a:srgbClr val="FF0000"/>
                </a:solidFill>
                <a:latin typeface="Trebuchet MS" panose="020B0603020202020204" pitchFamily="34" charset="0"/>
                <a:cs typeface="Arial"/>
              </a:rPr>
              <a:t>tools</a:t>
            </a:r>
            <a:r>
              <a:rPr i="1" spc="-45" dirty="0">
                <a:solidFill>
                  <a:srgbClr val="FF0000"/>
                </a:solidFill>
                <a:latin typeface="Trebuchet MS" panose="020B0603020202020204" pitchFamily="34" charset="0"/>
                <a:cs typeface="Arial"/>
              </a:rPr>
              <a:t> </a:t>
            </a:r>
            <a:r>
              <a:rPr b="1" i="1" spc="-15" dirty="0">
                <a:latin typeface="Trebuchet MS" panose="020B0603020202020204" pitchFamily="34" charset="0"/>
                <a:cs typeface="Arial"/>
              </a:rPr>
              <a:t>supported</a:t>
            </a:r>
            <a:r>
              <a:rPr b="1" i="1" spc="-52" dirty="0">
                <a:latin typeface="Trebuchet MS" panose="020B0603020202020204" pitchFamily="34" charset="0"/>
                <a:cs typeface="Arial"/>
              </a:rPr>
              <a:t> </a:t>
            </a:r>
            <a:r>
              <a:rPr b="1" i="1" dirty="0">
                <a:latin typeface="Trebuchet MS" panose="020B0603020202020204" pitchFamily="34" charset="0"/>
                <a:cs typeface="Arial"/>
              </a:rPr>
              <a:t>by</a:t>
            </a:r>
            <a:r>
              <a:rPr b="1" i="1" spc="-45" dirty="0">
                <a:latin typeface="Trebuchet MS" panose="020B0603020202020204" pitchFamily="34" charset="0"/>
                <a:cs typeface="Arial"/>
              </a:rPr>
              <a:t> </a:t>
            </a:r>
            <a:r>
              <a:rPr b="1" i="1" spc="-37" dirty="0">
                <a:latin typeface="Trebuchet MS" panose="020B0603020202020204" pitchFamily="34" charset="0"/>
                <a:cs typeface="Arial"/>
              </a:rPr>
              <a:t>the </a:t>
            </a:r>
            <a:r>
              <a:rPr b="1" i="1" dirty="0">
                <a:latin typeface="Trebuchet MS" panose="020B0603020202020204" pitchFamily="34" charset="0"/>
                <a:cs typeface="Arial"/>
              </a:rPr>
              <a:t>provider</a:t>
            </a:r>
            <a:r>
              <a:rPr i="1" dirty="0">
                <a:latin typeface="Trebuchet MS" panose="020B0603020202020204" pitchFamily="34" charset="0"/>
                <a:cs typeface="Arial"/>
              </a:rPr>
              <a:t>.</a:t>
            </a:r>
            <a:r>
              <a:rPr i="1" spc="15" dirty="0">
                <a:latin typeface="Trebuchet MS" panose="020B0603020202020204" pitchFamily="34" charset="0"/>
                <a:cs typeface="Arial"/>
              </a:rPr>
              <a:t> </a:t>
            </a:r>
            <a:r>
              <a:rPr i="1" dirty="0">
                <a:latin typeface="Trebuchet MS" panose="020B0603020202020204" pitchFamily="34" charset="0"/>
                <a:cs typeface="Arial"/>
              </a:rPr>
              <a:t>The</a:t>
            </a:r>
            <a:r>
              <a:rPr i="1" spc="-67" dirty="0">
                <a:latin typeface="Trebuchet MS" panose="020B0603020202020204" pitchFamily="34" charset="0"/>
                <a:cs typeface="Arial"/>
              </a:rPr>
              <a:t> </a:t>
            </a:r>
            <a:r>
              <a:rPr i="1" dirty="0">
                <a:latin typeface="Trebuchet MS" panose="020B0603020202020204" pitchFamily="34" charset="0"/>
                <a:cs typeface="Arial"/>
              </a:rPr>
              <a:t>consumer</a:t>
            </a:r>
            <a:r>
              <a:rPr i="1" spc="-74" dirty="0">
                <a:latin typeface="Trebuchet MS" panose="020B0603020202020204" pitchFamily="34" charset="0"/>
                <a:cs typeface="Arial"/>
              </a:rPr>
              <a:t> </a:t>
            </a:r>
            <a:r>
              <a:rPr i="1" dirty="0">
                <a:solidFill>
                  <a:srgbClr val="0000FF"/>
                </a:solidFill>
                <a:latin typeface="Trebuchet MS" panose="020B0603020202020204" pitchFamily="34" charset="0"/>
                <a:cs typeface="Arial"/>
              </a:rPr>
              <a:t>does</a:t>
            </a:r>
            <a:r>
              <a:rPr i="1" spc="-67" dirty="0">
                <a:solidFill>
                  <a:srgbClr val="0000FF"/>
                </a:solidFill>
                <a:latin typeface="Trebuchet MS" panose="020B0603020202020204" pitchFamily="34" charset="0"/>
                <a:cs typeface="Arial"/>
              </a:rPr>
              <a:t> </a:t>
            </a:r>
            <a:r>
              <a:rPr i="1" dirty="0">
                <a:solidFill>
                  <a:srgbClr val="0000FF"/>
                </a:solidFill>
                <a:latin typeface="Trebuchet MS" panose="020B0603020202020204" pitchFamily="34" charset="0"/>
                <a:cs typeface="Arial"/>
              </a:rPr>
              <a:t>not</a:t>
            </a:r>
            <a:r>
              <a:rPr i="1" spc="-74" dirty="0">
                <a:solidFill>
                  <a:srgbClr val="0000FF"/>
                </a:solidFill>
                <a:latin typeface="Trebuchet MS" panose="020B0603020202020204" pitchFamily="34" charset="0"/>
                <a:cs typeface="Arial"/>
              </a:rPr>
              <a:t> </a:t>
            </a:r>
            <a:r>
              <a:rPr i="1" dirty="0">
                <a:solidFill>
                  <a:srgbClr val="0000FF"/>
                </a:solidFill>
                <a:latin typeface="Trebuchet MS" panose="020B0603020202020204" pitchFamily="34" charset="0"/>
                <a:cs typeface="Arial"/>
              </a:rPr>
              <a:t>manage</a:t>
            </a:r>
            <a:r>
              <a:rPr i="1" spc="-67" dirty="0">
                <a:solidFill>
                  <a:srgbClr val="0000FF"/>
                </a:solidFill>
                <a:latin typeface="Trebuchet MS" panose="020B0603020202020204" pitchFamily="34" charset="0"/>
                <a:cs typeface="Arial"/>
              </a:rPr>
              <a:t> </a:t>
            </a:r>
            <a:r>
              <a:rPr i="1" spc="-37" dirty="0">
                <a:solidFill>
                  <a:srgbClr val="0000FF"/>
                </a:solidFill>
                <a:latin typeface="Trebuchet MS" panose="020B0603020202020204" pitchFamily="34" charset="0"/>
                <a:cs typeface="Arial"/>
              </a:rPr>
              <a:t>or </a:t>
            </a:r>
            <a:r>
              <a:rPr i="1" dirty="0">
                <a:solidFill>
                  <a:srgbClr val="0000FF"/>
                </a:solidFill>
                <a:latin typeface="Trebuchet MS" panose="020B0603020202020204" pitchFamily="34" charset="0"/>
                <a:cs typeface="Arial"/>
              </a:rPr>
              <a:t>control</a:t>
            </a:r>
            <a:r>
              <a:rPr i="1" spc="-67" dirty="0">
                <a:solidFill>
                  <a:srgbClr val="0000FF"/>
                </a:solidFill>
                <a:latin typeface="Trebuchet MS" panose="020B0603020202020204" pitchFamily="34" charset="0"/>
                <a:cs typeface="Arial"/>
              </a:rPr>
              <a:t> </a:t>
            </a:r>
            <a:r>
              <a:rPr i="1" dirty="0">
                <a:solidFill>
                  <a:srgbClr val="0000FF"/>
                </a:solidFill>
                <a:latin typeface="Trebuchet MS" panose="020B0603020202020204" pitchFamily="34" charset="0"/>
                <a:cs typeface="Arial"/>
              </a:rPr>
              <a:t>the</a:t>
            </a:r>
            <a:r>
              <a:rPr i="1" spc="-67" dirty="0">
                <a:solidFill>
                  <a:srgbClr val="0000FF"/>
                </a:solidFill>
                <a:latin typeface="Trebuchet MS" panose="020B0603020202020204" pitchFamily="34" charset="0"/>
                <a:cs typeface="Arial"/>
              </a:rPr>
              <a:t> </a:t>
            </a:r>
            <a:r>
              <a:rPr i="1" dirty="0">
                <a:solidFill>
                  <a:srgbClr val="0000FF"/>
                </a:solidFill>
                <a:latin typeface="Trebuchet MS" panose="020B0603020202020204" pitchFamily="34" charset="0"/>
                <a:cs typeface="Arial"/>
              </a:rPr>
              <a:t>underlying</a:t>
            </a:r>
            <a:r>
              <a:rPr i="1" spc="-67" dirty="0">
                <a:solidFill>
                  <a:srgbClr val="0000FF"/>
                </a:solidFill>
                <a:latin typeface="Trebuchet MS" panose="020B0603020202020204" pitchFamily="34" charset="0"/>
                <a:cs typeface="Arial"/>
              </a:rPr>
              <a:t> </a:t>
            </a:r>
            <a:r>
              <a:rPr i="1" dirty="0">
                <a:solidFill>
                  <a:srgbClr val="0000FF"/>
                </a:solidFill>
                <a:latin typeface="Trebuchet MS" panose="020B0603020202020204" pitchFamily="34" charset="0"/>
                <a:cs typeface="Arial"/>
              </a:rPr>
              <a:t>cloud</a:t>
            </a:r>
            <a:r>
              <a:rPr i="1" spc="-67" dirty="0">
                <a:solidFill>
                  <a:srgbClr val="0000FF"/>
                </a:solidFill>
                <a:latin typeface="Trebuchet MS" panose="020B0603020202020204" pitchFamily="34" charset="0"/>
                <a:cs typeface="Arial"/>
              </a:rPr>
              <a:t> </a:t>
            </a:r>
            <a:r>
              <a:rPr i="1" spc="-15" dirty="0">
                <a:solidFill>
                  <a:srgbClr val="0000FF"/>
                </a:solidFill>
                <a:latin typeface="Trebuchet MS" panose="020B0603020202020204" pitchFamily="34" charset="0"/>
                <a:cs typeface="Arial"/>
              </a:rPr>
              <a:t>infrastructure </a:t>
            </a:r>
            <a:r>
              <a:rPr i="1" spc="-15" dirty="0">
                <a:latin typeface="Trebuchet MS" panose="020B0603020202020204" pitchFamily="34" charset="0"/>
                <a:cs typeface="Arial"/>
              </a:rPr>
              <a:t>including</a:t>
            </a:r>
            <a:r>
              <a:rPr i="1" spc="-67" dirty="0">
                <a:latin typeface="Trebuchet MS" panose="020B0603020202020204" pitchFamily="34" charset="0"/>
                <a:cs typeface="Arial"/>
              </a:rPr>
              <a:t> </a:t>
            </a:r>
            <a:r>
              <a:rPr i="1" dirty="0">
                <a:latin typeface="Trebuchet MS" panose="020B0603020202020204" pitchFamily="34" charset="0"/>
                <a:cs typeface="Arial"/>
              </a:rPr>
              <a:t>network,</a:t>
            </a:r>
            <a:r>
              <a:rPr i="1" spc="-67" dirty="0">
                <a:latin typeface="Trebuchet MS" panose="020B0603020202020204" pitchFamily="34" charset="0"/>
                <a:cs typeface="Arial"/>
              </a:rPr>
              <a:t> </a:t>
            </a:r>
            <a:r>
              <a:rPr i="1" dirty="0">
                <a:latin typeface="Trebuchet MS" panose="020B0603020202020204" pitchFamily="34" charset="0"/>
                <a:cs typeface="Arial"/>
              </a:rPr>
              <a:t>servers,</a:t>
            </a:r>
            <a:r>
              <a:rPr i="1" spc="-59" dirty="0">
                <a:latin typeface="Trebuchet MS" panose="020B0603020202020204" pitchFamily="34" charset="0"/>
                <a:cs typeface="Arial"/>
              </a:rPr>
              <a:t> </a:t>
            </a:r>
            <a:r>
              <a:rPr i="1" dirty="0">
                <a:latin typeface="Trebuchet MS" panose="020B0603020202020204" pitchFamily="34" charset="0"/>
                <a:cs typeface="Arial"/>
              </a:rPr>
              <a:t>operating</a:t>
            </a:r>
            <a:r>
              <a:rPr i="1" spc="-67" dirty="0">
                <a:latin typeface="Trebuchet MS" panose="020B0603020202020204" pitchFamily="34" charset="0"/>
                <a:cs typeface="Arial"/>
              </a:rPr>
              <a:t> </a:t>
            </a:r>
            <a:r>
              <a:rPr i="1" spc="-15" dirty="0">
                <a:latin typeface="Trebuchet MS" panose="020B0603020202020204" pitchFamily="34" charset="0"/>
                <a:cs typeface="Arial"/>
              </a:rPr>
              <a:t>systems, </a:t>
            </a:r>
            <a:r>
              <a:rPr i="1" dirty="0">
                <a:latin typeface="Trebuchet MS" panose="020B0603020202020204" pitchFamily="34" charset="0"/>
                <a:cs typeface="Arial"/>
              </a:rPr>
              <a:t>or</a:t>
            </a:r>
            <a:r>
              <a:rPr i="1" spc="-59" dirty="0">
                <a:latin typeface="Trebuchet MS" panose="020B0603020202020204" pitchFamily="34" charset="0"/>
                <a:cs typeface="Arial"/>
              </a:rPr>
              <a:t> </a:t>
            </a:r>
            <a:r>
              <a:rPr i="1" dirty="0">
                <a:latin typeface="Trebuchet MS" panose="020B0603020202020204" pitchFamily="34" charset="0"/>
                <a:cs typeface="Arial"/>
              </a:rPr>
              <a:t>storage,</a:t>
            </a:r>
            <a:r>
              <a:rPr i="1" spc="-52" dirty="0">
                <a:latin typeface="Trebuchet MS" panose="020B0603020202020204" pitchFamily="34" charset="0"/>
                <a:cs typeface="Arial"/>
              </a:rPr>
              <a:t> </a:t>
            </a:r>
            <a:r>
              <a:rPr i="1" dirty="0">
                <a:solidFill>
                  <a:srgbClr val="0000FF"/>
                </a:solidFill>
                <a:latin typeface="Trebuchet MS" panose="020B0603020202020204" pitchFamily="34" charset="0"/>
                <a:cs typeface="Arial"/>
              </a:rPr>
              <a:t>but</a:t>
            </a:r>
            <a:r>
              <a:rPr i="1" spc="-52" dirty="0">
                <a:solidFill>
                  <a:srgbClr val="0000FF"/>
                </a:solidFill>
                <a:latin typeface="Trebuchet MS" panose="020B0603020202020204" pitchFamily="34" charset="0"/>
                <a:cs typeface="Arial"/>
              </a:rPr>
              <a:t> </a:t>
            </a:r>
            <a:r>
              <a:rPr i="1" dirty="0">
                <a:solidFill>
                  <a:srgbClr val="0000FF"/>
                </a:solidFill>
                <a:latin typeface="Trebuchet MS" panose="020B0603020202020204" pitchFamily="34" charset="0"/>
                <a:cs typeface="Arial"/>
              </a:rPr>
              <a:t>has</a:t>
            </a:r>
            <a:r>
              <a:rPr i="1" spc="-52" dirty="0">
                <a:solidFill>
                  <a:srgbClr val="0000FF"/>
                </a:solidFill>
                <a:latin typeface="Trebuchet MS" panose="020B0603020202020204" pitchFamily="34" charset="0"/>
                <a:cs typeface="Arial"/>
              </a:rPr>
              <a:t> </a:t>
            </a:r>
            <a:r>
              <a:rPr i="1" dirty="0">
                <a:solidFill>
                  <a:srgbClr val="0000FF"/>
                </a:solidFill>
                <a:latin typeface="Trebuchet MS" panose="020B0603020202020204" pitchFamily="34" charset="0"/>
                <a:cs typeface="Arial"/>
              </a:rPr>
              <a:t>control</a:t>
            </a:r>
            <a:r>
              <a:rPr i="1" spc="-52" dirty="0">
                <a:solidFill>
                  <a:srgbClr val="0000FF"/>
                </a:solidFill>
                <a:latin typeface="Trebuchet MS" panose="020B0603020202020204" pitchFamily="34" charset="0"/>
                <a:cs typeface="Arial"/>
              </a:rPr>
              <a:t> </a:t>
            </a:r>
            <a:r>
              <a:rPr i="1" spc="-15" dirty="0">
                <a:solidFill>
                  <a:srgbClr val="0000FF"/>
                </a:solidFill>
                <a:latin typeface="Trebuchet MS" panose="020B0603020202020204" pitchFamily="34" charset="0"/>
                <a:cs typeface="Arial"/>
              </a:rPr>
              <a:t>over</a:t>
            </a:r>
            <a:r>
              <a:rPr i="1" spc="-59" dirty="0">
                <a:solidFill>
                  <a:srgbClr val="0000FF"/>
                </a:solidFill>
                <a:latin typeface="Trebuchet MS" panose="020B0603020202020204" pitchFamily="34" charset="0"/>
                <a:cs typeface="Arial"/>
              </a:rPr>
              <a:t> </a:t>
            </a:r>
            <a:r>
              <a:rPr i="1" dirty="0">
                <a:solidFill>
                  <a:srgbClr val="0000FF"/>
                </a:solidFill>
                <a:latin typeface="Trebuchet MS" panose="020B0603020202020204" pitchFamily="34" charset="0"/>
                <a:cs typeface="Arial"/>
              </a:rPr>
              <a:t>the</a:t>
            </a:r>
            <a:r>
              <a:rPr i="1" spc="-52" dirty="0">
                <a:solidFill>
                  <a:srgbClr val="0000FF"/>
                </a:solidFill>
                <a:latin typeface="Trebuchet MS" panose="020B0603020202020204" pitchFamily="34" charset="0"/>
                <a:cs typeface="Arial"/>
              </a:rPr>
              <a:t> </a:t>
            </a:r>
            <a:r>
              <a:rPr i="1" spc="-15" dirty="0">
                <a:solidFill>
                  <a:srgbClr val="0000FF"/>
                </a:solidFill>
                <a:latin typeface="Trebuchet MS" panose="020B0603020202020204" pitchFamily="34" charset="0"/>
                <a:cs typeface="Arial"/>
              </a:rPr>
              <a:t>deployed applications</a:t>
            </a:r>
            <a:r>
              <a:rPr i="1" spc="-7" dirty="0">
                <a:solidFill>
                  <a:srgbClr val="0000FF"/>
                </a:solidFill>
                <a:latin typeface="Trebuchet MS" panose="020B0603020202020204" pitchFamily="34" charset="0"/>
                <a:cs typeface="Arial"/>
              </a:rPr>
              <a:t> </a:t>
            </a:r>
            <a:r>
              <a:rPr i="1" dirty="0">
                <a:latin typeface="Trebuchet MS" panose="020B0603020202020204" pitchFamily="34" charset="0"/>
                <a:cs typeface="Arial"/>
              </a:rPr>
              <a:t>and </a:t>
            </a:r>
            <a:r>
              <a:rPr i="1" spc="-15" dirty="0">
                <a:latin typeface="Trebuchet MS" panose="020B0603020202020204" pitchFamily="34" charset="0"/>
                <a:cs typeface="Arial"/>
              </a:rPr>
              <a:t>possibly</a:t>
            </a:r>
            <a:r>
              <a:rPr i="1" spc="-7" dirty="0">
                <a:latin typeface="Trebuchet MS" panose="020B0603020202020204" pitchFamily="34" charset="0"/>
                <a:cs typeface="Arial"/>
              </a:rPr>
              <a:t> </a:t>
            </a:r>
            <a:r>
              <a:rPr i="1" spc="-15" dirty="0">
                <a:latin typeface="Trebuchet MS" panose="020B0603020202020204" pitchFamily="34" charset="0"/>
                <a:cs typeface="Arial"/>
              </a:rPr>
              <a:t>configuration</a:t>
            </a:r>
            <a:r>
              <a:rPr i="1" dirty="0">
                <a:latin typeface="Trebuchet MS" panose="020B0603020202020204" pitchFamily="34" charset="0"/>
                <a:cs typeface="Arial"/>
              </a:rPr>
              <a:t> </a:t>
            </a:r>
            <a:r>
              <a:rPr i="1" spc="-15" dirty="0">
                <a:latin typeface="Trebuchet MS" panose="020B0603020202020204" pitchFamily="34" charset="0"/>
                <a:cs typeface="Arial"/>
              </a:rPr>
              <a:t>settings </a:t>
            </a:r>
            <a:r>
              <a:rPr i="1" dirty="0">
                <a:latin typeface="Trebuchet MS" panose="020B0603020202020204" pitchFamily="34" charset="0"/>
                <a:cs typeface="Arial"/>
              </a:rPr>
              <a:t>for</a:t>
            </a:r>
            <a:r>
              <a:rPr i="1" spc="-37" dirty="0">
                <a:latin typeface="Trebuchet MS" panose="020B0603020202020204" pitchFamily="34" charset="0"/>
                <a:cs typeface="Arial"/>
              </a:rPr>
              <a:t> </a:t>
            </a:r>
            <a:r>
              <a:rPr i="1" dirty="0">
                <a:latin typeface="Trebuchet MS" panose="020B0603020202020204" pitchFamily="34" charset="0"/>
                <a:cs typeface="Arial"/>
              </a:rPr>
              <a:t>the</a:t>
            </a:r>
            <a:r>
              <a:rPr i="1" spc="-30" dirty="0">
                <a:latin typeface="Trebuchet MS" panose="020B0603020202020204" pitchFamily="34" charset="0"/>
                <a:cs typeface="Arial"/>
              </a:rPr>
              <a:t> </a:t>
            </a:r>
            <a:r>
              <a:rPr i="1" spc="-15" dirty="0">
                <a:latin typeface="Trebuchet MS" panose="020B0603020202020204" pitchFamily="34" charset="0"/>
                <a:cs typeface="Arial"/>
              </a:rPr>
              <a:t>application-hosting</a:t>
            </a:r>
            <a:r>
              <a:rPr i="1" spc="-37" dirty="0">
                <a:latin typeface="Trebuchet MS" panose="020B0603020202020204" pitchFamily="34" charset="0"/>
                <a:cs typeface="Arial"/>
              </a:rPr>
              <a:t> </a:t>
            </a:r>
            <a:r>
              <a:rPr i="1" spc="-15" dirty="0">
                <a:latin typeface="Trebuchet MS" panose="020B0603020202020204" pitchFamily="34" charset="0"/>
                <a:cs typeface="Arial"/>
              </a:rPr>
              <a:t>environment.”</a:t>
            </a:r>
            <a:endParaRPr dirty="0">
              <a:latin typeface="Trebuchet MS" panose="020B0603020202020204" pitchFamily="34" charset="0"/>
              <a:cs typeface="Arial"/>
            </a:endParaRPr>
          </a:p>
        </p:txBody>
      </p:sp>
      <p:sp>
        <p:nvSpPr>
          <p:cNvPr id="29" name="object 29"/>
          <p:cNvSpPr/>
          <p:nvPr/>
        </p:nvSpPr>
        <p:spPr>
          <a:xfrm>
            <a:off x="2541950" y="4443474"/>
            <a:ext cx="2718033"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endParaRPr sz="2675"/>
          </a:p>
        </p:txBody>
      </p:sp>
      <p:sp>
        <p:nvSpPr>
          <p:cNvPr id="30" name="object 30"/>
          <p:cNvSpPr txBox="1"/>
          <p:nvPr/>
        </p:nvSpPr>
        <p:spPr>
          <a:xfrm>
            <a:off x="1632333" y="4008116"/>
            <a:ext cx="5176532" cy="632468"/>
          </a:xfrm>
          <a:prstGeom prst="rect">
            <a:avLst/>
          </a:prstGeom>
        </p:spPr>
        <p:txBody>
          <a:bodyPr vert="horz" wrap="square" lIns="0" tIns="15100" rIns="0" bIns="0" rtlCol="0">
            <a:spAutoFit/>
          </a:bodyPr>
          <a:lstStyle/>
          <a:p>
            <a:pPr marL="56624" marR="45299" indent="232159">
              <a:lnSpc>
                <a:spcPct val="101499"/>
              </a:lnSpc>
              <a:spcBef>
                <a:spcPts val="119"/>
              </a:spcBef>
            </a:pPr>
            <a:r>
              <a:rPr sz="1338" baseline="37037" dirty="0">
                <a:latin typeface="Arial MT"/>
                <a:cs typeface="Arial MT"/>
              </a:rPr>
              <a:t>4</a:t>
            </a:r>
            <a:r>
              <a:rPr sz="1338" dirty="0">
                <a:latin typeface="Arial MT"/>
                <a:cs typeface="Arial MT"/>
              </a:rPr>
              <a:t>Mell,</a:t>
            </a:r>
            <a:r>
              <a:rPr sz="1338" spc="-37" dirty="0">
                <a:latin typeface="Arial MT"/>
                <a:cs typeface="Arial MT"/>
              </a:rPr>
              <a:t> </a:t>
            </a:r>
            <a:r>
              <a:rPr sz="1338" spc="-30" dirty="0">
                <a:latin typeface="Arial MT"/>
                <a:cs typeface="Arial MT"/>
              </a:rPr>
              <a:t>Peter, </a:t>
            </a:r>
            <a:r>
              <a:rPr sz="1338" dirty="0">
                <a:latin typeface="Arial MT"/>
                <a:cs typeface="Arial MT"/>
              </a:rPr>
              <a:t>and</a:t>
            </a:r>
            <a:r>
              <a:rPr sz="1338" spc="-30" dirty="0">
                <a:latin typeface="Arial MT"/>
                <a:cs typeface="Arial MT"/>
              </a:rPr>
              <a:t> </a:t>
            </a:r>
            <a:r>
              <a:rPr sz="1338" dirty="0">
                <a:latin typeface="Arial MT"/>
                <a:cs typeface="Arial MT"/>
              </a:rPr>
              <a:t>Tim</a:t>
            </a:r>
            <a:r>
              <a:rPr sz="1338" spc="-30" dirty="0">
                <a:latin typeface="Arial MT"/>
                <a:cs typeface="Arial MT"/>
              </a:rPr>
              <a:t> </a:t>
            </a:r>
            <a:r>
              <a:rPr sz="1338" dirty="0">
                <a:latin typeface="Arial MT"/>
                <a:cs typeface="Arial MT"/>
              </a:rPr>
              <a:t>Grance.</a:t>
            </a:r>
            <a:r>
              <a:rPr sz="1338" spc="52" dirty="0">
                <a:latin typeface="Arial MT"/>
                <a:cs typeface="Arial MT"/>
              </a:rPr>
              <a:t> </a:t>
            </a:r>
            <a:r>
              <a:rPr sz="1338" dirty="0">
                <a:latin typeface="Arial MT"/>
                <a:cs typeface="Arial MT"/>
              </a:rPr>
              <a:t>”The</a:t>
            </a:r>
            <a:r>
              <a:rPr sz="1338" spc="-30" dirty="0">
                <a:latin typeface="Arial MT"/>
                <a:cs typeface="Arial MT"/>
              </a:rPr>
              <a:t> </a:t>
            </a:r>
            <a:r>
              <a:rPr sz="1338" dirty="0">
                <a:latin typeface="Arial MT"/>
                <a:cs typeface="Arial MT"/>
              </a:rPr>
              <a:t>NIST</a:t>
            </a:r>
            <a:r>
              <a:rPr sz="1338" spc="-30" dirty="0">
                <a:latin typeface="Arial MT"/>
                <a:cs typeface="Arial MT"/>
              </a:rPr>
              <a:t> </a:t>
            </a:r>
            <a:r>
              <a:rPr sz="1338" dirty="0">
                <a:latin typeface="Arial MT"/>
                <a:cs typeface="Arial MT"/>
              </a:rPr>
              <a:t>definition</a:t>
            </a:r>
            <a:r>
              <a:rPr sz="1338" spc="-30" dirty="0">
                <a:latin typeface="Arial MT"/>
                <a:cs typeface="Arial MT"/>
              </a:rPr>
              <a:t> </a:t>
            </a:r>
            <a:r>
              <a:rPr sz="1338" dirty="0">
                <a:latin typeface="Arial MT"/>
                <a:cs typeface="Arial MT"/>
              </a:rPr>
              <a:t>of</a:t>
            </a:r>
            <a:r>
              <a:rPr sz="1338" spc="-30" dirty="0">
                <a:latin typeface="Arial MT"/>
                <a:cs typeface="Arial MT"/>
              </a:rPr>
              <a:t> </a:t>
            </a:r>
            <a:r>
              <a:rPr sz="1338" spc="-15" dirty="0">
                <a:latin typeface="Arial MT"/>
                <a:cs typeface="Arial MT"/>
              </a:rPr>
              <a:t>cloud computing.”</a:t>
            </a:r>
            <a:r>
              <a:rPr sz="1338" spc="-45" dirty="0">
                <a:latin typeface="Arial MT"/>
                <a:cs typeface="Arial MT"/>
              </a:rPr>
              <a:t> </a:t>
            </a:r>
            <a:r>
              <a:rPr sz="1338" dirty="0">
                <a:latin typeface="Arial MT"/>
                <a:cs typeface="Arial MT"/>
              </a:rPr>
              <a:t>(2011):</a:t>
            </a:r>
            <a:r>
              <a:rPr sz="1338" spc="30" dirty="0">
                <a:latin typeface="Arial MT"/>
                <a:cs typeface="Arial MT"/>
              </a:rPr>
              <a:t> </a:t>
            </a:r>
            <a:r>
              <a:rPr sz="1338" spc="119" dirty="0">
                <a:latin typeface="Calibri"/>
                <a:cs typeface="Calibri"/>
                <a:hlinkClick r:id="rId2"/>
              </a:rPr>
              <a:t>http://nvlpubs.nist.gov/nistpubs/Legacy/</a:t>
            </a:r>
            <a:r>
              <a:rPr sz="1338" spc="119" dirty="0">
                <a:latin typeface="Calibri"/>
                <a:cs typeface="Calibri"/>
              </a:rPr>
              <a:t> </a:t>
            </a:r>
            <a:r>
              <a:rPr sz="1338" spc="141" dirty="0">
                <a:latin typeface="Calibri"/>
                <a:cs typeface="Calibri"/>
                <a:hlinkClick r:id="rId2"/>
              </a:rPr>
              <a:t>SP/nistspecialpublication800-</a:t>
            </a:r>
            <a:r>
              <a:rPr sz="1338" spc="82" dirty="0">
                <a:latin typeface="Calibri"/>
                <a:cs typeface="Calibri"/>
                <a:hlinkClick r:id="rId3" action="ppaction://hlinksldjump"/>
              </a:rPr>
              <a:t>145.pdf</a:t>
            </a:r>
            <a:endParaRPr sz="1338" dirty="0">
              <a:latin typeface="Calibri"/>
              <a:cs typeface="Calibri"/>
            </a:endParaRP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609600" y="299230"/>
            <a:ext cx="4509606" cy="456618"/>
          </a:xfrm>
          <a:prstGeom prst="rect">
            <a:avLst/>
          </a:prstGeom>
        </p:spPr>
        <p:txBody>
          <a:bodyPr vert="horz" wrap="square" lIns="0" tIns="25482" rIns="0" bIns="0" rtlCol="0">
            <a:spAutoFit/>
          </a:bodyPr>
          <a:lstStyle/>
          <a:p>
            <a:pPr marL="18875">
              <a:spcBef>
                <a:spcPts val="201"/>
              </a:spcBef>
            </a:pPr>
            <a:r>
              <a:rPr dirty="0"/>
              <a:t>Main</a:t>
            </a:r>
            <a:r>
              <a:rPr spc="111" dirty="0"/>
              <a:t> </a:t>
            </a:r>
            <a:r>
              <a:rPr dirty="0"/>
              <a:t>Service</a:t>
            </a:r>
            <a:r>
              <a:rPr spc="119" dirty="0"/>
              <a:t> </a:t>
            </a:r>
            <a:r>
              <a:rPr dirty="0"/>
              <a:t>Models:</a:t>
            </a:r>
            <a:r>
              <a:rPr spc="282" dirty="0"/>
              <a:t> </a:t>
            </a:r>
            <a:r>
              <a:rPr spc="-30" dirty="0"/>
              <a:t>PaaS</a:t>
            </a:r>
          </a:p>
        </p:txBody>
      </p:sp>
      <p:sp>
        <p:nvSpPr>
          <p:cNvPr id="29" name="object 29"/>
          <p:cNvSpPr txBox="1"/>
          <p:nvPr/>
        </p:nvSpPr>
        <p:spPr>
          <a:xfrm>
            <a:off x="647350" y="1052159"/>
            <a:ext cx="8306500" cy="3330561"/>
          </a:xfrm>
          <a:prstGeom prst="rect">
            <a:avLst/>
          </a:prstGeom>
        </p:spPr>
        <p:txBody>
          <a:bodyPr vert="horz" wrap="square" lIns="0" tIns="16988" rIns="0" bIns="0" rtlCol="0">
            <a:spAutoFit/>
          </a:bodyPr>
          <a:lstStyle/>
          <a:p>
            <a:pPr marL="18875">
              <a:spcBef>
                <a:spcPts val="134"/>
              </a:spcBef>
            </a:pPr>
            <a:r>
              <a:rPr spc="-15" dirty="0">
                <a:latin typeface="Trebuchet MS" panose="020B0603020202020204" pitchFamily="34" charset="0"/>
                <a:cs typeface="Arial MT"/>
              </a:rPr>
              <a:t>PaaS</a:t>
            </a:r>
            <a:r>
              <a:rPr spc="-52" dirty="0">
                <a:latin typeface="Trebuchet MS" panose="020B0603020202020204" pitchFamily="34" charset="0"/>
                <a:cs typeface="Arial MT"/>
              </a:rPr>
              <a:t> </a:t>
            </a:r>
            <a:r>
              <a:rPr spc="-15" dirty="0">
                <a:latin typeface="Trebuchet MS" panose="020B0603020202020204" pitchFamily="34" charset="0"/>
                <a:cs typeface="Arial MT"/>
              </a:rPr>
              <a:t>provides</a:t>
            </a:r>
            <a:r>
              <a:rPr spc="-52" dirty="0">
                <a:latin typeface="Trebuchet MS" panose="020B0603020202020204" pitchFamily="34" charset="0"/>
                <a:cs typeface="Arial MT"/>
              </a:rPr>
              <a:t> </a:t>
            </a:r>
            <a:r>
              <a:rPr dirty="0">
                <a:latin typeface="Trebuchet MS" panose="020B0603020202020204" pitchFamily="34" charset="0"/>
                <a:cs typeface="Arial MT"/>
              </a:rPr>
              <a:t>a</a:t>
            </a:r>
            <a:r>
              <a:rPr spc="-52" dirty="0">
                <a:latin typeface="Trebuchet MS" panose="020B0603020202020204" pitchFamily="34" charset="0"/>
                <a:cs typeface="Arial MT"/>
              </a:rPr>
              <a:t> </a:t>
            </a:r>
            <a:r>
              <a:rPr dirty="0">
                <a:latin typeface="Trebuchet MS" panose="020B0603020202020204" pitchFamily="34" charset="0"/>
                <a:cs typeface="Arial MT"/>
              </a:rPr>
              <a:t>platform</a:t>
            </a:r>
            <a:r>
              <a:rPr spc="-52" dirty="0">
                <a:latin typeface="Trebuchet MS" panose="020B0603020202020204" pitchFamily="34" charset="0"/>
                <a:cs typeface="Arial MT"/>
              </a:rPr>
              <a:t> </a:t>
            </a:r>
            <a:r>
              <a:rPr dirty="0">
                <a:solidFill>
                  <a:srgbClr val="FF0000"/>
                </a:solidFill>
                <a:latin typeface="Trebuchet MS" panose="020B0603020202020204" pitchFamily="34" charset="0"/>
                <a:cs typeface="Arial MT"/>
              </a:rPr>
              <a:t>to</a:t>
            </a:r>
            <a:r>
              <a:rPr spc="-52" dirty="0">
                <a:solidFill>
                  <a:srgbClr val="FF0000"/>
                </a:solidFill>
                <a:latin typeface="Trebuchet MS" panose="020B0603020202020204" pitchFamily="34" charset="0"/>
                <a:cs typeface="Arial MT"/>
              </a:rPr>
              <a:t> </a:t>
            </a:r>
            <a:r>
              <a:rPr i="1" dirty="0">
                <a:solidFill>
                  <a:srgbClr val="FF0000"/>
                </a:solidFill>
                <a:latin typeface="Trebuchet MS" panose="020B0603020202020204" pitchFamily="34" charset="0"/>
                <a:cs typeface="Arial"/>
              </a:rPr>
              <a:t>build</a:t>
            </a:r>
            <a:r>
              <a:rPr dirty="0">
                <a:solidFill>
                  <a:srgbClr val="FF0000"/>
                </a:solidFill>
                <a:latin typeface="Trebuchet MS" panose="020B0603020202020204" pitchFamily="34" charset="0"/>
                <a:cs typeface="Arial MT"/>
              </a:rPr>
              <a:t>,</a:t>
            </a:r>
            <a:r>
              <a:rPr spc="-52" dirty="0">
                <a:solidFill>
                  <a:srgbClr val="FF0000"/>
                </a:solidFill>
                <a:latin typeface="Trebuchet MS" panose="020B0603020202020204" pitchFamily="34" charset="0"/>
                <a:cs typeface="Arial MT"/>
              </a:rPr>
              <a:t> </a:t>
            </a:r>
            <a:r>
              <a:rPr dirty="0">
                <a:solidFill>
                  <a:srgbClr val="FF0000"/>
                </a:solidFill>
                <a:latin typeface="Trebuchet MS" panose="020B0603020202020204" pitchFamily="34" charset="0"/>
                <a:cs typeface="Arial MT"/>
              </a:rPr>
              <a:t>run,</a:t>
            </a:r>
            <a:r>
              <a:rPr spc="-45" dirty="0">
                <a:solidFill>
                  <a:srgbClr val="FF0000"/>
                </a:solidFill>
                <a:latin typeface="Trebuchet MS" panose="020B0603020202020204" pitchFamily="34" charset="0"/>
                <a:cs typeface="Arial MT"/>
              </a:rPr>
              <a:t> </a:t>
            </a:r>
            <a:r>
              <a:rPr spc="-15" dirty="0">
                <a:solidFill>
                  <a:srgbClr val="FF0000"/>
                </a:solidFill>
                <a:latin typeface="Trebuchet MS" panose="020B0603020202020204" pitchFamily="34" charset="0"/>
                <a:cs typeface="Arial MT"/>
              </a:rPr>
              <a:t>deploy</a:t>
            </a:r>
            <a:r>
              <a:rPr spc="-52" dirty="0">
                <a:solidFill>
                  <a:srgbClr val="FF0000"/>
                </a:solidFill>
                <a:latin typeface="Trebuchet MS" panose="020B0603020202020204" pitchFamily="34" charset="0"/>
                <a:cs typeface="Arial MT"/>
              </a:rPr>
              <a:t> </a:t>
            </a:r>
            <a:r>
              <a:rPr spc="-37" dirty="0">
                <a:solidFill>
                  <a:srgbClr val="FF0000"/>
                </a:solidFill>
                <a:latin typeface="Trebuchet MS" panose="020B0603020202020204" pitchFamily="34" charset="0"/>
                <a:cs typeface="Arial MT"/>
              </a:rPr>
              <a:t>and</a:t>
            </a:r>
            <a:r>
              <a:rPr lang="en-US" spc="-37" dirty="0">
                <a:solidFill>
                  <a:srgbClr val="FF0000"/>
                </a:solidFill>
                <a:latin typeface="Trebuchet MS" panose="020B0603020202020204" pitchFamily="34" charset="0"/>
                <a:cs typeface="Arial MT"/>
              </a:rPr>
              <a:t> </a:t>
            </a:r>
            <a:r>
              <a:rPr i="1" dirty="0">
                <a:solidFill>
                  <a:srgbClr val="FF0000"/>
                </a:solidFill>
                <a:latin typeface="Trebuchet MS" panose="020B0603020202020204" pitchFamily="34" charset="0"/>
                <a:cs typeface="Arial"/>
              </a:rPr>
              <a:t>manage </a:t>
            </a:r>
            <a:r>
              <a:rPr spc="-15" dirty="0">
                <a:latin typeface="Trebuchet MS" panose="020B0603020202020204" pitchFamily="34" charset="0"/>
                <a:cs typeface="Arial MT"/>
              </a:rPr>
              <a:t>applications</a:t>
            </a:r>
            <a:r>
              <a:rPr spc="-30" dirty="0">
                <a:latin typeface="Trebuchet MS" panose="020B0603020202020204" pitchFamily="34" charset="0"/>
                <a:cs typeface="Arial MT"/>
              </a:rPr>
              <a:t> </a:t>
            </a:r>
            <a:r>
              <a:rPr dirty="0">
                <a:latin typeface="Trebuchet MS" panose="020B0603020202020204" pitchFamily="34" charset="0"/>
                <a:cs typeface="Arial MT"/>
              </a:rPr>
              <a:t>on</a:t>
            </a:r>
            <a:r>
              <a:rPr spc="-30" dirty="0">
                <a:latin typeface="Trebuchet MS" panose="020B0603020202020204" pitchFamily="34" charset="0"/>
                <a:cs typeface="Arial MT"/>
              </a:rPr>
              <a:t> </a:t>
            </a:r>
            <a:r>
              <a:rPr dirty="0">
                <a:latin typeface="Trebuchet MS" panose="020B0603020202020204" pitchFamily="34" charset="0"/>
                <a:cs typeface="Arial MT"/>
              </a:rPr>
              <a:t>the</a:t>
            </a:r>
            <a:r>
              <a:rPr spc="-30" dirty="0">
                <a:latin typeface="Trebuchet MS" panose="020B0603020202020204" pitchFamily="34" charset="0"/>
                <a:cs typeface="Arial MT"/>
              </a:rPr>
              <a:t> </a:t>
            </a:r>
            <a:r>
              <a:rPr spc="-15" dirty="0">
                <a:latin typeface="Trebuchet MS" panose="020B0603020202020204" pitchFamily="34" charset="0"/>
                <a:cs typeface="Arial MT"/>
              </a:rPr>
              <a:t>cloud.</a:t>
            </a:r>
            <a:endParaRPr lang="en-US" spc="-15" dirty="0">
              <a:latin typeface="Trebuchet MS" panose="020B0603020202020204" pitchFamily="34" charset="0"/>
              <a:cs typeface="Arial MT"/>
            </a:endParaRPr>
          </a:p>
          <a:p>
            <a:pPr marL="18875">
              <a:spcBef>
                <a:spcPts val="52"/>
              </a:spcBef>
            </a:pPr>
            <a:endParaRPr dirty="0">
              <a:latin typeface="Trebuchet MS" panose="020B0603020202020204" pitchFamily="34" charset="0"/>
              <a:cs typeface="Arial MT"/>
            </a:endParaRPr>
          </a:p>
          <a:p>
            <a:pPr marL="18875" marR="7550">
              <a:lnSpc>
                <a:spcPct val="102600"/>
              </a:lnSpc>
              <a:spcBef>
                <a:spcPts val="446"/>
              </a:spcBef>
            </a:pPr>
            <a:r>
              <a:rPr spc="-15" dirty="0">
                <a:latin typeface="Trebuchet MS" panose="020B0603020202020204" pitchFamily="34" charset="0"/>
                <a:cs typeface="Arial MT"/>
              </a:rPr>
              <a:t>Unlike</a:t>
            </a:r>
            <a:r>
              <a:rPr spc="-59" dirty="0">
                <a:latin typeface="Trebuchet MS" panose="020B0603020202020204" pitchFamily="34" charset="0"/>
                <a:cs typeface="Arial MT"/>
              </a:rPr>
              <a:t> </a:t>
            </a:r>
            <a:r>
              <a:rPr dirty="0">
                <a:latin typeface="Trebuchet MS" panose="020B0603020202020204" pitchFamily="34" charset="0"/>
                <a:cs typeface="Arial MT"/>
              </a:rPr>
              <a:t>in</a:t>
            </a:r>
            <a:r>
              <a:rPr spc="-59" dirty="0">
                <a:latin typeface="Trebuchet MS" panose="020B0603020202020204" pitchFamily="34" charset="0"/>
                <a:cs typeface="Arial MT"/>
              </a:rPr>
              <a:t> </a:t>
            </a:r>
            <a:r>
              <a:rPr dirty="0">
                <a:latin typeface="Trebuchet MS" panose="020B0603020202020204" pitchFamily="34" charset="0"/>
                <a:cs typeface="Arial MT"/>
              </a:rPr>
              <a:t>IaaS,</a:t>
            </a:r>
            <a:r>
              <a:rPr spc="-59" dirty="0">
                <a:latin typeface="Trebuchet MS" panose="020B0603020202020204" pitchFamily="34" charset="0"/>
                <a:cs typeface="Arial MT"/>
              </a:rPr>
              <a:t> </a:t>
            </a:r>
            <a:r>
              <a:rPr dirty="0">
                <a:latin typeface="Trebuchet MS" panose="020B0603020202020204" pitchFamily="34" charset="0"/>
                <a:cs typeface="Arial MT"/>
              </a:rPr>
              <a:t>the</a:t>
            </a:r>
            <a:r>
              <a:rPr spc="-52" dirty="0">
                <a:latin typeface="Trebuchet MS" panose="020B0603020202020204" pitchFamily="34" charset="0"/>
                <a:cs typeface="Arial MT"/>
              </a:rPr>
              <a:t> </a:t>
            </a:r>
            <a:r>
              <a:rPr spc="-15" dirty="0">
                <a:latin typeface="Trebuchet MS" panose="020B0603020202020204" pitchFamily="34" charset="0"/>
                <a:cs typeface="Arial MT"/>
              </a:rPr>
              <a:t>PaaS</a:t>
            </a:r>
            <a:r>
              <a:rPr spc="-59" dirty="0">
                <a:latin typeface="Trebuchet MS" panose="020B0603020202020204" pitchFamily="34" charset="0"/>
                <a:cs typeface="Arial MT"/>
              </a:rPr>
              <a:t> </a:t>
            </a:r>
            <a:r>
              <a:rPr dirty="0">
                <a:latin typeface="Trebuchet MS" panose="020B0603020202020204" pitchFamily="34" charset="0"/>
                <a:cs typeface="Arial MT"/>
              </a:rPr>
              <a:t>vendors</a:t>
            </a:r>
            <a:r>
              <a:rPr spc="-59" dirty="0">
                <a:latin typeface="Trebuchet MS" panose="020B0603020202020204" pitchFamily="34" charset="0"/>
                <a:cs typeface="Arial MT"/>
              </a:rPr>
              <a:t> </a:t>
            </a:r>
            <a:r>
              <a:rPr dirty="0">
                <a:latin typeface="Trebuchet MS" panose="020B0603020202020204" pitchFamily="34" charset="0"/>
                <a:cs typeface="Arial MT"/>
              </a:rPr>
              <a:t>take</a:t>
            </a:r>
            <a:r>
              <a:rPr spc="-52" dirty="0">
                <a:latin typeface="Trebuchet MS" panose="020B0603020202020204" pitchFamily="34" charset="0"/>
                <a:cs typeface="Arial MT"/>
              </a:rPr>
              <a:t> </a:t>
            </a:r>
            <a:r>
              <a:rPr dirty="0">
                <a:latin typeface="Trebuchet MS" panose="020B0603020202020204" pitchFamily="34" charset="0"/>
                <a:cs typeface="Arial MT"/>
              </a:rPr>
              <a:t>care</a:t>
            </a:r>
            <a:r>
              <a:rPr spc="-59" dirty="0">
                <a:latin typeface="Trebuchet MS" panose="020B0603020202020204" pitchFamily="34" charset="0"/>
                <a:cs typeface="Arial MT"/>
              </a:rPr>
              <a:t> </a:t>
            </a:r>
            <a:r>
              <a:rPr dirty="0">
                <a:latin typeface="Trebuchet MS" panose="020B0603020202020204" pitchFamily="34" charset="0"/>
                <a:cs typeface="Arial MT"/>
              </a:rPr>
              <a:t>of</a:t>
            </a:r>
            <a:r>
              <a:rPr spc="-59" dirty="0">
                <a:latin typeface="Trebuchet MS" panose="020B0603020202020204" pitchFamily="34" charset="0"/>
                <a:cs typeface="Arial MT"/>
              </a:rPr>
              <a:t> </a:t>
            </a:r>
            <a:r>
              <a:rPr spc="-15" dirty="0">
                <a:latin typeface="Trebuchet MS" panose="020B0603020202020204" pitchFamily="34" charset="0"/>
                <a:cs typeface="Arial MT"/>
              </a:rPr>
              <a:t>tasks </a:t>
            </a:r>
            <a:r>
              <a:rPr dirty="0">
                <a:latin typeface="Trebuchet MS" panose="020B0603020202020204" pitchFamily="34" charset="0"/>
                <a:cs typeface="Arial MT"/>
              </a:rPr>
              <a:t>like:</a:t>
            </a:r>
            <a:r>
              <a:rPr spc="7" dirty="0">
                <a:latin typeface="Trebuchet MS" panose="020B0603020202020204" pitchFamily="34" charset="0"/>
                <a:cs typeface="Arial MT"/>
              </a:rPr>
              <a:t> </a:t>
            </a:r>
            <a:endParaRPr lang="en-US" spc="7" dirty="0">
              <a:latin typeface="Trebuchet MS" panose="020B0603020202020204" pitchFamily="34" charset="0"/>
              <a:cs typeface="Arial MT"/>
            </a:endParaRPr>
          </a:p>
          <a:p>
            <a:pPr marL="361775" marR="7550" indent="-342900">
              <a:lnSpc>
                <a:spcPct val="102600"/>
              </a:lnSpc>
              <a:spcBef>
                <a:spcPts val="446"/>
              </a:spcBef>
              <a:buFont typeface="+mj-lt"/>
              <a:buAutoNum type="arabicPeriod"/>
            </a:pPr>
            <a:r>
              <a:rPr dirty="0">
                <a:latin typeface="Trebuchet MS" panose="020B0603020202020204" pitchFamily="34" charset="0"/>
                <a:cs typeface="Arial MT"/>
              </a:rPr>
              <a:t>automatic</a:t>
            </a:r>
            <a:r>
              <a:rPr spc="-74" dirty="0">
                <a:latin typeface="Trebuchet MS" panose="020B0603020202020204" pitchFamily="34" charset="0"/>
                <a:cs typeface="Arial MT"/>
              </a:rPr>
              <a:t> </a:t>
            </a:r>
            <a:r>
              <a:rPr dirty="0">
                <a:latin typeface="Trebuchet MS" panose="020B0603020202020204" pitchFamily="34" charset="0"/>
                <a:cs typeface="Arial MT"/>
              </a:rPr>
              <a:t>scaling</a:t>
            </a:r>
            <a:r>
              <a:rPr spc="-74" dirty="0">
                <a:latin typeface="Trebuchet MS" panose="020B0603020202020204" pitchFamily="34" charset="0"/>
                <a:cs typeface="Arial MT"/>
              </a:rPr>
              <a:t> </a:t>
            </a:r>
            <a:r>
              <a:rPr dirty="0">
                <a:latin typeface="Trebuchet MS" panose="020B0603020202020204" pitchFamily="34" charset="0"/>
                <a:cs typeface="Arial MT"/>
              </a:rPr>
              <a:t>based</a:t>
            </a:r>
            <a:r>
              <a:rPr spc="-74" dirty="0">
                <a:latin typeface="Trebuchet MS" panose="020B0603020202020204" pitchFamily="34" charset="0"/>
                <a:cs typeface="Arial MT"/>
              </a:rPr>
              <a:t> </a:t>
            </a:r>
            <a:r>
              <a:rPr dirty="0">
                <a:latin typeface="Trebuchet MS" panose="020B0603020202020204" pitchFamily="34" charset="0"/>
                <a:cs typeface="Arial MT"/>
              </a:rPr>
              <a:t>on</a:t>
            </a:r>
            <a:r>
              <a:rPr spc="-74" dirty="0">
                <a:latin typeface="Trebuchet MS" panose="020B0603020202020204" pitchFamily="34" charset="0"/>
                <a:cs typeface="Arial MT"/>
              </a:rPr>
              <a:t> </a:t>
            </a:r>
            <a:r>
              <a:rPr dirty="0">
                <a:latin typeface="Trebuchet MS" panose="020B0603020202020204" pitchFamily="34" charset="0"/>
                <a:cs typeface="Arial MT"/>
              </a:rPr>
              <a:t>traffic/usage</a:t>
            </a:r>
            <a:r>
              <a:rPr spc="-74" dirty="0">
                <a:latin typeface="Trebuchet MS" panose="020B0603020202020204" pitchFamily="34" charset="0"/>
                <a:cs typeface="Arial MT"/>
              </a:rPr>
              <a:t> </a:t>
            </a:r>
            <a:r>
              <a:rPr spc="-30" dirty="0">
                <a:latin typeface="Trebuchet MS" panose="020B0603020202020204" pitchFamily="34" charset="0"/>
                <a:cs typeface="Arial MT"/>
              </a:rPr>
              <a:t>load </a:t>
            </a:r>
            <a:r>
              <a:rPr spc="-15" dirty="0">
                <a:latin typeface="Trebuchet MS" panose="020B0603020202020204" pitchFamily="34" charset="0"/>
                <a:cs typeface="Arial MT"/>
              </a:rPr>
              <a:t>(scaling</a:t>
            </a:r>
            <a:r>
              <a:rPr spc="-52" dirty="0">
                <a:latin typeface="Trebuchet MS" panose="020B0603020202020204" pitchFamily="34" charset="0"/>
                <a:cs typeface="Arial MT"/>
              </a:rPr>
              <a:t> </a:t>
            </a:r>
            <a:r>
              <a:rPr spc="-15" dirty="0">
                <a:latin typeface="Trebuchet MS" panose="020B0603020202020204" pitchFamily="34" charset="0"/>
                <a:cs typeface="Arial MT"/>
              </a:rPr>
              <a:t>up/down</a:t>
            </a:r>
            <a:r>
              <a:rPr spc="-45" dirty="0">
                <a:latin typeface="Trebuchet MS" panose="020B0603020202020204" pitchFamily="34" charset="0"/>
                <a:cs typeface="Arial MT"/>
              </a:rPr>
              <a:t> </a:t>
            </a:r>
            <a:r>
              <a:rPr dirty="0">
                <a:latin typeface="Trebuchet MS" panose="020B0603020202020204" pitchFamily="34" charset="0"/>
                <a:cs typeface="Arial MT"/>
              </a:rPr>
              <a:t>and/or</a:t>
            </a:r>
            <a:r>
              <a:rPr spc="-52" dirty="0">
                <a:latin typeface="Trebuchet MS" panose="020B0603020202020204" pitchFamily="34" charset="0"/>
                <a:cs typeface="Arial MT"/>
              </a:rPr>
              <a:t> </a:t>
            </a:r>
            <a:r>
              <a:rPr dirty="0">
                <a:latin typeface="Trebuchet MS" panose="020B0603020202020204" pitchFamily="34" charset="0"/>
                <a:cs typeface="Arial MT"/>
              </a:rPr>
              <a:t>scaling</a:t>
            </a:r>
            <a:r>
              <a:rPr spc="-45" dirty="0">
                <a:latin typeface="Trebuchet MS" panose="020B0603020202020204" pitchFamily="34" charset="0"/>
                <a:cs typeface="Arial MT"/>
              </a:rPr>
              <a:t> </a:t>
            </a:r>
            <a:r>
              <a:rPr dirty="0">
                <a:latin typeface="Trebuchet MS" panose="020B0603020202020204" pitchFamily="34" charset="0"/>
                <a:cs typeface="Arial MT"/>
              </a:rPr>
              <a:t>out/in),</a:t>
            </a:r>
            <a:r>
              <a:rPr spc="-52" dirty="0">
                <a:latin typeface="Trebuchet MS" panose="020B0603020202020204" pitchFamily="34" charset="0"/>
                <a:cs typeface="Arial MT"/>
              </a:rPr>
              <a:t> </a:t>
            </a:r>
            <a:r>
              <a:rPr spc="-15" dirty="0">
                <a:latin typeface="Trebuchet MS" panose="020B0603020202020204" pitchFamily="34" charset="0"/>
                <a:cs typeface="Arial MT"/>
              </a:rPr>
              <a:t>which </a:t>
            </a:r>
            <a:r>
              <a:rPr spc="-30" dirty="0">
                <a:latin typeface="Trebuchet MS" panose="020B0603020202020204" pitchFamily="34" charset="0"/>
                <a:cs typeface="Arial MT"/>
              </a:rPr>
              <a:t>involves</a:t>
            </a:r>
            <a:r>
              <a:rPr spc="-67" dirty="0">
                <a:latin typeface="Trebuchet MS" panose="020B0603020202020204" pitchFamily="34" charset="0"/>
                <a:cs typeface="Arial MT"/>
              </a:rPr>
              <a:t> </a:t>
            </a:r>
            <a:r>
              <a:rPr dirty="0">
                <a:latin typeface="Trebuchet MS" panose="020B0603020202020204" pitchFamily="34" charset="0"/>
                <a:cs typeface="Arial MT"/>
              </a:rPr>
              <a:t>mechanisms</a:t>
            </a:r>
            <a:r>
              <a:rPr spc="-59" dirty="0">
                <a:latin typeface="Trebuchet MS" panose="020B0603020202020204" pitchFamily="34" charset="0"/>
                <a:cs typeface="Arial MT"/>
              </a:rPr>
              <a:t> </a:t>
            </a:r>
            <a:r>
              <a:rPr dirty="0">
                <a:latin typeface="Trebuchet MS" panose="020B0603020202020204" pitchFamily="34" charset="0"/>
                <a:cs typeface="Arial MT"/>
              </a:rPr>
              <a:t>like</a:t>
            </a:r>
            <a:r>
              <a:rPr spc="-59" dirty="0">
                <a:latin typeface="Trebuchet MS" panose="020B0603020202020204" pitchFamily="34" charset="0"/>
                <a:cs typeface="Arial MT"/>
              </a:rPr>
              <a:t> </a:t>
            </a:r>
            <a:r>
              <a:rPr dirty="0">
                <a:latin typeface="Trebuchet MS" panose="020B0603020202020204" pitchFamily="34" charset="0"/>
                <a:cs typeface="Arial MT"/>
              </a:rPr>
              <a:t>caching,</a:t>
            </a:r>
            <a:r>
              <a:rPr spc="-59" dirty="0">
                <a:latin typeface="Trebuchet MS" panose="020B0603020202020204" pitchFamily="34" charset="0"/>
                <a:cs typeface="Arial MT"/>
              </a:rPr>
              <a:t> </a:t>
            </a:r>
            <a:r>
              <a:rPr spc="-15" dirty="0">
                <a:latin typeface="Trebuchet MS" panose="020B0603020202020204" pitchFamily="34" charset="0"/>
                <a:cs typeface="Arial MT"/>
              </a:rPr>
              <a:t>asynchronous </a:t>
            </a:r>
            <a:r>
              <a:rPr dirty="0">
                <a:latin typeface="Trebuchet MS" panose="020B0603020202020204" pitchFamily="34" charset="0"/>
                <a:cs typeface="Arial MT"/>
              </a:rPr>
              <a:t>messaging,</a:t>
            </a:r>
            <a:r>
              <a:rPr spc="-59" dirty="0">
                <a:latin typeface="Trebuchet MS" panose="020B0603020202020204" pitchFamily="34" charset="0"/>
                <a:cs typeface="Arial MT"/>
              </a:rPr>
              <a:t> </a:t>
            </a:r>
            <a:r>
              <a:rPr dirty="0">
                <a:latin typeface="Trebuchet MS" panose="020B0603020202020204" pitchFamily="34" charset="0"/>
                <a:cs typeface="Arial MT"/>
              </a:rPr>
              <a:t>database</a:t>
            </a:r>
            <a:r>
              <a:rPr spc="-52" dirty="0">
                <a:latin typeface="Trebuchet MS" panose="020B0603020202020204" pitchFamily="34" charset="0"/>
                <a:cs typeface="Arial MT"/>
              </a:rPr>
              <a:t> </a:t>
            </a:r>
            <a:r>
              <a:rPr spc="-15" dirty="0">
                <a:latin typeface="Trebuchet MS" panose="020B0603020202020204" pitchFamily="34" charset="0"/>
                <a:cs typeface="Arial MT"/>
              </a:rPr>
              <a:t>scaling,</a:t>
            </a:r>
            <a:r>
              <a:rPr spc="-52" dirty="0">
                <a:latin typeface="Trebuchet MS" panose="020B0603020202020204" pitchFamily="34" charset="0"/>
                <a:cs typeface="Arial MT"/>
              </a:rPr>
              <a:t> </a:t>
            </a:r>
            <a:r>
              <a:rPr dirty="0">
                <a:latin typeface="Trebuchet MS" panose="020B0603020202020204" pitchFamily="34" charset="0"/>
                <a:cs typeface="Arial MT"/>
              </a:rPr>
              <a:t>etc.,</a:t>
            </a:r>
            <a:r>
              <a:rPr spc="-52" dirty="0">
                <a:latin typeface="Trebuchet MS" panose="020B0603020202020204" pitchFamily="34" charset="0"/>
                <a:cs typeface="Arial MT"/>
              </a:rPr>
              <a:t> </a:t>
            </a:r>
            <a:r>
              <a:rPr dirty="0">
                <a:latin typeface="Trebuchet MS" panose="020B0603020202020204" pitchFamily="34" charset="0"/>
                <a:cs typeface="Arial MT"/>
              </a:rPr>
              <a:t>as</a:t>
            </a:r>
            <a:r>
              <a:rPr spc="-52" dirty="0">
                <a:latin typeface="Trebuchet MS" panose="020B0603020202020204" pitchFamily="34" charset="0"/>
                <a:cs typeface="Arial MT"/>
              </a:rPr>
              <a:t> </a:t>
            </a:r>
            <a:r>
              <a:rPr dirty="0">
                <a:latin typeface="Trebuchet MS" panose="020B0603020202020204" pitchFamily="34" charset="0"/>
                <a:cs typeface="Arial MT"/>
              </a:rPr>
              <a:t>well</a:t>
            </a:r>
            <a:r>
              <a:rPr spc="-52" dirty="0">
                <a:latin typeface="Trebuchet MS" panose="020B0603020202020204" pitchFamily="34" charset="0"/>
                <a:cs typeface="Arial MT"/>
              </a:rPr>
              <a:t> </a:t>
            </a:r>
            <a:r>
              <a:rPr spc="-37" dirty="0">
                <a:latin typeface="Trebuchet MS" panose="020B0603020202020204" pitchFamily="34" charset="0"/>
                <a:cs typeface="Arial MT"/>
              </a:rPr>
              <a:t>as </a:t>
            </a:r>
            <a:r>
              <a:rPr spc="-15" dirty="0">
                <a:latin typeface="Trebuchet MS" panose="020B0603020202020204" pitchFamily="34" charset="0"/>
                <a:cs typeface="Arial MT"/>
              </a:rPr>
              <a:t>providing</a:t>
            </a:r>
            <a:r>
              <a:rPr spc="-22" dirty="0">
                <a:latin typeface="Trebuchet MS" panose="020B0603020202020204" pitchFamily="34" charset="0"/>
                <a:cs typeface="Arial MT"/>
              </a:rPr>
              <a:t> </a:t>
            </a:r>
            <a:r>
              <a:rPr dirty="0">
                <a:latin typeface="Trebuchet MS" panose="020B0603020202020204" pitchFamily="34" charset="0"/>
                <a:cs typeface="Arial MT"/>
              </a:rPr>
              <a:t>the</a:t>
            </a:r>
            <a:r>
              <a:rPr spc="-22" dirty="0">
                <a:latin typeface="Trebuchet MS" panose="020B0603020202020204" pitchFamily="34" charset="0"/>
                <a:cs typeface="Arial MT"/>
              </a:rPr>
              <a:t> </a:t>
            </a:r>
            <a:r>
              <a:rPr dirty="0">
                <a:latin typeface="Trebuchet MS" panose="020B0603020202020204" pitchFamily="34" charset="0"/>
                <a:cs typeface="Arial MT"/>
              </a:rPr>
              <a:t>OS,</a:t>
            </a:r>
            <a:r>
              <a:rPr spc="-22" dirty="0">
                <a:latin typeface="Trebuchet MS" panose="020B0603020202020204" pitchFamily="34" charset="0"/>
                <a:cs typeface="Arial MT"/>
              </a:rPr>
              <a:t> </a:t>
            </a:r>
            <a:endParaRPr lang="en-US" spc="-22" dirty="0">
              <a:latin typeface="Trebuchet MS" panose="020B0603020202020204" pitchFamily="34" charset="0"/>
              <a:cs typeface="Arial MT"/>
            </a:endParaRPr>
          </a:p>
          <a:p>
            <a:pPr marL="361775" marR="7550" indent="-342900">
              <a:lnSpc>
                <a:spcPct val="102600"/>
              </a:lnSpc>
              <a:spcBef>
                <a:spcPts val="446"/>
              </a:spcBef>
              <a:buFont typeface="+mj-lt"/>
              <a:buAutoNum type="arabicPeriod"/>
            </a:pPr>
            <a:r>
              <a:rPr dirty="0">
                <a:latin typeface="Trebuchet MS" panose="020B0603020202020204" pitchFamily="34" charset="0"/>
                <a:cs typeface="Arial MT"/>
              </a:rPr>
              <a:t>the</a:t>
            </a:r>
            <a:r>
              <a:rPr spc="-22" dirty="0">
                <a:latin typeface="Trebuchet MS" panose="020B0603020202020204" pitchFamily="34" charset="0"/>
                <a:cs typeface="Arial MT"/>
              </a:rPr>
              <a:t> </a:t>
            </a:r>
            <a:r>
              <a:rPr spc="-15" dirty="0">
                <a:latin typeface="Trebuchet MS" panose="020B0603020202020204" pitchFamily="34" charset="0"/>
                <a:cs typeface="Arial MT"/>
              </a:rPr>
              <a:t>compilers/builders,</a:t>
            </a:r>
            <a:r>
              <a:rPr spc="-22" dirty="0">
                <a:latin typeface="Trebuchet MS" panose="020B0603020202020204" pitchFamily="34" charset="0"/>
                <a:cs typeface="Arial MT"/>
              </a:rPr>
              <a:t> </a:t>
            </a:r>
            <a:r>
              <a:rPr spc="-37" dirty="0">
                <a:latin typeface="Trebuchet MS" panose="020B0603020202020204" pitchFamily="34" charset="0"/>
                <a:cs typeface="Arial MT"/>
              </a:rPr>
              <a:t>the </a:t>
            </a:r>
            <a:r>
              <a:rPr spc="-15" dirty="0">
                <a:latin typeface="Trebuchet MS" panose="020B0603020202020204" pitchFamily="34" charset="0"/>
                <a:cs typeface="Arial MT"/>
              </a:rPr>
              <a:t>web/database</a:t>
            </a:r>
            <a:r>
              <a:rPr spc="-22" dirty="0">
                <a:latin typeface="Trebuchet MS" panose="020B0603020202020204" pitchFamily="34" charset="0"/>
                <a:cs typeface="Arial MT"/>
              </a:rPr>
              <a:t> </a:t>
            </a:r>
            <a:r>
              <a:rPr dirty="0">
                <a:latin typeface="Trebuchet MS" panose="020B0603020202020204" pitchFamily="34" charset="0"/>
                <a:cs typeface="Arial MT"/>
              </a:rPr>
              <a:t>servers,</a:t>
            </a:r>
            <a:r>
              <a:rPr spc="-15" dirty="0">
                <a:latin typeface="Trebuchet MS" panose="020B0603020202020204" pitchFamily="34" charset="0"/>
                <a:cs typeface="Arial MT"/>
              </a:rPr>
              <a:t> </a:t>
            </a:r>
            <a:r>
              <a:rPr dirty="0">
                <a:latin typeface="Trebuchet MS" panose="020B0603020202020204" pitchFamily="34" charset="0"/>
                <a:cs typeface="Arial MT"/>
              </a:rPr>
              <a:t>runtime</a:t>
            </a:r>
            <a:r>
              <a:rPr spc="-22" dirty="0">
                <a:latin typeface="Trebuchet MS" panose="020B0603020202020204" pitchFamily="34" charset="0"/>
                <a:cs typeface="Arial MT"/>
              </a:rPr>
              <a:t> </a:t>
            </a:r>
            <a:r>
              <a:rPr spc="-15" dirty="0">
                <a:latin typeface="Trebuchet MS" panose="020B0603020202020204" pitchFamily="34" charset="0"/>
                <a:cs typeface="Arial MT"/>
              </a:rPr>
              <a:t>libraries, testers, backups,</a:t>
            </a:r>
            <a:r>
              <a:rPr spc="-37" dirty="0">
                <a:latin typeface="Trebuchet MS" panose="020B0603020202020204" pitchFamily="34" charset="0"/>
                <a:cs typeface="Arial MT"/>
              </a:rPr>
              <a:t> </a:t>
            </a:r>
            <a:r>
              <a:rPr spc="-15" dirty="0">
                <a:latin typeface="Trebuchet MS" panose="020B0603020202020204" pitchFamily="34" charset="0"/>
                <a:cs typeface="Arial MT"/>
              </a:rPr>
              <a:t>deployment</a:t>
            </a:r>
            <a:r>
              <a:rPr spc="-37" dirty="0">
                <a:latin typeface="Trebuchet MS" panose="020B0603020202020204" pitchFamily="34" charset="0"/>
                <a:cs typeface="Arial MT"/>
              </a:rPr>
              <a:t> </a:t>
            </a:r>
            <a:r>
              <a:rPr dirty="0">
                <a:latin typeface="Trebuchet MS" panose="020B0603020202020204" pitchFamily="34" charset="0"/>
                <a:cs typeface="Arial MT"/>
              </a:rPr>
              <a:t>tools,</a:t>
            </a:r>
            <a:r>
              <a:rPr spc="-37" dirty="0">
                <a:latin typeface="Trebuchet MS" panose="020B0603020202020204" pitchFamily="34" charset="0"/>
                <a:cs typeface="Arial MT"/>
              </a:rPr>
              <a:t> </a:t>
            </a:r>
            <a:r>
              <a:rPr dirty="0">
                <a:latin typeface="Trebuchet MS" panose="020B0603020202020204" pitchFamily="34" charset="0"/>
                <a:cs typeface="Arial MT"/>
              </a:rPr>
              <a:t>etc.,</a:t>
            </a:r>
            <a:r>
              <a:rPr spc="-37" dirty="0">
                <a:latin typeface="Trebuchet MS" panose="020B0603020202020204" pitchFamily="34" charset="0"/>
                <a:cs typeface="Arial MT"/>
              </a:rPr>
              <a:t> </a:t>
            </a:r>
            <a:endParaRPr lang="en-US" spc="-37" dirty="0">
              <a:latin typeface="Trebuchet MS" panose="020B0603020202020204" pitchFamily="34" charset="0"/>
              <a:cs typeface="Arial MT"/>
            </a:endParaRPr>
          </a:p>
          <a:p>
            <a:pPr marL="18875" marR="7550">
              <a:lnSpc>
                <a:spcPct val="102600"/>
              </a:lnSpc>
              <a:spcBef>
                <a:spcPts val="446"/>
              </a:spcBef>
            </a:pPr>
            <a:r>
              <a:rPr dirty="0">
                <a:latin typeface="Trebuchet MS" panose="020B0603020202020204" pitchFamily="34" charset="0"/>
                <a:cs typeface="Arial MT"/>
              </a:rPr>
              <a:t>so</a:t>
            </a:r>
            <a:r>
              <a:rPr spc="-30" dirty="0">
                <a:latin typeface="Trebuchet MS" panose="020B0603020202020204" pitchFamily="34" charset="0"/>
                <a:cs typeface="Arial MT"/>
              </a:rPr>
              <a:t> </a:t>
            </a:r>
            <a:r>
              <a:rPr dirty="0">
                <a:latin typeface="Trebuchet MS" panose="020B0603020202020204" pitchFamily="34" charset="0"/>
                <a:cs typeface="Arial MT"/>
              </a:rPr>
              <a:t>that</a:t>
            </a:r>
            <a:r>
              <a:rPr spc="-37" dirty="0">
                <a:latin typeface="Trebuchet MS" panose="020B0603020202020204" pitchFamily="34" charset="0"/>
                <a:cs typeface="Arial MT"/>
              </a:rPr>
              <a:t> the </a:t>
            </a:r>
            <a:r>
              <a:rPr dirty="0">
                <a:latin typeface="Trebuchet MS" panose="020B0603020202020204" pitchFamily="34" charset="0"/>
                <a:cs typeface="Arial MT"/>
              </a:rPr>
              <a:t>consumers</a:t>
            </a:r>
            <a:r>
              <a:rPr spc="-52" dirty="0">
                <a:latin typeface="Trebuchet MS" panose="020B0603020202020204" pitchFamily="34" charset="0"/>
                <a:cs typeface="Arial MT"/>
              </a:rPr>
              <a:t> </a:t>
            </a:r>
            <a:r>
              <a:rPr spc="-15" dirty="0">
                <a:latin typeface="Trebuchet MS" panose="020B0603020202020204" pitchFamily="34" charset="0"/>
                <a:cs typeface="Arial MT"/>
              </a:rPr>
              <a:t>(developers)</a:t>
            </a:r>
            <a:r>
              <a:rPr spc="-52" dirty="0">
                <a:latin typeface="Trebuchet MS" panose="020B0603020202020204" pitchFamily="34" charset="0"/>
                <a:cs typeface="Arial MT"/>
              </a:rPr>
              <a:t> </a:t>
            </a:r>
            <a:r>
              <a:rPr dirty="0">
                <a:latin typeface="Trebuchet MS" panose="020B0603020202020204" pitchFamily="34" charset="0"/>
                <a:cs typeface="Arial MT"/>
              </a:rPr>
              <a:t>focus</a:t>
            </a:r>
            <a:r>
              <a:rPr spc="-45" dirty="0">
                <a:latin typeface="Trebuchet MS" panose="020B0603020202020204" pitchFamily="34" charset="0"/>
                <a:cs typeface="Arial MT"/>
              </a:rPr>
              <a:t> </a:t>
            </a:r>
            <a:r>
              <a:rPr dirty="0">
                <a:latin typeface="Trebuchet MS" panose="020B0603020202020204" pitchFamily="34" charset="0"/>
                <a:cs typeface="Arial MT"/>
              </a:rPr>
              <a:t>on</a:t>
            </a:r>
            <a:r>
              <a:rPr spc="-52" dirty="0">
                <a:latin typeface="Trebuchet MS" panose="020B0603020202020204" pitchFamily="34" charset="0"/>
                <a:cs typeface="Arial MT"/>
              </a:rPr>
              <a:t> </a:t>
            </a:r>
            <a:r>
              <a:rPr dirty="0">
                <a:latin typeface="Trebuchet MS" panose="020B0603020202020204" pitchFamily="34" charset="0"/>
                <a:cs typeface="Arial MT"/>
              </a:rPr>
              <a:t>the</a:t>
            </a:r>
            <a:r>
              <a:rPr spc="-52" dirty="0">
                <a:latin typeface="Trebuchet MS" panose="020B0603020202020204" pitchFamily="34" charset="0"/>
                <a:cs typeface="Arial MT"/>
              </a:rPr>
              <a:t> </a:t>
            </a:r>
            <a:r>
              <a:rPr spc="-15" dirty="0">
                <a:latin typeface="Trebuchet MS" panose="020B0603020202020204" pitchFamily="34" charset="0"/>
                <a:cs typeface="Arial MT"/>
              </a:rPr>
              <a:t>business</a:t>
            </a:r>
            <a:r>
              <a:rPr spc="-45" dirty="0">
                <a:latin typeface="Trebuchet MS" panose="020B0603020202020204" pitchFamily="34" charset="0"/>
                <a:cs typeface="Arial MT"/>
              </a:rPr>
              <a:t> </a:t>
            </a:r>
            <a:r>
              <a:rPr spc="-15" dirty="0">
                <a:latin typeface="Trebuchet MS" panose="020B0603020202020204" pitchFamily="34" charset="0"/>
                <a:cs typeface="Arial MT"/>
              </a:rPr>
              <a:t>logic </a:t>
            </a:r>
            <a:r>
              <a:rPr dirty="0">
                <a:latin typeface="Trebuchet MS" panose="020B0603020202020204" pitchFamily="34" charset="0"/>
                <a:cs typeface="Arial MT"/>
              </a:rPr>
              <a:t>and</a:t>
            </a:r>
            <a:r>
              <a:rPr spc="-37" dirty="0">
                <a:latin typeface="Trebuchet MS" panose="020B0603020202020204" pitchFamily="34" charset="0"/>
                <a:cs typeface="Arial MT"/>
              </a:rPr>
              <a:t> </a:t>
            </a:r>
            <a:r>
              <a:rPr dirty="0">
                <a:latin typeface="Trebuchet MS" panose="020B0603020202020204" pitchFamily="34" charset="0"/>
                <a:cs typeface="Arial MT"/>
              </a:rPr>
              <a:t>not</a:t>
            </a:r>
            <a:r>
              <a:rPr spc="-37" dirty="0">
                <a:latin typeface="Trebuchet MS" panose="020B0603020202020204" pitchFamily="34" charset="0"/>
                <a:cs typeface="Arial MT"/>
              </a:rPr>
              <a:t> </a:t>
            </a:r>
            <a:r>
              <a:rPr spc="-15" dirty="0">
                <a:latin typeface="Trebuchet MS" panose="020B0603020202020204" pitchFamily="34" charset="0"/>
                <a:cs typeface="Arial MT"/>
              </a:rPr>
              <a:t>re-inventing</a:t>
            </a:r>
            <a:r>
              <a:rPr spc="-37" dirty="0">
                <a:latin typeface="Trebuchet MS" panose="020B0603020202020204" pitchFamily="34" charset="0"/>
                <a:cs typeface="Arial MT"/>
              </a:rPr>
              <a:t> </a:t>
            </a:r>
            <a:r>
              <a:rPr dirty="0">
                <a:latin typeface="Trebuchet MS" panose="020B0603020202020204" pitchFamily="34" charset="0"/>
                <a:cs typeface="Arial MT"/>
              </a:rPr>
              <a:t>the</a:t>
            </a:r>
            <a:r>
              <a:rPr spc="-37" dirty="0">
                <a:latin typeface="Trebuchet MS" panose="020B0603020202020204" pitchFamily="34" charset="0"/>
                <a:cs typeface="Arial MT"/>
              </a:rPr>
              <a:t> </a:t>
            </a:r>
            <a:r>
              <a:rPr dirty="0">
                <a:latin typeface="Trebuchet MS" panose="020B0603020202020204" pitchFamily="34" charset="0"/>
                <a:cs typeface="Arial MT"/>
              </a:rPr>
              <a:t>wheel</a:t>
            </a:r>
            <a:r>
              <a:rPr spc="-37" dirty="0">
                <a:latin typeface="Trebuchet MS" panose="020B0603020202020204" pitchFamily="34" charset="0"/>
                <a:cs typeface="Arial MT"/>
              </a:rPr>
              <a:t> </a:t>
            </a:r>
            <a:r>
              <a:rPr dirty="0">
                <a:latin typeface="Trebuchet MS" panose="020B0603020202020204" pitchFamily="34" charset="0"/>
                <a:cs typeface="Arial MT"/>
              </a:rPr>
              <a:t>in</a:t>
            </a:r>
            <a:r>
              <a:rPr spc="-37" dirty="0">
                <a:latin typeface="Trebuchet MS" panose="020B0603020202020204" pitchFamily="34" charset="0"/>
                <a:cs typeface="Arial MT"/>
              </a:rPr>
              <a:t> </a:t>
            </a:r>
            <a:r>
              <a:rPr spc="-15" dirty="0">
                <a:latin typeface="Trebuchet MS" panose="020B0603020202020204" pitchFamily="34" charset="0"/>
                <a:cs typeface="Arial MT"/>
              </a:rPr>
              <a:t>implementing </a:t>
            </a:r>
            <a:r>
              <a:rPr dirty="0">
                <a:latin typeface="Trebuchet MS" panose="020B0603020202020204" pitchFamily="34" charset="0"/>
                <a:cs typeface="Arial MT"/>
              </a:rPr>
              <a:t>these</a:t>
            </a:r>
            <a:r>
              <a:rPr spc="-45" dirty="0">
                <a:latin typeface="Trebuchet MS" panose="020B0603020202020204" pitchFamily="34" charset="0"/>
                <a:cs typeface="Arial MT"/>
              </a:rPr>
              <a:t> </a:t>
            </a:r>
            <a:r>
              <a:rPr spc="-97" dirty="0">
                <a:latin typeface="Trebuchet MS" panose="020B0603020202020204" pitchFamily="34" charset="0"/>
                <a:cs typeface="Arial MT"/>
              </a:rPr>
              <a:t>IT-</a:t>
            </a:r>
            <a:r>
              <a:rPr dirty="0">
                <a:latin typeface="Trebuchet MS" panose="020B0603020202020204" pitchFamily="34" charset="0"/>
                <a:cs typeface="Arial MT"/>
              </a:rPr>
              <a:t>“plumbing”</a:t>
            </a:r>
            <a:r>
              <a:rPr spc="-45" dirty="0">
                <a:latin typeface="Trebuchet MS" panose="020B0603020202020204" pitchFamily="34" charset="0"/>
                <a:cs typeface="Arial MT"/>
              </a:rPr>
              <a:t> </a:t>
            </a:r>
            <a:r>
              <a:rPr spc="-15" dirty="0">
                <a:latin typeface="Trebuchet MS" panose="020B0603020202020204" pitchFamily="34" charset="0"/>
                <a:cs typeface="Arial MT"/>
              </a:rPr>
              <a:t>requirements.</a:t>
            </a:r>
            <a:endParaRPr dirty="0">
              <a:latin typeface="Trebuchet MS" panose="020B0603020202020204" pitchFamily="34" charset="0"/>
              <a:cs typeface="Arial MT"/>
            </a:endParaRPr>
          </a:p>
        </p:txBody>
      </p:sp>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8" name="object 8"/>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9" name="object 9"/>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0" name="object 10"/>
          <p:cNvGrpSpPr/>
          <p:nvPr/>
        </p:nvGrpSpPr>
        <p:grpSpPr>
          <a:xfrm>
            <a:off x="6014860" y="4991360"/>
            <a:ext cx="302004" cy="83051"/>
            <a:chOff x="3275863" y="3358384"/>
            <a:chExt cx="203200" cy="55880"/>
          </a:xfrm>
        </p:grpSpPr>
        <p:sp>
          <p:nvSpPr>
            <p:cNvPr id="11" name="object 11"/>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2" name="object 12"/>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3" name="object 13"/>
          <p:cNvGrpSpPr/>
          <p:nvPr/>
        </p:nvGrpSpPr>
        <p:grpSpPr>
          <a:xfrm>
            <a:off x="6411862" y="4989480"/>
            <a:ext cx="302004" cy="86825"/>
            <a:chOff x="3542982" y="3357119"/>
            <a:chExt cx="203200" cy="58419"/>
          </a:xfrm>
        </p:grpSpPr>
        <p:sp>
          <p:nvSpPr>
            <p:cNvPr id="14" name="object 14"/>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5" name="object 15"/>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6" name="object 16"/>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7" name="object 17"/>
          <p:cNvGrpSpPr/>
          <p:nvPr/>
        </p:nvGrpSpPr>
        <p:grpSpPr>
          <a:xfrm>
            <a:off x="6808865" y="4989480"/>
            <a:ext cx="302004" cy="86825"/>
            <a:chOff x="3810101" y="3357119"/>
            <a:chExt cx="203200" cy="58419"/>
          </a:xfrm>
        </p:grpSpPr>
        <p:sp>
          <p:nvSpPr>
            <p:cNvPr id="18" name="object 18"/>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19" name="object 19"/>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0" name="object 20"/>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1" name="object 21"/>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2" name="object 22"/>
          <p:cNvGrpSpPr/>
          <p:nvPr/>
        </p:nvGrpSpPr>
        <p:grpSpPr>
          <a:xfrm>
            <a:off x="7576479" y="4991359"/>
            <a:ext cx="354854" cy="84939"/>
            <a:chOff x="4326582" y="3358384"/>
            <a:chExt cx="238760" cy="57150"/>
          </a:xfrm>
        </p:grpSpPr>
        <p:sp>
          <p:nvSpPr>
            <p:cNvPr id="23" name="object 23"/>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4" name="object 24"/>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5" name="object 25"/>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6" name="object 26"/>
          <p:cNvSpPr txBox="1">
            <a:spLocks noGrp="1"/>
          </p:cNvSpPr>
          <p:nvPr>
            <p:ph type="title"/>
          </p:nvPr>
        </p:nvSpPr>
        <p:spPr>
          <a:xfrm>
            <a:off x="352221" y="191869"/>
            <a:ext cx="6029763" cy="456618"/>
          </a:xfrm>
          <a:prstGeom prst="rect">
            <a:avLst/>
          </a:prstGeom>
        </p:spPr>
        <p:txBody>
          <a:bodyPr vert="horz" wrap="square" lIns="0" tIns="25482" rIns="0" bIns="0" rtlCol="0">
            <a:spAutoFit/>
          </a:bodyPr>
          <a:lstStyle/>
          <a:p>
            <a:pPr marL="18875">
              <a:spcBef>
                <a:spcPts val="201"/>
              </a:spcBef>
            </a:pPr>
            <a:r>
              <a:rPr dirty="0"/>
              <a:t>Main</a:t>
            </a:r>
            <a:r>
              <a:rPr spc="111" dirty="0"/>
              <a:t> </a:t>
            </a:r>
            <a:r>
              <a:rPr dirty="0"/>
              <a:t>Service</a:t>
            </a:r>
            <a:r>
              <a:rPr spc="119" dirty="0"/>
              <a:t> </a:t>
            </a:r>
            <a:r>
              <a:rPr dirty="0"/>
              <a:t>Models:</a:t>
            </a:r>
            <a:r>
              <a:rPr spc="282" dirty="0"/>
              <a:t> </a:t>
            </a:r>
            <a:r>
              <a:rPr spc="-30" dirty="0"/>
              <a:t>PaaS</a:t>
            </a:r>
          </a:p>
        </p:txBody>
      </p:sp>
      <p:sp>
        <p:nvSpPr>
          <p:cNvPr id="28" name="object 28"/>
          <p:cNvSpPr txBox="1"/>
          <p:nvPr/>
        </p:nvSpPr>
        <p:spPr>
          <a:xfrm>
            <a:off x="508955" y="754104"/>
            <a:ext cx="7057429" cy="1319329"/>
          </a:xfrm>
          <a:prstGeom prst="rect">
            <a:avLst/>
          </a:prstGeom>
        </p:spPr>
        <p:txBody>
          <a:bodyPr vert="horz" wrap="square" lIns="0" tIns="34919" rIns="0" bIns="0" rtlCol="0">
            <a:spAutoFit/>
          </a:bodyPr>
          <a:lstStyle/>
          <a:p>
            <a:pPr marL="18875">
              <a:spcBef>
                <a:spcPts val="275"/>
              </a:spcBef>
            </a:pPr>
            <a:r>
              <a:rPr sz="1635" dirty="0">
                <a:latin typeface="Arial MT"/>
                <a:cs typeface="Arial MT"/>
              </a:rPr>
              <a:t>Some</a:t>
            </a:r>
            <a:r>
              <a:rPr sz="1635" spc="-89" dirty="0">
                <a:latin typeface="Arial MT"/>
                <a:cs typeface="Arial MT"/>
              </a:rPr>
              <a:t> </a:t>
            </a:r>
            <a:r>
              <a:rPr sz="1635" dirty="0">
                <a:latin typeface="Arial MT"/>
                <a:cs typeface="Arial MT"/>
              </a:rPr>
              <a:t>famous</a:t>
            </a:r>
            <a:r>
              <a:rPr sz="1635" spc="-89" dirty="0">
                <a:latin typeface="Arial MT"/>
                <a:cs typeface="Arial MT"/>
              </a:rPr>
              <a:t> </a:t>
            </a:r>
            <a:r>
              <a:rPr sz="1635" spc="-15" dirty="0">
                <a:latin typeface="Arial MT"/>
                <a:cs typeface="Arial MT"/>
              </a:rPr>
              <a:t>PaaS</a:t>
            </a:r>
            <a:r>
              <a:rPr sz="1635" spc="-89" dirty="0">
                <a:latin typeface="Arial MT"/>
                <a:cs typeface="Arial MT"/>
              </a:rPr>
              <a:t> </a:t>
            </a:r>
            <a:r>
              <a:rPr sz="1635" dirty="0">
                <a:latin typeface="Arial MT"/>
                <a:cs typeface="Arial MT"/>
              </a:rPr>
              <a:t>providers</a:t>
            </a:r>
            <a:r>
              <a:rPr sz="1635" spc="-89" dirty="0">
                <a:latin typeface="Arial MT"/>
                <a:cs typeface="Arial MT"/>
              </a:rPr>
              <a:t> </a:t>
            </a:r>
            <a:r>
              <a:rPr sz="1635" spc="-15" dirty="0">
                <a:latin typeface="Arial MT"/>
                <a:cs typeface="Arial MT"/>
              </a:rPr>
              <a:t>(vendors):</a:t>
            </a:r>
            <a:endParaRPr sz="1635" dirty="0">
              <a:latin typeface="Arial MT"/>
              <a:cs typeface="Arial MT"/>
            </a:endParaRPr>
          </a:p>
          <a:p>
            <a:pPr marL="430344" marR="7550">
              <a:lnSpc>
                <a:spcPct val="102600"/>
              </a:lnSpc>
              <a:spcBef>
                <a:spcPts val="74"/>
              </a:spcBef>
            </a:pPr>
            <a:r>
              <a:rPr sz="1635" dirty="0">
                <a:latin typeface="Arial MT"/>
                <a:cs typeface="Arial MT"/>
              </a:rPr>
              <a:t>Amazon</a:t>
            </a:r>
            <a:r>
              <a:rPr sz="1635" spc="-74" dirty="0">
                <a:latin typeface="Arial MT"/>
                <a:cs typeface="Arial MT"/>
              </a:rPr>
              <a:t> </a:t>
            </a:r>
            <a:r>
              <a:rPr sz="1635" dirty="0">
                <a:latin typeface="Arial MT"/>
                <a:cs typeface="Arial MT"/>
              </a:rPr>
              <a:t>Web</a:t>
            </a:r>
            <a:r>
              <a:rPr sz="1635" spc="-74" dirty="0">
                <a:latin typeface="Arial MT"/>
                <a:cs typeface="Arial MT"/>
              </a:rPr>
              <a:t> </a:t>
            </a:r>
            <a:r>
              <a:rPr sz="1635" dirty="0">
                <a:latin typeface="Arial MT"/>
                <a:cs typeface="Arial MT"/>
              </a:rPr>
              <a:t>Services</a:t>
            </a:r>
            <a:r>
              <a:rPr sz="1635" spc="-74" dirty="0">
                <a:latin typeface="Arial MT"/>
                <a:cs typeface="Arial MT"/>
              </a:rPr>
              <a:t> </a:t>
            </a:r>
            <a:r>
              <a:rPr sz="1635" spc="-15" dirty="0">
                <a:latin typeface="Arial MT"/>
                <a:cs typeface="Arial MT"/>
              </a:rPr>
              <a:t>(AWS),</a:t>
            </a:r>
            <a:r>
              <a:rPr sz="1635" spc="-74" dirty="0">
                <a:latin typeface="Arial MT"/>
                <a:cs typeface="Arial MT"/>
              </a:rPr>
              <a:t> </a:t>
            </a:r>
            <a:r>
              <a:rPr sz="1635" dirty="0">
                <a:latin typeface="Arial MT"/>
                <a:cs typeface="Arial MT"/>
              </a:rPr>
              <a:t>Redhat</a:t>
            </a:r>
            <a:r>
              <a:rPr sz="1635" spc="-74" dirty="0">
                <a:latin typeface="Arial MT"/>
                <a:cs typeface="Arial MT"/>
              </a:rPr>
              <a:t> </a:t>
            </a:r>
            <a:r>
              <a:rPr sz="1635" spc="-15" dirty="0">
                <a:latin typeface="Arial MT"/>
                <a:cs typeface="Arial MT"/>
              </a:rPr>
              <a:t>OpenShift, </a:t>
            </a:r>
            <a:r>
              <a:rPr sz="1635" dirty="0">
                <a:latin typeface="Arial MT"/>
                <a:cs typeface="Arial MT"/>
              </a:rPr>
              <a:t>Microsoft</a:t>
            </a:r>
            <a:r>
              <a:rPr sz="1635" spc="-52" dirty="0">
                <a:latin typeface="Arial MT"/>
                <a:cs typeface="Arial MT"/>
              </a:rPr>
              <a:t> </a:t>
            </a:r>
            <a:r>
              <a:rPr sz="1635" dirty="0">
                <a:latin typeface="Arial MT"/>
                <a:cs typeface="Arial MT"/>
              </a:rPr>
              <a:t>Azure,</a:t>
            </a:r>
            <a:r>
              <a:rPr sz="1635" spc="-52" dirty="0">
                <a:latin typeface="Arial MT"/>
                <a:cs typeface="Arial MT"/>
              </a:rPr>
              <a:t> </a:t>
            </a:r>
            <a:r>
              <a:rPr sz="1635" dirty="0">
                <a:latin typeface="Arial MT"/>
                <a:cs typeface="Arial MT"/>
              </a:rPr>
              <a:t>,</a:t>
            </a:r>
            <a:r>
              <a:rPr sz="1635" spc="-52" dirty="0">
                <a:latin typeface="Arial MT"/>
                <a:cs typeface="Arial MT"/>
              </a:rPr>
              <a:t> </a:t>
            </a:r>
            <a:r>
              <a:rPr sz="1635" dirty="0">
                <a:latin typeface="Arial MT"/>
                <a:cs typeface="Arial MT"/>
              </a:rPr>
              <a:t>Google</a:t>
            </a:r>
            <a:r>
              <a:rPr sz="1635" spc="-52" dirty="0">
                <a:latin typeface="Arial MT"/>
                <a:cs typeface="Arial MT"/>
              </a:rPr>
              <a:t> </a:t>
            </a:r>
            <a:r>
              <a:rPr sz="1635" dirty="0">
                <a:latin typeface="Arial MT"/>
                <a:cs typeface="Arial MT"/>
              </a:rPr>
              <a:t>App</a:t>
            </a:r>
            <a:r>
              <a:rPr sz="1635" spc="-52" dirty="0">
                <a:latin typeface="Arial MT"/>
                <a:cs typeface="Arial MT"/>
              </a:rPr>
              <a:t> </a:t>
            </a:r>
            <a:r>
              <a:rPr sz="1635" spc="-15" dirty="0">
                <a:latin typeface="Arial MT"/>
                <a:cs typeface="Arial MT"/>
              </a:rPr>
              <a:t>Engine,</a:t>
            </a:r>
            <a:r>
              <a:rPr sz="1635" spc="-52" dirty="0">
                <a:latin typeface="Arial MT"/>
                <a:cs typeface="Arial MT"/>
              </a:rPr>
              <a:t> </a:t>
            </a:r>
            <a:r>
              <a:rPr sz="1635" spc="-15" dirty="0">
                <a:latin typeface="Arial MT"/>
                <a:cs typeface="Arial MT"/>
              </a:rPr>
              <a:t>Heroku </a:t>
            </a:r>
            <a:r>
              <a:rPr sz="1635" dirty="0">
                <a:latin typeface="Arial MT"/>
                <a:cs typeface="Arial MT"/>
              </a:rPr>
              <a:t>Enterprise,</a:t>
            </a:r>
            <a:r>
              <a:rPr sz="1635" spc="-52" dirty="0">
                <a:latin typeface="Arial MT"/>
                <a:cs typeface="Arial MT"/>
              </a:rPr>
              <a:t> </a:t>
            </a:r>
            <a:r>
              <a:rPr sz="1635" spc="-15" dirty="0">
                <a:latin typeface="Arial MT"/>
                <a:cs typeface="Arial MT"/>
              </a:rPr>
              <a:t>Forece.com</a:t>
            </a:r>
            <a:r>
              <a:rPr sz="1635" spc="-45" dirty="0">
                <a:latin typeface="Arial MT"/>
                <a:cs typeface="Arial MT"/>
              </a:rPr>
              <a:t> </a:t>
            </a:r>
            <a:r>
              <a:rPr sz="1635" dirty="0">
                <a:latin typeface="Arial MT"/>
                <a:cs typeface="Arial MT"/>
              </a:rPr>
              <a:t>and</a:t>
            </a:r>
            <a:r>
              <a:rPr sz="1635" spc="-45" dirty="0">
                <a:latin typeface="Arial MT"/>
                <a:cs typeface="Arial MT"/>
              </a:rPr>
              <a:t> </a:t>
            </a:r>
            <a:r>
              <a:rPr sz="1635" spc="-15" dirty="0">
                <a:latin typeface="Arial MT"/>
                <a:cs typeface="Arial MT"/>
              </a:rPr>
              <a:t>AppExchange</a:t>
            </a:r>
            <a:r>
              <a:rPr sz="1635" spc="-45" dirty="0">
                <a:latin typeface="Arial MT"/>
                <a:cs typeface="Arial MT"/>
              </a:rPr>
              <a:t> </a:t>
            </a:r>
            <a:r>
              <a:rPr sz="1635" spc="-37" dirty="0">
                <a:latin typeface="Arial MT"/>
                <a:cs typeface="Arial MT"/>
              </a:rPr>
              <a:t>by </a:t>
            </a:r>
            <a:r>
              <a:rPr sz="1635" spc="-15" dirty="0">
                <a:latin typeface="Arial MT"/>
                <a:cs typeface="Arial MT"/>
              </a:rPr>
              <a:t>salesforce,</a:t>
            </a:r>
            <a:r>
              <a:rPr sz="1635" spc="-59" dirty="0">
                <a:latin typeface="Arial MT"/>
                <a:cs typeface="Arial MT"/>
              </a:rPr>
              <a:t> </a:t>
            </a:r>
            <a:r>
              <a:rPr sz="1635" dirty="0">
                <a:latin typeface="Arial MT"/>
                <a:cs typeface="Arial MT"/>
              </a:rPr>
              <a:t>SAP</a:t>
            </a:r>
            <a:r>
              <a:rPr sz="1635" spc="-52" dirty="0">
                <a:latin typeface="Arial MT"/>
                <a:cs typeface="Arial MT"/>
              </a:rPr>
              <a:t> </a:t>
            </a:r>
            <a:r>
              <a:rPr sz="1635" dirty="0">
                <a:latin typeface="Arial MT"/>
                <a:cs typeface="Arial MT"/>
              </a:rPr>
              <a:t>Hana,</a:t>
            </a:r>
            <a:r>
              <a:rPr sz="1635" spc="-59" dirty="0">
                <a:latin typeface="Arial MT"/>
                <a:cs typeface="Arial MT"/>
              </a:rPr>
              <a:t> </a:t>
            </a:r>
            <a:r>
              <a:rPr sz="1635" spc="-15" dirty="0">
                <a:latin typeface="Arial MT"/>
                <a:cs typeface="Arial MT"/>
              </a:rPr>
              <a:t>CloudBees,</a:t>
            </a:r>
            <a:r>
              <a:rPr sz="1635" spc="-52" dirty="0">
                <a:latin typeface="Arial MT"/>
                <a:cs typeface="Arial MT"/>
              </a:rPr>
              <a:t> </a:t>
            </a:r>
            <a:r>
              <a:rPr sz="1635" dirty="0">
                <a:latin typeface="Arial MT"/>
                <a:cs typeface="Arial MT"/>
              </a:rPr>
              <a:t>Engine</a:t>
            </a:r>
            <a:r>
              <a:rPr sz="1635" spc="-52" dirty="0">
                <a:latin typeface="Arial MT"/>
                <a:cs typeface="Arial MT"/>
              </a:rPr>
              <a:t> </a:t>
            </a:r>
            <a:r>
              <a:rPr sz="1635" spc="-15" dirty="0">
                <a:latin typeface="Arial MT"/>
                <a:cs typeface="Arial MT"/>
              </a:rPr>
              <a:t>Yard, </a:t>
            </a:r>
            <a:r>
              <a:rPr sz="1635" dirty="0">
                <a:latin typeface="Arial MT"/>
                <a:cs typeface="Arial MT"/>
              </a:rPr>
              <a:t>Centurylink</a:t>
            </a:r>
            <a:r>
              <a:rPr sz="1635" spc="-30" dirty="0">
                <a:latin typeface="Arial MT"/>
                <a:cs typeface="Arial MT"/>
              </a:rPr>
              <a:t> </a:t>
            </a:r>
            <a:r>
              <a:rPr sz="1635" spc="-15" dirty="0">
                <a:latin typeface="Arial MT"/>
                <a:cs typeface="Arial MT"/>
              </a:rPr>
              <a:t>AppFog, </a:t>
            </a:r>
            <a:r>
              <a:rPr sz="1635" dirty="0">
                <a:latin typeface="Arial MT"/>
                <a:cs typeface="Arial MT"/>
              </a:rPr>
              <a:t>IBM</a:t>
            </a:r>
            <a:r>
              <a:rPr sz="1635" spc="-15" dirty="0">
                <a:latin typeface="Arial MT"/>
                <a:cs typeface="Arial MT"/>
              </a:rPr>
              <a:t> </a:t>
            </a:r>
            <a:r>
              <a:rPr sz="1635" spc="-30" dirty="0">
                <a:latin typeface="Arial MT"/>
                <a:cs typeface="Arial MT"/>
              </a:rPr>
              <a:t>Bluemix.</a:t>
            </a:r>
            <a:r>
              <a:rPr sz="1635" spc="-186" dirty="0">
                <a:latin typeface="Arial MT"/>
                <a:cs typeface="Arial MT"/>
              </a:rPr>
              <a:t> </a:t>
            </a:r>
            <a:r>
              <a:rPr sz="1635" dirty="0">
                <a:latin typeface="Arial MT"/>
                <a:cs typeface="Arial MT"/>
              </a:rPr>
              <a:t>.</a:t>
            </a:r>
            <a:r>
              <a:rPr sz="1635" spc="-186" dirty="0">
                <a:latin typeface="Arial MT"/>
                <a:cs typeface="Arial MT"/>
              </a:rPr>
              <a:t> </a:t>
            </a:r>
            <a:r>
              <a:rPr sz="1635" spc="-74" dirty="0">
                <a:latin typeface="Arial MT"/>
                <a:cs typeface="Arial MT"/>
              </a:rPr>
              <a:t>.</a:t>
            </a:r>
            <a:endParaRPr sz="1635" dirty="0">
              <a:latin typeface="Arial MT"/>
              <a:cs typeface="Arial MT"/>
            </a:endParaRPr>
          </a:p>
        </p:txBody>
      </p:sp>
      <p:pic>
        <p:nvPicPr>
          <p:cNvPr id="29" name="object 29"/>
          <p:cNvPicPr/>
          <p:nvPr/>
        </p:nvPicPr>
        <p:blipFill>
          <a:blip r:embed="rId2" cstate="print"/>
          <a:stretch>
            <a:fillRect/>
          </a:stretch>
        </p:blipFill>
        <p:spPr>
          <a:xfrm>
            <a:off x="2372243" y="2377064"/>
            <a:ext cx="1841617" cy="669888"/>
          </a:xfrm>
          <a:prstGeom prst="rect">
            <a:avLst/>
          </a:prstGeom>
        </p:spPr>
      </p:pic>
      <p:pic>
        <p:nvPicPr>
          <p:cNvPr id="30" name="object 30"/>
          <p:cNvPicPr/>
          <p:nvPr/>
        </p:nvPicPr>
        <p:blipFill>
          <a:blip r:embed="rId3" cstate="print"/>
          <a:stretch>
            <a:fillRect/>
          </a:stretch>
        </p:blipFill>
        <p:spPr>
          <a:xfrm>
            <a:off x="4463450" y="2223250"/>
            <a:ext cx="1098809" cy="977554"/>
          </a:xfrm>
          <a:prstGeom prst="rect">
            <a:avLst/>
          </a:prstGeom>
        </p:spPr>
      </p:pic>
      <p:pic>
        <p:nvPicPr>
          <p:cNvPr id="31" name="object 31"/>
          <p:cNvPicPr/>
          <p:nvPr/>
        </p:nvPicPr>
        <p:blipFill>
          <a:blip r:embed="rId4" cstate="print"/>
          <a:stretch>
            <a:fillRect/>
          </a:stretch>
        </p:blipFill>
        <p:spPr>
          <a:xfrm>
            <a:off x="5789028" y="2501460"/>
            <a:ext cx="2107850" cy="527383"/>
          </a:xfrm>
          <a:prstGeom prst="rect">
            <a:avLst/>
          </a:prstGeom>
        </p:spPr>
      </p:pic>
      <p:pic>
        <p:nvPicPr>
          <p:cNvPr id="32" name="object 32"/>
          <p:cNvPicPr/>
          <p:nvPr/>
        </p:nvPicPr>
        <p:blipFill>
          <a:blip r:embed="rId5" cstate="print"/>
          <a:stretch>
            <a:fillRect/>
          </a:stretch>
        </p:blipFill>
        <p:spPr>
          <a:xfrm>
            <a:off x="2341306" y="3849092"/>
            <a:ext cx="1296161" cy="267009"/>
          </a:xfrm>
          <a:prstGeom prst="rect">
            <a:avLst/>
          </a:prstGeom>
        </p:spPr>
      </p:pic>
      <p:pic>
        <p:nvPicPr>
          <p:cNvPr id="33" name="object 33"/>
          <p:cNvPicPr/>
          <p:nvPr/>
        </p:nvPicPr>
        <p:blipFill>
          <a:blip r:embed="rId6" cstate="print"/>
          <a:stretch>
            <a:fillRect/>
          </a:stretch>
        </p:blipFill>
        <p:spPr>
          <a:xfrm>
            <a:off x="3771387" y="3767511"/>
            <a:ext cx="1296342" cy="430150"/>
          </a:xfrm>
          <a:prstGeom prst="rect">
            <a:avLst/>
          </a:prstGeom>
        </p:spPr>
      </p:pic>
      <p:pic>
        <p:nvPicPr>
          <p:cNvPr id="34" name="object 34"/>
          <p:cNvPicPr/>
          <p:nvPr/>
        </p:nvPicPr>
        <p:blipFill>
          <a:blip r:embed="rId7" cstate="print"/>
          <a:stretch>
            <a:fillRect/>
          </a:stretch>
        </p:blipFill>
        <p:spPr>
          <a:xfrm>
            <a:off x="5331087" y="3464057"/>
            <a:ext cx="1037042" cy="1037042"/>
          </a:xfrm>
          <a:prstGeom prst="rect">
            <a:avLst/>
          </a:prstGeom>
        </p:spPr>
      </p:pic>
      <p:pic>
        <p:nvPicPr>
          <p:cNvPr id="35" name="object 35"/>
          <p:cNvPicPr/>
          <p:nvPr/>
        </p:nvPicPr>
        <p:blipFill>
          <a:blip r:embed="rId8" cstate="print"/>
          <a:stretch>
            <a:fillRect/>
          </a:stretch>
        </p:blipFill>
        <p:spPr>
          <a:xfrm>
            <a:off x="6601884" y="3773030"/>
            <a:ext cx="1355108" cy="417226"/>
          </a:xfrm>
          <a:prstGeom prst="rect">
            <a:avLst/>
          </a:prstGeom>
        </p:spPr>
      </p:pic>
      <p:sp>
        <p:nvSpPr>
          <p:cNvPr id="37" name="object 37"/>
          <p:cNvSpPr txBox="1"/>
          <p:nvPr/>
        </p:nvSpPr>
        <p:spPr>
          <a:xfrm>
            <a:off x="586768" y="4492785"/>
            <a:ext cx="6797814" cy="511773"/>
          </a:xfrm>
          <a:prstGeom prst="rect">
            <a:avLst/>
          </a:prstGeom>
        </p:spPr>
        <p:txBody>
          <a:bodyPr vert="horz" wrap="square" lIns="0" tIns="10381" rIns="0" bIns="0" rtlCol="0">
            <a:spAutoFit/>
          </a:bodyPr>
          <a:lstStyle/>
          <a:p>
            <a:pPr marL="18875" marR="7550">
              <a:lnSpc>
                <a:spcPct val="102600"/>
              </a:lnSpc>
              <a:spcBef>
                <a:spcPts val="82"/>
              </a:spcBef>
            </a:pPr>
            <a:r>
              <a:rPr sz="1635" spc="-15" dirty="0">
                <a:latin typeface="Arial MT"/>
                <a:cs typeface="Arial MT"/>
              </a:rPr>
              <a:t>Besides</a:t>
            </a:r>
            <a:r>
              <a:rPr sz="1635" spc="-67" dirty="0">
                <a:latin typeface="Arial MT"/>
                <a:cs typeface="Arial MT"/>
              </a:rPr>
              <a:t> </a:t>
            </a:r>
            <a:r>
              <a:rPr sz="1635" dirty="0">
                <a:latin typeface="Arial MT"/>
                <a:cs typeface="Arial MT"/>
              </a:rPr>
              <a:t>these,</a:t>
            </a:r>
            <a:r>
              <a:rPr sz="1635" spc="-59" dirty="0">
                <a:latin typeface="Arial MT"/>
                <a:cs typeface="Arial MT"/>
              </a:rPr>
              <a:t> </a:t>
            </a:r>
            <a:r>
              <a:rPr sz="1635" dirty="0">
                <a:latin typeface="Arial MT"/>
                <a:cs typeface="Arial MT"/>
              </a:rPr>
              <a:t>tools</a:t>
            </a:r>
            <a:r>
              <a:rPr sz="1635" spc="-67" dirty="0">
                <a:latin typeface="Arial MT"/>
                <a:cs typeface="Arial MT"/>
              </a:rPr>
              <a:t> </a:t>
            </a:r>
            <a:r>
              <a:rPr sz="1635" dirty="0">
                <a:latin typeface="Arial MT"/>
                <a:cs typeface="Arial MT"/>
              </a:rPr>
              <a:t>like</a:t>
            </a:r>
            <a:r>
              <a:rPr sz="1635" spc="-59" dirty="0">
                <a:latin typeface="Arial MT"/>
                <a:cs typeface="Arial MT"/>
              </a:rPr>
              <a:t> </a:t>
            </a:r>
            <a:r>
              <a:rPr sz="1635" dirty="0">
                <a:latin typeface="Arial MT"/>
                <a:cs typeface="Arial MT"/>
              </a:rPr>
              <a:t>Dokku</a:t>
            </a:r>
            <a:r>
              <a:rPr sz="1635" spc="-59" dirty="0">
                <a:latin typeface="Arial MT"/>
                <a:cs typeface="Arial MT"/>
              </a:rPr>
              <a:t> </a:t>
            </a:r>
            <a:r>
              <a:rPr sz="1635" dirty="0">
                <a:latin typeface="Arial MT"/>
                <a:cs typeface="Arial MT"/>
              </a:rPr>
              <a:t>and</a:t>
            </a:r>
            <a:r>
              <a:rPr sz="1635" spc="-67" dirty="0">
                <a:latin typeface="Arial MT"/>
                <a:cs typeface="Arial MT"/>
              </a:rPr>
              <a:t> </a:t>
            </a:r>
            <a:r>
              <a:rPr sz="1635" dirty="0">
                <a:latin typeface="Arial MT"/>
                <a:cs typeface="Arial MT"/>
              </a:rPr>
              <a:t>OpenShift</a:t>
            </a:r>
            <a:r>
              <a:rPr sz="1635" spc="-59" dirty="0">
                <a:latin typeface="Arial MT"/>
                <a:cs typeface="Arial MT"/>
              </a:rPr>
              <a:t> </a:t>
            </a:r>
            <a:r>
              <a:rPr sz="1635" spc="-15" dirty="0">
                <a:latin typeface="Arial MT"/>
                <a:cs typeface="Arial MT"/>
              </a:rPr>
              <a:t>allow </a:t>
            </a:r>
            <a:r>
              <a:rPr sz="1635" dirty="0">
                <a:latin typeface="Arial MT"/>
                <a:cs typeface="Arial MT"/>
              </a:rPr>
              <a:t>enterprises</a:t>
            </a:r>
            <a:r>
              <a:rPr sz="1635" spc="-67" dirty="0">
                <a:latin typeface="Arial MT"/>
                <a:cs typeface="Arial MT"/>
              </a:rPr>
              <a:t> </a:t>
            </a:r>
            <a:r>
              <a:rPr sz="1635" dirty="0">
                <a:latin typeface="Arial MT"/>
                <a:cs typeface="Arial MT"/>
              </a:rPr>
              <a:t>to</a:t>
            </a:r>
            <a:r>
              <a:rPr sz="1635" spc="-67" dirty="0">
                <a:latin typeface="Arial MT"/>
                <a:cs typeface="Arial MT"/>
              </a:rPr>
              <a:t> </a:t>
            </a:r>
            <a:r>
              <a:rPr sz="1635" dirty="0">
                <a:latin typeface="Arial MT"/>
                <a:cs typeface="Arial MT"/>
              </a:rPr>
              <a:t>build</a:t>
            </a:r>
            <a:r>
              <a:rPr sz="1635" spc="-67" dirty="0">
                <a:latin typeface="Arial MT"/>
                <a:cs typeface="Arial MT"/>
              </a:rPr>
              <a:t> </a:t>
            </a:r>
            <a:r>
              <a:rPr sz="1635" dirty="0">
                <a:latin typeface="Arial MT"/>
                <a:cs typeface="Arial MT"/>
              </a:rPr>
              <a:t>their</a:t>
            </a:r>
            <a:r>
              <a:rPr sz="1635" spc="-67" dirty="0">
                <a:latin typeface="Arial MT"/>
                <a:cs typeface="Arial MT"/>
              </a:rPr>
              <a:t> </a:t>
            </a:r>
            <a:r>
              <a:rPr sz="1635" dirty="0">
                <a:latin typeface="Arial MT"/>
                <a:cs typeface="Arial MT"/>
              </a:rPr>
              <a:t>own</a:t>
            </a:r>
            <a:r>
              <a:rPr sz="1635" spc="-67" dirty="0">
                <a:latin typeface="Arial MT"/>
                <a:cs typeface="Arial MT"/>
              </a:rPr>
              <a:t> </a:t>
            </a:r>
            <a:r>
              <a:rPr sz="1635" dirty="0">
                <a:latin typeface="Arial MT"/>
                <a:cs typeface="Arial MT"/>
              </a:rPr>
              <a:t>private</a:t>
            </a:r>
            <a:r>
              <a:rPr sz="1635" spc="-67" dirty="0">
                <a:latin typeface="Arial MT"/>
                <a:cs typeface="Arial MT"/>
              </a:rPr>
              <a:t> </a:t>
            </a:r>
            <a:r>
              <a:rPr sz="1635" spc="-30" dirty="0">
                <a:latin typeface="Arial MT"/>
                <a:cs typeface="Arial MT"/>
              </a:rPr>
              <a:t>PaaS.</a:t>
            </a:r>
            <a:endParaRPr sz="1635" dirty="0">
              <a:latin typeface="Arial MT"/>
              <a:cs typeface="Arial MT"/>
            </a:endParaRPr>
          </a:p>
        </p:txBody>
      </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833450" y="305560"/>
            <a:ext cx="6105963" cy="456618"/>
          </a:xfrm>
          <a:prstGeom prst="rect">
            <a:avLst/>
          </a:prstGeom>
        </p:spPr>
        <p:txBody>
          <a:bodyPr vert="horz" wrap="square" lIns="0" tIns="25482" rIns="0" bIns="0" rtlCol="0">
            <a:spAutoFit/>
          </a:bodyPr>
          <a:lstStyle/>
          <a:p>
            <a:pPr marL="18875">
              <a:spcBef>
                <a:spcPts val="201"/>
              </a:spcBef>
            </a:pPr>
            <a:r>
              <a:rPr dirty="0"/>
              <a:t>Main</a:t>
            </a:r>
            <a:r>
              <a:rPr spc="111" dirty="0"/>
              <a:t> </a:t>
            </a:r>
            <a:r>
              <a:rPr dirty="0"/>
              <a:t>Service</a:t>
            </a:r>
            <a:r>
              <a:rPr spc="119" dirty="0"/>
              <a:t> </a:t>
            </a:r>
            <a:r>
              <a:rPr dirty="0"/>
              <a:t>Models:</a:t>
            </a:r>
            <a:r>
              <a:rPr spc="282" dirty="0"/>
              <a:t> </a:t>
            </a:r>
            <a:r>
              <a:rPr spc="-30" dirty="0"/>
              <a:t>PaaS</a:t>
            </a:r>
          </a:p>
        </p:txBody>
      </p:sp>
      <p:sp>
        <p:nvSpPr>
          <p:cNvPr id="33" name="object 33"/>
          <p:cNvSpPr txBox="1"/>
          <p:nvPr/>
        </p:nvSpPr>
        <p:spPr>
          <a:xfrm>
            <a:off x="531081" y="1123950"/>
            <a:ext cx="7212788" cy="3347230"/>
          </a:xfrm>
          <a:prstGeom prst="rect">
            <a:avLst/>
          </a:prstGeom>
        </p:spPr>
        <p:txBody>
          <a:bodyPr vert="horz" wrap="square" lIns="0" tIns="10381" rIns="0" bIns="0" rtlCol="0">
            <a:spAutoFit/>
          </a:bodyPr>
          <a:lstStyle/>
          <a:p>
            <a:pPr marL="361775" marR="79274" indent="-342900">
              <a:lnSpc>
                <a:spcPct val="102600"/>
              </a:lnSpc>
              <a:spcBef>
                <a:spcPts val="82"/>
              </a:spcBef>
              <a:buFont typeface="+mj-lt"/>
              <a:buAutoNum type="arabicPeriod"/>
            </a:pPr>
            <a:r>
              <a:rPr sz="1635" dirty="0">
                <a:latin typeface="Arial MT"/>
                <a:cs typeface="Arial MT"/>
              </a:rPr>
              <a:t>In</a:t>
            </a:r>
            <a:r>
              <a:rPr sz="1635" spc="-52" dirty="0">
                <a:latin typeface="Arial MT"/>
                <a:cs typeface="Arial MT"/>
              </a:rPr>
              <a:t> </a:t>
            </a:r>
            <a:r>
              <a:rPr sz="1635" dirty="0">
                <a:latin typeface="Arial MT"/>
                <a:cs typeface="Arial MT"/>
              </a:rPr>
              <a:t>return</a:t>
            </a:r>
            <a:r>
              <a:rPr sz="1635" spc="-45" dirty="0">
                <a:latin typeface="Arial MT"/>
                <a:cs typeface="Arial MT"/>
              </a:rPr>
              <a:t> </a:t>
            </a:r>
            <a:r>
              <a:rPr sz="1635" dirty="0">
                <a:latin typeface="Arial MT"/>
                <a:cs typeface="Arial MT"/>
              </a:rPr>
              <a:t>for</a:t>
            </a:r>
            <a:r>
              <a:rPr sz="1635" spc="-45" dirty="0">
                <a:latin typeface="Arial MT"/>
                <a:cs typeface="Arial MT"/>
              </a:rPr>
              <a:t> </a:t>
            </a:r>
            <a:r>
              <a:rPr sz="1635" dirty="0">
                <a:latin typeface="Arial MT"/>
                <a:cs typeface="Arial MT"/>
              </a:rPr>
              <a:t>agility</a:t>
            </a:r>
            <a:r>
              <a:rPr sz="1635" spc="-45" dirty="0">
                <a:latin typeface="Arial MT"/>
                <a:cs typeface="Arial MT"/>
              </a:rPr>
              <a:t> </a:t>
            </a:r>
            <a:r>
              <a:rPr sz="1635" dirty="0">
                <a:latin typeface="Arial MT"/>
                <a:cs typeface="Arial MT"/>
              </a:rPr>
              <a:t>and</a:t>
            </a:r>
            <a:r>
              <a:rPr sz="1635" spc="-45" dirty="0">
                <a:latin typeface="Arial MT"/>
                <a:cs typeface="Arial MT"/>
              </a:rPr>
              <a:t> </a:t>
            </a:r>
            <a:r>
              <a:rPr sz="1635" dirty="0">
                <a:latin typeface="Arial MT"/>
                <a:cs typeface="Arial MT"/>
              </a:rPr>
              <a:t>speed</a:t>
            </a:r>
            <a:r>
              <a:rPr sz="1635" spc="-45" dirty="0">
                <a:latin typeface="Arial MT"/>
                <a:cs typeface="Arial MT"/>
              </a:rPr>
              <a:t> </a:t>
            </a:r>
            <a:r>
              <a:rPr sz="1635" dirty="0">
                <a:latin typeface="Arial MT"/>
                <a:cs typeface="Arial MT"/>
              </a:rPr>
              <a:t>to</a:t>
            </a:r>
            <a:r>
              <a:rPr sz="1635" spc="-45" dirty="0">
                <a:latin typeface="Arial MT"/>
                <a:cs typeface="Arial MT"/>
              </a:rPr>
              <a:t> </a:t>
            </a:r>
            <a:r>
              <a:rPr sz="1635" dirty="0">
                <a:latin typeface="Arial MT"/>
                <a:cs typeface="Arial MT"/>
              </a:rPr>
              <a:t>market,</a:t>
            </a:r>
            <a:r>
              <a:rPr sz="1635" spc="-45" dirty="0">
                <a:latin typeface="Arial MT"/>
                <a:cs typeface="Arial MT"/>
              </a:rPr>
              <a:t> </a:t>
            </a:r>
            <a:r>
              <a:rPr sz="1635" spc="-15" dirty="0">
                <a:latin typeface="Arial MT"/>
                <a:cs typeface="Arial MT"/>
              </a:rPr>
              <a:t>consumers </a:t>
            </a:r>
            <a:r>
              <a:rPr sz="1635" dirty="0">
                <a:latin typeface="Arial MT"/>
                <a:cs typeface="Arial MT"/>
              </a:rPr>
              <a:t>are</a:t>
            </a:r>
            <a:r>
              <a:rPr sz="1635" spc="-45" dirty="0">
                <a:latin typeface="Arial MT"/>
                <a:cs typeface="Arial MT"/>
              </a:rPr>
              <a:t> </a:t>
            </a:r>
            <a:r>
              <a:rPr sz="1635" spc="-15" dirty="0">
                <a:latin typeface="Arial MT"/>
                <a:cs typeface="Arial MT"/>
              </a:rPr>
              <a:t>constrained</a:t>
            </a:r>
            <a:r>
              <a:rPr sz="1635" spc="-45" dirty="0">
                <a:latin typeface="Arial MT"/>
                <a:cs typeface="Arial MT"/>
              </a:rPr>
              <a:t> </a:t>
            </a:r>
            <a:r>
              <a:rPr sz="1635" dirty="0">
                <a:latin typeface="Arial MT"/>
                <a:cs typeface="Arial MT"/>
              </a:rPr>
              <a:t>by</a:t>
            </a:r>
            <a:r>
              <a:rPr sz="1635" spc="-37" dirty="0">
                <a:latin typeface="Arial MT"/>
                <a:cs typeface="Arial MT"/>
              </a:rPr>
              <a:t> </a:t>
            </a:r>
            <a:r>
              <a:rPr sz="1635" dirty="0">
                <a:latin typeface="Arial MT"/>
                <a:cs typeface="Arial MT"/>
              </a:rPr>
              <a:t>the</a:t>
            </a:r>
            <a:r>
              <a:rPr sz="1635" spc="-45" dirty="0">
                <a:latin typeface="Arial MT"/>
                <a:cs typeface="Arial MT"/>
              </a:rPr>
              <a:t> </a:t>
            </a:r>
            <a:r>
              <a:rPr sz="1635" dirty="0">
                <a:latin typeface="Arial MT"/>
                <a:cs typeface="Arial MT"/>
              </a:rPr>
              <a:t>tools</a:t>
            </a:r>
            <a:r>
              <a:rPr sz="1635" spc="-37" dirty="0">
                <a:latin typeface="Arial MT"/>
                <a:cs typeface="Arial MT"/>
              </a:rPr>
              <a:t> </a:t>
            </a:r>
            <a:r>
              <a:rPr sz="1635" dirty="0">
                <a:latin typeface="Arial MT"/>
                <a:cs typeface="Arial MT"/>
              </a:rPr>
              <a:t>and</a:t>
            </a:r>
            <a:r>
              <a:rPr sz="1635" spc="-45" dirty="0">
                <a:latin typeface="Arial MT"/>
                <a:cs typeface="Arial MT"/>
              </a:rPr>
              <a:t> </a:t>
            </a:r>
            <a:r>
              <a:rPr sz="1635" dirty="0">
                <a:latin typeface="Arial MT"/>
                <a:cs typeface="Arial MT"/>
              </a:rPr>
              <a:t>software</a:t>
            </a:r>
            <a:r>
              <a:rPr sz="1635" spc="-37" dirty="0">
                <a:latin typeface="Arial MT"/>
                <a:cs typeface="Arial MT"/>
              </a:rPr>
              <a:t> </a:t>
            </a:r>
            <a:r>
              <a:rPr sz="1635" spc="-15" dirty="0">
                <a:latin typeface="Arial MT"/>
                <a:cs typeface="Arial MT"/>
              </a:rPr>
              <a:t>stacks </a:t>
            </a:r>
            <a:r>
              <a:rPr sz="1635" dirty="0">
                <a:latin typeface="Arial MT"/>
                <a:cs typeface="Arial MT"/>
              </a:rPr>
              <a:t>that</a:t>
            </a:r>
            <a:r>
              <a:rPr sz="1635" spc="-59" dirty="0">
                <a:latin typeface="Arial MT"/>
                <a:cs typeface="Arial MT"/>
              </a:rPr>
              <a:t> </a:t>
            </a:r>
            <a:r>
              <a:rPr sz="1635" dirty="0">
                <a:latin typeface="Arial MT"/>
                <a:cs typeface="Arial MT"/>
              </a:rPr>
              <a:t>the</a:t>
            </a:r>
            <a:r>
              <a:rPr sz="1635" spc="-52" dirty="0">
                <a:latin typeface="Arial MT"/>
                <a:cs typeface="Arial MT"/>
              </a:rPr>
              <a:t> </a:t>
            </a:r>
            <a:r>
              <a:rPr sz="1635" dirty="0">
                <a:latin typeface="Arial MT"/>
                <a:cs typeface="Arial MT"/>
              </a:rPr>
              <a:t>vendor</a:t>
            </a:r>
            <a:r>
              <a:rPr sz="1635" spc="-59" dirty="0">
                <a:latin typeface="Arial MT"/>
                <a:cs typeface="Arial MT"/>
              </a:rPr>
              <a:t> </a:t>
            </a:r>
            <a:r>
              <a:rPr sz="1635" spc="-15" dirty="0">
                <a:latin typeface="Arial MT"/>
                <a:cs typeface="Arial MT"/>
              </a:rPr>
              <a:t>offers.</a:t>
            </a:r>
            <a:endParaRPr lang="en-US" sz="1635" spc="-15" dirty="0">
              <a:latin typeface="Arial MT"/>
              <a:cs typeface="Arial MT"/>
            </a:endParaRPr>
          </a:p>
          <a:p>
            <a:pPr marL="361775" marR="79274" indent="-342900">
              <a:lnSpc>
                <a:spcPct val="102600"/>
              </a:lnSpc>
              <a:spcBef>
                <a:spcPts val="82"/>
              </a:spcBef>
              <a:buFont typeface="+mj-lt"/>
              <a:buAutoNum type="arabicPeriod"/>
            </a:pPr>
            <a:r>
              <a:rPr sz="1635" dirty="0">
                <a:latin typeface="Arial MT"/>
                <a:cs typeface="Arial MT"/>
              </a:rPr>
              <a:t>They</a:t>
            </a:r>
            <a:r>
              <a:rPr sz="1635" spc="-59" dirty="0">
                <a:latin typeface="Arial MT"/>
                <a:cs typeface="Arial MT"/>
              </a:rPr>
              <a:t> </a:t>
            </a:r>
            <a:r>
              <a:rPr sz="1635" dirty="0">
                <a:latin typeface="Arial MT"/>
                <a:cs typeface="Arial MT"/>
              </a:rPr>
              <a:t>also</a:t>
            </a:r>
            <a:r>
              <a:rPr sz="1635" spc="-59" dirty="0">
                <a:latin typeface="Arial MT"/>
                <a:cs typeface="Arial MT"/>
              </a:rPr>
              <a:t> </a:t>
            </a:r>
            <a:r>
              <a:rPr sz="1635" dirty="0">
                <a:latin typeface="Arial MT"/>
                <a:cs typeface="Arial MT"/>
              </a:rPr>
              <a:t>give</a:t>
            </a:r>
            <a:r>
              <a:rPr sz="1635" spc="-59" dirty="0">
                <a:latin typeface="Arial MT"/>
                <a:cs typeface="Arial MT"/>
              </a:rPr>
              <a:t> </a:t>
            </a:r>
            <a:r>
              <a:rPr sz="1635" dirty="0">
                <a:latin typeface="Arial MT"/>
                <a:cs typeface="Arial MT"/>
              </a:rPr>
              <a:t>up</a:t>
            </a:r>
            <a:r>
              <a:rPr sz="1635" spc="-59" dirty="0">
                <a:latin typeface="Arial MT"/>
                <a:cs typeface="Arial MT"/>
              </a:rPr>
              <a:t> </a:t>
            </a:r>
            <a:r>
              <a:rPr sz="1635" dirty="0">
                <a:latin typeface="Arial MT"/>
                <a:cs typeface="Arial MT"/>
              </a:rPr>
              <a:t>a</a:t>
            </a:r>
            <a:r>
              <a:rPr sz="1635" spc="-52" dirty="0">
                <a:latin typeface="Arial MT"/>
                <a:cs typeface="Arial MT"/>
              </a:rPr>
              <a:t> </a:t>
            </a:r>
            <a:r>
              <a:rPr sz="1635" dirty="0">
                <a:latin typeface="Arial MT"/>
                <a:cs typeface="Arial MT"/>
              </a:rPr>
              <a:t>degree</a:t>
            </a:r>
            <a:r>
              <a:rPr sz="1635" spc="-59" dirty="0">
                <a:latin typeface="Arial MT"/>
                <a:cs typeface="Arial MT"/>
              </a:rPr>
              <a:t> </a:t>
            </a:r>
            <a:r>
              <a:rPr sz="1635" dirty="0">
                <a:latin typeface="Arial MT"/>
                <a:cs typeface="Arial MT"/>
              </a:rPr>
              <a:t>of</a:t>
            </a:r>
            <a:r>
              <a:rPr sz="1635" spc="-59" dirty="0">
                <a:latin typeface="Arial MT"/>
                <a:cs typeface="Arial MT"/>
              </a:rPr>
              <a:t> </a:t>
            </a:r>
            <a:r>
              <a:rPr sz="1635" dirty="0">
                <a:latin typeface="Arial MT"/>
                <a:cs typeface="Arial MT"/>
              </a:rPr>
              <a:t>control:</a:t>
            </a:r>
            <a:r>
              <a:rPr sz="1635" spc="37" dirty="0">
                <a:latin typeface="Arial MT"/>
                <a:cs typeface="Arial MT"/>
              </a:rPr>
              <a:t> </a:t>
            </a:r>
            <a:r>
              <a:rPr sz="1635" dirty="0">
                <a:latin typeface="Arial MT"/>
                <a:cs typeface="Arial MT"/>
              </a:rPr>
              <a:t>e.g.,</a:t>
            </a:r>
            <a:r>
              <a:rPr sz="1635" spc="-59" dirty="0">
                <a:latin typeface="Arial MT"/>
                <a:cs typeface="Arial MT"/>
              </a:rPr>
              <a:t> </a:t>
            </a:r>
            <a:r>
              <a:rPr sz="1635" spc="-30" dirty="0">
                <a:latin typeface="Arial MT"/>
                <a:cs typeface="Arial MT"/>
              </a:rPr>
              <a:t>they </a:t>
            </a:r>
            <a:r>
              <a:rPr sz="1635" dirty="0">
                <a:latin typeface="Arial MT"/>
                <a:cs typeface="Arial MT"/>
              </a:rPr>
              <a:t>cannot</a:t>
            </a:r>
            <a:r>
              <a:rPr sz="1635" spc="-37" dirty="0">
                <a:latin typeface="Arial MT"/>
                <a:cs typeface="Arial MT"/>
              </a:rPr>
              <a:t> </a:t>
            </a:r>
            <a:r>
              <a:rPr sz="1635" dirty="0">
                <a:latin typeface="Arial MT"/>
                <a:cs typeface="Arial MT"/>
              </a:rPr>
              <a:t>manage</a:t>
            </a:r>
            <a:r>
              <a:rPr sz="1635" spc="-37" dirty="0">
                <a:latin typeface="Arial MT"/>
                <a:cs typeface="Arial MT"/>
              </a:rPr>
              <a:t> </a:t>
            </a:r>
            <a:r>
              <a:rPr sz="1635" dirty="0">
                <a:latin typeface="Arial MT"/>
                <a:cs typeface="Arial MT"/>
              </a:rPr>
              <a:t>memory</a:t>
            </a:r>
            <a:r>
              <a:rPr sz="1635" spc="-30" dirty="0">
                <a:latin typeface="Arial MT"/>
                <a:cs typeface="Arial MT"/>
              </a:rPr>
              <a:t> </a:t>
            </a:r>
            <a:r>
              <a:rPr sz="1635" spc="-15" dirty="0">
                <a:latin typeface="Arial MT"/>
                <a:cs typeface="Arial MT"/>
              </a:rPr>
              <a:t>allocation,</a:t>
            </a:r>
            <a:r>
              <a:rPr sz="1635" spc="-37" dirty="0">
                <a:latin typeface="Arial MT"/>
                <a:cs typeface="Arial MT"/>
              </a:rPr>
              <a:t> </a:t>
            </a:r>
            <a:r>
              <a:rPr sz="1635" spc="-15" dirty="0">
                <a:latin typeface="Arial MT"/>
                <a:cs typeface="Arial MT"/>
              </a:rPr>
              <a:t>stack configuration,</a:t>
            </a:r>
            <a:r>
              <a:rPr sz="1635" spc="-37" dirty="0">
                <a:latin typeface="Arial MT"/>
                <a:cs typeface="Arial MT"/>
              </a:rPr>
              <a:t> </a:t>
            </a:r>
            <a:r>
              <a:rPr sz="1635" dirty="0">
                <a:latin typeface="Arial MT"/>
                <a:cs typeface="Arial MT"/>
              </a:rPr>
              <a:t>number</a:t>
            </a:r>
            <a:r>
              <a:rPr sz="1635" spc="-30" dirty="0">
                <a:latin typeface="Arial MT"/>
                <a:cs typeface="Arial MT"/>
              </a:rPr>
              <a:t> </a:t>
            </a:r>
            <a:r>
              <a:rPr sz="1635" dirty="0">
                <a:latin typeface="Arial MT"/>
                <a:cs typeface="Arial MT"/>
              </a:rPr>
              <a:t>of</a:t>
            </a:r>
            <a:r>
              <a:rPr sz="1635" spc="-37" dirty="0">
                <a:latin typeface="Arial MT"/>
                <a:cs typeface="Arial MT"/>
              </a:rPr>
              <a:t> </a:t>
            </a:r>
            <a:r>
              <a:rPr sz="1635" dirty="0">
                <a:latin typeface="Arial MT"/>
                <a:cs typeface="Arial MT"/>
              </a:rPr>
              <a:t>threads,</a:t>
            </a:r>
            <a:r>
              <a:rPr sz="1635" spc="-30" dirty="0">
                <a:latin typeface="Arial MT"/>
                <a:cs typeface="Arial MT"/>
              </a:rPr>
              <a:t> </a:t>
            </a:r>
            <a:r>
              <a:rPr sz="1635" dirty="0">
                <a:latin typeface="Arial MT"/>
                <a:cs typeface="Arial MT"/>
              </a:rPr>
              <a:t>amount</a:t>
            </a:r>
            <a:r>
              <a:rPr sz="1635" spc="-30" dirty="0">
                <a:latin typeface="Arial MT"/>
                <a:cs typeface="Arial MT"/>
              </a:rPr>
              <a:t> </a:t>
            </a:r>
            <a:r>
              <a:rPr sz="1635" dirty="0">
                <a:latin typeface="Arial MT"/>
                <a:cs typeface="Arial MT"/>
              </a:rPr>
              <a:t>of</a:t>
            </a:r>
            <a:r>
              <a:rPr sz="1635" spc="-37" dirty="0">
                <a:latin typeface="Arial MT"/>
                <a:cs typeface="Arial MT"/>
              </a:rPr>
              <a:t> </a:t>
            </a:r>
            <a:r>
              <a:rPr sz="1635" spc="-15" dirty="0">
                <a:latin typeface="Arial MT"/>
                <a:cs typeface="Arial MT"/>
              </a:rPr>
              <a:t>cache, </a:t>
            </a:r>
            <a:r>
              <a:rPr sz="1635" dirty="0">
                <a:latin typeface="Arial MT"/>
                <a:cs typeface="Arial MT"/>
              </a:rPr>
              <a:t>patch</a:t>
            </a:r>
            <a:r>
              <a:rPr sz="1635" spc="-22" dirty="0">
                <a:latin typeface="Arial MT"/>
                <a:cs typeface="Arial MT"/>
              </a:rPr>
              <a:t> </a:t>
            </a:r>
            <a:r>
              <a:rPr sz="1635" spc="-30" dirty="0">
                <a:latin typeface="Arial MT"/>
                <a:cs typeface="Arial MT"/>
              </a:rPr>
              <a:t>levels,</a:t>
            </a:r>
            <a:r>
              <a:rPr sz="1635" spc="-22" dirty="0">
                <a:latin typeface="Arial MT"/>
                <a:cs typeface="Arial MT"/>
              </a:rPr>
              <a:t> </a:t>
            </a:r>
            <a:r>
              <a:rPr sz="1635" spc="-30" dirty="0">
                <a:latin typeface="Arial MT"/>
                <a:cs typeface="Arial MT"/>
              </a:rPr>
              <a:t>etc.</a:t>
            </a:r>
            <a:endParaRPr lang="en-US" sz="1635" spc="-30" dirty="0">
              <a:latin typeface="Arial MT"/>
              <a:cs typeface="Arial MT"/>
            </a:endParaRPr>
          </a:p>
          <a:p>
            <a:pPr marL="361775" marR="79274" indent="-342900">
              <a:lnSpc>
                <a:spcPct val="102600"/>
              </a:lnSpc>
              <a:spcBef>
                <a:spcPts val="82"/>
              </a:spcBef>
              <a:buFont typeface="+mj-lt"/>
              <a:buAutoNum type="arabicPeriod"/>
            </a:pPr>
            <a:r>
              <a:rPr sz="1635" dirty="0">
                <a:latin typeface="Arial MT"/>
                <a:cs typeface="Arial MT"/>
              </a:rPr>
              <a:t>This</a:t>
            </a:r>
            <a:r>
              <a:rPr sz="1635" spc="-45" dirty="0">
                <a:latin typeface="Arial MT"/>
                <a:cs typeface="Arial MT"/>
              </a:rPr>
              <a:t> </a:t>
            </a:r>
            <a:r>
              <a:rPr sz="1635" dirty="0">
                <a:latin typeface="Arial MT"/>
                <a:cs typeface="Arial MT"/>
              </a:rPr>
              <a:t>means,</a:t>
            </a:r>
            <a:r>
              <a:rPr sz="1635" spc="-37" dirty="0">
                <a:latin typeface="Arial MT"/>
                <a:cs typeface="Arial MT"/>
              </a:rPr>
              <a:t> </a:t>
            </a:r>
            <a:r>
              <a:rPr sz="1635" dirty="0">
                <a:latin typeface="Arial MT"/>
                <a:cs typeface="Arial MT"/>
              </a:rPr>
              <a:t>e.g.,</a:t>
            </a:r>
            <a:r>
              <a:rPr sz="1635" spc="-45" dirty="0">
                <a:latin typeface="Arial MT"/>
                <a:cs typeface="Arial MT"/>
              </a:rPr>
              <a:t> </a:t>
            </a:r>
            <a:r>
              <a:rPr sz="1635" dirty="0">
                <a:latin typeface="Arial MT"/>
                <a:cs typeface="Arial MT"/>
              </a:rPr>
              <a:t>that</a:t>
            </a:r>
            <a:r>
              <a:rPr sz="1635" spc="-37" dirty="0">
                <a:latin typeface="Arial MT"/>
                <a:cs typeface="Arial MT"/>
              </a:rPr>
              <a:t> </a:t>
            </a:r>
            <a:r>
              <a:rPr sz="1635" spc="-15" dirty="0">
                <a:latin typeface="Arial MT"/>
                <a:cs typeface="Arial MT"/>
              </a:rPr>
              <a:t>scalability</a:t>
            </a:r>
            <a:r>
              <a:rPr sz="1635" spc="-45" dirty="0">
                <a:latin typeface="Arial MT"/>
                <a:cs typeface="Arial MT"/>
              </a:rPr>
              <a:t> </a:t>
            </a:r>
            <a:r>
              <a:rPr sz="1635" dirty="0">
                <a:latin typeface="Arial MT"/>
                <a:cs typeface="Arial MT"/>
              </a:rPr>
              <a:t>is</a:t>
            </a:r>
            <a:r>
              <a:rPr sz="1635" spc="-37" dirty="0">
                <a:latin typeface="Arial MT"/>
                <a:cs typeface="Arial MT"/>
              </a:rPr>
              <a:t> </a:t>
            </a:r>
            <a:r>
              <a:rPr sz="1635" dirty="0">
                <a:latin typeface="Arial MT"/>
                <a:cs typeface="Arial MT"/>
              </a:rPr>
              <a:t>not</a:t>
            </a:r>
            <a:r>
              <a:rPr sz="1635" spc="-45" dirty="0">
                <a:latin typeface="Arial MT"/>
                <a:cs typeface="Arial MT"/>
              </a:rPr>
              <a:t> </a:t>
            </a:r>
            <a:r>
              <a:rPr sz="1635" dirty="0">
                <a:latin typeface="Arial MT"/>
                <a:cs typeface="Arial MT"/>
              </a:rPr>
              <a:t>as</a:t>
            </a:r>
            <a:r>
              <a:rPr sz="1635" spc="-37" dirty="0">
                <a:latin typeface="Arial MT"/>
                <a:cs typeface="Arial MT"/>
              </a:rPr>
              <a:t> </a:t>
            </a:r>
            <a:r>
              <a:rPr sz="1635" spc="-15" dirty="0">
                <a:latin typeface="Arial MT"/>
                <a:cs typeface="Arial MT"/>
              </a:rPr>
              <a:t>flexible</a:t>
            </a:r>
            <a:r>
              <a:rPr sz="1635" spc="-45" dirty="0">
                <a:latin typeface="Arial MT"/>
                <a:cs typeface="Arial MT"/>
              </a:rPr>
              <a:t> </a:t>
            </a:r>
            <a:r>
              <a:rPr sz="1635" spc="-37" dirty="0">
                <a:latin typeface="Arial MT"/>
                <a:cs typeface="Arial MT"/>
              </a:rPr>
              <a:t>as </a:t>
            </a:r>
            <a:r>
              <a:rPr sz="1635" dirty="0">
                <a:latin typeface="Arial MT"/>
                <a:cs typeface="Arial MT"/>
              </a:rPr>
              <a:t>an</a:t>
            </a:r>
            <a:r>
              <a:rPr sz="1635" spc="-30" dirty="0">
                <a:latin typeface="Arial MT"/>
                <a:cs typeface="Arial MT"/>
              </a:rPr>
              <a:t> </a:t>
            </a:r>
            <a:r>
              <a:rPr sz="1635" dirty="0">
                <a:latin typeface="Arial MT"/>
                <a:cs typeface="Arial MT"/>
              </a:rPr>
              <a:t>IaaS</a:t>
            </a:r>
            <a:r>
              <a:rPr sz="1635" spc="-22" dirty="0">
                <a:latin typeface="Arial MT"/>
                <a:cs typeface="Arial MT"/>
              </a:rPr>
              <a:t> </a:t>
            </a:r>
            <a:r>
              <a:rPr sz="1635" spc="-15" dirty="0">
                <a:latin typeface="Arial MT"/>
                <a:cs typeface="Arial MT"/>
              </a:rPr>
              <a:t>solution</a:t>
            </a:r>
            <a:r>
              <a:rPr sz="1635" spc="-22" dirty="0">
                <a:latin typeface="Arial MT"/>
                <a:cs typeface="Arial MT"/>
              </a:rPr>
              <a:t> </a:t>
            </a:r>
            <a:r>
              <a:rPr sz="1635" dirty="0">
                <a:latin typeface="Arial MT"/>
                <a:cs typeface="Arial MT"/>
              </a:rPr>
              <a:t>(e.g.</a:t>
            </a:r>
            <a:r>
              <a:rPr sz="1635" spc="74" dirty="0">
                <a:latin typeface="Arial MT"/>
                <a:cs typeface="Arial MT"/>
              </a:rPr>
              <a:t> </a:t>
            </a:r>
            <a:r>
              <a:rPr sz="1635" dirty="0">
                <a:latin typeface="Arial MT"/>
                <a:cs typeface="Arial MT"/>
              </a:rPr>
              <a:t>in</a:t>
            </a:r>
            <a:r>
              <a:rPr sz="1635" spc="-22" dirty="0">
                <a:latin typeface="Arial MT"/>
                <a:cs typeface="Arial MT"/>
              </a:rPr>
              <a:t> </a:t>
            </a:r>
            <a:r>
              <a:rPr sz="1635" dirty="0">
                <a:latin typeface="Arial MT"/>
                <a:cs typeface="Arial MT"/>
              </a:rPr>
              <a:t>the</a:t>
            </a:r>
            <a:r>
              <a:rPr sz="1635" spc="-22" dirty="0">
                <a:latin typeface="Arial MT"/>
                <a:cs typeface="Arial MT"/>
              </a:rPr>
              <a:t> </a:t>
            </a:r>
            <a:r>
              <a:rPr sz="1635" dirty="0">
                <a:latin typeface="Arial MT"/>
                <a:cs typeface="Arial MT"/>
              </a:rPr>
              <a:t>case</a:t>
            </a:r>
            <a:r>
              <a:rPr sz="1635" spc="-30" dirty="0">
                <a:latin typeface="Arial MT"/>
                <a:cs typeface="Arial MT"/>
              </a:rPr>
              <a:t> </a:t>
            </a:r>
            <a:r>
              <a:rPr sz="1635" dirty="0">
                <a:latin typeface="Arial MT"/>
                <a:cs typeface="Arial MT"/>
              </a:rPr>
              <a:t>of</a:t>
            </a:r>
            <a:r>
              <a:rPr sz="1635" spc="-22" dirty="0">
                <a:latin typeface="Arial MT"/>
                <a:cs typeface="Arial MT"/>
              </a:rPr>
              <a:t> </a:t>
            </a:r>
            <a:r>
              <a:rPr sz="1635" spc="-15" dirty="0">
                <a:latin typeface="Arial MT"/>
                <a:cs typeface="Arial MT"/>
              </a:rPr>
              <a:t>Instagram,</a:t>
            </a:r>
            <a:r>
              <a:rPr sz="1635" spc="-22" dirty="0">
                <a:latin typeface="Arial MT"/>
                <a:cs typeface="Arial MT"/>
              </a:rPr>
              <a:t> </a:t>
            </a:r>
            <a:r>
              <a:rPr sz="1635" spc="-30" dirty="0">
                <a:latin typeface="Arial MT"/>
                <a:cs typeface="Arial MT"/>
              </a:rPr>
              <a:t>they </a:t>
            </a:r>
            <a:r>
              <a:rPr sz="1635" dirty="0">
                <a:latin typeface="Arial MT"/>
                <a:cs typeface="Arial MT"/>
              </a:rPr>
              <a:t>went</a:t>
            </a:r>
            <a:r>
              <a:rPr sz="1635" spc="-74" dirty="0">
                <a:latin typeface="Arial MT"/>
                <a:cs typeface="Arial MT"/>
              </a:rPr>
              <a:t> </a:t>
            </a:r>
            <a:r>
              <a:rPr sz="1635" dirty="0">
                <a:latin typeface="Arial MT"/>
                <a:cs typeface="Arial MT"/>
              </a:rPr>
              <a:t>with</a:t>
            </a:r>
            <a:r>
              <a:rPr sz="1635" spc="-67" dirty="0">
                <a:latin typeface="Arial MT"/>
                <a:cs typeface="Arial MT"/>
              </a:rPr>
              <a:t> </a:t>
            </a:r>
            <a:r>
              <a:rPr sz="1635" spc="-30" dirty="0">
                <a:latin typeface="Arial MT"/>
                <a:cs typeface="Arial MT"/>
              </a:rPr>
              <a:t>AWS,</a:t>
            </a:r>
            <a:r>
              <a:rPr sz="1635" spc="-67" dirty="0">
                <a:latin typeface="Arial MT"/>
                <a:cs typeface="Arial MT"/>
              </a:rPr>
              <a:t> </a:t>
            </a:r>
            <a:r>
              <a:rPr sz="1635" dirty="0">
                <a:latin typeface="Arial MT"/>
                <a:cs typeface="Arial MT"/>
              </a:rPr>
              <a:t>although</a:t>
            </a:r>
            <a:r>
              <a:rPr sz="1635" spc="-67" dirty="0">
                <a:latin typeface="Arial MT"/>
                <a:cs typeface="Arial MT"/>
              </a:rPr>
              <a:t> </a:t>
            </a:r>
            <a:r>
              <a:rPr sz="1635" dirty="0">
                <a:latin typeface="Arial MT"/>
                <a:cs typeface="Arial MT"/>
              </a:rPr>
              <a:t>the</a:t>
            </a:r>
            <a:r>
              <a:rPr sz="1635" spc="-74" dirty="0">
                <a:latin typeface="Arial MT"/>
                <a:cs typeface="Arial MT"/>
              </a:rPr>
              <a:t> </a:t>
            </a:r>
            <a:r>
              <a:rPr sz="1635" dirty="0">
                <a:latin typeface="Arial MT"/>
                <a:cs typeface="Arial MT"/>
              </a:rPr>
              <a:t>famous</a:t>
            </a:r>
            <a:r>
              <a:rPr sz="1635" spc="-67" dirty="0">
                <a:latin typeface="Arial MT"/>
                <a:cs typeface="Arial MT"/>
              </a:rPr>
              <a:t> </a:t>
            </a:r>
            <a:r>
              <a:rPr sz="1635" dirty="0">
                <a:latin typeface="Arial MT"/>
                <a:cs typeface="Arial MT"/>
              </a:rPr>
              <a:t>platform</a:t>
            </a:r>
            <a:r>
              <a:rPr sz="1635" spc="-67" dirty="0">
                <a:latin typeface="Arial MT"/>
                <a:cs typeface="Arial MT"/>
              </a:rPr>
              <a:t> </a:t>
            </a:r>
            <a:r>
              <a:rPr sz="1635" spc="-37" dirty="0">
                <a:latin typeface="Arial MT"/>
                <a:cs typeface="Arial MT"/>
              </a:rPr>
              <a:t>for </a:t>
            </a:r>
            <a:r>
              <a:rPr sz="1635" dirty="0">
                <a:latin typeface="Arial MT"/>
                <a:cs typeface="Arial MT"/>
              </a:rPr>
              <a:t>Python</a:t>
            </a:r>
            <a:r>
              <a:rPr sz="1635" spc="-74" dirty="0">
                <a:latin typeface="Arial MT"/>
                <a:cs typeface="Arial MT"/>
              </a:rPr>
              <a:t> </a:t>
            </a:r>
            <a:r>
              <a:rPr sz="1635" dirty="0">
                <a:latin typeface="Arial MT"/>
                <a:cs typeface="Arial MT"/>
              </a:rPr>
              <a:t>was</a:t>
            </a:r>
            <a:r>
              <a:rPr sz="1635" spc="-67" dirty="0">
                <a:latin typeface="Arial MT"/>
                <a:cs typeface="Arial MT"/>
              </a:rPr>
              <a:t> </a:t>
            </a:r>
            <a:r>
              <a:rPr sz="1635" dirty="0">
                <a:latin typeface="Arial MT"/>
                <a:cs typeface="Arial MT"/>
              </a:rPr>
              <a:t>Google</a:t>
            </a:r>
            <a:r>
              <a:rPr sz="1635" spc="-74" dirty="0">
                <a:latin typeface="Arial MT"/>
                <a:cs typeface="Arial MT"/>
              </a:rPr>
              <a:t> </a:t>
            </a:r>
            <a:r>
              <a:rPr sz="1635" dirty="0">
                <a:latin typeface="Arial MT"/>
                <a:cs typeface="Arial MT"/>
              </a:rPr>
              <a:t>Apps</a:t>
            </a:r>
            <a:r>
              <a:rPr sz="1635" spc="-67" dirty="0">
                <a:latin typeface="Arial MT"/>
                <a:cs typeface="Arial MT"/>
              </a:rPr>
              <a:t> </a:t>
            </a:r>
            <a:r>
              <a:rPr sz="1635" spc="-15" dirty="0">
                <a:latin typeface="Arial MT"/>
                <a:cs typeface="Arial MT"/>
              </a:rPr>
              <a:t>Engine).</a:t>
            </a:r>
            <a:endParaRPr lang="en-US" sz="1635" spc="-15" dirty="0">
              <a:latin typeface="Arial MT"/>
              <a:cs typeface="Arial MT"/>
            </a:endParaRPr>
          </a:p>
          <a:p>
            <a:pPr marL="361775" marR="79274" indent="-342900">
              <a:lnSpc>
                <a:spcPct val="102600"/>
              </a:lnSpc>
              <a:spcBef>
                <a:spcPts val="82"/>
              </a:spcBef>
              <a:buFont typeface="+mj-lt"/>
              <a:buAutoNum type="arabicPeriod"/>
            </a:pPr>
            <a:r>
              <a:rPr sz="1635" dirty="0">
                <a:latin typeface="Arial MT"/>
                <a:cs typeface="Arial MT"/>
              </a:rPr>
              <a:t>Mature</a:t>
            </a:r>
            <a:r>
              <a:rPr sz="1635" spc="-52" dirty="0">
                <a:latin typeface="Arial MT"/>
                <a:cs typeface="Arial MT"/>
              </a:rPr>
              <a:t> </a:t>
            </a:r>
            <a:r>
              <a:rPr sz="1635" spc="-15" dirty="0">
                <a:latin typeface="Arial MT"/>
                <a:cs typeface="Arial MT"/>
              </a:rPr>
              <a:t>PaaS</a:t>
            </a:r>
            <a:r>
              <a:rPr sz="1635" spc="-52" dirty="0">
                <a:latin typeface="Arial MT"/>
                <a:cs typeface="Arial MT"/>
              </a:rPr>
              <a:t> </a:t>
            </a:r>
            <a:r>
              <a:rPr sz="1635" dirty="0">
                <a:latin typeface="Arial MT"/>
                <a:cs typeface="Arial MT"/>
              </a:rPr>
              <a:t>vendors</a:t>
            </a:r>
            <a:r>
              <a:rPr sz="1635" spc="-52" dirty="0">
                <a:latin typeface="Arial MT"/>
                <a:cs typeface="Arial MT"/>
              </a:rPr>
              <a:t> </a:t>
            </a:r>
            <a:r>
              <a:rPr sz="1635" dirty="0">
                <a:latin typeface="Arial MT"/>
                <a:cs typeface="Arial MT"/>
              </a:rPr>
              <a:t>also</a:t>
            </a:r>
            <a:r>
              <a:rPr sz="1635" spc="-52" dirty="0">
                <a:latin typeface="Arial MT"/>
                <a:cs typeface="Arial MT"/>
              </a:rPr>
              <a:t> </a:t>
            </a:r>
            <a:r>
              <a:rPr sz="1635" dirty="0">
                <a:latin typeface="Arial MT"/>
                <a:cs typeface="Arial MT"/>
              </a:rPr>
              <a:t>offer</a:t>
            </a:r>
            <a:r>
              <a:rPr sz="1635" spc="-52" dirty="0">
                <a:latin typeface="Arial MT"/>
                <a:cs typeface="Arial MT"/>
              </a:rPr>
              <a:t> </a:t>
            </a:r>
            <a:r>
              <a:rPr sz="1635" spc="-15" dirty="0">
                <a:latin typeface="Arial MT"/>
                <a:cs typeface="Arial MT"/>
              </a:rPr>
              <a:t>third-</a:t>
            </a:r>
            <a:r>
              <a:rPr sz="1635" dirty="0">
                <a:latin typeface="Arial MT"/>
                <a:cs typeface="Arial MT"/>
              </a:rPr>
              <a:t>party</a:t>
            </a:r>
            <a:r>
              <a:rPr sz="1635" spc="-52" dirty="0">
                <a:latin typeface="Arial MT"/>
                <a:cs typeface="Arial MT"/>
              </a:rPr>
              <a:t> </a:t>
            </a:r>
            <a:r>
              <a:rPr sz="1635" spc="-15" dirty="0">
                <a:latin typeface="Arial MT"/>
                <a:cs typeface="Arial MT"/>
              </a:rPr>
              <a:t>add-</a:t>
            </a:r>
            <a:r>
              <a:rPr sz="1635" spc="-37" dirty="0">
                <a:latin typeface="Arial MT"/>
                <a:cs typeface="Arial MT"/>
              </a:rPr>
              <a:t>ons </a:t>
            </a:r>
            <a:r>
              <a:rPr sz="1635" spc="-15" dirty="0">
                <a:latin typeface="Arial MT"/>
                <a:cs typeface="Arial MT"/>
              </a:rPr>
              <a:t>(plug-</a:t>
            </a:r>
            <a:r>
              <a:rPr sz="1635" dirty="0">
                <a:latin typeface="Arial MT"/>
                <a:cs typeface="Arial MT"/>
              </a:rPr>
              <a:t>ins,</a:t>
            </a:r>
            <a:r>
              <a:rPr sz="1635" spc="-74" dirty="0">
                <a:latin typeface="Arial MT"/>
                <a:cs typeface="Arial MT"/>
              </a:rPr>
              <a:t> </a:t>
            </a:r>
            <a:r>
              <a:rPr sz="1635" dirty="0">
                <a:latin typeface="Arial MT"/>
                <a:cs typeface="Arial MT"/>
              </a:rPr>
              <a:t>or</a:t>
            </a:r>
            <a:r>
              <a:rPr sz="1635" spc="-74" dirty="0">
                <a:latin typeface="Arial MT"/>
                <a:cs typeface="Arial MT"/>
              </a:rPr>
              <a:t> </a:t>
            </a:r>
            <a:r>
              <a:rPr sz="1635" dirty="0">
                <a:latin typeface="Arial MT"/>
                <a:cs typeface="Arial MT"/>
              </a:rPr>
              <a:t>extensions).</a:t>
            </a:r>
            <a:r>
              <a:rPr sz="1635" spc="15" dirty="0">
                <a:latin typeface="Arial MT"/>
                <a:cs typeface="Arial MT"/>
              </a:rPr>
              <a:t> </a:t>
            </a:r>
            <a:r>
              <a:rPr sz="1635" dirty="0">
                <a:latin typeface="Arial MT"/>
                <a:cs typeface="Arial MT"/>
              </a:rPr>
              <a:t>These</a:t>
            </a:r>
            <a:r>
              <a:rPr sz="1635" spc="-74" dirty="0">
                <a:latin typeface="Arial MT"/>
                <a:cs typeface="Arial MT"/>
              </a:rPr>
              <a:t> </a:t>
            </a:r>
            <a:r>
              <a:rPr sz="1635" dirty="0">
                <a:latin typeface="Arial MT"/>
                <a:cs typeface="Arial MT"/>
              </a:rPr>
              <a:t>frees</a:t>
            </a:r>
            <a:r>
              <a:rPr sz="1635" spc="-74" dirty="0">
                <a:latin typeface="Arial MT"/>
                <a:cs typeface="Arial MT"/>
              </a:rPr>
              <a:t> </a:t>
            </a:r>
            <a:r>
              <a:rPr sz="1635" spc="-37" dirty="0">
                <a:latin typeface="Arial MT"/>
                <a:cs typeface="Arial MT"/>
              </a:rPr>
              <a:t>the</a:t>
            </a:r>
            <a:r>
              <a:rPr sz="1635" spc="743" dirty="0">
                <a:latin typeface="Arial MT"/>
                <a:cs typeface="Arial MT"/>
              </a:rPr>
              <a:t> </a:t>
            </a:r>
            <a:r>
              <a:rPr sz="1635" spc="-15" dirty="0">
                <a:latin typeface="Arial MT"/>
                <a:cs typeface="Arial MT"/>
              </a:rPr>
              <a:t>developers</a:t>
            </a:r>
            <a:r>
              <a:rPr sz="1635" spc="-52" dirty="0">
                <a:latin typeface="Arial MT"/>
                <a:cs typeface="Arial MT"/>
              </a:rPr>
              <a:t> </a:t>
            </a:r>
            <a:r>
              <a:rPr sz="1635" dirty="0">
                <a:latin typeface="Arial MT"/>
                <a:cs typeface="Arial MT"/>
              </a:rPr>
              <a:t>from</a:t>
            </a:r>
            <a:r>
              <a:rPr sz="1635" spc="-52" dirty="0">
                <a:latin typeface="Arial MT"/>
                <a:cs typeface="Arial MT"/>
              </a:rPr>
              <a:t> </a:t>
            </a:r>
            <a:r>
              <a:rPr sz="1635" spc="-15" dirty="0">
                <a:latin typeface="Arial MT"/>
                <a:cs typeface="Arial MT"/>
              </a:rPr>
              <a:t>re-invent</a:t>
            </a:r>
            <a:r>
              <a:rPr sz="1635" spc="-52" dirty="0">
                <a:latin typeface="Arial MT"/>
                <a:cs typeface="Arial MT"/>
              </a:rPr>
              <a:t> </a:t>
            </a:r>
            <a:r>
              <a:rPr sz="1635" dirty="0">
                <a:latin typeface="Arial MT"/>
                <a:cs typeface="Arial MT"/>
              </a:rPr>
              <a:t>the</a:t>
            </a:r>
            <a:r>
              <a:rPr sz="1635" spc="-45" dirty="0">
                <a:latin typeface="Arial MT"/>
                <a:cs typeface="Arial MT"/>
              </a:rPr>
              <a:t> </a:t>
            </a:r>
            <a:r>
              <a:rPr sz="1635" dirty="0">
                <a:latin typeface="Arial MT"/>
                <a:cs typeface="Arial MT"/>
              </a:rPr>
              <a:t>wheel</a:t>
            </a:r>
            <a:r>
              <a:rPr sz="1635" spc="-52" dirty="0">
                <a:latin typeface="Arial MT"/>
                <a:cs typeface="Arial MT"/>
              </a:rPr>
              <a:t> </a:t>
            </a:r>
            <a:r>
              <a:rPr sz="1635" dirty="0">
                <a:latin typeface="Arial MT"/>
                <a:cs typeface="Arial MT"/>
              </a:rPr>
              <a:t>or</a:t>
            </a:r>
            <a:r>
              <a:rPr sz="1635" spc="-52" dirty="0">
                <a:latin typeface="Arial MT"/>
                <a:cs typeface="Arial MT"/>
              </a:rPr>
              <a:t> </a:t>
            </a:r>
            <a:r>
              <a:rPr sz="1635" spc="-15" dirty="0">
                <a:latin typeface="Arial MT"/>
                <a:cs typeface="Arial MT"/>
              </a:rPr>
              <a:t>obtaining</a:t>
            </a:r>
            <a:r>
              <a:rPr sz="1635" spc="-52" dirty="0">
                <a:latin typeface="Arial MT"/>
                <a:cs typeface="Arial MT"/>
              </a:rPr>
              <a:t> </a:t>
            </a:r>
            <a:r>
              <a:rPr sz="1635" spc="-37" dirty="0">
                <a:latin typeface="Arial MT"/>
                <a:cs typeface="Arial MT"/>
              </a:rPr>
              <a:t>and </a:t>
            </a:r>
            <a:r>
              <a:rPr sz="1635" spc="-15" dirty="0">
                <a:latin typeface="Arial MT"/>
                <a:cs typeface="Arial MT"/>
              </a:rPr>
              <a:t>renewing</a:t>
            </a:r>
            <a:r>
              <a:rPr sz="1635" spc="-45" dirty="0">
                <a:latin typeface="Arial MT"/>
                <a:cs typeface="Arial MT"/>
              </a:rPr>
              <a:t> </a:t>
            </a:r>
            <a:r>
              <a:rPr sz="1635" spc="-15" dirty="0">
                <a:latin typeface="Arial MT"/>
                <a:cs typeface="Arial MT"/>
              </a:rPr>
              <a:t>licenses,</a:t>
            </a:r>
            <a:r>
              <a:rPr sz="1635" spc="-45" dirty="0">
                <a:latin typeface="Arial MT"/>
                <a:cs typeface="Arial MT"/>
              </a:rPr>
              <a:t> </a:t>
            </a:r>
            <a:r>
              <a:rPr sz="1635" dirty="0">
                <a:latin typeface="Arial MT"/>
                <a:cs typeface="Arial MT"/>
              </a:rPr>
              <a:t>install,</a:t>
            </a:r>
            <a:r>
              <a:rPr sz="1635" spc="-45" dirty="0">
                <a:latin typeface="Arial MT"/>
                <a:cs typeface="Arial MT"/>
              </a:rPr>
              <a:t> </a:t>
            </a:r>
            <a:r>
              <a:rPr sz="1635" dirty="0">
                <a:latin typeface="Arial MT"/>
                <a:cs typeface="Arial MT"/>
              </a:rPr>
              <a:t>patch,</a:t>
            </a:r>
            <a:r>
              <a:rPr sz="1635" spc="-37" dirty="0">
                <a:latin typeface="Arial MT"/>
                <a:cs typeface="Arial MT"/>
              </a:rPr>
              <a:t> </a:t>
            </a:r>
            <a:r>
              <a:rPr sz="1635" dirty="0">
                <a:latin typeface="Arial MT"/>
                <a:cs typeface="Arial MT"/>
              </a:rPr>
              <a:t>etc.</a:t>
            </a:r>
            <a:r>
              <a:rPr sz="1635" spc="52" dirty="0">
                <a:latin typeface="Arial MT"/>
                <a:cs typeface="Arial MT"/>
              </a:rPr>
              <a:t> </a:t>
            </a:r>
            <a:r>
              <a:rPr sz="1635" dirty="0">
                <a:latin typeface="Arial MT"/>
                <a:cs typeface="Arial MT"/>
              </a:rPr>
              <a:t>and</a:t>
            </a:r>
            <a:r>
              <a:rPr sz="1635" spc="-45" dirty="0">
                <a:latin typeface="Arial MT"/>
                <a:cs typeface="Arial MT"/>
              </a:rPr>
              <a:t> </a:t>
            </a:r>
            <a:r>
              <a:rPr sz="1635" spc="-30" dirty="0">
                <a:latin typeface="Arial MT"/>
                <a:cs typeface="Arial MT"/>
              </a:rPr>
              <a:t>only</a:t>
            </a:r>
            <a:r>
              <a:rPr lang="en-US" sz="1635" dirty="0">
                <a:latin typeface="Arial MT"/>
                <a:cs typeface="Arial MT"/>
              </a:rPr>
              <a:t> </a:t>
            </a:r>
            <a:r>
              <a:rPr sz="1635" spc="-30" dirty="0">
                <a:latin typeface="Arial MT"/>
                <a:cs typeface="Arial MT"/>
              </a:rPr>
              <a:t>pay-</a:t>
            </a:r>
            <a:r>
              <a:rPr sz="1635" spc="-15" dirty="0">
                <a:latin typeface="Arial MT"/>
                <a:cs typeface="Arial MT"/>
              </a:rPr>
              <a:t>per-</a:t>
            </a:r>
            <a:r>
              <a:rPr sz="1635" spc="-30" dirty="0">
                <a:latin typeface="Arial MT"/>
                <a:cs typeface="Arial MT"/>
              </a:rPr>
              <a:t>use:</a:t>
            </a:r>
            <a:endParaRPr sz="1635" dirty="0">
              <a:latin typeface="Arial MT"/>
              <a:cs typeface="Arial MT"/>
            </a:endParaRPr>
          </a:p>
          <a:p>
            <a:pPr marL="430344" marR="400144">
              <a:lnSpc>
                <a:spcPts val="1783"/>
              </a:lnSpc>
              <a:spcBef>
                <a:spcPts val="45"/>
              </a:spcBef>
            </a:pPr>
            <a:r>
              <a:rPr sz="1486" dirty="0">
                <a:solidFill>
                  <a:srgbClr val="FF0000"/>
                </a:solidFill>
                <a:latin typeface="Arial MT"/>
                <a:cs typeface="Arial MT"/>
              </a:rPr>
              <a:t>Logging,</a:t>
            </a:r>
            <a:r>
              <a:rPr sz="1486" spc="-22" dirty="0">
                <a:solidFill>
                  <a:srgbClr val="FF0000"/>
                </a:solidFill>
                <a:latin typeface="Arial MT"/>
                <a:cs typeface="Arial MT"/>
              </a:rPr>
              <a:t> </a:t>
            </a:r>
            <a:r>
              <a:rPr sz="1486" dirty="0">
                <a:solidFill>
                  <a:srgbClr val="FF0000"/>
                </a:solidFill>
                <a:latin typeface="Arial MT"/>
                <a:cs typeface="Arial MT"/>
              </a:rPr>
              <a:t>Monitoring,</a:t>
            </a:r>
            <a:r>
              <a:rPr sz="1486" spc="-22" dirty="0">
                <a:solidFill>
                  <a:srgbClr val="FF0000"/>
                </a:solidFill>
                <a:latin typeface="Arial MT"/>
                <a:cs typeface="Arial MT"/>
              </a:rPr>
              <a:t> </a:t>
            </a:r>
            <a:r>
              <a:rPr sz="1486" spc="-15" dirty="0">
                <a:solidFill>
                  <a:srgbClr val="FF0000"/>
                </a:solidFill>
                <a:latin typeface="Arial MT"/>
                <a:cs typeface="Arial MT"/>
              </a:rPr>
              <a:t>Security, </a:t>
            </a:r>
            <a:r>
              <a:rPr sz="1486" dirty="0">
                <a:solidFill>
                  <a:srgbClr val="FF0000"/>
                </a:solidFill>
                <a:latin typeface="Arial MT"/>
                <a:cs typeface="Arial MT"/>
              </a:rPr>
              <a:t>Caching,</a:t>
            </a:r>
            <a:r>
              <a:rPr sz="1486" spc="-22" dirty="0">
                <a:solidFill>
                  <a:srgbClr val="FF0000"/>
                </a:solidFill>
                <a:latin typeface="Arial MT"/>
                <a:cs typeface="Arial MT"/>
              </a:rPr>
              <a:t> </a:t>
            </a:r>
            <a:r>
              <a:rPr sz="1486" spc="-15" dirty="0">
                <a:solidFill>
                  <a:srgbClr val="FF0000"/>
                </a:solidFill>
                <a:latin typeface="Arial MT"/>
                <a:cs typeface="Arial MT"/>
              </a:rPr>
              <a:t>Search, E-</a:t>
            </a:r>
            <a:r>
              <a:rPr sz="1486" dirty="0">
                <a:solidFill>
                  <a:srgbClr val="FF0000"/>
                </a:solidFill>
                <a:latin typeface="Arial MT"/>
                <a:cs typeface="Arial MT"/>
              </a:rPr>
              <a:t>mail,</a:t>
            </a:r>
            <a:r>
              <a:rPr sz="1486" spc="-59" dirty="0">
                <a:solidFill>
                  <a:srgbClr val="FF0000"/>
                </a:solidFill>
                <a:latin typeface="Arial MT"/>
                <a:cs typeface="Arial MT"/>
              </a:rPr>
              <a:t> </a:t>
            </a:r>
            <a:r>
              <a:rPr sz="1486" dirty="0">
                <a:solidFill>
                  <a:srgbClr val="FF0000"/>
                </a:solidFill>
                <a:latin typeface="Arial MT"/>
                <a:cs typeface="Arial MT"/>
              </a:rPr>
              <a:t>Analytics,</a:t>
            </a:r>
            <a:r>
              <a:rPr sz="1486" spc="-52" dirty="0">
                <a:solidFill>
                  <a:srgbClr val="FF0000"/>
                </a:solidFill>
                <a:latin typeface="Arial MT"/>
                <a:cs typeface="Arial MT"/>
              </a:rPr>
              <a:t> </a:t>
            </a:r>
            <a:r>
              <a:rPr sz="1486" spc="-15" dirty="0">
                <a:solidFill>
                  <a:srgbClr val="FF0000"/>
                </a:solidFill>
                <a:latin typeface="Arial MT"/>
                <a:cs typeface="Arial MT"/>
              </a:rPr>
              <a:t>Payments,</a:t>
            </a:r>
            <a:r>
              <a:rPr sz="1486" spc="-52" dirty="0">
                <a:solidFill>
                  <a:srgbClr val="FF0000"/>
                </a:solidFill>
                <a:latin typeface="Arial MT"/>
                <a:cs typeface="Arial MT"/>
              </a:rPr>
              <a:t> </a:t>
            </a:r>
            <a:r>
              <a:rPr sz="1486" spc="-30" dirty="0">
                <a:solidFill>
                  <a:srgbClr val="FF0000"/>
                </a:solidFill>
                <a:latin typeface="Arial MT"/>
                <a:cs typeface="Arial MT"/>
              </a:rPr>
              <a:t>etc.</a:t>
            </a:r>
            <a:endParaRPr sz="1486" dirty="0">
              <a:solidFill>
                <a:srgbClr val="FF0000"/>
              </a:solidFill>
              <a:latin typeface="Arial MT"/>
              <a:cs typeface="Arial MT"/>
            </a:endParaRPr>
          </a:p>
        </p:txBody>
      </p:sp>
    </p:spTree>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4317662" y="4646801"/>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4199332" y="4640913"/>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4463589" y="4640913"/>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4596335" y="4627714"/>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4993337" y="4625834"/>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5390340" y="4625834"/>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5900614" y="4631474"/>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6157954" y="4627713"/>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381000" y="273782"/>
            <a:ext cx="6562730" cy="456618"/>
          </a:xfrm>
          <a:prstGeom prst="rect">
            <a:avLst/>
          </a:prstGeom>
        </p:spPr>
        <p:txBody>
          <a:bodyPr vert="horz" wrap="square" lIns="0" tIns="25482" rIns="0" bIns="0" rtlCol="0">
            <a:spAutoFit/>
          </a:bodyPr>
          <a:lstStyle/>
          <a:p>
            <a:pPr marL="18875">
              <a:spcBef>
                <a:spcPts val="201"/>
              </a:spcBef>
            </a:pPr>
            <a:r>
              <a:rPr dirty="0"/>
              <a:t>Main</a:t>
            </a:r>
            <a:r>
              <a:rPr spc="111" dirty="0"/>
              <a:t> </a:t>
            </a:r>
            <a:r>
              <a:rPr dirty="0"/>
              <a:t>Service</a:t>
            </a:r>
            <a:r>
              <a:rPr spc="119" dirty="0"/>
              <a:t> </a:t>
            </a:r>
            <a:r>
              <a:rPr dirty="0"/>
              <a:t>Models:</a:t>
            </a:r>
            <a:r>
              <a:rPr spc="282" dirty="0"/>
              <a:t> </a:t>
            </a:r>
            <a:r>
              <a:rPr spc="-30" dirty="0"/>
              <a:t>SaaS</a:t>
            </a:r>
          </a:p>
        </p:txBody>
      </p:sp>
      <p:sp>
        <p:nvSpPr>
          <p:cNvPr id="28" name="object 28"/>
          <p:cNvSpPr txBox="1"/>
          <p:nvPr/>
        </p:nvSpPr>
        <p:spPr>
          <a:xfrm>
            <a:off x="393362" y="1061577"/>
            <a:ext cx="7848600" cy="2698376"/>
          </a:xfrm>
          <a:prstGeom prst="rect">
            <a:avLst/>
          </a:prstGeom>
        </p:spPr>
        <p:txBody>
          <a:bodyPr vert="horz" wrap="square" lIns="0" tIns="53794" rIns="0" bIns="0" rtlCol="0">
            <a:spAutoFit/>
          </a:bodyPr>
          <a:lstStyle/>
          <a:p>
            <a:pPr marL="37749">
              <a:spcBef>
                <a:spcPts val="424"/>
              </a:spcBef>
            </a:pPr>
            <a:r>
              <a:rPr sz="1635" spc="-15" dirty="0">
                <a:latin typeface="Arial MT"/>
                <a:cs typeface="Arial MT"/>
              </a:rPr>
              <a:t>NIST’s</a:t>
            </a:r>
            <a:r>
              <a:rPr sz="1635" spc="-37" dirty="0">
                <a:latin typeface="Arial MT"/>
                <a:cs typeface="Arial MT"/>
              </a:rPr>
              <a:t> </a:t>
            </a:r>
            <a:r>
              <a:rPr sz="1635" spc="-15" dirty="0">
                <a:latin typeface="Arial MT"/>
                <a:cs typeface="Arial MT"/>
              </a:rPr>
              <a:t>definition</a:t>
            </a:r>
            <a:r>
              <a:rPr sz="1635" spc="-37" dirty="0">
                <a:latin typeface="Arial MT"/>
                <a:cs typeface="Arial MT"/>
              </a:rPr>
              <a:t> </a:t>
            </a:r>
            <a:r>
              <a:rPr sz="1635" dirty="0">
                <a:latin typeface="Arial MT"/>
                <a:cs typeface="Arial MT"/>
              </a:rPr>
              <a:t>of</a:t>
            </a:r>
            <a:r>
              <a:rPr sz="1635" spc="-30" dirty="0">
                <a:latin typeface="Arial MT"/>
                <a:cs typeface="Arial MT"/>
              </a:rPr>
              <a:t> </a:t>
            </a:r>
            <a:r>
              <a:rPr sz="1635" spc="-15" dirty="0">
                <a:latin typeface="Arial MT"/>
                <a:cs typeface="Arial MT"/>
              </a:rPr>
              <a:t>SaaS:</a:t>
            </a:r>
            <a:r>
              <a:rPr sz="1783" spc="-22" baseline="27777" dirty="0">
                <a:latin typeface="Arial MT"/>
                <a:cs typeface="Arial MT"/>
              </a:rPr>
              <a:t>5</a:t>
            </a:r>
            <a:endParaRPr sz="1783" baseline="27777" dirty="0">
              <a:latin typeface="Arial MT"/>
              <a:cs typeface="Arial MT"/>
            </a:endParaRPr>
          </a:p>
          <a:p>
            <a:pPr marL="734969" marR="26425" indent="-285750">
              <a:lnSpc>
                <a:spcPct val="102600"/>
              </a:lnSpc>
              <a:spcBef>
                <a:spcPts val="223"/>
              </a:spcBef>
              <a:buFont typeface="Arial" panose="020B0604020202020204" pitchFamily="34" charset="0"/>
              <a:buChar char="•"/>
            </a:pPr>
            <a:r>
              <a:rPr sz="1635" i="1" dirty="0">
                <a:latin typeface="Arial"/>
                <a:cs typeface="Arial"/>
              </a:rPr>
              <a:t>“The</a:t>
            </a:r>
            <a:r>
              <a:rPr sz="1635" i="1" spc="-37" dirty="0">
                <a:latin typeface="Arial"/>
                <a:cs typeface="Arial"/>
              </a:rPr>
              <a:t> </a:t>
            </a:r>
            <a:r>
              <a:rPr sz="1635" i="1" spc="-15" dirty="0">
                <a:latin typeface="Arial"/>
                <a:cs typeface="Arial"/>
              </a:rPr>
              <a:t>capability</a:t>
            </a:r>
            <a:r>
              <a:rPr sz="1635" i="1" spc="-30" dirty="0">
                <a:latin typeface="Arial"/>
                <a:cs typeface="Arial"/>
              </a:rPr>
              <a:t> </a:t>
            </a:r>
            <a:r>
              <a:rPr sz="1635" i="1" spc="-15" dirty="0">
                <a:latin typeface="Arial"/>
                <a:cs typeface="Arial"/>
              </a:rPr>
              <a:t>provided</a:t>
            </a:r>
            <a:r>
              <a:rPr sz="1635" i="1" spc="-30" dirty="0">
                <a:latin typeface="Arial"/>
                <a:cs typeface="Arial"/>
              </a:rPr>
              <a:t> </a:t>
            </a:r>
            <a:r>
              <a:rPr sz="1635" i="1" dirty="0">
                <a:latin typeface="Arial"/>
                <a:cs typeface="Arial"/>
              </a:rPr>
              <a:t>to</a:t>
            </a:r>
            <a:r>
              <a:rPr sz="1635" i="1" spc="-30" dirty="0">
                <a:latin typeface="Arial"/>
                <a:cs typeface="Arial"/>
              </a:rPr>
              <a:t> </a:t>
            </a:r>
            <a:r>
              <a:rPr sz="1635" i="1" dirty="0">
                <a:latin typeface="Arial"/>
                <a:cs typeface="Arial"/>
              </a:rPr>
              <a:t>the</a:t>
            </a:r>
            <a:r>
              <a:rPr sz="1635" i="1" spc="-30" dirty="0">
                <a:latin typeface="Arial"/>
                <a:cs typeface="Arial"/>
              </a:rPr>
              <a:t> </a:t>
            </a:r>
            <a:r>
              <a:rPr sz="1635" i="1" dirty="0">
                <a:latin typeface="Arial"/>
                <a:cs typeface="Arial"/>
              </a:rPr>
              <a:t>consumer</a:t>
            </a:r>
            <a:r>
              <a:rPr sz="1635" i="1" spc="-37" dirty="0">
                <a:latin typeface="Arial"/>
                <a:cs typeface="Arial"/>
              </a:rPr>
              <a:t> </a:t>
            </a:r>
            <a:r>
              <a:rPr sz="1635" i="1" dirty="0">
                <a:latin typeface="Arial"/>
                <a:cs typeface="Arial"/>
              </a:rPr>
              <a:t>is</a:t>
            </a:r>
            <a:r>
              <a:rPr sz="1635" i="1" spc="-30" dirty="0">
                <a:latin typeface="Arial"/>
                <a:cs typeface="Arial"/>
              </a:rPr>
              <a:t> </a:t>
            </a:r>
            <a:r>
              <a:rPr sz="1635" i="1" spc="-37" dirty="0">
                <a:latin typeface="Arial"/>
                <a:cs typeface="Arial"/>
              </a:rPr>
              <a:t>to </a:t>
            </a:r>
            <a:r>
              <a:rPr sz="1635" i="1" dirty="0">
                <a:latin typeface="Arial"/>
                <a:cs typeface="Arial"/>
              </a:rPr>
              <a:t>use</a:t>
            </a:r>
            <a:r>
              <a:rPr sz="1635" i="1" spc="-45" dirty="0">
                <a:latin typeface="Arial"/>
                <a:cs typeface="Arial"/>
              </a:rPr>
              <a:t> </a:t>
            </a:r>
            <a:r>
              <a:rPr sz="1635" i="1" dirty="0">
                <a:latin typeface="Arial"/>
                <a:cs typeface="Arial"/>
              </a:rPr>
              <a:t>the</a:t>
            </a:r>
            <a:r>
              <a:rPr sz="1635" i="1" spc="-45" dirty="0">
                <a:latin typeface="Arial"/>
                <a:cs typeface="Arial"/>
              </a:rPr>
              <a:t> </a:t>
            </a:r>
            <a:r>
              <a:rPr sz="1635" i="1" spc="-15" dirty="0">
                <a:solidFill>
                  <a:srgbClr val="FF0000"/>
                </a:solidFill>
                <a:latin typeface="Arial"/>
                <a:cs typeface="Arial"/>
              </a:rPr>
              <a:t>provider’s</a:t>
            </a:r>
            <a:r>
              <a:rPr sz="1635" i="1" spc="-45" dirty="0">
                <a:solidFill>
                  <a:srgbClr val="FF0000"/>
                </a:solidFill>
                <a:latin typeface="Arial"/>
                <a:cs typeface="Arial"/>
              </a:rPr>
              <a:t> </a:t>
            </a:r>
            <a:r>
              <a:rPr sz="1635" i="1" spc="-15" dirty="0">
                <a:solidFill>
                  <a:srgbClr val="FF0000"/>
                </a:solidFill>
                <a:latin typeface="Arial"/>
                <a:cs typeface="Arial"/>
              </a:rPr>
              <a:t>applications</a:t>
            </a:r>
            <a:r>
              <a:rPr sz="1635" i="1" spc="-37" dirty="0">
                <a:solidFill>
                  <a:srgbClr val="FF0000"/>
                </a:solidFill>
                <a:latin typeface="Arial"/>
                <a:cs typeface="Arial"/>
              </a:rPr>
              <a:t> </a:t>
            </a:r>
            <a:r>
              <a:rPr sz="1635" i="1" dirty="0">
                <a:latin typeface="Arial"/>
                <a:cs typeface="Arial"/>
              </a:rPr>
              <a:t>running</a:t>
            </a:r>
            <a:r>
              <a:rPr sz="1635" i="1" spc="-45" dirty="0">
                <a:latin typeface="Arial"/>
                <a:cs typeface="Arial"/>
              </a:rPr>
              <a:t> </a:t>
            </a:r>
            <a:r>
              <a:rPr sz="1635" i="1" dirty="0">
                <a:latin typeface="Arial"/>
                <a:cs typeface="Arial"/>
              </a:rPr>
              <a:t>on</a:t>
            </a:r>
            <a:r>
              <a:rPr sz="1635" i="1" spc="-45" dirty="0">
                <a:latin typeface="Arial"/>
                <a:cs typeface="Arial"/>
              </a:rPr>
              <a:t> </a:t>
            </a:r>
            <a:r>
              <a:rPr sz="1635" i="1" spc="-74" dirty="0">
                <a:latin typeface="Arial"/>
                <a:cs typeface="Arial"/>
              </a:rPr>
              <a:t>a </a:t>
            </a:r>
            <a:r>
              <a:rPr sz="1635" i="1" dirty="0">
                <a:latin typeface="Arial"/>
                <a:cs typeface="Arial"/>
              </a:rPr>
              <a:t>cloud</a:t>
            </a:r>
            <a:r>
              <a:rPr sz="1635" i="1" spc="-67" dirty="0">
                <a:latin typeface="Arial"/>
                <a:cs typeface="Arial"/>
              </a:rPr>
              <a:t> </a:t>
            </a:r>
            <a:r>
              <a:rPr sz="1635" i="1" dirty="0">
                <a:latin typeface="Arial"/>
                <a:cs typeface="Arial"/>
              </a:rPr>
              <a:t>infrastructure.</a:t>
            </a:r>
            <a:r>
              <a:rPr sz="1635" i="1" spc="22" dirty="0">
                <a:latin typeface="Arial"/>
                <a:cs typeface="Arial"/>
              </a:rPr>
              <a:t> </a:t>
            </a:r>
            <a:endParaRPr lang="en-US" sz="1635" i="1" spc="22" dirty="0">
              <a:latin typeface="Arial"/>
              <a:cs typeface="Arial"/>
            </a:endParaRPr>
          </a:p>
          <a:p>
            <a:pPr marL="734969" marR="26425" indent="-285750">
              <a:lnSpc>
                <a:spcPct val="102600"/>
              </a:lnSpc>
              <a:spcBef>
                <a:spcPts val="223"/>
              </a:spcBef>
              <a:buFont typeface="Arial" panose="020B0604020202020204" pitchFamily="34" charset="0"/>
              <a:buChar char="•"/>
            </a:pPr>
            <a:r>
              <a:rPr sz="1635" i="1" dirty="0">
                <a:latin typeface="Arial"/>
                <a:cs typeface="Arial"/>
              </a:rPr>
              <a:t>The</a:t>
            </a:r>
            <a:r>
              <a:rPr sz="1635" i="1" spc="-67" dirty="0">
                <a:latin typeface="Arial"/>
                <a:cs typeface="Arial"/>
              </a:rPr>
              <a:t> </a:t>
            </a:r>
            <a:r>
              <a:rPr sz="1635" i="1" spc="-15" dirty="0">
                <a:latin typeface="Arial"/>
                <a:cs typeface="Arial"/>
              </a:rPr>
              <a:t>applications</a:t>
            </a:r>
            <a:r>
              <a:rPr sz="1635" i="1" spc="-67" dirty="0">
                <a:latin typeface="Arial"/>
                <a:cs typeface="Arial"/>
              </a:rPr>
              <a:t> </a:t>
            </a:r>
            <a:r>
              <a:rPr sz="1635" i="1" spc="-37" dirty="0">
                <a:latin typeface="Arial"/>
                <a:cs typeface="Arial"/>
              </a:rPr>
              <a:t>are </a:t>
            </a:r>
            <a:r>
              <a:rPr sz="1635" i="1" spc="-15" dirty="0">
                <a:latin typeface="Arial"/>
                <a:cs typeface="Arial"/>
              </a:rPr>
              <a:t>accessible</a:t>
            </a:r>
            <a:r>
              <a:rPr sz="1635" i="1" spc="-52" dirty="0">
                <a:latin typeface="Arial"/>
                <a:cs typeface="Arial"/>
              </a:rPr>
              <a:t> </a:t>
            </a:r>
            <a:r>
              <a:rPr sz="1635" i="1" dirty="0">
                <a:latin typeface="Arial"/>
                <a:cs typeface="Arial"/>
              </a:rPr>
              <a:t>from</a:t>
            </a:r>
            <a:r>
              <a:rPr sz="1635" i="1" spc="-45" dirty="0">
                <a:latin typeface="Arial"/>
                <a:cs typeface="Arial"/>
              </a:rPr>
              <a:t> </a:t>
            </a:r>
            <a:r>
              <a:rPr sz="1635" i="1" spc="-15" dirty="0">
                <a:latin typeface="Arial"/>
                <a:cs typeface="Arial"/>
              </a:rPr>
              <a:t>various</a:t>
            </a:r>
            <a:r>
              <a:rPr sz="1635" i="1" spc="-45" dirty="0">
                <a:latin typeface="Arial"/>
                <a:cs typeface="Arial"/>
              </a:rPr>
              <a:t> </a:t>
            </a:r>
            <a:r>
              <a:rPr sz="1635" i="1" dirty="0">
                <a:latin typeface="Arial"/>
                <a:cs typeface="Arial"/>
              </a:rPr>
              <a:t>client</a:t>
            </a:r>
            <a:r>
              <a:rPr sz="1635" i="1" spc="-45" dirty="0">
                <a:latin typeface="Arial"/>
                <a:cs typeface="Arial"/>
              </a:rPr>
              <a:t> </a:t>
            </a:r>
            <a:r>
              <a:rPr sz="1635" i="1" spc="-15" dirty="0">
                <a:latin typeface="Arial"/>
                <a:cs typeface="Arial"/>
              </a:rPr>
              <a:t>devices</a:t>
            </a:r>
            <a:r>
              <a:rPr sz="1635" i="1" spc="-45" dirty="0">
                <a:latin typeface="Arial"/>
                <a:cs typeface="Arial"/>
              </a:rPr>
              <a:t> </a:t>
            </a:r>
            <a:r>
              <a:rPr sz="1635" i="1" spc="-15" dirty="0">
                <a:latin typeface="Arial"/>
                <a:cs typeface="Arial"/>
              </a:rPr>
              <a:t>through </a:t>
            </a:r>
            <a:r>
              <a:rPr sz="1635" i="1" dirty="0">
                <a:latin typeface="Arial"/>
                <a:cs typeface="Arial"/>
              </a:rPr>
              <a:t>either</a:t>
            </a:r>
            <a:r>
              <a:rPr sz="1635" i="1" spc="-30" dirty="0">
                <a:latin typeface="Arial"/>
                <a:cs typeface="Arial"/>
              </a:rPr>
              <a:t> </a:t>
            </a:r>
            <a:r>
              <a:rPr sz="1635" i="1" dirty="0">
                <a:latin typeface="Arial"/>
                <a:cs typeface="Arial"/>
              </a:rPr>
              <a:t>a</a:t>
            </a:r>
            <a:r>
              <a:rPr sz="1635" i="1" spc="-30" dirty="0">
                <a:latin typeface="Arial"/>
                <a:cs typeface="Arial"/>
              </a:rPr>
              <a:t> </a:t>
            </a:r>
            <a:r>
              <a:rPr sz="1635" i="1" dirty="0">
                <a:solidFill>
                  <a:srgbClr val="FF0000"/>
                </a:solidFill>
                <a:latin typeface="Arial"/>
                <a:cs typeface="Arial"/>
              </a:rPr>
              <a:t>thin</a:t>
            </a:r>
            <a:r>
              <a:rPr sz="1635" i="1" spc="-30" dirty="0">
                <a:solidFill>
                  <a:srgbClr val="FF0000"/>
                </a:solidFill>
                <a:latin typeface="Arial"/>
                <a:cs typeface="Arial"/>
              </a:rPr>
              <a:t> </a:t>
            </a:r>
            <a:r>
              <a:rPr sz="1635" i="1" dirty="0">
                <a:solidFill>
                  <a:srgbClr val="FF0000"/>
                </a:solidFill>
                <a:latin typeface="Arial"/>
                <a:cs typeface="Arial"/>
              </a:rPr>
              <a:t>client</a:t>
            </a:r>
            <a:r>
              <a:rPr sz="1635" i="1" spc="-30" dirty="0">
                <a:solidFill>
                  <a:srgbClr val="FF0000"/>
                </a:solidFill>
                <a:latin typeface="Arial"/>
                <a:cs typeface="Arial"/>
              </a:rPr>
              <a:t> </a:t>
            </a:r>
            <a:r>
              <a:rPr sz="1635" i="1" spc="-15" dirty="0">
                <a:solidFill>
                  <a:srgbClr val="FF0000"/>
                </a:solidFill>
                <a:latin typeface="Arial"/>
                <a:cs typeface="Arial"/>
              </a:rPr>
              <a:t>interface</a:t>
            </a:r>
            <a:r>
              <a:rPr sz="1635" i="1" spc="-15" dirty="0">
                <a:latin typeface="Arial"/>
                <a:cs typeface="Arial"/>
              </a:rPr>
              <a:t>,</a:t>
            </a:r>
            <a:r>
              <a:rPr sz="1635" i="1" spc="-30" dirty="0">
                <a:latin typeface="Arial"/>
                <a:cs typeface="Arial"/>
              </a:rPr>
              <a:t> </a:t>
            </a:r>
            <a:r>
              <a:rPr sz="1635" i="1" dirty="0">
                <a:latin typeface="Arial"/>
                <a:cs typeface="Arial"/>
              </a:rPr>
              <a:t>such</a:t>
            </a:r>
            <a:r>
              <a:rPr sz="1635" i="1" spc="-30" dirty="0">
                <a:latin typeface="Arial"/>
                <a:cs typeface="Arial"/>
              </a:rPr>
              <a:t> </a:t>
            </a:r>
            <a:r>
              <a:rPr sz="1635" i="1" dirty="0">
                <a:latin typeface="Arial"/>
                <a:cs typeface="Arial"/>
              </a:rPr>
              <a:t>as</a:t>
            </a:r>
            <a:r>
              <a:rPr sz="1635" i="1" spc="-30" dirty="0">
                <a:latin typeface="Arial"/>
                <a:cs typeface="Arial"/>
              </a:rPr>
              <a:t> </a:t>
            </a:r>
            <a:r>
              <a:rPr sz="1635" i="1" dirty="0">
                <a:latin typeface="Arial"/>
                <a:cs typeface="Arial"/>
              </a:rPr>
              <a:t>a</a:t>
            </a:r>
            <a:r>
              <a:rPr sz="1635" i="1" spc="-30" dirty="0">
                <a:latin typeface="Arial"/>
                <a:cs typeface="Arial"/>
              </a:rPr>
              <a:t> </a:t>
            </a:r>
            <a:r>
              <a:rPr sz="1635" i="1" spc="-37" dirty="0">
                <a:latin typeface="Arial"/>
                <a:cs typeface="Arial"/>
              </a:rPr>
              <a:t>web </a:t>
            </a:r>
            <a:r>
              <a:rPr sz="1635" i="1" dirty="0">
                <a:latin typeface="Arial"/>
                <a:cs typeface="Arial"/>
              </a:rPr>
              <a:t>browser</a:t>
            </a:r>
            <a:r>
              <a:rPr sz="1635" i="1" spc="-45" dirty="0">
                <a:latin typeface="Arial"/>
                <a:cs typeface="Arial"/>
              </a:rPr>
              <a:t> </a:t>
            </a:r>
            <a:r>
              <a:rPr sz="1635" i="1" dirty="0">
                <a:latin typeface="Arial"/>
                <a:cs typeface="Arial"/>
              </a:rPr>
              <a:t>(e.g.,</a:t>
            </a:r>
            <a:r>
              <a:rPr sz="1635" i="1" spc="-37" dirty="0">
                <a:latin typeface="Arial"/>
                <a:cs typeface="Arial"/>
              </a:rPr>
              <a:t> </a:t>
            </a:r>
            <a:r>
              <a:rPr sz="1635" i="1" spc="-30" dirty="0">
                <a:latin typeface="Arial"/>
                <a:cs typeface="Arial"/>
              </a:rPr>
              <a:t>web-</a:t>
            </a:r>
            <a:r>
              <a:rPr sz="1635" i="1" dirty="0">
                <a:latin typeface="Arial"/>
                <a:cs typeface="Arial"/>
              </a:rPr>
              <a:t>based</a:t>
            </a:r>
            <a:r>
              <a:rPr sz="1635" i="1" spc="-45" dirty="0">
                <a:latin typeface="Arial"/>
                <a:cs typeface="Arial"/>
              </a:rPr>
              <a:t> </a:t>
            </a:r>
            <a:r>
              <a:rPr sz="1635" i="1" dirty="0">
                <a:latin typeface="Arial"/>
                <a:cs typeface="Arial"/>
              </a:rPr>
              <a:t>email),</a:t>
            </a:r>
            <a:r>
              <a:rPr sz="1635" i="1" spc="-37" dirty="0">
                <a:latin typeface="Arial"/>
                <a:cs typeface="Arial"/>
              </a:rPr>
              <a:t> </a:t>
            </a:r>
            <a:r>
              <a:rPr sz="1635" i="1" dirty="0">
                <a:latin typeface="Arial"/>
                <a:cs typeface="Arial"/>
              </a:rPr>
              <a:t>or</a:t>
            </a:r>
            <a:r>
              <a:rPr sz="1635" i="1" spc="-45" dirty="0">
                <a:latin typeface="Arial"/>
                <a:cs typeface="Arial"/>
              </a:rPr>
              <a:t> </a:t>
            </a:r>
            <a:r>
              <a:rPr sz="1635" i="1" dirty="0">
                <a:latin typeface="Arial"/>
                <a:cs typeface="Arial"/>
              </a:rPr>
              <a:t>a</a:t>
            </a:r>
            <a:r>
              <a:rPr sz="1635" i="1" spc="-37" dirty="0">
                <a:latin typeface="Arial"/>
                <a:cs typeface="Arial"/>
              </a:rPr>
              <a:t> </a:t>
            </a:r>
            <a:r>
              <a:rPr sz="1635" i="1" spc="-15" dirty="0">
                <a:solidFill>
                  <a:srgbClr val="FF0000"/>
                </a:solidFill>
                <a:latin typeface="Arial"/>
                <a:cs typeface="Arial"/>
              </a:rPr>
              <a:t>program interface</a:t>
            </a:r>
            <a:r>
              <a:rPr sz="1635" i="1" spc="-52" dirty="0">
                <a:solidFill>
                  <a:srgbClr val="FF0000"/>
                </a:solidFill>
                <a:latin typeface="Arial"/>
                <a:cs typeface="Arial"/>
              </a:rPr>
              <a:t> </a:t>
            </a:r>
            <a:r>
              <a:rPr sz="1635" i="1" dirty="0">
                <a:latin typeface="Arial"/>
                <a:cs typeface="Arial"/>
              </a:rPr>
              <a:t>(API).</a:t>
            </a:r>
            <a:r>
              <a:rPr sz="1635" i="1" spc="-45" dirty="0">
                <a:latin typeface="Arial"/>
                <a:cs typeface="Arial"/>
              </a:rPr>
              <a:t> </a:t>
            </a:r>
            <a:endParaRPr lang="en-US" sz="1635" i="1" spc="-45" dirty="0">
              <a:latin typeface="Arial"/>
              <a:cs typeface="Arial"/>
            </a:endParaRPr>
          </a:p>
          <a:p>
            <a:pPr marL="734969" marR="26425" indent="-285750">
              <a:lnSpc>
                <a:spcPct val="102600"/>
              </a:lnSpc>
              <a:spcBef>
                <a:spcPts val="223"/>
              </a:spcBef>
              <a:buFont typeface="Arial" panose="020B0604020202020204" pitchFamily="34" charset="0"/>
              <a:buChar char="•"/>
            </a:pPr>
            <a:r>
              <a:rPr sz="1635" i="1" dirty="0">
                <a:latin typeface="Arial"/>
                <a:cs typeface="Arial"/>
              </a:rPr>
              <a:t>The</a:t>
            </a:r>
            <a:r>
              <a:rPr sz="1635" i="1" spc="-45" dirty="0">
                <a:latin typeface="Arial"/>
                <a:cs typeface="Arial"/>
              </a:rPr>
              <a:t> </a:t>
            </a:r>
            <a:r>
              <a:rPr sz="1635" i="1" dirty="0">
                <a:latin typeface="Arial"/>
                <a:cs typeface="Arial"/>
              </a:rPr>
              <a:t>consumer</a:t>
            </a:r>
            <a:r>
              <a:rPr sz="1635" i="1" spc="-45" dirty="0">
                <a:latin typeface="Arial"/>
                <a:cs typeface="Arial"/>
              </a:rPr>
              <a:t> </a:t>
            </a:r>
            <a:r>
              <a:rPr sz="1635" i="1" dirty="0">
                <a:solidFill>
                  <a:srgbClr val="0000FF"/>
                </a:solidFill>
                <a:latin typeface="Arial"/>
                <a:cs typeface="Arial"/>
              </a:rPr>
              <a:t>does</a:t>
            </a:r>
            <a:r>
              <a:rPr sz="1635" i="1" spc="-45" dirty="0">
                <a:solidFill>
                  <a:srgbClr val="0000FF"/>
                </a:solidFill>
                <a:latin typeface="Arial"/>
                <a:cs typeface="Arial"/>
              </a:rPr>
              <a:t> </a:t>
            </a:r>
            <a:r>
              <a:rPr sz="1635" i="1" spc="-37" dirty="0">
                <a:solidFill>
                  <a:srgbClr val="0000FF"/>
                </a:solidFill>
                <a:latin typeface="Arial"/>
                <a:cs typeface="Arial"/>
              </a:rPr>
              <a:t>not </a:t>
            </a:r>
            <a:r>
              <a:rPr sz="1635" i="1" dirty="0">
                <a:solidFill>
                  <a:srgbClr val="0000FF"/>
                </a:solidFill>
                <a:latin typeface="Arial"/>
                <a:cs typeface="Arial"/>
              </a:rPr>
              <a:t>manage</a:t>
            </a:r>
            <a:r>
              <a:rPr sz="1635" i="1" spc="-59" dirty="0">
                <a:solidFill>
                  <a:srgbClr val="0000FF"/>
                </a:solidFill>
                <a:latin typeface="Arial"/>
                <a:cs typeface="Arial"/>
              </a:rPr>
              <a:t> </a:t>
            </a:r>
            <a:r>
              <a:rPr sz="1635" i="1" dirty="0">
                <a:solidFill>
                  <a:srgbClr val="0000FF"/>
                </a:solidFill>
                <a:latin typeface="Arial"/>
                <a:cs typeface="Arial"/>
              </a:rPr>
              <a:t>or</a:t>
            </a:r>
            <a:r>
              <a:rPr sz="1635" i="1" spc="-52" dirty="0">
                <a:solidFill>
                  <a:srgbClr val="0000FF"/>
                </a:solidFill>
                <a:latin typeface="Arial"/>
                <a:cs typeface="Arial"/>
              </a:rPr>
              <a:t> </a:t>
            </a:r>
            <a:r>
              <a:rPr sz="1635" i="1" dirty="0">
                <a:solidFill>
                  <a:srgbClr val="0000FF"/>
                </a:solidFill>
                <a:latin typeface="Arial"/>
                <a:cs typeface="Arial"/>
              </a:rPr>
              <a:t>control</a:t>
            </a:r>
            <a:r>
              <a:rPr sz="1635" i="1" spc="-52" dirty="0">
                <a:solidFill>
                  <a:srgbClr val="0000FF"/>
                </a:solidFill>
                <a:latin typeface="Arial"/>
                <a:cs typeface="Arial"/>
              </a:rPr>
              <a:t> </a:t>
            </a:r>
            <a:r>
              <a:rPr sz="1635" i="1" dirty="0">
                <a:solidFill>
                  <a:srgbClr val="0000FF"/>
                </a:solidFill>
                <a:latin typeface="Arial"/>
                <a:cs typeface="Arial"/>
              </a:rPr>
              <a:t>the</a:t>
            </a:r>
            <a:r>
              <a:rPr sz="1635" i="1" spc="-59" dirty="0">
                <a:solidFill>
                  <a:srgbClr val="0000FF"/>
                </a:solidFill>
                <a:latin typeface="Arial"/>
                <a:cs typeface="Arial"/>
              </a:rPr>
              <a:t> </a:t>
            </a:r>
            <a:r>
              <a:rPr sz="1635" i="1" dirty="0">
                <a:solidFill>
                  <a:srgbClr val="0000FF"/>
                </a:solidFill>
                <a:latin typeface="Arial"/>
                <a:cs typeface="Arial"/>
              </a:rPr>
              <a:t>underlying</a:t>
            </a:r>
            <a:r>
              <a:rPr sz="1635" i="1" spc="-52" dirty="0">
                <a:solidFill>
                  <a:srgbClr val="0000FF"/>
                </a:solidFill>
                <a:latin typeface="Arial"/>
                <a:cs typeface="Arial"/>
              </a:rPr>
              <a:t> </a:t>
            </a:r>
            <a:r>
              <a:rPr sz="1635" i="1" spc="-15" dirty="0">
                <a:solidFill>
                  <a:srgbClr val="0000FF"/>
                </a:solidFill>
                <a:latin typeface="Arial"/>
                <a:cs typeface="Arial"/>
              </a:rPr>
              <a:t>cloud </a:t>
            </a:r>
            <a:r>
              <a:rPr sz="1635" i="1" dirty="0">
                <a:solidFill>
                  <a:srgbClr val="0000FF"/>
                </a:solidFill>
                <a:latin typeface="Arial"/>
                <a:cs typeface="Arial"/>
              </a:rPr>
              <a:t>infrastructure</a:t>
            </a:r>
            <a:r>
              <a:rPr sz="1635" i="1" spc="-59" dirty="0">
                <a:solidFill>
                  <a:srgbClr val="0000FF"/>
                </a:solidFill>
                <a:latin typeface="Arial"/>
                <a:cs typeface="Arial"/>
              </a:rPr>
              <a:t> </a:t>
            </a:r>
            <a:r>
              <a:rPr sz="1635" i="1" spc="-15" dirty="0">
                <a:solidFill>
                  <a:srgbClr val="0000FF"/>
                </a:solidFill>
                <a:latin typeface="Arial"/>
                <a:cs typeface="Arial"/>
              </a:rPr>
              <a:t>including</a:t>
            </a:r>
            <a:r>
              <a:rPr sz="1635" i="1" spc="-59" dirty="0">
                <a:solidFill>
                  <a:srgbClr val="0000FF"/>
                </a:solidFill>
                <a:latin typeface="Arial"/>
                <a:cs typeface="Arial"/>
              </a:rPr>
              <a:t> </a:t>
            </a:r>
            <a:r>
              <a:rPr sz="1635" i="1" dirty="0">
                <a:solidFill>
                  <a:srgbClr val="0000FF"/>
                </a:solidFill>
                <a:latin typeface="Arial"/>
                <a:cs typeface="Arial"/>
              </a:rPr>
              <a:t>network,</a:t>
            </a:r>
            <a:r>
              <a:rPr sz="1635" i="1" spc="-59" dirty="0">
                <a:solidFill>
                  <a:srgbClr val="0000FF"/>
                </a:solidFill>
                <a:latin typeface="Arial"/>
                <a:cs typeface="Arial"/>
              </a:rPr>
              <a:t> </a:t>
            </a:r>
            <a:r>
              <a:rPr sz="1635" i="1" spc="-15" dirty="0">
                <a:solidFill>
                  <a:srgbClr val="0000FF"/>
                </a:solidFill>
                <a:latin typeface="Arial"/>
                <a:cs typeface="Arial"/>
              </a:rPr>
              <a:t>servers, </a:t>
            </a:r>
            <a:r>
              <a:rPr sz="1635" i="1" dirty="0">
                <a:solidFill>
                  <a:srgbClr val="0000FF"/>
                </a:solidFill>
                <a:latin typeface="Arial"/>
                <a:cs typeface="Arial"/>
              </a:rPr>
              <a:t>operating</a:t>
            </a:r>
            <a:r>
              <a:rPr sz="1635" i="1" spc="-82" dirty="0">
                <a:solidFill>
                  <a:srgbClr val="0000FF"/>
                </a:solidFill>
                <a:latin typeface="Arial"/>
                <a:cs typeface="Arial"/>
              </a:rPr>
              <a:t> </a:t>
            </a:r>
            <a:r>
              <a:rPr sz="1635" i="1" dirty="0">
                <a:solidFill>
                  <a:srgbClr val="0000FF"/>
                </a:solidFill>
                <a:latin typeface="Arial"/>
                <a:cs typeface="Arial"/>
              </a:rPr>
              <a:t>systems,</a:t>
            </a:r>
            <a:r>
              <a:rPr sz="1635" i="1" spc="-82" dirty="0">
                <a:solidFill>
                  <a:srgbClr val="0000FF"/>
                </a:solidFill>
                <a:latin typeface="Arial"/>
                <a:cs typeface="Arial"/>
              </a:rPr>
              <a:t> </a:t>
            </a:r>
            <a:r>
              <a:rPr sz="1635" i="1" dirty="0">
                <a:solidFill>
                  <a:srgbClr val="0000FF"/>
                </a:solidFill>
                <a:latin typeface="Arial"/>
                <a:cs typeface="Arial"/>
              </a:rPr>
              <a:t>storage,</a:t>
            </a:r>
            <a:r>
              <a:rPr sz="1635" i="1" spc="-82" dirty="0">
                <a:solidFill>
                  <a:srgbClr val="0000FF"/>
                </a:solidFill>
                <a:latin typeface="Arial"/>
                <a:cs typeface="Arial"/>
              </a:rPr>
              <a:t> </a:t>
            </a:r>
            <a:r>
              <a:rPr sz="1635" i="1" dirty="0">
                <a:latin typeface="Arial"/>
                <a:cs typeface="Arial"/>
              </a:rPr>
              <a:t>or</a:t>
            </a:r>
            <a:r>
              <a:rPr sz="1635" i="1" spc="-82" dirty="0">
                <a:latin typeface="Arial"/>
                <a:cs typeface="Arial"/>
              </a:rPr>
              <a:t> </a:t>
            </a:r>
            <a:r>
              <a:rPr sz="1635" i="1" spc="-15" dirty="0">
                <a:latin typeface="Arial"/>
                <a:cs typeface="Arial"/>
              </a:rPr>
              <a:t>even</a:t>
            </a:r>
            <a:r>
              <a:rPr sz="1635" i="1" spc="-82" dirty="0">
                <a:latin typeface="Arial"/>
                <a:cs typeface="Arial"/>
              </a:rPr>
              <a:t> </a:t>
            </a:r>
            <a:r>
              <a:rPr sz="1635" i="1" spc="-15" dirty="0">
                <a:latin typeface="Arial"/>
                <a:cs typeface="Arial"/>
              </a:rPr>
              <a:t>individual application</a:t>
            </a:r>
            <a:r>
              <a:rPr sz="1635" i="1" spc="-30" dirty="0">
                <a:latin typeface="Arial"/>
                <a:cs typeface="Arial"/>
              </a:rPr>
              <a:t> </a:t>
            </a:r>
            <a:r>
              <a:rPr sz="1635" i="1" spc="-15" dirty="0">
                <a:latin typeface="Arial"/>
                <a:cs typeface="Arial"/>
              </a:rPr>
              <a:t>capabilities,</a:t>
            </a:r>
            <a:r>
              <a:rPr sz="1635" i="1" spc="-22" dirty="0">
                <a:latin typeface="Arial"/>
                <a:cs typeface="Arial"/>
              </a:rPr>
              <a:t> </a:t>
            </a:r>
            <a:r>
              <a:rPr sz="1635" i="1" dirty="0">
                <a:latin typeface="Arial"/>
                <a:cs typeface="Arial"/>
              </a:rPr>
              <a:t>with</a:t>
            </a:r>
            <a:r>
              <a:rPr sz="1635" i="1" spc="-22" dirty="0">
                <a:latin typeface="Arial"/>
                <a:cs typeface="Arial"/>
              </a:rPr>
              <a:t> </a:t>
            </a:r>
            <a:r>
              <a:rPr sz="1635" i="1" dirty="0">
                <a:latin typeface="Arial"/>
                <a:cs typeface="Arial"/>
              </a:rPr>
              <a:t>the</a:t>
            </a:r>
            <a:r>
              <a:rPr sz="1635" i="1" spc="-30" dirty="0">
                <a:latin typeface="Arial"/>
                <a:cs typeface="Arial"/>
              </a:rPr>
              <a:t> </a:t>
            </a:r>
            <a:r>
              <a:rPr sz="1635" i="1" spc="-15" dirty="0">
                <a:latin typeface="Arial"/>
                <a:cs typeface="Arial"/>
              </a:rPr>
              <a:t>possible exception</a:t>
            </a:r>
            <a:r>
              <a:rPr sz="1635" i="1" spc="-37" dirty="0">
                <a:latin typeface="Arial"/>
                <a:cs typeface="Arial"/>
              </a:rPr>
              <a:t> </a:t>
            </a:r>
            <a:r>
              <a:rPr sz="1635" i="1" dirty="0">
                <a:latin typeface="Arial"/>
                <a:cs typeface="Arial"/>
              </a:rPr>
              <a:t>of</a:t>
            </a:r>
            <a:r>
              <a:rPr sz="1635" i="1" spc="-37" dirty="0">
                <a:latin typeface="Arial"/>
                <a:cs typeface="Arial"/>
              </a:rPr>
              <a:t> </a:t>
            </a:r>
            <a:r>
              <a:rPr sz="1635" i="1" dirty="0">
                <a:latin typeface="Arial"/>
                <a:cs typeface="Arial"/>
              </a:rPr>
              <a:t>limited</a:t>
            </a:r>
            <a:r>
              <a:rPr sz="1635" i="1" spc="-37" dirty="0">
                <a:latin typeface="Arial"/>
                <a:cs typeface="Arial"/>
              </a:rPr>
              <a:t> </a:t>
            </a:r>
            <a:r>
              <a:rPr sz="1635" i="1" spc="-15" dirty="0">
                <a:latin typeface="Arial"/>
                <a:cs typeface="Arial"/>
              </a:rPr>
              <a:t>user-</a:t>
            </a:r>
            <a:r>
              <a:rPr sz="1635" i="1" dirty="0">
                <a:latin typeface="Arial"/>
                <a:cs typeface="Arial"/>
              </a:rPr>
              <a:t>specific</a:t>
            </a:r>
            <a:r>
              <a:rPr sz="1635" i="1" spc="-37" dirty="0">
                <a:latin typeface="Arial"/>
                <a:cs typeface="Arial"/>
              </a:rPr>
              <a:t> </a:t>
            </a:r>
            <a:r>
              <a:rPr sz="1635" i="1" spc="-15" dirty="0">
                <a:latin typeface="Arial"/>
                <a:cs typeface="Arial"/>
              </a:rPr>
              <a:t>application configuration</a:t>
            </a:r>
            <a:r>
              <a:rPr sz="1635" i="1" spc="67" dirty="0">
                <a:latin typeface="Arial"/>
                <a:cs typeface="Arial"/>
              </a:rPr>
              <a:t> </a:t>
            </a:r>
            <a:r>
              <a:rPr sz="1635" i="1" spc="-15" dirty="0">
                <a:latin typeface="Arial"/>
                <a:cs typeface="Arial"/>
              </a:rPr>
              <a:t>settings.”</a:t>
            </a:r>
            <a:endParaRPr sz="1635" dirty="0">
              <a:latin typeface="Arial"/>
              <a:cs typeface="Arial"/>
            </a:endParaRPr>
          </a:p>
        </p:txBody>
      </p:sp>
      <p:sp>
        <p:nvSpPr>
          <p:cNvPr id="29" name="object 29"/>
          <p:cNvSpPr/>
          <p:nvPr/>
        </p:nvSpPr>
        <p:spPr>
          <a:xfrm>
            <a:off x="1123425" y="4081922"/>
            <a:ext cx="2718033"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endParaRPr sz="2675"/>
          </a:p>
        </p:txBody>
      </p:sp>
      <p:sp>
        <p:nvSpPr>
          <p:cNvPr id="30" name="object 30"/>
          <p:cNvSpPr txBox="1"/>
          <p:nvPr/>
        </p:nvSpPr>
        <p:spPr>
          <a:xfrm>
            <a:off x="1066800" y="4095750"/>
            <a:ext cx="5176532" cy="632468"/>
          </a:xfrm>
          <a:prstGeom prst="rect">
            <a:avLst/>
          </a:prstGeom>
        </p:spPr>
        <p:txBody>
          <a:bodyPr vert="horz" wrap="square" lIns="0" tIns="15100" rIns="0" bIns="0" rtlCol="0">
            <a:spAutoFit/>
          </a:bodyPr>
          <a:lstStyle/>
          <a:p>
            <a:pPr marL="56624" marR="45299" indent="232159">
              <a:lnSpc>
                <a:spcPct val="101499"/>
              </a:lnSpc>
              <a:spcBef>
                <a:spcPts val="119"/>
              </a:spcBef>
            </a:pPr>
            <a:r>
              <a:rPr sz="1338" baseline="37037" dirty="0">
                <a:latin typeface="Arial MT"/>
                <a:cs typeface="Arial MT"/>
              </a:rPr>
              <a:t>5</a:t>
            </a:r>
            <a:r>
              <a:rPr sz="1338" dirty="0">
                <a:latin typeface="Arial MT"/>
                <a:cs typeface="Arial MT"/>
              </a:rPr>
              <a:t>Mell,</a:t>
            </a:r>
            <a:r>
              <a:rPr sz="1338" spc="-37" dirty="0">
                <a:latin typeface="Arial MT"/>
                <a:cs typeface="Arial MT"/>
              </a:rPr>
              <a:t> </a:t>
            </a:r>
            <a:r>
              <a:rPr sz="1338" spc="-30" dirty="0">
                <a:latin typeface="Arial MT"/>
                <a:cs typeface="Arial MT"/>
              </a:rPr>
              <a:t>Peter, </a:t>
            </a:r>
            <a:r>
              <a:rPr sz="1338" dirty="0">
                <a:latin typeface="Arial MT"/>
                <a:cs typeface="Arial MT"/>
              </a:rPr>
              <a:t>and</a:t>
            </a:r>
            <a:r>
              <a:rPr sz="1338" spc="-30" dirty="0">
                <a:latin typeface="Arial MT"/>
                <a:cs typeface="Arial MT"/>
              </a:rPr>
              <a:t> </a:t>
            </a:r>
            <a:r>
              <a:rPr sz="1338" dirty="0">
                <a:latin typeface="Arial MT"/>
                <a:cs typeface="Arial MT"/>
              </a:rPr>
              <a:t>Tim</a:t>
            </a:r>
            <a:r>
              <a:rPr sz="1338" spc="-30" dirty="0">
                <a:latin typeface="Arial MT"/>
                <a:cs typeface="Arial MT"/>
              </a:rPr>
              <a:t> </a:t>
            </a:r>
            <a:r>
              <a:rPr sz="1338" dirty="0">
                <a:latin typeface="Arial MT"/>
                <a:cs typeface="Arial MT"/>
              </a:rPr>
              <a:t>Grance.</a:t>
            </a:r>
            <a:r>
              <a:rPr sz="1338" spc="52" dirty="0">
                <a:latin typeface="Arial MT"/>
                <a:cs typeface="Arial MT"/>
              </a:rPr>
              <a:t> </a:t>
            </a:r>
            <a:r>
              <a:rPr sz="1338" dirty="0">
                <a:latin typeface="Arial MT"/>
                <a:cs typeface="Arial MT"/>
              </a:rPr>
              <a:t>”The</a:t>
            </a:r>
            <a:r>
              <a:rPr sz="1338" spc="-30" dirty="0">
                <a:latin typeface="Arial MT"/>
                <a:cs typeface="Arial MT"/>
              </a:rPr>
              <a:t> </a:t>
            </a:r>
            <a:r>
              <a:rPr sz="1338" dirty="0">
                <a:latin typeface="Arial MT"/>
                <a:cs typeface="Arial MT"/>
              </a:rPr>
              <a:t>NIST</a:t>
            </a:r>
            <a:r>
              <a:rPr sz="1338" spc="-30" dirty="0">
                <a:latin typeface="Arial MT"/>
                <a:cs typeface="Arial MT"/>
              </a:rPr>
              <a:t> </a:t>
            </a:r>
            <a:r>
              <a:rPr sz="1338" dirty="0">
                <a:latin typeface="Arial MT"/>
                <a:cs typeface="Arial MT"/>
              </a:rPr>
              <a:t>definition</a:t>
            </a:r>
            <a:r>
              <a:rPr sz="1338" spc="-30" dirty="0">
                <a:latin typeface="Arial MT"/>
                <a:cs typeface="Arial MT"/>
              </a:rPr>
              <a:t> </a:t>
            </a:r>
            <a:r>
              <a:rPr sz="1338" dirty="0">
                <a:latin typeface="Arial MT"/>
                <a:cs typeface="Arial MT"/>
              </a:rPr>
              <a:t>of</a:t>
            </a:r>
            <a:r>
              <a:rPr sz="1338" spc="-30" dirty="0">
                <a:latin typeface="Arial MT"/>
                <a:cs typeface="Arial MT"/>
              </a:rPr>
              <a:t> </a:t>
            </a:r>
            <a:r>
              <a:rPr sz="1338" spc="-15" dirty="0">
                <a:latin typeface="Arial MT"/>
                <a:cs typeface="Arial MT"/>
              </a:rPr>
              <a:t>cloud computing.”</a:t>
            </a:r>
            <a:r>
              <a:rPr sz="1338" spc="-45" dirty="0">
                <a:latin typeface="Arial MT"/>
                <a:cs typeface="Arial MT"/>
              </a:rPr>
              <a:t> </a:t>
            </a:r>
            <a:r>
              <a:rPr sz="1338" dirty="0">
                <a:latin typeface="Arial MT"/>
                <a:cs typeface="Arial MT"/>
              </a:rPr>
              <a:t>(2011):</a:t>
            </a:r>
            <a:r>
              <a:rPr sz="1338" spc="30" dirty="0">
                <a:latin typeface="Arial MT"/>
                <a:cs typeface="Arial MT"/>
              </a:rPr>
              <a:t> </a:t>
            </a:r>
            <a:r>
              <a:rPr sz="1338" spc="119" dirty="0">
                <a:latin typeface="Calibri"/>
                <a:cs typeface="Calibri"/>
                <a:hlinkClick r:id="rId2"/>
              </a:rPr>
              <a:t>http://nvlpubs.nist.gov/nistpubs/Legacy/</a:t>
            </a:r>
            <a:r>
              <a:rPr sz="1338" spc="119" dirty="0">
                <a:latin typeface="Calibri"/>
                <a:cs typeface="Calibri"/>
              </a:rPr>
              <a:t> </a:t>
            </a:r>
            <a:r>
              <a:rPr sz="1338" spc="141" dirty="0">
                <a:latin typeface="Calibri"/>
                <a:cs typeface="Calibri"/>
                <a:hlinkClick r:id="rId2"/>
              </a:rPr>
              <a:t>SP/nistspecialpublication800-</a:t>
            </a:r>
            <a:r>
              <a:rPr sz="1338" spc="82" dirty="0">
                <a:latin typeface="Calibri"/>
                <a:cs typeface="Calibri"/>
                <a:hlinkClick r:id="rId3" action="ppaction://hlinksldjump"/>
              </a:rPr>
              <a:t>145.pdf</a:t>
            </a:r>
            <a:endParaRPr sz="1338">
              <a:latin typeface="Calibri"/>
              <a:cs typeface="Calibri"/>
            </a:endParaRPr>
          </a:p>
        </p:txBody>
      </p:sp>
    </p:spTree>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2AC34-8A74-783E-3D5A-033661A1E719}"/>
            </a:ext>
          </a:extLst>
        </p:cNvPr>
        <p:cNvGrpSpPr/>
        <p:nvPr/>
      </p:nvGrpSpPr>
      <p:grpSpPr>
        <a:xfrm>
          <a:off x="0" y="0"/>
          <a:ext cx="0" cy="0"/>
          <a:chOff x="0" y="0"/>
          <a:chExt cx="0" cy="0"/>
        </a:xfrm>
      </p:grpSpPr>
      <p:sp>
        <p:nvSpPr>
          <p:cNvPr id="8" name="object 8">
            <a:extLst>
              <a:ext uri="{FF2B5EF4-FFF2-40B4-BE49-F238E27FC236}">
                <a16:creationId xmlns:a16="http://schemas.microsoft.com/office/drawing/2014/main" id="{D29DBEA4-4192-23F4-2A69-A487A985D9AF}"/>
              </a:ext>
            </a:extLst>
          </p:cNvPr>
          <p:cNvSpPr/>
          <p:nvPr/>
        </p:nvSpPr>
        <p:spPr>
          <a:xfrm>
            <a:off x="4317662" y="4646801"/>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a:extLst>
              <a:ext uri="{FF2B5EF4-FFF2-40B4-BE49-F238E27FC236}">
                <a16:creationId xmlns:a16="http://schemas.microsoft.com/office/drawing/2014/main" id="{940AC41B-0BB5-C33D-90F6-30FB625602C0}"/>
              </a:ext>
            </a:extLst>
          </p:cNvPr>
          <p:cNvSpPr/>
          <p:nvPr/>
        </p:nvSpPr>
        <p:spPr>
          <a:xfrm>
            <a:off x="4199332" y="4640913"/>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a:extLst>
              <a:ext uri="{FF2B5EF4-FFF2-40B4-BE49-F238E27FC236}">
                <a16:creationId xmlns:a16="http://schemas.microsoft.com/office/drawing/2014/main" id="{E8784324-185B-FD87-C722-1E1F67EA4CED}"/>
              </a:ext>
            </a:extLst>
          </p:cNvPr>
          <p:cNvSpPr/>
          <p:nvPr/>
        </p:nvSpPr>
        <p:spPr>
          <a:xfrm>
            <a:off x="4463589" y="4640913"/>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a:extLst>
              <a:ext uri="{FF2B5EF4-FFF2-40B4-BE49-F238E27FC236}">
                <a16:creationId xmlns:a16="http://schemas.microsoft.com/office/drawing/2014/main" id="{9CD04026-BDC6-6C73-698D-707ED8187BD7}"/>
              </a:ext>
            </a:extLst>
          </p:cNvPr>
          <p:cNvGrpSpPr/>
          <p:nvPr/>
        </p:nvGrpSpPr>
        <p:grpSpPr>
          <a:xfrm>
            <a:off x="4596335" y="4627714"/>
            <a:ext cx="302004" cy="83051"/>
            <a:chOff x="3275863" y="3358384"/>
            <a:chExt cx="203200" cy="55880"/>
          </a:xfrm>
        </p:grpSpPr>
        <p:sp>
          <p:nvSpPr>
            <p:cNvPr id="12" name="object 12">
              <a:extLst>
                <a:ext uri="{FF2B5EF4-FFF2-40B4-BE49-F238E27FC236}">
                  <a16:creationId xmlns:a16="http://schemas.microsoft.com/office/drawing/2014/main" id="{5654CF01-2D9B-D0CE-F41C-36B6A3B4955D}"/>
                </a:ext>
              </a:extLst>
            </p:cNvPr>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a:extLst>
                <a:ext uri="{FF2B5EF4-FFF2-40B4-BE49-F238E27FC236}">
                  <a16:creationId xmlns:a16="http://schemas.microsoft.com/office/drawing/2014/main" id="{B5AD4926-DAB0-5AE0-880E-6071D212BF71}"/>
                </a:ext>
              </a:extLst>
            </p:cNvPr>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a:extLst>
              <a:ext uri="{FF2B5EF4-FFF2-40B4-BE49-F238E27FC236}">
                <a16:creationId xmlns:a16="http://schemas.microsoft.com/office/drawing/2014/main" id="{3276A7D6-AF0B-1BDB-7163-D96CA593ADC0}"/>
              </a:ext>
            </a:extLst>
          </p:cNvPr>
          <p:cNvGrpSpPr/>
          <p:nvPr/>
        </p:nvGrpSpPr>
        <p:grpSpPr>
          <a:xfrm>
            <a:off x="4993337" y="4625834"/>
            <a:ext cx="302004" cy="86825"/>
            <a:chOff x="3542982" y="3357119"/>
            <a:chExt cx="203200" cy="58419"/>
          </a:xfrm>
        </p:grpSpPr>
        <p:sp>
          <p:nvSpPr>
            <p:cNvPr id="15" name="object 15">
              <a:extLst>
                <a:ext uri="{FF2B5EF4-FFF2-40B4-BE49-F238E27FC236}">
                  <a16:creationId xmlns:a16="http://schemas.microsoft.com/office/drawing/2014/main" id="{527CA50D-C96D-6F5F-FF0F-83D90762AABC}"/>
                </a:ext>
              </a:extLst>
            </p:cNvPr>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a:extLst>
                <a:ext uri="{FF2B5EF4-FFF2-40B4-BE49-F238E27FC236}">
                  <a16:creationId xmlns:a16="http://schemas.microsoft.com/office/drawing/2014/main" id="{9DCEE9BF-87CB-BDA3-AAD1-FAA0CA71C3C4}"/>
                </a:ext>
              </a:extLst>
            </p:cNvPr>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a:extLst>
                <a:ext uri="{FF2B5EF4-FFF2-40B4-BE49-F238E27FC236}">
                  <a16:creationId xmlns:a16="http://schemas.microsoft.com/office/drawing/2014/main" id="{12CA39AB-5761-CC48-53A4-F616ADF12019}"/>
                </a:ext>
              </a:extLst>
            </p:cNvPr>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a:extLst>
              <a:ext uri="{FF2B5EF4-FFF2-40B4-BE49-F238E27FC236}">
                <a16:creationId xmlns:a16="http://schemas.microsoft.com/office/drawing/2014/main" id="{9A409D7C-6BAB-BAC7-BA6E-C4AC26DF0C8C}"/>
              </a:ext>
            </a:extLst>
          </p:cNvPr>
          <p:cNvGrpSpPr/>
          <p:nvPr/>
        </p:nvGrpSpPr>
        <p:grpSpPr>
          <a:xfrm>
            <a:off x="5390340" y="4625834"/>
            <a:ext cx="302004" cy="86825"/>
            <a:chOff x="3810101" y="3357119"/>
            <a:chExt cx="203200" cy="58419"/>
          </a:xfrm>
        </p:grpSpPr>
        <p:sp>
          <p:nvSpPr>
            <p:cNvPr id="19" name="object 19">
              <a:extLst>
                <a:ext uri="{FF2B5EF4-FFF2-40B4-BE49-F238E27FC236}">
                  <a16:creationId xmlns:a16="http://schemas.microsoft.com/office/drawing/2014/main" id="{4E7A90E5-E39B-C53B-07D9-84C29B8828C1}"/>
                </a:ext>
              </a:extLst>
            </p:cNvPr>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a:extLst>
                <a:ext uri="{FF2B5EF4-FFF2-40B4-BE49-F238E27FC236}">
                  <a16:creationId xmlns:a16="http://schemas.microsoft.com/office/drawing/2014/main" id="{15ED975A-9B63-CB3E-B1D7-F5B183173924}"/>
                </a:ext>
              </a:extLst>
            </p:cNvPr>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a:extLst>
                <a:ext uri="{FF2B5EF4-FFF2-40B4-BE49-F238E27FC236}">
                  <a16:creationId xmlns:a16="http://schemas.microsoft.com/office/drawing/2014/main" id="{551BF73B-5284-6F8E-4403-24083ED307D9}"/>
                </a:ext>
              </a:extLst>
            </p:cNvPr>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a:extLst>
              <a:ext uri="{FF2B5EF4-FFF2-40B4-BE49-F238E27FC236}">
                <a16:creationId xmlns:a16="http://schemas.microsoft.com/office/drawing/2014/main" id="{975E21E4-0857-3980-6E3F-8B006A5B130E}"/>
              </a:ext>
            </a:extLst>
          </p:cNvPr>
          <p:cNvSpPr/>
          <p:nvPr/>
        </p:nvSpPr>
        <p:spPr>
          <a:xfrm>
            <a:off x="5900614" y="4631474"/>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a:extLst>
              <a:ext uri="{FF2B5EF4-FFF2-40B4-BE49-F238E27FC236}">
                <a16:creationId xmlns:a16="http://schemas.microsoft.com/office/drawing/2014/main" id="{2882897C-D612-B69F-F4A9-F58368EF4D07}"/>
              </a:ext>
            </a:extLst>
          </p:cNvPr>
          <p:cNvGrpSpPr/>
          <p:nvPr/>
        </p:nvGrpSpPr>
        <p:grpSpPr>
          <a:xfrm>
            <a:off x="6157954" y="4627713"/>
            <a:ext cx="354854" cy="84939"/>
            <a:chOff x="4326582" y="3358384"/>
            <a:chExt cx="238760" cy="57150"/>
          </a:xfrm>
        </p:grpSpPr>
        <p:sp>
          <p:nvSpPr>
            <p:cNvPr id="24" name="object 24">
              <a:extLst>
                <a:ext uri="{FF2B5EF4-FFF2-40B4-BE49-F238E27FC236}">
                  <a16:creationId xmlns:a16="http://schemas.microsoft.com/office/drawing/2014/main" id="{35CB83B0-AAAA-E95C-74EF-5DC5465D283C}"/>
                </a:ext>
              </a:extLst>
            </p:cNvPr>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a:extLst>
                <a:ext uri="{FF2B5EF4-FFF2-40B4-BE49-F238E27FC236}">
                  <a16:creationId xmlns:a16="http://schemas.microsoft.com/office/drawing/2014/main" id="{C114DB5A-7B5C-9D8A-68F3-427EAD8CA677}"/>
                </a:ext>
              </a:extLst>
            </p:cNvPr>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a:extLst>
                <a:ext uri="{FF2B5EF4-FFF2-40B4-BE49-F238E27FC236}">
                  <a16:creationId xmlns:a16="http://schemas.microsoft.com/office/drawing/2014/main" id="{AC70057B-0210-6135-1CBB-3580BE70072F}"/>
                </a:ext>
              </a:extLst>
            </p:cNvPr>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a:extLst>
              <a:ext uri="{FF2B5EF4-FFF2-40B4-BE49-F238E27FC236}">
                <a16:creationId xmlns:a16="http://schemas.microsoft.com/office/drawing/2014/main" id="{04FE7DFE-80A4-6BAE-BB81-E2696D3CD5EE}"/>
              </a:ext>
            </a:extLst>
          </p:cNvPr>
          <p:cNvSpPr txBox="1">
            <a:spLocks noGrp="1"/>
          </p:cNvSpPr>
          <p:nvPr>
            <p:ph type="title"/>
          </p:nvPr>
        </p:nvSpPr>
        <p:spPr>
          <a:xfrm>
            <a:off x="381000" y="273782"/>
            <a:ext cx="6562730" cy="456618"/>
          </a:xfrm>
          <a:prstGeom prst="rect">
            <a:avLst/>
          </a:prstGeom>
        </p:spPr>
        <p:txBody>
          <a:bodyPr vert="horz" wrap="square" lIns="0" tIns="25482" rIns="0" bIns="0" rtlCol="0">
            <a:spAutoFit/>
          </a:bodyPr>
          <a:lstStyle/>
          <a:p>
            <a:pPr marL="18875">
              <a:spcBef>
                <a:spcPts val="201"/>
              </a:spcBef>
            </a:pPr>
            <a:r>
              <a:rPr dirty="0"/>
              <a:t>Main</a:t>
            </a:r>
            <a:r>
              <a:rPr spc="111" dirty="0"/>
              <a:t> </a:t>
            </a:r>
            <a:r>
              <a:rPr dirty="0"/>
              <a:t>Service</a:t>
            </a:r>
            <a:r>
              <a:rPr spc="119" dirty="0"/>
              <a:t> </a:t>
            </a:r>
            <a:r>
              <a:rPr dirty="0"/>
              <a:t>Models:</a:t>
            </a:r>
            <a:r>
              <a:rPr spc="282" dirty="0"/>
              <a:t> </a:t>
            </a:r>
            <a:r>
              <a:rPr spc="-30" dirty="0"/>
              <a:t>SaaS</a:t>
            </a:r>
            <a:r>
              <a:rPr lang="en-US" spc="-30" dirty="0"/>
              <a:t> - popular</a:t>
            </a:r>
            <a:endParaRPr spc="-30" dirty="0"/>
          </a:p>
        </p:txBody>
      </p:sp>
      <p:sp>
        <p:nvSpPr>
          <p:cNvPr id="28" name="object 28">
            <a:extLst>
              <a:ext uri="{FF2B5EF4-FFF2-40B4-BE49-F238E27FC236}">
                <a16:creationId xmlns:a16="http://schemas.microsoft.com/office/drawing/2014/main" id="{BC3D1DCB-B951-BBC5-DD38-9F5BC76A0697}"/>
              </a:ext>
            </a:extLst>
          </p:cNvPr>
          <p:cNvSpPr txBox="1"/>
          <p:nvPr/>
        </p:nvSpPr>
        <p:spPr>
          <a:xfrm>
            <a:off x="185038" y="819150"/>
            <a:ext cx="7848600" cy="4285221"/>
          </a:xfrm>
          <a:prstGeom prst="rect">
            <a:avLst/>
          </a:prstGeom>
        </p:spPr>
        <p:txBody>
          <a:bodyPr vert="horz" wrap="square" lIns="0" tIns="53794" rIns="0" bIns="0" rtlCol="0">
            <a:spAutoFit/>
          </a:bodyPr>
          <a:lstStyle/>
          <a:p>
            <a:pPr marL="323499" indent="-285750">
              <a:spcBef>
                <a:spcPts val="424"/>
              </a:spcBef>
              <a:buFont typeface="Arial" panose="020B0604020202020204" pitchFamily="34" charset="0"/>
              <a:buChar char="•"/>
            </a:pPr>
            <a:r>
              <a:rPr lang="en-US" sz="1635" dirty="0">
                <a:latin typeface="Arial"/>
                <a:cs typeface="Arial"/>
              </a:rPr>
              <a:t>Low initial cost: If you want to develop your custom software, it is definitely going to cost you a fortune and will burn your pockets deep if you were to add some complex functionalities. </a:t>
            </a:r>
          </a:p>
          <a:p>
            <a:pPr marL="323499" indent="-285750">
              <a:spcBef>
                <a:spcPts val="424"/>
              </a:spcBef>
              <a:buFont typeface="Arial" panose="020B0604020202020204" pitchFamily="34" charset="0"/>
              <a:buChar char="•"/>
            </a:pPr>
            <a:r>
              <a:rPr lang="en-US" sz="1635" dirty="0">
                <a:latin typeface="Arial"/>
                <a:cs typeface="Arial"/>
              </a:rPr>
              <a:t>Reduced Time:- SaaS applications can save a tremendous amount of your time because all the updates and improvisations are offloaded to the provider. So, you can focus on your core business without being worried about the recent technological advancements. </a:t>
            </a:r>
          </a:p>
          <a:p>
            <a:pPr marL="323499" indent="-285750">
              <a:spcBef>
                <a:spcPts val="424"/>
              </a:spcBef>
              <a:buFont typeface="Arial" panose="020B0604020202020204" pitchFamily="34" charset="0"/>
              <a:buChar char="•"/>
            </a:pPr>
            <a:r>
              <a:rPr lang="en-US" sz="1635" dirty="0">
                <a:latin typeface="Arial"/>
                <a:cs typeface="Arial"/>
              </a:rPr>
              <a:t>Scalability:- This is another imperative feature of the SaaS model for small businesses that face frequent transitions in their process. As all SaaS applications are subscription-based, you have the flexibility to change your plan according to your needs. </a:t>
            </a:r>
          </a:p>
          <a:p>
            <a:pPr marL="323499" indent="-285750">
              <a:spcBef>
                <a:spcPts val="424"/>
              </a:spcBef>
              <a:buFont typeface="Arial" panose="020B0604020202020204" pitchFamily="34" charset="0"/>
              <a:buChar char="•"/>
            </a:pPr>
            <a:r>
              <a:rPr lang="en-US" sz="1635" dirty="0">
                <a:latin typeface="Arial"/>
                <a:cs typeface="Arial"/>
              </a:rPr>
              <a:t>Try and use:- Most of the premium brands and providers always offer a free trial to use their SaaS app first. Hence, pay only if it solves your problem and satisfies your needs, else just move away and find the alternative without wasting a single penny, as simple as that.</a:t>
            </a:r>
          </a:p>
          <a:p>
            <a:pPr marL="323499" indent="-285750">
              <a:spcBef>
                <a:spcPts val="424"/>
              </a:spcBef>
              <a:buFont typeface="Arial" panose="020B0604020202020204" pitchFamily="34" charset="0"/>
              <a:buChar char="•"/>
            </a:pPr>
            <a:endParaRPr lang="en-US" sz="1635" dirty="0">
              <a:latin typeface="Arial"/>
              <a:cs typeface="Arial"/>
            </a:endParaRPr>
          </a:p>
        </p:txBody>
      </p:sp>
      <p:sp>
        <p:nvSpPr>
          <p:cNvPr id="29" name="object 29">
            <a:extLst>
              <a:ext uri="{FF2B5EF4-FFF2-40B4-BE49-F238E27FC236}">
                <a16:creationId xmlns:a16="http://schemas.microsoft.com/office/drawing/2014/main" id="{D6736C01-6E00-60A4-85F6-6F34589EF63A}"/>
              </a:ext>
            </a:extLst>
          </p:cNvPr>
          <p:cNvSpPr/>
          <p:nvPr/>
        </p:nvSpPr>
        <p:spPr>
          <a:xfrm>
            <a:off x="1123425" y="4081922"/>
            <a:ext cx="2718033"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endParaRPr sz="2675"/>
          </a:p>
        </p:txBody>
      </p:sp>
    </p:spTree>
    <p:extLst>
      <p:ext uri="{BB962C8B-B14F-4D97-AF65-F5344CB8AC3E}">
        <p14:creationId xmlns:p14="http://schemas.microsoft.com/office/powerpoint/2010/main" val="1544511862"/>
      </p:ext>
    </p:extLst>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7" name="object 7"/>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8" name="object 8"/>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9" name="object 9"/>
          <p:cNvGrpSpPr/>
          <p:nvPr/>
        </p:nvGrpSpPr>
        <p:grpSpPr>
          <a:xfrm>
            <a:off x="6014860" y="4991360"/>
            <a:ext cx="302004" cy="83051"/>
            <a:chOff x="3275863" y="3358384"/>
            <a:chExt cx="203200" cy="55880"/>
          </a:xfrm>
        </p:grpSpPr>
        <p:sp>
          <p:nvSpPr>
            <p:cNvPr id="10" name="object 10"/>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1" name="object 11"/>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2" name="object 12"/>
          <p:cNvGrpSpPr/>
          <p:nvPr/>
        </p:nvGrpSpPr>
        <p:grpSpPr>
          <a:xfrm>
            <a:off x="6411862" y="4989480"/>
            <a:ext cx="302004" cy="86825"/>
            <a:chOff x="3542982" y="3357119"/>
            <a:chExt cx="203200" cy="58419"/>
          </a:xfrm>
        </p:grpSpPr>
        <p:sp>
          <p:nvSpPr>
            <p:cNvPr id="13" name="object 13"/>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4" name="object 14"/>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5" name="object 15"/>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6" name="object 16"/>
          <p:cNvGrpSpPr/>
          <p:nvPr/>
        </p:nvGrpSpPr>
        <p:grpSpPr>
          <a:xfrm>
            <a:off x="6808865" y="4989480"/>
            <a:ext cx="302004" cy="86825"/>
            <a:chOff x="3810101" y="3357119"/>
            <a:chExt cx="203200" cy="58419"/>
          </a:xfrm>
        </p:grpSpPr>
        <p:sp>
          <p:nvSpPr>
            <p:cNvPr id="17" name="object 17"/>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18" name="object 18"/>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9" name="object 19"/>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0" name="object 20"/>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1" name="object 21"/>
          <p:cNvGrpSpPr/>
          <p:nvPr/>
        </p:nvGrpSpPr>
        <p:grpSpPr>
          <a:xfrm>
            <a:off x="7576479" y="4991359"/>
            <a:ext cx="354854" cy="84939"/>
            <a:chOff x="4326582" y="3358384"/>
            <a:chExt cx="238760" cy="57150"/>
          </a:xfrm>
        </p:grpSpPr>
        <p:sp>
          <p:nvSpPr>
            <p:cNvPr id="22" name="object 22"/>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3" name="object 23"/>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4" name="object 24"/>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5" name="object 25"/>
          <p:cNvSpPr txBox="1">
            <a:spLocks noGrp="1"/>
          </p:cNvSpPr>
          <p:nvPr>
            <p:ph type="title"/>
          </p:nvPr>
        </p:nvSpPr>
        <p:spPr>
          <a:xfrm>
            <a:off x="838200" y="273782"/>
            <a:ext cx="6105530" cy="456618"/>
          </a:xfrm>
          <a:prstGeom prst="rect">
            <a:avLst/>
          </a:prstGeom>
        </p:spPr>
        <p:txBody>
          <a:bodyPr vert="horz" wrap="square" lIns="0" tIns="25482" rIns="0" bIns="0" rtlCol="0">
            <a:spAutoFit/>
          </a:bodyPr>
          <a:lstStyle/>
          <a:p>
            <a:pPr marL="18875">
              <a:spcBef>
                <a:spcPts val="201"/>
              </a:spcBef>
            </a:pPr>
            <a:r>
              <a:rPr dirty="0"/>
              <a:t>Main</a:t>
            </a:r>
            <a:r>
              <a:rPr spc="111" dirty="0"/>
              <a:t> </a:t>
            </a:r>
            <a:r>
              <a:rPr dirty="0"/>
              <a:t>Service</a:t>
            </a:r>
            <a:r>
              <a:rPr spc="119" dirty="0"/>
              <a:t> </a:t>
            </a:r>
            <a:r>
              <a:rPr dirty="0"/>
              <a:t>Models:</a:t>
            </a:r>
            <a:r>
              <a:rPr spc="282" dirty="0"/>
              <a:t> </a:t>
            </a:r>
            <a:r>
              <a:rPr spc="-30" dirty="0"/>
              <a:t>SaaS</a:t>
            </a:r>
          </a:p>
        </p:txBody>
      </p:sp>
      <p:sp>
        <p:nvSpPr>
          <p:cNvPr id="26" name="object 26"/>
          <p:cNvSpPr/>
          <p:nvPr/>
        </p:nvSpPr>
        <p:spPr>
          <a:xfrm>
            <a:off x="2743122" y="988061"/>
            <a:ext cx="108533" cy="108533"/>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000000"/>
          </a:solidFill>
        </p:spPr>
        <p:txBody>
          <a:bodyPr wrap="square" lIns="0" tIns="0" rIns="0" bIns="0" rtlCol="0"/>
          <a:lstStyle/>
          <a:p>
            <a:endParaRPr sz="2675"/>
          </a:p>
        </p:txBody>
      </p:sp>
      <p:sp>
        <p:nvSpPr>
          <p:cNvPr id="27" name="object 27"/>
          <p:cNvSpPr txBox="1"/>
          <p:nvPr/>
        </p:nvSpPr>
        <p:spPr>
          <a:xfrm>
            <a:off x="812021" y="864611"/>
            <a:ext cx="6192525" cy="793057"/>
          </a:xfrm>
          <a:prstGeom prst="rect">
            <a:avLst/>
          </a:prstGeom>
        </p:spPr>
        <p:txBody>
          <a:bodyPr vert="horz" wrap="square" lIns="0" tIns="25482" rIns="0" bIns="0" rtlCol="0">
            <a:spAutoFit/>
          </a:bodyPr>
          <a:lstStyle/>
          <a:p>
            <a:pPr marL="430344" marR="7550" indent="-412413">
              <a:lnSpc>
                <a:spcPct val="103899"/>
              </a:lnSpc>
              <a:spcBef>
                <a:spcPts val="201"/>
              </a:spcBef>
            </a:pPr>
            <a:r>
              <a:rPr sz="1635" dirty="0">
                <a:latin typeface="Arial MT"/>
                <a:cs typeface="Arial MT"/>
              </a:rPr>
              <a:t>Some</a:t>
            </a:r>
            <a:r>
              <a:rPr sz="1635" spc="-52" dirty="0">
                <a:latin typeface="Arial MT"/>
                <a:cs typeface="Arial MT"/>
              </a:rPr>
              <a:t> </a:t>
            </a:r>
            <a:r>
              <a:rPr sz="1635" dirty="0">
                <a:latin typeface="Arial MT"/>
                <a:cs typeface="Arial MT"/>
              </a:rPr>
              <a:t>very</a:t>
            </a:r>
            <a:r>
              <a:rPr sz="1635" spc="-52" dirty="0">
                <a:latin typeface="Arial MT"/>
                <a:cs typeface="Arial MT"/>
              </a:rPr>
              <a:t> </a:t>
            </a:r>
            <a:r>
              <a:rPr sz="1635" dirty="0">
                <a:latin typeface="Arial MT"/>
                <a:cs typeface="Arial MT"/>
              </a:rPr>
              <a:t>common</a:t>
            </a:r>
            <a:r>
              <a:rPr sz="1635" spc="-52" dirty="0">
                <a:latin typeface="Arial MT"/>
                <a:cs typeface="Arial MT"/>
              </a:rPr>
              <a:t> </a:t>
            </a:r>
            <a:r>
              <a:rPr sz="1635" dirty="0">
                <a:latin typeface="Arial MT"/>
                <a:cs typeface="Arial MT"/>
              </a:rPr>
              <a:t>SaaS</a:t>
            </a:r>
            <a:r>
              <a:rPr sz="1635" spc="-45" dirty="0">
                <a:latin typeface="Arial MT"/>
                <a:cs typeface="Arial MT"/>
              </a:rPr>
              <a:t> </a:t>
            </a:r>
            <a:r>
              <a:rPr sz="1635" spc="-15" dirty="0">
                <a:latin typeface="Arial MT"/>
                <a:cs typeface="Arial MT"/>
              </a:rPr>
              <a:t>applications</a:t>
            </a:r>
            <a:r>
              <a:rPr sz="1635" spc="-52" dirty="0">
                <a:latin typeface="Arial MT"/>
                <a:cs typeface="Arial MT"/>
              </a:rPr>
              <a:t> </a:t>
            </a:r>
            <a:r>
              <a:rPr sz="1635" spc="-30" dirty="0">
                <a:latin typeface="Arial MT"/>
                <a:cs typeface="Arial MT"/>
              </a:rPr>
              <a:t>are: </a:t>
            </a:r>
            <a:r>
              <a:rPr sz="1635" dirty="0">
                <a:latin typeface="Arial MT"/>
                <a:cs typeface="Arial MT"/>
              </a:rPr>
              <a:t>Customer</a:t>
            </a:r>
            <a:r>
              <a:rPr sz="1635" spc="-67" dirty="0">
                <a:latin typeface="Arial MT"/>
                <a:cs typeface="Arial MT"/>
              </a:rPr>
              <a:t> </a:t>
            </a:r>
            <a:r>
              <a:rPr sz="1635" spc="-15" dirty="0">
                <a:latin typeface="Arial MT"/>
                <a:cs typeface="Arial MT"/>
              </a:rPr>
              <a:t>Relationship</a:t>
            </a:r>
            <a:r>
              <a:rPr sz="1635" spc="-67" dirty="0">
                <a:latin typeface="Arial MT"/>
                <a:cs typeface="Arial MT"/>
              </a:rPr>
              <a:t> </a:t>
            </a:r>
            <a:r>
              <a:rPr sz="1635" dirty="0">
                <a:latin typeface="Arial MT"/>
                <a:cs typeface="Arial MT"/>
              </a:rPr>
              <a:t>Management</a:t>
            </a:r>
            <a:r>
              <a:rPr sz="1635" spc="-59" dirty="0">
                <a:latin typeface="Arial MT"/>
                <a:cs typeface="Arial MT"/>
              </a:rPr>
              <a:t> </a:t>
            </a:r>
            <a:r>
              <a:rPr sz="1635" spc="-15" dirty="0">
                <a:latin typeface="Arial MT"/>
                <a:cs typeface="Arial MT"/>
              </a:rPr>
              <a:t>(CRM), </a:t>
            </a:r>
            <a:r>
              <a:rPr sz="1635" dirty="0">
                <a:latin typeface="Arial MT"/>
                <a:cs typeface="Arial MT"/>
              </a:rPr>
              <a:t>Enterprise</a:t>
            </a:r>
            <a:r>
              <a:rPr sz="1635" spc="-52" dirty="0">
                <a:latin typeface="Arial MT"/>
                <a:cs typeface="Arial MT"/>
              </a:rPr>
              <a:t> </a:t>
            </a:r>
            <a:r>
              <a:rPr sz="1635" dirty="0">
                <a:latin typeface="Arial MT"/>
                <a:cs typeface="Arial MT"/>
              </a:rPr>
              <a:t>Resource</a:t>
            </a:r>
            <a:r>
              <a:rPr sz="1635" spc="-45" dirty="0">
                <a:latin typeface="Arial MT"/>
                <a:cs typeface="Arial MT"/>
              </a:rPr>
              <a:t> </a:t>
            </a:r>
            <a:r>
              <a:rPr sz="1635" spc="-15" dirty="0">
                <a:latin typeface="Arial MT"/>
                <a:cs typeface="Arial MT"/>
              </a:rPr>
              <a:t>Planning</a:t>
            </a:r>
            <a:r>
              <a:rPr sz="1635" spc="-45" dirty="0">
                <a:latin typeface="Arial MT"/>
                <a:cs typeface="Arial MT"/>
              </a:rPr>
              <a:t> </a:t>
            </a:r>
            <a:r>
              <a:rPr sz="1635" dirty="0">
                <a:latin typeface="Arial MT"/>
                <a:cs typeface="Arial MT"/>
              </a:rPr>
              <a:t>(ERP),</a:t>
            </a:r>
            <a:r>
              <a:rPr sz="1635" spc="-52" dirty="0">
                <a:latin typeface="Arial MT"/>
                <a:cs typeface="Arial MT"/>
              </a:rPr>
              <a:t> </a:t>
            </a:r>
            <a:r>
              <a:rPr sz="1635" spc="-15" dirty="0">
                <a:latin typeface="Arial MT"/>
                <a:cs typeface="Arial MT"/>
              </a:rPr>
              <a:t>payroll, </a:t>
            </a:r>
            <a:r>
              <a:rPr sz="1635" dirty="0">
                <a:latin typeface="Arial MT"/>
                <a:cs typeface="Arial MT"/>
              </a:rPr>
              <a:t>accounting,</a:t>
            </a:r>
            <a:r>
              <a:rPr sz="1635" spc="-15" dirty="0">
                <a:latin typeface="Arial MT"/>
                <a:cs typeface="Arial MT"/>
              </a:rPr>
              <a:t> video-conferencing, emails,</a:t>
            </a:r>
            <a:r>
              <a:rPr sz="1635" spc="-7" dirty="0">
                <a:latin typeface="Arial MT"/>
                <a:cs typeface="Arial MT"/>
              </a:rPr>
              <a:t> </a:t>
            </a:r>
            <a:r>
              <a:rPr sz="1635" spc="-30" dirty="0">
                <a:latin typeface="Arial MT"/>
                <a:cs typeface="Arial MT"/>
              </a:rPr>
              <a:t>etc.</a:t>
            </a:r>
            <a:endParaRPr sz="1635" dirty="0">
              <a:latin typeface="Arial MT"/>
              <a:cs typeface="Arial MT"/>
            </a:endParaRPr>
          </a:p>
        </p:txBody>
      </p:sp>
      <p:pic>
        <p:nvPicPr>
          <p:cNvPr id="28" name="object 28"/>
          <p:cNvPicPr/>
          <p:nvPr/>
        </p:nvPicPr>
        <p:blipFill>
          <a:blip r:embed="rId2" cstate="print"/>
          <a:stretch>
            <a:fillRect/>
          </a:stretch>
        </p:blipFill>
        <p:spPr>
          <a:xfrm>
            <a:off x="1752600" y="2141358"/>
            <a:ext cx="1711142" cy="684456"/>
          </a:xfrm>
          <a:prstGeom prst="rect">
            <a:avLst/>
          </a:prstGeom>
        </p:spPr>
      </p:pic>
      <p:pic>
        <p:nvPicPr>
          <p:cNvPr id="29" name="object 29"/>
          <p:cNvPicPr/>
          <p:nvPr/>
        </p:nvPicPr>
        <p:blipFill>
          <a:blip r:embed="rId3" cstate="print"/>
          <a:stretch>
            <a:fillRect/>
          </a:stretch>
        </p:blipFill>
        <p:spPr>
          <a:xfrm>
            <a:off x="3944704" y="2265927"/>
            <a:ext cx="1710903" cy="393761"/>
          </a:xfrm>
          <a:prstGeom prst="rect">
            <a:avLst/>
          </a:prstGeom>
        </p:spPr>
      </p:pic>
      <p:pic>
        <p:nvPicPr>
          <p:cNvPr id="30" name="object 30"/>
          <p:cNvPicPr/>
          <p:nvPr/>
        </p:nvPicPr>
        <p:blipFill>
          <a:blip r:embed="rId4" cstate="print"/>
          <a:stretch>
            <a:fillRect/>
          </a:stretch>
        </p:blipFill>
        <p:spPr>
          <a:xfrm>
            <a:off x="6185776" y="1925702"/>
            <a:ext cx="1711138" cy="1074213"/>
          </a:xfrm>
          <a:prstGeom prst="rect">
            <a:avLst/>
          </a:prstGeom>
        </p:spPr>
      </p:pic>
      <p:pic>
        <p:nvPicPr>
          <p:cNvPr id="31" name="object 31"/>
          <p:cNvPicPr/>
          <p:nvPr/>
        </p:nvPicPr>
        <p:blipFill>
          <a:blip r:embed="rId5" cstate="print"/>
          <a:stretch>
            <a:fillRect/>
          </a:stretch>
        </p:blipFill>
        <p:spPr>
          <a:xfrm>
            <a:off x="1676400" y="3401272"/>
            <a:ext cx="1296275" cy="1080229"/>
          </a:xfrm>
          <a:prstGeom prst="rect">
            <a:avLst/>
          </a:prstGeom>
        </p:spPr>
      </p:pic>
      <p:pic>
        <p:nvPicPr>
          <p:cNvPr id="32" name="object 32"/>
          <p:cNvPicPr/>
          <p:nvPr/>
        </p:nvPicPr>
        <p:blipFill>
          <a:blip r:embed="rId6" cstate="print"/>
          <a:stretch>
            <a:fillRect/>
          </a:stretch>
        </p:blipFill>
        <p:spPr>
          <a:xfrm>
            <a:off x="3768575" y="3494489"/>
            <a:ext cx="902068" cy="893793"/>
          </a:xfrm>
          <a:prstGeom prst="rect">
            <a:avLst/>
          </a:prstGeom>
        </p:spPr>
      </p:pic>
      <p:pic>
        <p:nvPicPr>
          <p:cNvPr id="33" name="object 33"/>
          <p:cNvPicPr/>
          <p:nvPr/>
        </p:nvPicPr>
        <p:blipFill>
          <a:blip r:embed="rId7" cstate="print"/>
          <a:stretch>
            <a:fillRect/>
          </a:stretch>
        </p:blipFill>
        <p:spPr>
          <a:xfrm>
            <a:off x="5216998" y="3688299"/>
            <a:ext cx="1266613" cy="506375"/>
          </a:xfrm>
          <a:prstGeom prst="rect">
            <a:avLst/>
          </a:prstGeom>
        </p:spPr>
      </p:pic>
      <p:pic>
        <p:nvPicPr>
          <p:cNvPr id="34" name="object 34"/>
          <p:cNvPicPr/>
          <p:nvPr/>
        </p:nvPicPr>
        <p:blipFill>
          <a:blip r:embed="rId8" cstate="print"/>
          <a:stretch>
            <a:fillRect/>
          </a:stretch>
        </p:blipFill>
        <p:spPr>
          <a:xfrm>
            <a:off x="6652357" y="3788554"/>
            <a:ext cx="1270304" cy="312369"/>
          </a:xfrm>
          <a:prstGeom prst="rect">
            <a:avLst/>
          </a:prstGeom>
        </p:spPr>
      </p:pic>
      <p:sp>
        <p:nvSpPr>
          <p:cNvPr id="36" name="object 36"/>
          <p:cNvSpPr txBox="1"/>
          <p:nvPr/>
        </p:nvSpPr>
        <p:spPr>
          <a:xfrm>
            <a:off x="812021" y="4611291"/>
            <a:ext cx="8027179" cy="252600"/>
          </a:xfrm>
          <a:prstGeom prst="rect">
            <a:avLst/>
          </a:prstGeom>
        </p:spPr>
        <p:txBody>
          <a:bodyPr vert="horz" wrap="square" lIns="0" tIns="10381" rIns="0" bIns="0" rtlCol="0">
            <a:spAutoFit/>
          </a:bodyPr>
          <a:lstStyle/>
          <a:p>
            <a:pPr marL="18875" marR="7550">
              <a:lnSpc>
                <a:spcPct val="102600"/>
              </a:lnSpc>
              <a:spcBef>
                <a:spcPts val="82"/>
              </a:spcBef>
            </a:pPr>
            <a:r>
              <a:rPr sz="1635" dirty="0">
                <a:latin typeface="Arial MT"/>
                <a:cs typeface="Arial MT"/>
              </a:rPr>
              <a:t>There</a:t>
            </a:r>
            <a:r>
              <a:rPr sz="1635" spc="-45" dirty="0">
                <a:latin typeface="Arial MT"/>
                <a:cs typeface="Arial MT"/>
              </a:rPr>
              <a:t> </a:t>
            </a:r>
            <a:r>
              <a:rPr sz="1635" dirty="0">
                <a:latin typeface="Arial MT"/>
                <a:cs typeface="Arial MT"/>
              </a:rPr>
              <a:t>are</a:t>
            </a:r>
            <a:r>
              <a:rPr sz="1635" spc="-45" dirty="0">
                <a:latin typeface="Arial MT"/>
                <a:cs typeface="Arial MT"/>
              </a:rPr>
              <a:t> </a:t>
            </a:r>
            <a:r>
              <a:rPr sz="1635" dirty="0">
                <a:latin typeface="Arial MT"/>
                <a:cs typeface="Arial MT"/>
              </a:rPr>
              <a:t>thousands</a:t>
            </a:r>
            <a:r>
              <a:rPr sz="1635" spc="-45" dirty="0">
                <a:latin typeface="Arial MT"/>
                <a:cs typeface="Arial MT"/>
              </a:rPr>
              <a:t> </a:t>
            </a:r>
            <a:r>
              <a:rPr sz="1635" dirty="0">
                <a:latin typeface="Arial MT"/>
                <a:cs typeface="Arial MT"/>
              </a:rPr>
              <a:t>of</a:t>
            </a:r>
            <a:r>
              <a:rPr sz="1635" spc="-45" dirty="0">
                <a:latin typeface="Arial MT"/>
                <a:cs typeface="Arial MT"/>
              </a:rPr>
              <a:t> </a:t>
            </a:r>
            <a:r>
              <a:rPr sz="1635" dirty="0">
                <a:latin typeface="Arial MT"/>
                <a:cs typeface="Arial MT"/>
              </a:rPr>
              <a:t>SaaS</a:t>
            </a:r>
            <a:r>
              <a:rPr sz="1635" spc="-45" dirty="0">
                <a:latin typeface="Arial MT"/>
                <a:cs typeface="Arial MT"/>
              </a:rPr>
              <a:t> </a:t>
            </a:r>
            <a:r>
              <a:rPr sz="1635" spc="-15" dirty="0">
                <a:latin typeface="Arial MT"/>
                <a:cs typeface="Arial MT"/>
              </a:rPr>
              <a:t>providers,</a:t>
            </a:r>
            <a:r>
              <a:rPr sz="1635" spc="-45" dirty="0">
                <a:latin typeface="Arial MT"/>
                <a:cs typeface="Arial MT"/>
              </a:rPr>
              <a:t> </a:t>
            </a:r>
            <a:r>
              <a:rPr sz="1635" dirty="0">
                <a:latin typeface="Arial MT"/>
                <a:cs typeface="Arial MT"/>
              </a:rPr>
              <a:t>but</a:t>
            </a:r>
            <a:r>
              <a:rPr sz="1635" spc="-45" dirty="0">
                <a:latin typeface="Arial MT"/>
                <a:cs typeface="Arial MT"/>
              </a:rPr>
              <a:t> </a:t>
            </a:r>
            <a:r>
              <a:rPr sz="1635" dirty="0">
                <a:latin typeface="Arial MT"/>
                <a:cs typeface="Arial MT"/>
              </a:rPr>
              <a:t>the</a:t>
            </a:r>
            <a:r>
              <a:rPr sz="1635" spc="-45" dirty="0">
                <a:latin typeface="Arial MT"/>
                <a:cs typeface="Arial MT"/>
              </a:rPr>
              <a:t> </a:t>
            </a:r>
            <a:r>
              <a:rPr sz="1635" spc="-37" dirty="0">
                <a:latin typeface="Arial MT"/>
                <a:cs typeface="Arial MT"/>
              </a:rPr>
              <a:t>big </a:t>
            </a:r>
            <a:r>
              <a:rPr sz="1635" spc="-30" dirty="0">
                <a:latin typeface="Arial MT"/>
                <a:cs typeface="Arial MT"/>
              </a:rPr>
              <a:t>money-</a:t>
            </a:r>
            <a:r>
              <a:rPr sz="1635" dirty="0">
                <a:latin typeface="Arial MT"/>
                <a:cs typeface="Arial MT"/>
              </a:rPr>
              <a:t>makers</a:t>
            </a:r>
            <a:r>
              <a:rPr sz="1635" spc="-30" dirty="0">
                <a:latin typeface="Arial MT"/>
                <a:cs typeface="Arial MT"/>
              </a:rPr>
              <a:t> </a:t>
            </a:r>
            <a:r>
              <a:rPr sz="1635" dirty="0">
                <a:latin typeface="Arial MT"/>
                <a:cs typeface="Arial MT"/>
              </a:rPr>
              <a:t>serve</a:t>
            </a:r>
            <a:r>
              <a:rPr sz="1635" spc="-30" dirty="0">
                <a:latin typeface="Arial MT"/>
                <a:cs typeface="Arial MT"/>
              </a:rPr>
              <a:t> </a:t>
            </a:r>
            <a:r>
              <a:rPr sz="1635" spc="-15" dirty="0">
                <a:latin typeface="Arial MT"/>
                <a:cs typeface="Arial MT"/>
              </a:rPr>
              <a:t>enterpr</a:t>
            </a:r>
            <a:r>
              <a:rPr sz="1635" spc="-15" dirty="0">
                <a:latin typeface="Arial MT"/>
                <a:cs typeface="Arial MT"/>
                <a:hlinkClick r:id="rId9" action="ppaction://hlinksldjump"/>
              </a:rPr>
              <a:t>ises</a:t>
            </a:r>
            <a:r>
              <a:rPr sz="1635" spc="-15" dirty="0">
                <a:latin typeface="Arial MT"/>
                <a:cs typeface="Arial MT"/>
                <a:hlinkClick r:id="rId10" action="ppaction://hlinksldjump"/>
              </a:rPr>
              <a:t>.</a:t>
            </a:r>
            <a:endParaRPr sz="1635" dirty="0">
              <a:latin typeface="Arial MT"/>
              <a:cs typeface="Arial MT"/>
            </a:endParaRPr>
          </a:p>
        </p:txBody>
      </p:sp>
    </p:spTree>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646747" y="285750"/>
            <a:ext cx="6162118" cy="456618"/>
          </a:xfrm>
          <a:prstGeom prst="rect">
            <a:avLst/>
          </a:prstGeom>
        </p:spPr>
        <p:txBody>
          <a:bodyPr vert="horz" wrap="square" lIns="0" tIns="25482" rIns="0" bIns="0" rtlCol="0">
            <a:spAutoFit/>
          </a:bodyPr>
          <a:lstStyle/>
          <a:p>
            <a:pPr marL="117023">
              <a:spcBef>
                <a:spcPts val="201"/>
              </a:spcBef>
            </a:pPr>
            <a:r>
              <a:rPr dirty="0"/>
              <a:t>Other</a:t>
            </a:r>
            <a:r>
              <a:rPr spc="141" dirty="0"/>
              <a:t> </a:t>
            </a:r>
            <a:r>
              <a:rPr dirty="0"/>
              <a:t>Cloud</a:t>
            </a:r>
            <a:r>
              <a:rPr spc="141" dirty="0"/>
              <a:t> </a:t>
            </a:r>
            <a:r>
              <a:rPr dirty="0"/>
              <a:t>Service</a:t>
            </a:r>
            <a:r>
              <a:rPr spc="149" dirty="0"/>
              <a:t> </a:t>
            </a:r>
            <a:r>
              <a:rPr spc="-15" dirty="0"/>
              <a:t>Models</a:t>
            </a:r>
          </a:p>
        </p:txBody>
      </p:sp>
      <p:sp>
        <p:nvSpPr>
          <p:cNvPr id="28" name="object 28"/>
          <p:cNvSpPr txBox="1"/>
          <p:nvPr/>
        </p:nvSpPr>
        <p:spPr>
          <a:xfrm>
            <a:off x="625965" y="1314316"/>
            <a:ext cx="7659053" cy="562878"/>
          </a:xfrm>
          <a:prstGeom prst="rect">
            <a:avLst/>
          </a:prstGeom>
        </p:spPr>
        <p:txBody>
          <a:bodyPr vert="horz" wrap="square" lIns="0" tIns="10381" rIns="0" bIns="0" rtlCol="0">
            <a:spAutoFit/>
          </a:bodyPr>
          <a:lstStyle/>
          <a:p>
            <a:pPr marL="18875" marR="7550">
              <a:lnSpc>
                <a:spcPct val="102600"/>
              </a:lnSpc>
              <a:spcBef>
                <a:spcPts val="82"/>
              </a:spcBef>
            </a:pPr>
            <a:r>
              <a:rPr dirty="0">
                <a:latin typeface="Trebuchet MS" panose="020B0603020202020204" pitchFamily="34" charset="0"/>
                <a:cs typeface="Arial MT"/>
              </a:rPr>
              <a:t>These</a:t>
            </a:r>
            <a:r>
              <a:rPr spc="-52" dirty="0">
                <a:latin typeface="Trebuchet MS" panose="020B0603020202020204" pitchFamily="34" charset="0"/>
                <a:cs typeface="Arial MT"/>
              </a:rPr>
              <a:t> </a:t>
            </a:r>
            <a:r>
              <a:rPr dirty="0">
                <a:latin typeface="Trebuchet MS" panose="020B0603020202020204" pitchFamily="34" charset="0"/>
                <a:cs typeface="Arial MT"/>
              </a:rPr>
              <a:t>main</a:t>
            </a:r>
            <a:r>
              <a:rPr spc="-45" dirty="0">
                <a:latin typeface="Trebuchet MS" panose="020B0603020202020204" pitchFamily="34" charset="0"/>
                <a:cs typeface="Arial MT"/>
              </a:rPr>
              <a:t> </a:t>
            </a:r>
            <a:r>
              <a:rPr dirty="0">
                <a:latin typeface="Trebuchet MS" panose="020B0603020202020204" pitchFamily="34" charset="0"/>
                <a:cs typeface="Arial MT"/>
              </a:rPr>
              <a:t>service</a:t>
            </a:r>
            <a:r>
              <a:rPr spc="-52" dirty="0">
                <a:latin typeface="Trebuchet MS" panose="020B0603020202020204" pitchFamily="34" charset="0"/>
                <a:cs typeface="Arial MT"/>
              </a:rPr>
              <a:t> </a:t>
            </a:r>
            <a:r>
              <a:rPr dirty="0">
                <a:latin typeface="Trebuchet MS" panose="020B0603020202020204" pitchFamily="34" charset="0"/>
                <a:cs typeface="Arial MT"/>
              </a:rPr>
              <a:t>models</a:t>
            </a:r>
            <a:r>
              <a:rPr spc="-45" dirty="0">
                <a:latin typeface="Trebuchet MS" panose="020B0603020202020204" pitchFamily="34" charset="0"/>
                <a:cs typeface="Arial MT"/>
              </a:rPr>
              <a:t> </a:t>
            </a:r>
            <a:r>
              <a:rPr dirty="0">
                <a:latin typeface="Trebuchet MS" panose="020B0603020202020204" pitchFamily="34" charset="0"/>
                <a:cs typeface="Arial MT"/>
              </a:rPr>
              <a:t>need</a:t>
            </a:r>
            <a:r>
              <a:rPr spc="-52" dirty="0">
                <a:latin typeface="Trebuchet MS" panose="020B0603020202020204" pitchFamily="34" charset="0"/>
                <a:cs typeface="Arial MT"/>
              </a:rPr>
              <a:t> </a:t>
            </a:r>
            <a:r>
              <a:rPr dirty="0">
                <a:latin typeface="Trebuchet MS" panose="020B0603020202020204" pitchFamily="34" charset="0"/>
                <a:cs typeface="Arial MT"/>
              </a:rPr>
              <a:t>to</a:t>
            </a:r>
            <a:r>
              <a:rPr spc="-45" dirty="0">
                <a:latin typeface="Trebuchet MS" panose="020B0603020202020204" pitchFamily="34" charset="0"/>
                <a:cs typeface="Arial MT"/>
              </a:rPr>
              <a:t> </a:t>
            </a:r>
            <a:r>
              <a:rPr dirty="0">
                <a:latin typeface="Trebuchet MS" panose="020B0603020202020204" pitchFamily="34" charset="0"/>
                <a:cs typeface="Arial MT"/>
              </a:rPr>
              <a:t>be</a:t>
            </a:r>
            <a:r>
              <a:rPr spc="-52" dirty="0">
                <a:latin typeface="Trebuchet MS" panose="020B0603020202020204" pitchFamily="34" charset="0"/>
                <a:cs typeface="Arial MT"/>
              </a:rPr>
              <a:t> </a:t>
            </a:r>
            <a:r>
              <a:rPr dirty="0">
                <a:latin typeface="Trebuchet MS" panose="020B0603020202020204" pitchFamily="34" charset="0"/>
                <a:cs typeface="Arial MT"/>
              </a:rPr>
              <a:t>updated,</a:t>
            </a:r>
            <a:r>
              <a:rPr spc="-45" dirty="0">
                <a:latin typeface="Trebuchet MS" panose="020B0603020202020204" pitchFamily="34" charset="0"/>
                <a:cs typeface="Arial MT"/>
              </a:rPr>
              <a:t> </a:t>
            </a:r>
            <a:r>
              <a:rPr dirty="0">
                <a:latin typeface="Trebuchet MS" panose="020B0603020202020204" pitchFamily="34" charset="0"/>
                <a:cs typeface="Arial MT"/>
              </a:rPr>
              <a:t>as</a:t>
            </a:r>
            <a:r>
              <a:rPr spc="-52" dirty="0">
                <a:latin typeface="Trebuchet MS" panose="020B0603020202020204" pitchFamily="34" charset="0"/>
                <a:cs typeface="Arial MT"/>
              </a:rPr>
              <a:t> </a:t>
            </a:r>
            <a:r>
              <a:rPr spc="-37" dirty="0">
                <a:latin typeface="Trebuchet MS" panose="020B0603020202020204" pitchFamily="34" charset="0"/>
                <a:cs typeface="Arial MT"/>
              </a:rPr>
              <a:t>new </a:t>
            </a:r>
            <a:r>
              <a:rPr dirty="0">
                <a:latin typeface="Trebuchet MS" panose="020B0603020202020204" pitchFamily="34" charset="0"/>
                <a:cs typeface="Arial MT"/>
              </a:rPr>
              <a:t>models</a:t>
            </a:r>
            <a:r>
              <a:rPr spc="-52" dirty="0">
                <a:latin typeface="Trebuchet MS" panose="020B0603020202020204" pitchFamily="34" charset="0"/>
                <a:cs typeface="Arial MT"/>
              </a:rPr>
              <a:t> </a:t>
            </a:r>
            <a:r>
              <a:rPr dirty="0">
                <a:latin typeface="Trebuchet MS" panose="020B0603020202020204" pitchFamily="34" charset="0"/>
                <a:cs typeface="Arial MT"/>
              </a:rPr>
              <a:t>are</a:t>
            </a:r>
            <a:r>
              <a:rPr spc="-45" dirty="0">
                <a:latin typeface="Trebuchet MS" panose="020B0603020202020204" pitchFamily="34" charset="0"/>
                <a:cs typeface="Arial MT"/>
              </a:rPr>
              <a:t> </a:t>
            </a:r>
            <a:r>
              <a:rPr spc="-15" dirty="0">
                <a:latin typeface="Trebuchet MS" panose="020B0603020202020204" pitchFamily="34" charset="0"/>
                <a:cs typeface="Arial MT"/>
              </a:rPr>
              <a:t>invented:</a:t>
            </a:r>
            <a:endParaRPr dirty="0">
              <a:latin typeface="Trebuchet MS" panose="020B0603020202020204" pitchFamily="34" charset="0"/>
              <a:cs typeface="Arial MT"/>
            </a:endParaRPr>
          </a:p>
        </p:txBody>
      </p:sp>
      <p:sp>
        <p:nvSpPr>
          <p:cNvPr id="29" name="object 29"/>
          <p:cNvSpPr txBox="1"/>
          <p:nvPr/>
        </p:nvSpPr>
        <p:spPr>
          <a:xfrm>
            <a:off x="1143000" y="2190750"/>
            <a:ext cx="6019800" cy="1042145"/>
          </a:xfrm>
          <a:prstGeom prst="rect">
            <a:avLst/>
          </a:prstGeom>
        </p:spPr>
        <p:txBody>
          <a:bodyPr vert="horz" wrap="square" lIns="0" tIns="82106" rIns="0" bIns="0" rtlCol="0">
            <a:spAutoFit/>
          </a:bodyPr>
          <a:lstStyle/>
          <a:p>
            <a:pPr marL="337856" indent="-318982">
              <a:spcBef>
                <a:spcPts val="645"/>
              </a:spcBef>
              <a:buFont typeface="Times New Roman"/>
              <a:buChar char="►"/>
              <a:tabLst>
                <a:tab pos="337856" algn="l"/>
              </a:tabLst>
            </a:pPr>
            <a:r>
              <a:rPr spc="-15" dirty="0">
                <a:latin typeface="Trebuchet MS" panose="020B0603020202020204" pitchFamily="34" charset="0"/>
                <a:cs typeface="Arial MT"/>
              </a:rPr>
              <a:t>Container-as-a-</a:t>
            </a:r>
            <a:r>
              <a:rPr dirty="0">
                <a:latin typeface="Trebuchet MS" panose="020B0603020202020204" pitchFamily="34" charset="0"/>
                <a:cs typeface="Arial MT"/>
              </a:rPr>
              <a:t>Service</a:t>
            </a:r>
            <a:r>
              <a:rPr spc="59" dirty="0">
                <a:latin typeface="Trebuchet MS" panose="020B0603020202020204" pitchFamily="34" charset="0"/>
                <a:cs typeface="Arial MT"/>
              </a:rPr>
              <a:t> </a:t>
            </a:r>
            <a:r>
              <a:rPr spc="-15" dirty="0">
                <a:latin typeface="Trebuchet MS" panose="020B0603020202020204" pitchFamily="34" charset="0"/>
                <a:cs typeface="Arial MT"/>
              </a:rPr>
              <a:t>(CaaS)</a:t>
            </a:r>
            <a:endParaRPr lang="en-US" spc="-15" dirty="0">
              <a:latin typeface="Trebuchet MS" panose="020B0603020202020204" pitchFamily="34" charset="0"/>
              <a:cs typeface="Arial MT"/>
            </a:endParaRPr>
          </a:p>
          <a:p>
            <a:pPr marL="337856" indent="-318982">
              <a:spcBef>
                <a:spcPts val="496"/>
              </a:spcBef>
              <a:buFont typeface="Times New Roman"/>
              <a:buChar char="►"/>
              <a:tabLst>
                <a:tab pos="337856" algn="l"/>
              </a:tabLst>
            </a:pPr>
            <a:r>
              <a:rPr spc="-15" dirty="0">
                <a:latin typeface="Trebuchet MS" panose="020B0603020202020204" pitchFamily="34" charset="0"/>
                <a:cs typeface="Arial MT"/>
              </a:rPr>
              <a:t>Business</a:t>
            </a:r>
            <a:r>
              <a:rPr spc="-37" dirty="0">
                <a:latin typeface="Trebuchet MS" panose="020B0603020202020204" pitchFamily="34" charset="0"/>
                <a:cs typeface="Arial MT"/>
              </a:rPr>
              <a:t> </a:t>
            </a:r>
            <a:r>
              <a:rPr dirty="0">
                <a:latin typeface="Trebuchet MS" panose="020B0603020202020204" pitchFamily="34" charset="0"/>
                <a:cs typeface="Arial MT"/>
              </a:rPr>
              <a:t>Process</a:t>
            </a:r>
            <a:r>
              <a:rPr spc="-37" dirty="0">
                <a:latin typeface="Trebuchet MS" panose="020B0603020202020204" pitchFamily="34" charset="0"/>
                <a:cs typeface="Arial MT"/>
              </a:rPr>
              <a:t> </a:t>
            </a:r>
            <a:r>
              <a:rPr dirty="0">
                <a:latin typeface="Trebuchet MS" panose="020B0603020202020204" pitchFamily="34" charset="0"/>
                <a:cs typeface="Arial MT"/>
              </a:rPr>
              <a:t>as</a:t>
            </a:r>
            <a:r>
              <a:rPr spc="-37" dirty="0">
                <a:latin typeface="Trebuchet MS" panose="020B0603020202020204" pitchFamily="34" charset="0"/>
                <a:cs typeface="Arial MT"/>
              </a:rPr>
              <a:t> </a:t>
            </a:r>
            <a:r>
              <a:rPr dirty="0">
                <a:latin typeface="Trebuchet MS" panose="020B0603020202020204" pitchFamily="34" charset="0"/>
                <a:cs typeface="Arial MT"/>
              </a:rPr>
              <a:t>a</a:t>
            </a:r>
            <a:r>
              <a:rPr spc="-30" dirty="0">
                <a:latin typeface="Trebuchet MS" panose="020B0603020202020204" pitchFamily="34" charset="0"/>
                <a:cs typeface="Arial MT"/>
              </a:rPr>
              <a:t> </a:t>
            </a:r>
            <a:r>
              <a:rPr dirty="0">
                <a:latin typeface="Trebuchet MS" panose="020B0603020202020204" pitchFamily="34" charset="0"/>
                <a:cs typeface="Arial MT"/>
              </a:rPr>
              <a:t>Service</a:t>
            </a:r>
            <a:r>
              <a:rPr spc="-37" dirty="0">
                <a:latin typeface="Trebuchet MS" panose="020B0603020202020204" pitchFamily="34" charset="0"/>
                <a:cs typeface="Arial MT"/>
              </a:rPr>
              <a:t> </a:t>
            </a:r>
            <a:r>
              <a:rPr spc="-15" dirty="0">
                <a:latin typeface="Trebuchet MS" panose="020B0603020202020204" pitchFamily="34" charset="0"/>
                <a:cs typeface="Arial MT"/>
              </a:rPr>
              <a:t>(BPaaS)</a:t>
            </a:r>
            <a:endParaRPr dirty="0">
              <a:latin typeface="Trebuchet MS" panose="020B0603020202020204" pitchFamily="34" charset="0"/>
              <a:cs typeface="Arial MT"/>
            </a:endParaRPr>
          </a:p>
          <a:p>
            <a:pPr marL="337856" indent="-318982">
              <a:spcBef>
                <a:spcPts val="490"/>
              </a:spcBef>
              <a:buFont typeface="Times New Roman"/>
              <a:buChar char="►"/>
              <a:tabLst>
                <a:tab pos="337856" algn="l"/>
              </a:tabLst>
            </a:pPr>
            <a:r>
              <a:rPr spc="-15" dirty="0">
                <a:latin typeface="Trebuchet MS" panose="020B0603020202020204" pitchFamily="34" charset="0"/>
                <a:cs typeface="Arial MT"/>
              </a:rPr>
              <a:t>Information-as-a-</a:t>
            </a:r>
            <a:r>
              <a:rPr dirty="0">
                <a:latin typeface="Trebuchet MS" panose="020B0603020202020204" pitchFamily="34" charset="0"/>
                <a:cs typeface="Arial MT"/>
              </a:rPr>
              <a:t>Service</a:t>
            </a:r>
            <a:r>
              <a:rPr spc="82" dirty="0">
                <a:latin typeface="Trebuchet MS" panose="020B0603020202020204" pitchFamily="34" charset="0"/>
                <a:cs typeface="Arial MT"/>
              </a:rPr>
              <a:t> </a:t>
            </a:r>
            <a:r>
              <a:rPr spc="-15" dirty="0">
                <a:latin typeface="Trebuchet MS" panose="020B0603020202020204" pitchFamily="34" charset="0"/>
                <a:cs typeface="Arial MT"/>
              </a:rPr>
              <a:t>(InaaS)</a:t>
            </a:r>
            <a:endParaRPr dirty="0">
              <a:latin typeface="Trebuchet MS" panose="020B0603020202020204" pitchFamily="34" charset="0"/>
              <a:cs typeface="Arial MT"/>
            </a:endParaRPr>
          </a:p>
        </p:txBody>
      </p:sp>
    </p:spTree>
  </p:cSld>
  <p:clrMapOvr>
    <a:masterClrMapping/>
  </p:clrMapOvr>
  <p:transition>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533400" y="273781"/>
            <a:ext cx="6410197" cy="456618"/>
          </a:xfrm>
          <a:prstGeom prst="rect">
            <a:avLst/>
          </a:prstGeom>
        </p:spPr>
        <p:txBody>
          <a:bodyPr vert="horz" wrap="square" lIns="0" tIns="25482" rIns="0" bIns="0" rtlCol="0">
            <a:spAutoFit/>
          </a:bodyPr>
          <a:lstStyle/>
          <a:p>
            <a:pPr marL="18875">
              <a:spcBef>
                <a:spcPts val="201"/>
              </a:spcBef>
            </a:pPr>
            <a:r>
              <a:rPr dirty="0"/>
              <a:t>Deployment</a:t>
            </a:r>
            <a:r>
              <a:rPr spc="97" dirty="0"/>
              <a:t> </a:t>
            </a:r>
            <a:r>
              <a:rPr spc="-15" dirty="0"/>
              <a:t>Models</a:t>
            </a:r>
          </a:p>
        </p:txBody>
      </p:sp>
      <p:sp>
        <p:nvSpPr>
          <p:cNvPr id="28" name="object 28"/>
          <p:cNvSpPr txBox="1"/>
          <p:nvPr/>
        </p:nvSpPr>
        <p:spPr>
          <a:xfrm>
            <a:off x="521620" y="971550"/>
            <a:ext cx="7631780" cy="2182752"/>
          </a:xfrm>
          <a:prstGeom prst="rect">
            <a:avLst/>
          </a:prstGeom>
        </p:spPr>
        <p:txBody>
          <a:bodyPr vert="horz" wrap="square" lIns="0" tIns="57569" rIns="0" bIns="0" rtlCol="0">
            <a:spAutoFit/>
          </a:bodyPr>
          <a:lstStyle/>
          <a:p>
            <a:pPr marL="37749">
              <a:spcBef>
                <a:spcPts val="453"/>
              </a:spcBef>
            </a:pPr>
            <a:r>
              <a:rPr dirty="0">
                <a:latin typeface="Trebuchet MS" panose="020B0603020202020204" pitchFamily="34" charset="0"/>
                <a:cs typeface="Arial MT"/>
              </a:rPr>
              <a:t>NIST</a:t>
            </a:r>
            <a:r>
              <a:rPr spc="-52" dirty="0">
                <a:latin typeface="Trebuchet MS" panose="020B0603020202020204" pitchFamily="34" charset="0"/>
                <a:cs typeface="Arial MT"/>
              </a:rPr>
              <a:t> </a:t>
            </a:r>
            <a:r>
              <a:rPr dirty="0">
                <a:latin typeface="Trebuchet MS" panose="020B0603020202020204" pitchFamily="34" charset="0"/>
                <a:cs typeface="Arial MT"/>
              </a:rPr>
              <a:t>lists</a:t>
            </a:r>
            <a:r>
              <a:rPr spc="-52" dirty="0">
                <a:latin typeface="Trebuchet MS" panose="020B0603020202020204" pitchFamily="34" charset="0"/>
                <a:cs typeface="Arial MT"/>
              </a:rPr>
              <a:t> </a:t>
            </a:r>
            <a:r>
              <a:rPr dirty="0">
                <a:latin typeface="Trebuchet MS" panose="020B0603020202020204" pitchFamily="34" charset="0"/>
                <a:cs typeface="Arial MT"/>
              </a:rPr>
              <a:t>the</a:t>
            </a:r>
            <a:r>
              <a:rPr spc="-52" dirty="0">
                <a:latin typeface="Trebuchet MS" panose="020B0603020202020204" pitchFamily="34" charset="0"/>
                <a:cs typeface="Arial MT"/>
              </a:rPr>
              <a:t> </a:t>
            </a:r>
            <a:r>
              <a:rPr spc="-15" dirty="0">
                <a:latin typeface="Trebuchet MS" panose="020B0603020202020204" pitchFamily="34" charset="0"/>
                <a:cs typeface="Arial MT"/>
              </a:rPr>
              <a:t>following</a:t>
            </a:r>
            <a:r>
              <a:rPr spc="-45" dirty="0">
                <a:latin typeface="Trebuchet MS" panose="020B0603020202020204" pitchFamily="34" charset="0"/>
                <a:cs typeface="Arial MT"/>
              </a:rPr>
              <a:t> </a:t>
            </a:r>
            <a:r>
              <a:rPr dirty="0">
                <a:latin typeface="Trebuchet MS" panose="020B0603020202020204" pitchFamily="34" charset="0"/>
                <a:cs typeface="Arial MT"/>
              </a:rPr>
              <a:t>4</a:t>
            </a:r>
            <a:r>
              <a:rPr spc="-52" dirty="0">
                <a:latin typeface="Trebuchet MS" panose="020B0603020202020204" pitchFamily="34" charset="0"/>
                <a:cs typeface="Arial MT"/>
              </a:rPr>
              <a:t> </a:t>
            </a:r>
            <a:r>
              <a:rPr spc="-15" dirty="0">
                <a:latin typeface="Trebuchet MS" panose="020B0603020202020204" pitchFamily="34" charset="0"/>
                <a:cs typeface="Arial MT"/>
              </a:rPr>
              <a:t>deployment</a:t>
            </a:r>
            <a:r>
              <a:rPr spc="-52" dirty="0">
                <a:latin typeface="Trebuchet MS" panose="020B0603020202020204" pitchFamily="34" charset="0"/>
                <a:cs typeface="Arial MT"/>
              </a:rPr>
              <a:t> </a:t>
            </a:r>
            <a:r>
              <a:rPr spc="-15" dirty="0">
                <a:latin typeface="Trebuchet MS" panose="020B0603020202020204" pitchFamily="34" charset="0"/>
                <a:cs typeface="Arial MT"/>
              </a:rPr>
              <a:t>models:</a:t>
            </a:r>
            <a:r>
              <a:rPr spc="-22" baseline="27777" dirty="0">
                <a:latin typeface="Trebuchet MS" panose="020B0603020202020204" pitchFamily="34" charset="0"/>
                <a:cs typeface="Arial MT"/>
              </a:rPr>
              <a:t>6</a:t>
            </a:r>
            <a:endParaRPr baseline="27777" dirty="0">
              <a:latin typeface="Trebuchet MS" panose="020B0603020202020204" pitchFamily="34" charset="0"/>
              <a:cs typeface="Arial MT"/>
            </a:endParaRPr>
          </a:p>
          <a:p>
            <a:pPr marL="1209869" marR="26425" indent="-855026">
              <a:lnSpc>
                <a:spcPct val="102600"/>
              </a:lnSpc>
              <a:spcBef>
                <a:spcPts val="253"/>
              </a:spcBef>
            </a:pPr>
            <a:r>
              <a:rPr b="1" dirty="0">
                <a:latin typeface="Trebuchet MS" panose="020B0603020202020204" pitchFamily="34" charset="0"/>
                <a:cs typeface="Arial"/>
              </a:rPr>
              <a:t>Private:</a:t>
            </a:r>
            <a:r>
              <a:rPr b="1" spc="245" dirty="0">
                <a:latin typeface="Trebuchet MS" panose="020B0603020202020204" pitchFamily="34" charset="0"/>
                <a:cs typeface="Arial"/>
              </a:rPr>
              <a:t> </a:t>
            </a:r>
            <a:r>
              <a:rPr dirty="0">
                <a:latin typeface="Trebuchet MS" panose="020B0603020202020204" pitchFamily="34" charset="0"/>
                <a:cs typeface="Arial MT"/>
              </a:rPr>
              <a:t>The</a:t>
            </a:r>
            <a:r>
              <a:rPr spc="-59" dirty="0">
                <a:latin typeface="Trebuchet MS" panose="020B0603020202020204" pitchFamily="34" charset="0"/>
                <a:cs typeface="Arial MT"/>
              </a:rPr>
              <a:t> </a:t>
            </a:r>
            <a:r>
              <a:rPr dirty="0">
                <a:latin typeface="Trebuchet MS" panose="020B0603020202020204" pitchFamily="34" charset="0"/>
                <a:cs typeface="Arial MT"/>
              </a:rPr>
              <a:t>cloud</a:t>
            </a:r>
            <a:r>
              <a:rPr spc="-67" dirty="0">
                <a:latin typeface="Trebuchet MS" panose="020B0603020202020204" pitchFamily="34" charset="0"/>
                <a:cs typeface="Arial MT"/>
              </a:rPr>
              <a:t> </a:t>
            </a:r>
            <a:r>
              <a:rPr dirty="0">
                <a:latin typeface="Trebuchet MS" panose="020B0603020202020204" pitchFamily="34" charset="0"/>
                <a:cs typeface="Arial MT"/>
              </a:rPr>
              <a:t>infrastructure</a:t>
            </a:r>
            <a:r>
              <a:rPr spc="-59" dirty="0">
                <a:latin typeface="Trebuchet MS" panose="020B0603020202020204" pitchFamily="34" charset="0"/>
                <a:cs typeface="Arial MT"/>
              </a:rPr>
              <a:t> </a:t>
            </a:r>
            <a:r>
              <a:rPr dirty="0">
                <a:latin typeface="Trebuchet MS" panose="020B0603020202020204" pitchFamily="34" charset="0"/>
                <a:cs typeface="Arial MT"/>
              </a:rPr>
              <a:t>is</a:t>
            </a:r>
            <a:r>
              <a:rPr spc="-59" dirty="0">
                <a:latin typeface="Trebuchet MS" panose="020B0603020202020204" pitchFamily="34" charset="0"/>
                <a:cs typeface="Arial MT"/>
              </a:rPr>
              <a:t> </a:t>
            </a:r>
            <a:r>
              <a:rPr spc="-15" dirty="0">
                <a:latin typeface="Trebuchet MS" panose="020B0603020202020204" pitchFamily="34" charset="0"/>
                <a:cs typeface="Arial MT"/>
              </a:rPr>
              <a:t>provisioned</a:t>
            </a:r>
            <a:r>
              <a:rPr spc="-59" dirty="0">
                <a:latin typeface="Trebuchet MS" panose="020B0603020202020204" pitchFamily="34" charset="0"/>
                <a:cs typeface="Arial MT"/>
              </a:rPr>
              <a:t> </a:t>
            </a:r>
            <a:r>
              <a:rPr spc="-37" dirty="0">
                <a:latin typeface="Trebuchet MS" panose="020B0603020202020204" pitchFamily="34" charset="0"/>
                <a:cs typeface="Arial MT"/>
              </a:rPr>
              <a:t>for </a:t>
            </a:r>
            <a:r>
              <a:rPr spc="-15" dirty="0">
                <a:latin typeface="Trebuchet MS" panose="020B0603020202020204" pitchFamily="34" charset="0"/>
                <a:cs typeface="Arial MT"/>
              </a:rPr>
              <a:t>exclusive</a:t>
            </a:r>
            <a:r>
              <a:rPr spc="-59" dirty="0">
                <a:latin typeface="Trebuchet MS" panose="020B0603020202020204" pitchFamily="34" charset="0"/>
                <a:cs typeface="Arial MT"/>
              </a:rPr>
              <a:t> </a:t>
            </a:r>
            <a:r>
              <a:rPr dirty="0">
                <a:latin typeface="Trebuchet MS" panose="020B0603020202020204" pitchFamily="34" charset="0"/>
                <a:cs typeface="Arial MT"/>
              </a:rPr>
              <a:t>use</a:t>
            </a:r>
            <a:r>
              <a:rPr spc="-59" dirty="0">
                <a:latin typeface="Trebuchet MS" panose="020B0603020202020204" pitchFamily="34" charset="0"/>
                <a:cs typeface="Arial MT"/>
              </a:rPr>
              <a:t> </a:t>
            </a:r>
            <a:r>
              <a:rPr dirty="0">
                <a:latin typeface="Trebuchet MS" panose="020B0603020202020204" pitchFamily="34" charset="0"/>
                <a:cs typeface="Arial MT"/>
              </a:rPr>
              <a:t>by</a:t>
            </a:r>
            <a:r>
              <a:rPr spc="-59" dirty="0">
                <a:latin typeface="Trebuchet MS" panose="020B0603020202020204" pitchFamily="34" charset="0"/>
                <a:cs typeface="Arial MT"/>
              </a:rPr>
              <a:t> </a:t>
            </a:r>
            <a:r>
              <a:rPr dirty="0">
                <a:latin typeface="Trebuchet MS" panose="020B0603020202020204" pitchFamily="34" charset="0"/>
                <a:cs typeface="Arial MT"/>
              </a:rPr>
              <a:t>a</a:t>
            </a:r>
            <a:r>
              <a:rPr spc="-59" dirty="0">
                <a:latin typeface="Trebuchet MS" panose="020B0603020202020204" pitchFamily="34" charset="0"/>
                <a:cs typeface="Arial MT"/>
              </a:rPr>
              <a:t> </a:t>
            </a:r>
            <a:r>
              <a:rPr dirty="0">
                <a:latin typeface="Trebuchet MS" panose="020B0603020202020204" pitchFamily="34" charset="0"/>
                <a:cs typeface="Arial MT"/>
              </a:rPr>
              <a:t>single</a:t>
            </a:r>
            <a:r>
              <a:rPr spc="-59" dirty="0">
                <a:latin typeface="Trebuchet MS" panose="020B0603020202020204" pitchFamily="34" charset="0"/>
                <a:cs typeface="Arial MT"/>
              </a:rPr>
              <a:t> </a:t>
            </a:r>
            <a:r>
              <a:rPr spc="-15" dirty="0">
                <a:latin typeface="Trebuchet MS" panose="020B0603020202020204" pitchFamily="34" charset="0"/>
                <a:cs typeface="Arial MT"/>
              </a:rPr>
              <a:t>organization </a:t>
            </a:r>
            <a:r>
              <a:rPr dirty="0">
                <a:latin typeface="Trebuchet MS" panose="020B0603020202020204" pitchFamily="34" charset="0"/>
                <a:cs typeface="Arial MT"/>
              </a:rPr>
              <a:t>comprising</a:t>
            </a:r>
            <a:r>
              <a:rPr spc="-67" dirty="0">
                <a:latin typeface="Trebuchet MS" panose="020B0603020202020204" pitchFamily="34" charset="0"/>
                <a:cs typeface="Arial MT"/>
              </a:rPr>
              <a:t> </a:t>
            </a:r>
            <a:r>
              <a:rPr spc="-15" dirty="0">
                <a:latin typeface="Trebuchet MS" panose="020B0603020202020204" pitchFamily="34" charset="0"/>
                <a:cs typeface="Arial MT"/>
              </a:rPr>
              <a:t>multiple</a:t>
            </a:r>
            <a:r>
              <a:rPr spc="-67" dirty="0">
                <a:latin typeface="Trebuchet MS" panose="020B0603020202020204" pitchFamily="34" charset="0"/>
                <a:cs typeface="Arial MT"/>
              </a:rPr>
              <a:t> </a:t>
            </a:r>
            <a:r>
              <a:rPr dirty="0">
                <a:latin typeface="Trebuchet MS" panose="020B0603020202020204" pitchFamily="34" charset="0"/>
                <a:cs typeface="Arial MT"/>
              </a:rPr>
              <a:t>consumers</a:t>
            </a:r>
            <a:r>
              <a:rPr spc="-67" dirty="0">
                <a:latin typeface="Trebuchet MS" panose="020B0603020202020204" pitchFamily="34" charset="0"/>
                <a:cs typeface="Arial MT"/>
              </a:rPr>
              <a:t> </a:t>
            </a:r>
            <a:r>
              <a:rPr spc="-15" dirty="0">
                <a:latin typeface="Trebuchet MS" panose="020B0603020202020204" pitchFamily="34" charset="0"/>
                <a:cs typeface="Arial MT"/>
              </a:rPr>
              <a:t>(e.g., business</a:t>
            </a:r>
            <a:r>
              <a:rPr spc="-52" dirty="0">
                <a:latin typeface="Trebuchet MS" panose="020B0603020202020204" pitchFamily="34" charset="0"/>
                <a:cs typeface="Arial MT"/>
              </a:rPr>
              <a:t> </a:t>
            </a:r>
            <a:r>
              <a:rPr dirty="0">
                <a:latin typeface="Trebuchet MS" panose="020B0603020202020204" pitchFamily="34" charset="0"/>
                <a:cs typeface="Arial MT"/>
              </a:rPr>
              <a:t>units).</a:t>
            </a:r>
            <a:r>
              <a:rPr spc="59" dirty="0">
                <a:latin typeface="Trebuchet MS" panose="020B0603020202020204" pitchFamily="34" charset="0"/>
                <a:cs typeface="Arial MT"/>
              </a:rPr>
              <a:t> </a:t>
            </a:r>
            <a:r>
              <a:rPr dirty="0">
                <a:latin typeface="Trebuchet MS" panose="020B0603020202020204" pitchFamily="34" charset="0"/>
                <a:cs typeface="Arial MT"/>
              </a:rPr>
              <a:t>It</a:t>
            </a:r>
            <a:r>
              <a:rPr spc="-45" dirty="0">
                <a:latin typeface="Trebuchet MS" panose="020B0603020202020204" pitchFamily="34" charset="0"/>
                <a:cs typeface="Arial MT"/>
              </a:rPr>
              <a:t> </a:t>
            </a:r>
            <a:r>
              <a:rPr spc="-15" dirty="0">
                <a:latin typeface="Trebuchet MS" panose="020B0603020202020204" pitchFamily="34" charset="0"/>
                <a:cs typeface="Arial MT"/>
              </a:rPr>
              <a:t>may</a:t>
            </a:r>
            <a:r>
              <a:rPr spc="-52" dirty="0">
                <a:latin typeface="Trebuchet MS" panose="020B0603020202020204" pitchFamily="34" charset="0"/>
                <a:cs typeface="Arial MT"/>
              </a:rPr>
              <a:t> </a:t>
            </a:r>
            <a:r>
              <a:rPr dirty="0">
                <a:latin typeface="Trebuchet MS" panose="020B0603020202020204" pitchFamily="34" charset="0"/>
                <a:cs typeface="Arial MT"/>
              </a:rPr>
              <a:t>be</a:t>
            </a:r>
            <a:r>
              <a:rPr spc="-45" dirty="0">
                <a:latin typeface="Trebuchet MS" panose="020B0603020202020204" pitchFamily="34" charset="0"/>
                <a:cs typeface="Arial MT"/>
              </a:rPr>
              <a:t> </a:t>
            </a:r>
            <a:r>
              <a:rPr spc="-15" dirty="0">
                <a:latin typeface="Trebuchet MS" panose="020B0603020202020204" pitchFamily="34" charset="0"/>
                <a:cs typeface="Arial MT"/>
              </a:rPr>
              <a:t>owned,</a:t>
            </a:r>
            <a:r>
              <a:rPr spc="-52" dirty="0">
                <a:latin typeface="Trebuchet MS" panose="020B0603020202020204" pitchFamily="34" charset="0"/>
                <a:cs typeface="Arial MT"/>
              </a:rPr>
              <a:t> </a:t>
            </a:r>
            <a:r>
              <a:rPr spc="-15" dirty="0">
                <a:latin typeface="Trebuchet MS" panose="020B0603020202020204" pitchFamily="34" charset="0"/>
                <a:cs typeface="Arial MT"/>
              </a:rPr>
              <a:t>managed, </a:t>
            </a:r>
            <a:r>
              <a:rPr dirty="0">
                <a:latin typeface="Trebuchet MS" panose="020B0603020202020204" pitchFamily="34" charset="0"/>
                <a:cs typeface="Arial MT"/>
              </a:rPr>
              <a:t>and</a:t>
            </a:r>
            <a:r>
              <a:rPr spc="-59" dirty="0">
                <a:latin typeface="Trebuchet MS" panose="020B0603020202020204" pitchFamily="34" charset="0"/>
                <a:cs typeface="Arial MT"/>
              </a:rPr>
              <a:t> </a:t>
            </a:r>
            <a:r>
              <a:rPr dirty="0">
                <a:latin typeface="Trebuchet MS" panose="020B0603020202020204" pitchFamily="34" charset="0"/>
                <a:cs typeface="Arial MT"/>
              </a:rPr>
              <a:t>operated</a:t>
            </a:r>
            <a:r>
              <a:rPr spc="-59" dirty="0">
                <a:latin typeface="Trebuchet MS" panose="020B0603020202020204" pitchFamily="34" charset="0"/>
                <a:cs typeface="Arial MT"/>
              </a:rPr>
              <a:t> </a:t>
            </a:r>
            <a:r>
              <a:rPr dirty="0">
                <a:latin typeface="Trebuchet MS" panose="020B0603020202020204" pitchFamily="34" charset="0"/>
                <a:cs typeface="Arial MT"/>
              </a:rPr>
              <a:t>by</a:t>
            </a:r>
            <a:r>
              <a:rPr spc="-52" dirty="0">
                <a:latin typeface="Trebuchet MS" panose="020B0603020202020204" pitchFamily="34" charset="0"/>
                <a:cs typeface="Arial MT"/>
              </a:rPr>
              <a:t> </a:t>
            </a:r>
            <a:r>
              <a:rPr dirty="0">
                <a:latin typeface="Trebuchet MS" panose="020B0603020202020204" pitchFamily="34" charset="0"/>
                <a:cs typeface="Arial MT"/>
              </a:rPr>
              <a:t>the</a:t>
            </a:r>
            <a:r>
              <a:rPr spc="-59" dirty="0">
                <a:latin typeface="Trebuchet MS" panose="020B0603020202020204" pitchFamily="34" charset="0"/>
                <a:cs typeface="Arial MT"/>
              </a:rPr>
              <a:t> </a:t>
            </a:r>
            <a:r>
              <a:rPr dirty="0">
                <a:latin typeface="Trebuchet MS" panose="020B0603020202020204" pitchFamily="34" charset="0"/>
                <a:cs typeface="Arial MT"/>
              </a:rPr>
              <a:t>organization,</a:t>
            </a:r>
            <a:r>
              <a:rPr spc="-52" dirty="0">
                <a:latin typeface="Trebuchet MS" panose="020B0603020202020204" pitchFamily="34" charset="0"/>
                <a:cs typeface="Arial MT"/>
              </a:rPr>
              <a:t> </a:t>
            </a:r>
            <a:r>
              <a:rPr dirty="0">
                <a:latin typeface="Trebuchet MS" panose="020B0603020202020204" pitchFamily="34" charset="0"/>
                <a:cs typeface="Arial MT"/>
              </a:rPr>
              <a:t>a</a:t>
            </a:r>
            <a:r>
              <a:rPr spc="-59" dirty="0">
                <a:latin typeface="Trebuchet MS" panose="020B0603020202020204" pitchFamily="34" charset="0"/>
                <a:cs typeface="Arial MT"/>
              </a:rPr>
              <a:t> </a:t>
            </a:r>
            <a:r>
              <a:rPr spc="-15" dirty="0">
                <a:latin typeface="Trebuchet MS" panose="020B0603020202020204" pitchFamily="34" charset="0"/>
                <a:cs typeface="Arial MT"/>
              </a:rPr>
              <a:t>third party,</a:t>
            </a:r>
            <a:r>
              <a:rPr spc="-52" dirty="0">
                <a:latin typeface="Trebuchet MS" panose="020B0603020202020204" pitchFamily="34" charset="0"/>
                <a:cs typeface="Arial MT"/>
              </a:rPr>
              <a:t> </a:t>
            </a:r>
            <a:r>
              <a:rPr dirty="0">
                <a:latin typeface="Trebuchet MS" panose="020B0603020202020204" pitchFamily="34" charset="0"/>
                <a:cs typeface="Arial MT"/>
              </a:rPr>
              <a:t>or</a:t>
            </a:r>
            <a:r>
              <a:rPr spc="-45" dirty="0">
                <a:latin typeface="Trebuchet MS" panose="020B0603020202020204" pitchFamily="34" charset="0"/>
                <a:cs typeface="Arial MT"/>
              </a:rPr>
              <a:t> </a:t>
            </a:r>
            <a:r>
              <a:rPr dirty="0">
                <a:latin typeface="Trebuchet MS" panose="020B0603020202020204" pitchFamily="34" charset="0"/>
                <a:cs typeface="Arial MT"/>
              </a:rPr>
              <a:t>some</a:t>
            </a:r>
            <a:r>
              <a:rPr spc="-45" dirty="0">
                <a:latin typeface="Trebuchet MS" panose="020B0603020202020204" pitchFamily="34" charset="0"/>
                <a:cs typeface="Arial MT"/>
              </a:rPr>
              <a:t> </a:t>
            </a:r>
            <a:r>
              <a:rPr dirty="0">
                <a:latin typeface="Trebuchet MS" panose="020B0603020202020204" pitchFamily="34" charset="0"/>
                <a:cs typeface="Arial MT"/>
              </a:rPr>
              <a:t>combination</a:t>
            </a:r>
            <a:r>
              <a:rPr spc="-45" dirty="0">
                <a:latin typeface="Trebuchet MS" panose="020B0603020202020204" pitchFamily="34" charset="0"/>
                <a:cs typeface="Arial MT"/>
              </a:rPr>
              <a:t> </a:t>
            </a:r>
            <a:r>
              <a:rPr dirty="0">
                <a:latin typeface="Trebuchet MS" panose="020B0603020202020204" pitchFamily="34" charset="0"/>
                <a:cs typeface="Arial MT"/>
              </a:rPr>
              <a:t>of</a:t>
            </a:r>
            <a:r>
              <a:rPr spc="-45" dirty="0">
                <a:latin typeface="Trebuchet MS" panose="020B0603020202020204" pitchFamily="34" charset="0"/>
                <a:cs typeface="Arial MT"/>
              </a:rPr>
              <a:t> </a:t>
            </a:r>
            <a:r>
              <a:rPr dirty="0">
                <a:latin typeface="Trebuchet MS" panose="020B0603020202020204" pitchFamily="34" charset="0"/>
                <a:cs typeface="Arial MT"/>
              </a:rPr>
              <a:t>them,</a:t>
            </a:r>
            <a:r>
              <a:rPr spc="-45" dirty="0">
                <a:latin typeface="Trebuchet MS" panose="020B0603020202020204" pitchFamily="34" charset="0"/>
                <a:cs typeface="Arial MT"/>
              </a:rPr>
              <a:t> </a:t>
            </a:r>
            <a:r>
              <a:rPr dirty="0">
                <a:latin typeface="Trebuchet MS" panose="020B0603020202020204" pitchFamily="34" charset="0"/>
                <a:cs typeface="Arial MT"/>
              </a:rPr>
              <a:t>and</a:t>
            </a:r>
            <a:r>
              <a:rPr spc="-45" dirty="0">
                <a:latin typeface="Trebuchet MS" panose="020B0603020202020204" pitchFamily="34" charset="0"/>
                <a:cs typeface="Arial MT"/>
              </a:rPr>
              <a:t> </a:t>
            </a:r>
            <a:r>
              <a:rPr spc="-37" dirty="0">
                <a:latin typeface="Trebuchet MS" panose="020B0603020202020204" pitchFamily="34" charset="0"/>
                <a:cs typeface="Arial MT"/>
              </a:rPr>
              <a:t>it </a:t>
            </a:r>
            <a:r>
              <a:rPr dirty="0">
                <a:latin typeface="Trebuchet MS" panose="020B0603020202020204" pitchFamily="34" charset="0"/>
                <a:cs typeface="Arial MT"/>
              </a:rPr>
              <a:t>may</a:t>
            </a:r>
            <a:r>
              <a:rPr spc="-52" dirty="0">
                <a:latin typeface="Trebuchet MS" panose="020B0603020202020204" pitchFamily="34" charset="0"/>
                <a:cs typeface="Arial MT"/>
              </a:rPr>
              <a:t> </a:t>
            </a:r>
            <a:r>
              <a:rPr dirty="0">
                <a:latin typeface="Trebuchet MS" panose="020B0603020202020204" pitchFamily="34" charset="0"/>
                <a:cs typeface="Arial MT"/>
              </a:rPr>
              <a:t>exist</a:t>
            </a:r>
            <a:r>
              <a:rPr spc="-45" dirty="0">
                <a:latin typeface="Trebuchet MS" panose="020B0603020202020204" pitchFamily="34" charset="0"/>
                <a:cs typeface="Arial MT"/>
              </a:rPr>
              <a:t> </a:t>
            </a:r>
            <a:r>
              <a:rPr dirty="0">
                <a:latin typeface="Trebuchet MS" panose="020B0603020202020204" pitchFamily="34" charset="0"/>
                <a:cs typeface="Arial MT"/>
              </a:rPr>
              <a:t>on</a:t>
            </a:r>
            <a:r>
              <a:rPr spc="-52" dirty="0">
                <a:latin typeface="Trebuchet MS" panose="020B0603020202020204" pitchFamily="34" charset="0"/>
                <a:cs typeface="Arial MT"/>
              </a:rPr>
              <a:t> </a:t>
            </a:r>
            <a:r>
              <a:rPr dirty="0">
                <a:latin typeface="Trebuchet MS" panose="020B0603020202020204" pitchFamily="34" charset="0"/>
                <a:cs typeface="Arial MT"/>
              </a:rPr>
              <a:t>or</a:t>
            </a:r>
            <a:r>
              <a:rPr spc="-45" dirty="0">
                <a:latin typeface="Trebuchet MS" panose="020B0603020202020204" pitchFamily="34" charset="0"/>
                <a:cs typeface="Arial MT"/>
              </a:rPr>
              <a:t> </a:t>
            </a:r>
            <a:r>
              <a:rPr dirty="0">
                <a:latin typeface="Trebuchet MS" panose="020B0603020202020204" pitchFamily="34" charset="0"/>
                <a:cs typeface="Arial MT"/>
              </a:rPr>
              <a:t>off</a:t>
            </a:r>
            <a:r>
              <a:rPr spc="-52" dirty="0">
                <a:latin typeface="Trebuchet MS" panose="020B0603020202020204" pitchFamily="34" charset="0"/>
                <a:cs typeface="Arial MT"/>
              </a:rPr>
              <a:t> </a:t>
            </a:r>
            <a:r>
              <a:rPr spc="-15" dirty="0">
                <a:latin typeface="Trebuchet MS" panose="020B0603020202020204" pitchFamily="34" charset="0"/>
                <a:cs typeface="Arial MT"/>
              </a:rPr>
              <a:t>premises.</a:t>
            </a:r>
            <a:endParaRPr dirty="0">
              <a:latin typeface="Trebuchet MS" panose="020B0603020202020204" pitchFamily="34" charset="0"/>
              <a:cs typeface="Arial MT"/>
            </a:endParaRPr>
          </a:p>
          <a:p>
            <a:pPr marL="447331" marR="527549" indent="-318982">
              <a:lnSpc>
                <a:spcPct val="102699"/>
              </a:lnSpc>
              <a:spcBef>
                <a:spcPts val="869"/>
              </a:spcBef>
              <a:buFont typeface="Times New Roman"/>
              <a:buChar char="►"/>
              <a:tabLst>
                <a:tab pos="449219" algn="l"/>
              </a:tabLst>
            </a:pPr>
            <a:r>
              <a:rPr b="1" dirty="0">
                <a:latin typeface="Trebuchet MS" panose="020B0603020202020204" pitchFamily="34" charset="0"/>
                <a:cs typeface="Arial"/>
              </a:rPr>
              <a:t>Q:</a:t>
            </a:r>
            <a:r>
              <a:rPr b="1" spc="-45" dirty="0">
                <a:latin typeface="Trebuchet MS" panose="020B0603020202020204" pitchFamily="34" charset="0"/>
                <a:cs typeface="Arial"/>
              </a:rPr>
              <a:t> </a:t>
            </a:r>
            <a:r>
              <a:rPr dirty="0">
                <a:latin typeface="Trebuchet MS" panose="020B0603020202020204" pitchFamily="34" charset="0"/>
                <a:cs typeface="Arial MT"/>
              </a:rPr>
              <a:t>Which</a:t>
            </a:r>
            <a:r>
              <a:rPr spc="-37" dirty="0">
                <a:latin typeface="Trebuchet MS" panose="020B0603020202020204" pitchFamily="34" charset="0"/>
                <a:cs typeface="Arial MT"/>
              </a:rPr>
              <a:t> </a:t>
            </a:r>
            <a:r>
              <a:rPr dirty="0">
                <a:latin typeface="Trebuchet MS" panose="020B0603020202020204" pitchFamily="34" charset="0"/>
                <a:cs typeface="Arial MT"/>
              </a:rPr>
              <a:t>enterprises</a:t>
            </a:r>
            <a:r>
              <a:rPr spc="-37" dirty="0">
                <a:latin typeface="Trebuchet MS" panose="020B0603020202020204" pitchFamily="34" charset="0"/>
                <a:cs typeface="Arial MT"/>
              </a:rPr>
              <a:t> </a:t>
            </a:r>
            <a:r>
              <a:rPr dirty="0">
                <a:latin typeface="Trebuchet MS" panose="020B0603020202020204" pitchFamily="34" charset="0"/>
                <a:cs typeface="Arial MT"/>
              </a:rPr>
              <a:t>are</a:t>
            </a:r>
            <a:r>
              <a:rPr spc="-37" dirty="0">
                <a:latin typeface="Trebuchet MS" panose="020B0603020202020204" pitchFamily="34" charset="0"/>
                <a:cs typeface="Arial MT"/>
              </a:rPr>
              <a:t> </a:t>
            </a:r>
            <a:r>
              <a:rPr spc="-15" dirty="0">
                <a:latin typeface="Trebuchet MS" panose="020B0603020202020204" pitchFamily="34" charset="0"/>
                <a:cs typeface="Arial MT"/>
              </a:rPr>
              <a:t>likely</a:t>
            </a:r>
            <a:r>
              <a:rPr spc="-37" dirty="0">
                <a:latin typeface="Trebuchet MS" panose="020B0603020202020204" pitchFamily="34" charset="0"/>
                <a:cs typeface="Arial MT"/>
              </a:rPr>
              <a:t> </a:t>
            </a:r>
            <a:r>
              <a:rPr dirty="0">
                <a:latin typeface="Trebuchet MS" panose="020B0603020202020204" pitchFamily="34" charset="0"/>
                <a:cs typeface="Arial MT"/>
              </a:rPr>
              <a:t>to</a:t>
            </a:r>
            <a:r>
              <a:rPr spc="-37" dirty="0">
                <a:latin typeface="Trebuchet MS" panose="020B0603020202020204" pitchFamily="34" charset="0"/>
                <a:cs typeface="Arial MT"/>
              </a:rPr>
              <a:t> </a:t>
            </a:r>
            <a:r>
              <a:rPr dirty="0">
                <a:latin typeface="Trebuchet MS" panose="020B0603020202020204" pitchFamily="34" charset="0"/>
                <a:cs typeface="Arial MT"/>
              </a:rPr>
              <a:t>use</a:t>
            </a:r>
            <a:r>
              <a:rPr spc="-37" dirty="0">
                <a:latin typeface="Trebuchet MS" panose="020B0603020202020204" pitchFamily="34" charset="0"/>
                <a:cs typeface="Arial MT"/>
              </a:rPr>
              <a:t> </a:t>
            </a:r>
            <a:r>
              <a:rPr dirty="0">
                <a:latin typeface="Trebuchet MS" panose="020B0603020202020204" pitchFamily="34" charset="0"/>
                <a:cs typeface="Arial MT"/>
              </a:rPr>
              <a:t>a</a:t>
            </a:r>
            <a:r>
              <a:rPr spc="-45" dirty="0">
                <a:latin typeface="Trebuchet MS" panose="020B0603020202020204" pitchFamily="34" charset="0"/>
                <a:cs typeface="Arial MT"/>
              </a:rPr>
              <a:t> </a:t>
            </a:r>
            <a:r>
              <a:rPr spc="-15" dirty="0">
                <a:latin typeface="Trebuchet MS" panose="020B0603020202020204" pitchFamily="34" charset="0"/>
                <a:cs typeface="Arial MT"/>
              </a:rPr>
              <a:t>private </a:t>
            </a:r>
            <a:r>
              <a:rPr dirty="0">
                <a:latin typeface="Trebuchet MS" panose="020B0603020202020204" pitchFamily="34" charset="0"/>
                <a:cs typeface="Arial MT"/>
              </a:rPr>
              <a:t>cloud?</a:t>
            </a:r>
            <a:r>
              <a:rPr spc="7" dirty="0">
                <a:latin typeface="Trebuchet MS" panose="020B0603020202020204" pitchFamily="34" charset="0"/>
                <a:cs typeface="Arial MT"/>
              </a:rPr>
              <a:t> </a:t>
            </a:r>
            <a:r>
              <a:rPr dirty="0">
                <a:latin typeface="Trebuchet MS" panose="020B0603020202020204" pitchFamily="34" charset="0"/>
                <a:cs typeface="Arial MT"/>
              </a:rPr>
              <a:t>And</a:t>
            </a:r>
            <a:r>
              <a:rPr spc="-74" dirty="0">
                <a:latin typeface="Trebuchet MS" panose="020B0603020202020204" pitchFamily="34" charset="0"/>
                <a:cs typeface="Arial MT"/>
              </a:rPr>
              <a:t> </a:t>
            </a:r>
            <a:r>
              <a:rPr spc="-30" dirty="0">
                <a:latin typeface="Trebuchet MS" panose="020B0603020202020204" pitchFamily="34" charset="0"/>
                <a:cs typeface="Arial MT"/>
              </a:rPr>
              <a:t>why?</a:t>
            </a:r>
            <a:endParaRPr dirty="0">
              <a:latin typeface="Trebuchet MS" panose="020B0603020202020204" pitchFamily="34" charset="0"/>
              <a:cs typeface="Arial MT"/>
            </a:endParaRPr>
          </a:p>
        </p:txBody>
      </p:sp>
      <p:sp>
        <p:nvSpPr>
          <p:cNvPr id="29" name="object 29"/>
          <p:cNvSpPr/>
          <p:nvPr/>
        </p:nvSpPr>
        <p:spPr>
          <a:xfrm>
            <a:off x="2541950" y="4650327"/>
            <a:ext cx="2718033"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endParaRPr sz="2675"/>
          </a:p>
        </p:txBody>
      </p:sp>
      <p:sp>
        <p:nvSpPr>
          <p:cNvPr id="30" name="object 30"/>
          <p:cNvSpPr txBox="1"/>
          <p:nvPr/>
        </p:nvSpPr>
        <p:spPr>
          <a:xfrm>
            <a:off x="1099080" y="3962828"/>
            <a:ext cx="7206720" cy="210301"/>
          </a:xfrm>
          <a:prstGeom prst="rect">
            <a:avLst/>
          </a:prstGeom>
        </p:spPr>
        <p:txBody>
          <a:bodyPr vert="horz" wrap="square" lIns="0" tIns="15100" rIns="0" bIns="0" rtlCol="0">
            <a:spAutoFit/>
          </a:bodyPr>
          <a:lstStyle/>
          <a:p>
            <a:pPr marL="56624" marR="45299" indent="232159">
              <a:lnSpc>
                <a:spcPct val="101499"/>
              </a:lnSpc>
              <a:spcBef>
                <a:spcPts val="119"/>
              </a:spcBef>
            </a:pPr>
            <a:r>
              <a:rPr sz="1338" baseline="37037" dirty="0">
                <a:latin typeface="Arial MT"/>
                <a:cs typeface="Arial MT"/>
              </a:rPr>
              <a:t>6</a:t>
            </a:r>
            <a:r>
              <a:rPr sz="1338" dirty="0">
                <a:latin typeface="Arial MT"/>
                <a:cs typeface="Arial MT"/>
              </a:rPr>
              <a:t>Mell,</a:t>
            </a:r>
            <a:r>
              <a:rPr sz="1338" spc="-37" dirty="0">
                <a:latin typeface="Arial MT"/>
                <a:cs typeface="Arial MT"/>
              </a:rPr>
              <a:t> </a:t>
            </a:r>
            <a:r>
              <a:rPr sz="1338" spc="-30" dirty="0">
                <a:latin typeface="Arial MT"/>
                <a:cs typeface="Arial MT"/>
              </a:rPr>
              <a:t>Peter, </a:t>
            </a:r>
            <a:r>
              <a:rPr sz="1338" dirty="0">
                <a:latin typeface="Arial MT"/>
                <a:cs typeface="Arial MT"/>
              </a:rPr>
              <a:t>and</a:t>
            </a:r>
            <a:r>
              <a:rPr sz="1338" spc="-30" dirty="0">
                <a:latin typeface="Arial MT"/>
                <a:cs typeface="Arial MT"/>
              </a:rPr>
              <a:t> </a:t>
            </a:r>
            <a:r>
              <a:rPr sz="1338" dirty="0">
                <a:latin typeface="Arial MT"/>
                <a:cs typeface="Arial MT"/>
              </a:rPr>
              <a:t>Tim</a:t>
            </a:r>
            <a:r>
              <a:rPr sz="1338" spc="-30" dirty="0">
                <a:latin typeface="Arial MT"/>
                <a:cs typeface="Arial MT"/>
              </a:rPr>
              <a:t> </a:t>
            </a:r>
            <a:r>
              <a:rPr sz="1338" dirty="0">
                <a:latin typeface="Arial MT"/>
                <a:cs typeface="Arial MT"/>
              </a:rPr>
              <a:t>Grance.</a:t>
            </a:r>
            <a:r>
              <a:rPr sz="1338" spc="52" dirty="0">
                <a:latin typeface="Arial MT"/>
                <a:cs typeface="Arial MT"/>
              </a:rPr>
              <a:t> </a:t>
            </a:r>
            <a:r>
              <a:rPr sz="1338" dirty="0">
                <a:latin typeface="Arial MT"/>
                <a:cs typeface="Arial MT"/>
              </a:rPr>
              <a:t>”The</a:t>
            </a:r>
            <a:r>
              <a:rPr sz="1338" spc="-30" dirty="0">
                <a:latin typeface="Arial MT"/>
                <a:cs typeface="Arial MT"/>
              </a:rPr>
              <a:t> </a:t>
            </a:r>
            <a:r>
              <a:rPr sz="1338" dirty="0">
                <a:latin typeface="Arial MT"/>
                <a:cs typeface="Arial MT"/>
              </a:rPr>
              <a:t>NIST</a:t>
            </a:r>
            <a:r>
              <a:rPr sz="1338" spc="-30" dirty="0">
                <a:latin typeface="Arial MT"/>
                <a:cs typeface="Arial MT"/>
              </a:rPr>
              <a:t> </a:t>
            </a:r>
            <a:r>
              <a:rPr sz="1338" dirty="0">
                <a:latin typeface="Arial MT"/>
                <a:cs typeface="Arial MT"/>
              </a:rPr>
              <a:t>definition</a:t>
            </a:r>
            <a:r>
              <a:rPr sz="1338" spc="-30" dirty="0">
                <a:latin typeface="Arial MT"/>
                <a:cs typeface="Arial MT"/>
              </a:rPr>
              <a:t> </a:t>
            </a:r>
            <a:r>
              <a:rPr sz="1338" dirty="0">
                <a:latin typeface="Arial MT"/>
                <a:cs typeface="Arial MT"/>
              </a:rPr>
              <a:t>of</a:t>
            </a:r>
            <a:r>
              <a:rPr sz="1338" spc="-30" dirty="0">
                <a:latin typeface="Arial MT"/>
                <a:cs typeface="Arial MT"/>
              </a:rPr>
              <a:t> </a:t>
            </a:r>
            <a:r>
              <a:rPr sz="1338" spc="-15" dirty="0">
                <a:latin typeface="Arial MT"/>
                <a:cs typeface="Arial MT"/>
              </a:rPr>
              <a:t>cloud computing.”</a:t>
            </a:r>
            <a:r>
              <a:rPr sz="1338" spc="-52" dirty="0">
                <a:latin typeface="Arial MT"/>
                <a:cs typeface="Arial MT"/>
              </a:rPr>
              <a:t> </a:t>
            </a:r>
            <a:r>
              <a:rPr sz="1338" spc="-15" dirty="0">
                <a:latin typeface="Arial MT"/>
                <a:cs typeface="Arial MT"/>
              </a:rPr>
              <a:t>(2011)</a:t>
            </a:r>
            <a:endParaRPr sz="1338" dirty="0">
              <a:latin typeface="Arial MT"/>
              <a:cs typeface="Arial MT"/>
            </a:endParaRPr>
          </a:p>
        </p:txBody>
      </p:sp>
    </p:spTree>
  </p:cSld>
  <p:clrMapOvr>
    <a:masterClrMapping/>
  </p:clrMapOvr>
  <p:transition>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873850" y="273781"/>
            <a:ext cx="6069747" cy="456618"/>
          </a:xfrm>
          <a:prstGeom prst="rect">
            <a:avLst/>
          </a:prstGeom>
        </p:spPr>
        <p:txBody>
          <a:bodyPr vert="horz" wrap="square" lIns="0" tIns="25482" rIns="0" bIns="0" rtlCol="0">
            <a:spAutoFit/>
          </a:bodyPr>
          <a:lstStyle/>
          <a:p>
            <a:pPr marL="18875">
              <a:spcBef>
                <a:spcPts val="201"/>
              </a:spcBef>
            </a:pPr>
            <a:r>
              <a:rPr dirty="0"/>
              <a:t>Deployment</a:t>
            </a:r>
            <a:r>
              <a:rPr spc="97" dirty="0"/>
              <a:t> </a:t>
            </a:r>
            <a:r>
              <a:rPr spc="-15" dirty="0"/>
              <a:t>Models</a:t>
            </a:r>
          </a:p>
        </p:txBody>
      </p:sp>
      <p:sp>
        <p:nvSpPr>
          <p:cNvPr id="28" name="object 28"/>
          <p:cNvSpPr txBox="1"/>
          <p:nvPr/>
        </p:nvSpPr>
        <p:spPr>
          <a:xfrm>
            <a:off x="409859" y="895350"/>
            <a:ext cx="7384670" cy="3345441"/>
          </a:xfrm>
          <a:prstGeom prst="rect">
            <a:avLst/>
          </a:prstGeom>
        </p:spPr>
        <p:txBody>
          <a:bodyPr vert="horz" wrap="square" lIns="0" tIns="57569" rIns="0" bIns="0" rtlCol="0">
            <a:spAutoFit/>
          </a:bodyPr>
          <a:lstStyle/>
          <a:p>
            <a:pPr marL="37749">
              <a:spcBef>
                <a:spcPts val="453"/>
              </a:spcBef>
            </a:pPr>
            <a:r>
              <a:rPr sz="1635" dirty="0">
                <a:latin typeface="Arial MT"/>
                <a:cs typeface="Arial MT"/>
              </a:rPr>
              <a:t>NIST</a:t>
            </a:r>
            <a:r>
              <a:rPr sz="1635" spc="-52" dirty="0">
                <a:latin typeface="Arial MT"/>
                <a:cs typeface="Arial MT"/>
              </a:rPr>
              <a:t> </a:t>
            </a:r>
            <a:r>
              <a:rPr sz="1635" dirty="0">
                <a:latin typeface="Arial MT"/>
                <a:cs typeface="Arial MT"/>
              </a:rPr>
              <a:t>lists</a:t>
            </a:r>
            <a:r>
              <a:rPr sz="1635" spc="-52" dirty="0">
                <a:latin typeface="Arial MT"/>
                <a:cs typeface="Arial MT"/>
              </a:rPr>
              <a:t> </a:t>
            </a:r>
            <a:r>
              <a:rPr sz="1635" dirty="0">
                <a:latin typeface="Arial MT"/>
                <a:cs typeface="Arial MT"/>
              </a:rPr>
              <a:t>the</a:t>
            </a:r>
            <a:r>
              <a:rPr sz="1635" spc="-52" dirty="0">
                <a:latin typeface="Arial MT"/>
                <a:cs typeface="Arial MT"/>
              </a:rPr>
              <a:t> </a:t>
            </a:r>
            <a:r>
              <a:rPr sz="1635" spc="-15" dirty="0">
                <a:latin typeface="Arial MT"/>
                <a:cs typeface="Arial MT"/>
              </a:rPr>
              <a:t>following</a:t>
            </a:r>
            <a:r>
              <a:rPr sz="1635" spc="-45" dirty="0">
                <a:latin typeface="Arial MT"/>
                <a:cs typeface="Arial MT"/>
              </a:rPr>
              <a:t> </a:t>
            </a:r>
            <a:r>
              <a:rPr sz="1635" dirty="0">
                <a:latin typeface="Arial MT"/>
                <a:cs typeface="Arial MT"/>
              </a:rPr>
              <a:t>4</a:t>
            </a:r>
            <a:r>
              <a:rPr sz="1635" spc="-52" dirty="0">
                <a:latin typeface="Arial MT"/>
                <a:cs typeface="Arial MT"/>
              </a:rPr>
              <a:t> </a:t>
            </a:r>
            <a:r>
              <a:rPr sz="1635" spc="-15" dirty="0">
                <a:latin typeface="Arial MT"/>
                <a:cs typeface="Arial MT"/>
              </a:rPr>
              <a:t>deployment</a:t>
            </a:r>
            <a:r>
              <a:rPr sz="1635" spc="-52" dirty="0">
                <a:latin typeface="Arial MT"/>
                <a:cs typeface="Arial MT"/>
              </a:rPr>
              <a:t> </a:t>
            </a:r>
            <a:r>
              <a:rPr sz="1635" spc="-15" dirty="0">
                <a:latin typeface="Arial MT"/>
                <a:cs typeface="Arial MT"/>
              </a:rPr>
              <a:t>models:</a:t>
            </a:r>
            <a:r>
              <a:rPr sz="1783" spc="-22" baseline="27777" dirty="0">
                <a:latin typeface="Arial MT"/>
                <a:cs typeface="Arial MT"/>
              </a:rPr>
              <a:t>6</a:t>
            </a:r>
            <a:endParaRPr sz="1783" baseline="27777" dirty="0">
              <a:latin typeface="Arial MT"/>
              <a:cs typeface="Arial MT"/>
            </a:endParaRPr>
          </a:p>
          <a:p>
            <a:pPr marL="1209869" marR="26425" indent="-855026">
              <a:lnSpc>
                <a:spcPct val="102600"/>
              </a:lnSpc>
              <a:spcBef>
                <a:spcPts val="253"/>
              </a:spcBef>
            </a:pPr>
            <a:r>
              <a:rPr sz="1635" b="1" dirty="0">
                <a:latin typeface="Arial"/>
                <a:cs typeface="Arial"/>
              </a:rPr>
              <a:t>Private:</a:t>
            </a:r>
            <a:r>
              <a:rPr sz="1635" b="1" spc="245" dirty="0">
                <a:latin typeface="Arial"/>
                <a:cs typeface="Arial"/>
              </a:rPr>
              <a:t> </a:t>
            </a:r>
            <a:r>
              <a:rPr sz="1635" dirty="0">
                <a:latin typeface="Arial MT"/>
                <a:cs typeface="Arial MT"/>
              </a:rPr>
              <a:t>The</a:t>
            </a:r>
            <a:r>
              <a:rPr sz="1635" spc="-59" dirty="0">
                <a:latin typeface="Arial MT"/>
                <a:cs typeface="Arial MT"/>
              </a:rPr>
              <a:t> </a:t>
            </a:r>
            <a:r>
              <a:rPr sz="1635" dirty="0">
                <a:latin typeface="Arial MT"/>
                <a:cs typeface="Arial MT"/>
              </a:rPr>
              <a:t>cloud</a:t>
            </a:r>
            <a:r>
              <a:rPr sz="1635" spc="-67" dirty="0">
                <a:latin typeface="Arial MT"/>
                <a:cs typeface="Arial MT"/>
              </a:rPr>
              <a:t> </a:t>
            </a:r>
            <a:r>
              <a:rPr sz="1635" dirty="0">
                <a:latin typeface="Arial MT"/>
                <a:cs typeface="Arial MT"/>
              </a:rPr>
              <a:t>infrastructure</a:t>
            </a:r>
            <a:r>
              <a:rPr sz="1635" spc="-59" dirty="0">
                <a:latin typeface="Arial MT"/>
                <a:cs typeface="Arial MT"/>
              </a:rPr>
              <a:t> </a:t>
            </a:r>
            <a:r>
              <a:rPr sz="1635" dirty="0">
                <a:latin typeface="Arial MT"/>
                <a:cs typeface="Arial MT"/>
              </a:rPr>
              <a:t>is</a:t>
            </a:r>
            <a:r>
              <a:rPr sz="1635" spc="-59" dirty="0">
                <a:latin typeface="Arial MT"/>
                <a:cs typeface="Arial MT"/>
              </a:rPr>
              <a:t> </a:t>
            </a:r>
            <a:r>
              <a:rPr sz="1635" spc="-15" dirty="0">
                <a:latin typeface="Arial MT"/>
                <a:cs typeface="Arial MT"/>
              </a:rPr>
              <a:t>provisioned</a:t>
            </a:r>
            <a:r>
              <a:rPr sz="1635" spc="-59" dirty="0">
                <a:latin typeface="Arial MT"/>
                <a:cs typeface="Arial MT"/>
              </a:rPr>
              <a:t> </a:t>
            </a:r>
            <a:r>
              <a:rPr sz="1635" spc="-37" dirty="0">
                <a:latin typeface="Arial MT"/>
                <a:cs typeface="Arial MT"/>
              </a:rPr>
              <a:t>for </a:t>
            </a:r>
            <a:r>
              <a:rPr sz="1635" spc="-15" dirty="0">
                <a:latin typeface="Arial MT"/>
                <a:cs typeface="Arial MT"/>
              </a:rPr>
              <a:t>exclusive</a:t>
            </a:r>
            <a:r>
              <a:rPr sz="1635" spc="-59" dirty="0">
                <a:latin typeface="Arial MT"/>
                <a:cs typeface="Arial MT"/>
              </a:rPr>
              <a:t> </a:t>
            </a:r>
            <a:r>
              <a:rPr sz="1635" dirty="0">
                <a:latin typeface="Arial MT"/>
                <a:cs typeface="Arial MT"/>
              </a:rPr>
              <a:t>use</a:t>
            </a:r>
            <a:r>
              <a:rPr sz="1635" spc="-59" dirty="0">
                <a:latin typeface="Arial MT"/>
                <a:cs typeface="Arial MT"/>
              </a:rPr>
              <a:t> </a:t>
            </a:r>
            <a:r>
              <a:rPr sz="1635" dirty="0">
                <a:latin typeface="Arial MT"/>
                <a:cs typeface="Arial MT"/>
              </a:rPr>
              <a:t>by</a:t>
            </a:r>
            <a:r>
              <a:rPr sz="1635" spc="-59" dirty="0">
                <a:latin typeface="Arial MT"/>
                <a:cs typeface="Arial MT"/>
              </a:rPr>
              <a:t> </a:t>
            </a:r>
            <a:r>
              <a:rPr sz="1635" dirty="0">
                <a:latin typeface="Arial MT"/>
                <a:cs typeface="Arial MT"/>
              </a:rPr>
              <a:t>a</a:t>
            </a:r>
            <a:r>
              <a:rPr sz="1635" spc="-59" dirty="0">
                <a:latin typeface="Arial MT"/>
                <a:cs typeface="Arial MT"/>
              </a:rPr>
              <a:t> </a:t>
            </a:r>
            <a:r>
              <a:rPr sz="1635" dirty="0">
                <a:latin typeface="Arial MT"/>
                <a:cs typeface="Arial MT"/>
              </a:rPr>
              <a:t>single</a:t>
            </a:r>
            <a:r>
              <a:rPr sz="1635" spc="-59" dirty="0">
                <a:latin typeface="Arial MT"/>
                <a:cs typeface="Arial MT"/>
              </a:rPr>
              <a:t> </a:t>
            </a:r>
            <a:r>
              <a:rPr sz="1635" spc="-15" dirty="0">
                <a:latin typeface="Arial MT"/>
                <a:cs typeface="Arial MT"/>
              </a:rPr>
              <a:t>organization </a:t>
            </a:r>
            <a:r>
              <a:rPr sz="1635" dirty="0">
                <a:latin typeface="Arial MT"/>
                <a:cs typeface="Arial MT"/>
              </a:rPr>
              <a:t>comprising</a:t>
            </a:r>
            <a:r>
              <a:rPr sz="1635" spc="-67" dirty="0">
                <a:latin typeface="Arial MT"/>
                <a:cs typeface="Arial MT"/>
              </a:rPr>
              <a:t> </a:t>
            </a:r>
            <a:r>
              <a:rPr sz="1635" spc="-15" dirty="0">
                <a:latin typeface="Arial MT"/>
                <a:cs typeface="Arial MT"/>
              </a:rPr>
              <a:t>multiple</a:t>
            </a:r>
            <a:r>
              <a:rPr sz="1635" spc="-67" dirty="0">
                <a:latin typeface="Arial MT"/>
                <a:cs typeface="Arial MT"/>
              </a:rPr>
              <a:t> </a:t>
            </a:r>
            <a:r>
              <a:rPr sz="1635" dirty="0">
                <a:latin typeface="Arial MT"/>
                <a:cs typeface="Arial MT"/>
              </a:rPr>
              <a:t>consumers</a:t>
            </a:r>
            <a:r>
              <a:rPr sz="1635" spc="-67" dirty="0">
                <a:latin typeface="Arial MT"/>
                <a:cs typeface="Arial MT"/>
              </a:rPr>
              <a:t> </a:t>
            </a:r>
            <a:r>
              <a:rPr sz="1635" spc="-15" dirty="0">
                <a:latin typeface="Arial MT"/>
                <a:cs typeface="Arial MT"/>
              </a:rPr>
              <a:t>(e.g., business</a:t>
            </a:r>
            <a:r>
              <a:rPr sz="1635" spc="-52" dirty="0">
                <a:latin typeface="Arial MT"/>
                <a:cs typeface="Arial MT"/>
              </a:rPr>
              <a:t> </a:t>
            </a:r>
            <a:r>
              <a:rPr sz="1635" dirty="0">
                <a:latin typeface="Arial MT"/>
                <a:cs typeface="Arial MT"/>
              </a:rPr>
              <a:t>units).</a:t>
            </a:r>
            <a:r>
              <a:rPr sz="1635" spc="59" dirty="0">
                <a:latin typeface="Arial MT"/>
                <a:cs typeface="Arial MT"/>
              </a:rPr>
              <a:t> </a:t>
            </a:r>
            <a:r>
              <a:rPr sz="1635" dirty="0">
                <a:latin typeface="Arial MT"/>
                <a:cs typeface="Arial MT"/>
              </a:rPr>
              <a:t>It</a:t>
            </a:r>
            <a:r>
              <a:rPr sz="1635" spc="-45" dirty="0">
                <a:latin typeface="Arial MT"/>
                <a:cs typeface="Arial MT"/>
              </a:rPr>
              <a:t> </a:t>
            </a:r>
            <a:r>
              <a:rPr sz="1635" spc="-15" dirty="0">
                <a:latin typeface="Arial MT"/>
                <a:cs typeface="Arial MT"/>
              </a:rPr>
              <a:t>may</a:t>
            </a:r>
            <a:r>
              <a:rPr sz="1635" spc="-52" dirty="0">
                <a:latin typeface="Arial MT"/>
                <a:cs typeface="Arial MT"/>
              </a:rPr>
              <a:t> </a:t>
            </a:r>
            <a:r>
              <a:rPr sz="1635" dirty="0">
                <a:latin typeface="Arial MT"/>
                <a:cs typeface="Arial MT"/>
              </a:rPr>
              <a:t>be</a:t>
            </a:r>
            <a:r>
              <a:rPr sz="1635" spc="-45" dirty="0">
                <a:latin typeface="Arial MT"/>
                <a:cs typeface="Arial MT"/>
              </a:rPr>
              <a:t> </a:t>
            </a:r>
            <a:r>
              <a:rPr sz="1635" spc="-15" dirty="0">
                <a:latin typeface="Arial MT"/>
                <a:cs typeface="Arial MT"/>
              </a:rPr>
              <a:t>owned,</a:t>
            </a:r>
            <a:r>
              <a:rPr sz="1635" spc="-52" dirty="0">
                <a:latin typeface="Arial MT"/>
                <a:cs typeface="Arial MT"/>
              </a:rPr>
              <a:t> </a:t>
            </a:r>
            <a:r>
              <a:rPr sz="1635" spc="-15" dirty="0">
                <a:latin typeface="Arial MT"/>
                <a:cs typeface="Arial MT"/>
              </a:rPr>
              <a:t>managed, </a:t>
            </a:r>
            <a:r>
              <a:rPr sz="1635" dirty="0">
                <a:latin typeface="Arial MT"/>
                <a:cs typeface="Arial MT"/>
              </a:rPr>
              <a:t>and</a:t>
            </a:r>
            <a:r>
              <a:rPr sz="1635" spc="-59" dirty="0">
                <a:latin typeface="Arial MT"/>
                <a:cs typeface="Arial MT"/>
              </a:rPr>
              <a:t> </a:t>
            </a:r>
            <a:r>
              <a:rPr sz="1635" dirty="0">
                <a:latin typeface="Arial MT"/>
                <a:cs typeface="Arial MT"/>
              </a:rPr>
              <a:t>operated</a:t>
            </a:r>
            <a:r>
              <a:rPr sz="1635" spc="-59" dirty="0">
                <a:latin typeface="Arial MT"/>
                <a:cs typeface="Arial MT"/>
              </a:rPr>
              <a:t> </a:t>
            </a:r>
            <a:r>
              <a:rPr sz="1635" dirty="0">
                <a:latin typeface="Arial MT"/>
                <a:cs typeface="Arial MT"/>
              </a:rPr>
              <a:t>by</a:t>
            </a:r>
            <a:r>
              <a:rPr sz="1635" spc="-52" dirty="0">
                <a:latin typeface="Arial MT"/>
                <a:cs typeface="Arial MT"/>
              </a:rPr>
              <a:t> </a:t>
            </a:r>
            <a:r>
              <a:rPr sz="1635" dirty="0">
                <a:latin typeface="Arial MT"/>
                <a:cs typeface="Arial MT"/>
              </a:rPr>
              <a:t>the</a:t>
            </a:r>
            <a:r>
              <a:rPr sz="1635" spc="-59" dirty="0">
                <a:latin typeface="Arial MT"/>
                <a:cs typeface="Arial MT"/>
              </a:rPr>
              <a:t> </a:t>
            </a:r>
            <a:r>
              <a:rPr sz="1635" dirty="0">
                <a:latin typeface="Arial MT"/>
                <a:cs typeface="Arial MT"/>
              </a:rPr>
              <a:t>organization,</a:t>
            </a:r>
            <a:r>
              <a:rPr sz="1635" spc="-52" dirty="0">
                <a:latin typeface="Arial MT"/>
                <a:cs typeface="Arial MT"/>
              </a:rPr>
              <a:t> </a:t>
            </a:r>
            <a:r>
              <a:rPr sz="1635" dirty="0">
                <a:latin typeface="Arial MT"/>
                <a:cs typeface="Arial MT"/>
              </a:rPr>
              <a:t>a</a:t>
            </a:r>
            <a:r>
              <a:rPr sz="1635" spc="-59" dirty="0">
                <a:latin typeface="Arial MT"/>
                <a:cs typeface="Arial MT"/>
              </a:rPr>
              <a:t> </a:t>
            </a:r>
            <a:r>
              <a:rPr sz="1635" spc="-15" dirty="0">
                <a:latin typeface="Arial MT"/>
                <a:cs typeface="Arial MT"/>
              </a:rPr>
              <a:t>third party,</a:t>
            </a:r>
            <a:r>
              <a:rPr sz="1635" spc="-52" dirty="0">
                <a:latin typeface="Arial MT"/>
                <a:cs typeface="Arial MT"/>
              </a:rPr>
              <a:t> </a:t>
            </a:r>
            <a:r>
              <a:rPr sz="1635" dirty="0">
                <a:latin typeface="Arial MT"/>
                <a:cs typeface="Arial MT"/>
              </a:rPr>
              <a:t>or</a:t>
            </a:r>
            <a:r>
              <a:rPr sz="1635" spc="-45" dirty="0">
                <a:latin typeface="Arial MT"/>
                <a:cs typeface="Arial MT"/>
              </a:rPr>
              <a:t> </a:t>
            </a:r>
            <a:r>
              <a:rPr sz="1635" dirty="0">
                <a:latin typeface="Arial MT"/>
                <a:cs typeface="Arial MT"/>
              </a:rPr>
              <a:t>some</a:t>
            </a:r>
            <a:r>
              <a:rPr sz="1635" spc="-45" dirty="0">
                <a:latin typeface="Arial MT"/>
                <a:cs typeface="Arial MT"/>
              </a:rPr>
              <a:t> </a:t>
            </a:r>
            <a:r>
              <a:rPr sz="1635" dirty="0">
                <a:latin typeface="Arial MT"/>
                <a:cs typeface="Arial MT"/>
              </a:rPr>
              <a:t>combination</a:t>
            </a:r>
            <a:r>
              <a:rPr sz="1635" spc="-45" dirty="0">
                <a:latin typeface="Arial MT"/>
                <a:cs typeface="Arial MT"/>
              </a:rPr>
              <a:t> </a:t>
            </a:r>
            <a:r>
              <a:rPr sz="1635" dirty="0">
                <a:latin typeface="Arial MT"/>
                <a:cs typeface="Arial MT"/>
              </a:rPr>
              <a:t>of</a:t>
            </a:r>
            <a:r>
              <a:rPr sz="1635" spc="-45" dirty="0">
                <a:latin typeface="Arial MT"/>
                <a:cs typeface="Arial MT"/>
              </a:rPr>
              <a:t> </a:t>
            </a:r>
            <a:r>
              <a:rPr sz="1635" dirty="0">
                <a:latin typeface="Arial MT"/>
                <a:cs typeface="Arial MT"/>
              </a:rPr>
              <a:t>them,</a:t>
            </a:r>
            <a:r>
              <a:rPr sz="1635" spc="-45" dirty="0">
                <a:latin typeface="Arial MT"/>
                <a:cs typeface="Arial MT"/>
              </a:rPr>
              <a:t> </a:t>
            </a:r>
            <a:r>
              <a:rPr sz="1635" dirty="0">
                <a:latin typeface="Arial MT"/>
                <a:cs typeface="Arial MT"/>
              </a:rPr>
              <a:t>and</a:t>
            </a:r>
            <a:r>
              <a:rPr sz="1635" spc="-45" dirty="0">
                <a:latin typeface="Arial MT"/>
                <a:cs typeface="Arial MT"/>
              </a:rPr>
              <a:t> </a:t>
            </a:r>
            <a:r>
              <a:rPr sz="1635" spc="-37" dirty="0">
                <a:latin typeface="Arial MT"/>
                <a:cs typeface="Arial MT"/>
              </a:rPr>
              <a:t>it </a:t>
            </a:r>
            <a:r>
              <a:rPr sz="1635" dirty="0">
                <a:latin typeface="Arial MT"/>
                <a:cs typeface="Arial MT"/>
              </a:rPr>
              <a:t>may</a:t>
            </a:r>
            <a:r>
              <a:rPr sz="1635" spc="-52" dirty="0">
                <a:latin typeface="Arial MT"/>
                <a:cs typeface="Arial MT"/>
              </a:rPr>
              <a:t> </a:t>
            </a:r>
            <a:r>
              <a:rPr sz="1635" dirty="0">
                <a:latin typeface="Arial MT"/>
                <a:cs typeface="Arial MT"/>
              </a:rPr>
              <a:t>exist</a:t>
            </a:r>
            <a:r>
              <a:rPr sz="1635" spc="-45" dirty="0">
                <a:latin typeface="Arial MT"/>
                <a:cs typeface="Arial MT"/>
              </a:rPr>
              <a:t> </a:t>
            </a:r>
            <a:r>
              <a:rPr sz="1635" dirty="0">
                <a:latin typeface="Arial MT"/>
                <a:cs typeface="Arial MT"/>
              </a:rPr>
              <a:t>on</a:t>
            </a:r>
            <a:r>
              <a:rPr sz="1635" spc="-52" dirty="0">
                <a:latin typeface="Arial MT"/>
                <a:cs typeface="Arial MT"/>
              </a:rPr>
              <a:t> </a:t>
            </a:r>
            <a:r>
              <a:rPr sz="1635" dirty="0">
                <a:latin typeface="Arial MT"/>
                <a:cs typeface="Arial MT"/>
              </a:rPr>
              <a:t>or</a:t>
            </a:r>
            <a:r>
              <a:rPr sz="1635" spc="-45" dirty="0">
                <a:latin typeface="Arial MT"/>
                <a:cs typeface="Arial MT"/>
              </a:rPr>
              <a:t> </a:t>
            </a:r>
            <a:r>
              <a:rPr sz="1635" dirty="0">
                <a:latin typeface="Arial MT"/>
                <a:cs typeface="Arial MT"/>
              </a:rPr>
              <a:t>off</a:t>
            </a:r>
            <a:r>
              <a:rPr sz="1635" spc="-52" dirty="0">
                <a:latin typeface="Arial MT"/>
                <a:cs typeface="Arial MT"/>
              </a:rPr>
              <a:t> </a:t>
            </a:r>
            <a:r>
              <a:rPr sz="1635" spc="-15" dirty="0">
                <a:latin typeface="Arial MT"/>
                <a:cs typeface="Arial MT"/>
              </a:rPr>
              <a:t>premises.</a:t>
            </a:r>
            <a:endParaRPr sz="1635" dirty="0">
              <a:latin typeface="Arial MT"/>
              <a:cs typeface="Arial MT"/>
            </a:endParaRPr>
          </a:p>
          <a:p>
            <a:pPr marL="447331" marR="527549" indent="-318982">
              <a:lnSpc>
                <a:spcPct val="102699"/>
              </a:lnSpc>
              <a:spcBef>
                <a:spcPts val="869"/>
              </a:spcBef>
              <a:buFont typeface="Times New Roman"/>
              <a:buChar char="►"/>
              <a:tabLst>
                <a:tab pos="449219" algn="l"/>
              </a:tabLst>
            </a:pPr>
            <a:r>
              <a:rPr sz="1635" b="1" dirty="0">
                <a:latin typeface="Arial"/>
                <a:cs typeface="Arial"/>
              </a:rPr>
              <a:t>Q:</a:t>
            </a:r>
            <a:r>
              <a:rPr sz="1635" b="1" spc="-45" dirty="0">
                <a:latin typeface="Arial"/>
                <a:cs typeface="Arial"/>
              </a:rPr>
              <a:t> </a:t>
            </a:r>
            <a:r>
              <a:rPr sz="1635" dirty="0">
                <a:latin typeface="Arial MT"/>
                <a:cs typeface="Arial MT"/>
              </a:rPr>
              <a:t>Which</a:t>
            </a:r>
            <a:r>
              <a:rPr sz="1635" spc="-37" dirty="0">
                <a:latin typeface="Arial MT"/>
                <a:cs typeface="Arial MT"/>
              </a:rPr>
              <a:t> </a:t>
            </a:r>
            <a:r>
              <a:rPr sz="1635" dirty="0">
                <a:latin typeface="Arial MT"/>
                <a:cs typeface="Arial MT"/>
              </a:rPr>
              <a:t>enterprises</a:t>
            </a:r>
            <a:r>
              <a:rPr sz="1635" spc="-37" dirty="0">
                <a:latin typeface="Arial MT"/>
                <a:cs typeface="Arial MT"/>
              </a:rPr>
              <a:t> </a:t>
            </a:r>
            <a:r>
              <a:rPr sz="1635" dirty="0">
                <a:latin typeface="Arial MT"/>
                <a:cs typeface="Arial MT"/>
              </a:rPr>
              <a:t>are</a:t>
            </a:r>
            <a:r>
              <a:rPr sz="1635" spc="-37" dirty="0">
                <a:latin typeface="Arial MT"/>
                <a:cs typeface="Arial MT"/>
              </a:rPr>
              <a:t> </a:t>
            </a:r>
            <a:r>
              <a:rPr sz="1635" spc="-15" dirty="0">
                <a:latin typeface="Arial MT"/>
                <a:cs typeface="Arial MT"/>
              </a:rPr>
              <a:t>likely</a:t>
            </a:r>
            <a:r>
              <a:rPr sz="1635" spc="-37" dirty="0">
                <a:latin typeface="Arial MT"/>
                <a:cs typeface="Arial MT"/>
              </a:rPr>
              <a:t> </a:t>
            </a:r>
            <a:r>
              <a:rPr sz="1635" dirty="0">
                <a:latin typeface="Arial MT"/>
                <a:cs typeface="Arial MT"/>
              </a:rPr>
              <a:t>to</a:t>
            </a:r>
            <a:r>
              <a:rPr sz="1635" spc="-37" dirty="0">
                <a:latin typeface="Arial MT"/>
                <a:cs typeface="Arial MT"/>
              </a:rPr>
              <a:t> </a:t>
            </a:r>
            <a:r>
              <a:rPr sz="1635" dirty="0">
                <a:latin typeface="Arial MT"/>
                <a:cs typeface="Arial MT"/>
              </a:rPr>
              <a:t>use</a:t>
            </a:r>
            <a:r>
              <a:rPr sz="1635" spc="-37" dirty="0">
                <a:latin typeface="Arial MT"/>
                <a:cs typeface="Arial MT"/>
              </a:rPr>
              <a:t> </a:t>
            </a:r>
            <a:r>
              <a:rPr sz="1635" dirty="0">
                <a:latin typeface="Arial MT"/>
                <a:cs typeface="Arial MT"/>
              </a:rPr>
              <a:t>a</a:t>
            </a:r>
            <a:r>
              <a:rPr sz="1635" spc="-45" dirty="0">
                <a:latin typeface="Arial MT"/>
                <a:cs typeface="Arial MT"/>
              </a:rPr>
              <a:t> </a:t>
            </a:r>
            <a:r>
              <a:rPr sz="1635" spc="-15" dirty="0">
                <a:latin typeface="Arial MT"/>
                <a:cs typeface="Arial MT"/>
              </a:rPr>
              <a:t>private </a:t>
            </a:r>
            <a:r>
              <a:rPr sz="1635" dirty="0">
                <a:latin typeface="Arial MT"/>
                <a:cs typeface="Arial MT"/>
              </a:rPr>
              <a:t>cloud?</a:t>
            </a:r>
            <a:r>
              <a:rPr sz="1635" spc="7" dirty="0">
                <a:latin typeface="Arial MT"/>
                <a:cs typeface="Arial MT"/>
              </a:rPr>
              <a:t> </a:t>
            </a:r>
            <a:r>
              <a:rPr sz="1635" dirty="0">
                <a:latin typeface="Arial MT"/>
                <a:cs typeface="Arial MT"/>
              </a:rPr>
              <a:t>And</a:t>
            </a:r>
            <a:r>
              <a:rPr sz="1635" spc="-74" dirty="0">
                <a:latin typeface="Arial MT"/>
                <a:cs typeface="Arial MT"/>
              </a:rPr>
              <a:t> </a:t>
            </a:r>
            <a:r>
              <a:rPr sz="1635" spc="-30" dirty="0">
                <a:latin typeface="Arial MT"/>
                <a:cs typeface="Arial MT"/>
              </a:rPr>
              <a:t>why?</a:t>
            </a:r>
            <a:endParaRPr sz="1635" dirty="0">
              <a:latin typeface="Arial MT"/>
              <a:cs typeface="Arial MT"/>
            </a:endParaRPr>
          </a:p>
          <a:p>
            <a:pPr marL="449219" marR="44356" indent="-320871">
              <a:lnSpc>
                <a:spcPct val="102600"/>
              </a:lnSpc>
              <a:spcBef>
                <a:spcPts val="208"/>
              </a:spcBef>
            </a:pPr>
            <a:r>
              <a:rPr sz="1635" spc="186" dirty="0">
                <a:latin typeface="Times New Roman"/>
                <a:cs typeface="Times New Roman"/>
              </a:rPr>
              <a:t>  </a:t>
            </a:r>
            <a:r>
              <a:rPr sz="1635" b="1" dirty="0">
                <a:solidFill>
                  <a:srgbClr val="FF0000"/>
                </a:solidFill>
                <a:latin typeface="Arial"/>
                <a:cs typeface="Arial"/>
              </a:rPr>
              <a:t>A:</a:t>
            </a:r>
            <a:r>
              <a:rPr sz="1635" b="1" spc="-30" dirty="0">
                <a:solidFill>
                  <a:srgbClr val="FF0000"/>
                </a:solidFill>
                <a:latin typeface="Arial"/>
                <a:cs typeface="Arial"/>
              </a:rPr>
              <a:t> </a:t>
            </a:r>
            <a:r>
              <a:rPr sz="1635" dirty="0">
                <a:latin typeface="Arial MT"/>
                <a:cs typeface="Arial MT"/>
              </a:rPr>
              <a:t>Those</a:t>
            </a:r>
            <a:r>
              <a:rPr sz="1635" spc="-30" dirty="0">
                <a:latin typeface="Arial MT"/>
                <a:cs typeface="Arial MT"/>
              </a:rPr>
              <a:t> </a:t>
            </a:r>
            <a:r>
              <a:rPr sz="1635" dirty="0">
                <a:latin typeface="Arial MT"/>
                <a:cs typeface="Arial MT"/>
              </a:rPr>
              <a:t>with</a:t>
            </a:r>
            <a:r>
              <a:rPr sz="1635" spc="-30" dirty="0">
                <a:latin typeface="Arial MT"/>
                <a:cs typeface="Arial MT"/>
              </a:rPr>
              <a:t> </a:t>
            </a:r>
            <a:r>
              <a:rPr sz="1635" dirty="0">
                <a:latin typeface="Arial MT"/>
                <a:cs typeface="Arial MT"/>
              </a:rPr>
              <a:t>deep</a:t>
            </a:r>
            <a:r>
              <a:rPr sz="1635" spc="-30" dirty="0">
                <a:latin typeface="Arial MT"/>
                <a:cs typeface="Arial MT"/>
              </a:rPr>
              <a:t> </a:t>
            </a:r>
            <a:r>
              <a:rPr sz="1635" spc="-15" dirty="0">
                <a:latin typeface="Arial MT"/>
                <a:cs typeface="Arial MT"/>
              </a:rPr>
              <a:t>pockets</a:t>
            </a:r>
            <a:r>
              <a:rPr sz="1635" spc="-30" dirty="0">
                <a:latin typeface="Arial MT"/>
                <a:cs typeface="Arial MT"/>
              </a:rPr>
              <a:t> </a:t>
            </a:r>
            <a:r>
              <a:rPr sz="1635" dirty="0">
                <a:latin typeface="Arial MT"/>
                <a:cs typeface="Arial MT"/>
              </a:rPr>
              <a:t>and</a:t>
            </a:r>
            <a:r>
              <a:rPr sz="1635" spc="-30" dirty="0">
                <a:latin typeface="Arial MT"/>
                <a:cs typeface="Arial MT"/>
              </a:rPr>
              <a:t> </a:t>
            </a:r>
            <a:r>
              <a:rPr sz="1635" dirty="0">
                <a:latin typeface="Arial MT"/>
                <a:cs typeface="Arial MT"/>
              </a:rPr>
              <a:t>concern</a:t>
            </a:r>
            <a:r>
              <a:rPr sz="1635" spc="-30" dirty="0">
                <a:latin typeface="Arial MT"/>
                <a:cs typeface="Arial MT"/>
              </a:rPr>
              <a:t> </a:t>
            </a:r>
            <a:r>
              <a:rPr sz="1635" spc="-37" dirty="0">
                <a:latin typeface="Arial MT"/>
                <a:cs typeface="Arial MT"/>
              </a:rPr>
              <a:t>for </a:t>
            </a:r>
            <a:r>
              <a:rPr sz="1635" spc="-15" dirty="0">
                <a:latin typeface="Arial MT"/>
                <a:cs typeface="Arial MT"/>
              </a:rPr>
              <a:t>security/privacy</a:t>
            </a:r>
            <a:r>
              <a:rPr sz="1635" spc="-7" dirty="0">
                <a:latin typeface="Arial MT"/>
                <a:cs typeface="Arial MT"/>
              </a:rPr>
              <a:t> </a:t>
            </a:r>
            <a:r>
              <a:rPr sz="1635" dirty="0">
                <a:latin typeface="Arial MT"/>
                <a:cs typeface="Arial MT"/>
              </a:rPr>
              <a:t>or</a:t>
            </a:r>
            <a:r>
              <a:rPr sz="1635" spc="-7" dirty="0">
                <a:latin typeface="Arial MT"/>
                <a:cs typeface="Arial MT"/>
              </a:rPr>
              <a:t> </a:t>
            </a:r>
            <a:r>
              <a:rPr sz="1635" dirty="0">
                <a:latin typeface="Arial MT"/>
                <a:cs typeface="Arial MT"/>
              </a:rPr>
              <a:t>strict</a:t>
            </a:r>
            <a:r>
              <a:rPr sz="1635" spc="-7" dirty="0">
                <a:latin typeface="Arial MT"/>
                <a:cs typeface="Arial MT"/>
              </a:rPr>
              <a:t> </a:t>
            </a:r>
            <a:r>
              <a:rPr sz="1635" dirty="0">
                <a:latin typeface="Arial MT"/>
                <a:cs typeface="Arial MT"/>
              </a:rPr>
              <a:t>regulations</a:t>
            </a:r>
            <a:r>
              <a:rPr sz="1635" spc="-7" dirty="0">
                <a:latin typeface="Arial MT"/>
                <a:cs typeface="Arial MT"/>
              </a:rPr>
              <a:t> </a:t>
            </a:r>
            <a:r>
              <a:rPr sz="1635" spc="-15" dirty="0">
                <a:latin typeface="Arial MT"/>
                <a:cs typeface="Arial MT"/>
              </a:rPr>
              <a:t>(government, </a:t>
            </a:r>
            <a:r>
              <a:rPr sz="1635" dirty="0">
                <a:latin typeface="Arial MT"/>
                <a:cs typeface="Arial MT"/>
              </a:rPr>
              <a:t>finance,</a:t>
            </a:r>
            <a:r>
              <a:rPr sz="1635" spc="-67" dirty="0">
                <a:latin typeface="Arial MT"/>
                <a:cs typeface="Arial MT"/>
              </a:rPr>
              <a:t> </a:t>
            </a:r>
            <a:r>
              <a:rPr sz="1635" dirty="0">
                <a:latin typeface="Arial MT"/>
                <a:cs typeface="Arial MT"/>
              </a:rPr>
              <a:t>healthcare),</a:t>
            </a:r>
            <a:r>
              <a:rPr sz="1635" spc="-59" dirty="0">
                <a:latin typeface="Arial MT"/>
                <a:cs typeface="Arial MT"/>
              </a:rPr>
              <a:t> </a:t>
            </a:r>
            <a:r>
              <a:rPr sz="1635" dirty="0">
                <a:latin typeface="Arial MT"/>
                <a:cs typeface="Arial MT"/>
              </a:rPr>
              <a:t>e.g.</a:t>
            </a:r>
            <a:r>
              <a:rPr sz="1635" spc="30" dirty="0">
                <a:latin typeface="Arial MT"/>
                <a:cs typeface="Arial MT"/>
              </a:rPr>
              <a:t> </a:t>
            </a:r>
            <a:r>
              <a:rPr sz="1635" dirty="0">
                <a:latin typeface="Arial MT"/>
                <a:cs typeface="Arial MT"/>
              </a:rPr>
              <a:t>Data</a:t>
            </a:r>
            <a:r>
              <a:rPr sz="1635" spc="-59" dirty="0">
                <a:latin typeface="Arial MT"/>
                <a:cs typeface="Arial MT"/>
              </a:rPr>
              <a:t> </a:t>
            </a:r>
            <a:r>
              <a:rPr sz="1635" dirty="0">
                <a:latin typeface="Arial MT"/>
                <a:cs typeface="Arial MT"/>
              </a:rPr>
              <a:t>Protection</a:t>
            </a:r>
            <a:r>
              <a:rPr sz="1635" spc="-59" dirty="0">
                <a:latin typeface="Arial MT"/>
                <a:cs typeface="Arial MT"/>
              </a:rPr>
              <a:t> </a:t>
            </a:r>
            <a:r>
              <a:rPr sz="1635" dirty="0">
                <a:latin typeface="Arial MT"/>
                <a:cs typeface="Arial MT"/>
              </a:rPr>
              <a:t>Act</a:t>
            </a:r>
            <a:r>
              <a:rPr sz="1635" spc="-67" dirty="0">
                <a:latin typeface="Arial MT"/>
                <a:cs typeface="Arial MT"/>
              </a:rPr>
              <a:t> </a:t>
            </a:r>
            <a:r>
              <a:rPr sz="1635" spc="-37" dirty="0">
                <a:latin typeface="Arial MT"/>
                <a:cs typeface="Arial MT"/>
              </a:rPr>
              <a:t>(DPA), </a:t>
            </a:r>
            <a:r>
              <a:rPr sz="1635" dirty="0">
                <a:latin typeface="Arial MT"/>
                <a:cs typeface="Arial MT"/>
              </a:rPr>
              <a:t>Service</a:t>
            </a:r>
            <a:r>
              <a:rPr sz="1635" spc="-52" dirty="0">
                <a:latin typeface="Arial MT"/>
                <a:cs typeface="Arial MT"/>
              </a:rPr>
              <a:t> </a:t>
            </a:r>
            <a:r>
              <a:rPr sz="1635" dirty="0">
                <a:latin typeface="Arial MT"/>
                <a:cs typeface="Arial MT"/>
              </a:rPr>
              <a:t>Organization</a:t>
            </a:r>
            <a:r>
              <a:rPr sz="1635" spc="-52" dirty="0">
                <a:latin typeface="Arial MT"/>
                <a:cs typeface="Arial MT"/>
              </a:rPr>
              <a:t> </a:t>
            </a:r>
            <a:r>
              <a:rPr sz="1635" dirty="0">
                <a:latin typeface="Arial MT"/>
                <a:cs typeface="Arial MT"/>
              </a:rPr>
              <a:t>Control</a:t>
            </a:r>
            <a:r>
              <a:rPr sz="1635" spc="-52" dirty="0">
                <a:latin typeface="Arial MT"/>
                <a:cs typeface="Arial MT"/>
              </a:rPr>
              <a:t> </a:t>
            </a:r>
            <a:r>
              <a:rPr sz="1635" dirty="0">
                <a:latin typeface="Arial MT"/>
                <a:cs typeface="Arial MT"/>
              </a:rPr>
              <a:t>(SOC),</a:t>
            </a:r>
            <a:r>
              <a:rPr sz="1635" spc="-52" dirty="0">
                <a:latin typeface="Arial MT"/>
                <a:cs typeface="Arial MT"/>
              </a:rPr>
              <a:t> </a:t>
            </a:r>
            <a:r>
              <a:rPr sz="1635" spc="-30" dirty="0">
                <a:latin typeface="Arial MT"/>
                <a:cs typeface="Arial MT"/>
              </a:rPr>
              <a:t>Payment</a:t>
            </a:r>
            <a:r>
              <a:rPr sz="1635" spc="-52" dirty="0">
                <a:latin typeface="Arial MT"/>
                <a:cs typeface="Arial MT"/>
              </a:rPr>
              <a:t> </a:t>
            </a:r>
            <a:r>
              <a:rPr sz="1635" spc="-30" dirty="0">
                <a:latin typeface="Arial MT"/>
                <a:cs typeface="Arial MT"/>
              </a:rPr>
              <a:t>Card</a:t>
            </a:r>
            <a:endParaRPr sz="1635" dirty="0">
              <a:latin typeface="Arial MT"/>
              <a:cs typeface="Arial MT"/>
            </a:endParaRPr>
          </a:p>
          <a:p>
            <a:pPr marL="37749">
              <a:spcBef>
                <a:spcPts val="52"/>
              </a:spcBef>
              <a:tabLst>
                <a:tab pos="449219" algn="l"/>
              </a:tabLst>
            </a:pPr>
            <a:r>
              <a:rPr sz="1635" u="sng" dirty="0">
                <a:uFill>
                  <a:solidFill>
                    <a:srgbClr val="000000"/>
                  </a:solidFill>
                </a:uFill>
                <a:latin typeface="Arial MT"/>
                <a:cs typeface="Arial MT"/>
              </a:rPr>
              <a:t>	Industry</a:t>
            </a:r>
            <a:r>
              <a:rPr sz="1635" u="sng" spc="-45" dirty="0">
                <a:uFill>
                  <a:solidFill>
                    <a:srgbClr val="000000"/>
                  </a:solidFill>
                </a:uFill>
                <a:latin typeface="Arial MT"/>
                <a:cs typeface="Arial MT"/>
              </a:rPr>
              <a:t> </a:t>
            </a:r>
            <a:r>
              <a:rPr sz="1635" u="sng" dirty="0">
                <a:uFill>
                  <a:solidFill>
                    <a:srgbClr val="000000"/>
                  </a:solidFill>
                </a:uFill>
                <a:latin typeface="Arial MT"/>
                <a:cs typeface="Arial MT"/>
              </a:rPr>
              <a:t>Data</a:t>
            </a:r>
            <a:r>
              <a:rPr sz="1635" u="sng" spc="-45" dirty="0">
                <a:uFill>
                  <a:solidFill>
                    <a:srgbClr val="000000"/>
                  </a:solidFill>
                </a:uFill>
                <a:latin typeface="Arial MT"/>
                <a:cs typeface="Arial MT"/>
              </a:rPr>
              <a:t> </a:t>
            </a:r>
            <a:r>
              <a:rPr sz="1635" u="sng" dirty="0">
                <a:uFill>
                  <a:solidFill>
                    <a:srgbClr val="000000"/>
                  </a:solidFill>
                </a:uFill>
                <a:latin typeface="Arial MT"/>
                <a:cs typeface="Arial MT"/>
              </a:rPr>
              <a:t>Security</a:t>
            </a:r>
            <a:r>
              <a:rPr sz="1635" u="sng" spc="-45" dirty="0">
                <a:uFill>
                  <a:solidFill>
                    <a:srgbClr val="000000"/>
                  </a:solidFill>
                </a:uFill>
                <a:latin typeface="Arial MT"/>
                <a:cs typeface="Arial MT"/>
              </a:rPr>
              <a:t> </a:t>
            </a:r>
            <a:r>
              <a:rPr sz="1635" u="sng" dirty="0">
                <a:uFill>
                  <a:solidFill>
                    <a:srgbClr val="000000"/>
                  </a:solidFill>
                </a:uFill>
                <a:latin typeface="Arial MT"/>
                <a:cs typeface="Arial MT"/>
              </a:rPr>
              <a:t>St</a:t>
            </a:r>
            <a:r>
              <a:rPr sz="1635" dirty="0">
                <a:latin typeface="Arial MT"/>
                <a:cs typeface="Arial MT"/>
              </a:rPr>
              <a:t>andard</a:t>
            </a:r>
            <a:r>
              <a:rPr sz="1635" spc="-45" dirty="0">
                <a:latin typeface="Arial MT"/>
                <a:cs typeface="Arial MT"/>
              </a:rPr>
              <a:t> </a:t>
            </a:r>
            <a:r>
              <a:rPr sz="1635" dirty="0">
                <a:latin typeface="Arial MT"/>
                <a:cs typeface="Arial MT"/>
              </a:rPr>
              <a:t>(PCI</a:t>
            </a:r>
            <a:r>
              <a:rPr sz="1635" spc="-45" dirty="0">
                <a:latin typeface="Arial MT"/>
                <a:cs typeface="Arial MT"/>
              </a:rPr>
              <a:t> </a:t>
            </a:r>
            <a:r>
              <a:rPr sz="1635" dirty="0">
                <a:latin typeface="Arial MT"/>
                <a:cs typeface="Arial MT"/>
              </a:rPr>
              <a:t>DSS),</a:t>
            </a:r>
            <a:r>
              <a:rPr sz="1635" spc="-45" dirty="0">
                <a:latin typeface="Arial MT"/>
                <a:cs typeface="Arial MT"/>
              </a:rPr>
              <a:t> </a:t>
            </a:r>
            <a:r>
              <a:rPr sz="1635" spc="-30" dirty="0">
                <a:latin typeface="Arial MT"/>
                <a:cs typeface="Arial MT"/>
              </a:rPr>
              <a:t>etc.</a:t>
            </a:r>
            <a:endParaRPr sz="1635" dirty="0">
              <a:latin typeface="Arial MT"/>
              <a:cs typeface="Arial MT"/>
            </a:endParaRPr>
          </a:p>
          <a:p>
            <a:pPr marL="37749" marR="561524" indent="232159">
              <a:lnSpc>
                <a:spcPct val="101499"/>
              </a:lnSpc>
              <a:spcBef>
                <a:spcPts val="468"/>
              </a:spcBef>
            </a:pPr>
            <a:r>
              <a:rPr sz="1338" baseline="37037" dirty="0">
                <a:latin typeface="Arial MT"/>
                <a:cs typeface="Arial MT"/>
              </a:rPr>
              <a:t>6</a:t>
            </a:r>
            <a:r>
              <a:rPr sz="1338" dirty="0">
                <a:latin typeface="Arial MT"/>
                <a:cs typeface="Arial MT"/>
              </a:rPr>
              <a:t>Mell,</a:t>
            </a:r>
            <a:r>
              <a:rPr sz="1338" spc="-37" dirty="0">
                <a:latin typeface="Arial MT"/>
                <a:cs typeface="Arial MT"/>
              </a:rPr>
              <a:t> </a:t>
            </a:r>
            <a:r>
              <a:rPr sz="1338" spc="-30" dirty="0">
                <a:latin typeface="Arial MT"/>
                <a:cs typeface="Arial MT"/>
              </a:rPr>
              <a:t>Peter, </a:t>
            </a:r>
            <a:r>
              <a:rPr sz="1338" dirty="0">
                <a:latin typeface="Arial MT"/>
                <a:cs typeface="Arial MT"/>
              </a:rPr>
              <a:t>and</a:t>
            </a:r>
            <a:r>
              <a:rPr sz="1338" spc="-30" dirty="0">
                <a:latin typeface="Arial MT"/>
                <a:cs typeface="Arial MT"/>
              </a:rPr>
              <a:t> </a:t>
            </a:r>
            <a:r>
              <a:rPr sz="1338" dirty="0">
                <a:latin typeface="Arial MT"/>
                <a:cs typeface="Arial MT"/>
              </a:rPr>
              <a:t>Tim</a:t>
            </a:r>
            <a:r>
              <a:rPr sz="1338" spc="-30" dirty="0">
                <a:latin typeface="Arial MT"/>
                <a:cs typeface="Arial MT"/>
              </a:rPr>
              <a:t> </a:t>
            </a:r>
            <a:r>
              <a:rPr sz="1338" dirty="0">
                <a:latin typeface="Arial MT"/>
                <a:cs typeface="Arial MT"/>
              </a:rPr>
              <a:t>Grance.</a:t>
            </a:r>
            <a:r>
              <a:rPr sz="1338" spc="52" dirty="0">
                <a:latin typeface="Arial MT"/>
                <a:cs typeface="Arial MT"/>
              </a:rPr>
              <a:t> </a:t>
            </a:r>
            <a:r>
              <a:rPr sz="1338" dirty="0">
                <a:latin typeface="Arial MT"/>
                <a:cs typeface="Arial MT"/>
              </a:rPr>
              <a:t>”The</a:t>
            </a:r>
            <a:r>
              <a:rPr sz="1338" spc="-30" dirty="0">
                <a:latin typeface="Arial MT"/>
                <a:cs typeface="Arial MT"/>
              </a:rPr>
              <a:t> </a:t>
            </a:r>
            <a:r>
              <a:rPr sz="1338" dirty="0">
                <a:latin typeface="Arial MT"/>
                <a:cs typeface="Arial MT"/>
              </a:rPr>
              <a:t>NIST</a:t>
            </a:r>
            <a:r>
              <a:rPr sz="1338" spc="-30" dirty="0">
                <a:latin typeface="Arial MT"/>
                <a:cs typeface="Arial MT"/>
              </a:rPr>
              <a:t> </a:t>
            </a:r>
            <a:r>
              <a:rPr sz="1338" dirty="0">
                <a:latin typeface="Arial MT"/>
                <a:cs typeface="Arial MT"/>
              </a:rPr>
              <a:t>definition</a:t>
            </a:r>
            <a:r>
              <a:rPr sz="1338" spc="-30" dirty="0">
                <a:latin typeface="Arial MT"/>
                <a:cs typeface="Arial MT"/>
              </a:rPr>
              <a:t> </a:t>
            </a:r>
            <a:r>
              <a:rPr sz="1338" dirty="0">
                <a:latin typeface="Arial MT"/>
                <a:cs typeface="Arial MT"/>
              </a:rPr>
              <a:t>of</a:t>
            </a:r>
            <a:r>
              <a:rPr sz="1338" spc="-30" dirty="0">
                <a:latin typeface="Arial MT"/>
                <a:cs typeface="Arial MT"/>
              </a:rPr>
              <a:t> </a:t>
            </a:r>
            <a:r>
              <a:rPr sz="1338" spc="-15" dirty="0">
                <a:latin typeface="Arial MT"/>
                <a:cs typeface="Arial MT"/>
              </a:rPr>
              <a:t>cloud computing.”</a:t>
            </a:r>
            <a:r>
              <a:rPr sz="1338" spc="-52" dirty="0">
                <a:latin typeface="Arial MT"/>
                <a:cs typeface="Arial MT"/>
              </a:rPr>
              <a:t> </a:t>
            </a:r>
            <a:r>
              <a:rPr sz="1338" spc="-15" dirty="0">
                <a:latin typeface="Arial MT"/>
                <a:cs typeface="Arial MT"/>
              </a:rPr>
              <a:t>(2011)</a:t>
            </a:r>
            <a:endParaRPr sz="1338" dirty="0">
              <a:latin typeface="Arial MT"/>
              <a:cs typeface="Arial MT"/>
            </a:endParaRPr>
          </a:p>
        </p:txBody>
      </p:sp>
    </p:spTree>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81886" y="201277"/>
            <a:ext cx="4476259" cy="456618"/>
          </a:xfrm>
          <a:prstGeom prst="rect">
            <a:avLst/>
          </a:prstGeom>
        </p:spPr>
        <p:txBody>
          <a:bodyPr vert="horz" wrap="square" lIns="0" tIns="25482" rIns="0" bIns="0" rtlCol="0">
            <a:spAutoFit/>
          </a:bodyPr>
          <a:lstStyle/>
          <a:p>
            <a:pPr marL="900325">
              <a:spcBef>
                <a:spcPts val="201"/>
              </a:spcBef>
            </a:pPr>
            <a:r>
              <a:rPr dirty="0"/>
              <a:t>Deployment</a:t>
            </a:r>
            <a:r>
              <a:rPr spc="97" dirty="0"/>
              <a:t> </a:t>
            </a:r>
            <a:r>
              <a:rPr spc="-15" dirty="0"/>
              <a:t>Models</a:t>
            </a:r>
          </a:p>
        </p:txBody>
      </p:sp>
      <p:sp>
        <p:nvSpPr>
          <p:cNvPr id="28" name="object 28"/>
          <p:cNvSpPr txBox="1"/>
          <p:nvPr/>
        </p:nvSpPr>
        <p:spPr>
          <a:xfrm>
            <a:off x="457200" y="971550"/>
            <a:ext cx="7696200" cy="1989550"/>
          </a:xfrm>
          <a:prstGeom prst="rect">
            <a:avLst/>
          </a:prstGeom>
        </p:spPr>
        <p:txBody>
          <a:bodyPr vert="horz" wrap="square" lIns="0" tIns="10381" rIns="0" bIns="0" rtlCol="0">
            <a:spAutoFit/>
          </a:bodyPr>
          <a:lstStyle/>
          <a:p>
            <a:pPr marL="1190996" marR="7550" indent="-1173065">
              <a:lnSpc>
                <a:spcPct val="102600"/>
              </a:lnSpc>
              <a:spcBef>
                <a:spcPts val="82"/>
              </a:spcBef>
            </a:pPr>
            <a:r>
              <a:rPr b="1" dirty="0">
                <a:latin typeface="Trebuchet MS" panose="020B0603020202020204" pitchFamily="34" charset="0"/>
                <a:cs typeface="Arial"/>
              </a:rPr>
              <a:t>Community:</a:t>
            </a:r>
            <a:r>
              <a:rPr b="1" spc="230" dirty="0">
                <a:latin typeface="Trebuchet MS" panose="020B0603020202020204" pitchFamily="34" charset="0"/>
                <a:cs typeface="Arial"/>
              </a:rPr>
              <a:t> </a:t>
            </a:r>
            <a:r>
              <a:rPr dirty="0">
                <a:latin typeface="Trebuchet MS" panose="020B0603020202020204" pitchFamily="34" charset="0"/>
                <a:cs typeface="Arial MT"/>
              </a:rPr>
              <a:t>The</a:t>
            </a:r>
            <a:r>
              <a:rPr spc="-59" dirty="0">
                <a:latin typeface="Trebuchet MS" panose="020B0603020202020204" pitchFamily="34" charset="0"/>
                <a:cs typeface="Arial MT"/>
              </a:rPr>
              <a:t> </a:t>
            </a:r>
            <a:r>
              <a:rPr dirty="0">
                <a:latin typeface="Trebuchet MS" panose="020B0603020202020204" pitchFamily="34" charset="0"/>
                <a:cs typeface="Arial MT"/>
              </a:rPr>
              <a:t>cloud</a:t>
            </a:r>
            <a:r>
              <a:rPr spc="-67" dirty="0">
                <a:latin typeface="Trebuchet MS" panose="020B0603020202020204" pitchFamily="34" charset="0"/>
                <a:cs typeface="Arial MT"/>
              </a:rPr>
              <a:t> </a:t>
            </a:r>
            <a:r>
              <a:rPr dirty="0">
                <a:latin typeface="Trebuchet MS" panose="020B0603020202020204" pitchFamily="34" charset="0"/>
                <a:cs typeface="Arial MT"/>
              </a:rPr>
              <a:t>infrastructure</a:t>
            </a:r>
            <a:r>
              <a:rPr spc="-67" dirty="0">
                <a:latin typeface="Trebuchet MS" panose="020B0603020202020204" pitchFamily="34" charset="0"/>
                <a:cs typeface="Arial MT"/>
              </a:rPr>
              <a:t> </a:t>
            </a:r>
            <a:r>
              <a:rPr dirty="0">
                <a:latin typeface="Trebuchet MS" panose="020B0603020202020204" pitchFamily="34" charset="0"/>
                <a:cs typeface="Arial MT"/>
              </a:rPr>
              <a:t>is</a:t>
            </a:r>
            <a:r>
              <a:rPr spc="-67" dirty="0">
                <a:latin typeface="Trebuchet MS" panose="020B0603020202020204" pitchFamily="34" charset="0"/>
                <a:cs typeface="Arial MT"/>
              </a:rPr>
              <a:t> </a:t>
            </a:r>
            <a:r>
              <a:rPr spc="-15" dirty="0">
                <a:latin typeface="Trebuchet MS" panose="020B0603020202020204" pitchFamily="34" charset="0"/>
                <a:cs typeface="Arial MT"/>
              </a:rPr>
              <a:t>provisioned</a:t>
            </a:r>
            <a:r>
              <a:rPr spc="-67" dirty="0">
                <a:latin typeface="Trebuchet MS" panose="020B0603020202020204" pitchFamily="34" charset="0"/>
                <a:cs typeface="Arial MT"/>
              </a:rPr>
              <a:t> </a:t>
            </a:r>
            <a:r>
              <a:rPr spc="-37" dirty="0">
                <a:latin typeface="Trebuchet MS" panose="020B0603020202020204" pitchFamily="34" charset="0"/>
                <a:cs typeface="Arial MT"/>
              </a:rPr>
              <a:t>for </a:t>
            </a:r>
            <a:r>
              <a:rPr spc="-15" dirty="0">
                <a:latin typeface="Trebuchet MS" panose="020B0603020202020204" pitchFamily="34" charset="0"/>
                <a:cs typeface="Arial MT"/>
              </a:rPr>
              <a:t>exclusive</a:t>
            </a:r>
            <a:r>
              <a:rPr spc="-52" dirty="0">
                <a:latin typeface="Trebuchet MS" panose="020B0603020202020204" pitchFamily="34" charset="0"/>
                <a:cs typeface="Arial MT"/>
              </a:rPr>
              <a:t> </a:t>
            </a:r>
            <a:r>
              <a:rPr dirty="0">
                <a:latin typeface="Trebuchet MS" panose="020B0603020202020204" pitchFamily="34" charset="0"/>
                <a:cs typeface="Arial MT"/>
              </a:rPr>
              <a:t>use</a:t>
            </a:r>
            <a:r>
              <a:rPr spc="-52" dirty="0">
                <a:latin typeface="Trebuchet MS" panose="020B0603020202020204" pitchFamily="34" charset="0"/>
                <a:cs typeface="Arial MT"/>
              </a:rPr>
              <a:t> </a:t>
            </a:r>
            <a:r>
              <a:rPr dirty="0">
                <a:latin typeface="Trebuchet MS" panose="020B0603020202020204" pitchFamily="34" charset="0"/>
                <a:cs typeface="Arial MT"/>
              </a:rPr>
              <a:t>by</a:t>
            </a:r>
            <a:r>
              <a:rPr spc="-52" dirty="0">
                <a:latin typeface="Trebuchet MS" panose="020B0603020202020204" pitchFamily="34" charset="0"/>
                <a:cs typeface="Arial MT"/>
              </a:rPr>
              <a:t> </a:t>
            </a:r>
            <a:r>
              <a:rPr dirty="0">
                <a:latin typeface="Trebuchet MS" panose="020B0603020202020204" pitchFamily="34" charset="0"/>
                <a:cs typeface="Arial MT"/>
              </a:rPr>
              <a:t>a</a:t>
            </a:r>
            <a:r>
              <a:rPr spc="-52" dirty="0">
                <a:latin typeface="Trebuchet MS" panose="020B0603020202020204" pitchFamily="34" charset="0"/>
                <a:cs typeface="Arial MT"/>
              </a:rPr>
              <a:t> </a:t>
            </a:r>
            <a:r>
              <a:rPr spc="-15" dirty="0">
                <a:latin typeface="Trebuchet MS" panose="020B0603020202020204" pitchFamily="34" charset="0"/>
                <a:cs typeface="Arial MT"/>
              </a:rPr>
              <a:t>specific</a:t>
            </a:r>
            <a:r>
              <a:rPr spc="-52" dirty="0">
                <a:latin typeface="Trebuchet MS" panose="020B0603020202020204" pitchFamily="34" charset="0"/>
                <a:cs typeface="Arial MT"/>
              </a:rPr>
              <a:t> </a:t>
            </a:r>
            <a:r>
              <a:rPr dirty="0">
                <a:latin typeface="Trebuchet MS" panose="020B0603020202020204" pitchFamily="34" charset="0"/>
                <a:cs typeface="Arial MT"/>
              </a:rPr>
              <a:t>community</a:t>
            </a:r>
            <a:r>
              <a:rPr spc="-52" dirty="0">
                <a:latin typeface="Trebuchet MS" panose="020B0603020202020204" pitchFamily="34" charset="0"/>
                <a:cs typeface="Arial MT"/>
              </a:rPr>
              <a:t> </a:t>
            </a:r>
            <a:r>
              <a:rPr spc="-37" dirty="0">
                <a:latin typeface="Trebuchet MS" panose="020B0603020202020204" pitchFamily="34" charset="0"/>
                <a:cs typeface="Arial MT"/>
              </a:rPr>
              <a:t>of </a:t>
            </a:r>
            <a:r>
              <a:rPr dirty="0">
                <a:latin typeface="Trebuchet MS" panose="020B0603020202020204" pitchFamily="34" charset="0"/>
                <a:cs typeface="Arial MT"/>
              </a:rPr>
              <a:t>consumers</a:t>
            </a:r>
            <a:r>
              <a:rPr spc="-67" dirty="0">
                <a:latin typeface="Trebuchet MS" panose="020B0603020202020204" pitchFamily="34" charset="0"/>
                <a:cs typeface="Arial MT"/>
              </a:rPr>
              <a:t> </a:t>
            </a:r>
            <a:r>
              <a:rPr dirty="0">
                <a:latin typeface="Trebuchet MS" panose="020B0603020202020204" pitchFamily="34" charset="0"/>
                <a:cs typeface="Arial MT"/>
              </a:rPr>
              <a:t>from</a:t>
            </a:r>
            <a:r>
              <a:rPr spc="-67" dirty="0">
                <a:latin typeface="Trebuchet MS" panose="020B0603020202020204" pitchFamily="34" charset="0"/>
                <a:cs typeface="Arial MT"/>
              </a:rPr>
              <a:t> </a:t>
            </a:r>
            <a:r>
              <a:rPr dirty="0">
                <a:latin typeface="Trebuchet MS" panose="020B0603020202020204" pitchFamily="34" charset="0"/>
                <a:cs typeface="Arial MT"/>
              </a:rPr>
              <a:t>organizations</a:t>
            </a:r>
            <a:r>
              <a:rPr spc="-67" dirty="0">
                <a:latin typeface="Trebuchet MS" panose="020B0603020202020204" pitchFamily="34" charset="0"/>
                <a:cs typeface="Arial MT"/>
              </a:rPr>
              <a:t> </a:t>
            </a:r>
            <a:r>
              <a:rPr dirty="0">
                <a:latin typeface="Trebuchet MS" panose="020B0603020202020204" pitchFamily="34" charset="0"/>
                <a:cs typeface="Arial MT"/>
              </a:rPr>
              <a:t>that</a:t>
            </a:r>
            <a:r>
              <a:rPr spc="-67" dirty="0">
                <a:latin typeface="Trebuchet MS" panose="020B0603020202020204" pitchFamily="34" charset="0"/>
                <a:cs typeface="Arial MT"/>
              </a:rPr>
              <a:t> </a:t>
            </a:r>
            <a:r>
              <a:rPr spc="-30" dirty="0">
                <a:latin typeface="Trebuchet MS" panose="020B0603020202020204" pitchFamily="34" charset="0"/>
                <a:cs typeface="Arial MT"/>
              </a:rPr>
              <a:t>have </a:t>
            </a:r>
            <a:r>
              <a:rPr dirty="0">
                <a:latin typeface="Trebuchet MS" panose="020B0603020202020204" pitchFamily="34" charset="0"/>
                <a:cs typeface="Arial MT"/>
              </a:rPr>
              <a:t>shared</a:t>
            </a:r>
            <a:r>
              <a:rPr spc="-59" dirty="0">
                <a:latin typeface="Trebuchet MS" panose="020B0603020202020204" pitchFamily="34" charset="0"/>
                <a:cs typeface="Arial MT"/>
              </a:rPr>
              <a:t> </a:t>
            </a:r>
            <a:r>
              <a:rPr dirty="0">
                <a:latin typeface="Trebuchet MS" panose="020B0603020202020204" pitchFamily="34" charset="0"/>
                <a:cs typeface="Arial MT"/>
              </a:rPr>
              <a:t>concerns</a:t>
            </a:r>
            <a:r>
              <a:rPr spc="-52" dirty="0">
                <a:latin typeface="Trebuchet MS" panose="020B0603020202020204" pitchFamily="34" charset="0"/>
                <a:cs typeface="Arial MT"/>
              </a:rPr>
              <a:t> </a:t>
            </a:r>
            <a:r>
              <a:rPr dirty="0">
                <a:latin typeface="Trebuchet MS" panose="020B0603020202020204" pitchFamily="34" charset="0"/>
                <a:cs typeface="Arial MT"/>
              </a:rPr>
              <a:t>(e.g.,</a:t>
            </a:r>
            <a:r>
              <a:rPr spc="-52" dirty="0">
                <a:latin typeface="Trebuchet MS" panose="020B0603020202020204" pitchFamily="34" charset="0"/>
                <a:cs typeface="Arial MT"/>
              </a:rPr>
              <a:t> </a:t>
            </a:r>
            <a:r>
              <a:rPr dirty="0">
                <a:latin typeface="Trebuchet MS" panose="020B0603020202020204" pitchFamily="34" charset="0"/>
                <a:cs typeface="Arial MT"/>
              </a:rPr>
              <a:t>mission,</a:t>
            </a:r>
            <a:r>
              <a:rPr spc="-52" dirty="0">
                <a:latin typeface="Trebuchet MS" panose="020B0603020202020204" pitchFamily="34" charset="0"/>
                <a:cs typeface="Arial MT"/>
              </a:rPr>
              <a:t> </a:t>
            </a:r>
            <a:r>
              <a:rPr spc="-15" dirty="0">
                <a:latin typeface="Trebuchet MS" panose="020B0603020202020204" pitchFamily="34" charset="0"/>
                <a:cs typeface="Arial MT"/>
              </a:rPr>
              <a:t>security requirements,</a:t>
            </a:r>
            <a:r>
              <a:rPr spc="-7" dirty="0">
                <a:latin typeface="Trebuchet MS" panose="020B0603020202020204" pitchFamily="34" charset="0"/>
                <a:cs typeface="Arial MT"/>
              </a:rPr>
              <a:t> </a:t>
            </a:r>
            <a:r>
              <a:rPr spc="-30" dirty="0">
                <a:latin typeface="Trebuchet MS" panose="020B0603020202020204" pitchFamily="34" charset="0"/>
                <a:cs typeface="Arial MT"/>
              </a:rPr>
              <a:t>policy,</a:t>
            </a:r>
            <a:r>
              <a:rPr dirty="0">
                <a:latin typeface="Trebuchet MS" panose="020B0603020202020204" pitchFamily="34" charset="0"/>
                <a:cs typeface="Arial MT"/>
              </a:rPr>
              <a:t> and </a:t>
            </a:r>
            <a:r>
              <a:rPr spc="-15" dirty="0">
                <a:latin typeface="Trebuchet MS" panose="020B0603020202020204" pitchFamily="34" charset="0"/>
                <a:cs typeface="Arial MT"/>
              </a:rPr>
              <a:t>compliance </a:t>
            </a:r>
            <a:r>
              <a:rPr dirty="0">
                <a:latin typeface="Trebuchet MS" panose="020B0603020202020204" pitchFamily="34" charset="0"/>
                <a:cs typeface="Arial MT"/>
              </a:rPr>
              <a:t>considerations).</a:t>
            </a:r>
            <a:r>
              <a:rPr spc="22" dirty="0">
                <a:latin typeface="Trebuchet MS" panose="020B0603020202020204" pitchFamily="34" charset="0"/>
                <a:cs typeface="Arial MT"/>
              </a:rPr>
              <a:t> </a:t>
            </a:r>
            <a:r>
              <a:rPr dirty="0">
                <a:latin typeface="Trebuchet MS" panose="020B0603020202020204" pitchFamily="34" charset="0"/>
                <a:cs typeface="Arial MT"/>
              </a:rPr>
              <a:t>It</a:t>
            </a:r>
            <a:r>
              <a:rPr spc="-59" dirty="0">
                <a:latin typeface="Trebuchet MS" panose="020B0603020202020204" pitchFamily="34" charset="0"/>
                <a:cs typeface="Arial MT"/>
              </a:rPr>
              <a:t> </a:t>
            </a:r>
            <a:r>
              <a:rPr dirty="0">
                <a:latin typeface="Trebuchet MS" panose="020B0603020202020204" pitchFamily="34" charset="0"/>
                <a:cs typeface="Arial MT"/>
              </a:rPr>
              <a:t>may</a:t>
            </a:r>
            <a:r>
              <a:rPr spc="-59" dirty="0">
                <a:latin typeface="Trebuchet MS" panose="020B0603020202020204" pitchFamily="34" charset="0"/>
                <a:cs typeface="Arial MT"/>
              </a:rPr>
              <a:t> </a:t>
            </a:r>
            <a:r>
              <a:rPr dirty="0">
                <a:latin typeface="Trebuchet MS" panose="020B0603020202020204" pitchFamily="34" charset="0"/>
                <a:cs typeface="Arial MT"/>
              </a:rPr>
              <a:t>be</a:t>
            </a:r>
            <a:r>
              <a:rPr spc="-59" dirty="0">
                <a:latin typeface="Trebuchet MS" panose="020B0603020202020204" pitchFamily="34" charset="0"/>
                <a:cs typeface="Arial MT"/>
              </a:rPr>
              <a:t> </a:t>
            </a:r>
            <a:r>
              <a:rPr spc="-15" dirty="0">
                <a:latin typeface="Trebuchet MS" panose="020B0603020202020204" pitchFamily="34" charset="0"/>
                <a:cs typeface="Arial MT"/>
              </a:rPr>
              <a:t>owned, </a:t>
            </a:r>
            <a:r>
              <a:rPr dirty="0">
                <a:latin typeface="Trebuchet MS" panose="020B0603020202020204" pitchFamily="34" charset="0"/>
                <a:cs typeface="Arial MT"/>
              </a:rPr>
              <a:t>managed,</a:t>
            </a:r>
            <a:r>
              <a:rPr spc="-59" dirty="0">
                <a:latin typeface="Trebuchet MS" panose="020B0603020202020204" pitchFamily="34" charset="0"/>
                <a:cs typeface="Arial MT"/>
              </a:rPr>
              <a:t> </a:t>
            </a:r>
            <a:r>
              <a:rPr dirty="0">
                <a:latin typeface="Trebuchet MS" panose="020B0603020202020204" pitchFamily="34" charset="0"/>
                <a:cs typeface="Arial MT"/>
              </a:rPr>
              <a:t>and</a:t>
            </a:r>
            <a:r>
              <a:rPr spc="-52" dirty="0">
                <a:latin typeface="Trebuchet MS" panose="020B0603020202020204" pitchFamily="34" charset="0"/>
                <a:cs typeface="Arial MT"/>
              </a:rPr>
              <a:t> </a:t>
            </a:r>
            <a:r>
              <a:rPr dirty="0">
                <a:latin typeface="Trebuchet MS" panose="020B0603020202020204" pitchFamily="34" charset="0"/>
                <a:cs typeface="Arial MT"/>
              </a:rPr>
              <a:t>operated</a:t>
            </a:r>
            <a:r>
              <a:rPr spc="-52" dirty="0">
                <a:latin typeface="Trebuchet MS" panose="020B0603020202020204" pitchFamily="34" charset="0"/>
                <a:cs typeface="Arial MT"/>
              </a:rPr>
              <a:t> </a:t>
            </a:r>
            <a:r>
              <a:rPr dirty="0">
                <a:latin typeface="Trebuchet MS" panose="020B0603020202020204" pitchFamily="34" charset="0"/>
                <a:cs typeface="Arial MT"/>
              </a:rPr>
              <a:t>by</a:t>
            </a:r>
            <a:r>
              <a:rPr spc="-52" dirty="0">
                <a:latin typeface="Trebuchet MS" panose="020B0603020202020204" pitchFamily="34" charset="0"/>
                <a:cs typeface="Arial MT"/>
              </a:rPr>
              <a:t> </a:t>
            </a:r>
            <a:r>
              <a:rPr dirty="0">
                <a:latin typeface="Trebuchet MS" panose="020B0603020202020204" pitchFamily="34" charset="0"/>
                <a:cs typeface="Arial MT"/>
              </a:rPr>
              <a:t>one</a:t>
            </a:r>
            <a:r>
              <a:rPr spc="-52" dirty="0">
                <a:latin typeface="Trebuchet MS" panose="020B0603020202020204" pitchFamily="34" charset="0"/>
                <a:cs typeface="Arial MT"/>
              </a:rPr>
              <a:t> </a:t>
            </a:r>
            <a:r>
              <a:rPr dirty="0">
                <a:latin typeface="Trebuchet MS" panose="020B0603020202020204" pitchFamily="34" charset="0"/>
                <a:cs typeface="Arial MT"/>
              </a:rPr>
              <a:t>or</a:t>
            </a:r>
            <a:r>
              <a:rPr spc="-52" dirty="0">
                <a:latin typeface="Trebuchet MS" panose="020B0603020202020204" pitchFamily="34" charset="0"/>
                <a:cs typeface="Arial MT"/>
              </a:rPr>
              <a:t> </a:t>
            </a:r>
            <a:r>
              <a:rPr dirty="0">
                <a:latin typeface="Trebuchet MS" panose="020B0603020202020204" pitchFamily="34" charset="0"/>
                <a:cs typeface="Arial MT"/>
              </a:rPr>
              <a:t>more</a:t>
            </a:r>
            <a:r>
              <a:rPr spc="-59" dirty="0">
                <a:latin typeface="Trebuchet MS" panose="020B0603020202020204" pitchFamily="34" charset="0"/>
                <a:cs typeface="Arial MT"/>
              </a:rPr>
              <a:t> </a:t>
            </a:r>
            <a:r>
              <a:rPr spc="-52" dirty="0">
                <a:latin typeface="Trebuchet MS" panose="020B0603020202020204" pitchFamily="34" charset="0"/>
                <a:cs typeface="Arial MT"/>
              </a:rPr>
              <a:t>of </a:t>
            </a:r>
            <a:r>
              <a:rPr dirty="0">
                <a:latin typeface="Trebuchet MS" panose="020B0603020202020204" pitchFamily="34" charset="0"/>
                <a:cs typeface="Arial MT"/>
              </a:rPr>
              <a:t>the</a:t>
            </a:r>
            <a:r>
              <a:rPr spc="-37" dirty="0">
                <a:latin typeface="Trebuchet MS" panose="020B0603020202020204" pitchFamily="34" charset="0"/>
                <a:cs typeface="Arial MT"/>
              </a:rPr>
              <a:t> </a:t>
            </a:r>
            <a:r>
              <a:rPr dirty="0">
                <a:latin typeface="Trebuchet MS" panose="020B0603020202020204" pitchFamily="34" charset="0"/>
                <a:cs typeface="Arial MT"/>
              </a:rPr>
              <a:t>organizations</a:t>
            </a:r>
            <a:r>
              <a:rPr spc="-30" dirty="0">
                <a:latin typeface="Trebuchet MS" panose="020B0603020202020204" pitchFamily="34" charset="0"/>
                <a:cs typeface="Arial MT"/>
              </a:rPr>
              <a:t> </a:t>
            </a:r>
            <a:r>
              <a:rPr dirty="0">
                <a:latin typeface="Trebuchet MS" panose="020B0603020202020204" pitchFamily="34" charset="0"/>
                <a:cs typeface="Arial MT"/>
              </a:rPr>
              <a:t>in</a:t>
            </a:r>
            <a:r>
              <a:rPr spc="-30" dirty="0">
                <a:latin typeface="Trebuchet MS" panose="020B0603020202020204" pitchFamily="34" charset="0"/>
                <a:cs typeface="Arial MT"/>
              </a:rPr>
              <a:t> </a:t>
            </a:r>
            <a:r>
              <a:rPr dirty="0">
                <a:latin typeface="Trebuchet MS" panose="020B0603020202020204" pitchFamily="34" charset="0"/>
                <a:cs typeface="Arial MT"/>
              </a:rPr>
              <a:t>the</a:t>
            </a:r>
            <a:r>
              <a:rPr spc="-30" dirty="0">
                <a:latin typeface="Trebuchet MS" panose="020B0603020202020204" pitchFamily="34" charset="0"/>
                <a:cs typeface="Arial MT"/>
              </a:rPr>
              <a:t> community, </a:t>
            </a:r>
            <a:r>
              <a:rPr dirty="0">
                <a:latin typeface="Trebuchet MS" panose="020B0603020202020204" pitchFamily="34" charset="0"/>
                <a:cs typeface="Arial MT"/>
              </a:rPr>
              <a:t>a</a:t>
            </a:r>
            <a:r>
              <a:rPr spc="-30" dirty="0">
                <a:latin typeface="Trebuchet MS" panose="020B0603020202020204" pitchFamily="34" charset="0"/>
                <a:cs typeface="Arial MT"/>
              </a:rPr>
              <a:t> </a:t>
            </a:r>
            <a:r>
              <a:rPr spc="-15" dirty="0">
                <a:latin typeface="Trebuchet MS" panose="020B0603020202020204" pitchFamily="34" charset="0"/>
                <a:cs typeface="Arial MT"/>
              </a:rPr>
              <a:t>third party,</a:t>
            </a:r>
            <a:r>
              <a:rPr spc="-52" dirty="0">
                <a:latin typeface="Trebuchet MS" panose="020B0603020202020204" pitchFamily="34" charset="0"/>
                <a:cs typeface="Arial MT"/>
              </a:rPr>
              <a:t> </a:t>
            </a:r>
            <a:r>
              <a:rPr dirty="0">
                <a:latin typeface="Trebuchet MS" panose="020B0603020202020204" pitchFamily="34" charset="0"/>
                <a:cs typeface="Arial MT"/>
              </a:rPr>
              <a:t>or</a:t>
            </a:r>
            <a:r>
              <a:rPr spc="-45" dirty="0">
                <a:latin typeface="Trebuchet MS" panose="020B0603020202020204" pitchFamily="34" charset="0"/>
                <a:cs typeface="Arial MT"/>
              </a:rPr>
              <a:t> </a:t>
            </a:r>
            <a:r>
              <a:rPr dirty="0">
                <a:latin typeface="Trebuchet MS" panose="020B0603020202020204" pitchFamily="34" charset="0"/>
                <a:cs typeface="Arial MT"/>
              </a:rPr>
              <a:t>some</a:t>
            </a:r>
            <a:r>
              <a:rPr spc="-45" dirty="0">
                <a:latin typeface="Trebuchet MS" panose="020B0603020202020204" pitchFamily="34" charset="0"/>
                <a:cs typeface="Arial MT"/>
              </a:rPr>
              <a:t> </a:t>
            </a:r>
            <a:r>
              <a:rPr dirty="0">
                <a:latin typeface="Trebuchet MS" panose="020B0603020202020204" pitchFamily="34" charset="0"/>
                <a:cs typeface="Arial MT"/>
              </a:rPr>
              <a:t>combination</a:t>
            </a:r>
            <a:r>
              <a:rPr spc="-45" dirty="0">
                <a:latin typeface="Trebuchet MS" panose="020B0603020202020204" pitchFamily="34" charset="0"/>
                <a:cs typeface="Arial MT"/>
              </a:rPr>
              <a:t> </a:t>
            </a:r>
            <a:r>
              <a:rPr dirty="0">
                <a:latin typeface="Trebuchet MS" panose="020B0603020202020204" pitchFamily="34" charset="0"/>
                <a:cs typeface="Arial MT"/>
              </a:rPr>
              <a:t>of</a:t>
            </a:r>
            <a:r>
              <a:rPr spc="-45" dirty="0">
                <a:latin typeface="Trebuchet MS" panose="020B0603020202020204" pitchFamily="34" charset="0"/>
                <a:cs typeface="Arial MT"/>
              </a:rPr>
              <a:t> </a:t>
            </a:r>
            <a:r>
              <a:rPr dirty="0">
                <a:latin typeface="Trebuchet MS" panose="020B0603020202020204" pitchFamily="34" charset="0"/>
                <a:cs typeface="Arial MT"/>
              </a:rPr>
              <a:t>them,</a:t>
            </a:r>
            <a:r>
              <a:rPr spc="-45" dirty="0">
                <a:latin typeface="Trebuchet MS" panose="020B0603020202020204" pitchFamily="34" charset="0"/>
                <a:cs typeface="Arial MT"/>
              </a:rPr>
              <a:t> </a:t>
            </a:r>
            <a:r>
              <a:rPr dirty="0">
                <a:latin typeface="Trebuchet MS" panose="020B0603020202020204" pitchFamily="34" charset="0"/>
                <a:cs typeface="Arial MT"/>
              </a:rPr>
              <a:t>and</a:t>
            </a:r>
            <a:r>
              <a:rPr spc="-45" dirty="0">
                <a:latin typeface="Trebuchet MS" panose="020B0603020202020204" pitchFamily="34" charset="0"/>
                <a:cs typeface="Arial MT"/>
              </a:rPr>
              <a:t> </a:t>
            </a:r>
            <a:r>
              <a:rPr spc="-37" dirty="0">
                <a:latin typeface="Trebuchet MS" panose="020B0603020202020204" pitchFamily="34" charset="0"/>
                <a:cs typeface="Arial MT"/>
              </a:rPr>
              <a:t>it </a:t>
            </a:r>
            <a:r>
              <a:rPr dirty="0">
                <a:latin typeface="Trebuchet MS" panose="020B0603020202020204" pitchFamily="34" charset="0"/>
                <a:cs typeface="Arial MT"/>
              </a:rPr>
              <a:t>may</a:t>
            </a:r>
            <a:r>
              <a:rPr spc="-52" dirty="0">
                <a:latin typeface="Trebuchet MS" panose="020B0603020202020204" pitchFamily="34" charset="0"/>
                <a:cs typeface="Arial MT"/>
              </a:rPr>
              <a:t> </a:t>
            </a:r>
            <a:r>
              <a:rPr dirty="0">
                <a:latin typeface="Trebuchet MS" panose="020B0603020202020204" pitchFamily="34" charset="0"/>
                <a:cs typeface="Arial MT"/>
              </a:rPr>
              <a:t>exist</a:t>
            </a:r>
            <a:r>
              <a:rPr spc="-45" dirty="0">
                <a:latin typeface="Trebuchet MS" panose="020B0603020202020204" pitchFamily="34" charset="0"/>
                <a:cs typeface="Arial MT"/>
              </a:rPr>
              <a:t> </a:t>
            </a:r>
            <a:r>
              <a:rPr dirty="0">
                <a:latin typeface="Trebuchet MS" panose="020B0603020202020204" pitchFamily="34" charset="0"/>
                <a:cs typeface="Arial MT"/>
              </a:rPr>
              <a:t>on</a:t>
            </a:r>
            <a:r>
              <a:rPr spc="-52" dirty="0">
                <a:latin typeface="Trebuchet MS" panose="020B0603020202020204" pitchFamily="34" charset="0"/>
                <a:cs typeface="Arial MT"/>
              </a:rPr>
              <a:t> </a:t>
            </a:r>
            <a:r>
              <a:rPr dirty="0">
                <a:latin typeface="Trebuchet MS" panose="020B0603020202020204" pitchFamily="34" charset="0"/>
                <a:cs typeface="Arial MT"/>
              </a:rPr>
              <a:t>or</a:t>
            </a:r>
            <a:r>
              <a:rPr spc="-45" dirty="0">
                <a:latin typeface="Trebuchet MS" panose="020B0603020202020204" pitchFamily="34" charset="0"/>
                <a:cs typeface="Arial MT"/>
              </a:rPr>
              <a:t> </a:t>
            </a:r>
            <a:r>
              <a:rPr dirty="0">
                <a:latin typeface="Trebuchet MS" panose="020B0603020202020204" pitchFamily="34" charset="0"/>
                <a:cs typeface="Arial MT"/>
              </a:rPr>
              <a:t>off</a:t>
            </a:r>
            <a:r>
              <a:rPr spc="-52" dirty="0">
                <a:latin typeface="Trebuchet MS" panose="020B0603020202020204" pitchFamily="34" charset="0"/>
                <a:cs typeface="Arial MT"/>
              </a:rPr>
              <a:t> </a:t>
            </a:r>
            <a:r>
              <a:rPr spc="-15" dirty="0">
                <a:latin typeface="Trebuchet MS" panose="020B0603020202020204" pitchFamily="34" charset="0"/>
                <a:cs typeface="Arial MT"/>
              </a:rPr>
              <a:t>premises.</a:t>
            </a:r>
            <a:endParaRPr dirty="0">
              <a:latin typeface="Trebuchet MS" panose="020B0603020202020204" pitchFamily="34" charset="0"/>
              <a:cs typeface="Arial MT"/>
            </a:endParaRPr>
          </a:p>
        </p:txBody>
      </p:sp>
      <p:sp>
        <p:nvSpPr>
          <p:cNvPr id="29" name="object 29"/>
          <p:cNvSpPr txBox="1"/>
          <p:nvPr/>
        </p:nvSpPr>
        <p:spPr>
          <a:xfrm>
            <a:off x="1509891" y="3754647"/>
            <a:ext cx="4950029" cy="770947"/>
          </a:xfrm>
          <a:prstGeom prst="rect">
            <a:avLst/>
          </a:prstGeom>
        </p:spPr>
        <p:txBody>
          <a:bodyPr vert="horz" wrap="square" lIns="0" tIns="10381" rIns="0" bIns="0" rtlCol="0">
            <a:spAutoFit/>
          </a:bodyPr>
          <a:lstStyle/>
          <a:p>
            <a:pPr marL="338802" marR="7550" indent="-320871">
              <a:lnSpc>
                <a:spcPct val="102600"/>
              </a:lnSpc>
              <a:spcBef>
                <a:spcPts val="82"/>
              </a:spcBef>
            </a:pPr>
            <a:r>
              <a:rPr sz="1635" i="1" spc="-15" dirty="0">
                <a:latin typeface="Arial"/>
                <a:cs typeface="Arial"/>
              </a:rPr>
              <a:t>Examples</a:t>
            </a:r>
            <a:r>
              <a:rPr sz="1635" i="1" spc="-30" dirty="0">
                <a:latin typeface="Arial"/>
                <a:cs typeface="Arial"/>
              </a:rPr>
              <a:t> </a:t>
            </a:r>
            <a:r>
              <a:rPr sz="1635" i="1" dirty="0">
                <a:latin typeface="Arial"/>
                <a:cs typeface="Arial"/>
              </a:rPr>
              <a:t>of</a:t>
            </a:r>
            <a:r>
              <a:rPr sz="1635" i="1" spc="-37" dirty="0">
                <a:latin typeface="Arial"/>
                <a:cs typeface="Arial"/>
              </a:rPr>
              <a:t> </a:t>
            </a:r>
            <a:r>
              <a:rPr sz="1635" i="1" dirty="0">
                <a:latin typeface="Arial"/>
                <a:cs typeface="Arial"/>
              </a:rPr>
              <a:t>such</a:t>
            </a:r>
            <a:r>
              <a:rPr sz="1635" i="1" spc="-30" dirty="0">
                <a:latin typeface="Arial"/>
                <a:cs typeface="Arial"/>
              </a:rPr>
              <a:t> </a:t>
            </a:r>
            <a:r>
              <a:rPr sz="1635" i="1" dirty="0">
                <a:latin typeface="Arial"/>
                <a:cs typeface="Arial"/>
              </a:rPr>
              <a:t>communities</a:t>
            </a:r>
            <a:r>
              <a:rPr sz="1635" dirty="0">
                <a:latin typeface="Arial MT"/>
                <a:cs typeface="Arial MT"/>
              </a:rPr>
              <a:t>:</a:t>
            </a:r>
            <a:r>
              <a:rPr sz="1635" spc="59" dirty="0">
                <a:latin typeface="Arial MT"/>
                <a:cs typeface="Arial MT"/>
              </a:rPr>
              <a:t> </a:t>
            </a:r>
            <a:r>
              <a:rPr sz="1635" dirty="0">
                <a:latin typeface="Arial MT"/>
                <a:cs typeface="Arial MT"/>
              </a:rPr>
              <a:t>all</a:t>
            </a:r>
            <a:r>
              <a:rPr sz="1635" spc="-30" dirty="0">
                <a:latin typeface="Arial MT"/>
                <a:cs typeface="Arial MT"/>
              </a:rPr>
              <a:t> </a:t>
            </a:r>
            <a:r>
              <a:rPr sz="1635" dirty="0">
                <a:latin typeface="Arial MT"/>
                <a:cs typeface="Arial MT"/>
              </a:rPr>
              <a:t>banks</a:t>
            </a:r>
            <a:r>
              <a:rPr sz="1635" spc="-37" dirty="0">
                <a:latin typeface="Arial MT"/>
                <a:cs typeface="Arial MT"/>
              </a:rPr>
              <a:t> </a:t>
            </a:r>
            <a:r>
              <a:rPr sz="1635" dirty="0">
                <a:latin typeface="Arial MT"/>
                <a:cs typeface="Arial MT"/>
              </a:rPr>
              <a:t>of</a:t>
            </a:r>
            <a:r>
              <a:rPr sz="1635" spc="-37" dirty="0">
                <a:latin typeface="Arial MT"/>
                <a:cs typeface="Arial MT"/>
              </a:rPr>
              <a:t> </a:t>
            </a:r>
            <a:r>
              <a:rPr sz="1635" spc="-74" dirty="0">
                <a:latin typeface="Arial MT"/>
                <a:cs typeface="Arial MT"/>
              </a:rPr>
              <a:t>a </a:t>
            </a:r>
            <a:r>
              <a:rPr sz="1635" spc="-15" dirty="0">
                <a:latin typeface="Arial MT"/>
                <a:cs typeface="Arial MT"/>
              </a:rPr>
              <a:t>financial</a:t>
            </a:r>
            <a:r>
              <a:rPr sz="1635" spc="-37" dirty="0">
                <a:latin typeface="Arial MT"/>
                <a:cs typeface="Arial MT"/>
              </a:rPr>
              <a:t> </a:t>
            </a:r>
            <a:r>
              <a:rPr sz="1635" dirty="0">
                <a:latin typeface="Arial MT"/>
                <a:cs typeface="Arial MT"/>
              </a:rPr>
              <a:t>zone,</a:t>
            </a:r>
            <a:r>
              <a:rPr sz="1635" spc="-30" dirty="0">
                <a:latin typeface="Arial MT"/>
                <a:cs typeface="Arial MT"/>
              </a:rPr>
              <a:t> </a:t>
            </a:r>
            <a:r>
              <a:rPr sz="1635" dirty="0">
                <a:latin typeface="Arial MT"/>
                <a:cs typeface="Arial MT"/>
              </a:rPr>
              <a:t>all</a:t>
            </a:r>
            <a:r>
              <a:rPr sz="1635" spc="-30" dirty="0">
                <a:latin typeface="Arial MT"/>
                <a:cs typeface="Arial MT"/>
              </a:rPr>
              <a:t> </a:t>
            </a:r>
            <a:r>
              <a:rPr sz="1635" spc="-15" dirty="0">
                <a:latin typeface="Arial MT"/>
                <a:cs typeface="Arial MT"/>
              </a:rPr>
              <a:t>hospitals</a:t>
            </a:r>
            <a:r>
              <a:rPr sz="1635" spc="-37" dirty="0">
                <a:latin typeface="Arial MT"/>
                <a:cs typeface="Arial MT"/>
              </a:rPr>
              <a:t> </a:t>
            </a:r>
            <a:r>
              <a:rPr sz="1635" dirty="0">
                <a:latin typeface="Arial MT"/>
                <a:cs typeface="Arial MT"/>
              </a:rPr>
              <a:t>of</a:t>
            </a:r>
            <a:r>
              <a:rPr sz="1635" spc="-30" dirty="0">
                <a:latin typeface="Arial MT"/>
                <a:cs typeface="Arial MT"/>
              </a:rPr>
              <a:t> </a:t>
            </a:r>
            <a:r>
              <a:rPr sz="1635" dirty="0">
                <a:latin typeface="Arial MT"/>
                <a:cs typeface="Arial MT"/>
              </a:rPr>
              <a:t>a</a:t>
            </a:r>
            <a:r>
              <a:rPr sz="1635" spc="-30" dirty="0">
                <a:latin typeface="Arial MT"/>
                <a:cs typeface="Arial MT"/>
              </a:rPr>
              <a:t> city,</a:t>
            </a:r>
            <a:r>
              <a:rPr sz="1635" spc="-37" dirty="0">
                <a:latin typeface="Arial MT"/>
                <a:cs typeface="Arial MT"/>
              </a:rPr>
              <a:t> </a:t>
            </a:r>
            <a:r>
              <a:rPr sz="1635" dirty="0">
                <a:latin typeface="Arial MT"/>
                <a:cs typeface="Arial MT"/>
              </a:rPr>
              <a:t>all</a:t>
            </a:r>
            <a:r>
              <a:rPr sz="1635" spc="-30" dirty="0">
                <a:latin typeface="Arial MT"/>
                <a:cs typeface="Arial MT"/>
              </a:rPr>
              <a:t> </a:t>
            </a:r>
            <a:r>
              <a:rPr sz="1635" spc="-15" dirty="0">
                <a:latin typeface="Arial MT"/>
                <a:cs typeface="Arial MT"/>
              </a:rPr>
              <a:t>universities </a:t>
            </a:r>
            <a:r>
              <a:rPr sz="1635" dirty="0">
                <a:latin typeface="Arial MT"/>
                <a:cs typeface="Arial MT"/>
              </a:rPr>
              <a:t>of</a:t>
            </a:r>
            <a:r>
              <a:rPr sz="1635" spc="-37" dirty="0">
                <a:latin typeface="Arial MT"/>
                <a:cs typeface="Arial MT"/>
              </a:rPr>
              <a:t> </a:t>
            </a:r>
            <a:r>
              <a:rPr sz="1635" dirty="0">
                <a:latin typeface="Arial MT"/>
                <a:cs typeface="Arial MT"/>
              </a:rPr>
              <a:t>a</a:t>
            </a:r>
            <a:r>
              <a:rPr sz="1635" spc="-30" dirty="0">
                <a:latin typeface="Arial MT"/>
                <a:cs typeface="Arial MT"/>
              </a:rPr>
              <a:t> </a:t>
            </a:r>
            <a:r>
              <a:rPr sz="1635" spc="-15" dirty="0">
                <a:latin typeface="Arial MT"/>
                <a:cs typeface="Arial MT"/>
              </a:rPr>
              <a:t>country,</a:t>
            </a:r>
            <a:r>
              <a:rPr sz="1635" spc="-30" dirty="0">
                <a:latin typeface="Arial MT"/>
                <a:cs typeface="Arial MT"/>
              </a:rPr>
              <a:t> etc.</a:t>
            </a:r>
            <a:endParaRPr sz="1635" dirty="0">
              <a:latin typeface="Arial MT"/>
              <a:cs typeface="Arial MT"/>
            </a:endParaRPr>
          </a:p>
        </p:txBody>
      </p:sp>
    </p:spTree>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47768" y="361950"/>
            <a:ext cx="4476259" cy="456618"/>
          </a:xfrm>
          <a:prstGeom prst="rect">
            <a:avLst/>
          </a:prstGeom>
        </p:spPr>
        <p:txBody>
          <a:bodyPr vert="horz" wrap="square" lIns="0" tIns="25482" rIns="0" bIns="0" rtlCol="0">
            <a:spAutoFit/>
          </a:bodyPr>
          <a:lstStyle/>
          <a:p>
            <a:pPr marL="900325">
              <a:spcBef>
                <a:spcPts val="201"/>
              </a:spcBef>
            </a:pPr>
            <a:r>
              <a:rPr dirty="0"/>
              <a:t>Deployment</a:t>
            </a:r>
            <a:r>
              <a:rPr spc="97" dirty="0"/>
              <a:t> </a:t>
            </a:r>
            <a:r>
              <a:rPr spc="-15" dirty="0"/>
              <a:t>Models</a:t>
            </a:r>
          </a:p>
        </p:txBody>
      </p:sp>
      <p:sp>
        <p:nvSpPr>
          <p:cNvPr id="28" name="object 28"/>
          <p:cNvSpPr txBox="1"/>
          <p:nvPr/>
        </p:nvSpPr>
        <p:spPr>
          <a:xfrm>
            <a:off x="533400" y="971550"/>
            <a:ext cx="6996478" cy="1418881"/>
          </a:xfrm>
          <a:prstGeom prst="rect">
            <a:avLst/>
          </a:prstGeom>
        </p:spPr>
        <p:txBody>
          <a:bodyPr vert="horz" wrap="square" lIns="0" tIns="10381" rIns="0" bIns="0" rtlCol="0">
            <a:spAutoFit/>
          </a:bodyPr>
          <a:lstStyle/>
          <a:p>
            <a:pPr marL="805951" marR="7550" indent="-788020">
              <a:lnSpc>
                <a:spcPct val="102600"/>
              </a:lnSpc>
              <a:spcBef>
                <a:spcPts val="82"/>
              </a:spcBef>
            </a:pPr>
            <a:r>
              <a:rPr b="1" dirty="0">
                <a:latin typeface="Trebuchet MS" panose="020B0603020202020204" pitchFamily="34" charset="0"/>
                <a:cs typeface="Arial"/>
              </a:rPr>
              <a:t>Public:</a:t>
            </a:r>
            <a:r>
              <a:rPr b="1" spc="245" dirty="0">
                <a:latin typeface="Trebuchet MS" panose="020B0603020202020204" pitchFamily="34" charset="0"/>
                <a:cs typeface="Arial"/>
              </a:rPr>
              <a:t> </a:t>
            </a:r>
            <a:r>
              <a:rPr dirty="0">
                <a:latin typeface="Trebuchet MS" panose="020B0603020202020204" pitchFamily="34" charset="0"/>
                <a:cs typeface="Arial MT"/>
              </a:rPr>
              <a:t>The</a:t>
            </a:r>
            <a:r>
              <a:rPr spc="-59" dirty="0">
                <a:latin typeface="Trebuchet MS" panose="020B0603020202020204" pitchFamily="34" charset="0"/>
                <a:cs typeface="Arial MT"/>
              </a:rPr>
              <a:t> </a:t>
            </a:r>
            <a:r>
              <a:rPr dirty="0">
                <a:latin typeface="Trebuchet MS" panose="020B0603020202020204" pitchFamily="34" charset="0"/>
                <a:cs typeface="Arial MT"/>
              </a:rPr>
              <a:t>cloud</a:t>
            </a:r>
            <a:r>
              <a:rPr spc="-59" dirty="0">
                <a:latin typeface="Trebuchet MS" panose="020B0603020202020204" pitchFamily="34" charset="0"/>
                <a:cs typeface="Arial MT"/>
              </a:rPr>
              <a:t> </a:t>
            </a:r>
            <a:r>
              <a:rPr dirty="0">
                <a:latin typeface="Trebuchet MS" panose="020B0603020202020204" pitchFamily="34" charset="0"/>
                <a:cs typeface="Arial MT"/>
              </a:rPr>
              <a:t>infrastructure</a:t>
            </a:r>
            <a:r>
              <a:rPr spc="-59" dirty="0">
                <a:latin typeface="Trebuchet MS" panose="020B0603020202020204" pitchFamily="34" charset="0"/>
                <a:cs typeface="Arial MT"/>
              </a:rPr>
              <a:t> </a:t>
            </a:r>
            <a:r>
              <a:rPr dirty="0">
                <a:latin typeface="Trebuchet MS" panose="020B0603020202020204" pitchFamily="34" charset="0"/>
                <a:cs typeface="Arial MT"/>
              </a:rPr>
              <a:t>is</a:t>
            </a:r>
            <a:r>
              <a:rPr spc="-52" dirty="0">
                <a:latin typeface="Trebuchet MS" panose="020B0603020202020204" pitchFamily="34" charset="0"/>
                <a:cs typeface="Arial MT"/>
              </a:rPr>
              <a:t> </a:t>
            </a:r>
            <a:r>
              <a:rPr spc="-15" dirty="0">
                <a:latin typeface="Trebuchet MS" panose="020B0603020202020204" pitchFamily="34" charset="0"/>
                <a:cs typeface="Arial MT"/>
              </a:rPr>
              <a:t>provisioned</a:t>
            </a:r>
            <a:r>
              <a:rPr spc="-59" dirty="0">
                <a:latin typeface="Trebuchet MS" panose="020B0603020202020204" pitchFamily="34" charset="0"/>
                <a:cs typeface="Arial MT"/>
              </a:rPr>
              <a:t> </a:t>
            </a:r>
            <a:r>
              <a:rPr spc="-37" dirty="0">
                <a:latin typeface="Trebuchet MS" panose="020B0603020202020204" pitchFamily="34" charset="0"/>
                <a:cs typeface="Arial MT"/>
              </a:rPr>
              <a:t>for </a:t>
            </a:r>
            <a:r>
              <a:rPr dirty="0">
                <a:latin typeface="Trebuchet MS" panose="020B0603020202020204" pitchFamily="34" charset="0"/>
                <a:cs typeface="Arial MT"/>
              </a:rPr>
              <a:t>open</a:t>
            </a:r>
            <a:r>
              <a:rPr spc="-59" dirty="0">
                <a:latin typeface="Trebuchet MS" panose="020B0603020202020204" pitchFamily="34" charset="0"/>
                <a:cs typeface="Arial MT"/>
              </a:rPr>
              <a:t> </a:t>
            </a:r>
            <a:r>
              <a:rPr dirty="0">
                <a:latin typeface="Trebuchet MS" panose="020B0603020202020204" pitchFamily="34" charset="0"/>
                <a:cs typeface="Arial MT"/>
              </a:rPr>
              <a:t>use</a:t>
            </a:r>
            <a:r>
              <a:rPr spc="-59" dirty="0">
                <a:latin typeface="Trebuchet MS" panose="020B0603020202020204" pitchFamily="34" charset="0"/>
                <a:cs typeface="Arial MT"/>
              </a:rPr>
              <a:t> </a:t>
            </a:r>
            <a:r>
              <a:rPr dirty="0">
                <a:latin typeface="Trebuchet MS" panose="020B0603020202020204" pitchFamily="34" charset="0"/>
                <a:cs typeface="Arial MT"/>
              </a:rPr>
              <a:t>by</a:t>
            </a:r>
            <a:r>
              <a:rPr spc="-52" dirty="0">
                <a:latin typeface="Trebuchet MS" panose="020B0603020202020204" pitchFamily="34" charset="0"/>
                <a:cs typeface="Arial MT"/>
              </a:rPr>
              <a:t> </a:t>
            </a:r>
            <a:r>
              <a:rPr dirty="0">
                <a:latin typeface="Trebuchet MS" panose="020B0603020202020204" pitchFamily="34" charset="0"/>
                <a:cs typeface="Arial MT"/>
              </a:rPr>
              <a:t>the</a:t>
            </a:r>
            <a:r>
              <a:rPr spc="-59" dirty="0">
                <a:latin typeface="Trebuchet MS" panose="020B0603020202020204" pitchFamily="34" charset="0"/>
                <a:cs typeface="Arial MT"/>
              </a:rPr>
              <a:t> </a:t>
            </a:r>
            <a:r>
              <a:rPr dirty="0">
                <a:latin typeface="Trebuchet MS" panose="020B0603020202020204" pitchFamily="34" charset="0"/>
                <a:cs typeface="Arial MT"/>
              </a:rPr>
              <a:t>general</a:t>
            </a:r>
            <a:r>
              <a:rPr spc="-59" dirty="0">
                <a:latin typeface="Trebuchet MS" panose="020B0603020202020204" pitchFamily="34" charset="0"/>
                <a:cs typeface="Arial MT"/>
              </a:rPr>
              <a:t> </a:t>
            </a:r>
            <a:r>
              <a:rPr dirty="0">
                <a:latin typeface="Trebuchet MS" panose="020B0603020202020204" pitchFamily="34" charset="0"/>
                <a:cs typeface="Arial MT"/>
              </a:rPr>
              <a:t>public.</a:t>
            </a:r>
            <a:r>
              <a:rPr spc="37" dirty="0">
                <a:latin typeface="Trebuchet MS" panose="020B0603020202020204" pitchFamily="34" charset="0"/>
                <a:cs typeface="Arial MT"/>
              </a:rPr>
              <a:t> </a:t>
            </a:r>
            <a:r>
              <a:rPr dirty="0">
                <a:latin typeface="Trebuchet MS" panose="020B0603020202020204" pitchFamily="34" charset="0"/>
                <a:cs typeface="Arial MT"/>
              </a:rPr>
              <a:t>It</a:t>
            </a:r>
            <a:r>
              <a:rPr spc="-59" dirty="0">
                <a:latin typeface="Trebuchet MS" panose="020B0603020202020204" pitchFamily="34" charset="0"/>
                <a:cs typeface="Arial MT"/>
              </a:rPr>
              <a:t> </a:t>
            </a:r>
            <a:r>
              <a:rPr dirty="0">
                <a:latin typeface="Trebuchet MS" panose="020B0603020202020204" pitchFamily="34" charset="0"/>
                <a:cs typeface="Arial MT"/>
              </a:rPr>
              <a:t>may</a:t>
            </a:r>
            <a:r>
              <a:rPr spc="-52" dirty="0">
                <a:latin typeface="Trebuchet MS" panose="020B0603020202020204" pitchFamily="34" charset="0"/>
                <a:cs typeface="Arial MT"/>
              </a:rPr>
              <a:t> </a:t>
            </a:r>
            <a:r>
              <a:rPr spc="-37" dirty="0">
                <a:latin typeface="Trebuchet MS" panose="020B0603020202020204" pitchFamily="34" charset="0"/>
                <a:cs typeface="Arial MT"/>
              </a:rPr>
              <a:t>be </a:t>
            </a:r>
            <a:r>
              <a:rPr dirty="0">
                <a:latin typeface="Trebuchet MS" panose="020B0603020202020204" pitchFamily="34" charset="0"/>
                <a:cs typeface="Arial MT"/>
              </a:rPr>
              <a:t>owned,</a:t>
            </a:r>
            <a:r>
              <a:rPr spc="-74" dirty="0">
                <a:latin typeface="Trebuchet MS" panose="020B0603020202020204" pitchFamily="34" charset="0"/>
                <a:cs typeface="Arial MT"/>
              </a:rPr>
              <a:t> </a:t>
            </a:r>
            <a:r>
              <a:rPr dirty="0">
                <a:latin typeface="Trebuchet MS" panose="020B0603020202020204" pitchFamily="34" charset="0"/>
                <a:cs typeface="Arial MT"/>
              </a:rPr>
              <a:t>managed,</a:t>
            </a:r>
            <a:r>
              <a:rPr spc="-74" dirty="0">
                <a:latin typeface="Trebuchet MS" panose="020B0603020202020204" pitchFamily="34" charset="0"/>
                <a:cs typeface="Arial MT"/>
              </a:rPr>
              <a:t> </a:t>
            </a:r>
            <a:r>
              <a:rPr dirty="0">
                <a:latin typeface="Trebuchet MS" panose="020B0603020202020204" pitchFamily="34" charset="0"/>
                <a:cs typeface="Arial MT"/>
              </a:rPr>
              <a:t>and</a:t>
            </a:r>
            <a:r>
              <a:rPr spc="-74" dirty="0">
                <a:latin typeface="Trebuchet MS" panose="020B0603020202020204" pitchFamily="34" charset="0"/>
                <a:cs typeface="Arial MT"/>
              </a:rPr>
              <a:t> </a:t>
            </a:r>
            <a:r>
              <a:rPr dirty="0">
                <a:latin typeface="Trebuchet MS" panose="020B0603020202020204" pitchFamily="34" charset="0"/>
                <a:cs typeface="Arial MT"/>
              </a:rPr>
              <a:t>operated</a:t>
            </a:r>
            <a:r>
              <a:rPr spc="-67" dirty="0">
                <a:latin typeface="Trebuchet MS" panose="020B0603020202020204" pitchFamily="34" charset="0"/>
                <a:cs typeface="Arial MT"/>
              </a:rPr>
              <a:t> </a:t>
            </a:r>
            <a:r>
              <a:rPr dirty="0">
                <a:latin typeface="Trebuchet MS" panose="020B0603020202020204" pitchFamily="34" charset="0"/>
                <a:cs typeface="Arial MT"/>
              </a:rPr>
              <a:t>by</a:t>
            </a:r>
            <a:r>
              <a:rPr spc="-74" dirty="0">
                <a:latin typeface="Trebuchet MS" panose="020B0603020202020204" pitchFamily="34" charset="0"/>
                <a:cs typeface="Arial MT"/>
              </a:rPr>
              <a:t> a </a:t>
            </a:r>
            <a:r>
              <a:rPr spc="-15" dirty="0">
                <a:latin typeface="Trebuchet MS" panose="020B0603020202020204" pitchFamily="34" charset="0"/>
                <a:cs typeface="Arial MT"/>
              </a:rPr>
              <a:t>business,</a:t>
            </a:r>
            <a:r>
              <a:rPr spc="-67" dirty="0">
                <a:latin typeface="Trebuchet MS" panose="020B0603020202020204" pitchFamily="34" charset="0"/>
                <a:cs typeface="Arial MT"/>
              </a:rPr>
              <a:t> </a:t>
            </a:r>
            <a:r>
              <a:rPr dirty="0">
                <a:latin typeface="Trebuchet MS" panose="020B0603020202020204" pitchFamily="34" charset="0"/>
                <a:cs typeface="Arial MT"/>
              </a:rPr>
              <a:t>academic,</a:t>
            </a:r>
            <a:r>
              <a:rPr spc="-59" dirty="0">
                <a:latin typeface="Trebuchet MS" panose="020B0603020202020204" pitchFamily="34" charset="0"/>
                <a:cs typeface="Arial MT"/>
              </a:rPr>
              <a:t> </a:t>
            </a:r>
            <a:r>
              <a:rPr dirty="0">
                <a:latin typeface="Trebuchet MS" panose="020B0603020202020204" pitchFamily="34" charset="0"/>
                <a:cs typeface="Arial MT"/>
              </a:rPr>
              <a:t>or</a:t>
            </a:r>
            <a:r>
              <a:rPr spc="-59" dirty="0">
                <a:latin typeface="Trebuchet MS" panose="020B0603020202020204" pitchFamily="34" charset="0"/>
                <a:cs typeface="Arial MT"/>
              </a:rPr>
              <a:t> </a:t>
            </a:r>
            <a:r>
              <a:rPr spc="-15" dirty="0">
                <a:latin typeface="Trebuchet MS" panose="020B0603020202020204" pitchFamily="34" charset="0"/>
                <a:cs typeface="Arial MT"/>
              </a:rPr>
              <a:t>government </a:t>
            </a:r>
            <a:r>
              <a:rPr dirty="0">
                <a:latin typeface="Trebuchet MS" panose="020B0603020202020204" pitchFamily="34" charset="0"/>
                <a:cs typeface="Arial MT"/>
              </a:rPr>
              <a:t>organization,</a:t>
            </a:r>
            <a:r>
              <a:rPr spc="-59" dirty="0">
                <a:latin typeface="Trebuchet MS" panose="020B0603020202020204" pitchFamily="34" charset="0"/>
                <a:cs typeface="Arial MT"/>
              </a:rPr>
              <a:t> </a:t>
            </a:r>
            <a:r>
              <a:rPr dirty="0">
                <a:latin typeface="Trebuchet MS" panose="020B0603020202020204" pitchFamily="34" charset="0"/>
                <a:cs typeface="Arial MT"/>
              </a:rPr>
              <a:t>or</a:t>
            </a:r>
            <a:r>
              <a:rPr spc="-59" dirty="0">
                <a:latin typeface="Trebuchet MS" panose="020B0603020202020204" pitchFamily="34" charset="0"/>
                <a:cs typeface="Arial MT"/>
              </a:rPr>
              <a:t> </a:t>
            </a:r>
            <a:r>
              <a:rPr dirty="0">
                <a:latin typeface="Trebuchet MS" panose="020B0603020202020204" pitchFamily="34" charset="0"/>
                <a:cs typeface="Arial MT"/>
              </a:rPr>
              <a:t>some</a:t>
            </a:r>
            <a:r>
              <a:rPr spc="-59" dirty="0">
                <a:latin typeface="Trebuchet MS" panose="020B0603020202020204" pitchFamily="34" charset="0"/>
                <a:cs typeface="Arial MT"/>
              </a:rPr>
              <a:t> </a:t>
            </a:r>
            <a:r>
              <a:rPr dirty="0">
                <a:latin typeface="Trebuchet MS" panose="020B0603020202020204" pitchFamily="34" charset="0"/>
                <a:cs typeface="Arial MT"/>
              </a:rPr>
              <a:t>combination</a:t>
            </a:r>
            <a:r>
              <a:rPr spc="-52" dirty="0">
                <a:latin typeface="Trebuchet MS" panose="020B0603020202020204" pitchFamily="34" charset="0"/>
                <a:cs typeface="Arial MT"/>
              </a:rPr>
              <a:t> </a:t>
            </a:r>
            <a:r>
              <a:rPr dirty="0">
                <a:latin typeface="Trebuchet MS" panose="020B0603020202020204" pitchFamily="34" charset="0"/>
                <a:cs typeface="Arial MT"/>
              </a:rPr>
              <a:t>of</a:t>
            </a:r>
            <a:r>
              <a:rPr spc="-59" dirty="0">
                <a:latin typeface="Trebuchet MS" panose="020B0603020202020204" pitchFamily="34" charset="0"/>
                <a:cs typeface="Arial MT"/>
              </a:rPr>
              <a:t> </a:t>
            </a:r>
            <a:r>
              <a:rPr spc="-15" dirty="0">
                <a:latin typeface="Trebuchet MS" panose="020B0603020202020204" pitchFamily="34" charset="0"/>
                <a:cs typeface="Arial MT"/>
              </a:rPr>
              <a:t>them. </a:t>
            </a:r>
            <a:r>
              <a:rPr dirty="0">
                <a:latin typeface="Trebuchet MS" panose="020B0603020202020204" pitchFamily="34" charset="0"/>
                <a:cs typeface="Arial MT"/>
              </a:rPr>
              <a:t>It</a:t>
            </a:r>
            <a:r>
              <a:rPr spc="-45" dirty="0">
                <a:latin typeface="Trebuchet MS" panose="020B0603020202020204" pitchFamily="34" charset="0"/>
                <a:cs typeface="Arial MT"/>
              </a:rPr>
              <a:t> </a:t>
            </a:r>
            <a:r>
              <a:rPr dirty="0">
                <a:latin typeface="Trebuchet MS" panose="020B0603020202020204" pitchFamily="34" charset="0"/>
                <a:cs typeface="Arial MT"/>
              </a:rPr>
              <a:t>exists</a:t>
            </a:r>
            <a:r>
              <a:rPr spc="-37" dirty="0">
                <a:latin typeface="Trebuchet MS" panose="020B0603020202020204" pitchFamily="34" charset="0"/>
                <a:cs typeface="Arial MT"/>
              </a:rPr>
              <a:t> </a:t>
            </a:r>
            <a:r>
              <a:rPr dirty="0">
                <a:latin typeface="Trebuchet MS" panose="020B0603020202020204" pitchFamily="34" charset="0"/>
                <a:cs typeface="Arial MT"/>
              </a:rPr>
              <a:t>on</a:t>
            </a:r>
            <a:r>
              <a:rPr spc="-45" dirty="0">
                <a:latin typeface="Trebuchet MS" panose="020B0603020202020204" pitchFamily="34" charset="0"/>
                <a:cs typeface="Arial MT"/>
              </a:rPr>
              <a:t> </a:t>
            </a:r>
            <a:r>
              <a:rPr dirty="0">
                <a:latin typeface="Trebuchet MS" panose="020B0603020202020204" pitchFamily="34" charset="0"/>
                <a:cs typeface="Arial MT"/>
              </a:rPr>
              <a:t>the</a:t>
            </a:r>
            <a:r>
              <a:rPr spc="-37" dirty="0">
                <a:latin typeface="Trebuchet MS" panose="020B0603020202020204" pitchFamily="34" charset="0"/>
                <a:cs typeface="Arial MT"/>
              </a:rPr>
              <a:t> </a:t>
            </a:r>
            <a:r>
              <a:rPr dirty="0">
                <a:latin typeface="Trebuchet MS" panose="020B0603020202020204" pitchFamily="34" charset="0"/>
                <a:cs typeface="Arial MT"/>
              </a:rPr>
              <a:t>premises</a:t>
            </a:r>
            <a:r>
              <a:rPr spc="-37" dirty="0">
                <a:latin typeface="Trebuchet MS" panose="020B0603020202020204" pitchFamily="34" charset="0"/>
                <a:cs typeface="Arial MT"/>
              </a:rPr>
              <a:t> </a:t>
            </a:r>
            <a:r>
              <a:rPr dirty="0">
                <a:latin typeface="Trebuchet MS" panose="020B0603020202020204" pitchFamily="34" charset="0"/>
                <a:cs typeface="Arial MT"/>
              </a:rPr>
              <a:t>of</a:t>
            </a:r>
            <a:r>
              <a:rPr spc="-45" dirty="0">
                <a:latin typeface="Trebuchet MS" panose="020B0603020202020204" pitchFamily="34" charset="0"/>
                <a:cs typeface="Arial MT"/>
              </a:rPr>
              <a:t> </a:t>
            </a:r>
            <a:r>
              <a:rPr dirty="0">
                <a:latin typeface="Trebuchet MS" panose="020B0603020202020204" pitchFamily="34" charset="0"/>
                <a:cs typeface="Arial MT"/>
              </a:rPr>
              <a:t>the</a:t>
            </a:r>
            <a:r>
              <a:rPr spc="-37" dirty="0">
                <a:latin typeface="Trebuchet MS" panose="020B0603020202020204" pitchFamily="34" charset="0"/>
                <a:cs typeface="Arial MT"/>
              </a:rPr>
              <a:t> </a:t>
            </a:r>
            <a:r>
              <a:rPr spc="-15" dirty="0">
                <a:latin typeface="Trebuchet MS" panose="020B0603020202020204" pitchFamily="34" charset="0"/>
                <a:cs typeface="Arial MT"/>
              </a:rPr>
              <a:t>cloud provider.</a:t>
            </a:r>
            <a:endParaRPr dirty="0">
              <a:latin typeface="Trebuchet MS" panose="020B0603020202020204" pitchFamily="34" charset="0"/>
              <a:cs typeface="Arial MT"/>
            </a:endParaRPr>
          </a:p>
        </p:txBody>
      </p:sp>
      <p:pic>
        <p:nvPicPr>
          <p:cNvPr id="3" name="Picture 2">
            <a:extLst>
              <a:ext uri="{FF2B5EF4-FFF2-40B4-BE49-F238E27FC236}">
                <a16:creationId xmlns:a16="http://schemas.microsoft.com/office/drawing/2014/main" id="{D8E37380-EF4C-E499-28EB-2CBEC3822318}"/>
              </a:ext>
            </a:extLst>
          </p:cNvPr>
          <p:cNvPicPr>
            <a:picLocks noChangeAspect="1"/>
          </p:cNvPicPr>
          <p:nvPr/>
        </p:nvPicPr>
        <p:blipFill>
          <a:blip r:embed="rId2"/>
          <a:stretch>
            <a:fillRect/>
          </a:stretch>
        </p:blipFill>
        <p:spPr>
          <a:xfrm>
            <a:off x="4116301" y="2193269"/>
            <a:ext cx="3984886" cy="2824501"/>
          </a:xfrm>
          <a:prstGeom prst="rect">
            <a:avLst/>
          </a:prstGeom>
        </p:spPr>
      </p:pic>
    </p:spTree>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736187" y="5010447"/>
            <a:ext cx="64176" cy="453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999999"/>
            </a:solidFill>
          </a:ln>
        </p:spPr>
        <p:txBody>
          <a:bodyPr wrap="square" lIns="0" tIns="0" rIns="0" bIns="0" rtlCol="0"/>
          <a:lstStyle/>
          <a:p>
            <a:endParaRPr sz="2675"/>
          </a:p>
        </p:txBody>
      </p:sp>
      <p:sp>
        <p:nvSpPr>
          <p:cNvPr id="9" name="object 9"/>
          <p:cNvSpPr/>
          <p:nvPr/>
        </p:nvSpPr>
        <p:spPr>
          <a:xfrm>
            <a:off x="5617857" y="5004559"/>
            <a:ext cx="37750" cy="56626"/>
          </a:xfrm>
          <a:custGeom>
            <a:avLst/>
            <a:gdLst/>
            <a:ahLst/>
            <a:cxnLst/>
            <a:rect l="l" t="t" r="r" b="b"/>
            <a:pathLst>
              <a:path w="25400" h="38100">
                <a:moveTo>
                  <a:pt x="25400" y="0"/>
                </a:moveTo>
                <a:lnTo>
                  <a:pt x="0" y="19050"/>
                </a:lnTo>
                <a:lnTo>
                  <a:pt x="25400" y="38100"/>
                </a:lnTo>
                <a:lnTo>
                  <a:pt x="25400" y="0"/>
                </a:lnTo>
                <a:close/>
              </a:path>
            </a:pathLst>
          </a:custGeom>
          <a:solidFill>
            <a:srgbClr val="CCCCCC"/>
          </a:solidFill>
        </p:spPr>
        <p:txBody>
          <a:bodyPr wrap="square" lIns="0" tIns="0" rIns="0" bIns="0" rtlCol="0"/>
          <a:lstStyle/>
          <a:p>
            <a:endParaRPr sz="2675"/>
          </a:p>
        </p:txBody>
      </p:sp>
      <p:sp>
        <p:nvSpPr>
          <p:cNvPr id="10" name="object 10"/>
          <p:cNvSpPr/>
          <p:nvPr/>
        </p:nvSpPr>
        <p:spPr>
          <a:xfrm>
            <a:off x="5882114" y="5004559"/>
            <a:ext cx="37750" cy="56626"/>
          </a:xfrm>
          <a:custGeom>
            <a:avLst/>
            <a:gdLst/>
            <a:ahLst/>
            <a:cxnLst/>
            <a:rect l="l" t="t" r="r" b="b"/>
            <a:pathLst>
              <a:path w="25400" h="38100">
                <a:moveTo>
                  <a:pt x="0" y="0"/>
                </a:moveTo>
                <a:lnTo>
                  <a:pt x="0" y="38100"/>
                </a:lnTo>
                <a:lnTo>
                  <a:pt x="25400" y="19050"/>
                </a:lnTo>
                <a:lnTo>
                  <a:pt x="0" y="0"/>
                </a:lnTo>
                <a:close/>
              </a:path>
            </a:pathLst>
          </a:custGeom>
          <a:solidFill>
            <a:srgbClr val="CCCCCC"/>
          </a:solidFill>
        </p:spPr>
        <p:txBody>
          <a:bodyPr wrap="square" lIns="0" tIns="0" rIns="0" bIns="0" rtlCol="0"/>
          <a:lstStyle/>
          <a:p>
            <a:endParaRPr sz="2675"/>
          </a:p>
        </p:txBody>
      </p:sp>
      <p:grpSp>
        <p:nvGrpSpPr>
          <p:cNvPr id="11" name="object 11"/>
          <p:cNvGrpSpPr/>
          <p:nvPr/>
        </p:nvGrpSpPr>
        <p:grpSpPr>
          <a:xfrm>
            <a:off x="6014860" y="4991360"/>
            <a:ext cx="302004" cy="83051"/>
            <a:chOff x="3275863" y="3358384"/>
            <a:chExt cx="203200" cy="55880"/>
          </a:xfrm>
        </p:grpSpPr>
        <p:sp>
          <p:nvSpPr>
            <p:cNvPr id="12" name="object 12"/>
            <p:cNvSpPr/>
            <p:nvPr/>
          </p:nvSpPr>
          <p:spPr>
            <a:xfrm>
              <a:off x="3339032"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999999"/>
              </a:solidFill>
            </a:ln>
          </p:spPr>
          <p:txBody>
            <a:bodyPr wrap="square" lIns="0" tIns="0" rIns="0" bIns="0" rtlCol="0"/>
            <a:lstStyle/>
            <a:p>
              <a:endParaRPr sz="2675"/>
            </a:p>
          </p:txBody>
        </p:sp>
        <p:sp>
          <p:nvSpPr>
            <p:cNvPr id="13" name="object 13"/>
            <p:cNvSpPr/>
            <p:nvPr/>
          </p:nvSpPr>
          <p:spPr>
            <a:xfrm>
              <a:off x="3275863"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grpSp>
      <p:grpSp>
        <p:nvGrpSpPr>
          <p:cNvPr id="14" name="object 14"/>
          <p:cNvGrpSpPr/>
          <p:nvPr/>
        </p:nvGrpSpPr>
        <p:grpSpPr>
          <a:xfrm>
            <a:off x="6411862" y="4989480"/>
            <a:ext cx="302004" cy="86825"/>
            <a:chOff x="3542982" y="3357119"/>
            <a:chExt cx="203200" cy="58419"/>
          </a:xfrm>
        </p:grpSpPr>
        <p:sp>
          <p:nvSpPr>
            <p:cNvPr id="15" name="object 15"/>
            <p:cNvSpPr/>
            <p:nvPr/>
          </p:nvSpPr>
          <p:spPr>
            <a:xfrm>
              <a:off x="3631883" y="3373615"/>
              <a:ext cx="38100" cy="0"/>
            </a:xfrm>
            <a:custGeom>
              <a:avLst/>
              <a:gdLst/>
              <a:ahLst/>
              <a:cxnLst/>
              <a:rect l="l" t="t" r="r" b="b"/>
              <a:pathLst>
                <a:path w="38100">
                  <a:moveTo>
                    <a:pt x="0" y="0"/>
                  </a:moveTo>
                  <a:lnTo>
                    <a:pt x="38100" y="0"/>
                  </a:lnTo>
                </a:path>
              </a:pathLst>
            </a:custGeom>
            <a:ln w="7591">
              <a:solidFill>
                <a:srgbClr val="999999"/>
              </a:solidFill>
            </a:ln>
          </p:spPr>
          <p:txBody>
            <a:bodyPr wrap="square" lIns="0" tIns="0" rIns="0" bIns="0" rtlCol="0"/>
            <a:lstStyle/>
            <a:p>
              <a:endParaRPr sz="2675"/>
            </a:p>
          </p:txBody>
        </p:sp>
        <p:sp>
          <p:nvSpPr>
            <p:cNvPr id="16" name="object 16"/>
            <p:cNvSpPr/>
            <p:nvPr/>
          </p:nvSpPr>
          <p:spPr>
            <a:xfrm>
              <a:off x="3542982"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17" name="object 17"/>
            <p:cNvSpPr/>
            <p:nvPr/>
          </p:nvSpPr>
          <p:spPr>
            <a:xfrm>
              <a:off x="3619183" y="3360914"/>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CCCCCC"/>
              </a:solidFill>
            </a:ln>
          </p:spPr>
          <p:txBody>
            <a:bodyPr wrap="square" lIns="0" tIns="0" rIns="0" bIns="0" rtlCol="0"/>
            <a:lstStyle/>
            <a:p>
              <a:endParaRPr sz="2675"/>
            </a:p>
          </p:txBody>
        </p:sp>
      </p:grpSp>
      <p:grpSp>
        <p:nvGrpSpPr>
          <p:cNvPr id="18" name="object 18"/>
          <p:cNvGrpSpPr/>
          <p:nvPr/>
        </p:nvGrpSpPr>
        <p:grpSpPr>
          <a:xfrm>
            <a:off x="6808865" y="4989480"/>
            <a:ext cx="302004" cy="86825"/>
            <a:chOff x="3810101" y="3357119"/>
            <a:chExt cx="203200" cy="58419"/>
          </a:xfrm>
        </p:grpSpPr>
        <p:sp>
          <p:nvSpPr>
            <p:cNvPr id="19" name="object 19"/>
            <p:cNvSpPr/>
            <p:nvPr/>
          </p:nvSpPr>
          <p:spPr>
            <a:xfrm>
              <a:off x="3886302" y="3360914"/>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999999"/>
              </a:solidFill>
            </a:ln>
          </p:spPr>
          <p:txBody>
            <a:bodyPr wrap="square" lIns="0" tIns="0" rIns="0" bIns="0" rtlCol="0"/>
            <a:lstStyle/>
            <a:p>
              <a:endParaRPr sz="2675"/>
            </a:p>
          </p:txBody>
        </p:sp>
        <p:sp>
          <p:nvSpPr>
            <p:cNvPr id="20" name="object 20"/>
            <p:cNvSpPr/>
            <p:nvPr/>
          </p:nvSpPr>
          <p:spPr>
            <a:xfrm>
              <a:off x="381010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CCCCCC"/>
            </a:solidFill>
          </p:spPr>
          <p:txBody>
            <a:bodyPr wrap="square" lIns="0" tIns="0" rIns="0" bIns="0" rtlCol="0"/>
            <a:lstStyle/>
            <a:p>
              <a:endParaRPr sz="2675"/>
            </a:p>
          </p:txBody>
        </p:sp>
        <p:sp>
          <p:nvSpPr>
            <p:cNvPr id="21" name="object 21"/>
            <p:cNvSpPr/>
            <p:nvPr/>
          </p:nvSpPr>
          <p:spPr>
            <a:xfrm>
              <a:off x="3886302" y="3399015"/>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CCCCCC"/>
              </a:solidFill>
            </a:ln>
          </p:spPr>
          <p:txBody>
            <a:bodyPr wrap="square" lIns="0" tIns="0" rIns="0" bIns="0" rtlCol="0"/>
            <a:lstStyle/>
            <a:p>
              <a:endParaRPr sz="2675"/>
            </a:p>
          </p:txBody>
        </p:sp>
      </p:grpSp>
      <p:sp>
        <p:nvSpPr>
          <p:cNvPr id="22" name="object 22"/>
          <p:cNvSpPr/>
          <p:nvPr/>
        </p:nvSpPr>
        <p:spPr>
          <a:xfrm>
            <a:off x="7319139" y="4995120"/>
            <a:ext cx="75501" cy="75501"/>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999999"/>
            </a:solidFill>
          </a:ln>
        </p:spPr>
        <p:txBody>
          <a:bodyPr wrap="square" lIns="0" tIns="0" rIns="0" bIns="0" rtlCol="0"/>
          <a:lstStyle/>
          <a:p>
            <a:endParaRPr sz="2675"/>
          </a:p>
        </p:txBody>
      </p:sp>
      <p:grpSp>
        <p:nvGrpSpPr>
          <p:cNvPr id="23" name="object 23"/>
          <p:cNvGrpSpPr/>
          <p:nvPr/>
        </p:nvGrpSpPr>
        <p:grpSpPr>
          <a:xfrm>
            <a:off x="7576479" y="4991359"/>
            <a:ext cx="354854" cy="84939"/>
            <a:chOff x="4326582" y="3358384"/>
            <a:chExt cx="238760" cy="57150"/>
          </a:xfrm>
        </p:grpSpPr>
        <p:sp>
          <p:nvSpPr>
            <p:cNvPr id="24" name="object 24"/>
            <p:cNvSpPr/>
            <p:nvPr/>
          </p:nvSpPr>
          <p:spPr>
            <a:xfrm>
              <a:off x="4451033" y="3391395"/>
              <a:ext cx="20320" cy="20320"/>
            </a:xfrm>
            <a:custGeom>
              <a:avLst/>
              <a:gdLst/>
              <a:ahLst/>
              <a:cxnLst/>
              <a:rect l="l" t="t" r="r" b="b"/>
              <a:pathLst>
                <a:path w="20320" h="20320">
                  <a:moveTo>
                    <a:pt x="0" y="0"/>
                  </a:moveTo>
                  <a:lnTo>
                    <a:pt x="20320" y="20320"/>
                  </a:lnTo>
                </a:path>
              </a:pathLst>
            </a:custGeom>
            <a:ln w="7591">
              <a:solidFill>
                <a:srgbClr val="999999"/>
              </a:solidFill>
            </a:ln>
          </p:spPr>
          <p:txBody>
            <a:bodyPr wrap="square" lIns="0" tIns="0" rIns="0" bIns="0" rtlCol="0"/>
            <a:lstStyle/>
            <a:p>
              <a:endParaRPr sz="2675"/>
            </a:p>
          </p:txBody>
        </p:sp>
        <p:sp>
          <p:nvSpPr>
            <p:cNvPr id="25" name="object 25"/>
            <p:cNvSpPr/>
            <p:nvPr/>
          </p:nvSpPr>
          <p:spPr>
            <a:xfrm>
              <a:off x="4423969" y="3364900"/>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999999"/>
              </a:solidFill>
            </a:ln>
          </p:spPr>
          <p:txBody>
            <a:bodyPr wrap="square" lIns="0" tIns="0" rIns="0" bIns="0" rtlCol="0"/>
            <a:lstStyle/>
            <a:p>
              <a:endParaRPr sz="2675"/>
            </a:p>
          </p:txBody>
        </p:sp>
        <p:sp>
          <p:nvSpPr>
            <p:cNvPr id="26" name="object 26"/>
            <p:cNvSpPr/>
            <p:nvPr/>
          </p:nvSpPr>
          <p:spPr>
            <a:xfrm>
              <a:off x="4329112"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999999"/>
              </a:solidFill>
            </a:ln>
          </p:spPr>
          <p:txBody>
            <a:bodyPr wrap="square" lIns="0" tIns="0" rIns="0" bIns="0" rtlCol="0"/>
            <a:lstStyle/>
            <a:p>
              <a:endParaRPr sz="2675"/>
            </a:p>
          </p:txBody>
        </p:sp>
      </p:grpSp>
      <p:sp>
        <p:nvSpPr>
          <p:cNvPr id="27" name="object 27"/>
          <p:cNvSpPr txBox="1">
            <a:spLocks noGrp="1"/>
          </p:cNvSpPr>
          <p:nvPr>
            <p:ph type="title"/>
          </p:nvPr>
        </p:nvSpPr>
        <p:spPr>
          <a:xfrm>
            <a:off x="154629" y="285750"/>
            <a:ext cx="4476259" cy="456618"/>
          </a:xfrm>
          <a:prstGeom prst="rect">
            <a:avLst/>
          </a:prstGeom>
        </p:spPr>
        <p:txBody>
          <a:bodyPr vert="horz" wrap="square" lIns="0" tIns="25482" rIns="0" bIns="0" rtlCol="0">
            <a:spAutoFit/>
          </a:bodyPr>
          <a:lstStyle/>
          <a:p>
            <a:pPr marL="900325">
              <a:spcBef>
                <a:spcPts val="201"/>
              </a:spcBef>
            </a:pPr>
            <a:r>
              <a:rPr dirty="0"/>
              <a:t>Deployment</a:t>
            </a:r>
            <a:r>
              <a:rPr spc="97" dirty="0"/>
              <a:t> </a:t>
            </a:r>
            <a:r>
              <a:rPr spc="-15" dirty="0"/>
              <a:t>Models</a:t>
            </a:r>
          </a:p>
        </p:txBody>
      </p:sp>
      <p:sp>
        <p:nvSpPr>
          <p:cNvPr id="28" name="object 28"/>
          <p:cNvSpPr txBox="1"/>
          <p:nvPr/>
        </p:nvSpPr>
        <p:spPr>
          <a:xfrm>
            <a:off x="533399" y="1184528"/>
            <a:ext cx="7394141" cy="1704216"/>
          </a:xfrm>
          <a:prstGeom prst="rect">
            <a:avLst/>
          </a:prstGeom>
        </p:spPr>
        <p:txBody>
          <a:bodyPr vert="horz" wrap="square" lIns="0" tIns="10381" rIns="0" bIns="0" rtlCol="0">
            <a:spAutoFit/>
          </a:bodyPr>
          <a:lstStyle/>
          <a:p>
            <a:pPr marL="841813" marR="7550" indent="-823882">
              <a:lnSpc>
                <a:spcPct val="102600"/>
              </a:lnSpc>
              <a:spcBef>
                <a:spcPts val="82"/>
              </a:spcBef>
            </a:pPr>
            <a:r>
              <a:rPr b="1" dirty="0">
                <a:latin typeface="Trebuchet MS" panose="020B0603020202020204" pitchFamily="34" charset="0"/>
                <a:cs typeface="Arial"/>
              </a:rPr>
              <a:t>Hybrid:</a:t>
            </a:r>
            <a:r>
              <a:rPr b="1" spc="245" dirty="0">
                <a:latin typeface="Trebuchet MS" panose="020B0603020202020204" pitchFamily="34" charset="0"/>
                <a:cs typeface="Arial"/>
              </a:rPr>
              <a:t> </a:t>
            </a:r>
            <a:r>
              <a:rPr dirty="0">
                <a:latin typeface="Trebuchet MS" panose="020B0603020202020204" pitchFamily="34" charset="0"/>
                <a:cs typeface="Arial MT"/>
              </a:rPr>
              <a:t>The</a:t>
            </a:r>
            <a:r>
              <a:rPr spc="-59" dirty="0">
                <a:latin typeface="Trebuchet MS" panose="020B0603020202020204" pitchFamily="34" charset="0"/>
                <a:cs typeface="Arial MT"/>
              </a:rPr>
              <a:t> </a:t>
            </a:r>
            <a:r>
              <a:rPr dirty="0">
                <a:latin typeface="Trebuchet MS" panose="020B0603020202020204" pitchFamily="34" charset="0"/>
                <a:cs typeface="Arial MT"/>
              </a:rPr>
              <a:t>cloud</a:t>
            </a:r>
            <a:r>
              <a:rPr spc="-59" dirty="0">
                <a:latin typeface="Trebuchet MS" panose="020B0603020202020204" pitchFamily="34" charset="0"/>
                <a:cs typeface="Arial MT"/>
              </a:rPr>
              <a:t> </a:t>
            </a:r>
            <a:r>
              <a:rPr dirty="0">
                <a:latin typeface="Trebuchet MS" panose="020B0603020202020204" pitchFamily="34" charset="0"/>
                <a:cs typeface="Arial MT"/>
              </a:rPr>
              <a:t>infrastructure</a:t>
            </a:r>
            <a:r>
              <a:rPr spc="-59" dirty="0">
                <a:latin typeface="Trebuchet MS" panose="020B0603020202020204" pitchFamily="34" charset="0"/>
                <a:cs typeface="Arial MT"/>
              </a:rPr>
              <a:t> </a:t>
            </a:r>
            <a:r>
              <a:rPr dirty="0">
                <a:latin typeface="Trebuchet MS" panose="020B0603020202020204" pitchFamily="34" charset="0"/>
                <a:cs typeface="Arial MT"/>
              </a:rPr>
              <a:t>is</a:t>
            </a:r>
            <a:r>
              <a:rPr spc="-59" dirty="0">
                <a:latin typeface="Trebuchet MS" panose="020B0603020202020204" pitchFamily="34" charset="0"/>
                <a:cs typeface="Arial MT"/>
              </a:rPr>
              <a:t> </a:t>
            </a:r>
            <a:r>
              <a:rPr dirty="0">
                <a:latin typeface="Trebuchet MS" panose="020B0603020202020204" pitchFamily="34" charset="0"/>
                <a:cs typeface="Arial MT"/>
              </a:rPr>
              <a:t>a</a:t>
            </a:r>
            <a:r>
              <a:rPr spc="-59" dirty="0">
                <a:latin typeface="Trebuchet MS" panose="020B0603020202020204" pitchFamily="34" charset="0"/>
                <a:cs typeface="Arial MT"/>
              </a:rPr>
              <a:t> </a:t>
            </a:r>
            <a:r>
              <a:rPr dirty="0">
                <a:latin typeface="Trebuchet MS" panose="020B0603020202020204" pitchFamily="34" charset="0"/>
                <a:cs typeface="Arial MT"/>
              </a:rPr>
              <a:t>composition</a:t>
            </a:r>
            <a:r>
              <a:rPr spc="-59" dirty="0">
                <a:latin typeface="Trebuchet MS" panose="020B0603020202020204" pitchFamily="34" charset="0"/>
                <a:cs typeface="Arial MT"/>
              </a:rPr>
              <a:t> </a:t>
            </a:r>
            <a:r>
              <a:rPr spc="-37" dirty="0">
                <a:latin typeface="Trebuchet MS" panose="020B0603020202020204" pitchFamily="34" charset="0"/>
                <a:cs typeface="Arial MT"/>
              </a:rPr>
              <a:t>of </a:t>
            </a:r>
            <a:r>
              <a:rPr dirty="0">
                <a:latin typeface="Trebuchet MS" panose="020B0603020202020204" pitchFamily="34" charset="0"/>
                <a:cs typeface="Arial MT"/>
              </a:rPr>
              <a:t>two</a:t>
            </a:r>
            <a:r>
              <a:rPr spc="-59" dirty="0">
                <a:latin typeface="Trebuchet MS" panose="020B0603020202020204" pitchFamily="34" charset="0"/>
                <a:cs typeface="Arial MT"/>
              </a:rPr>
              <a:t> </a:t>
            </a:r>
            <a:r>
              <a:rPr dirty="0">
                <a:latin typeface="Trebuchet MS" panose="020B0603020202020204" pitchFamily="34" charset="0"/>
                <a:cs typeface="Arial MT"/>
              </a:rPr>
              <a:t>or</a:t>
            </a:r>
            <a:r>
              <a:rPr spc="-52" dirty="0">
                <a:latin typeface="Trebuchet MS" panose="020B0603020202020204" pitchFamily="34" charset="0"/>
                <a:cs typeface="Arial MT"/>
              </a:rPr>
              <a:t> </a:t>
            </a:r>
            <a:r>
              <a:rPr dirty="0">
                <a:latin typeface="Trebuchet MS" panose="020B0603020202020204" pitchFamily="34" charset="0"/>
                <a:cs typeface="Arial MT"/>
              </a:rPr>
              <a:t>more</a:t>
            </a:r>
            <a:r>
              <a:rPr spc="-52" dirty="0">
                <a:latin typeface="Trebuchet MS" panose="020B0603020202020204" pitchFamily="34" charset="0"/>
                <a:cs typeface="Arial MT"/>
              </a:rPr>
              <a:t> </a:t>
            </a:r>
            <a:r>
              <a:rPr dirty="0">
                <a:latin typeface="Trebuchet MS" panose="020B0603020202020204" pitchFamily="34" charset="0"/>
                <a:cs typeface="Arial MT"/>
              </a:rPr>
              <a:t>distinct</a:t>
            </a:r>
            <a:r>
              <a:rPr spc="-52" dirty="0">
                <a:latin typeface="Trebuchet MS" panose="020B0603020202020204" pitchFamily="34" charset="0"/>
                <a:cs typeface="Arial MT"/>
              </a:rPr>
              <a:t> </a:t>
            </a:r>
            <a:r>
              <a:rPr dirty="0">
                <a:latin typeface="Trebuchet MS" panose="020B0603020202020204" pitchFamily="34" charset="0"/>
                <a:cs typeface="Arial MT"/>
              </a:rPr>
              <a:t>cloud</a:t>
            </a:r>
            <a:r>
              <a:rPr spc="-52" dirty="0">
                <a:latin typeface="Trebuchet MS" panose="020B0603020202020204" pitchFamily="34" charset="0"/>
                <a:cs typeface="Arial MT"/>
              </a:rPr>
              <a:t> </a:t>
            </a:r>
            <a:r>
              <a:rPr spc="-15" dirty="0">
                <a:latin typeface="Trebuchet MS" panose="020B0603020202020204" pitchFamily="34" charset="0"/>
                <a:cs typeface="Arial MT"/>
              </a:rPr>
              <a:t>infrastructures (private,</a:t>
            </a:r>
            <a:r>
              <a:rPr spc="-7" dirty="0">
                <a:latin typeface="Trebuchet MS" panose="020B0603020202020204" pitchFamily="34" charset="0"/>
                <a:cs typeface="Arial MT"/>
              </a:rPr>
              <a:t> </a:t>
            </a:r>
            <a:r>
              <a:rPr spc="-30" dirty="0">
                <a:latin typeface="Trebuchet MS" panose="020B0603020202020204" pitchFamily="34" charset="0"/>
                <a:cs typeface="Arial MT"/>
              </a:rPr>
              <a:t>community,</a:t>
            </a:r>
            <a:r>
              <a:rPr spc="-7" dirty="0">
                <a:latin typeface="Trebuchet MS" panose="020B0603020202020204" pitchFamily="34" charset="0"/>
                <a:cs typeface="Arial MT"/>
              </a:rPr>
              <a:t> </a:t>
            </a:r>
            <a:r>
              <a:rPr dirty="0">
                <a:latin typeface="Trebuchet MS" panose="020B0603020202020204" pitchFamily="34" charset="0"/>
                <a:cs typeface="Arial MT"/>
              </a:rPr>
              <a:t>or </a:t>
            </a:r>
            <a:r>
              <a:rPr spc="-15" dirty="0">
                <a:latin typeface="Trebuchet MS" panose="020B0603020202020204" pitchFamily="34" charset="0"/>
                <a:cs typeface="Arial MT"/>
              </a:rPr>
              <a:t>public)</a:t>
            </a:r>
            <a:r>
              <a:rPr spc="-7" dirty="0">
                <a:latin typeface="Trebuchet MS" panose="020B0603020202020204" pitchFamily="34" charset="0"/>
                <a:cs typeface="Arial MT"/>
              </a:rPr>
              <a:t> </a:t>
            </a:r>
            <a:r>
              <a:rPr dirty="0">
                <a:latin typeface="Trebuchet MS" panose="020B0603020202020204" pitchFamily="34" charset="0"/>
                <a:cs typeface="Arial MT"/>
              </a:rPr>
              <a:t>that</a:t>
            </a:r>
            <a:r>
              <a:rPr spc="-7" dirty="0">
                <a:latin typeface="Trebuchet MS" panose="020B0603020202020204" pitchFamily="34" charset="0"/>
                <a:cs typeface="Arial MT"/>
              </a:rPr>
              <a:t> </a:t>
            </a:r>
            <a:r>
              <a:rPr spc="-15" dirty="0">
                <a:latin typeface="Trebuchet MS" panose="020B0603020202020204" pitchFamily="34" charset="0"/>
                <a:cs typeface="Arial MT"/>
              </a:rPr>
              <a:t>remain </a:t>
            </a:r>
            <a:r>
              <a:rPr dirty="0">
                <a:latin typeface="Trebuchet MS" panose="020B0603020202020204" pitchFamily="34" charset="0"/>
                <a:cs typeface="Arial MT"/>
              </a:rPr>
              <a:t>unique</a:t>
            </a:r>
            <a:r>
              <a:rPr spc="-74" dirty="0">
                <a:latin typeface="Trebuchet MS" panose="020B0603020202020204" pitchFamily="34" charset="0"/>
                <a:cs typeface="Arial MT"/>
              </a:rPr>
              <a:t> </a:t>
            </a:r>
            <a:r>
              <a:rPr dirty="0">
                <a:latin typeface="Trebuchet MS" panose="020B0603020202020204" pitchFamily="34" charset="0"/>
                <a:cs typeface="Arial MT"/>
              </a:rPr>
              <a:t>entities,</a:t>
            </a:r>
            <a:r>
              <a:rPr spc="-67" dirty="0">
                <a:latin typeface="Trebuchet MS" panose="020B0603020202020204" pitchFamily="34" charset="0"/>
                <a:cs typeface="Arial MT"/>
              </a:rPr>
              <a:t> </a:t>
            </a:r>
            <a:r>
              <a:rPr dirty="0">
                <a:latin typeface="Trebuchet MS" panose="020B0603020202020204" pitchFamily="34" charset="0"/>
                <a:cs typeface="Arial MT"/>
              </a:rPr>
              <a:t>but</a:t>
            </a:r>
            <a:r>
              <a:rPr spc="-67" dirty="0">
                <a:latin typeface="Trebuchet MS" panose="020B0603020202020204" pitchFamily="34" charset="0"/>
                <a:cs typeface="Arial MT"/>
              </a:rPr>
              <a:t> </a:t>
            </a:r>
            <a:r>
              <a:rPr dirty="0">
                <a:latin typeface="Trebuchet MS" panose="020B0603020202020204" pitchFamily="34" charset="0"/>
                <a:cs typeface="Arial MT"/>
              </a:rPr>
              <a:t>are</a:t>
            </a:r>
            <a:r>
              <a:rPr spc="-67" dirty="0">
                <a:latin typeface="Trebuchet MS" panose="020B0603020202020204" pitchFamily="34" charset="0"/>
                <a:cs typeface="Arial MT"/>
              </a:rPr>
              <a:t> </a:t>
            </a:r>
            <a:r>
              <a:rPr dirty="0">
                <a:latin typeface="Trebuchet MS" panose="020B0603020202020204" pitchFamily="34" charset="0"/>
                <a:cs typeface="Arial MT"/>
              </a:rPr>
              <a:t>bound</a:t>
            </a:r>
            <a:r>
              <a:rPr spc="-67" dirty="0">
                <a:latin typeface="Trebuchet MS" panose="020B0603020202020204" pitchFamily="34" charset="0"/>
                <a:cs typeface="Arial MT"/>
              </a:rPr>
              <a:t> </a:t>
            </a:r>
            <a:r>
              <a:rPr dirty="0">
                <a:latin typeface="Trebuchet MS" panose="020B0603020202020204" pitchFamily="34" charset="0"/>
                <a:cs typeface="Arial MT"/>
              </a:rPr>
              <a:t>together</a:t>
            </a:r>
            <a:r>
              <a:rPr spc="-74" dirty="0">
                <a:latin typeface="Trebuchet MS" panose="020B0603020202020204" pitchFamily="34" charset="0"/>
                <a:cs typeface="Arial MT"/>
              </a:rPr>
              <a:t> </a:t>
            </a:r>
            <a:r>
              <a:rPr spc="-37" dirty="0">
                <a:latin typeface="Trebuchet MS" panose="020B0603020202020204" pitchFamily="34" charset="0"/>
                <a:cs typeface="Arial MT"/>
              </a:rPr>
              <a:t>by </a:t>
            </a:r>
            <a:r>
              <a:rPr spc="-15" dirty="0">
                <a:latin typeface="Trebuchet MS" panose="020B0603020202020204" pitchFamily="34" charset="0"/>
                <a:cs typeface="Arial MT"/>
              </a:rPr>
              <a:t>standardized</a:t>
            </a:r>
            <a:r>
              <a:rPr spc="-22" dirty="0">
                <a:latin typeface="Trebuchet MS" panose="020B0603020202020204" pitchFamily="34" charset="0"/>
                <a:cs typeface="Arial MT"/>
              </a:rPr>
              <a:t> </a:t>
            </a:r>
            <a:r>
              <a:rPr dirty="0">
                <a:latin typeface="Trebuchet MS" panose="020B0603020202020204" pitchFamily="34" charset="0"/>
                <a:cs typeface="Arial MT"/>
              </a:rPr>
              <a:t>or</a:t>
            </a:r>
            <a:r>
              <a:rPr spc="-22" dirty="0">
                <a:latin typeface="Trebuchet MS" panose="020B0603020202020204" pitchFamily="34" charset="0"/>
                <a:cs typeface="Arial MT"/>
              </a:rPr>
              <a:t> </a:t>
            </a:r>
            <a:r>
              <a:rPr dirty="0">
                <a:latin typeface="Trebuchet MS" panose="020B0603020202020204" pitchFamily="34" charset="0"/>
                <a:cs typeface="Arial MT"/>
              </a:rPr>
              <a:t>proprietary</a:t>
            </a:r>
            <a:r>
              <a:rPr spc="-22" dirty="0">
                <a:latin typeface="Trebuchet MS" panose="020B0603020202020204" pitchFamily="34" charset="0"/>
                <a:cs typeface="Arial MT"/>
              </a:rPr>
              <a:t> </a:t>
            </a:r>
            <a:r>
              <a:rPr dirty="0">
                <a:latin typeface="Trebuchet MS" panose="020B0603020202020204" pitchFamily="34" charset="0"/>
                <a:cs typeface="Arial MT"/>
              </a:rPr>
              <a:t>technology</a:t>
            </a:r>
            <a:r>
              <a:rPr spc="-15" dirty="0">
                <a:latin typeface="Trebuchet MS" panose="020B0603020202020204" pitchFamily="34" charset="0"/>
                <a:cs typeface="Arial MT"/>
              </a:rPr>
              <a:t> </a:t>
            </a:r>
            <a:r>
              <a:rPr spc="-30" dirty="0">
                <a:latin typeface="Trebuchet MS" panose="020B0603020202020204" pitchFamily="34" charset="0"/>
                <a:cs typeface="Arial MT"/>
              </a:rPr>
              <a:t>that </a:t>
            </a:r>
            <a:r>
              <a:rPr spc="-15" dirty="0">
                <a:latin typeface="Trebuchet MS" panose="020B0603020202020204" pitchFamily="34" charset="0"/>
                <a:cs typeface="Arial MT"/>
              </a:rPr>
              <a:t>enables</a:t>
            </a:r>
            <a:r>
              <a:rPr spc="-30" dirty="0">
                <a:latin typeface="Trebuchet MS" panose="020B0603020202020204" pitchFamily="34" charset="0"/>
                <a:cs typeface="Arial MT"/>
              </a:rPr>
              <a:t> </a:t>
            </a:r>
            <a:r>
              <a:rPr dirty="0">
                <a:latin typeface="Trebuchet MS" panose="020B0603020202020204" pitchFamily="34" charset="0"/>
                <a:cs typeface="Arial MT"/>
              </a:rPr>
              <a:t>data</a:t>
            </a:r>
            <a:r>
              <a:rPr spc="-22" dirty="0">
                <a:latin typeface="Trebuchet MS" panose="020B0603020202020204" pitchFamily="34" charset="0"/>
                <a:cs typeface="Arial MT"/>
              </a:rPr>
              <a:t> </a:t>
            </a:r>
            <a:r>
              <a:rPr dirty="0">
                <a:latin typeface="Trebuchet MS" panose="020B0603020202020204" pitchFamily="34" charset="0"/>
                <a:cs typeface="Arial MT"/>
              </a:rPr>
              <a:t>and</a:t>
            </a:r>
            <a:r>
              <a:rPr spc="-22" dirty="0">
                <a:latin typeface="Trebuchet MS" panose="020B0603020202020204" pitchFamily="34" charset="0"/>
                <a:cs typeface="Arial MT"/>
              </a:rPr>
              <a:t> </a:t>
            </a:r>
            <a:r>
              <a:rPr spc="-15" dirty="0">
                <a:latin typeface="Trebuchet MS" panose="020B0603020202020204" pitchFamily="34" charset="0"/>
                <a:cs typeface="Arial MT"/>
              </a:rPr>
              <a:t>application</a:t>
            </a:r>
            <a:r>
              <a:rPr spc="-22" dirty="0">
                <a:latin typeface="Trebuchet MS" panose="020B0603020202020204" pitchFamily="34" charset="0"/>
                <a:cs typeface="Arial MT"/>
              </a:rPr>
              <a:t> </a:t>
            </a:r>
            <a:r>
              <a:rPr spc="-15" dirty="0">
                <a:latin typeface="Trebuchet MS" panose="020B0603020202020204" pitchFamily="34" charset="0"/>
                <a:cs typeface="Arial MT"/>
              </a:rPr>
              <a:t>portability </a:t>
            </a:r>
            <a:r>
              <a:rPr dirty="0">
                <a:latin typeface="Trebuchet MS" panose="020B0603020202020204" pitchFamily="34" charset="0"/>
                <a:cs typeface="Arial MT"/>
              </a:rPr>
              <a:t>(e.g.,</a:t>
            </a:r>
            <a:r>
              <a:rPr spc="-82" dirty="0">
                <a:latin typeface="Trebuchet MS" panose="020B0603020202020204" pitchFamily="34" charset="0"/>
                <a:cs typeface="Arial MT"/>
              </a:rPr>
              <a:t> </a:t>
            </a:r>
            <a:r>
              <a:rPr dirty="0">
                <a:solidFill>
                  <a:srgbClr val="FF0000"/>
                </a:solidFill>
                <a:latin typeface="Trebuchet MS" panose="020B0603020202020204" pitchFamily="34" charset="0"/>
                <a:cs typeface="Arial MT"/>
              </a:rPr>
              <a:t>cloud</a:t>
            </a:r>
            <a:r>
              <a:rPr spc="-74" dirty="0">
                <a:solidFill>
                  <a:srgbClr val="FF0000"/>
                </a:solidFill>
                <a:latin typeface="Trebuchet MS" panose="020B0603020202020204" pitchFamily="34" charset="0"/>
                <a:cs typeface="Arial MT"/>
              </a:rPr>
              <a:t> </a:t>
            </a:r>
            <a:r>
              <a:rPr dirty="0">
                <a:solidFill>
                  <a:srgbClr val="FF0000"/>
                </a:solidFill>
                <a:latin typeface="Trebuchet MS" panose="020B0603020202020204" pitchFamily="34" charset="0"/>
                <a:cs typeface="Arial MT"/>
              </a:rPr>
              <a:t>bursting</a:t>
            </a:r>
            <a:r>
              <a:rPr spc="-74" dirty="0">
                <a:solidFill>
                  <a:srgbClr val="FF0000"/>
                </a:solidFill>
                <a:latin typeface="Trebuchet MS" panose="020B0603020202020204" pitchFamily="34" charset="0"/>
                <a:cs typeface="Arial MT"/>
              </a:rPr>
              <a:t> </a:t>
            </a:r>
            <a:r>
              <a:rPr dirty="0">
                <a:latin typeface="Trebuchet MS" panose="020B0603020202020204" pitchFamily="34" charset="0"/>
                <a:cs typeface="Arial MT"/>
              </a:rPr>
              <a:t>for</a:t>
            </a:r>
            <a:r>
              <a:rPr spc="-74" dirty="0">
                <a:latin typeface="Trebuchet MS" panose="020B0603020202020204" pitchFamily="34" charset="0"/>
                <a:cs typeface="Arial MT"/>
              </a:rPr>
              <a:t> </a:t>
            </a:r>
            <a:r>
              <a:rPr dirty="0">
                <a:latin typeface="Trebuchet MS" panose="020B0603020202020204" pitchFamily="34" charset="0"/>
                <a:cs typeface="Arial MT"/>
              </a:rPr>
              <a:t>load</a:t>
            </a:r>
            <a:r>
              <a:rPr spc="-82" dirty="0">
                <a:latin typeface="Trebuchet MS" panose="020B0603020202020204" pitchFamily="34" charset="0"/>
                <a:cs typeface="Arial MT"/>
              </a:rPr>
              <a:t> </a:t>
            </a:r>
            <a:r>
              <a:rPr spc="-15" dirty="0">
                <a:latin typeface="Trebuchet MS" panose="020B0603020202020204" pitchFamily="34" charset="0"/>
                <a:cs typeface="Arial MT"/>
              </a:rPr>
              <a:t>balancing </a:t>
            </a:r>
            <a:r>
              <a:rPr dirty="0">
                <a:latin typeface="Trebuchet MS" panose="020B0603020202020204" pitchFamily="34" charset="0"/>
                <a:cs typeface="Arial MT"/>
              </a:rPr>
              <a:t>between</a:t>
            </a:r>
            <a:r>
              <a:rPr spc="-97" dirty="0">
                <a:latin typeface="Trebuchet MS" panose="020B0603020202020204" pitchFamily="34" charset="0"/>
                <a:cs typeface="Arial MT"/>
              </a:rPr>
              <a:t> </a:t>
            </a:r>
            <a:r>
              <a:rPr spc="-15" dirty="0">
                <a:latin typeface="Trebuchet MS" panose="020B0603020202020204" pitchFamily="34" charset="0"/>
                <a:cs typeface="Arial MT"/>
              </a:rPr>
              <a:t>clouds).</a:t>
            </a:r>
            <a:endParaRPr dirty="0">
              <a:latin typeface="Trebuchet MS" panose="020B0603020202020204" pitchFamily="34" charset="0"/>
              <a:cs typeface="Arial MT"/>
            </a:endParaRPr>
          </a:p>
        </p:txBody>
      </p:sp>
    </p:spTree>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C0A455-4011-1B6B-4CE6-F35C9143012A}"/>
              </a:ext>
            </a:extLst>
          </p:cNvPr>
          <p:cNvPicPr>
            <a:picLocks noChangeAspect="1"/>
          </p:cNvPicPr>
          <p:nvPr/>
        </p:nvPicPr>
        <p:blipFill>
          <a:blip r:embed="rId2"/>
          <a:stretch>
            <a:fillRect/>
          </a:stretch>
        </p:blipFill>
        <p:spPr>
          <a:xfrm>
            <a:off x="2362200" y="0"/>
            <a:ext cx="4211576" cy="5143500"/>
          </a:xfrm>
          <a:prstGeom prst="rect">
            <a:avLst/>
          </a:prstGeom>
        </p:spPr>
      </p:pic>
    </p:spTree>
    <p:extLst>
      <p:ext uri="{BB962C8B-B14F-4D97-AF65-F5344CB8AC3E}">
        <p14:creationId xmlns:p14="http://schemas.microsoft.com/office/powerpoint/2010/main" val="4244958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225</TotalTime>
  <Words>3148</Words>
  <Application>Microsoft Office PowerPoint</Application>
  <PresentationFormat>On-screen Show (16:9)</PresentationFormat>
  <Paragraphs>209</Paragraphs>
  <Slides>46</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-apple-system</vt:lpstr>
      <vt:lpstr>Arial</vt:lpstr>
      <vt:lpstr>Arial MT</vt:lpstr>
      <vt:lpstr>Calibri</vt:lpstr>
      <vt:lpstr>Times</vt:lpstr>
      <vt:lpstr>Times New Roman</vt:lpstr>
      <vt:lpstr>Trebuchet MS</vt:lpstr>
      <vt:lpstr>Verdana</vt:lpstr>
      <vt:lpstr>Office Theme</vt:lpstr>
      <vt:lpstr>Models for Distributed Systems &amp; Cloud Computing</vt:lpstr>
      <vt:lpstr>Distributed System Models </vt:lpstr>
      <vt:lpstr>PowerPoint Presentation</vt:lpstr>
      <vt:lpstr>PowerPoint Presentation</vt:lpstr>
      <vt:lpstr>PowerPoint Presentation</vt:lpstr>
      <vt:lpstr>PowerPoint Presentation</vt:lpstr>
      <vt:lpstr>PowerPoint Presentation</vt:lpstr>
      <vt:lpstr>PowerPoint Presentation</vt:lpstr>
      <vt:lpstr>7. Event Driven Architecture </vt:lpstr>
      <vt:lpstr>Cloud Computing: Origins</vt:lpstr>
      <vt:lpstr>Cloud Computing: Origins</vt:lpstr>
      <vt:lpstr>Technology Innovations that inspired Cloud Computing</vt:lpstr>
      <vt:lpstr>Essential Characteristics of Cloud Computing</vt:lpstr>
      <vt:lpstr>Essential Characteristics</vt:lpstr>
      <vt:lpstr>Essential Characteristics</vt:lpstr>
      <vt:lpstr>Essential Characteristics</vt:lpstr>
      <vt:lpstr>Essential Characteristics</vt:lpstr>
      <vt:lpstr>Essential Characteristics</vt:lpstr>
      <vt:lpstr>Essential Characteristics</vt:lpstr>
      <vt:lpstr>Useful terminologies</vt:lpstr>
      <vt:lpstr>Cloud Service Models</vt:lpstr>
      <vt:lpstr>Main Service Models</vt:lpstr>
      <vt:lpstr>PowerPoint Presentation</vt:lpstr>
      <vt:lpstr>PowerPoint Presentation</vt:lpstr>
      <vt:lpstr>Main Service Models: IaaS</vt:lpstr>
      <vt:lpstr>Main Service Models: IaaS</vt:lpstr>
      <vt:lpstr>Main Service Models: IaaS</vt:lpstr>
      <vt:lpstr>Main Service Models: IaaS</vt:lpstr>
      <vt:lpstr>PowerPoint Presentation</vt:lpstr>
      <vt:lpstr>PowerPoint Presentation</vt:lpstr>
      <vt:lpstr>PowerPoint Presentation</vt:lpstr>
      <vt:lpstr>PowerPoint Presentation</vt:lpstr>
      <vt:lpstr>Main Service Models: PaaS</vt:lpstr>
      <vt:lpstr>Main Service Models: PaaS</vt:lpstr>
      <vt:lpstr>Main Service Models: PaaS</vt:lpstr>
      <vt:lpstr>Main Service Models: PaaS</vt:lpstr>
      <vt:lpstr>Main Service Models: SaaS</vt:lpstr>
      <vt:lpstr>Main Service Models: SaaS - popular</vt:lpstr>
      <vt:lpstr>Main Service Models: SaaS</vt:lpstr>
      <vt:lpstr>Other Cloud Service Models</vt:lpstr>
      <vt:lpstr>Deployment Models</vt:lpstr>
      <vt:lpstr>Deployment Models</vt:lpstr>
      <vt:lpstr>Deployment Models</vt:lpstr>
      <vt:lpstr>Deployment Models</vt:lpstr>
      <vt:lpstr>Deployment Models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Trang Nguyen Thuy</cp:lastModifiedBy>
  <cp:revision>23</cp:revision>
  <dcterms:created xsi:type="dcterms:W3CDTF">2024-11-10T16:04:34Z</dcterms:created>
  <dcterms:modified xsi:type="dcterms:W3CDTF">2025-01-04T06:23:56Z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