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7"/>
  </p:notesMasterIdLst>
  <p:sldIdLst>
    <p:sldId id="256" r:id="rId2"/>
    <p:sldId id="257" r:id="rId3"/>
    <p:sldId id="261" r:id="rId4"/>
    <p:sldId id="309" r:id="rId5"/>
    <p:sldId id="260" r:id="rId6"/>
    <p:sldId id="311" r:id="rId7"/>
    <p:sldId id="322" r:id="rId8"/>
    <p:sldId id="262" r:id="rId9"/>
    <p:sldId id="263" r:id="rId10"/>
    <p:sldId id="264" r:id="rId11"/>
    <p:sldId id="320" r:id="rId12"/>
    <p:sldId id="325" r:id="rId13"/>
    <p:sldId id="326" r:id="rId14"/>
    <p:sldId id="269" r:id="rId15"/>
    <p:sldId id="319" r:id="rId16"/>
    <p:sldId id="270" r:id="rId17"/>
    <p:sldId id="271" r:id="rId18"/>
    <p:sldId id="272" r:id="rId19"/>
    <p:sldId id="266" r:id="rId20"/>
    <p:sldId id="267" r:id="rId21"/>
    <p:sldId id="302" r:id="rId22"/>
    <p:sldId id="300" r:id="rId23"/>
    <p:sldId id="301" r:id="rId24"/>
    <p:sldId id="273" r:id="rId25"/>
    <p:sldId id="327" r:id="rId26"/>
    <p:sldId id="303" r:id="rId27"/>
    <p:sldId id="304" r:id="rId28"/>
    <p:sldId id="324" r:id="rId29"/>
    <p:sldId id="268" r:id="rId30"/>
    <p:sldId id="307" r:id="rId31"/>
    <p:sldId id="274" r:id="rId32"/>
    <p:sldId id="275" r:id="rId33"/>
    <p:sldId id="299" r:id="rId34"/>
    <p:sldId id="305" r:id="rId35"/>
    <p:sldId id="323" r:id="rId36"/>
    <p:sldId id="328" r:id="rId37"/>
    <p:sldId id="329" r:id="rId38"/>
    <p:sldId id="312" r:id="rId39"/>
    <p:sldId id="321" r:id="rId40"/>
    <p:sldId id="314" r:id="rId41"/>
    <p:sldId id="313" r:id="rId42"/>
    <p:sldId id="315" r:id="rId43"/>
    <p:sldId id="265" r:id="rId44"/>
    <p:sldId id="278" r:id="rId45"/>
    <p:sldId id="279" r:id="rId46"/>
    <p:sldId id="276" r:id="rId47"/>
    <p:sldId id="306" r:id="rId48"/>
    <p:sldId id="308" r:id="rId49"/>
    <p:sldId id="280" r:id="rId50"/>
    <p:sldId id="281" r:id="rId51"/>
    <p:sldId id="282" r:id="rId52"/>
    <p:sldId id="283" r:id="rId53"/>
    <p:sldId id="296" r:id="rId54"/>
    <p:sldId id="297" r:id="rId55"/>
    <p:sldId id="298" r:id="rId56"/>
    <p:sldId id="284" r:id="rId57"/>
    <p:sldId id="285" r:id="rId58"/>
    <p:sldId id="286" r:id="rId59"/>
    <p:sldId id="287" r:id="rId60"/>
    <p:sldId id="288" r:id="rId61"/>
    <p:sldId id="289" r:id="rId62"/>
    <p:sldId id="290" r:id="rId63"/>
    <p:sldId id="291" r:id="rId64"/>
    <p:sldId id="292" r:id="rId65"/>
    <p:sldId id="293" r:id="rId66"/>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26" autoAdjust="0"/>
  </p:normalViewPr>
  <p:slideViewPr>
    <p:cSldViewPr>
      <p:cViewPr varScale="1">
        <p:scale>
          <a:sx n="153" d="100"/>
          <a:sy n="153" d="100"/>
        </p:scale>
        <p:origin x="414" y="1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88B4524-B08B-4EE9-B733-A87133902B9B}" type="datetimeFigureOut">
              <a:rPr lang="en-US" smtClean="0"/>
              <a:t>2/15/2025</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E915A762-EA5E-4599-834C-2A540D48B681}" type="slidenum">
              <a:rPr lang="en-US" smtClean="0"/>
              <a:t>‹#›</a:t>
            </a:fld>
            <a:endParaRPr lang="en-US"/>
          </a:p>
        </p:txBody>
      </p:sp>
    </p:spTree>
    <p:extLst>
      <p:ext uri="{BB962C8B-B14F-4D97-AF65-F5344CB8AC3E}">
        <p14:creationId xmlns:p14="http://schemas.microsoft.com/office/powerpoint/2010/main" val="75026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kaggle.com/cynthiarempel/amazon-us-cu"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parkbyexamples.com/apache-spark-streaming-tutorial/"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sparkbyexamples.com/apache-kafka-tutorials-with-examples/"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1</a:t>
            </a:fld>
            <a:endParaRPr lang="en-US"/>
          </a:p>
        </p:txBody>
      </p:sp>
    </p:spTree>
    <p:extLst>
      <p:ext uri="{BB962C8B-B14F-4D97-AF65-F5344CB8AC3E}">
        <p14:creationId xmlns:p14="http://schemas.microsoft.com/office/powerpoint/2010/main" val="465771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spc="-5" dirty="0">
                <a:latin typeface="Arial"/>
                <a:cs typeface="Arial"/>
              </a:rPr>
              <a:t>Source: </a:t>
            </a:r>
            <a:r>
              <a:rPr lang="en-US" sz="1200" b="1" dirty="0">
                <a:latin typeface="Arial"/>
                <a:cs typeface="Arial"/>
              </a:rPr>
              <a:t> </a:t>
            </a:r>
            <a:r>
              <a:rPr lang="en-US" sz="1200" spc="-9" dirty="0">
                <a:latin typeface="Arial MT"/>
                <a:cs typeface="Arial MT"/>
                <a:hlinkClick r:id="rId3"/>
              </a:rPr>
              <a:t>https://www.kaggle.com/cynthiarempel/amazon-us-cu </a:t>
            </a:r>
            <a:r>
              <a:rPr lang="en-US" sz="1200" spc="-288" dirty="0">
                <a:latin typeface="Arial MT"/>
                <a:cs typeface="Arial MT"/>
              </a:rPr>
              <a:t> </a:t>
            </a:r>
            <a:r>
              <a:rPr lang="en-US" sz="1200" dirty="0" err="1">
                <a:latin typeface="Arial MT"/>
                <a:cs typeface="Arial MT"/>
              </a:rPr>
              <a:t>stomer</a:t>
            </a:r>
            <a:r>
              <a:rPr lang="en-US" sz="1200" dirty="0">
                <a:latin typeface="Arial MT"/>
                <a:cs typeface="Arial MT"/>
              </a:rPr>
              <a:t>-reviews-dataset</a:t>
            </a:r>
          </a:p>
          <a:p>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5</a:t>
            </a:fld>
            <a:endParaRPr lang="en-US"/>
          </a:p>
        </p:txBody>
      </p:sp>
    </p:spTree>
    <p:extLst>
      <p:ext uri="{BB962C8B-B14F-4D97-AF65-F5344CB8AC3E}">
        <p14:creationId xmlns:p14="http://schemas.microsoft.com/office/powerpoint/2010/main" val="1102239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https://medium.com/analytics-vidhya/reading-large-datasets-using-pandas-ec2d99465887</a:t>
            </a:r>
          </a:p>
          <a:p>
            <a:endParaRPr lang="en-US" dirty="0"/>
          </a:p>
          <a:p>
            <a:r>
              <a:rPr lang="en-US" b="0" i="0" dirty="0">
                <a:solidFill>
                  <a:srgbClr val="242424"/>
                </a:solidFill>
                <a:effectLst/>
                <a:latin typeface="source-serif-pro"/>
              </a:rPr>
              <a:t>In this case your system will run out of RAM/memory while reading such a huge amount of data. This also might lead to kernel shutdown in </a:t>
            </a:r>
            <a:r>
              <a:rPr lang="en-US" b="0" i="0" dirty="0" err="1">
                <a:solidFill>
                  <a:srgbClr val="242424"/>
                </a:solidFill>
                <a:effectLst/>
                <a:latin typeface="source-serif-pro"/>
              </a:rPr>
              <a:t>jupyter</a:t>
            </a:r>
            <a:r>
              <a:rPr lang="en-US" b="0" i="0" dirty="0">
                <a:solidFill>
                  <a:srgbClr val="242424"/>
                </a:solidFill>
                <a:effectLst/>
                <a:latin typeface="source-serif-pro"/>
              </a:rPr>
              <a:t> notebook or system crash.</a:t>
            </a:r>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6</a:t>
            </a:fld>
            <a:endParaRPr lang="en-US"/>
          </a:p>
        </p:txBody>
      </p:sp>
    </p:spTree>
    <p:extLst>
      <p:ext uri="{BB962C8B-B14F-4D97-AF65-F5344CB8AC3E}">
        <p14:creationId xmlns:p14="http://schemas.microsoft.com/office/powerpoint/2010/main" val="2002069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6DCB9-57BA-EEEA-6092-7783C3801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C9743E-CCE1-79A4-E9A0-CC0AAFF88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524720-269E-86BB-8572-6B462D3F53EE}"/>
              </a:ext>
            </a:extLst>
          </p:cNvPr>
          <p:cNvSpPr>
            <a:spLocks noGrp="1"/>
          </p:cNvSpPr>
          <p:nvPr>
            <p:ph type="body" idx="1"/>
          </p:nvPr>
        </p:nvSpPr>
        <p:spPr/>
        <p:txBody>
          <a:bodyPr/>
          <a:lstStyle/>
          <a:p>
            <a:r>
              <a:rPr lang="en-US" dirty="0"/>
              <a:t>https://chengzhizhao.com/4-faster-pandas-alternatives-for-data-analysis/</a:t>
            </a:r>
          </a:p>
        </p:txBody>
      </p:sp>
      <p:sp>
        <p:nvSpPr>
          <p:cNvPr id="4" name="Slide Number Placeholder 3">
            <a:extLst>
              <a:ext uri="{FF2B5EF4-FFF2-40B4-BE49-F238E27FC236}">
                <a16:creationId xmlns:a16="http://schemas.microsoft.com/office/drawing/2014/main" id="{7666BFE8-0B72-ED16-A0E5-815611EAAA78}"/>
              </a:ext>
            </a:extLst>
          </p:cNvPr>
          <p:cNvSpPr>
            <a:spLocks noGrp="1"/>
          </p:cNvSpPr>
          <p:nvPr>
            <p:ph type="sldNum" sz="quarter" idx="5"/>
          </p:nvPr>
        </p:nvSpPr>
        <p:spPr/>
        <p:txBody>
          <a:bodyPr/>
          <a:lstStyle/>
          <a:p>
            <a:fld id="{E915A762-EA5E-4599-834C-2A540D48B681}" type="slidenum">
              <a:rPr lang="en-US" smtClean="0"/>
              <a:t>7</a:t>
            </a:fld>
            <a:endParaRPr lang="en-US"/>
          </a:p>
        </p:txBody>
      </p:sp>
    </p:spTree>
    <p:extLst>
      <p:ext uri="{BB962C8B-B14F-4D97-AF65-F5344CB8AC3E}">
        <p14:creationId xmlns:p14="http://schemas.microsoft.com/office/powerpoint/2010/main" val="361667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1C1E21"/>
                </a:solidFill>
                <a:effectLst/>
                <a:latin typeface="Georgia" panose="02040502050405020303" pitchFamily="18" charset="0"/>
              </a:rPr>
              <a:t>Về cơ chế hoạt động của MR: input data được đọc từ HDFS (component phụ trách việc lưu trữ trong Hadoop) → xử lý bằng các thao tác chỉ định → output được ghi vào HDFS → data tiếp tục được load → thao tác tiếp theo được thực hiện → output tiếp tục ghi vào HDFS … chuỗi các step [read-process-write] đó được lặp cho đến khi hoàn thành công việc. Vì input được chia thành các block độc lập với nhau, các task map-reduce được thực hiện song song, nên về cơ bản nó hữu ích để xử lí những bộ dữ liệu lớn. </a:t>
            </a:r>
            <a:endParaRPr lang="en-US" b="0" i="0" dirty="0">
              <a:solidFill>
                <a:srgbClr val="1C1E21"/>
              </a:solidFill>
              <a:effectLst/>
              <a:latin typeface="Georgia" panose="02040502050405020303" pitchFamily="18" charset="0"/>
            </a:endParaRPr>
          </a:p>
          <a:p>
            <a:r>
              <a:rPr lang="vi-VN" b="0" i="0" dirty="0">
                <a:solidFill>
                  <a:srgbClr val="1C1E21"/>
                </a:solidFill>
                <a:effectLst/>
                <a:latin typeface="Georgia" panose="02040502050405020303" pitchFamily="18" charset="0"/>
              </a:rPr>
              <a:t>Tuy nhiên, MR vẫn còn những tồn tại là quá trình xử lý không thực sự hiệu quả trong trường hợp phải lặp lại nhiều step, vì mỗi step cần thiết phải ghi output vào HDFS trước khi step tiếp theo được thực hiện → việc này tạo ra các vấn đề trong việc lưu trữ và replicate, tăng độ trễ xử lý do phần lớn thực hiện trên Disk vốn có hiệu suất I/O không cao. Bên cạnh đó là việc develop, debug với MR có phần khó khăn vì code dài dòng.</a:t>
            </a:r>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8</a:t>
            </a:fld>
            <a:endParaRPr lang="en-US"/>
          </a:p>
        </p:txBody>
      </p:sp>
    </p:spTree>
    <p:extLst>
      <p:ext uri="{BB962C8B-B14F-4D97-AF65-F5344CB8AC3E}">
        <p14:creationId xmlns:p14="http://schemas.microsoft.com/office/powerpoint/2010/main" val="3508941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spcBef>
                <a:spcPts val="1125"/>
              </a:spcBef>
              <a:spcAft>
                <a:spcPts val="1125"/>
              </a:spcAft>
              <a:buFont typeface="Arial" panose="020B0604020202020204" pitchFamily="34" charset="0"/>
              <a:buChar char="•"/>
            </a:pPr>
            <a:r>
              <a:rPr lang="en-US" b="0" i="0" dirty="0">
                <a:solidFill>
                  <a:srgbClr val="000000"/>
                </a:solidFill>
                <a:effectLst/>
                <a:latin typeface="inherit"/>
              </a:rPr>
              <a:t>Spark is a general-purpose, </a:t>
            </a:r>
            <a:r>
              <a:rPr lang="en-US" b="1" i="0" dirty="0">
                <a:solidFill>
                  <a:srgbClr val="000000"/>
                </a:solidFill>
                <a:effectLst/>
                <a:latin typeface="inherit"/>
              </a:rPr>
              <a:t>in-memory</a:t>
            </a:r>
            <a:r>
              <a:rPr lang="en-US" b="0" i="0" dirty="0">
                <a:solidFill>
                  <a:srgbClr val="000000"/>
                </a:solidFill>
                <a:effectLst/>
                <a:latin typeface="inherit"/>
              </a:rPr>
              <a:t>, fault-tolerant, </a:t>
            </a:r>
            <a:r>
              <a:rPr lang="en-US" b="1" i="0" dirty="0">
                <a:solidFill>
                  <a:srgbClr val="000000"/>
                </a:solidFill>
                <a:effectLst/>
                <a:latin typeface="inherit"/>
              </a:rPr>
              <a:t>distributed processing</a:t>
            </a:r>
            <a:r>
              <a:rPr lang="en-US" b="0" i="0" dirty="0">
                <a:solidFill>
                  <a:srgbClr val="000000"/>
                </a:solidFill>
                <a:effectLst/>
                <a:latin typeface="inherit"/>
              </a:rPr>
              <a:t> engine that allows you to process data efficiently in a distributed fashion.</a:t>
            </a:r>
          </a:p>
          <a:p>
            <a:pPr algn="l" fontAlgn="base">
              <a:spcBef>
                <a:spcPts val="1125"/>
              </a:spcBef>
              <a:spcAft>
                <a:spcPts val="1125"/>
              </a:spcAft>
              <a:buFont typeface="Arial" panose="020B0604020202020204" pitchFamily="34" charset="0"/>
              <a:buChar char="•"/>
            </a:pPr>
            <a:r>
              <a:rPr lang="en-US" b="0" i="0" dirty="0">
                <a:solidFill>
                  <a:srgbClr val="000000"/>
                </a:solidFill>
                <a:effectLst/>
                <a:latin typeface="inherit"/>
              </a:rPr>
              <a:t>Applications running on Spark are </a:t>
            </a:r>
            <a:r>
              <a:rPr lang="en-US" b="1" i="0" dirty="0">
                <a:solidFill>
                  <a:srgbClr val="000000"/>
                </a:solidFill>
                <a:effectLst/>
                <a:latin typeface="inherit"/>
              </a:rPr>
              <a:t>100x</a:t>
            </a:r>
            <a:r>
              <a:rPr lang="en-US" b="0" i="0" dirty="0">
                <a:solidFill>
                  <a:srgbClr val="000000"/>
                </a:solidFill>
                <a:effectLst/>
                <a:latin typeface="inherit"/>
              </a:rPr>
              <a:t> faster than traditional systems.</a:t>
            </a:r>
          </a:p>
          <a:p>
            <a:pPr algn="l" fontAlgn="base">
              <a:spcBef>
                <a:spcPts val="1125"/>
              </a:spcBef>
              <a:spcAft>
                <a:spcPts val="1125"/>
              </a:spcAft>
              <a:buFont typeface="Arial" panose="020B0604020202020204" pitchFamily="34" charset="0"/>
              <a:buChar char="•"/>
            </a:pPr>
            <a:r>
              <a:rPr lang="en-US" b="0" i="0" dirty="0">
                <a:solidFill>
                  <a:srgbClr val="000000"/>
                </a:solidFill>
                <a:effectLst/>
                <a:latin typeface="inherit"/>
              </a:rPr>
              <a:t>You will get great benefits from using Spark for data ingestion pipelines.</a:t>
            </a:r>
          </a:p>
          <a:p>
            <a:pPr algn="l" fontAlgn="base">
              <a:spcBef>
                <a:spcPts val="1125"/>
              </a:spcBef>
              <a:spcAft>
                <a:spcPts val="1125"/>
              </a:spcAft>
              <a:buFont typeface="Arial" panose="020B0604020202020204" pitchFamily="34" charset="0"/>
              <a:buChar char="•"/>
            </a:pPr>
            <a:r>
              <a:rPr lang="en-US" b="0" i="0" dirty="0">
                <a:solidFill>
                  <a:srgbClr val="000000"/>
                </a:solidFill>
                <a:effectLst/>
                <a:latin typeface="inherit"/>
              </a:rPr>
              <a:t>Using Spark we can process data from Hadoop </a:t>
            </a:r>
            <a:r>
              <a:rPr lang="en-US" b="1" i="0" dirty="0">
                <a:solidFill>
                  <a:srgbClr val="000000"/>
                </a:solidFill>
                <a:effectLst/>
                <a:latin typeface="inherit"/>
              </a:rPr>
              <a:t>HDFS</a:t>
            </a:r>
            <a:r>
              <a:rPr lang="en-US" b="0" i="0" dirty="0">
                <a:solidFill>
                  <a:srgbClr val="000000"/>
                </a:solidFill>
                <a:effectLst/>
                <a:latin typeface="inherit"/>
              </a:rPr>
              <a:t>, </a:t>
            </a:r>
            <a:r>
              <a:rPr lang="en-US" b="1" i="0" dirty="0">
                <a:solidFill>
                  <a:srgbClr val="000000"/>
                </a:solidFill>
                <a:effectLst/>
                <a:latin typeface="inherit"/>
              </a:rPr>
              <a:t>AWS S3</a:t>
            </a:r>
            <a:r>
              <a:rPr lang="en-US" b="0" i="0" dirty="0">
                <a:solidFill>
                  <a:srgbClr val="000000"/>
                </a:solidFill>
                <a:effectLst/>
                <a:latin typeface="inherit"/>
              </a:rPr>
              <a:t>, </a:t>
            </a:r>
            <a:r>
              <a:rPr lang="en-US" b="1" i="0" dirty="0">
                <a:solidFill>
                  <a:srgbClr val="000000"/>
                </a:solidFill>
                <a:effectLst/>
                <a:latin typeface="inherit"/>
              </a:rPr>
              <a:t>Databricks DBFS</a:t>
            </a:r>
            <a:r>
              <a:rPr lang="en-US" b="0" i="0" dirty="0">
                <a:solidFill>
                  <a:srgbClr val="000000"/>
                </a:solidFill>
                <a:effectLst/>
                <a:latin typeface="inherit"/>
              </a:rPr>
              <a:t>, </a:t>
            </a:r>
            <a:r>
              <a:rPr lang="en-US" b="1" i="0" dirty="0">
                <a:solidFill>
                  <a:srgbClr val="000000"/>
                </a:solidFill>
                <a:effectLst/>
                <a:latin typeface="inherit"/>
              </a:rPr>
              <a:t>Azure Blob Storage,</a:t>
            </a:r>
            <a:r>
              <a:rPr lang="en-US" b="0" i="0" dirty="0">
                <a:solidFill>
                  <a:srgbClr val="000000"/>
                </a:solidFill>
                <a:effectLst/>
                <a:latin typeface="inherit"/>
              </a:rPr>
              <a:t> and many file systems.</a:t>
            </a:r>
          </a:p>
          <a:p>
            <a:pPr algn="l" fontAlgn="base">
              <a:spcBef>
                <a:spcPts val="1125"/>
              </a:spcBef>
              <a:spcAft>
                <a:spcPts val="1125"/>
              </a:spcAft>
              <a:buFont typeface="Arial" panose="020B0604020202020204" pitchFamily="34" charset="0"/>
              <a:buChar char="•"/>
            </a:pPr>
            <a:r>
              <a:rPr lang="en-US" b="0" i="0" dirty="0">
                <a:solidFill>
                  <a:srgbClr val="000000"/>
                </a:solidFill>
                <a:effectLst/>
                <a:latin typeface="inherit"/>
              </a:rPr>
              <a:t>Spark also is used to process real-time data using </a:t>
            </a:r>
            <a:r>
              <a:rPr lang="en-US" b="0" i="0" u="sng" dirty="0">
                <a:solidFill>
                  <a:srgbClr val="000000"/>
                </a:solidFill>
                <a:effectLst/>
                <a:latin typeface="inherit"/>
                <a:hlinkClick r:id="rId3"/>
              </a:rPr>
              <a:t>Streaming</a:t>
            </a:r>
            <a:r>
              <a:rPr lang="en-US" b="0" i="0" dirty="0">
                <a:solidFill>
                  <a:srgbClr val="000000"/>
                </a:solidFill>
                <a:effectLst/>
                <a:latin typeface="inherit"/>
              </a:rPr>
              <a:t> and </a:t>
            </a:r>
            <a:r>
              <a:rPr lang="en-US" b="0" i="0" u="sng" dirty="0">
                <a:solidFill>
                  <a:srgbClr val="000000"/>
                </a:solidFill>
                <a:effectLst/>
                <a:latin typeface="inherit"/>
                <a:hlinkClick r:id="rId4"/>
              </a:rPr>
              <a:t>Kafka</a:t>
            </a:r>
            <a:r>
              <a:rPr lang="en-US" b="0" i="0" dirty="0">
                <a:solidFill>
                  <a:srgbClr val="000000"/>
                </a:solidFill>
                <a:effectLst/>
                <a:latin typeface="inherit"/>
              </a:rPr>
              <a:t>.</a:t>
            </a:r>
          </a:p>
          <a:p>
            <a:pPr algn="l" fontAlgn="base">
              <a:spcBef>
                <a:spcPts val="1125"/>
              </a:spcBef>
              <a:spcAft>
                <a:spcPts val="1125"/>
              </a:spcAft>
              <a:buFont typeface="Arial" panose="020B0604020202020204" pitchFamily="34" charset="0"/>
              <a:buChar char="•"/>
            </a:pPr>
            <a:r>
              <a:rPr lang="en-US" b="0" i="0" dirty="0">
                <a:solidFill>
                  <a:srgbClr val="000000"/>
                </a:solidFill>
                <a:effectLst/>
                <a:latin typeface="inherit"/>
              </a:rPr>
              <a:t>Using Spark Streaming you can also stream files from the file system and also stream from the socket.</a:t>
            </a:r>
          </a:p>
          <a:p>
            <a:pPr algn="l" fontAlgn="base">
              <a:spcBef>
                <a:spcPts val="1125"/>
              </a:spcBef>
              <a:spcAft>
                <a:spcPts val="1125"/>
              </a:spcAft>
              <a:buFont typeface="Arial" panose="020B0604020202020204" pitchFamily="34" charset="0"/>
              <a:buChar char="•"/>
            </a:pPr>
            <a:r>
              <a:rPr lang="en-US" b="0" i="0" dirty="0">
                <a:solidFill>
                  <a:srgbClr val="000000"/>
                </a:solidFill>
                <a:effectLst/>
                <a:latin typeface="inherit"/>
              </a:rPr>
              <a:t>Spark natively has machine learning and </a:t>
            </a:r>
            <a:r>
              <a:rPr lang="en-US" b="1" i="0" dirty="0">
                <a:solidFill>
                  <a:srgbClr val="000000"/>
                </a:solidFill>
                <a:effectLst/>
                <a:latin typeface="inherit"/>
              </a:rPr>
              <a:t>graph libraries</a:t>
            </a:r>
            <a:r>
              <a:rPr lang="en-US" b="0" i="0" dirty="0">
                <a:solidFill>
                  <a:srgbClr val="000000"/>
                </a:solidFill>
                <a:effectLst/>
                <a:latin typeface="inherit"/>
              </a:rPr>
              <a:t>.</a:t>
            </a:r>
          </a:p>
          <a:p>
            <a:pPr algn="l" fontAlgn="base">
              <a:spcBef>
                <a:spcPts val="1125"/>
              </a:spcBef>
              <a:spcAft>
                <a:spcPts val="1125"/>
              </a:spcAft>
              <a:buFont typeface="Arial" panose="020B0604020202020204" pitchFamily="34" charset="0"/>
              <a:buChar char="•"/>
            </a:pPr>
            <a:r>
              <a:rPr lang="en-US" b="0" i="0" dirty="0">
                <a:solidFill>
                  <a:srgbClr val="000000"/>
                </a:solidFill>
                <a:effectLst/>
                <a:latin typeface="inherit"/>
              </a:rPr>
              <a:t>Provides connectors to store the data in NoSQL databases like MongoDB.</a:t>
            </a:r>
          </a:p>
          <a:p>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9</a:t>
            </a:fld>
            <a:endParaRPr lang="en-US"/>
          </a:p>
        </p:txBody>
      </p:sp>
    </p:spTree>
    <p:extLst>
      <p:ext uri="{BB962C8B-B14F-4D97-AF65-F5344CB8AC3E}">
        <p14:creationId xmlns:p14="http://schemas.microsoft.com/office/powerpoint/2010/main" val="4222850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00C39-86B1-32A2-9A89-9A7D5D8B5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5D5E8-772C-9E61-5329-10080A0DCB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C6E736-4BC7-95EC-91DB-5802640674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389557-9154-EE30-2A8A-77078A4B6FA6}"/>
              </a:ext>
            </a:extLst>
          </p:cNvPr>
          <p:cNvSpPr>
            <a:spLocks noGrp="1"/>
          </p:cNvSpPr>
          <p:nvPr>
            <p:ph type="sldNum" sz="quarter" idx="5"/>
          </p:nvPr>
        </p:nvSpPr>
        <p:spPr/>
        <p:txBody>
          <a:bodyPr/>
          <a:lstStyle/>
          <a:p>
            <a:fld id="{E915A762-EA5E-4599-834C-2A540D48B681}" type="slidenum">
              <a:rPr lang="en-US" smtClean="0"/>
              <a:t>12</a:t>
            </a:fld>
            <a:endParaRPr lang="en-US"/>
          </a:p>
        </p:txBody>
      </p:sp>
    </p:spTree>
    <p:extLst>
      <p:ext uri="{BB962C8B-B14F-4D97-AF65-F5344CB8AC3E}">
        <p14:creationId xmlns:p14="http://schemas.microsoft.com/office/powerpoint/2010/main" val="2742937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8A6FF-5A5E-651D-1670-A1358EB74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06AB6-A561-D6EE-D19F-C033681F10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9ACB1-BDD2-8E25-5BBD-43387BC419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F24B97-0206-EEB6-9307-BF72B29EEEA1}"/>
              </a:ext>
            </a:extLst>
          </p:cNvPr>
          <p:cNvSpPr>
            <a:spLocks noGrp="1"/>
          </p:cNvSpPr>
          <p:nvPr>
            <p:ph type="sldNum" sz="quarter" idx="5"/>
          </p:nvPr>
        </p:nvSpPr>
        <p:spPr/>
        <p:txBody>
          <a:bodyPr/>
          <a:lstStyle/>
          <a:p>
            <a:fld id="{E915A762-EA5E-4599-834C-2A540D48B681}" type="slidenum">
              <a:rPr lang="en-US" smtClean="0"/>
              <a:t>13</a:t>
            </a:fld>
            <a:endParaRPr lang="en-US"/>
          </a:p>
        </p:txBody>
      </p:sp>
    </p:spTree>
    <p:extLst>
      <p:ext uri="{BB962C8B-B14F-4D97-AF65-F5344CB8AC3E}">
        <p14:creationId xmlns:p14="http://schemas.microsoft.com/office/powerpoint/2010/main" val="1990206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14</a:t>
            </a:fld>
            <a:endParaRPr lang="en-US"/>
          </a:p>
        </p:txBody>
      </p:sp>
    </p:spTree>
    <p:extLst>
      <p:ext uri="{BB962C8B-B14F-4D97-AF65-F5344CB8AC3E}">
        <p14:creationId xmlns:p14="http://schemas.microsoft.com/office/powerpoint/2010/main" val="1157600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16</a:t>
            </a:fld>
            <a:endParaRPr lang="en-US"/>
          </a:p>
        </p:txBody>
      </p:sp>
    </p:spTree>
    <p:extLst>
      <p:ext uri="{BB962C8B-B14F-4D97-AF65-F5344CB8AC3E}">
        <p14:creationId xmlns:p14="http://schemas.microsoft.com/office/powerpoint/2010/main" val="11555004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https://avinash333.com/rdd/</a:t>
            </a:r>
          </a:p>
          <a:p>
            <a:pPr algn="l" rtl="0">
              <a:spcAft>
                <a:spcPts val="2100"/>
              </a:spcAft>
            </a:pPr>
            <a:r>
              <a:rPr lang="vi-VN" b="0" i="0" dirty="0">
                <a:solidFill>
                  <a:srgbClr val="1C1E21"/>
                </a:solidFill>
                <a:effectLst/>
                <a:latin typeface="Georgia" panose="02040502050405020303" pitchFamily="18" charset="0"/>
              </a:rPr>
              <a:t>Cơ chế hoạt động của Spark: khắc phục những tồn tại của Hadoop MapReduce, Spark đưa ra một khái niệm mới RDD - Resilient Distributed Dataset đóng vai trò như 1 cấu trúc dữ liệu cơ bản trong Spark, RDD được định nghĩa là trừu tượng cho một tập hợp các phần tử bất biến (bản chất là được lưu trên các ô nhớ read-only), được phân vùng có thể được chia sẻ, tác động song song. Qua đó, input data từ storage system chỉ cần load 1 lần duy nhất, các step thực hiện biến đổi, xử lý input data được lên kế hoạch, optimize và thực hiện một cách liên tục cho đến khi output được trả khi kết thúc công việc. Toàn bộ quá trình đó được diễn ra trên bộ nhớ RAM (khi hết RAM sẽ được chuyển sang xử lý trên Disk) tận dụng được hiệu suất I/O cao từ đó có thể giảm thời gian thực thi nhỏ hơn 10-100 lần Hadoop MapReduce.</a:t>
            </a:r>
          </a:p>
          <a:p>
            <a:br>
              <a:rPr lang="vi-VN" dirty="0"/>
            </a:br>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19</a:t>
            </a:fld>
            <a:endParaRPr lang="en-US"/>
          </a:p>
        </p:txBody>
      </p:sp>
    </p:spTree>
    <p:extLst>
      <p:ext uri="{BB962C8B-B14F-4D97-AF65-F5344CB8AC3E}">
        <p14:creationId xmlns:p14="http://schemas.microsoft.com/office/powerpoint/2010/main" val="36441052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C0D0E"/>
                </a:solidFill>
                <a:effectLst/>
                <a:latin typeface="-apple-system"/>
              </a:rPr>
              <a:t>RDDs are sort of like big arrays that are split into partitions, and each executor can hold some of these partitions.</a:t>
            </a:r>
          </a:p>
          <a:p>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22</a:t>
            </a:fld>
            <a:endParaRPr lang="en-US"/>
          </a:p>
        </p:txBody>
      </p:sp>
    </p:spTree>
    <p:extLst>
      <p:ext uri="{BB962C8B-B14F-4D97-AF65-F5344CB8AC3E}">
        <p14:creationId xmlns:p14="http://schemas.microsoft.com/office/powerpoint/2010/main" val="3878966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666666"/>
                </a:solidFill>
                <a:effectLst/>
                <a:latin typeface="DM Sans" pitchFamily="2" charset="0"/>
              </a:rPr>
              <a:t>RDDs support two types of operations: </a:t>
            </a:r>
            <a:r>
              <a:rPr lang="en-US" b="0" i="1" dirty="0">
                <a:solidFill>
                  <a:srgbClr val="666666"/>
                </a:solidFill>
                <a:effectLst/>
                <a:latin typeface="DM Sans" pitchFamily="2" charset="0"/>
              </a:rPr>
              <a:t>transformations</a:t>
            </a:r>
            <a:r>
              <a:rPr lang="en-US" b="0" i="0" dirty="0">
                <a:solidFill>
                  <a:srgbClr val="666666"/>
                </a:solidFill>
                <a:effectLst/>
                <a:latin typeface="DM Sans" pitchFamily="2" charset="0"/>
              </a:rPr>
              <a:t>, which create a new dataset from an existing one, and </a:t>
            </a:r>
            <a:r>
              <a:rPr lang="en-US" b="0" i="1" dirty="0">
                <a:solidFill>
                  <a:srgbClr val="666666"/>
                </a:solidFill>
                <a:effectLst/>
                <a:latin typeface="DM Sans" pitchFamily="2" charset="0"/>
              </a:rPr>
              <a:t>actions</a:t>
            </a:r>
            <a:r>
              <a:rPr lang="en-US" b="0" i="0" dirty="0">
                <a:solidFill>
                  <a:srgbClr val="666666"/>
                </a:solidFill>
                <a:effectLst/>
                <a:latin typeface="DM Sans" pitchFamily="2" charset="0"/>
              </a:rPr>
              <a:t>, which return a value to the driver program after running a computation on the dataset.</a:t>
            </a:r>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23</a:t>
            </a:fld>
            <a:endParaRPr lang="en-US"/>
          </a:p>
        </p:txBody>
      </p:sp>
    </p:spTree>
    <p:extLst>
      <p:ext uri="{BB962C8B-B14F-4D97-AF65-F5344CB8AC3E}">
        <p14:creationId xmlns:p14="http://schemas.microsoft.com/office/powerpoint/2010/main" val="10174632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Job</a:t>
            </a:r>
            <a:r>
              <a:rPr lang="en-US" dirty="0"/>
              <a:t>: Represents the high-level action requested by the user (e.g., collect()).</a:t>
            </a:r>
          </a:p>
          <a:p>
            <a:pPr>
              <a:buFont typeface="Arial" panose="020B0604020202020204" pitchFamily="34" charset="0"/>
              <a:buChar char="•"/>
            </a:pPr>
            <a:r>
              <a:rPr lang="en-US" b="1" dirty="0"/>
              <a:t>Stage</a:t>
            </a:r>
            <a:r>
              <a:rPr lang="en-US" dirty="0"/>
              <a:t>: Subdivides the job into units of work between shuffle boundaries. </a:t>
            </a:r>
            <a:r>
              <a:rPr lang="en-US" b="0" i="0" dirty="0">
                <a:solidFill>
                  <a:srgbClr val="242424"/>
                </a:solidFill>
                <a:effectLst/>
                <a:latin typeface="source-serif-pro"/>
              </a:rPr>
              <a:t>The boundary between two stages is drawn when transformations cause data shuffling across partitions.</a:t>
            </a:r>
            <a:endParaRPr lang="en-US" dirty="0"/>
          </a:p>
          <a:p>
            <a:pPr>
              <a:buFont typeface="Arial" panose="020B0604020202020204" pitchFamily="34" charset="0"/>
              <a:buChar char="•"/>
            </a:pPr>
            <a:r>
              <a:rPr lang="en-US" b="1" dirty="0"/>
              <a:t>Task</a:t>
            </a:r>
            <a:r>
              <a:rPr lang="en-US" dirty="0"/>
              <a:t>: A unit of execution within a stage, processing a single partition of data.</a:t>
            </a:r>
          </a:p>
          <a:p>
            <a:r>
              <a:rPr lang="en-US" dirty="0"/>
              <a:t>By using the Spark UI or logs, you can trace how jobs, stages, and tasks interact to optimize your application's performance.</a:t>
            </a:r>
          </a:p>
          <a:p>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24</a:t>
            </a:fld>
            <a:endParaRPr lang="en-US"/>
          </a:p>
        </p:txBody>
      </p:sp>
    </p:spTree>
    <p:extLst>
      <p:ext uri="{BB962C8B-B14F-4D97-AF65-F5344CB8AC3E}">
        <p14:creationId xmlns:p14="http://schemas.microsoft.com/office/powerpoint/2010/main" val="1815602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Job 1 - 3 Stages (Read → </a:t>
            </a:r>
            <a:r>
              <a:rPr lang="en-US" b="1" dirty="0" err="1"/>
              <a:t>GroupBy</a:t>
            </a:r>
            <a:r>
              <a:rPr lang="en-US" b="1" dirty="0"/>
              <a:t> Shuffle → Sort)</a:t>
            </a:r>
          </a:p>
          <a:p>
            <a:r>
              <a:rPr lang="en-US" b="1" dirty="0"/>
              <a:t>- Triggered by </a:t>
            </a:r>
            <a:r>
              <a:rPr lang="en-US" b="1" dirty="0" err="1"/>
              <a:t>df_sorted.show</a:t>
            </a:r>
            <a:r>
              <a:rPr lang="en-US" b="1" dirty="0"/>
              <a:t>() (Action)</a:t>
            </a:r>
            <a:endParaRPr lang="en-US" dirty="0"/>
          </a:p>
          <a:p>
            <a:pPr>
              <a:buFont typeface="Arial" panose="020B0604020202020204" pitchFamily="34" charset="0"/>
              <a:buChar char="•"/>
            </a:pPr>
            <a:r>
              <a:rPr lang="en-US" b="1" dirty="0"/>
              <a:t> Transformations Applied</a:t>
            </a:r>
            <a:r>
              <a:rPr lang="en-US" dirty="0"/>
              <a:t>:</a:t>
            </a:r>
          </a:p>
          <a:p>
            <a:pPr marL="742950" lvl="1" indent="-285750">
              <a:buFont typeface="Arial" panose="020B0604020202020204" pitchFamily="34" charset="0"/>
              <a:buChar char="•"/>
            </a:pPr>
            <a:r>
              <a:rPr lang="en-US" dirty="0"/>
              <a:t>filter() → Removes employees with salary ≤ 50,000 (Narrow Transformation, no shuffle).</a:t>
            </a:r>
          </a:p>
          <a:p>
            <a:pPr marL="742950" lvl="1" indent="-285750">
              <a:buFont typeface="Arial" panose="020B0604020202020204" pitchFamily="34" charset="0"/>
              <a:buChar char="•"/>
            </a:pPr>
            <a:r>
              <a:rPr lang="en-US" dirty="0" err="1"/>
              <a:t>groupBy</a:t>
            </a:r>
            <a:r>
              <a:rPr lang="en-US" dirty="0"/>
              <a:t>() → Aggregates by department (</a:t>
            </a:r>
            <a:r>
              <a:rPr lang="en-US" b="1" dirty="0"/>
              <a:t>Wide Transformation</a:t>
            </a:r>
            <a:r>
              <a:rPr lang="en-US" dirty="0"/>
              <a:t>, triggers a shuffle).</a:t>
            </a:r>
          </a:p>
          <a:p>
            <a:pPr marL="742950" lvl="1" indent="-285750">
              <a:buFont typeface="Arial" panose="020B0604020202020204" pitchFamily="34" charset="0"/>
              <a:buChar char="•"/>
            </a:pPr>
            <a:r>
              <a:rPr lang="en-US" dirty="0" err="1"/>
              <a:t>orderBy</a:t>
            </a:r>
            <a:r>
              <a:rPr lang="en-US" dirty="0"/>
              <a:t>() → Requires sorting (Shuffle stage).</a:t>
            </a:r>
          </a:p>
          <a:p>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28</a:t>
            </a:fld>
            <a:endParaRPr lang="en-US"/>
          </a:p>
        </p:txBody>
      </p:sp>
    </p:spTree>
    <p:extLst>
      <p:ext uri="{BB962C8B-B14F-4D97-AF65-F5344CB8AC3E}">
        <p14:creationId xmlns:p14="http://schemas.microsoft.com/office/powerpoint/2010/main" val="1319219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Font typeface="Arial" panose="020B0604020202020204" pitchFamily="34" charset="0"/>
              <a:buNone/>
            </a:pPr>
            <a:r>
              <a:rPr lang="en-US" b="0" i="0" dirty="0">
                <a:solidFill>
                  <a:srgbClr val="666666"/>
                </a:solidFill>
                <a:effectLst/>
                <a:latin typeface="DM Sans" pitchFamily="2" charset="0"/>
              </a:rPr>
              <a:t>RDDs support two types of operations: </a:t>
            </a:r>
            <a:r>
              <a:rPr lang="en-US" b="0" i="1" dirty="0">
                <a:solidFill>
                  <a:srgbClr val="666666"/>
                </a:solidFill>
                <a:effectLst/>
                <a:latin typeface="DM Sans" pitchFamily="2" charset="0"/>
              </a:rPr>
              <a:t>transformations</a:t>
            </a:r>
            <a:r>
              <a:rPr lang="en-US" b="0" i="0" dirty="0">
                <a:solidFill>
                  <a:srgbClr val="666666"/>
                </a:solidFill>
                <a:effectLst/>
                <a:latin typeface="DM Sans" pitchFamily="2" charset="0"/>
              </a:rPr>
              <a:t>, which create a new dataset from an existing one, and </a:t>
            </a:r>
            <a:r>
              <a:rPr lang="en-US" b="0" i="1" dirty="0">
                <a:solidFill>
                  <a:srgbClr val="666666"/>
                </a:solidFill>
                <a:effectLst/>
                <a:latin typeface="DM Sans" pitchFamily="2" charset="0"/>
              </a:rPr>
              <a:t>actions</a:t>
            </a:r>
            <a:r>
              <a:rPr lang="en-US" b="0" i="0" dirty="0">
                <a:solidFill>
                  <a:srgbClr val="666666"/>
                </a:solidFill>
                <a:effectLst/>
                <a:latin typeface="DM Sans" pitchFamily="2" charset="0"/>
              </a:rPr>
              <a:t>, which return a value to the driver program after running a computation on the dataset.</a:t>
            </a:r>
            <a:endParaRPr lang="en-US" b="0" i="0" dirty="0">
              <a:solidFill>
                <a:srgbClr val="444444"/>
              </a:solidFill>
              <a:effectLst/>
              <a:latin typeface="PT Serif" panose="020A0603040505020204" pitchFamily="18" charset="0"/>
            </a:endParaRPr>
          </a:p>
        </p:txBody>
      </p:sp>
      <p:sp>
        <p:nvSpPr>
          <p:cNvPr id="4" name="Slide Number Placeholder 3"/>
          <p:cNvSpPr>
            <a:spLocks noGrp="1"/>
          </p:cNvSpPr>
          <p:nvPr>
            <p:ph type="sldNum" sz="quarter" idx="5"/>
          </p:nvPr>
        </p:nvSpPr>
        <p:spPr/>
        <p:txBody>
          <a:bodyPr/>
          <a:lstStyle/>
          <a:p>
            <a:fld id="{E915A762-EA5E-4599-834C-2A540D48B681}" type="slidenum">
              <a:rPr lang="en-US" smtClean="0"/>
              <a:t>29</a:t>
            </a:fld>
            <a:endParaRPr lang="en-US"/>
          </a:p>
        </p:txBody>
      </p:sp>
    </p:spTree>
    <p:extLst>
      <p:ext uri="{BB962C8B-B14F-4D97-AF65-F5344CB8AC3E}">
        <p14:creationId xmlns:p14="http://schemas.microsoft.com/office/powerpoint/2010/main" val="2282116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45640-DC5B-3D2D-8132-5C40EB27E6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95C67-BBD8-A67B-8661-1E887D6596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39FEF-1587-DE4B-4855-007D3178B29C}"/>
              </a:ext>
            </a:extLst>
          </p:cNvPr>
          <p:cNvSpPr>
            <a:spLocks noGrp="1"/>
          </p:cNvSpPr>
          <p:nvPr>
            <p:ph type="body" idx="1"/>
          </p:nvPr>
        </p:nvSpPr>
        <p:spPr/>
        <p:txBody>
          <a:bodyPr/>
          <a:lstStyle/>
          <a:p>
            <a:pPr>
              <a:buFont typeface="Arial" panose="020B0604020202020204" pitchFamily="34" charset="0"/>
              <a:buChar char="•"/>
            </a:pPr>
            <a:r>
              <a:rPr lang="vi-VN" b="0" i="0" dirty="0">
                <a:solidFill>
                  <a:srgbClr val="1C1E21"/>
                </a:solidFill>
                <a:effectLst/>
                <a:latin typeface="Georgia" panose="02040502050405020303" pitchFamily="18" charset="0"/>
              </a:rPr>
              <a:t>Khi thực thi, việc gọi các transformations, Spark sẽ không ngay lập tức thực thi các tính toán mà sẽ lưu lại thành 1 lineage, tức là tập hợp các biến đổi từ RDD này thành RDD khác qua mỗi transformation. Khi có 1 action được gọi, Spark lúc này mới thực sự thực hiện các biến đổi để trả ra kết quả.</a:t>
            </a:r>
            <a:endParaRPr lang="en-US" dirty="0"/>
          </a:p>
        </p:txBody>
      </p:sp>
      <p:sp>
        <p:nvSpPr>
          <p:cNvPr id="4" name="Slide Number Placeholder 3">
            <a:extLst>
              <a:ext uri="{FF2B5EF4-FFF2-40B4-BE49-F238E27FC236}">
                <a16:creationId xmlns:a16="http://schemas.microsoft.com/office/drawing/2014/main" id="{8DFC4B0F-4E16-7ABB-9063-C94898BECDA9}"/>
              </a:ext>
            </a:extLst>
          </p:cNvPr>
          <p:cNvSpPr>
            <a:spLocks noGrp="1"/>
          </p:cNvSpPr>
          <p:nvPr>
            <p:ph type="sldNum" sz="quarter" idx="5"/>
          </p:nvPr>
        </p:nvSpPr>
        <p:spPr/>
        <p:txBody>
          <a:bodyPr/>
          <a:lstStyle/>
          <a:p>
            <a:fld id="{E915A762-EA5E-4599-834C-2A540D48B681}" type="slidenum">
              <a:rPr lang="en-US" smtClean="0"/>
              <a:t>30</a:t>
            </a:fld>
            <a:endParaRPr lang="en-US"/>
          </a:p>
        </p:txBody>
      </p:sp>
    </p:spTree>
    <p:extLst>
      <p:ext uri="{BB962C8B-B14F-4D97-AF65-F5344CB8AC3E}">
        <p14:creationId xmlns:p14="http://schemas.microsoft.com/office/powerpoint/2010/main" val="12064180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2E1EB-D97F-594B-42BF-27ECE351D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BA2885-0EA9-A5C4-48A1-A873183B44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01F72C-934C-FEDD-345C-C4D2590841A9}"/>
              </a:ext>
            </a:extLst>
          </p:cNvPr>
          <p:cNvSpPr>
            <a:spLocks noGrp="1"/>
          </p:cNvSpPr>
          <p:nvPr>
            <p:ph type="body" idx="1"/>
          </p:nvPr>
        </p:nvSpPr>
        <p:spPr/>
        <p:txBody>
          <a:bodyPr/>
          <a:lstStyle/>
          <a:p>
            <a:pPr algn="l" fontAlgn="base">
              <a:buFont typeface="Arial" panose="020B0604020202020204" pitchFamily="34" charset="0"/>
              <a:buNone/>
            </a:pPr>
            <a:r>
              <a:rPr lang="en-US" b="0" i="0" dirty="0">
                <a:solidFill>
                  <a:srgbClr val="666666"/>
                </a:solidFill>
                <a:effectLst/>
                <a:latin typeface="DM Sans" pitchFamily="2" charset="0"/>
              </a:rPr>
              <a:t>By default, each transformed RDD may be recomputed each time you run an action on it. However, you may also </a:t>
            </a:r>
            <a:r>
              <a:rPr lang="en-US" b="0" i="1" dirty="0">
                <a:solidFill>
                  <a:srgbClr val="666666"/>
                </a:solidFill>
                <a:effectLst/>
                <a:latin typeface="DM Sans" pitchFamily="2" charset="0"/>
              </a:rPr>
              <a:t>persist</a:t>
            </a:r>
            <a:r>
              <a:rPr lang="en-US" b="0" i="0" dirty="0">
                <a:solidFill>
                  <a:srgbClr val="666666"/>
                </a:solidFill>
                <a:effectLst/>
                <a:latin typeface="DM Sans" pitchFamily="2" charset="0"/>
              </a:rPr>
              <a:t> an RDD in memory using the </a:t>
            </a:r>
            <a:r>
              <a:rPr lang="en-US" dirty="0"/>
              <a:t>persist</a:t>
            </a:r>
            <a:r>
              <a:rPr lang="en-US" b="0" i="0" dirty="0">
                <a:solidFill>
                  <a:srgbClr val="666666"/>
                </a:solidFill>
                <a:effectLst/>
                <a:latin typeface="DM Sans" pitchFamily="2" charset="0"/>
              </a:rPr>
              <a:t> (or </a:t>
            </a:r>
            <a:r>
              <a:rPr lang="en-US" dirty="0"/>
              <a:t>cache</a:t>
            </a:r>
            <a:r>
              <a:rPr lang="en-US" b="0" i="0" dirty="0">
                <a:solidFill>
                  <a:srgbClr val="666666"/>
                </a:solidFill>
                <a:effectLst/>
                <a:latin typeface="DM Sans" pitchFamily="2" charset="0"/>
              </a:rPr>
              <a:t>) method, in which case Spark will keep the elements around on the cluster for much faster access the next time you query it. </a:t>
            </a:r>
            <a:endParaRPr lang="en-US" b="0" i="0" dirty="0">
              <a:solidFill>
                <a:srgbClr val="444444"/>
              </a:solidFill>
              <a:effectLst/>
              <a:latin typeface="PT Serif" panose="020A0603040505020204" pitchFamily="18" charset="0"/>
            </a:endParaRPr>
          </a:p>
        </p:txBody>
      </p:sp>
      <p:sp>
        <p:nvSpPr>
          <p:cNvPr id="4" name="Slide Number Placeholder 3">
            <a:extLst>
              <a:ext uri="{FF2B5EF4-FFF2-40B4-BE49-F238E27FC236}">
                <a16:creationId xmlns:a16="http://schemas.microsoft.com/office/drawing/2014/main" id="{6B035D6F-08FB-ECCD-3C8A-DCCDA3AD4AE6}"/>
              </a:ext>
            </a:extLst>
          </p:cNvPr>
          <p:cNvSpPr>
            <a:spLocks noGrp="1"/>
          </p:cNvSpPr>
          <p:nvPr>
            <p:ph type="sldNum" sz="quarter" idx="5"/>
          </p:nvPr>
        </p:nvSpPr>
        <p:spPr/>
        <p:txBody>
          <a:bodyPr/>
          <a:lstStyle/>
          <a:p>
            <a:fld id="{E915A762-EA5E-4599-834C-2A540D48B681}" type="slidenum">
              <a:rPr lang="en-US" smtClean="0"/>
              <a:t>35</a:t>
            </a:fld>
            <a:endParaRPr lang="en-US"/>
          </a:p>
        </p:txBody>
      </p:sp>
    </p:spTree>
    <p:extLst>
      <p:ext uri="{BB962C8B-B14F-4D97-AF65-F5344CB8AC3E}">
        <p14:creationId xmlns:p14="http://schemas.microsoft.com/office/powerpoint/2010/main" val="5985583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Apache Spark supports different deployment modes based on where the driver program runs and how tasks are scheduled.</a:t>
            </a:r>
          </a:p>
          <a:p>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40</a:t>
            </a:fld>
            <a:endParaRPr lang="en-US"/>
          </a:p>
        </p:txBody>
      </p:sp>
    </p:spTree>
    <p:extLst>
      <p:ext uri="{BB962C8B-B14F-4D97-AF65-F5344CB8AC3E}">
        <p14:creationId xmlns:p14="http://schemas.microsoft.com/office/powerpoint/2010/main" val="18984596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https://spark.apache.org/docs/latest/cluster-overview.html#cluster-manager-types</a:t>
            </a:r>
          </a:p>
        </p:txBody>
      </p:sp>
      <p:sp>
        <p:nvSpPr>
          <p:cNvPr id="4" name="Slide Number Placeholder 3"/>
          <p:cNvSpPr>
            <a:spLocks noGrp="1"/>
          </p:cNvSpPr>
          <p:nvPr>
            <p:ph type="sldNum" sz="quarter" idx="5"/>
          </p:nvPr>
        </p:nvSpPr>
        <p:spPr/>
        <p:txBody>
          <a:bodyPr/>
          <a:lstStyle/>
          <a:p>
            <a:fld id="{E915A762-EA5E-4599-834C-2A540D48B681}" type="slidenum">
              <a:rPr lang="en-US" smtClean="0"/>
              <a:t>41</a:t>
            </a:fld>
            <a:endParaRPr lang="en-US"/>
          </a:p>
        </p:txBody>
      </p:sp>
    </p:spTree>
    <p:extLst>
      <p:ext uri="{BB962C8B-B14F-4D97-AF65-F5344CB8AC3E}">
        <p14:creationId xmlns:p14="http://schemas.microsoft.com/office/powerpoint/2010/main" val="4351060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spcAft>
                <a:spcPts val="900"/>
              </a:spcAft>
              <a:buFont typeface="Arial" panose="020B0604020202020204" pitchFamily="34" charset="0"/>
              <a:buChar char="•"/>
            </a:pPr>
            <a:r>
              <a:rPr lang="vi-VN" dirty="0"/>
              <a:t>Spark Core: là engine thực thi chung làm nền tảng cho Spark. Tất cả các chức năng khác được xây dựng dựa trên base là Spark Core. Nó cung cấp khả năng tính toán trên bộ nhớ RAM và cả bộ dữ liệu tham chiếu trong các hệ thống external storage.</a:t>
            </a:r>
            <a:r>
              <a:rPr lang="vi-VN" b="1" i="0" dirty="0">
                <a:solidFill>
                  <a:srgbClr val="1C1E21"/>
                </a:solidFill>
                <a:effectLst/>
                <a:latin typeface="inherit"/>
              </a:rPr>
              <a:t>Spark SQL</a:t>
            </a:r>
            <a:r>
              <a:rPr lang="vi-VN" b="0" i="0" dirty="0">
                <a:solidFill>
                  <a:srgbClr val="1C1E21"/>
                </a:solidFill>
                <a:effectLst/>
                <a:latin typeface="Georgia" panose="02040502050405020303" pitchFamily="18" charset="0"/>
              </a:rPr>
              <a:t>: là một thành phần nằm trên Spark Core, giới thiệu một khái niệm trừu tượng hóa dữ liệu mới gọi là SchemaRDD, cung cấp hỗ trợ cho dữ liệu có cấu trúc và bán cấu trúc.</a:t>
            </a:r>
          </a:p>
          <a:p>
            <a:pPr algn="l" rtl="0">
              <a:spcAft>
                <a:spcPts val="900"/>
              </a:spcAft>
              <a:buFont typeface="Arial" panose="020B0604020202020204" pitchFamily="34" charset="0"/>
              <a:buChar char="•"/>
            </a:pPr>
            <a:r>
              <a:rPr lang="vi-VN" b="1" i="0" dirty="0">
                <a:solidFill>
                  <a:srgbClr val="1C1E21"/>
                </a:solidFill>
                <a:effectLst/>
                <a:latin typeface="inherit"/>
              </a:rPr>
              <a:t>Spark Streaming</a:t>
            </a:r>
            <a:r>
              <a:rPr lang="vi-VN" b="0" i="0" dirty="0">
                <a:solidFill>
                  <a:srgbClr val="1C1E21"/>
                </a:solidFill>
                <a:effectLst/>
                <a:latin typeface="Georgia" panose="02040502050405020303" pitchFamily="18" charset="0"/>
              </a:rPr>
              <a:t>: tận dụng khả năng lập lịch memory-base của Spark Core để thực hiện streaming analytics. Nó lấy dữ liệu theo mini-batches và thực hiện các phép biến đổi RDD (Bộ dữ liệu phân tán có khả năng phục hồi) trên các mini-batches dữ liệu đó.</a:t>
            </a:r>
          </a:p>
          <a:p>
            <a:pPr algn="l" rtl="0">
              <a:spcAft>
                <a:spcPts val="900"/>
              </a:spcAft>
              <a:buFont typeface="Arial" panose="020B0604020202020204" pitchFamily="34" charset="0"/>
              <a:buChar char="•"/>
            </a:pPr>
            <a:r>
              <a:rPr lang="vi-VN" b="1" i="0" dirty="0">
                <a:solidFill>
                  <a:srgbClr val="1C1E21"/>
                </a:solidFill>
                <a:effectLst/>
                <a:latin typeface="inherit"/>
              </a:rPr>
              <a:t>MLlib (Machine Learning Library)</a:t>
            </a:r>
            <a:r>
              <a:rPr lang="vi-VN" b="0" i="0" dirty="0">
                <a:solidFill>
                  <a:srgbClr val="1C1E21"/>
                </a:solidFill>
                <a:effectLst/>
                <a:latin typeface="Georgia" panose="02040502050405020303" pitchFamily="18" charset="0"/>
              </a:rPr>
              <a:t>: là một framework machine learning phân tán trên Spark tận dụng khả năng tính toán tốc độ cao nhờ distributed memory-based của kiến ​​trúc Spark.</a:t>
            </a:r>
          </a:p>
          <a:p>
            <a:pPr algn="l" rtl="0">
              <a:spcAft>
                <a:spcPts val="900"/>
              </a:spcAft>
              <a:buFont typeface="Arial" panose="020B0604020202020204" pitchFamily="34" charset="0"/>
              <a:buChar char="•"/>
            </a:pPr>
            <a:r>
              <a:rPr lang="vi-VN" b="1" i="0" dirty="0">
                <a:solidFill>
                  <a:srgbClr val="1C1E21"/>
                </a:solidFill>
                <a:effectLst/>
                <a:latin typeface="inherit"/>
              </a:rPr>
              <a:t>GraphX: </a:t>
            </a:r>
            <a:r>
              <a:rPr lang="vi-VN" b="0" i="0" dirty="0">
                <a:solidFill>
                  <a:srgbClr val="1C1E21"/>
                </a:solidFill>
                <a:effectLst/>
                <a:latin typeface="Georgia" panose="02040502050405020303" pitchFamily="18" charset="0"/>
              </a:rPr>
              <a:t>​​là một framework xử lý đồ thị phân tán. Nó cung cấp một API để thực hiện tính toán biểu đồ có thể mô hình hóa các biểu đồ do người dùng xác định bằng cách sử dụng API đã được tối ưu sẵn.</a:t>
            </a:r>
          </a:p>
          <a:p>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43</a:t>
            </a:fld>
            <a:endParaRPr lang="en-US"/>
          </a:p>
        </p:txBody>
      </p:sp>
    </p:spTree>
    <p:extLst>
      <p:ext uri="{BB962C8B-B14F-4D97-AF65-F5344CB8AC3E}">
        <p14:creationId xmlns:p14="http://schemas.microsoft.com/office/powerpoint/2010/main" val="10877046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https://www.facebook.com/legacy/notes/806633973073541/</a:t>
            </a:r>
          </a:p>
        </p:txBody>
      </p:sp>
      <p:sp>
        <p:nvSpPr>
          <p:cNvPr id="4" name="Slide Number Placeholder 3"/>
          <p:cNvSpPr>
            <a:spLocks noGrp="1"/>
          </p:cNvSpPr>
          <p:nvPr>
            <p:ph type="sldNum" sz="quarter" idx="5"/>
          </p:nvPr>
        </p:nvSpPr>
        <p:spPr/>
        <p:txBody>
          <a:bodyPr/>
          <a:lstStyle/>
          <a:p>
            <a:fld id="{E915A762-EA5E-4599-834C-2A540D48B681}" type="slidenum">
              <a:rPr lang="en-US" smtClean="0"/>
              <a:t>47</a:t>
            </a:fld>
            <a:endParaRPr lang="en-US"/>
          </a:p>
        </p:txBody>
      </p:sp>
    </p:spTree>
    <p:extLst>
      <p:ext uri="{BB962C8B-B14F-4D97-AF65-F5344CB8AC3E}">
        <p14:creationId xmlns:p14="http://schemas.microsoft.com/office/powerpoint/2010/main" val="18602725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spcAft>
                <a:spcPts val="2100"/>
              </a:spcAft>
            </a:pPr>
            <a:r>
              <a:rPr lang="vi-VN" b="0" i="0" dirty="0">
                <a:solidFill>
                  <a:srgbClr val="1C1E21"/>
                </a:solidFill>
                <a:effectLst/>
                <a:latin typeface="Georgia" panose="02040502050405020303" pitchFamily="18" charset="0"/>
              </a:rPr>
              <a:t>Tính năng và cũng là ưu điểm của Spark có thể kể ra:</a:t>
            </a:r>
          </a:p>
          <a:p>
            <a:pPr algn="l" rtl="0">
              <a:spcAft>
                <a:spcPts val="900"/>
              </a:spcAft>
              <a:buFont typeface="Arial" panose="020B0604020202020204" pitchFamily="34" charset="0"/>
              <a:buChar char="•"/>
            </a:pPr>
            <a:r>
              <a:rPr lang="vi-VN" b="1" i="0" dirty="0">
                <a:solidFill>
                  <a:srgbClr val="1C1E21"/>
                </a:solidFill>
                <a:effectLst/>
                <a:latin typeface="inherit"/>
              </a:rPr>
              <a:t>Advanced Analytics</a:t>
            </a:r>
            <a:r>
              <a:rPr lang="vi-VN" b="0" i="0" dirty="0">
                <a:solidFill>
                  <a:srgbClr val="1C1E21"/>
                </a:solidFill>
                <a:effectLst/>
                <a:latin typeface="Georgia" panose="02040502050405020303" pitchFamily="18" charset="0"/>
              </a:rPr>
              <a:t>: Spark không chỉ hỗ trợ "Map" và "Reduce ", nó còn hỗ trợ Spark truy vấn SQL, Streaming data, Machine learning (ML) và các thuật toán xử lý đồ thị đóng vai trò như một bộ công cụ phân tích dữ liệu cực kì mạnh mẽ.</a:t>
            </a:r>
          </a:p>
          <a:p>
            <a:pPr algn="l" rtl="0">
              <a:spcAft>
                <a:spcPts val="900"/>
              </a:spcAft>
              <a:buFont typeface="Arial" panose="020B0604020202020204" pitchFamily="34" charset="0"/>
              <a:buChar char="•"/>
            </a:pPr>
            <a:r>
              <a:rPr lang="vi-VN" b="1" i="0" dirty="0">
                <a:solidFill>
                  <a:srgbClr val="1C1E21"/>
                </a:solidFill>
                <a:effectLst/>
                <a:latin typeface="inherit"/>
              </a:rPr>
              <a:t>Speed</a:t>
            </a:r>
            <a:r>
              <a:rPr lang="vi-VN" b="0" i="0" dirty="0">
                <a:solidFill>
                  <a:srgbClr val="1C1E21"/>
                </a:solidFill>
                <a:effectLst/>
                <a:latin typeface="Georgia" panose="02040502050405020303" pitchFamily="18" charset="0"/>
              </a:rPr>
              <a:t>: Spark giúp chạy một ứng dụng với tốc độ rất nhanh. So với Hadoop cluster, Spark Application nến chạy trên bộ nhớ nhanh hơn tới 100 lần và nhanh hơn 10 lần khi chạy trên đĩa. Điều này có được nhờ giảm số lượng các hoạt động đọc / ghi vào ổ đĩa.</a:t>
            </a:r>
          </a:p>
          <a:p>
            <a:pPr algn="l" rtl="0">
              <a:spcAft>
                <a:spcPts val="900"/>
              </a:spcAft>
              <a:buFont typeface="Arial" panose="020B0604020202020204" pitchFamily="34" charset="0"/>
              <a:buChar char="•"/>
            </a:pPr>
            <a:r>
              <a:rPr lang="vi-VN" b="1" i="0" dirty="0">
                <a:solidFill>
                  <a:srgbClr val="1C1E21"/>
                </a:solidFill>
                <a:effectLst/>
                <a:latin typeface="inherit"/>
              </a:rPr>
              <a:t>Supports multiple languages</a:t>
            </a:r>
            <a:r>
              <a:rPr lang="vi-VN" b="0" i="0" dirty="0">
                <a:solidFill>
                  <a:srgbClr val="1C1E21"/>
                </a:solidFill>
                <a:effectLst/>
                <a:latin typeface="Georgia" panose="02040502050405020303" pitchFamily="18" charset="0"/>
              </a:rPr>
              <a:t>: Spark cung cấp built-in APIs phổ biến từ Java, Scala đến Python, R. Do đó, có thể code Spark applications với nhiều lựa chọn về ngôn ngữ lập trình. Bên cạnh đó Spark còn cung cấp rất nhiều high-level operators cho việc truy vấn dữ liệu...</a:t>
            </a:r>
          </a:p>
          <a:p>
            <a:pPr algn="l" rtl="0">
              <a:spcAft>
                <a:spcPts val="2100"/>
              </a:spcAft>
            </a:pPr>
            <a:r>
              <a:rPr lang="vi-VN" b="0" i="0" dirty="0">
                <a:solidFill>
                  <a:srgbClr val="1C1E21"/>
                </a:solidFill>
                <a:effectLst/>
                <a:latin typeface="Georgia" panose="02040502050405020303" pitchFamily="18" charset="0"/>
              </a:rPr>
              <a:t>Nhược điểm:</a:t>
            </a:r>
          </a:p>
          <a:p>
            <a:pPr algn="l" rtl="0">
              <a:spcAft>
                <a:spcPts val="900"/>
              </a:spcAft>
              <a:buFont typeface="Arial" panose="020B0604020202020204" pitchFamily="34" charset="0"/>
              <a:buChar char="•"/>
            </a:pPr>
            <a:r>
              <a:rPr lang="vi-VN" b="0" i="0" dirty="0">
                <a:solidFill>
                  <a:srgbClr val="1C1E21"/>
                </a:solidFill>
                <a:effectLst/>
                <a:latin typeface="Georgia" panose="02040502050405020303" pitchFamily="18" charset="0"/>
              </a:rPr>
              <a:t>Spark không có hệ thống Filesystem riêng, do đó, nó phụ thuộc vào một số nền tảng khác như Hadoop hoặc một nền tảng dựa trên đám mây (S3, Google Cloud Storage,...).</a:t>
            </a:r>
          </a:p>
          <a:p>
            <a:pPr algn="l" rtl="0">
              <a:spcAft>
                <a:spcPts val="900"/>
              </a:spcAft>
              <a:buFont typeface="Arial" panose="020B0604020202020204" pitchFamily="34" charset="0"/>
              <a:buChar char="•"/>
            </a:pPr>
            <a:r>
              <a:rPr lang="vi-VN" b="0" i="0" dirty="0">
                <a:solidFill>
                  <a:srgbClr val="1C1E21"/>
                </a:solidFill>
                <a:effectLst/>
                <a:latin typeface="Georgia" panose="02040502050405020303" pitchFamily="18" charset="0"/>
              </a:rPr>
              <a:t>Apache Spark đòi hỏi rất nhiều RAM để chạy trong bộ nhớ, do đó chi phí của Spark khá cao.</a:t>
            </a:r>
          </a:p>
          <a:p>
            <a:pPr algn="l" rtl="0">
              <a:spcAft>
                <a:spcPts val="900"/>
              </a:spcAft>
              <a:buFont typeface="Arial" panose="020B0604020202020204" pitchFamily="34" charset="0"/>
              <a:buChar char="•"/>
            </a:pPr>
            <a:r>
              <a:rPr lang="vi-VN" b="0" i="0" dirty="0">
                <a:solidFill>
                  <a:srgbClr val="1C1E21"/>
                </a:solidFill>
                <a:effectLst/>
                <a:latin typeface="Georgia" panose="02040502050405020303" pitchFamily="18" charset="0"/>
              </a:rPr>
              <a:t>Spark Streaming không thực sự real-time</a:t>
            </a:r>
          </a:p>
          <a:p>
            <a:pPr algn="l" rtl="0">
              <a:spcAft>
                <a:spcPts val="900"/>
              </a:spcAft>
              <a:buFont typeface="Arial" panose="020B0604020202020204" pitchFamily="34" charset="0"/>
              <a:buChar char="•"/>
            </a:pPr>
            <a:r>
              <a:rPr lang="vi-VN" b="0" i="0" dirty="0">
                <a:solidFill>
                  <a:srgbClr val="1C1E21"/>
                </a:solidFill>
                <a:effectLst/>
                <a:latin typeface="Georgia" panose="02040502050405020303" pitchFamily="18" charset="0"/>
              </a:rPr>
              <a:t>Việc tối ưu hóa, tinh chỉnh để phù hợp với các bộ dữ liệu cụ thể cần có kinh nghiệm và vẫn cần thực hiện thủ công.</a:t>
            </a:r>
          </a:p>
          <a:p>
            <a:endParaRPr lang="en-US" dirty="0"/>
          </a:p>
        </p:txBody>
      </p:sp>
      <p:sp>
        <p:nvSpPr>
          <p:cNvPr id="4" name="Slide Number Placeholder 3"/>
          <p:cNvSpPr>
            <a:spLocks noGrp="1"/>
          </p:cNvSpPr>
          <p:nvPr>
            <p:ph type="sldNum" sz="quarter" idx="5"/>
          </p:nvPr>
        </p:nvSpPr>
        <p:spPr/>
        <p:txBody>
          <a:bodyPr/>
          <a:lstStyle/>
          <a:p>
            <a:fld id="{E915A762-EA5E-4599-834C-2A540D48B681}" type="slidenum">
              <a:rPr lang="en-US" smtClean="0"/>
              <a:t>52</a:t>
            </a:fld>
            <a:endParaRPr lang="en-US"/>
          </a:p>
        </p:txBody>
      </p:sp>
    </p:spTree>
    <p:extLst>
      <p:ext uri="{BB962C8B-B14F-4D97-AF65-F5344CB8AC3E}">
        <p14:creationId xmlns:p14="http://schemas.microsoft.com/office/powerpoint/2010/main" val="22272685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915A762-EA5E-4599-834C-2A540D48B681}" type="slidenum">
              <a:rPr lang="en-US" smtClean="0"/>
              <a:t>58</a:t>
            </a:fld>
            <a:endParaRPr lang="en-US"/>
          </a:p>
        </p:txBody>
      </p:sp>
    </p:spTree>
    <p:extLst>
      <p:ext uri="{BB962C8B-B14F-4D97-AF65-F5344CB8AC3E}">
        <p14:creationId xmlns:p14="http://schemas.microsoft.com/office/powerpoint/2010/main" val="3537369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84725" y="503825"/>
            <a:ext cx="8374549" cy="452119"/>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Trebuchet MS"/>
                <a:cs typeface="Trebuchet MS"/>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045700"/>
            <a:ext cx="9144000" cy="98425"/>
          </a:xfrm>
          <a:custGeom>
            <a:avLst/>
            <a:gdLst/>
            <a:ahLst/>
            <a:cxnLst/>
            <a:rect l="l" t="t" r="r" b="b"/>
            <a:pathLst>
              <a:path w="9144000" h="98425">
                <a:moveTo>
                  <a:pt x="9143999" y="97799"/>
                </a:moveTo>
                <a:lnTo>
                  <a:pt x="0" y="97799"/>
                </a:lnTo>
                <a:lnTo>
                  <a:pt x="0" y="0"/>
                </a:lnTo>
                <a:lnTo>
                  <a:pt x="9143999" y="0"/>
                </a:lnTo>
                <a:lnTo>
                  <a:pt x="9143999" y="97799"/>
                </a:lnTo>
                <a:close/>
              </a:path>
            </a:pathLst>
          </a:custGeom>
          <a:solidFill>
            <a:srgbClr val="63D197"/>
          </a:solidFill>
        </p:spPr>
        <p:txBody>
          <a:bodyPr wrap="square" lIns="0" tIns="0" rIns="0" bIns="0" rtlCol="0"/>
          <a:lstStyle/>
          <a:p>
            <a:endParaRPr/>
          </a:p>
        </p:txBody>
      </p:sp>
      <p:sp>
        <p:nvSpPr>
          <p:cNvPr id="2" name="Holder 2"/>
          <p:cNvSpPr>
            <a:spLocks noGrp="1"/>
          </p:cNvSpPr>
          <p:nvPr>
            <p:ph type="title"/>
          </p:nvPr>
        </p:nvSpPr>
        <p:spPr>
          <a:xfrm>
            <a:off x="2834883" y="1163216"/>
            <a:ext cx="3474232" cy="1490345"/>
          </a:xfrm>
          <a:prstGeom prst="rect">
            <a:avLst/>
          </a:prstGeom>
        </p:spPr>
        <p:txBody>
          <a:bodyPr wrap="square" lIns="0" tIns="0" rIns="0" bIns="0">
            <a:spAutoFit/>
          </a:bodyPr>
          <a:lstStyle>
            <a:lvl1pPr>
              <a:defRPr sz="4800" b="0" i="0">
                <a:solidFill>
                  <a:schemeClr val="bg1"/>
                </a:solidFill>
                <a:latin typeface="Trebuchet MS"/>
                <a:cs typeface="Trebuchet MS"/>
              </a:defRPr>
            </a:lvl1pPr>
          </a:lstStyle>
          <a:p>
            <a:endParaRPr/>
          </a:p>
        </p:txBody>
      </p:sp>
      <p:sp>
        <p:nvSpPr>
          <p:cNvPr id="3" name="Holder 3"/>
          <p:cNvSpPr>
            <a:spLocks noGrp="1"/>
          </p:cNvSpPr>
          <p:nvPr>
            <p:ph type="body" idx="1"/>
          </p:nvPr>
        </p:nvSpPr>
        <p:spPr>
          <a:xfrm>
            <a:off x="168237" y="2382260"/>
            <a:ext cx="5471160" cy="13157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2/15/2025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jp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202729"/>
          </a:solidFill>
        </p:spPr>
        <p:txBody>
          <a:bodyPr wrap="square" lIns="0" tIns="0" rIns="0" bIns="0" rtlCol="0"/>
          <a:lstStyle/>
          <a:p>
            <a:endParaRPr/>
          </a:p>
        </p:txBody>
      </p:sp>
      <p:sp>
        <p:nvSpPr>
          <p:cNvPr id="3" name="object 3"/>
          <p:cNvSpPr/>
          <p:nvPr/>
        </p:nvSpPr>
        <p:spPr>
          <a:xfrm>
            <a:off x="0" y="2998149"/>
            <a:ext cx="9144000" cy="0"/>
          </a:xfrm>
          <a:custGeom>
            <a:avLst/>
            <a:gdLst/>
            <a:ahLst/>
            <a:cxnLst/>
            <a:rect l="l" t="t" r="r" b="b"/>
            <a:pathLst>
              <a:path w="9144000">
                <a:moveTo>
                  <a:pt x="0" y="0"/>
                </a:moveTo>
                <a:lnTo>
                  <a:pt x="9143999" y="0"/>
                </a:lnTo>
              </a:path>
            </a:pathLst>
          </a:custGeom>
          <a:ln w="19049">
            <a:solidFill>
              <a:srgbClr val="63D197"/>
            </a:solidFill>
          </a:ln>
        </p:spPr>
        <p:txBody>
          <a:bodyPr wrap="square" lIns="0" tIns="0" rIns="0" bIns="0" rtlCol="0"/>
          <a:lstStyle/>
          <a:p>
            <a:endParaRPr/>
          </a:p>
        </p:txBody>
      </p:sp>
      <p:sp>
        <p:nvSpPr>
          <p:cNvPr id="4" name="object 4"/>
          <p:cNvSpPr txBox="1">
            <a:spLocks noGrp="1"/>
          </p:cNvSpPr>
          <p:nvPr>
            <p:ph type="title"/>
          </p:nvPr>
        </p:nvSpPr>
        <p:spPr>
          <a:xfrm>
            <a:off x="2834883" y="1163216"/>
            <a:ext cx="3474232" cy="751488"/>
          </a:xfrm>
          <a:prstGeom prst="rect">
            <a:avLst/>
          </a:prstGeom>
        </p:spPr>
        <p:txBody>
          <a:bodyPr vert="horz" wrap="square" lIns="0" tIns="12700" rIns="0" bIns="0" rtlCol="0">
            <a:spAutoFit/>
          </a:bodyPr>
          <a:lstStyle/>
          <a:p>
            <a:pPr marL="85090" algn="ctr">
              <a:lnSpc>
                <a:spcPct val="100000"/>
              </a:lnSpc>
              <a:spcBef>
                <a:spcPts val="15"/>
              </a:spcBef>
            </a:pPr>
            <a:r>
              <a:rPr spc="65" dirty="0"/>
              <a:t>Spark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867251" y="151459"/>
            <a:ext cx="3878199" cy="1488869"/>
          </a:xfrm>
          <a:prstGeom prst="rect">
            <a:avLst/>
          </a:prstGeom>
        </p:spPr>
        <p:txBody>
          <a:bodyPr vert="horz" wrap="square" lIns="0" tIns="11430" rIns="0" bIns="0" rtlCol="0">
            <a:spAutoFit/>
          </a:bodyPr>
          <a:lstStyle/>
          <a:p>
            <a:pPr marL="11430">
              <a:spcBef>
                <a:spcPts val="90"/>
              </a:spcBef>
            </a:pPr>
            <a:r>
              <a:rPr spc="-9" dirty="0"/>
              <a:t>Learning</a:t>
            </a:r>
            <a:r>
              <a:rPr spc="-81" dirty="0"/>
              <a:t> </a:t>
            </a:r>
            <a:r>
              <a:rPr spc="-5" dirty="0"/>
              <a:t>objectives</a:t>
            </a:r>
          </a:p>
        </p:txBody>
      </p:sp>
      <p:sp>
        <p:nvSpPr>
          <p:cNvPr id="4" name="object 4"/>
          <p:cNvSpPr txBox="1"/>
          <p:nvPr/>
        </p:nvSpPr>
        <p:spPr>
          <a:xfrm>
            <a:off x="838722" y="1113047"/>
            <a:ext cx="7203186" cy="2108526"/>
          </a:xfrm>
          <a:prstGeom prst="rect">
            <a:avLst/>
          </a:prstGeom>
        </p:spPr>
        <p:txBody>
          <a:bodyPr vert="horz" wrap="square" lIns="0" tIns="11430" rIns="0" bIns="0" rtlCol="0">
            <a:spAutoFit/>
          </a:bodyPr>
          <a:lstStyle/>
          <a:p>
            <a:pPr marL="348044" marR="322326" indent="-337185">
              <a:spcBef>
                <a:spcPts val="90"/>
              </a:spcBef>
              <a:buChar char="●"/>
              <a:tabLst>
                <a:tab pos="348044" algn="l"/>
                <a:tab pos="348615" algn="l"/>
              </a:tabLst>
            </a:pPr>
            <a:r>
              <a:rPr sz="2160" b="1" spc="-5" dirty="0">
                <a:latin typeface="Arial"/>
                <a:cs typeface="Arial"/>
              </a:rPr>
              <a:t>Be</a:t>
            </a:r>
            <a:r>
              <a:rPr sz="2160" b="1" spc="-14" dirty="0">
                <a:latin typeface="Arial"/>
                <a:cs typeface="Arial"/>
              </a:rPr>
              <a:t> </a:t>
            </a:r>
            <a:r>
              <a:rPr sz="2160" b="1" dirty="0">
                <a:latin typeface="Arial"/>
                <a:cs typeface="Arial"/>
              </a:rPr>
              <a:t>familiar</a:t>
            </a:r>
            <a:r>
              <a:rPr sz="2160" b="1" spc="-14" dirty="0">
                <a:latin typeface="Arial"/>
                <a:cs typeface="Arial"/>
              </a:rPr>
              <a:t> </a:t>
            </a:r>
            <a:r>
              <a:rPr sz="2160" b="1" spc="-5" dirty="0">
                <a:latin typeface="Arial"/>
                <a:cs typeface="Arial"/>
              </a:rPr>
              <a:t>with</a:t>
            </a:r>
            <a:r>
              <a:rPr sz="2160" b="1" spc="-18" dirty="0">
                <a:latin typeface="Arial"/>
                <a:cs typeface="Arial"/>
              </a:rPr>
              <a:t> </a:t>
            </a:r>
            <a:r>
              <a:rPr sz="2160" b="1" spc="-5" dirty="0">
                <a:latin typeface="Arial"/>
                <a:cs typeface="Arial"/>
              </a:rPr>
              <a:t>big</a:t>
            </a:r>
            <a:r>
              <a:rPr sz="2160" b="1" spc="-18" dirty="0">
                <a:latin typeface="Arial"/>
                <a:cs typeface="Arial"/>
              </a:rPr>
              <a:t> </a:t>
            </a:r>
            <a:r>
              <a:rPr sz="2160" b="1" spc="-5" dirty="0">
                <a:latin typeface="Arial"/>
                <a:cs typeface="Arial"/>
              </a:rPr>
              <a:t>data</a:t>
            </a:r>
            <a:r>
              <a:rPr sz="2160" b="1" spc="-18" dirty="0">
                <a:latin typeface="Arial"/>
                <a:cs typeface="Arial"/>
              </a:rPr>
              <a:t> </a:t>
            </a:r>
            <a:r>
              <a:rPr sz="2160" b="1" spc="-5" dirty="0">
                <a:latin typeface="Arial"/>
                <a:cs typeface="Arial"/>
              </a:rPr>
              <a:t>processing</a:t>
            </a:r>
            <a:r>
              <a:rPr sz="2160" b="1" spc="-18" dirty="0">
                <a:latin typeface="Arial"/>
                <a:cs typeface="Arial"/>
              </a:rPr>
              <a:t> </a:t>
            </a:r>
            <a:r>
              <a:rPr sz="2160" b="1" spc="-5" dirty="0">
                <a:latin typeface="Arial"/>
                <a:cs typeface="Arial"/>
              </a:rPr>
              <a:t>models</a:t>
            </a:r>
            <a:r>
              <a:rPr sz="2160" b="1" spc="-14" dirty="0">
                <a:latin typeface="Arial"/>
                <a:cs typeface="Arial"/>
              </a:rPr>
              <a:t> </a:t>
            </a:r>
            <a:r>
              <a:rPr sz="2160" b="1" spc="-5" dirty="0">
                <a:latin typeface="Arial"/>
                <a:cs typeface="Arial"/>
              </a:rPr>
              <a:t>using </a:t>
            </a:r>
            <a:r>
              <a:rPr sz="2160" b="1" spc="-590" dirty="0">
                <a:latin typeface="Arial"/>
                <a:cs typeface="Arial"/>
              </a:rPr>
              <a:t> </a:t>
            </a:r>
            <a:r>
              <a:rPr sz="2160" b="1" spc="-5" dirty="0">
                <a:latin typeface="Arial"/>
                <a:cs typeface="Arial"/>
              </a:rPr>
              <a:t>multiple</a:t>
            </a:r>
            <a:r>
              <a:rPr sz="2160" b="1" spc="-9" dirty="0">
                <a:latin typeface="Arial"/>
                <a:cs typeface="Arial"/>
              </a:rPr>
              <a:t> </a:t>
            </a:r>
            <a:r>
              <a:rPr sz="2160" b="1" spc="-5" dirty="0">
                <a:latin typeface="Arial"/>
                <a:cs typeface="Arial"/>
              </a:rPr>
              <a:t>nodes/clusters</a:t>
            </a:r>
            <a:endParaRPr sz="2160" dirty="0">
              <a:latin typeface="Arial"/>
              <a:cs typeface="Arial"/>
            </a:endParaRPr>
          </a:p>
          <a:p>
            <a:pPr marL="348044" marR="351473" indent="-337185">
              <a:spcBef>
                <a:spcPts val="432"/>
              </a:spcBef>
              <a:buChar char="●"/>
              <a:tabLst>
                <a:tab pos="348044" algn="l"/>
                <a:tab pos="348615" algn="l"/>
              </a:tabLst>
            </a:pPr>
            <a:r>
              <a:rPr sz="2160" b="1" spc="-5" dirty="0">
                <a:latin typeface="Arial"/>
                <a:cs typeface="Arial"/>
              </a:rPr>
              <a:t>Understand</a:t>
            </a:r>
            <a:r>
              <a:rPr sz="2160" b="1" spc="-18" dirty="0">
                <a:latin typeface="Arial"/>
                <a:cs typeface="Arial"/>
              </a:rPr>
              <a:t> </a:t>
            </a:r>
            <a:r>
              <a:rPr sz="2160" b="1" dirty="0">
                <a:latin typeface="Arial"/>
                <a:cs typeface="Arial"/>
              </a:rPr>
              <a:t>the</a:t>
            </a:r>
            <a:r>
              <a:rPr sz="2160" b="1" spc="-18" dirty="0">
                <a:latin typeface="Arial"/>
                <a:cs typeface="Arial"/>
              </a:rPr>
              <a:t> </a:t>
            </a:r>
            <a:r>
              <a:rPr sz="2160" b="1" spc="-5" dirty="0">
                <a:latin typeface="Arial"/>
                <a:cs typeface="Arial"/>
              </a:rPr>
              <a:t>Spark</a:t>
            </a:r>
            <a:r>
              <a:rPr sz="2160" b="1" spc="-18" dirty="0">
                <a:latin typeface="Arial"/>
                <a:cs typeface="Arial"/>
              </a:rPr>
              <a:t> </a:t>
            </a:r>
            <a:r>
              <a:rPr sz="2160" b="1" spc="-5" dirty="0">
                <a:latin typeface="Arial"/>
                <a:cs typeface="Arial"/>
              </a:rPr>
              <a:t>programming</a:t>
            </a:r>
            <a:r>
              <a:rPr sz="2160" b="1" spc="-23" dirty="0">
                <a:latin typeface="Arial"/>
                <a:cs typeface="Arial"/>
              </a:rPr>
              <a:t> </a:t>
            </a:r>
            <a:r>
              <a:rPr sz="2160" b="1" spc="-5" dirty="0">
                <a:latin typeface="Arial"/>
                <a:cs typeface="Arial"/>
              </a:rPr>
              <a:t>model</a:t>
            </a:r>
            <a:r>
              <a:rPr sz="2160" b="1" spc="-14" dirty="0">
                <a:latin typeface="Arial"/>
                <a:cs typeface="Arial"/>
              </a:rPr>
              <a:t> </a:t>
            </a:r>
            <a:r>
              <a:rPr sz="2160" b="1" dirty="0">
                <a:latin typeface="Arial"/>
                <a:cs typeface="Arial"/>
              </a:rPr>
              <a:t>for</a:t>
            </a:r>
            <a:r>
              <a:rPr sz="2160" b="1" spc="-18" dirty="0">
                <a:latin typeface="Arial"/>
                <a:cs typeface="Arial"/>
              </a:rPr>
              <a:t> </a:t>
            </a:r>
            <a:r>
              <a:rPr sz="2160" b="1" spc="-5" dirty="0">
                <a:latin typeface="Arial"/>
                <a:cs typeface="Arial"/>
              </a:rPr>
              <a:t>big </a:t>
            </a:r>
            <a:r>
              <a:rPr sz="2160" b="1" spc="-585" dirty="0">
                <a:latin typeface="Arial"/>
                <a:cs typeface="Arial"/>
              </a:rPr>
              <a:t> </a:t>
            </a:r>
            <a:r>
              <a:rPr sz="2160" b="1" spc="-5" dirty="0">
                <a:latin typeface="Arial"/>
                <a:cs typeface="Arial"/>
              </a:rPr>
              <a:t>data</a:t>
            </a:r>
            <a:r>
              <a:rPr sz="2160" b="1" spc="-14" dirty="0">
                <a:latin typeface="Arial"/>
                <a:cs typeface="Arial"/>
              </a:rPr>
              <a:t> </a:t>
            </a:r>
            <a:r>
              <a:rPr sz="2160" b="1" spc="-5" dirty="0">
                <a:latin typeface="Arial"/>
                <a:cs typeface="Arial"/>
              </a:rPr>
              <a:t>processing</a:t>
            </a:r>
            <a:endParaRPr sz="2160" dirty="0">
              <a:latin typeface="Arial"/>
              <a:cs typeface="Arial"/>
            </a:endParaRPr>
          </a:p>
          <a:p>
            <a:pPr marL="348044" marR="4572" indent="-337185">
              <a:spcBef>
                <a:spcPts val="432"/>
              </a:spcBef>
              <a:buChar char="●"/>
              <a:tabLst>
                <a:tab pos="348044" algn="l"/>
                <a:tab pos="348615" algn="l"/>
              </a:tabLst>
            </a:pPr>
            <a:r>
              <a:rPr sz="2160" b="1" spc="-5" dirty="0">
                <a:latin typeface="Arial"/>
                <a:cs typeface="Arial"/>
              </a:rPr>
              <a:t>Able</a:t>
            </a:r>
            <a:r>
              <a:rPr sz="2160" b="1" spc="-18" dirty="0">
                <a:latin typeface="Arial"/>
                <a:cs typeface="Arial"/>
              </a:rPr>
              <a:t> </a:t>
            </a:r>
            <a:r>
              <a:rPr sz="2160" b="1" dirty="0">
                <a:latin typeface="Arial"/>
                <a:cs typeface="Arial"/>
              </a:rPr>
              <a:t>to</a:t>
            </a:r>
            <a:r>
              <a:rPr sz="2160" b="1" spc="-18" dirty="0">
                <a:latin typeface="Arial"/>
                <a:cs typeface="Arial"/>
              </a:rPr>
              <a:t> </a:t>
            </a:r>
            <a:r>
              <a:rPr sz="2160" b="1" spc="-5" dirty="0">
                <a:latin typeface="Arial"/>
                <a:cs typeface="Arial"/>
              </a:rPr>
              <a:t>perform</a:t>
            </a:r>
            <a:r>
              <a:rPr sz="2160" b="1" spc="-18" dirty="0">
                <a:latin typeface="Arial"/>
                <a:cs typeface="Arial"/>
              </a:rPr>
              <a:t> </a:t>
            </a:r>
            <a:r>
              <a:rPr sz="2160" b="1" spc="-5" dirty="0">
                <a:latin typeface="Arial"/>
                <a:cs typeface="Arial"/>
              </a:rPr>
              <a:t>practical</a:t>
            </a:r>
            <a:r>
              <a:rPr sz="2160" b="1" spc="-23" dirty="0">
                <a:latin typeface="Arial"/>
                <a:cs typeface="Arial"/>
              </a:rPr>
              <a:t> </a:t>
            </a:r>
            <a:r>
              <a:rPr sz="2160" b="1" spc="-5" dirty="0">
                <a:latin typeface="Arial"/>
                <a:cs typeface="Arial"/>
              </a:rPr>
              <a:t>programming</a:t>
            </a:r>
            <a:r>
              <a:rPr sz="2160" b="1" spc="-23" dirty="0">
                <a:latin typeface="Arial"/>
                <a:cs typeface="Arial"/>
              </a:rPr>
              <a:t> </a:t>
            </a:r>
            <a:r>
              <a:rPr sz="2160" b="1" dirty="0">
                <a:latin typeface="Arial"/>
                <a:cs typeface="Arial"/>
              </a:rPr>
              <a:t>features</a:t>
            </a:r>
            <a:r>
              <a:rPr sz="2160" b="1" spc="-14" dirty="0">
                <a:latin typeface="Arial"/>
                <a:cs typeface="Arial"/>
              </a:rPr>
              <a:t> </a:t>
            </a:r>
            <a:r>
              <a:rPr sz="2160" b="1" spc="-5" dirty="0">
                <a:latin typeface="Arial"/>
                <a:cs typeface="Arial"/>
              </a:rPr>
              <a:t>with </a:t>
            </a:r>
            <a:r>
              <a:rPr sz="2160" b="1" spc="-590" dirty="0">
                <a:latin typeface="Arial"/>
                <a:cs typeface="Arial"/>
              </a:rPr>
              <a:t> </a:t>
            </a:r>
            <a:r>
              <a:rPr sz="2160" b="1" spc="-5" dirty="0">
                <a:latin typeface="Arial"/>
                <a:cs typeface="Arial"/>
              </a:rPr>
              <a:t>Apache</a:t>
            </a:r>
            <a:r>
              <a:rPr sz="2160" b="1" spc="-9" dirty="0">
                <a:latin typeface="Arial"/>
                <a:cs typeface="Arial"/>
              </a:rPr>
              <a:t> </a:t>
            </a:r>
            <a:r>
              <a:rPr sz="2160" b="1" spc="-5" dirty="0">
                <a:latin typeface="Arial"/>
                <a:cs typeface="Arial"/>
              </a:rPr>
              <a:t>Spark</a:t>
            </a:r>
            <a:endParaRPr sz="2160" dirty="0">
              <a:latin typeface="Arial"/>
              <a:cs typeface="Arial"/>
            </a:endParaRPr>
          </a:p>
        </p:txBody>
      </p:sp>
      <p:sp>
        <p:nvSpPr>
          <p:cNvPr id="5" name="object 3">
            <a:extLst>
              <a:ext uri="{FF2B5EF4-FFF2-40B4-BE49-F238E27FC236}">
                <a16:creationId xmlns:a16="http://schemas.microsoft.com/office/drawing/2014/main" id="{C74BAB36-E389-F0AB-1844-1A57D0565B7C}"/>
              </a:ext>
            </a:extLst>
          </p:cNvPr>
          <p:cNvSpPr txBox="1">
            <a:spLocks/>
          </p:cNvSpPr>
          <p:nvPr/>
        </p:nvSpPr>
        <p:spPr>
          <a:xfrm>
            <a:off x="384724" y="503825"/>
            <a:ext cx="5254075"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0" dirty="0">
                <a:solidFill>
                  <a:srgbClr val="202729"/>
                </a:solidFill>
              </a:rPr>
              <a:t>Leaning objective</a:t>
            </a:r>
            <a:endParaRPr lang="en-US" sz="2800" kern="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5248" y="1081100"/>
            <a:ext cx="7373351" cy="3581109"/>
          </a:xfrm>
          <a:prstGeom prst="rect">
            <a:avLst/>
          </a:prstGeom>
        </p:spPr>
        <p:txBody>
          <a:bodyPr vert="horz" wrap="square" lIns="0" tIns="147955" rIns="0" bIns="0" rtlCol="0">
            <a:spAutoFit/>
          </a:bodyPr>
          <a:lstStyle/>
          <a:p>
            <a:pPr marL="379095" indent="-367030">
              <a:lnSpc>
                <a:spcPct val="100000"/>
              </a:lnSpc>
              <a:spcBef>
                <a:spcPts val="1165"/>
              </a:spcBef>
              <a:buFont typeface="Arial"/>
              <a:buChar char="●"/>
              <a:tabLst>
                <a:tab pos="379095" algn="l"/>
                <a:tab pos="379730" algn="l"/>
              </a:tabLst>
            </a:pPr>
            <a:r>
              <a:rPr lang="en-US" sz="2400" b="1" spc="5" dirty="0">
                <a:solidFill>
                  <a:srgbClr val="616161"/>
                </a:solidFill>
                <a:latin typeface="Trebuchet MS"/>
                <a:cs typeface="Trebuchet MS"/>
              </a:rPr>
              <a:t>Why </a:t>
            </a:r>
            <a:r>
              <a:rPr sz="2400" b="1" spc="5" dirty="0">
                <a:solidFill>
                  <a:srgbClr val="616161"/>
                </a:solidFill>
                <a:latin typeface="Trebuchet MS"/>
                <a:cs typeface="Trebuchet MS"/>
              </a:rPr>
              <a:t>Spark</a:t>
            </a:r>
            <a:r>
              <a:rPr lang="en-US" sz="2400" b="1" spc="5" dirty="0">
                <a:solidFill>
                  <a:srgbClr val="616161"/>
                </a:solidFill>
                <a:latin typeface="Trebuchet MS"/>
                <a:cs typeface="Trebuchet MS"/>
              </a:rPr>
              <a:t> ?</a:t>
            </a:r>
            <a:endParaRPr sz="2400" dirty="0">
              <a:latin typeface="Trebuchet MS"/>
              <a:cs typeface="Trebuchet MS"/>
            </a:endParaRPr>
          </a:p>
          <a:p>
            <a:pPr marL="379095" indent="-367030">
              <a:lnSpc>
                <a:spcPct val="100000"/>
              </a:lnSpc>
              <a:spcBef>
                <a:spcPts val="1065"/>
              </a:spcBef>
              <a:buFont typeface="Arial MT"/>
              <a:buChar char="●"/>
              <a:tabLst>
                <a:tab pos="379095" algn="l"/>
                <a:tab pos="379730" algn="l"/>
              </a:tabLst>
            </a:pPr>
            <a:r>
              <a:rPr sz="2400" spc="25" dirty="0">
                <a:solidFill>
                  <a:srgbClr val="616161"/>
                </a:solidFill>
                <a:latin typeface="Trebuchet MS"/>
                <a:cs typeface="Trebuchet MS"/>
              </a:rPr>
              <a:t>Spark</a:t>
            </a:r>
            <a:r>
              <a:rPr sz="2400" spc="-120" dirty="0">
                <a:solidFill>
                  <a:srgbClr val="616161"/>
                </a:solidFill>
                <a:latin typeface="Trebuchet MS"/>
                <a:cs typeface="Trebuchet MS"/>
              </a:rPr>
              <a:t> </a:t>
            </a:r>
            <a:r>
              <a:rPr lang="en-US" sz="2400" spc="30" dirty="0">
                <a:solidFill>
                  <a:srgbClr val="616161"/>
                </a:solidFill>
                <a:latin typeface="Trebuchet MS"/>
                <a:cs typeface="Trebuchet MS"/>
              </a:rPr>
              <a:t>Architecture and Spark Core</a:t>
            </a:r>
            <a:endParaRPr sz="2400" dirty="0">
              <a:latin typeface="Trebuchet MS"/>
              <a:cs typeface="Trebuchet MS"/>
            </a:endParaRPr>
          </a:p>
          <a:p>
            <a:pPr marL="379095" indent="-367030">
              <a:lnSpc>
                <a:spcPct val="100000"/>
              </a:lnSpc>
              <a:spcBef>
                <a:spcPts val="1065"/>
              </a:spcBef>
              <a:buFont typeface="Arial MT"/>
              <a:buChar char="●"/>
              <a:tabLst>
                <a:tab pos="379095" algn="l"/>
                <a:tab pos="379730" algn="l"/>
              </a:tabLst>
            </a:pPr>
            <a:r>
              <a:rPr lang="en-US" sz="2400" spc="-25" dirty="0">
                <a:solidFill>
                  <a:srgbClr val="616161"/>
                </a:solidFill>
                <a:latin typeface="Trebuchet MS"/>
                <a:cs typeface="Trebuchet MS"/>
              </a:rPr>
              <a:t>RDD and its operations</a:t>
            </a:r>
          </a:p>
          <a:p>
            <a:pPr marL="379095" indent="-367030">
              <a:lnSpc>
                <a:spcPct val="100000"/>
              </a:lnSpc>
              <a:spcBef>
                <a:spcPts val="1065"/>
              </a:spcBef>
              <a:buFont typeface="Arial MT"/>
              <a:buChar char="●"/>
              <a:tabLst>
                <a:tab pos="379095" algn="l"/>
                <a:tab pos="379730" algn="l"/>
              </a:tabLst>
            </a:pPr>
            <a:r>
              <a:rPr lang="en-US" sz="2400" spc="-25" dirty="0">
                <a:solidFill>
                  <a:srgbClr val="616161"/>
                </a:solidFill>
                <a:latin typeface="Trebuchet MS"/>
                <a:cs typeface="Trebuchet MS"/>
              </a:rPr>
              <a:t>Lazy evaluation in Spark</a:t>
            </a:r>
            <a:endParaRPr sz="2400" dirty="0">
              <a:latin typeface="Trebuchet MS"/>
              <a:cs typeface="Trebuchet MS"/>
            </a:endParaRPr>
          </a:p>
          <a:p>
            <a:pPr marL="379095" indent="-367030">
              <a:lnSpc>
                <a:spcPct val="100000"/>
              </a:lnSpc>
              <a:spcBef>
                <a:spcPts val="1065"/>
              </a:spcBef>
              <a:buFont typeface="Arial MT"/>
              <a:buChar char="●"/>
              <a:tabLst>
                <a:tab pos="379095" algn="l"/>
                <a:tab pos="379730" algn="l"/>
              </a:tabLst>
            </a:pPr>
            <a:r>
              <a:rPr sz="2400" spc="25" dirty="0">
                <a:solidFill>
                  <a:srgbClr val="616161"/>
                </a:solidFill>
                <a:latin typeface="Trebuchet MS"/>
                <a:cs typeface="Trebuchet MS"/>
              </a:rPr>
              <a:t>Spark</a:t>
            </a:r>
            <a:r>
              <a:rPr sz="2400" spc="-80" dirty="0">
                <a:solidFill>
                  <a:srgbClr val="616161"/>
                </a:solidFill>
                <a:latin typeface="Trebuchet MS"/>
                <a:cs typeface="Trebuchet MS"/>
              </a:rPr>
              <a:t> </a:t>
            </a:r>
            <a:r>
              <a:rPr sz="2400" spc="-50" dirty="0">
                <a:solidFill>
                  <a:srgbClr val="616161"/>
                </a:solidFill>
                <a:latin typeface="Trebuchet MS"/>
                <a:cs typeface="Trebuchet MS"/>
              </a:rPr>
              <a:t>vs.</a:t>
            </a:r>
            <a:r>
              <a:rPr sz="2400" spc="-80" dirty="0">
                <a:solidFill>
                  <a:srgbClr val="616161"/>
                </a:solidFill>
                <a:latin typeface="Trebuchet MS"/>
                <a:cs typeface="Trebuchet MS"/>
              </a:rPr>
              <a:t> </a:t>
            </a:r>
            <a:r>
              <a:rPr sz="2400" spc="45" dirty="0">
                <a:solidFill>
                  <a:srgbClr val="616161"/>
                </a:solidFill>
                <a:latin typeface="Trebuchet MS"/>
                <a:cs typeface="Trebuchet MS"/>
              </a:rPr>
              <a:t>Hadoop</a:t>
            </a:r>
            <a:endParaRPr sz="2400" dirty="0">
              <a:latin typeface="Trebuchet MS"/>
              <a:cs typeface="Trebuchet MS"/>
            </a:endParaRPr>
          </a:p>
          <a:p>
            <a:pPr marL="379095" indent="-367030">
              <a:lnSpc>
                <a:spcPct val="100000"/>
              </a:lnSpc>
              <a:spcBef>
                <a:spcPts val="1065"/>
              </a:spcBef>
              <a:buFont typeface="Arial MT"/>
              <a:buChar char="●"/>
              <a:tabLst>
                <a:tab pos="379095" algn="l"/>
                <a:tab pos="379730" algn="l"/>
              </a:tabLst>
            </a:pPr>
            <a:r>
              <a:rPr sz="2400" spc="25" dirty="0">
                <a:solidFill>
                  <a:srgbClr val="616161"/>
                </a:solidFill>
                <a:latin typeface="Trebuchet MS"/>
                <a:cs typeface="Trebuchet MS"/>
              </a:rPr>
              <a:t>Spark</a:t>
            </a:r>
            <a:r>
              <a:rPr sz="2400" spc="-105" dirty="0">
                <a:solidFill>
                  <a:srgbClr val="616161"/>
                </a:solidFill>
                <a:latin typeface="Trebuchet MS"/>
                <a:cs typeface="Trebuchet MS"/>
              </a:rPr>
              <a:t> </a:t>
            </a:r>
            <a:r>
              <a:rPr sz="2400" spc="75" dirty="0">
                <a:solidFill>
                  <a:srgbClr val="616161"/>
                </a:solidFill>
                <a:latin typeface="Trebuchet MS"/>
                <a:cs typeface="Trebuchet MS"/>
              </a:rPr>
              <a:t>Use</a:t>
            </a:r>
            <a:r>
              <a:rPr sz="2400" spc="-100" dirty="0">
                <a:solidFill>
                  <a:srgbClr val="616161"/>
                </a:solidFill>
                <a:latin typeface="Trebuchet MS"/>
                <a:cs typeface="Trebuchet MS"/>
              </a:rPr>
              <a:t> </a:t>
            </a:r>
            <a:r>
              <a:rPr sz="2400" spc="75" dirty="0">
                <a:solidFill>
                  <a:srgbClr val="616161"/>
                </a:solidFill>
                <a:latin typeface="Trebuchet MS"/>
                <a:cs typeface="Trebuchet MS"/>
              </a:rPr>
              <a:t>Cases</a:t>
            </a:r>
            <a:endParaRPr sz="2400" dirty="0">
              <a:latin typeface="Trebuchet MS"/>
              <a:cs typeface="Trebuchet MS"/>
            </a:endParaRPr>
          </a:p>
          <a:p>
            <a:pPr marL="379095" indent="-367030">
              <a:lnSpc>
                <a:spcPct val="100000"/>
              </a:lnSpc>
              <a:spcBef>
                <a:spcPts val="1065"/>
              </a:spcBef>
              <a:buFont typeface="Arial MT"/>
              <a:buChar char="●"/>
              <a:tabLst>
                <a:tab pos="379095" algn="l"/>
                <a:tab pos="379730" algn="l"/>
              </a:tabLst>
            </a:pPr>
            <a:r>
              <a:rPr sz="2400" spc="25" dirty="0">
                <a:solidFill>
                  <a:srgbClr val="616161"/>
                </a:solidFill>
                <a:latin typeface="Trebuchet MS"/>
                <a:cs typeface="Trebuchet MS"/>
              </a:rPr>
              <a:t>Spark</a:t>
            </a:r>
            <a:r>
              <a:rPr sz="2400" spc="-105" dirty="0">
                <a:solidFill>
                  <a:srgbClr val="616161"/>
                </a:solidFill>
                <a:latin typeface="Trebuchet MS"/>
                <a:cs typeface="Trebuchet MS"/>
              </a:rPr>
              <a:t> </a:t>
            </a:r>
            <a:r>
              <a:rPr sz="2400" spc="-5" dirty="0">
                <a:solidFill>
                  <a:srgbClr val="616161"/>
                </a:solidFill>
                <a:latin typeface="Trebuchet MS"/>
                <a:cs typeface="Trebuchet MS"/>
              </a:rPr>
              <a:t>Programming</a:t>
            </a:r>
            <a:endParaRPr sz="2400" dirty="0">
              <a:latin typeface="Trebuchet MS"/>
              <a:cs typeface="Trebuchet MS"/>
            </a:endParaRPr>
          </a:p>
        </p:txBody>
      </p:sp>
      <p:sp>
        <p:nvSpPr>
          <p:cNvPr id="3" name="object 3"/>
          <p:cNvSpPr txBox="1">
            <a:spLocks noGrp="1"/>
          </p:cNvSpPr>
          <p:nvPr>
            <p:ph type="title"/>
          </p:nvPr>
        </p:nvSpPr>
        <p:spPr>
          <a:xfrm>
            <a:off x="384725" y="503825"/>
            <a:ext cx="1154430" cy="452120"/>
          </a:xfrm>
          <a:prstGeom prst="rect">
            <a:avLst/>
          </a:prstGeom>
        </p:spPr>
        <p:txBody>
          <a:bodyPr vert="horz" wrap="square" lIns="0" tIns="12700" rIns="0" bIns="0" rtlCol="0">
            <a:spAutoFit/>
          </a:bodyPr>
          <a:lstStyle/>
          <a:p>
            <a:pPr marL="12700">
              <a:lnSpc>
                <a:spcPct val="100000"/>
              </a:lnSpc>
              <a:spcBef>
                <a:spcPts val="100"/>
              </a:spcBef>
            </a:pPr>
            <a:r>
              <a:rPr sz="2800" spc="-50" dirty="0">
                <a:solidFill>
                  <a:srgbClr val="202729"/>
                </a:solidFill>
              </a:rPr>
              <a:t>Outline</a:t>
            </a:r>
            <a:endParaRPr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7251" y="151459"/>
            <a:ext cx="1459040" cy="1488869"/>
          </a:xfrm>
          <a:prstGeom prst="rect">
            <a:avLst/>
          </a:prstGeom>
        </p:spPr>
        <p:txBody>
          <a:bodyPr vert="horz" wrap="square" lIns="0" tIns="11430" rIns="0" bIns="0" rtlCol="0">
            <a:spAutoFit/>
          </a:bodyPr>
          <a:lstStyle/>
          <a:p>
            <a:pPr marL="11430">
              <a:spcBef>
                <a:spcPts val="90"/>
              </a:spcBef>
            </a:pPr>
            <a:r>
              <a:rPr spc="-5" dirty="0"/>
              <a:t>Is</a:t>
            </a:r>
            <a:r>
              <a:rPr spc="-54" dirty="0"/>
              <a:t> </a:t>
            </a:r>
            <a:r>
              <a:rPr spc="-5" dirty="0"/>
              <a:t>it</a:t>
            </a:r>
            <a:r>
              <a:rPr spc="-50" dirty="0"/>
              <a:t> </a:t>
            </a:r>
            <a:r>
              <a:rPr spc="-5" dirty="0"/>
              <a:t>big</a:t>
            </a:r>
          </a:p>
        </p:txBody>
      </p:sp>
      <p:sp>
        <p:nvSpPr>
          <p:cNvPr id="3" name="object 3"/>
          <p:cNvSpPr txBox="1"/>
          <p:nvPr/>
        </p:nvSpPr>
        <p:spPr>
          <a:xfrm>
            <a:off x="3909578" y="4143055"/>
            <a:ext cx="4654868" cy="150041"/>
          </a:xfrm>
          <a:prstGeom prst="rect">
            <a:avLst/>
          </a:prstGeom>
        </p:spPr>
        <p:txBody>
          <a:bodyPr vert="horz" wrap="square" lIns="0" tIns="11430" rIns="0" bIns="0" rtlCol="0">
            <a:spAutoFit/>
          </a:bodyPr>
          <a:lstStyle/>
          <a:p>
            <a:pPr marL="11430">
              <a:spcBef>
                <a:spcPts val="90"/>
              </a:spcBef>
            </a:pPr>
            <a:r>
              <a:rPr sz="900" b="1" spc="-5" dirty="0">
                <a:latin typeface="Arial"/>
                <a:cs typeface="Arial"/>
              </a:rPr>
              <a:t>Snapshot</a:t>
            </a:r>
            <a:r>
              <a:rPr sz="900" b="1" spc="63" dirty="0">
                <a:latin typeface="Arial"/>
                <a:cs typeface="Arial"/>
              </a:rPr>
              <a:t> </a:t>
            </a:r>
            <a:r>
              <a:rPr sz="900" b="1" dirty="0">
                <a:latin typeface="Arial"/>
                <a:cs typeface="Arial"/>
              </a:rPr>
              <a:t>from:</a:t>
            </a:r>
            <a:r>
              <a:rPr sz="900" b="1" spc="86" dirty="0">
                <a:latin typeface="Arial"/>
                <a:cs typeface="Arial"/>
              </a:rPr>
              <a:t> </a:t>
            </a:r>
            <a:r>
              <a:rPr sz="810" spc="-9" dirty="0">
                <a:latin typeface="Arial MT"/>
                <a:cs typeface="Arial MT"/>
              </a:rPr>
              <a:t>https://data.cityofnewyork.us/Transportation/2018-Yellow-Taxi-Trip-Data/t29m-gskq</a:t>
            </a:r>
            <a:endParaRPr sz="810">
              <a:latin typeface="Arial MT"/>
              <a:cs typeface="Arial MT"/>
            </a:endParaRPr>
          </a:p>
        </p:txBody>
      </p:sp>
      <p:sp>
        <p:nvSpPr>
          <p:cNvPr id="4" name="object 4"/>
          <p:cNvSpPr txBox="1"/>
          <p:nvPr/>
        </p:nvSpPr>
        <p:spPr>
          <a:xfrm>
            <a:off x="3819130" y="162842"/>
            <a:ext cx="3134678" cy="288541"/>
          </a:xfrm>
          <a:prstGeom prst="rect">
            <a:avLst/>
          </a:prstGeom>
        </p:spPr>
        <p:txBody>
          <a:bodyPr vert="horz" wrap="square" lIns="0" tIns="11430" rIns="0" bIns="0" rtlCol="0">
            <a:spAutoFit/>
          </a:bodyPr>
          <a:lstStyle/>
          <a:p>
            <a:pPr marL="11430">
              <a:spcBef>
                <a:spcPts val="90"/>
              </a:spcBef>
            </a:pPr>
            <a:r>
              <a:rPr b="1" spc="-5" dirty="0">
                <a:latin typeface="Arial"/>
                <a:cs typeface="Arial"/>
              </a:rPr>
              <a:t>e.g.,</a:t>
            </a:r>
            <a:r>
              <a:rPr b="1" spc="-23" dirty="0">
                <a:latin typeface="Arial"/>
                <a:cs typeface="Arial"/>
              </a:rPr>
              <a:t> </a:t>
            </a:r>
            <a:r>
              <a:rPr b="1" spc="-32" dirty="0">
                <a:latin typeface="Arial"/>
                <a:cs typeface="Arial"/>
              </a:rPr>
              <a:t>112M</a:t>
            </a:r>
            <a:r>
              <a:rPr b="1" spc="-18" dirty="0">
                <a:latin typeface="Arial"/>
                <a:cs typeface="Arial"/>
              </a:rPr>
              <a:t> </a:t>
            </a:r>
            <a:r>
              <a:rPr b="1" spc="-5" dirty="0">
                <a:latin typeface="Arial"/>
                <a:cs typeface="Arial"/>
              </a:rPr>
              <a:t>rows</a:t>
            </a:r>
            <a:r>
              <a:rPr b="1" spc="-23" dirty="0">
                <a:latin typeface="Arial"/>
                <a:cs typeface="Arial"/>
              </a:rPr>
              <a:t> </a:t>
            </a:r>
            <a:r>
              <a:rPr b="1" dirty="0">
                <a:latin typeface="Arial"/>
                <a:cs typeface="Arial"/>
              </a:rPr>
              <a:t>(2021</a:t>
            </a:r>
            <a:r>
              <a:rPr b="1" spc="-18" dirty="0">
                <a:latin typeface="Arial"/>
                <a:cs typeface="Arial"/>
              </a:rPr>
              <a:t> </a:t>
            </a:r>
            <a:r>
              <a:rPr b="1" spc="-5" dirty="0">
                <a:latin typeface="Arial"/>
                <a:cs typeface="Arial"/>
              </a:rPr>
              <a:t>check)</a:t>
            </a:r>
            <a:endParaRPr>
              <a:latin typeface="Arial"/>
              <a:cs typeface="Arial"/>
            </a:endParaRPr>
          </a:p>
        </p:txBody>
      </p:sp>
      <p:sp>
        <p:nvSpPr>
          <p:cNvPr id="5" name="object 5"/>
          <p:cNvSpPr txBox="1"/>
          <p:nvPr/>
        </p:nvSpPr>
        <p:spPr>
          <a:xfrm>
            <a:off x="804683" y="1021871"/>
            <a:ext cx="2699195" cy="1673535"/>
          </a:xfrm>
          <a:prstGeom prst="rect">
            <a:avLst/>
          </a:prstGeom>
        </p:spPr>
        <p:txBody>
          <a:bodyPr vert="horz" wrap="square" lIns="0" tIns="11430" rIns="0" bIns="0" rtlCol="0">
            <a:spAutoFit/>
          </a:bodyPr>
          <a:lstStyle/>
          <a:p>
            <a:r>
              <a:rPr lang="en-US" b="0" i="0" dirty="0">
                <a:solidFill>
                  <a:srgbClr val="15171A"/>
                </a:solidFill>
                <a:effectLst/>
                <a:latin typeface="Georgia" panose="02040502050405020303" pitchFamily="18" charset="0"/>
              </a:rPr>
              <a:t>a 5.31GB CSV file containing data on taxi rides (fare amount, number of passengers, pickup time, and pickup and </a:t>
            </a:r>
            <a:r>
              <a:rPr lang="en-US" b="0" i="0" dirty="0" err="1">
                <a:solidFill>
                  <a:srgbClr val="15171A"/>
                </a:solidFill>
                <a:effectLst/>
                <a:latin typeface="Georgia" panose="02040502050405020303" pitchFamily="18" charset="0"/>
              </a:rPr>
              <a:t>dropoff</a:t>
            </a:r>
            <a:r>
              <a:rPr lang="en-US" b="0" i="0" dirty="0">
                <a:solidFill>
                  <a:srgbClr val="15171A"/>
                </a:solidFill>
                <a:effectLst/>
                <a:latin typeface="Georgia" panose="02040502050405020303" pitchFamily="18" charset="0"/>
              </a:rPr>
              <a:t> locations)</a:t>
            </a:r>
            <a:endParaRPr lang="en-US" dirty="0"/>
          </a:p>
        </p:txBody>
      </p:sp>
      <p:pic>
        <p:nvPicPr>
          <p:cNvPr id="6" name="object 6"/>
          <p:cNvPicPr/>
          <p:nvPr/>
        </p:nvPicPr>
        <p:blipFill>
          <a:blip r:embed="rId2" cstate="print"/>
          <a:stretch>
            <a:fillRect/>
          </a:stretch>
        </p:blipFill>
        <p:spPr>
          <a:xfrm>
            <a:off x="3920998" y="782279"/>
            <a:ext cx="4406889" cy="3209641"/>
          </a:xfrm>
          <a:prstGeom prst="rect">
            <a:avLst/>
          </a:prstGeom>
        </p:spPr>
      </p:pic>
      <p:sp>
        <p:nvSpPr>
          <p:cNvPr id="8" name="object 2">
            <a:extLst>
              <a:ext uri="{FF2B5EF4-FFF2-40B4-BE49-F238E27FC236}">
                <a16:creationId xmlns:a16="http://schemas.microsoft.com/office/drawing/2014/main" id="{CE91B332-2430-DF36-76F7-E9627DF9C292}"/>
              </a:ext>
            </a:extLst>
          </p:cNvPr>
          <p:cNvSpPr txBox="1"/>
          <p:nvPr/>
        </p:nvSpPr>
        <p:spPr>
          <a:xfrm>
            <a:off x="867251" y="151459"/>
            <a:ext cx="1823085" cy="510140"/>
          </a:xfrm>
          <a:prstGeom prst="rect">
            <a:avLst/>
          </a:prstGeom>
        </p:spPr>
        <p:txBody>
          <a:bodyPr vert="horz" wrap="square" lIns="0" tIns="11430" rIns="0" bIns="0" rtlCol="0">
            <a:spAutoFit/>
          </a:bodyPr>
          <a:lstStyle/>
          <a:p>
            <a:pPr marL="11430">
              <a:spcBef>
                <a:spcPts val="90"/>
              </a:spcBef>
            </a:pPr>
            <a:r>
              <a:rPr sz="3240" b="1" spc="-5" dirty="0">
                <a:solidFill>
                  <a:srgbClr val="FF671F"/>
                </a:solidFill>
                <a:latin typeface="Arial"/>
                <a:cs typeface="Arial"/>
              </a:rPr>
              <a:t>Is</a:t>
            </a:r>
            <a:r>
              <a:rPr sz="3240" b="1" spc="-36" dirty="0">
                <a:solidFill>
                  <a:srgbClr val="FF671F"/>
                </a:solidFill>
                <a:latin typeface="Arial"/>
                <a:cs typeface="Arial"/>
              </a:rPr>
              <a:t> </a:t>
            </a:r>
            <a:r>
              <a:rPr sz="3240" b="1" spc="-5" dirty="0">
                <a:solidFill>
                  <a:srgbClr val="FF671F"/>
                </a:solidFill>
                <a:latin typeface="Arial"/>
                <a:cs typeface="Arial"/>
              </a:rPr>
              <a:t>it</a:t>
            </a:r>
            <a:r>
              <a:rPr sz="3240" b="1" spc="-36" dirty="0">
                <a:solidFill>
                  <a:srgbClr val="FF671F"/>
                </a:solidFill>
                <a:latin typeface="Arial"/>
                <a:cs typeface="Arial"/>
              </a:rPr>
              <a:t> </a:t>
            </a:r>
            <a:r>
              <a:rPr sz="3240" b="1" spc="-9" dirty="0">
                <a:solidFill>
                  <a:srgbClr val="FF671F"/>
                </a:solidFill>
                <a:latin typeface="Arial"/>
                <a:cs typeface="Arial"/>
              </a:rPr>
              <a:t>big</a:t>
            </a:r>
            <a:r>
              <a:rPr sz="3240" b="1" spc="-36" dirty="0">
                <a:solidFill>
                  <a:srgbClr val="FF671F"/>
                </a:solidFill>
                <a:latin typeface="Arial"/>
                <a:cs typeface="Arial"/>
              </a:rPr>
              <a:t> </a:t>
            </a:r>
            <a:r>
              <a:rPr sz="3240" b="1" dirty="0">
                <a:solidFill>
                  <a:srgbClr val="FF671F"/>
                </a:solidFill>
                <a:latin typeface="Arial"/>
                <a:cs typeface="Arial"/>
              </a:rPr>
              <a:t>?</a:t>
            </a:r>
            <a:endParaRPr sz="3240" dirty="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7251" y="151459"/>
            <a:ext cx="1823085" cy="510140"/>
          </a:xfrm>
          <a:prstGeom prst="rect">
            <a:avLst/>
          </a:prstGeom>
        </p:spPr>
        <p:txBody>
          <a:bodyPr vert="horz" wrap="square" lIns="0" tIns="11430" rIns="0" bIns="0" rtlCol="0">
            <a:spAutoFit/>
          </a:bodyPr>
          <a:lstStyle/>
          <a:p>
            <a:pPr marL="11430">
              <a:spcBef>
                <a:spcPts val="90"/>
              </a:spcBef>
            </a:pPr>
            <a:r>
              <a:rPr sz="3240" b="1" spc="-5" dirty="0">
                <a:solidFill>
                  <a:srgbClr val="FF671F"/>
                </a:solidFill>
                <a:latin typeface="Arial"/>
                <a:cs typeface="Arial"/>
              </a:rPr>
              <a:t>Is</a:t>
            </a:r>
            <a:r>
              <a:rPr sz="3240" b="1" spc="-36" dirty="0">
                <a:solidFill>
                  <a:srgbClr val="FF671F"/>
                </a:solidFill>
                <a:latin typeface="Arial"/>
                <a:cs typeface="Arial"/>
              </a:rPr>
              <a:t> </a:t>
            </a:r>
            <a:r>
              <a:rPr sz="3240" b="1" spc="-5" dirty="0">
                <a:solidFill>
                  <a:srgbClr val="FF671F"/>
                </a:solidFill>
                <a:latin typeface="Arial"/>
                <a:cs typeface="Arial"/>
              </a:rPr>
              <a:t>it</a:t>
            </a:r>
            <a:r>
              <a:rPr sz="3240" b="1" spc="-36" dirty="0">
                <a:solidFill>
                  <a:srgbClr val="FF671F"/>
                </a:solidFill>
                <a:latin typeface="Arial"/>
                <a:cs typeface="Arial"/>
              </a:rPr>
              <a:t> </a:t>
            </a:r>
            <a:r>
              <a:rPr sz="3240" b="1" spc="-9" dirty="0">
                <a:solidFill>
                  <a:srgbClr val="FF671F"/>
                </a:solidFill>
                <a:latin typeface="Arial"/>
                <a:cs typeface="Arial"/>
              </a:rPr>
              <a:t>big</a:t>
            </a:r>
            <a:r>
              <a:rPr sz="3240" b="1" spc="-36" dirty="0">
                <a:solidFill>
                  <a:srgbClr val="FF671F"/>
                </a:solidFill>
                <a:latin typeface="Arial"/>
                <a:cs typeface="Arial"/>
              </a:rPr>
              <a:t> </a:t>
            </a:r>
            <a:r>
              <a:rPr sz="3240" b="1" dirty="0">
                <a:solidFill>
                  <a:srgbClr val="FF671F"/>
                </a:solidFill>
                <a:latin typeface="Arial"/>
                <a:cs typeface="Arial"/>
              </a:rPr>
              <a:t>?</a:t>
            </a:r>
            <a:endParaRPr sz="3240" dirty="0">
              <a:latin typeface="Arial"/>
              <a:cs typeface="Arial"/>
            </a:endParaRPr>
          </a:p>
        </p:txBody>
      </p:sp>
      <p:pic>
        <p:nvPicPr>
          <p:cNvPr id="13" name="Picture 12">
            <a:extLst>
              <a:ext uri="{FF2B5EF4-FFF2-40B4-BE49-F238E27FC236}">
                <a16:creationId xmlns:a16="http://schemas.microsoft.com/office/drawing/2014/main" id="{3C3242EA-F273-5520-7AB4-E3AABBBE6CE2}"/>
              </a:ext>
            </a:extLst>
          </p:cNvPr>
          <p:cNvPicPr>
            <a:picLocks noChangeAspect="1"/>
          </p:cNvPicPr>
          <p:nvPr/>
        </p:nvPicPr>
        <p:blipFill>
          <a:blip r:embed="rId3"/>
          <a:stretch>
            <a:fillRect/>
          </a:stretch>
        </p:blipFill>
        <p:spPr>
          <a:xfrm>
            <a:off x="990600" y="840083"/>
            <a:ext cx="8153400" cy="394230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51493-7025-45C3-93F6-722F7A9F001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9E44905-F34D-F6FE-B544-25186FDC8A25}"/>
              </a:ext>
            </a:extLst>
          </p:cNvPr>
          <p:cNvSpPr txBox="1">
            <a:spLocks noGrp="1"/>
          </p:cNvSpPr>
          <p:nvPr>
            <p:ph type="title"/>
          </p:nvPr>
        </p:nvSpPr>
        <p:spPr>
          <a:xfrm>
            <a:off x="867251" y="151459"/>
            <a:ext cx="1459040" cy="1488869"/>
          </a:xfrm>
          <a:prstGeom prst="rect">
            <a:avLst/>
          </a:prstGeom>
        </p:spPr>
        <p:txBody>
          <a:bodyPr vert="horz" wrap="square" lIns="0" tIns="11430" rIns="0" bIns="0" rtlCol="0">
            <a:spAutoFit/>
          </a:bodyPr>
          <a:lstStyle/>
          <a:p>
            <a:pPr marL="11430">
              <a:spcBef>
                <a:spcPts val="90"/>
              </a:spcBef>
            </a:pPr>
            <a:r>
              <a:rPr spc="-5" dirty="0"/>
              <a:t>Is</a:t>
            </a:r>
            <a:r>
              <a:rPr spc="-54" dirty="0"/>
              <a:t> </a:t>
            </a:r>
            <a:r>
              <a:rPr spc="-5" dirty="0"/>
              <a:t>it</a:t>
            </a:r>
            <a:r>
              <a:rPr spc="-50" dirty="0"/>
              <a:t> </a:t>
            </a:r>
            <a:r>
              <a:rPr spc="-5" dirty="0"/>
              <a:t>big</a:t>
            </a:r>
          </a:p>
        </p:txBody>
      </p:sp>
      <p:sp>
        <p:nvSpPr>
          <p:cNvPr id="5" name="object 5">
            <a:extLst>
              <a:ext uri="{FF2B5EF4-FFF2-40B4-BE49-F238E27FC236}">
                <a16:creationId xmlns:a16="http://schemas.microsoft.com/office/drawing/2014/main" id="{BF8A2DCB-6D96-A983-5052-653B06ECE28A}"/>
              </a:ext>
            </a:extLst>
          </p:cNvPr>
          <p:cNvSpPr txBox="1"/>
          <p:nvPr/>
        </p:nvSpPr>
        <p:spPr>
          <a:xfrm>
            <a:off x="304800" y="1074789"/>
            <a:ext cx="8686800" cy="288541"/>
          </a:xfrm>
          <a:prstGeom prst="rect">
            <a:avLst/>
          </a:prstGeom>
        </p:spPr>
        <p:txBody>
          <a:bodyPr vert="horz" wrap="square" lIns="0" tIns="11430" rIns="0" bIns="0" rtlCol="0">
            <a:spAutoFit/>
          </a:bodyPr>
          <a:lstStyle/>
          <a:p>
            <a:r>
              <a:rPr lang="en-US" b="1" i="0" dirty="0">
                <a:solidFill>
                  <a:srgbClr val="15171A"/>
                </a:solidFill>
                <a:effectLst/>
                <a:latin typeface="Trebuchet MS" panose="020B0603020202020204" pitchFamily="34" charset="0"/>
              </a:rPr>
              <a:t>What happen if we use traditional tools such as Panda to read a big dataset ?</a:t>
            </a:r>
            <a:endParaRPr lang="en-US" b="1" dirty="0">
              <a:latin typeface="Trebuchet MS" panose="020B0603020202020204" pitchFamily="34" charset="0"/>
            </a:endParaRPr>
          </a:p>
        </p:txBody>
      </p:sp>
      <p:sp>
        <p:nvSpPr>
          <p:cNvPr id="8" name="object 2">
            <a:extLst>
              <a:ext uri="{FF2B5EF4-FFF2-40B4-BE49-F238E27FC236}">
                <a16:creationId xmlns:a16="http://schemas.microsoft.com/office/drawing/2014/main" id="{E58FE706-E0F7-D221-0B8B-9E4196CC735B}"/>
              </a:ext>
            </a:extLst>
          </p:cNvPr>
          <p:cNvSpPr txBox="1"/>
          <p:nvPr/>
        </p:nvSpPr>
        <p:spPr>
          <a:xfrm>
            <a:off x="867251" y="151459"/>
            <a:ext cx="3018949" cy="510140"/>
          </a:xfrm>
          <a:prstGeom prst="rect">
            <a:avLst/>
          </a:prstGeom>
        </p:spPr>
        <p:txBody>
          <a:bodyPr vert="horz" wrap="square" lIns="0" tIns="11430" rIns="0" bIns="0" rtlCol="0">
            <a:spAutoFit/>
          </a:bodyPr>
          <a:lstStyle/>
          <a:p>
            <a:pPr marL="11430">
              <a:spcBef>
                <a:spcPts val="90"/>
              </a:spcBef>
            </a:pPr>
            <a:r>
              <a:rPr lang="en-US" sz="3240" b="1" spc="-5" dirty="0">
                <a:solidFill>
                  <a:srgbClr val="FF671F"/>
                </a:solidFill>
                <a:latin typeface="Arial"/>
                <a:cs typeface="Arial"/>
              </a:rPr>
              <a:t>Question </a:t>
            </a:r>
            <a:r>
              <a:rPr sz="3240" b="1" dirty="0">
                <a:solidFill>
                  <a:srgbClr val="FF671F"/>
                </a:solidFill>
                <a:latin typeface="Arial"/>
                <a:cs typeface="Arial"/>
              </a:rPr>
              <a:t>?</a:t>
            </a:r>
            <a:endParaRPr sz="3240" dirty="0">
              <a:latin typeface="Arial"/>
              <a:cs typeface="Arial"/>
            </a:endParaRPr>
          </a:p>
        </p:txBody>
      </p:sp>
      <p:sp>
        <p:nvSpPr>
          <p:cNvPr id="3" name="object 4">
            <a:extLst>
              <a:ext uri="{FF2B5EF4-FFF2-40B4-BE49-F238E27FC236}">
                <a16:creationId xmlns:a16="http://schemas.microsoft.com/office/drawing/2014/main" id="{5D8A9DD5-B41A-EE4F-2BA4-946518BBE123}"/>
              </a:ext>
            </a:extLst>
          </p:cNvPr>
          <p:cNvSpPr txBox="1"/>
          <p:nvPr/>
        </p:nvSpPr>
        <p:spPr>
          <a:xfrm>
            <a:off x="914400" y="1670684"/>
            <a:ext cx="7696200" cy="2802689"/>
          </a:xfrm>
          <a:prstGeom prst="rect">
            <a:avLst/>
          </a:prstGeom>
        </p:spPr>
        <p:txBody>
          <a:bodyPr vert="horz" wrap="square" lIns="0" tIns="52704" rIns="0" bIns="0" rtlCol="0">
            <a:spAutoFit/>
          </a:bodyPr>
          <a:lstStyle/>
          <a:p>
            <a:pPr marL="298450" indent="-285750">
              <a:lnSpc>
                <a:spcPct val="100000"/>
              </a:lnSpc>
              <a:spcBef>
                <a:spcPts val="414"/>
              </a:spcBef>
              <a:buFont typeface="Arial" panose="020B0604020202020204" pitchFamily="34" charset="0"/>
              <a:buChar char="•"/>
              <a:tabLst>
                <a:tab pos="309245" algn="l"/>
                <a:tab pos="309880" algn="l"/>
              </a:tabLst>
            </a:pPr>
            <a:r>
              <a:rPr lang="en-US" dirty="0">
                <a:latin typeface="Trebuchet MS"/>
                <a:cs typeface="Trebuchet MS"/>
              </a:rPr>
              <a:t>Pandas loads the entire dataset into RAM, which is fine for small datasets but fails for large ones. </a:t>
            </a:r>
          </a:p>
          <a:p>
            <a:pPr marL="298450" indent="-285750">
              <a:lnSpc>
                <a:spcPct val="100000"/>
              </a:lnSpc>
              <a:spcBef>
                <a:spcPts val="414"/>
              </a:spcBef>
              <a:buFont typeface="Arial" panose="020B0604020202020204" pitchFamily="34" charset="0"/>
              <a:buChar char="•"/>
              <a:tabLst>
                <a:tab pos="309245" algn="l"/>
                <a:tab pos="309880" algn="l"/>
              </a:tabLst>
            </a:pPr>
            <a:r>
              <a:rPr lang="en-US" dirty="0">
                <a:latin typeface="Trebuchet MS"/>
                <a:cs typeface="Trebuchet MS"/>
              </a:rPr>
              <a:t>If the dataset is larger than the available memory, Python will either: </a:t>
            </a:r>
          </a:p>
          <a:p>
            <a:pPr marL="755650" lvl="1" indent="-285750">
              <a:spcBef>
                <a:spcPts val="414"/>
              </a:spcBef>
              <a:buFont typeface="Arial" panose="020B0604020202020204" pitchFamily="34" charset="0"/>
              <a:buChar char="•"/>
              <a:tabLst>
                <a:tab pos="309245" algn="l"/>
                <a:tab pos="309880" algn="l"/>
              </a:tabLst>
            </a:pPr>
            <a:r>
              <a:rPr lang="en-US" dirty="0">
                <a:latin typeface="Trebuchet MS"/>
                <a:cs typeface="Trebuchet MS"/>
              </a:rPr>
              <a:t>Crash with a </a:t>
            </a:r>
            <a:r>
              <a:rPr lang="en-US" dirty="0" err="1">
                <a:latin typeface="Trebuchet MS"/>
                <a:cs typeface="Trebuchet MS"/>
              </a:rPr>
              <a:t>MemoryError</a:t>
            </a:r>
            <a:r>
              <a:rPr lang="en-US" dirty="0">
                <a:latin typeface="Trebuchet MS"/>
                <a:cs typeface="Trebuchet MS"/>
              </a:rPr>
              <a:t>. </a:t>
            </a:r>
          </a:p>
          <a:p>
            <a:pPr marL="755650" lvl="1" indent="-285750">
              <a:spcBef>
                <a:spcPts val="414"/>
              </a:spcBef>
              <a:buFont typeface="Arial" panose="020B0604020202020204" pitchFamily="34" charset="0"/>
              <a:buChar char="•"/>
              <a:tabLst>
                <a:tab pos="309245" algn="l"/>
                <a:tab pos="309880" algn="l"/>
              </a:tabLst>
            </a:pPr>
            <a:r>
              <a:rPr lang="en-US" dirty="0">
                <a:latin typeface="Trebuchet MS"/>
                <a:cs typeface="Trebuchet MS"/>
              </a:rPr>
              <a:t>Start swapping (using disk as memory), which slows performance significantly.</a:t>
            </a:r>
          </a:p>
          <a:p>
            <a:pPr marL="298450" indent="-285750">
              <a:spcBef>
                <a:spcPts val="414"/>
              </a:spcBef>
              <a:buFont typeface="Arial" panose="020B0604020202020204" pitchFamily="34" charset="0"/>
              <a:buChar char="•"/>
              <a:tabLst>
                <a:tab pos="309245" algn="l"/>
                <a:tab pos="309880" algn="l"/>
              </a:tabLst>
            </a:pPr>
            <a:r>
              <a:rPr lang="en-US" dirty="0">
                <a:latin typeface="Trebuchet MS"/>
                <a:cs typeface="Trebuchet MS"/>
              </a:rPr>
              <a:t>Pandas is single-threaded by default, meaning it doesn’t take full advantage of multiple CPU cores. </a:t>
            </a:r>
          </a:p>
          <a:p>
            <a:pPr marL="298450" indent="-285750">
              <a:spcBef>
                <a:spcPts val="414"/>
              </a:spcBef>
              <a:buFont typeface="Arial" panose="020B0604020202020204" pitchFamily="34" charset="0"/>
              <a:buChar char="•"/>
              <a:tabLst>
                <a:tab pos="309245" algn="l"/>
                <a:tab pos="309880" algn="l"/>
              </a:tabLst>
            </a:pPr>
            <a:r>
              <a:rPr lang="en-US" dirty="0">
                <a:latin typeface="Trebuchet MS"/>
                <a:cs typeface="Trebuchet MS"/>
              </a:rPr>
              <a:t>Large datasets cause slow processing and high CPU usage.</a:t>
            </a:r>
            <a:endParaRPr dirty="0">
              <a:latin typeface="Trebuchet MS"/>
              <a:cs typeface="Trebuchet MS"/>
            </a:endParaRPr>
          </a:p>
        </p:txBody>
      </p:sp>
    </p:spTree>
    <p:extLst>
      <p:ext uri="{BB962C8B-B14F-4D97-AF65-F5344CB8AC3E}">
        <p14:creationId xmlns:p14="http://schemas.microsoft.com/office/powerpoint/2010/main" val="890121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CB9E3-234E-45B3-7A9D-1BA2B6F8CD2D}"/>
            </a:ext>
          </a:extLst>
        </p:cNvPr>
        <p:cNvGrpSpPr/>
        <p:nvPr/>
      </p:nvGrpSpPr>
      <p:grpSpPr>
        <a:xfrm>
          <a:off x="0" y="0"/>
          <a:ext cx="0" cy="0"/>
          <a:chOff x="0" y="0"/>
          <a:chExt cx="0" cy="0"/>
        </a:xfrm>
      </p:grpSpPr>
      <p:sp>
        <p:nvSpPr>
          <p:cNvPr id="8" name="object 2">
            <a:extLst>
              <a:ext uri="{FF2B5EF4-FFF2-40B4-BE49-F238E27FC236}">
                <a16:creationId xmlns:a16="http://schemas.microsoft.com/office/drawing/2014/main" id="{253E4C33-2EFA-B432-82BD-6AD785EE3FE4}"/>
              </a:ext>
            </a:extLst>
          </p:cNvPr>
          <p:cNvSpPr txBox="1"/>
          <p:nvPr/>
        </p:nvSpPr>
        <p:spPr>
          <a:xfrm>
            <a:off x="867251" y="151459"/>
            <a:ext cx="4619149" cy="510140"/>
          </a:xfrm>
          <a:prstGeom prst="rect">
            <a:avLst/>
          </a:prstGeom>
        </p:spPr>
        <p:txBody>
          <a:bodyPr vert="horz" wrap="square" lIns="0" tIns="11430" rIns="0" bIns="0" rtlCol="0">
            <a:spAutoFit/>
          </a:bodyPr>
          <a:lstStyle/>
          <a:p>
            <a:pPr marL="11430">
              <a:spcBef>
                <a:spcPts val="90"/>
              </a:spcBef>
            </a:pPr>
            <a:r>
              <a:rPr lang="en-US" sz="3240" b="1" spc="-5" dirty="0">
                <a:solidFill>
                  <a:srgbClr val="FF671F"/>
                </a:solidFill>
                <a:latin typeface="Arial"/>
                <a:cs typeface="Arial"/>
              </a:rPr>
              <a:t>Better than Pandas </a:t>
            </a:r>
            <a:r>
              <a:rPr sz="3240" b="1" dirty="0">
                <a:solidFill>
                  <a:srgbClr val="FF671F"/>
                </a:solidFill>
                <a:latin typeface="Arial"/>
                <a:cs typeface="Arial"/>
              </a:rPr>
              <a:t>?</a:t>
            </a:r>
            <a:endParaRPr sz="3240" dirty="0">
              <a:latin typeface="Arial"/>
              <a:cs typeface="Arial"/>
            </a:endParaRPr>
          </a:p>
        </p:txBody>
      </p:sp>
      <p:sp>
        <p:nvSpPr>
          <p:cNvPr id="3" name="object 4">
            <a:extLst>
              <a:ext uri="{FF2B5EF4-FFF2-40B4-BE49-F238E27FC236}">
                <a16:creationId xmlns:a16="http://schemas.microsoft.com/office/drawing/2014/main" id="{99D04031-C5E1-5910-32A9-D3D2BA23A6DC}"/>
              </a:ext>
            </a:extLst>
          </p:cNvPr>
          <p:cNvSpPr txBox="1"/>
          <p:nvPr/>
        </p:nvSpPr>
        <p:spPr>
          <a:xfrm>
            <a:off x="569662" y="1047750"/>
            <a:ext cx="8345737" cy="2905282"/>
          </a:xfrm>
          <a:prstGeom prst="rect">
            <a:avLst/>
          </a:prstGeom>
        </p:spPr>
        <p:txBody>
          <a:bodyPr vert="horz" wrap="square" lIns="0" tIns="52704" rIns="0" bIns="0" rtlCol="0">
            <a:spAutoFit/>
          </a:bodyPr>
          <a:lstStyle/>
          <a:p>
            <a:pPr marL="298450" indent="-285750">
              <a:lnSpc>
                <a:spcPct val="100000"/>
              </a:lnSpc>
              <a:spcBef>
                <a:spcPts val="414"/>
              </a:spcBef>
              <a:buFont typeface="Arial" panose="020B0604020202020204" pitchFamily="34" charset="0"/>
              <a:buChar char="•"/>
              <a:tabLst>
                <a:tab pos="309245" algn="l"/>
                <a:tab pos="309880" algn="l"/>
              </a:tabLst>
            </a:pPr>
            <a:r>
              <a:rPr lang="en-US" dirty="0" err="1">
                <a:latin typeface="Trebuchet MS"/>
                <a:cs typeface="Trebuchet MS"/>
              </a:rPr>
              <a:t>DuckDb</a:t>
            </a:r>
            <a:endParaRPr lang="en-US" dirty="0">
              <a:latin typeface="Trebuchet MS"/>
              <a:cs typeface="Trebuchet MS"/>
            </a:endParaRPr>
          </a:p>
          <a:p>
            <a:pPr marL="755650" lvl="1" indent="-285750">
              <a:spcBef>
                <a:spcPts val="414"/>
              </a:spcBef>
              <a:buFont typeface="Arial" panose="020B0604020202020204" pitchFamily="34" charset="0"/>
              <a:buChar char="•"/>
              <a:tabLst>
                <a:tab pos="309245" algn="l"/>
                <a:tab pos="309880" algn="l"/>
              </a:tabLst>
            </a:pPr>
            <a:r>
              <a:rPr lang="en-US" dirty="0">
                <a:latin typeface="Trebuchet MS"/>
                <a:cs typeface="Trebuchet MS"/>
              </a:rPr>
              <a:t>columnar-vectorized engine</a:t>
            </a:r>
          </a:p>
          <a:p>
            <a:pPr marL="298450" indent="-285750">
              <a:lnSpc>
                <a:spcPct val="100000"/>
              </a:lnSpc>
              <a:spcBef>
                <a:spcPts val="414"/>
              </a:spcBef>
              <a:buFont typeface="Arial" panose="020B0604020202020204" pitchFamily="34" charset="0"/>
              <a:buChar char="•"/>
              <a:tabLst>
                <a:tab pos="309245" algn="l"/>
                <a:tab pos="309880" algn="l"/>
              </a:tabLst>
            </a:pPr>
            <a:r>
              <a:rPr lang="en-US" dirty="0">
                <a:latin typeface="Trebuchet MS"/>
                <a:cs typeface="Trebuchet MS"/>
              </a:rPr>
              <a:t>Polars</a:t>
            </a:r>
          </a:p>
          <a:p>
            <a:pPr marL="755650" lvl="1" indent="-285750">
              <a:spcBef>
                <a:spcPts val="414"/>
              </a:spcBef>
              <a:buFont typeface="Arial" panose="020B0604020202020204" pitchFamily="34" charset="0"/>
              <a:buChar char="•"/>
              <a:tabLst>
                <a:tab pos="309245" algn="l"/>
                <a:tab pos="309880" algn="l"/>
              </a:tabLst>
            </a:pPr>
            <a:r>
              <a:rPr lang="en-US" dirty="0">
                <a:latin typeface="Trebuchet MS"/>
                <a:cs typeface="Trebuchet MS"/>
              </a:rPr>
              <a:t>parallelization of </a:t>
            </a:r>
            <a:r>
              <a:rPr lang="en-US" dirty="0" err="1">
                <a:latin typeface="Trebuchet MS"/>
                <a:cs typeface="Trebuchet MS"/>
              </a:rPr>
              <a:t>DataFrame</a:t>
            </a:r>
            <a:r>
              <a:rPr lang="en-US" dirty="0">
                <a:latin typeface="Trebuchet MS"/>
                <a:cs typeface="Trebuchet MS"/>
              </a:rPr>
              <a:t> from the beginning</a:t>
            </a:r>
          </a:p>
          <a:p>
            <a:pPr marL="755650" lvl="1" indent="-285750">
              <a:spcBef>
                <a:spcPts val="414"/>
              </a:spcBef>
              <a:buFont typeface="Arial" panose="020B0604020202020204" pitchFamily="34" charset="0"/>
              <a:buChar char="•"/>
              <a:tabLst>
                <a:tab pos="309245" algn="l"/>
                <a:tab pos="309880" algn="l"/>
              </a:tabLst>
            </a:pPr>
            <a:r>
              <a:rPr lang="en-US" dirty="0">
                <a:latin typeface="Trebuchet MS"/>
                <a:cs typeface="Trebuchet MS"/>
              </a:rPr>
              <a:t>Rust-based with Python bindings, which has outstanding performance comparable to C</a:t>
            </a:r>
          </a:p>
          <a:p>
            <a:pPr marL="755650" lvl="1" indent="-285750">
              <a:spcBef>
                <a:spcPts val="414"/>
              </a:spcBef>
              <a:buFont typeface="Arial" panose="020B0604020202020204" pitchFamily="34" charset="0"/>
              <a:buChar char="•"/>
              <a:tabLst>
                <a:tab pos="309245" algn="l"/>
                <a:tab pos="309880" algn="l"/>
              </a:tabLst>
            </a:pPr>
            <a:r>
              <a:rPr lang="en-US" dirty="0">
                <a:latin typeface="Trebuchet MS"/>
                <a:cs typeface="Trebuchet MS"/>
              </a:rPr>
              <a:t>Lazy evaluation: plan (not execute) the query until triggered</a:t>
            </a:r>
          </a:p>
          <a:p>
            <a:pPr marL="298450" indent="-285750">
              <a:lnSpc>
                <a:spcPct val="100000"/>
              </a:lnSpc>
              <a:spcBef>
                <a:spcPts val="414"/>
              </a:spcBef>
              <a:buFont typeface="Arial" panose="020B0604020202020204" pitchFamily="34" charset="0"/>
              <a:buChar char="•"/>
              <a:tabLst>
                <a:tab pos="309245" algn="l"/>
                <a:tab pos="309880" algn="l"/>
              </a:tabLst>
            </a:pPr>
            <a:r>
              <a:rPr lang="en-US" dirty="0" err="1">
                <a:latin typeface="Trebuchet MS"/>
                <a:cs typeface="Trebuchet MS"/>
              </a:rPr>
              <a:t>Vaex</a:t>
            </a:r>
            <a:endParaRPr lang="en-US" dirty="0">
              <a:latin typeface="Trebuchet MS"/>
              <a:cs typeface="Trebuchet MS"/>
            </a:endParaRPr>
          </a:p>
          <a:p>
            <a:pPr marL="298450" indent="-285750">
              <a:lnSpc>
                <a:spcPct val="100000"/>
              </a:lnSpc>
              <a:spcBef>
                <a:spcPts val="414"/>
              </a:spcBef>
              <a:buFont typeface="Arial" panose="020B0604020202020204" pitchFamily="34" charset="0"/>
              <a:buChar char="•"/>
              <a:tabLst>
                <a:tab pos="309245" algn="l"/>
                <a:tab pos="309880" algn="l"/>
              </a:tabLst>
            </a:pPr>
            <a:r>
              <a:rPr lang="en-US" dirty="0" err="1">
                <a:latin typeface="Trebuchet MS"/>
                <a:cs typeface="Trebuchet MS"/>
              </a:rPr>
              <a:t>Modin</a:t>
            </a:r>
            <a:endParaRPr lang="en-US" dirty="0">
              <a:latin typeface="Trebuchet MS"/>
              <a:cs typeface="Trebuchet MS"/>
            </a:endParaRPr>
          </a:p>
        </p:txBody>
      </p:sp>
      <p:pic>
        <p:nvPicPr>
          <p:cNvPr id="9" name="Picture 8">
            <a:extLst>
              <a:ext uri="{FF2B5EF4-FFF2-40B4-BE49-F238E27FC236}">
                <a16:creationId xmlns:a16="http://schemas.microsoft.com/office/drawing/2014/main" id="{692307DA-CFA0-38B3-58B5-3D925AF3FF30}"/>
              </a:ext>
            </a:extLst>
          </p:cNvPr>
          <p:cNvPicPr>
            <a:picLocks noChangeAspect="1"/>
          </p:cNvPicPr>
          <p:nvPr/>
        </p:nvPicPr>
        <p:blipFill>
          <a:blip r:embed="rId3"/>
          <a:stretch>
            <a:fillRect/>
          </a:stretch>
        </p:blipFill>
        <p:spPr>
          <a:xfrm>
            <a:off x="4495800" y="810551"/>
            <a:ext cx="1305203" cy="999199"/>
          </a:xfrm>
          <a:prstGeom prst="rect">
            <a:avLst/>
          </a:prstGeom>
        </p:spPr>
      </p:pic>
      <p:pic>
        <p:nvPicPr>
          <p:cNvPr id="11" name="Picture 10">
            <a:extLst>
              <a:ext uri="{FF2B5EF4-FFF2-40B4-BE49-F238E27FC236}">
                <a16:creationId xmlns:a16="http://schemas.microsoft.com/office/drawing/2014/main" id="{DDA591EC-0D54-D8AA-6933-BC9B38504577}"/>
              </a:ext>
            </a:extLst>
          </p:cNvPr>
          <p:cNvPicPr>
            <a:picLocks noChangeAspect="1"/>
          </p:cNvPicPr>
          <p:nvPr/>
        </p:nvPicPr>
        <p:blipFill>
          <a:blip r:embed="rId4"/>
          <a:stretch>
            <a:fillRect/>
          </a:stretch>
        </p:blipFill>
        <p:spPr>
          <a:xfrm>
            <a:off x="6858000" y="1809750"/>
            <a:ext cx="1590897" cy="552527"/>
          </a:xfrm>
          <a:prstGeom prst="rect">
            <a:avLst/>
          </a:prstGeom>
        </p:spPr>
      </p:pic>
      <p:pic>
        <p:nvPicPr>
          <p:cNvPr id="13" name="Picture 12">
            <a:extLst>
              <a:ext uri="{FF2B5EF4-FFF2-40B4-BE49-F238E27FC236}">
                <a16:creationId xmlns:a16="http://schemas.microsoft.com/office/drawing/2014/main" id="{56BCB921-196C-3FA2-2D37-4A173DA65232}"/>
              </a:ext>
            </a:extLst>
          </p:cNvPr>
          <p:cNvPicPr>
            <a:picLocks noChangeAspect="1"/>
          </p:cNvPicPr>
          <p:nvPr/>
        </p:nvPicPr>
        <p:blipFill>
          <a:blip r:embed="rId5"/>
          <a:stretch>
            <a:fillRect/>
          </a:stretch>
        </p:blipFill>
        <p:spPr>
          <a:xfrm>
            <a:off x="3181179" y="3333751"/>
            <a:ext cx="1810003" cy="514422"/>
          </a:xfrm>
          <a:prstGeom prst="rect">
            <a:avLst/>
          </a:prstGeom>
        </p:spPr>
      </p:pic>
      <p:pic>
        <p:nvPicPr>
          <p:cNvPr id="15" name="Picture 14">
            <a:extLst>
              <a:ext uri="{FF2B5EF4-FFF2-40B4-BE49-F238E27FC236}">
                <a16:creationId xmlns:a16="http://schemas.microsoft.com/office/drawing/2014/main" id="{FA642E2F-EE20-93C4-B4AE-AED91410B2D1}"/>
              </a:ext>
            </a:extLst>
          </p:cNvPr>
          <p:cNvPicPr>
            <a:picLocks noChangeAspect="1"/>
          </p:cNvPicPr>
          <p:nvPr/>
        </p:nvPicPr>
        <p:blipFill>
          <a:blip r:embed="rId6"/>
          <a:stretch>
            <a:fillRect/>
          </a:stretch>
        </p:blipFill>
        <p:spPr>
          <a:xfrm>
            <a:off x="457200" y="4095750"/>
            <a:ext cx="2276878" cy="424566"/>
          </a:xfrm>
          <a:prstGeom prst="rect">
            <a:avLst/>
          </a:prstGeom>
        </p:spPr>
      </p:pic>
    </p:spTree>
    <p:extLst>
      <p:ext uri="{BB962C8B-B14F-4D97-AF65-F5344CB8AC3E}">
        <p14:creationId xmlns:p14="http://schemas.microsoft.com/office/powerpoint/2010/main" val="4276561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3199130" cy="452120"/>
          </a:xfrm>
          <a:prstGeom prst="rect">
            <a:avLst/>
          </a:prstGeom>
        </p:spPr>
        <p:txBody>
          <a:bodyPr vert="horz" wrap="square" lIns="0" tIns="12700" rIns="0" bIns="0" rtlCol="0">
            <a:spAutoFit/>
          </a:bodyPr>
          <a:lstStyle/>
          <a:p>
            <a:pPr marL="12700">
              <a:lnSpc>
                <a:spcPct val="100000"/>
              </a:lnSpc>
              <a:spcBef>
                <a:spcPts val="100"/>
              </a:spcBef>
            </a:pPr>
            <a:r>
              <a:rPr sz="2800" spc="-25" dirty="0">
                <a:solidFill>
                  <a:srgbClr val="202729"/>
                </a:solidFill>
              </a:rPr>
              <a:t>Motivations</a:t>
            </a:r>
            <a:r>
              <a:rPr sz="2800" spc="-125" dirty="0">
                <a:solidFill>
                  <a:srgbClr val="202729"/>
                </a:solidFill>
              </a:rPr>
              <a:t> </a:t>
            </a:r>
            <a:r>
              <a:rPr sz="2800" spc="-640" dirty="0">
                <a:solidFill>
                  <a:srgbClr val="202729"/>
                </a:solidFill>
              </a:rPr>
              <a:t>/</a:t>
            </a:r>
            <a:r>
              <a:rPr sz="2800" spc="-125" dirty="0">
                <a:solidFill>
                  <a:srgbClr val="202729"/>
                </a:solidFill>
              </a:rPr>
              <a:t> </a:t>
            </a:r>
            <a:r>
              <a:rPr sz="2800" spc="-30" dirty="0">
                <a:solidFill>
                  <a:srgbClr val="202729"/>
                </a:solidFill>
              </a:rPr>
              <a:t>History</a:t>
            </a:r>
            <a:endParaRPr sz="2800"/>
          </a:p>
        </p:txBody>
      </p:sp>
      <p:sp>
        <p:nvSpPr>
          <p:cNvPr id="3" name="object 3"/>
          <p:cNvSpPr txBox="1"/>
          <p:nvPr/>
        </p:nvSpPr>
        <p:spPr>
          <a:xfrm>
            <a:off x="475248" y="1170207"/>
            <a:ext cx="7982951" cy="1436290"/>
          </a:xfrm>
          <a:prstGeom prst="rect">
            <a:avLst/>
          </a:prstGeom>
        </p:spPr>
        <p:txBody>
          <a:bodyPr vert="horz" wrap="square" lIns="0" tIns="58419" rIns="0" bIns="0" rtlCol="0">
            <a:spAutoFit/>
          </a:bodyPr>
          <a:lstStyle/>
          <a:p>
            <a:pPr marL="379095" indent="-367030">
              <a:lnSpc>
                <a:spcPct val="100000"/>
              </a:lnSpc>
              <a:spcBef>
                <a:spcPts val="459"/>
              </a:spcBef>
              <a:buFont typeface="Arial MT"/>
              <a:buChar char="●"/>
              <a:tabLst>
                <a:tab pos="379095" algn="l"/>
                <a:tab pos="379730" algn="l"/>
              </a:tabLst>
            </a:pPr>
            <a:r>
              <a:rPr sz="1800" spc="35" dirty="0">
                <a:solidFill>
                  <a:srgbClr val="616161"/>
                </a:solidFill>
                <a:latin typeface="Trebuchet MS"/>
                <a:cs typeface="Trebuchet MS"/>
              </a:rPr>
              <a:t>MapReduce</a:t>
            </a:r>
            <a:r>
              <a:rPr sz="1800" spc="-80" dirty="0">
                <a:solidFill>
                  <a:srgbClr val="616161"/>
                </a:solidFill>
                <a:latin typeface="Trebuchet MS"/>
                <a:cs typeface="Trebuchet MS"/>
              </a:rPr>
              <a:t> </a:t>
            </a:r>
            <a:r>
              <a:rPr sz="1800" spc="40" dirty="0">
                <a:solidFill>
                  <a:srgbClr val="616161"/>
                </a:solidFill>
                <a:latin typeface="Trebuchet MS"/>
                <a:cs typeface="Trebuchet MS"/>
              </a:rPr>
              <a:t>began</a:t>
            </a:r>
            <a:r>
              <a:rPr sz="1800" spc="-80" dirty="0">
                <a:solidFill>
                  <a:srgbClr val="616161"/>
                </a:solidFill>
                <a:latin typeface="Trebuchet MS"/>
                <a:cs typeface="Trebuchet MS"/>
              </a:rPr>
              <a:t> </a:t>
            </a:r>
            <a:r>
              <a:rPr sz="1800" spc="-65" dirty="0">
                <a:solidFill>
                  <a:srgbClr val="616161"/>
                </a:solidFill>
                <a:latin typeface="Trebuchet MS"/>
                <a:cs typeface="Trebuchet MS"/>
              </a:rPr>
              <a:t>to</a:t>
            </a:r>
            <a:r>
              <a:rPr sz="1800" spc="-80" dirty="0">
                <a:solidFill>
                  <a:srgbClr val="616161"/>
                </a:solidFill>
                <a:latin typeface="Trebuchet MS"/>
                <a:cs typeface="Trebuchet MS"/>
              </a:rPr>
              <a:t> </a:t>
            </a:r>
            <a:r>
              <a:rPr sz="1800" spc="40" dirty="0">
                <a:solidFill>
                  <a:srgbClr val="616161"/>
                </a:solidFill>
                <a:latin typeface="Trebuchet MS"/>
                <a:cs typeface="Trebuchet MS"/>
              </a:rPr>
              <a:t>show</a:t>
            </a:r>
            <a:r>
              <a:rPr sz="1800" spc="-80" dirty="0">
                <a:solidFill>
                  <a:srgbClr val="616161"/>
                </a:solidFill>
                <a:latin typeface="Trebuchet MS"/>
                <a:cs typeface="Trebuchet MS"/>
              </a:rPr>
              <a:t> </a:t>
            </a:r>
            <a:r>
              <a:rPr sz="1800" spc="-110" dirty="0">
                <a:solidFill>
                  <a:srgbClr val="616161"/>
                </a:solidFill>
                <a:latin typeface="Trebuchet MS"/>
                <a:cs typeface="Trebuchet MS"/>
              </a:rPr>
              <a:t>it’s</a:t>
            </a:r>
            <a:r>
              <a:rPr sz="1800" spc="-80" dirty="0">
                <a:solidFill>
                  <a:srgbClr val="616161"/>
                </a:solidFill>
                <a:latin typeface="Trebuchet MS"/>
                <a:cs typeface="Trebuchet MS"/>
              </a:rPr>
              <a:t> </a:t>
            </a:r>
            <a:r>
              <a:rPr sz="1800" dirty="0">
                <a:solidFill>
                  <a:srgbClr val="616161"/>
                </a:solidFill>
                <a:latin typeface="Trebuchet MS"/>
                <a:cs typeface="Trebuchet MS"/>
              </a:rPr>
              <a:t>downsides:</a:t>
            </a:r>
            <a:endParaRPr sz="1800" dirty="0">
              <a:latin typeface="Trebuchet MS"/>
              <a:cs typeface="Trebuchet MS"/>
            </a:endParaRPr>
          </a:p>
          <a:p>
            <a:pPr marL="836294" lvl="1" indent="-351790">
              <a:lnSpc>
                <a:spcPct val="100000"/>
              </a:lnSpc>
              <a:spcBef>
                <a:spcPts val="325"/>
              </a:spcBef>
              <a:buFont typeface="Arial MT"/>
              <a:buChar char="○"/>
              <a:tabLst>
                <a:tab pos="836294" algn="l"/>
                <a:tab pos="836930" algn="l"/>
              </a:tabLst>
            </a:pPr>
            <a:r>
              <a:rPr sz="1600" spc="-114" dirty="0">
                <a:solidFill>
                  <a:srgbClr val="616161"/>
                </a:solidFill>
                <a:latin typeface="Trebuchet MS"/>
                <a:cs typeface="Trebuchet MS"/>
              </a:rPr>
              <a:t>It</a:t>
            </a:r>
            <a:r>
              <a:rPr sz="1600" spc="-70" dirty="0">
                <a:solidFill>
                  <a:srgbClr val="616161"/>
                </a:solidFill>
                <a:latin typeface="Trebuchet MS"/>
                <a:cs typeface="Trebuchet MS"/>
              </a:rPr>
              <a:t> </a:t>
            </a:r>
            <a:r>
              <a:rPr sz="1600" spc="-80" dirty="0">
                <a:solidFill>
                  <a:srgbClr val="616161"/>
                </a:solidFill>
                <a:latin typeface="Trebuchet MS"/>
                <a:cs typeface="Trebuchet MS"/>
              </a:rPr>
              <a:t>isn’t</a:t>
            </a:r>
            <a:r>
              <a:rPr sz="1600" spc="-70" dirty="0">
                <a:solidFill>
                  <a:srgbClr val="616161"/>
                </a:solidFill>
                <a:latin typeface="Trebuchet MS"/>
                <a:cs typeface="Trebuchet MS"/>
              </a:rPr>
              <a:t> </a:t>
            </a:r>
            <a:r>
              <a:rPr sz="1600" spc="-55" dirty="0">
                <a:solidFill>
                  <a:srgbClr val="616161"/>
                </a:solidFill>
                <a:latin typeface="Trebuchet MS"/>
                <a:cs typeface="Trebuchet MS"/>
              </a:rPr>
              <a:t>fast</a:t>
            </a:r>
            <a:r>
              <a:rPr sz="1600" spc="-70" dirty="0">
                <a:solidFill>
                  <a:srgbClr val="616161"/>
                </a:solidFill>
                <a:latin typeface="Trebuchet MS"/>
                <a:cs typeface="Trebuchet MS"/>
              </a:rPr>
              <a:t> </a:t>
            </a:r>
            <a:r>
              <a:rPr sz="1600" spc="35" dirty="0">
                <a:solidFill>
                  <a:srgbClr val="616161"/>
                </a:solidFill>
                <a:latin typeface="Trebuchet MS"/>
                <a:cs typeface="Trebuchet MS"/>
              </a:rPr>
              <a:t>enough</a:t>
            </a:r>
            <a:endParaRPr sz="1600" dirty="0">
              <a:latin typeface="Trebuchet MS"/>
              <a:cs typeface="Trebuchet MS"/>
            </a:endParaRPr>
          </a:p>
          <a:p>
            <a:pPr marL="836294" lvl="1" indent="-351790">
              <a:lnSpc>
                <a:spcPct val="100000"/>
              </a:lnSpc>
              <a:spcBef>
                <a:spcPts val="254"/>
              </a:spcBef>
              <a:buFont typeface="Arial MT"/>
              <a:buChar char="○"/>
              <a:tabLst>
                <a:tab pos="836294" algn="l"/>
                <a:tab pos="836930" algn="l"/>
              </a:tabLst>
            </a:pPr>
            <a:r>
              <a:rPr sz="1600" spc="-90" dirty="0">
                <a:solidFill>
                  <a:srgbClr val="616161"/>
                </a:solidFill>
                <a:latin typeface="Trebuchet MS"/>
                <a:cs typeface="Trebuchet MS"/>
              </a:rPr>
              <a:t>It’s</a:t>
            </a:r>
            <a:r>
              <a:rPr sz="1600" spc="-70" dirty="0">
                <a:solidFill>
                  <a:srgbClr val="616161"/>
                </a:solidFill>
                <a:latin typeface="Trebuchet MS"/>
                <a:cs typeface="Trebuchet MS"/>
              </a:rPr>
              <a:t> </a:t>
            </a:r>
            <a:r>
              <a:rPr sz="1600" spc="-60" dirty="0">
                <a:solidFill>
                  <a:srgbClr val="616161"/>
                </a:solidFill>
                <a:latin typeface="Trebuchet MS"/>
                <a:cs typeface="Trebuchet MS"/>
              </a:rPr>
              <a:t>inefficient</a:t>
            </a:r>
            <a:r>
              <a:rPr sz="1600" spc="-70" dirty="0">
                <a:solidFill>
                  <a:srgbClr val="616161"/>
                </a:solidFill>
                <a:latin typeface="Trebuchet MS"/>
                <a:cs typeface="Trebuchet MS"/>
              </a:rPr>
              <a:t> </a:t>
            </a:r>
            <a:r>
              <a:rPr sz="1600" spc="30" dirty="0">
                <a:solidFill>
                  <a:srgbClr val="616161"/>
                </a:solidFill>
                <a:latin typeface="Trebuchet MS"/>
                <a:cs typeface="Trebuchet MS"/>
              </a:rPr>
              <a:t>on</a:t>
            </a:r>
            <a:r>
              <a:rPr sz="1600" spc="-70" dirty="0">
                <a:solidFill>
                  <a:srgbClr val="616161"/>
                </a:solidFill>
                <a:latin typeface="Trebuchet MS"/>
                <a:cs typeface="Trebuchet MS"/>
              </a:rPr>
              <a:t> </a:t>
            </a:r>
            <a:r>
              <a:rPr sz="1600" spc="-65" dirty="0">
                <a:solidFill>
                  <a:srgbClr val="616161"/>
                </a:solidFill>
                <a:latin typeface="Trebuchet MS"/>
                <a:cs typeface="Trebuchet MS"/>
              </a:rPr>
              <a:t>iterative</a:t>
            </a:r>
            <a:r>
              <a:rPr sz="1600" spc="-70" dirty="0">
                <a:solidFill>
                  <a:srgbClr val="616161"/>
                </a:solidFill>
                <a:latin typeface="Trebuchet MS"/>
                <a:cs typeface="Trebuchet MS"/>
              </a:rPr>
              <a:t> </a:t>
            </a:r>
            <a:r>
              <a:rPr sz="1600" dirty="0">
                <a:solidFill>
                  <a:srgbClr val="616161"/>
                </a:solidFill>
                <a:latin typeface="Trebuchet MS"/>
                <a:cs typeface="Trebuchet MS"/>
              </a:rPr>
              <a:t>workloads</a:t>
            </a:r>
            <a:endParaRPr sz="1600" dirty="0">
              <a:latin typeface="Trebuchet MS"/>
              <a:cs typeface="Trebuchet MS"/>
            </a:endParaRPr>
          </a:p>
          <a:p>
            <a:pPr marL="836294" lvl="1" indent="-336550">
              <a:lnSpc>
                <a:spcPct val="100000"/>
              </a:lnSpc>
              <a:spcBef>
                <a:spcPts val="254"/>
              </a:spcBef>
              <a:buSzPct val="87500"/>
              <a:buFont typeface="Arial MT"/>
              <a:buChar char="○"/>
              <a:tabLst>
                <a:tab pos="836294" algn="l"/>
                <a:tab pos="836930" algn="l"/>
              </a:tabLst>
            </a:pPr>
            <a:r>
              <a:rPr sz="1600" spc="-114" dirty="0">
                <a:solidFill>
                  <a:srgbClr val="616161"/>
                </a:solidFill>
                <a:latin typeface="Trebuchet MS"/>
                <a:cs typeface="Trebuchet MS"/>
              </a:rPr>
              <a:t>It</a:t>
            </a:r>
            <a:r>
              <a:rPr sz="1600" spc="-70" dirty="0">
                <a:solidFill>
                  <a:srgbClr val="616161"/>
                </a:solidFill>
                <a:latin typeface="Trebuchet MS"/>
                <a:cs typeface="Trebuchet MS"/>
              </a:rPr>
              <a:t> </a:t>
            </a:r>
            <a:r>
              <a:rPr sz="1600" spc="-25" dirty="0">
                <a:solidFill>
                  <a:srgbClr val="616161"/>
                </a:solidFill>
                <a:latin typeface="Trebuchet MS"/>
                <a:cs typeface="Trebuchet MS"/>
              </a:rPr>
              <a:t>relies</a:t>
            </a:r>
            <a:r>
              <a:rPr sz="1600" spc="-70" dirty="0">
                <a:solidFill>
                  <a:srgbClr val="616161"/>
                </a:solidFill>
                <a:latin typeface="Trebuchet MS"/>
                <a:cs typeface="Trebuchet MS"/>
              </a:rPr>
              <a:t> </a:t>
            </a:r>
            <a:r>
              <a:rPr sz="1600" spc="-20" dirty="0">
                <a:solidFill>
                  <a:srgbClr val="616161"/>
                </a:solidFill>
                <a:latin typeface="Trebuchet MS"/>
                <a:cs typeface="Trebuchet MS"/>
              </a:rPr>
              <a:t>too</a:t>
            </a:r>
            <a:r>
              <a:rPr sz="1600" spc="-70" dirty="0">
                <a:solidFill>
                  <a:srgbClr val="616161"/>
                </a:solidFill>
                <a:latin typeface="Trebuchet MS"/>
                <a:cs typeface="Trebuchet MS"/>
              </a:rPr>
              <a:t> </a:t>
            </a:r>
            <a:r>
              <a:rPr sz="1600" spc="-25" dirty="0">
                <a:solidFill>
                  <a:srgbClr val="616161"/>
                </a:solidFill>
                <a:latin typeface="Trebuchet MS"/>
                <a:cs typeface="Trebuchet MS"/>
              </a:rPr>
              <a:t>heavily</a:t>
            </a:r>
            <a:r>
              <a:rPr sz="1600" spc="-70" dirty="0">
                <a:solidFill>
                  <a:srgbClr val="616161"/>
                </a:solidFill>
                <a:latin typeface="Trebuchet MS"/>
                <a:cs typeface="Trebuchet MS"/>
              </a:rPr>
              <a:t> </a:t>
            </a:r>
            <a:r>
              <a:rPr sz="1600" spc="30" dirty="0">
                <a:solidFill>
                  <a:srgbClr val="616161"/>
                </a:solidFill>
                <a:latin typeface="Trebuchet MS"/>
                <a:cs typeface="Trebuchet MS"/>
              </a:rPr>
              <a:t>on</a:t>
            </a:r>
            <a:r>
              <a:rPr sz="1600" spc="-70" dirty="0">
                <a:solidFill>
                  <a:srgbClr val="616161"/>
                </a:solidFill>
                <a:latin typeface="Trebuchet MS"/>
                <a:cs typeface="Trebuchet MS"/>
              </a:rPr>
              <a:t> </a:t>
            </a:r>
            <a:r>
              <a:rPr sz="1600" b="1" dirty="0">
                <a:solidFill>
                  <a:srgbClr val="616161"/>
                </a:solidFill>
                <a:latin typeface="Trebuchet MS"/>
                <a:cs typeface="Trebuchet MS"/>
              </a:rPr>
              <a:t>on-disk</a:t>
            </a:r>
            <a:r>
              <a:rPr sz="1600" spc="-70" dirty="0">
                <a:solidFill>
                  <a:srgbClr val="616161"/>
                </a:solidFill>
                <a:latin typeface="Trebuchet MS"/>
                <a:cs typeface="Trebuchet MS"/>
              </a:rPr>
              <a:t> </a:t>
            </a:r>
            <a:r>
              <a:rPr sz="1600" spc="-10" dirty="0">
                <a:solidFill>
                  <a:srgbClr val="616161"/>
                </a:solidFill>
                <a:latin typeface="Trebuchet MS"/>
                <a:cs typeface="Trebuchet MS"/>
              </a:rPr>
              <a:t>operations</a:t>
            </a:r>
            <a:r>
              <a:rPr lang="en-US" sz="1600" spc="-10" dirty="0">
                <a:solidFill>
                  <a:srgbClr val="616161"/>
                </a:solidFill>
                <a:latin typeface="Trebuchet MS"/>
                <a:cs typeface="Trebuchet MS"/>
              </a:rPr>
              <a:t> - Most of the Hadoop applications, they spend more than 90% of the time doing HDFS read-write operations</a:t>
            </a:r>
            <a:endParaRPr sz="1600" dirty="0">
              <a:latin typeface="Trebuchet MS"/>
              <a:cs typeface="Trebuchet MS"/>
            </a:endParaRPr>
          </a:p>
        </p:txBody>
      </p:sp>
      <p:sp>
        <p:nvSpPr>
          <p:cNvPr id="4" name="object 4"/>
          <p:cNvSpPr txBox="1"/>
          <p:nvPr/>
        </p:nvSpPr>
        <p:spPr>
          <a:xfrm>
            <a:off x="475249" y="3008532"/>
            <a:ext cx="5424805" cy="907415"/>
          </a:xfrm>
          <a:prstGeom prst="rect">
            <a:avLst/>
          </a:prstGeom>
        </p:spPr>
        <p:txBody>
          <a:bodyPr vert="horz" wrap="square" lIns="0" tIns="58419" rIns="0" bIns="0" rtlCol="0">
            <a:spAutoFit/>
          </a:bodyPr>
          <a:lstStyle/>
          <a:p>
            <a:pPr marL="379095" indent="-367030">
              <a:lnSpc>
                <a:spcPct val="100000"/>
              </a:lnSpc>
              <a:spcBef>
                <a:spcPts val="459"/>
              </a:spcBef>
              <a:buFont typeface="Arial MT"/>
              <a:buChar char="●"/>
              <a:tabLst>
                <a:tab pos="379095" algn="l"/>
                <a:tab pos="379730" algn="l"/>
              </a:tabLst>
            </a:pPr>
            <a:r>
              <a:rPr sz="1800" spc="15" dirty="0">
                <a:solidFill>
                  <a:srgbClr val="616161"/>
                </a:solidFill>
                <a:latin typeface="Trebuchet MS"/>
                <a:cs typeface="Trebuchet MS"/>
              </a:rPr>
              <a:t>Research</a:t>
            </a:r>
            <a:r>
              <a:rPr sz="1800" spc="-80" dirty="0">
                <a:solidFill>
                  <a:srgbClr val="616161"/>
                </a:solidFill>
                <a:latin typeface="Trebuchet MS"/>
                <a:cs typeface="Trebuchet MS"/>
              </a:rPr>
              <a:t> </a:t>
            </a:r>
            <a:r>
              <a:rPr sz="1800" spc="20" dirty="0">
                <a:solidFill>
                  <a:srgbClr val="616161"/>
                </a:solidFill>
                <a:latin typeface="Trebuchet MS"/>
                <a:cs typeface="Trebuchet MS"/>
              </a:rPr>
              <a:t>group</a:t>
            </a:r>
            <a:r>
              <a:rPr sz="1800" spc="-80" dirty="0">
                <a:solidFill>
                  <a:srgbClr val="616161"/>
                </a:solidFill>
                <a:latin typeface="Trebuchet MS"/>
                <a:cs typeface="Trebuchet MS"/>
              </a:rPr>
              <a:t> </a:t>
            </a:r>
            <a:r>
              <a:rPr sz="1800" spc="-95" dirty="0">
                <a:solidFill>
                  <a:srgbClr val="616161"/>
                </a:solidFill>
                <a:latin typeface="Trebuchet MS"/>
                <a:cs typeface="Trebuchet MS"/>
              </a:rPr>
              <a:t>at</a:t>
            </a:r>
            <a:r>
              <a:rPr sz="1800" spc="-80" dirty="0">
                <a:solidFill>
                  <a:srgbClr val="616161"/>
                </a:solidFill>
                <a:latin typeface="Trebuchet MS"/>
                <a:cs typeface="Trebuchet MS"/>
              </a:rPr>
              <a:t> </a:t>
            </a:r>
            <a:r>
              <a:rPr sz="1800" spc="114" dirty="0">
                <a:solidFill>
                  <a:srgbClr val="616161"/>
                </a:solidFill>
                <a:latin typeface="Trebuchet MS"/>
                <a:cs typeface="Trebuchet MS"/>
              </a:rPr>
              <a:t>UC</a:t>
            </a:r>
            <a:r>
              <a:rPr sz="1800" spc="-80" dirty="0">
                <a:solidFill>
                  <a:srgbClr val="616161"/>
                </a:solidFill>
                <a:latin typeface="Trebuchet MS"/>
                <a:cs typeface="Trebuchet MS"/>
              </a:rPr>
              <a:t> </a:t>
            </a:r>
            <a:r>
              <a:rPr sz="1800" spc="-5" dirty="0">
                <a:solidFill>
                  <a:srgbClr val="616161"/>
                </a:solidFill>
                <a:latin typeface="Trebuchet MS"/>
                <a:cs typeface="Trebuchet MS"/>
              </a:rPr>
              <a:t>Berkeley</a:t>
            </a:r>
            <a:r>
              <a:rPr sz="1800" spc="-80" dirty="0">
                <a:solidFill>
                  <a:srgbClr val="616161"/>
                </a:solidFill>
                <a:latin typeface="Trebuchet MS"/>
                <a:cs typeface="Trebuchet MS"/>
              </a:rPr>
              <a:t> </a:t>
            </a:r>
            <a:r>
              <a:rPr sz="1800" spc="5" dirty="0">
                <a:solidFill>
                  <a:srgbClr val="616161"/>
                </a:solidFill>
                <a:latin typeface="Trebuchet MS"/>
                <a:cs typeface="Trebuchet MS"/>
              </a:rPr>
              <a:t>develop</a:t>
            </a:r>
            <a:r>
              <a:rPr sz="1800" spc="-80" dirty="0">
                <a:solidFill>
                  <a:srgbClr val="616161"/>
                </a:solidFill>
                <a:latin typeface="Trebuchet MS"/>
                <a:cs typeface="Trebuchet MS"/>
              </a:rPr>
              <a:t> </a:t>
            </a:r>
            <a:r>
              <a:rPr sz="1800" spc="25" dirty="0">
                <a:solidFill>
                  <a:srgbClr val="616161"/>
                </a:solidFill>
                <a:latin typeface="Trebuchet MS"/>
                <a:cs typeface="Trebuchet MS"/>
              </a:rPr>
              <a:t>Spark</a:t>
            </a:r>
            <a:endParaRPr sz="1800" dirty="0">
              <a:latin typeface="Trebuchet MS"/>
              <a:cs typeface="Trebuchet MS"/>
            </a:endParaRPr>
          </a:p>
          <a:p>
            <a:pPr marL="836294" lvl="1" indent="-351790">
              <a:lnSpc>
                <a:spcPct val="100000"/>
              </a:lnSpc>
              <a:spcBef>
                <a:spcPts val="325"/>
              </a:spcBef>
              <a:buFont typeface="Arial MT"/>
              <a:buChar char="○"/>
              <a:tabLst>
                <a:tab pos="836294" algn="l"/>
                <a:tab pos="836930" algn="l"/>
              </a:tabLst>
            </a:pPr>
            <a:r>
              <a:rPr sz="1600" spc="-30" dirty="0">
                <a:solidFill>
                  <a:srgbClr val="616161"/>
                </a:solidFill>
                <a:latin typeface="Trebuchet MS"/>
                <a:cs typeface="Trebuchet MS"/>
              </a:rPr>
              <a:t>Started</a:t>
            </a:r>
            <a:r>
              <a:rPr sz="1600" spc="-70" dirty="0">
                <a:solidFill>
                  <a:srgbClr val="616161"/>
                </a:solidFill>
                <a:latin typeface="Trebuchet MS"/>
                <a:cs typeface="Trebuchet MS"/>
              </a:rPr>
              <a:t> </a:t>
            </a:r>
            <a:r>
              <a:rPr sz="1600" spc="-45" dirty="0">
                <a:solidFill>
                  <a:srgbClr val="616161"/>
                </a:solidFill>
                <a:latin typeface="Trebuchet MS"/>
                <a:cs typeface="Trebuchet MS"/>
              </a:rPr>
              <a:t>in</a:t>
            </a:r>
            <a:r>
              <a:rPr sz="1600" spc="-70" dirty="0">
                <a:solidFill>
                  <a:srgbClr val="616161"/>
                </a:solidFill>
                <a:latin typeface="Trebuchet MS"/>
                <a:cs typeface="Trebuchet MS"/>
              </a:rPr>
              <a:t> </a:t>
            </a:r>
            <a:r>
              <a:rPr sz="1600" spc="120" dirty="0">
                <a:solidFill>
                  <a:srgbClr val="616161"/>
                </a:solidFill>
                <a:latin typeface="Trebuchet MS"/>
                <a:cs typeface="Trebuchet MS"/>
              </a:rPr>
              <a:t>2009</a:t>
            </a:r>
            <a:endParaRPr sz="1600" dirty="0">
              <a:latin typeface="Trebuchet MS"/>
              <a:cs typeface="Trebuchet MS"/>
            </a:endParaRPr>
          </a:p>
          <a:p>
            <a:pPr marL="836294" lvl="1" indent="-351790">
              <a:lnSpc>
                <a:spcPct val="100000"/>
              </a:lnSpc>
              <a:spcBef>
                <a:spcPts val="254"/>
              </a:spcBef>
              <a:buFont typeface="Arial MT"/>
              <a:buChar char="○"/>
              <a:tabLst>
                <a:tab pos="836294" algn="l"/>
                <a:tab pos="836930" algn="l"/>
              </a:tabLst>
            </a:pPr>
            <a:r>
              <a:rPr sz="1600" spc="-75" dirty="0">
                <a:solidFill>
                  <a:srgbClr val="616161"/>
                </a:solidFill>
                <a:latin typeface="Trebuchet MS"/>
                <a:cs typeface="Trebuchet MS"/>
              </a:rPr>
              <a:t>Initial</a:t>
            </a:r>
            <a:r>
              <a:rPr sz="1600" spc="-70" dirty="0">
                <a:solidFill>
                  <a:srgbClr val="616161"/>
                </a:solidFill>
                <a:latin typeface="Trebuchet MS"/>
                <a:cs typeface="Trebuchet MS"/>
              </a:rPr>
              <a:t> </a:t>
            </a:r>
            <a:r>
              <a:rPr sz="1600" spc="10" dirty="0">
                <a:solidFill>
                  <a:srgbClr val="616161"/>
                </a:solidFill>
                <a:latin typeface="Trebuchet MS"/>
                <a:cs typeface="Trebuchet MS"/>
              </a:rPr>
              <a:t>versions</a:t>
            </a:r>
            <a:r>
              <a:rPr sz="1600" spc="-70" dirty="0">
                <a:solidFill>
                  <a:srgbClr val="616161"/>
                </a:solidFill>
                <a:latin typeface="Trebuchet MS"/>
                <a:cs typeface="Trebuchet MS"/>
              </a:rPr>
              <a:t> </a:t>
            </a:r>
            <a:r>
              <a:rPr sz="1600" spc="-25" dirty="0">
                <a:solidFill>
                  <a:srgbClr val="616161"/>
                </a:solidFill>
                <a:latin typeface="Trebuchet MS"/>
                <a:cs typeface="Trebuchet MS"/>
              </a:rPr>
              <a:t>outperformed</a:t>
            </a:r>
            <a:r>
              <a:rPr sz="1600" spc="-70" dirty="0">
                <a:solidFill>
                  <a:srgbClr val="616161"/>
                </a:solidFill>
                <a:latin typeface="Trebuchet MS"/>
                <a:cs typeface="Trebuchet MS"/>
              </a:rPr>
              <a:t> </a:t>
            </a:r>
            <a:r>
              <a:rPr sz="1600" spc="35" dirty="0">
                <a:solidFill>
                  <a:srgbClr val="616161"/>
                </a:solidFill>
                <a:latin typeface="Trebuchet MS"/>
                <a:cs typeface="Trebuchet MS"/>
              </a:rPr>
              <a:t>MapReduce</a:t>
            </a:r>
            <a:r>
              <a:rPr sz="1600" spc="-70" dirty="0">
                <a:solidFill>
                  <a:srgbClr val="616161"/>
                </a:solidFill>
                <a:latin typeface="Trebuchet MS"/>
                <a:cs typeface="Trebuchet MS"/>
              </a:rPr>
              <a:t> </a:t>
            </a:r>
            <a:r>
              <a:rPr sz="1600" spc="10" dirty="0">
                <a:solidFill>
                  <a:srgbClr val="616161"/>
                </a:solidFill>
                <a:latin typeface="Trebuchet MS"/>
                <a:cs typeface="Trebuchet MS"/>
              </a:rPr>
              <a:t>by</a:t>
            </a:r>
            <a:r>
              <a:rPr sz="1600" spc="-70" dirty="0">
                <a:solidFill>
                  <a:srgbClr val="616161"/>
                </a:solidFill>
                <a:latin typeface="Trebuchet MS"/>
                <a:cs typeface="Trebuchet MS"/>
              </a:rPr>
              <a:t> </a:t>
            </a:r>
            <a:r>
              <a:rPr sz="1600" spc="-10" dirty="0">
                <a:solidFill>
                  <a:srgbClr val="616161"/>
                </a:solidFill>
                <a:latin typeface="Trebuchet MS"/>
                <a:cs typeface="Trebuchet MS"/>
              </a:rPr>
              <a:t>10-20x</a:t>
            </a:r>
            <a:endParaRPr sz="1600" dirty="0">
              <a:latin typeface="Trebuchet MS"/>
              <a:cs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214245" cy="452120"/>
          </a:xfrm>
          <a:prstGeom prst="rect">
            <a:avLst/>
          </a:prstGeom>
        </p:spPr>
        <p:txBody>
          <a:bodyPr vert="horz" wrap="square" lIns="0" tIns="12700" rIns="0" bIns="0" rtlCol="0">
            <a:spAutoFit/>
          </a:bodyPr>
          <a:lstStyle/>
          <a:p>
            <a:pPr marL="12700">
              <a:lnSpc>
                <a:spcPct val="100000"/>
              </a:lnSpc>
              <a:spcBef>
                <a:spcPts val="100"/>
              </a:spcBef>
            </a:pPr>
            <a:r>
              <a:rPr sz="2800" spc="50" dirty="0">
                <a:solidFill>
                  <a:srgbClr val="202729"/>
                </a:solidFill>
              </a:rPr>
              <a:t>Apache</a:t>
            </a:r>
            <a:r>
              <a:rPr sz="2800" spc="-210" dirty="0">
                <a:solidFill>
                  <a:srgbClr val="202729"/>
                </a:solidFill>
              </a:rPr>
              <a:t> </a:t>
            </a:r>
            <a:r>
              <a:rPr sz="2800" spc="40" dirty="0">
                <a:solidFill>
                  <a:srgbClr val="202729"/>
                </a:solidFill>
              </a:rPr>
              <a:t>Spark</a:t>
            </a:r>
            <a:endParaRPr sz="2800"/>
          </a:p>
        </p:txBody>
      </p:sp>
      <p:sp>
        <p:nvSpPr>
          <p:cNvPr id="3" name="object 3"/>
          <p:cNvSpPr txBox="1"/>
          <p:nvPr/>
        </p:nvSpPr>
        <p:spPr>
          <a:xfrm>
            <a:off x="384725" y="1216355"/>
            <a:ext cx="6576695" cy="299720"/>
          </a:xfrm>
          <a:prstGeom prst="rect">
            <a:avLst/>
          </a:prstGeom>
        </p:spPr>
        <p:txBody>
          <a:bodyPr vert="horz" wrap="square" lIns="0" tIns="12700" rIns="0" bIns="0" rtlCol="0">
            <a:spAutoFit/>
          </a:bodyPr>
          <a:lstStyle/>
          <a:p>
            <a:pPr marL="12700">
              <a:lnSpc>
                <a:spcPct val="100000"/>
              </a:lnSpc>
              <a:spcBef>
                <a:spcPts val="100"/>
              </a:spcBef>
            </a:pPr>
            <a:r>
              <a:rPr sz="1800" spc="55" dirty="0">
                <a:solidFill>
                  <a:srgbClr val="616161"/>
                </a:solidFill>
                <a:latin typeface="Trebuchet MS"/>
                <a:cs typeface="Trebuchet MS"/>
              </a:rPr>
              <a:t>Open</a:t>
            </a:r>
            <a:r>
              <a:rPr sz="1800" spc="-80" dirty="0">
                <a:solidFill>
                  <a:srgbClr val="616161"/>
                </a:solidFill>
                <a:latin typeface="Trebuchet MS"/>
                <a:cs typeface="Trebuchet MS"/>
              </a:rPr>
              <a:t> </a:t>
            </a:r>
            <a:r>
              <a:rPr sz="1800" spc="-10" dirty="0">
                <a:solidFill>
                  <a:srgbClr val="616161"/>
                </a:solidFill>
                <a:latin typeface="Trebuchet MS"/>
                <a:cs typeface="Trebuchet MS"/>
              </a:rPr>
              <a:t>Source,</a:t>
            </a:r>
            <a:r>
              <a:rPr sz="1800" spc="-75" dirty="0">
                <a:solidFill>
                  <a:srgbClr val="616161"/>
                </a:solidFill>
                <a:latin typeface="Trebuchet MS"/>
                <a:cs typeface="Trebuchet MS"/>
              </a:rPr>
              <a:t> </a:t>
            </a:r>
            <a:r>
              <a:rPr sz="1800" spc="-30" dirty="0">
                <a:solidFill>
                  <a:srgbClr val="616161"/>
                </a:solidFill>
                <a:latin typeface="Trebuchet MS"/>
                <a:cs typeface="Trebuchet MS"/>
              </a:rPr>
              <a:t>Distributed</a:t>
            </a:r>
            <a:r>
              <a:rPr sz="1800" spc="-75" dirty="0">
                <a:solidFill>
                  <a:srgbClr val="616161"/>
                </a:solidFill>
                <a:latin typeface="Trebuchet MS"/>
                <a:cs typeface="Trebuchet MS"/>
              </a:rPr>
              <a:t> </a:t>
            </a:r>
            <a:r>
              <a:rPr sz="1800" dirty="0">
                <a:solidFill>
                  <a:srgbClr val="616161"/>
                </a:solidFill>
                <a:latin typeface="Trebuchet MS"/>
                <a:cs typeface="Trebuchet MS"/>
              </a:rPr>
              <a:t>general-purpose</a:t>
            </a:r>
            <a:r>
              <a:rPr sz="1800" spc="-75" dirty="0">
                <a:solidFill>
                  <a:srgbClr val="616161"/>
                </a:solidFill>
                <a:latin typeface="Trebuchet MS"/>
                <a:cs typeface="Trebuchet MS"/>
              </a:rPr>
              <a:t> </a:t>
            </a:r>
            <a:r>
              <a:rPr sz="1800" spc="-15" dirty="0">
                <a:solidFill>
                  <a:srgbClr val="616161"/>
                </a:solidFill>
                <a:latin typeface="Trebuchet MS"/>
                <a:cs typeface="Trebuchet MS"/>
              </a:rPr>
              <a:t>computing</a:t>
            </a:r>
            <a:r>
              <a:rPr sz="1800" spc="-75" dirty="0">
                <a:solidFill>
                  <a:srgbClr val="616161"/>
                </a:solidFill>
                <a:latin typeface="Trebuchet MS"/>
                <a:cs typeface="Trebuchet MS"/>
              </a:rPr>
              <a:t> </a:t>
            </a:r>
            <a:r>
              <a:rPr sz="1800" spc="-60" dirty="0">
                <a:solidFill>
                  <a:srgbClr val="616161"/>
                </a:solidFill>
                <a:latin typeface="Trebuchet MS"/>
                <a:cs typeface="Trebuchet MS"/>
              </a:rPr>
              <a:t>framework.</a:t>
            </a:r>
            <a:endParaRPr sz="1800" dirty="0">
              <a:latin typeface="Trebuchet MS"/>
              <a:cs typeface="Trebuchet MS"/>
            </a:endParaRPr>
          </a:p>
        </p:txBody>
      </p:sp>
      <p:sp>
        <p:nvSpPr>
          <p:cNvPr id="4" name="object 4"/>
          <p:cNvSpPr txBox="1"/>
          <p:nvPr/>
        </p:nvSpPr>
        <p:spPr>
          <a:xfrm>
            <a:off x="533400" y="1718697"/>
            <a:ext cx="4890770" cy="1561324"/>
          </a:xfrm>
          <a:prstGeom prst="rect">
            <a:avLst/>
          </a:prstGeom>
        </p:spPr>
        <p:txBody>
          <a:bodyPr vert="horz" wrap="square" lIns="0" tIns="52704" rIns="0" bIns="0" rtlCol="0">
            <a:spAutoFit/>
          </a:bodyPr>
          <a:lstStyle/>
          <a:p>
            <a:pPr marL="309880" indent="-297180">
              <a:lnSpc>
                <a:spcPct val="100000"/>
              </a:lnSpc>
              <a:spcBef>
                <a:spcPts val="414"/>
              </a:spcBef>
              <a:buChar char="-"/>
              <a:tabLst>
                <a:tab pos="309245" algn="l"/>
                <a:tab pos="309880" algn="l"/>
              </a:tabLst>
            </a:pPr>
            <a:r>
              <a:rPr sz="1800" spc="55" dirty="0">
                <a:solidFill>
                  <a:srgbClr val="616161"/>
                </a:solidFill>
                <a:latin typeface="Trebuchet MS"/>
                <a:cs typeface="Trebuchet MS"/>
              </a:rPr>
              <a:t>Managed</a:t>
            </a:r>
            <a:r>
              <a:rPr sz="1800" spc="-90" dirty="0">
                <a:solidFill>
                  <a:srgbClr val="616161"/>
                </a:solidFill>
                <a:latin typeface="Trebuchet MS"/>
                <a:cs typeface="Trebuchet MS"/>
              </a:rPr>
              <a:t> </a:t>
            </a:r>
            <a:r>
              <a:rPr sz="1800" spc="10" dirty="0">
                <a:solidFill>
                  <a:srgbClr val="616161"/>
                </a:solidFill>
                <a:latin typeface="Trebuchet MS"/>
                <a:cs typeface="Trebuchet MS"/>
              </a:rPr>
              <a:t>by</a:t>
            </a:r>
            <a:r>
              <a:rPr sz="1800" spc="-90" dirty="0">
                <a:solidFill>
                  <a:srgbClr val="616161"/>
                </a:solidFill>
                <a:latin typeface="Trebuchet MS"/>
                <a:cs typeface="Trebuchet MS"/>
              </a:rPr>
              <a:t> </a:t>
            </a:r>
            <a:r>
              <a:rPr sz="1800" spc="30" dirty="0">
                <a:solidFill>
                  <a:srgbClr val="616161"/>
                </a:solidFill>
                <a:latin typeface="Trebuchet MS"/>
                <a:cs typeface="Trebuchet MS"/>
              </a:rPr>
              <a:t>Apache</a:t>
            </a:r>
            <a:r>
              <a:rPr sz="1800" spc="-90" dirty="0">
                <a:solidFill>
                  <a:srgbClr val="616161"/>
                </a:solidFill>
                <a:latin typeface="Trebuchet MS"/>
                <a:cs typeface="Trebuchet MS"/>
              </a:rPr>
              <a:t> </a:t>
            </a:r>
            <a:r>
              <a:rPr sz="1800" spc="-10" dirty="0">
                <a:solidFill>
                  <a:srgbClr val="616161"/>
                </a:solidFill>
                <a:latin typeface="Trebuchet MS"/>
                <a:cs typeface="Trebuchet MS"/>
              </a:rPr>
              <a:t>Foundation</a:t>
            </a:r>
            <a:endParaRPr sz="1800" dirty="0">
              <a:latin typeface="Trebuchet MS"/>
              <a:cs typeface="Trebuchet MS"/>
            </a:endParaRPr>
          </a:p>
          <a:p>
            <a:pPr marL="309880" indent="-297180">
              <a:lnSpc>
                <a:spcPct val="100000"/>
              </a:lnSpc>
              <a:spcBef>
                <a:spcPts val="315"/>
              </a:spcBef>
              <a:buChar char="-"/>
              <a:tabLst>
                <a:tab pos="309245" algn="l"/>
                <a:tab pos="309880" algn="l"/>
              </a:tabLst>
            </a:pPr>
            <a:r>
              <a:rPr sz="1800" spc="-70" dirty="0">
                <a:solidFill>
                  <a:srgbClr val="616161"/>
                </a:solidFill>
                <a:latin typeface="Trebuchet MS"/>
                <a:cs typeface="Trebuchet MS"/>
              </a:rPr>
              <a:t>Written</a:t>
            </a:r>
            <a:r>
              <a:rPr sz="1800" spc="-80" dirty="0">
                <a:solidFill>
                  <a:srgbClr val="616161"/>
                </a:solidFill>
                <a:latin typeface="Trebuchet MS"/>
                <a:cs typeface="Trebuchet MS"/>
              </a:rPr>
              <a:t> </a:t>
            </a:r>
            <a:r>
              <a:rPr sz="1800" spc="-50" dirty="0">
                <a:solidFill>
                  <a:srgbClr val="616161"/>
                </a:solidFill>
                <a:latin typeface="Trebuchet MS"/>
                <a:cs typeface="Trebuchet MS"/>
              </a:rPr>
              <a:t>in</a:t>
            </a:r>
            <a:r>
              <a:rPr sz="1800" spc="-80" dirty="0">
                <a:solidFill>
                  <a:srgbClr val="616161"/>
                </a:solidFill>
                <a:latin typeface="Trebuchet MS"/>
                <a:cs typeface="Trebuchet MS"/>
              </a:rPr>
              <a:t> </a:t>
            </a:r>
            <a:r>
              <a:rPr sz="1800" spc="10" dirty="0">
                <a:solidFill>
                  <a:srgbClr val="616161"/>
                </a:solidFill>
                <a:latin typeface="Trebuchet MS"/>
                <a:cs typeface="Trebuchet MS"/>
              </a:rPr>
              <a:t>Scala</a:t>
            </a:r>
            <a:endParaRPr sz="1800" dirty="0">
              <a:latin typeface="Trebuchet MS"/>
              <a:cs typeface="Trebuchet MS"/>
            </a:endParaRPr>
          </a:p>
          <a:p>
            <a:pPr marL="309880" indent="-297180">
              <a:lnSpc>
                <a:spcPct val="100000"/>
              </a:lnSpc>
              <a:spcBef>
                <a:spcPts val="315"/>
              </a:spcBef>
              <a:buChar char="-"/>
              <a:tabLst>
                <a:tab pos="309245" algn="l"/>
                <a:tab pos="309880" algn="l"/>
              </a:tabLst>
            </a:pPr>
            <a:r>
              <a:rPr sz="1800" spc="10" dirty="0">
                <a:solidFill>
                  <a:srgbClr val="616161"/>
                </a:solidFill>
                <a:latin typeface="Trebuchet MS"/>
                <a:cs typeface="Trebuchet MS"/>
              </a:rPr>
              <a:t>Robust</a:t>
            </a:r>
            <a:r>
              <a:rPr sz="1800" spc="-80" dirty="0">
                <a:solidFill>
                  <a:srgbClr val="616161"/>
                </a:solidFill>
                <a:latin typeface="Trebuchet MS"/>
                <a:cs typeface="Trebuchet MS"/>
              </a:rPr>
              <a:t> </a:t>
            </a:r>
            <a:r>
              <a:rPr sz="1800" spc="-30" dirty="0">
                <a:solidFill>
                  <a:srgbClr val="616161"/>
                </a:solidFill>
                <a:latin typeface="Trebuchet MS"/>
                <a:cs typeface="Trebuchet MS"/>
              </a:rPr>
              <a:t>high-level</a:t>
            </a:r>
            <a:r>
              <a:rPr sz="1800" spc="-75" dirty="0">
                <a:solidFill>
                  <a:srgbClr val="616161"/>
                </a:solidFill>
                <a:latin typeface="Trebuchet MS"/>
                <a:cs typeface="Trebuchet MS"/>
              </a:rPr>
              <a:t> </a:t>
            </a:r>
            <a:r>
              <a:rPr sz="1800" spc="50" dirty="0">
                <a:solidFill>
                  <a:srgbClr val="616161"/>
                </a:solidFill>
                <a:latin typeface="Trebuchet MS"/>
                <a:cs typeface="Trebuchet MS"/>
              </a:rPr>
              <a:t>APIs</a:t>
            </a:r>
            <a:r>
              <a:rPr sz="1800" spc="-75" dirty="0">
                <a:solidFill>
                  <a:srgbClr val="616161"/>
                </a:solidFill>
                <a:latin typeface="Trebuchet MS"/>
                <a:cs typeface="Trebuchet MS"/>
              </a:rPr>
              <a:t> </a:t>
            </a:r>
            <a:r>
              <a:rPr sz="1800" spc="-70" dirty="0">
                <a:solidFill>
                  <a:srgbClr val="616161"/>
                </a:solidFill>
                <a:latin typeface="Trebuchet MS"/>
                <a:cs typeface="Trebuchet MS"/>
              </a:rPr>
              <a:t>for</a:t>
            </a:r>
            <a:r>
              <a:rPr sz="1800" spc="-75" dirty="0">
                <a:solidFill>
                  <a:srgbClr val="616161"/>
                </a:solidFill>
                <a:latin typeface="Trebuchet MS"/>
                <a:cs typeface="Trebuchet MS"/>
              </a:rPr>
              <a:t> </a:t>
            </a:r>
            <a:r>
              <a:rPr sz="1800" spc="-70" dirty="0">
                <a:solidFill>
                  <a:srgbClr val="616161"/>
                </a:solidFill>
                <a:latin typeface="Trebuchet MS"/>
                <a:cs typeface="Trebuchet MS"/>
              </a:rPr>
              <a:t>different</a:t>
            </a:r>
            <a:r>
              <a:rPr sz="1800" spc="-75" dirty="0">
                <a:solidFill>
                  <a:srgbClr val="616161"/>
                </a:solidFill>
                <a:latin typeface="Trebuchet MS"/>
                <a:cs typeface="Trebuchet MS"/>
              </a:rPr>
              <a:t> </a:t>
            </a:r>
            <a:r>
              <a:rPr sz="1800" spc="30" dirty="0">
                <a:solidFill>
                  <a:srgbClr val="616161"/>
                </a:solidFill>
                <a:latin typeface="Trebuchet MS"/>
                <a:cs typeface="Trebuchet MS"/>
              </a:rPr>
              <a:t>languages</a:t>
            </a:r>
            <a:endParaRPr sz="1800" dirty="0">
              <a:latin typeface="Trebuchet MS"/>
              <a:cs typeface="Trebuchet MS"/>
            </a:endParaRPr>
          </a:p>
          <a:p>
            <a:pPr marL="309880" indent="-297180">
              <a:lnSpc>
                <a:spcPct val="100000"/>
              </a:lnSpc>
              <a:spcBef>
                <a:spcPts val="315"/>
              </a:spcBef>
              <a:buChar char="-"/>
              <a:tabLst>
                <a:tab pos="309245" algn="l"/>
                <a:tab pos="309880" algn="l"/>
              </a:tabLst>
            </a:pPr>
            <a:r>
              <a:rPr sz="1800" dirty="0">
                <a:solidFill>
                  <a:srgbClr val="616161"/>
                </a:solidFill>
                <a:latin typeface="Trebuchet MS"/>
                <a:cs typeface="Trebuchet MS"/>
              </a:rPr>
              <a:t>Allows</a:t>
            </a:r>
            <a:r>
              <a:rPr sz="1800" spc="-80" dirty="0">
                <a:solidFill>
                  <a:srgbClr val="616161"/>
                </a:solidFill>
                <a:latin typeface="Trebuchet MS"/>
                <a:cs typeface="Trebuchet MS"/>
              </a:rPr>
              <a:t> </a:t>
            </a:r>
            <a:r>
              <a:rPr sz="1800" spc="-70" dirty="0">
                <a:solidFill>
                  <a:srgbClr val="616161"/>
                </a:solidFill>
                <a:latin typeface="Trebuchet MS"/>
                <a:cs typeface="Trebuchet MS"/>
              </a:rPr>
              <a:t>iterative</a:t>
            </a:r>
            <a:r>
              <a:rPr sz="1800" spc="-80" dirty="0">
                <a:solidFill>
                  <a:srgbClr val="616161"/>
                </a:solidFill>
                <a:latin typeface="Trebuchet MS"/>
                <a:cs typeface="Trebuchet MS"/>
              </a:rPr>
              <a:t> </a:t>
            </a:r>
            <a:r>
              <a:rPr sz="1800" spc="-20" dirty="0">
                <a:solidFill>
                  <a:srgbClr val="616161"/>
                </a:solidFill>
                <a:latin typeface="Trebuchet MS"/>
                <a:cs typeface="Trebuchet MS"/>
              </a:rPr>
              <a:t>computations</a:t>
            </a:r>
            <a:endParaRPr sz="1800" dirty="0">
              <a:latin typeface="Trebuchet MS"/>
              <a:cs typeface="Trebuchet MS"/>
            </a:endParaRPr>
          </a:p>
          <a:p>
            <a:pPr marL="485140">
              <a:lnSpc>
                <a:spcPct val="100000"/>
              </a:lnSpc>
              <a:spcBef>
                <a:spcPts val="330"/>
              </a:spcBef>
              <a:tabLst>
                <a:tab pos="766445" algn="l"/>
              </a:tabLst>
            </a:pPr>
            <a:r>
              <a:rPr sz="1400" spc="-95" dirty="0">
                <a:solidFill>
                  <a:srgbClr val="616161"/>
                </a:solidFill>
                <a:latin typeface="Trebuchet MS"/>
                <a:cs typeface="Trebuchet MS"/>
              </a:rPr>
              <a:t>-	</a:t>
            </a:r>
            <a:r>
              <a:rPr sz="1600" spc="-95" dirty="0">
                <a:solidFill>
                  <a:srgbClr val="616161"/>
                </a:solidFill>
                <a:latin typeface="Trebuchet MS"/>
                <a:cs typeface="Trebuchet MS"/>
              </a:rPr>
              <a:t>Graph</a:t>
            </a:r>
            <a:r>
              <a:rPr sz="1600" spc="-65" dirty="0">
                <a:solidFill>
                  <a:srgbClr val="616161"/>
                </a:solidFill>
                <a:latin typeface="Trebuchet MS"/>
                <a:cs typeface="Trebuchet MS"/>
              </a:rPr>
              <a:t> </a:t>
            </a:r>
            <a:r>
              <a:rPr sz="1600" spc="-40" dirty="0">
                <a:solidFill>
                  <a:srgbClr val="616161"/>
                </a:solidFill>
                <a:latin typeface="Trebuchet MS"/>
                <a:cs typeface="Trebuchet MS"/>
              </a:rPr>
              <a:t>algorithms,</a:t>
            </a:r>
            <a:r>
              <a:rPr sz="1600" spc="-65" dirty="0">
                <a:solidFill>
                  <a:srgbClr val="616161"/>
                </a:solidFill>
                <a:latin typeface="Trebuchet MS"/>
                <a:cs typeface="Trebuchet MS"/>
              </a:rPr>
              <a:t> </a:t>
            </a:r>
            <a:r>
              <a:rPr sz="1600" spc="-20" dirty="0">
                <a:solidFill>
                  <a:srgbClr val="616161"/>
                </a:solidFill>
                <a:latin typeface="Trebuchet MS"/>
                <a:cs typeface="Trebuchet MS"/>
              </a:rPr>
              <a:t>ML,</a:t>
            </a:r>
            <a:r>
              <a:rPr sz="1600" spc="-65" dirty="0">
                <a:solidFill>
                  <a:srgbClr val="616161"/>
                </a:solidFill>
                <a:latin typeface="Trebuchet MS"/>
                <a:cs typeface="Trebuchet MS"/>
              </a:rPr>
              <a:t> </a:t>
            </a:r>
            <a:r>
              <a:rPr sz="1600" spc="10" dirty="0">
                <a:solidFill>
                  <a:srgbClr val="616161"/>
                </a:solidFill>
                <a:latin typeface="Trebuchet MS"/>
                <a:cs typeface="Trebuchet MS"/>
              </a:rPr>
              <a:t>and</a:t>
            </a:r>
            <a:r>
              <a:rPr sz="1600" spc="-65" dirty="0">
                <a:solidFill>
                  <a:srgbClr val="616161"/>
                </a:solidFill>
                <a:latin typeface="Trebuchet MS"/>
                <a:cs typeface="Trebuchet MS"/>
              </a:rPr>
              <a:t> </a:t>
            </a:r>
            <a:r>
              <a:rPr sz="1600" spc="-10" dirty="0">
                <a:solidFill>
                  <a:srgbClr val="616161"/>
                </a:solidFill>
                <a:latin typeface="Trebuchet MS"/>
                <a:cs typeface="Trebuchet MS"/>
              </a:rPr>
              <a:t>more</a:t>
            </a:r>
            <a:endParaRPr sz="1600" dirty="0">
              <a:latin typeface="Trebuchet MS"/>
              <a:cs typeface="Trebuchet MS"/>
            </a:endParaRPr>
          </a:p>
        </p:txBody>
      </p:sp>
      <p:pic>
        <p:nvPicPr>
          <p:cNvPr id="5" name="object 5"/>
          <p:cNvPicPr/>
          <p:nvPr/>
        </p:nvPicPr>
        <p:blipFill>
          <a:blip r:embed="rId3" cstate="print"/>
          <a:stretch>
            <a:fillRect/>
          </a:stretch>
        </p:blipFill>
        <p:spPr>
          <a:xfrm>
            <a:off x="4876800" y="3195070"/>
            <a:ext cx="2752599" cy="14641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4143375" cy="452120"/>
          </a:xfrm>
          <a:prstGeom prst="rect">
            <a:avLst/>
          </a:prstGeom>
        </p:spPr>
        <p:txBody>
          <a:bodyPr vert="horz" wrap="square" lIns="0" tIns="12700" rIns="0" bIns="0" rtlCol="0">
            <a:spAutoFit/>
          </a:bodyPr>
          <a:lstStyle/>
          <a:p>
            <a:pPr marL="12700">
              <a:lnSpc>
                <a:spcPct val="100000"/>
              </a:lnSpc>
              <a:spcBef>
                <a:spcPts val="100"/>
              </a:spcBef>
            </a:pPr>
            <a:r>
              <a:rPr sz="2800" spc="-40" dirty="0">
                <a:solidFill>
                  <a:srgbClr val="202729"/>
                </a:solidFill>
              </a:rPr>
              <a:t>Computational</a:t>
            </a:r>
            <a:r>
              <a:rPr sz="2800" spc="-125" dirty="0">
                <a:solidFill>
                  <a:srgbClr val="202729"/>
                </a:solidFill>
              </a:rPr>
              <a:t> </a:t>
            </a:r>
            <a:r>
              <a:rPr sz="2800" spc="-20" dirty="0">
                <a:solidFill>
                  <a:srgbClr val="202729"/>
                </a:solidFill>
              </a:rPr>
              <a:t>Framework</a:t>
            </a:r>
            <a:endParaRPr sz="2800"/>
          </a:p>
        </p:txBody>
      </p:sp>
      <p:sp>
        <p:nvSpPr>
          <p:cNvPr id="3" name="object 3"/>
          <p:cNvSpPr txBox="1"/>
          <p:nvPr/>
        </p:nvSpPr>
        <p:spPr>
          <a:xfrm>
            <a:off x="475249" y="1216355"/>
            <a:ext cx="7217409" cy="2185670"/>
          </a:xfrm>
          <a:prstGeom prst="rect">
            <a:avLst/>
          </a:prstGeom>
        </p:spPr>
        <p:txBody>
          <a:bodyPr vert="horz" wrap="square" lIns="0" tIns="12700" rIns="0" bIns="0" rtlCol="0">
            <a:spAutoFit/>
          </a:bodyPr>
          <a:lstStyle/>
          <a:p>
            <a:pPr marL="379095" indent="-367030">
              <a:lnSpc>
                <a:spcPct val="100000"/>
              </a:lnSpc>
              <a:spcBef>
                <a:spcPts val="100"/>
              </a:spcBef>
              <a:buFont typeface="Arial MT"/>
              <a:buChar char="●"/>
              <a:tabLst>
                <a:tab pos="379095" algn="l"/>
                <a:tab pos="379730" algn="l"/>
              </a:tabLst>
            </a:pPr>
            <a:r>
              <a:rPr sz="1800" spc="55" dirty="0">
                <a:solidFill>
                  <a:srgbClr val="616161"/>
                </a:solidFill>
                <a:latin typeface="Trebuchet MS"/>
                <a:cs typeface="Trebuchet MS"/>
              </a:rPr>
              <a:t>You</a:t>
            </a:r>
            <a:r>
              <a:rPr sz="1800" spc="-80" dirty="0">
                <a:solidFill>
                  <a:srgbClr val="616161"/>
                </a:solidFill>
                <a:latin typeface="Trebuchet MS"/>
                <a:cs typeface="Trebuchet MS"/>
              </a:rPr>
              <a:t> write </a:t>
            </a:r>
            <a:r>
              <a:rPr sz="1800" spc="-35" dirty="0">
                <a:solidFill>
                  <a:srgbClr val="616161"/>
                </a:solidFill>
                <a:latin typeface="Trebuchet MS"/>
                <a:cs typeface="Trebuchet MS"/>
              </a:rPr>
              <a:t>framework</a:t>
            </a:r>
            <a:r>
              <a:rPr sz="1800" spc="-80" dirty="0">
                <a:solidFill>
                  <a:srgbClr val="616161"/>
                </a:solidFill>
                <a:latin typeface="Trebuchet MS"/>
                <a:cs typeface="Trebuchet MS"/>
              </a:rPr>
              <a:t> </a:t>
            </a:r>
            <a:r>
              <a:rPr sz="1800" spc="-25" dirty="0">
                <a:solidFill>
                  <a:srgbClr val="616161"/>
                </a:solidFill>
                <a:latin typeface="Trebuchet MS"/>
                <a:cs typeface="Trebuchet MS"/>
              </a:rPr>
              <a:t>code,</a:t>
            </a:r>
            <a:r>
              <a:rPr sz="1800" spc="-80" dirty="0">
                <a:solidFill>
                  <a:srgbClr val="616161"/>
                </a:solidFill>
                <a:latin typeface="Trebuchet MS"/>
                <a:cs typeface="Trebuchet MS"/>
              </a:rPr>
              <a:t> </a:t>
            </a:r>
            <a:r>
              <a:rPr sz="1800" spc="55" dirty="0">
                <a:solidFill>
                  <a:srgbClr val="616161"/>
                </a:solidFill>
                <a:latin typeface="Trebuchet MS"/>
                <a:cs typeface="Trebuchet MS"/>
              </a:rPr>
              <a:t>as</a:t>
            </a:r>
            <a:r>
              <a:rPr sz="1800" spc="-80" dirty="0">
                <a:solidFill>
                  <a:srgbClr val="616161"/>
                </a:solidFill>
                <a:latin typeface="Trebuchet MS"/>
                <a:cs typeface="Trebuchet MS"/>
              </a:rPr>
              <a:t> </a:t>
            </a:r>
            <a:r>
              <a:rPr sz="1800" spc="-55" dirty="0">
                <a:solidFill>
                  <a:srgbClr val="616161"/>
                </a:solidFill>
                <a:latin typeface="Trebuchet MS"/>
                <a:cs typeface="Trebuchet MS"/>
              </a:rPr>
              <a:t>distinct</a:t>
            </a:r>
            <a:r>
              <a:rPr sz="1800" spc="-80" dirty="0">
                <a:solidFill>
                  <a:srgbClr val="616161"/>
                </a:solidFill>
                <a:latin typeface="Trebuchet MS"/>
                <a:cs typeface="Trebuchet MS"/>
              </a:rPr>
              <a:t> </a:t>
            </a:r>
            <a:r>
              <a:rPr sz="1800" spc="-60" dirty="0">
                <a:solidFill>
                  <a:srgbClr val="616161"/>
                </a:solidFill>
                <a:latin typeface="Trebuchet MS"/>
                <a:cs typeface="Trebuchet MS"/>
              </a:rPr>
              <a:t>from</a:t>
            </a:r>
            <a:r>
              <a:rPr sz="1800" spc="-80" dirty="0">
                <a:solidFill>
                  <a:srgbClr val="616161"/>
                </a:solidFill>
                <a:latin typeface="Trebuchet MS"/>
                <a:cs typeface="Trebuchet MS"/>
              </a:rPr>
              <a:t> </a:t>
            </a:r>
            <a:r>
              <a:rPr sz="1800" spc="-65" dirty="0">
                <a:solidFill>
                  <a:srgbClr val="616161"/>
                </a:solidFill>
                <a:latin typeface="Trebuchet MS"/>
                <a:cs typeface="Trebuchet MS"/>
              </a:rPr>
              <a:t>“normal</a:t>
            </a:r>
            <a:r>
              <a:rPr sz="1800" spc="-80" dirty="0">
                <a:solidFill>
                  <a:srgbClr val="616161"/>
                </a:solidFill>
                <a:latin typeface="Trebuchet MS"/>
                <a:cs typeface="Trebuchet MS"/>
              </a:rPr>
              <a:t> </a:t>
            </a:r>
            <a:r>
              <a:rPr sz="1800" spc="-25" dirty="0">
                <a:solidFill>
                  <a:srgbClr val="616161"/>
                </a:solidFill>
                <a:latin typeface="Trebuchet MS"/>
                <a:cs typeface="Trebuchet MS"/>
              </a:rPr>
              <a:t>code”</a:t>
            </a:r>
            <a:endParaRPr sz="1800" dirty="0">
              <a:latin typeface="Trebuchet MS"/>
              <a:cs typeface="Trebuchet MS"/>
            </a:endParaRPr>
          </a:p>
          <a:p>
            <a:pPr>
              <a:lnSpc>
                <a:spcPct val="100000"/>
              </a:lnSpc>
              <a:buClr>
                <a:srgbClr val="616161"/>
              </a:buClr>
              <a:buFont typeface="Arial MT"/>
              <a:buChar char="●"/>
            </a:pPr>
            <a:endParaRPr sz="2400" dirty="0">
              <a:latin typeface="Trebuchet MS"/>
              <a:cs typeface="Trebuchet MS"/>
            </a:endParaRPr>
          </a:p>
          <a:p>
            <a:pPr marL="379095" indent="-367030">
              <a:lnSpc>
                <a:spcPct val="100000"/>
              </a:lnSpc>
              <a:buFont typeface="Arial MT"/>
              <a:buChar char="●"/>
              <a:tabLst>
                <a:tab pos="379095" algn="l"/>
                <a:tab pos="379730" algn="l"/>
              </a:tabLst>
            </a:pPr>
            <a:r>
              <a:rPr sz="1800" spc="65" dirty="0">
                <a:solidFill>
                  <a:srgbClr val="616161"/>
                </a:solidFill>
                <a:latin typeface="Trebuchet MS"/>
                <a:cs typeface="Trebuchet MS"/>
              </a:rPr>
              <a:t>Code</a:t>
            </a:r>
            <a:r>
              <a:rPr sz="1800" spc="-80" dirty="0">
                <a:solidFill>
                  <a:srgbClr val="616161"/>
                </a:solidFill>
                <a:latin typeface="Trebuchet MS"/>
                <a:cs typeface="Trebuchet MS"/>
              </a:rPr>
              <a:t> </a:t>
            </a:r>
            <a:r>
              <a:rPr sz="1800" spc="-90" dirty="0">
                <a:solidFill>
                  <a:srgbClr val="616161"/>
                </a:solidFill>
                <a:latin typeface="Trebuchet MS"/>
                <a:cs typeface="Trebuchet MS"/>
              </a:rPr>
              <a:t>that</a:t>
            </a:r>
            <a:r>
              <a:rPr sz="1800" spc="-80" dirty="0">
                <a:solidFill>
                  <a:srgbClr val="616161"/>
                </a:solidFill>
                <a:latin typeface="Trebuchet MS"/>
                <a:cs typeface="Trebuchet MS"/>
              </a:rPr>
              <a:t> </a:t>
            </a:r>
            <a:r>
              <a:rPr sz="1800" spc="-60" dirty="0">
                <a:solidFill>
                  <a:srgbClr val="616161"/>
                </a:solidFill>
                <a:latin typeface="Trebuchet MS"/>
                <a:cs typeface="Trebuchet MS"/>
              </a:rPr>
              <a:t>tells</a:t>
            </a:r>
            <a:r>
              <a:rPr sz="1800" spc="-80" dirty="0">
                <a:solidFill>
                  <a:srgbClr val="616161"/>
                </a:solidFill>
                <a:latin typeface="Trebuchet MS"/>
                <a:cs typeface="Trebuchet MS"/>
              </a:rPr>
              <a:t> </a:t>
            </a:r>
            <a:r>
              <a:rPr sz="1800" spc="-50" dirty="0">
                <a:solidFill>
                  <a:srgbClr val="616161"/>
                </a:solidFill>
                <a:latin typeface="Trebuchet MS"/>
                <a:cs typeface="Trebuchet MS"/>
              </a:rPr>
              <a:t>the</a:t>
            </a:r>
            <a:r>
              <a:rPr sz="1800" spc="-80" dirty="0">
                <a:solidFill>
                  <a:srgbClr val="616161"/>
                </a:solidFill>
                <a:latin typeface="Trebuchet MS"/>
                <a:cs typeface="Trebuchet MS"/>
              </a:rPr>
              <a:t> </a:t>
            </a:r>
            <a:r>
              <a:rPr sz="1800" spc="-35" dirty="0">
                <a:solidFill>
                  <a:srgbClr val="616161"/>
                </a:solidFill>
                <a:latin typeface="Trebuchet MS"/>
                <a:cs typeface="Trebuchet MS"/>
              </a:rPr>
              <a:t>framework</a:t>
            </a:r>
            <a:r>
              <a:rPr sz="1800" spc="-80" dirty="0">
                <a:solidFill>
                  <a:srgbClr val="616161"/>
                </a:solidFill>
                <a:latin typeface="Trebuchet MS"/>
                <a:cs typeface="Trebuchet MS"/>
              </a:rPr>
              <a:t> </a:t>
            </a:r>
            <a:r>
              <a:rPr sz="1800" b="1" i="1" spc="-45" dirty="0">
                <a:solidFill>
                  <a:srgbClr val="616161"/>
                </a:solidFill>
                <a:latin typeface="Trebuchet MS"/>
                <a:cs typeface="Trebuchet MS"/>
              </a:rPr>
              <a:t>what</a:t>
            </a:r>
            <a:r>
              <a:rPr sz="1800" b="1" i="1" spc="-80" dirty="0">
                <a:solidFill>
                  <a:srgbClr val="616161"/>
                </a:solidFill>
                <a:latin typeface="Trebuchet MS"/>
                <a:cs typeface="Trebuchet MS"/>
              </a:rPr>
              <a:t> </a:t>
            </a:r>
            <a:r>
              <a:rPr sz="1800" spc="-65" dirty="0">
                <a:solidFill>
                  <a:srgbClr val="616161"/>
                </a:solidFill>
                <a:latin typeface="Trebuchet MS"/>
                <a:cs typeface="Trebuchet MS"/>
              </a:rPr>
              <a:t>to</a:t>
            </a:r>
            <a:r>
              <a:rPr sz="1800" spc="-80" dirty="0">
                <a:solidFill>
                  <a:srgbClr val="616161"/>
                </a:solidFill>
                <a:latin typeface="Trebuchet MS"/>
                <a:cs typeface="Trebuchet MS"/>
              </a:rPr>
              <a:t> </a:t>
            </a:r>
            <a:r>
              <a:rPr sz="1800" spc="-55" dirty="0">
                <a:solidFill>
                  <a:srgbClr val="616161"/>
                </a:solidFill>
                <a:latin typeface="Trebuchet MS"/>
                <a:cs typeface="Trebuchet MS"/>
              </a:rPr>
              <a:t>do,</a:t>
            </a:r>
            <a:r>
              <a:rPr sz="1800" spc="-80" dirty="0">
                <a:solidFill>
                  <a:srgbClr val="616161"/>
                </a:solidFill>
                <a:latin typeface="Trebuchet MS"/>
                <a:cs typeface="Trebuchet MS"/>
              </a:rPr>
              <a:t> </a:t>
            </a:r>
            <a:r>
              <a:rPr sz="1800" spc="-40" dirty="0">
                <a:solidFill>
                  <a:srgbClr val="616161"/>
                </a:solidFill>
                <a:latin typeface="Trebuchet MS"/>
                <a:cs typeface="Trebuchet MS"/>
              </a:rPr>
              <a:t>not</a:t>
            </a:r>
            <a:r>
              <a:rPr sz="1800" spc="-80" dirty="0">
                <a:solidFill>
                  <a:srgbClr val="616161"/>
                </a:solidFill>
                <a:latin typeface="Trebuchet MS"/>
                <a:cs typeface="Trebuchet MS"/>
              </a:rPr>
              <a:t> </a:t>
            </a:r>
            <a:r>
              <a:rPr sz="1800" b="1" i="1" spc="10" dirty="0">
                <a:solidFill>
                  <a:srgbClr val="616161"/>
                </a:solidFill>
                <a:latin typeface="Trebuchet MS"/>
                <a:cs typeface="Trebuchet MS"/>
              </a:rPr>
              <a:t>how</a:t>
            </a:r>
            <a:r>
              <a:rPr sz="1800" b="1" i="1" spc="-80" dirty="0">
                <a:solidFill>
                  <a:srgbClr val="616161"/>
                </a:solidFill>
                <a:latin typeface="Trebuchet MS"/>
                <a:cs typeface="Trebuchet MS"/>
              </a:rPr>
              <a:t> </a:t>
            </a:r>
            <a:r>
              <a:rPr sz="1800" spc="-65" dirty="0">
                <a:solidFill>
                  <a:srgbClr val="616161"/>
                </a:solidFill>
                <a:latin typeface="Trebuchet MS"/>
                <a:cs typeface="Trebuchet MS"/>
              </a:rPr>
              <a:t>to</a:t>
            </a:r>
            <a:r>
              <a:rPr sz="1800" spc="-80" dirty="0">
                <a:solidFill>
                  <a:srgbClr val="616161"/>
                </a:solidFill>
                <a:latin typeface="Trebuchet MS"/>
                <a:cs typeface="Trebuchet MS"/>
              </a:rPr>
              <a:t> </a:t>
            </a:r>
            <a:r>
              <a:rPr sz="1800" spc="45" dirty="0">
                <a:solidFill>
                  <a:srgbClr val="616161"/>
                </a:solidFill>
                <a:latin typeface="Trebuchet MS"/>
                <a:cs typeface="Trebuchet MS"/>
              </a:rPr>
              <a:t>do</a:t>
            </a:r>
            <a:r>
              <a:rPr sz="1800" spc="-80" dirty="0">
                <a:solidFill>
                  <a:srgbClr val="616161"/>
                </a:solidFill>
                <a:latin typeface="Trebuchet MS"/>
                <a:cs typeface="Trebuchet MS"/>
              </a:rPr>
              <a:t> </a:t>
            </a:r>
            <a:r>
              <a:rPr sz="1800" spc="-150" dirty="0">
                <a:solidFill>
                  <a:srgbClr val="616161"/>
                </a:solidFill>
                <a:latin typeface="Trebuchet MS"/>
                <a:cs typeface="Trebuchet MS"/>
              </a:rPr>
              <a:t>it</a:t>
            </a:r>
            <a:endParaRPr sz="1800" dirty="0">
              <a:latin typeface="Trebuchet MS"/>
              <a:cs typeface="Trebuchet MS"/>
            </a:endParaRPr>
          </a:p>
          <a:p>
            <a:pPr marL="836294" lvl="1" indent="-367030">
              <a:lnSpc>
                <a:spcPct val="100000"/>
              </a:lnSpc>
              <a:spcBef>
                <a:spcPts val="315"/>
              </a:spcBef>
              <a:buFont typeface="Arial MT"/>
              <a:buChar char="○"/>
              <a:tabLst>
                <a:tab pos="836294" algn="l"/>
                <a:tab pos="836930" algn="l"/>
              </a:tabLst>
            </a:pPr>
            <a:r>
              <a:rPr sz="1800" spc="5" dirty="0">
                <a:solidFill>
                  <a:srgbClr val="616161"/>
                </a:solidFill>
                <a:latin typeface="Trebuchet MS"/>
                <a:cs typeface="Trebuchet MS"/>
              </a:rPr>
              <a:t>The</a:t>
            </a:r>
            <a:r>
              <a:rPr sz="1800" spc="-75" dirty="0">
                <a:solidFill>
                  <a:srgbClr val="616161"/>
                </a:solidFill>
                <a:latin typeface="Trebuchet MS"/>
                <a:cs typeface="Trebuchet MS"/>
              </a:rPr>
              <a:t> </a:t>
            </a:r>
            <a:r>
              <a:rPr sz="1800" spc="-35" dirty="0">
                <a:solidFill>
                  <a:srgbClr val="616161"/>
                </a:solidFill>
                <a:latin typeface="Trebuchet MS"/>
                <a:cs typeface="Trebuchet MS"/>
              </a:rPr>
              <a:t>framework</a:t>
            </a:r>
            <a:r>
              <a:rPr sz="1800" spc="-70" dirty="0">
                <a:solidFill>
                  <a:srgbClr val="616161"/>
                </a:solidFill>
                <a:latin typeface="Trebuchet MS"/>
                <a:cs typeface="Trebuchet MS"/>
              </a:rPr>
              <a:t> </a:t>
            </a:r>
            <a:r>
              <a:rPr sz="1800" dirty="0">
                <a:solidFill>
                  <a:srgbClr val="616161"/>
                </a:solidFill>
                <a:latin typeface="Trebuchet MS"/>
                <a:cs typeface="Trebuchet MS"/>
              </a:rPr>
              <a:t>can</a:t>
            </a:r>
            <a:r>
              <a:rPr sz="1800" spc="-70" dirty="0">
                <a:solidFill>
                  <a:srgbClr val="616161"/>
                </a:solidFill>
                <a:latin typeface="Trebuchet MS"/>
                <a:cs typeface="Trebuchet MS"/>
              </a:rPr>
              <a:t> </a:t>
            </a:r>
            <a:r>
              <a:rPr sz="1800" spc="-10" dirty="0">
                <a:solidFill>
                  <a:srgbClr val="616161"/>
                </a:solidFill>
                <a:latin typeface="Trebuchet MS"/>
                <a:cs typeface="Trebuchet MS"/>
              </a:rPr>
              <a:t>handle</a:t>
            </a:r>
            <a:r>
              <a:rPr sz="1800" spc="-70" dirty="0">
                <a:solidFill>
                  <a:srgbClr val="616161"/>
                </a:solidFill>
                <a:latin typeface="Trebuchet MS"/>
                <a:cs typeface="Trebuchet MS"/>
              </a:rPr>
              <a:t> </a:t>
            </a:r>
            <a:r>
              <a:rPr sz="1800" spc="-50" dirty="0">
                <a:solidFill>
                  <a:srgbClr val="616161"/>
                </a:solidFill>
                <a:latin typeface="Trebuchet MS"/>
                <a:cs typeface="Trebuchet MS"/>
              </a:rPr>
              <a:t>optimization</a:t>
            </a:r>
            <a:r>
              <a:rPr sz="1800" spc="-75" dirty="0">
                <a:solidFill>
                  <a:srgbClr val="616161"/>
                </a:solidFill>
                <a:latin typeface="Trebuchet MS"/>
                <a:cs typeface="Trebuchet MS"/>
              </a:rPr>
              <a:t> </a:t>
            </a:r>
            <a:r>
              <a:rPr sz="1800" spc="-415" dirty="0">
                <a:solidFill>
                  <a:srgbClr val="616161"/>
                </a:solidFill>
                <a:latin typeface="Trebuchet MS"/>
                <a:cs typeface="Trebuchet MS"/>
              </a:rPr>
              <a:t>/</a:t>
            </a:r>
            <a:r>
              <a:rPr sz="1800" spc="-70" dirty="0">
                <a:solidFill>
                  <a:srgbClr val="616161"/>
                </a:solidFill>
                <a:latin typeface="Trebuchet MS"/>
                <a:cs typeface="Trebuchet MS"/>
              </a:rPr>
              <a:t> </a:t>
            </a:r>
            <a:r>
              <a:rPr sz="1800" spc="-40" dirty="0">
                <a:solidFill>
                  <a:srgbClr val="616161"/>
                </a:solidFill>
                <a:latin typeface="Trebuchet MS"/>
                <a:cs typeface="Trebuchet MS"/>
              </a:rPr>
              <a:t>data</a:t>
            </a:r>
            <a:r>
              <a:rPr sz="1800" spc="-70" dirty="0">
                <a:solidFill>
                  <a:srgbClr val="616161"/>
                </a:solidFill>
                <a:latin typeface="Trebuchet MS"/>
                <a:cs typeface="Trebuchet MS"/>
              </a:rPr>
              <a:t> </a:t>
            </a:r>
            <a:r>
              <a:rPr sz="1800" spc="-55" dirty="0">
                <a:solidFill>
                  <a:srgbClr val="616161"/>
                </a:solidFill>
                <a:latin typeface="Trebuchet MS"/>
                <a:cs typeface="Trebuchet MS"/>
              </a:rPr>
              <a:t>transfer</a:t>
            </a:r>
            <a:r>
              <a:rPr sz="1800" spc="-70" dirty="0">
                <a:solidFill>
                  <a:srgbClr val="616161"/>
                </a:solidFill>
                <a:latin typeface="Trebuchet MS"/>
                <a:cs typeface="Trebuchet MS"/>
              </a:rPr>
              <a:t> </a:t>
            </a:r>
            <a:r>
              <a:rPr sz="1800" spc="-65" dirty="0">
                <a:solidFill>
                  <a:srgbClr val="616161"/>
                </a:solidFill>
                <a:latin typeface="Trebuchet MS"/>
                <a:cs typeface="Trebuchet MS"/>
              </a:rPr>
              <a:t>internally</a:t>
            </a:r>
            <a:endParaRPr sz="1800" dirty="0">
              <a:latin typeface="Trebuchet MS"/>
              <a:cs typeface="Trebuchet MS"/>
            </a:endParaRPr>
          </a:p>
          <a:p>
            <a:pPr lvl="1">
              <a:lnSpc>
                <a:spcPct val="100000"/>
              </a:lnSpc>
              <a:spcBef>
                <a:spcPts val="5"/>
              </a:spcBef>
              <a:buClr>
                <a:srgbClr val="616161"/>
              </a:buClr>
              <a:buFont typeface="Arial MT"/>
              <a:buChar char="○"/>
            </a:pPr>
            <a:endParaRPr sz="2400" dirty="0">
              <a:latin typeface="Trebuchet MS"/>
              <a:cs typeface="Trebuchet MS"/>
            </a:endParaRPr>
          </a:p>
          <a:p>
            <a:pPr marL="379095" indent="-367030">
              <a:lnSpc>
                <a:spcPct val="100000"/>
              </a:lnSpc>
              <a:buFont typeface="Arial MT"/>
              <a:buChar char="●"/>
              <a:tabLst>
                <a:tab pos="379095" algn="l"/>
                <a:tab pos="379730" algn="l"/>
              </a:tabLst>
            </a:pPr>
            <a:r>
              <a:rPr sz="1800" spc="-20" dirty="0">
                <a:solidFill>
                  <a:srgbClr val="616161"/>
                </a:solidFill>
                <a:latin typeface="Trebuchet MS"/>
                <a:cs typeface="Trebuchet MS"/>
              </a:rPr>
              <a:t>Other</a:t>
            </a:r>
            <a:r>
              <a:rPr sz="1800" spc="-80" dirty="0">
                <a:solidFill>
                  <a:srgbClr val="616161"/>
                </a:solidFill>
                <a:latin typeface="Trebuchet MS"/>
                <a:cs typeface="Trebuchet MS"/>
              </a:rPr>
              <a:t> </a:t>
            </a:r>
            <a:r>
              <a:rPr sz="1800" spc="-40" dirty="0">
                <a:solidFill>
                  <a:srgbClr val="616161"/>
                </a:solidFill>
                <a:latin typeface="Trebuchet MS"/>
                <a:cs typeface="Trebuchet MS"/>
              </a:rPr>
              <a:t>computational</a:t>
            </a:r>
            <a:r>
              <a:rPr sz="1800" spc="-75" dirty="0">
                <a:solidFill>
                  <a:srgbClr val="616161"/>
                </a:solidFill>
                <a:latin typeface="Trebuchet MS"/>
                <a:cs typeface="Trebuchet MS"/>
              </a:rPr>
              <a:t> </a:t>
            </a:r>
            <a:r>
              <a:rPr sz="1800" spc="-45" dirty="0">
                <a:solidFill>
                  <a:srgbClr val="616161"/>
                </a:solidFill>
                <a:latin typeface="Trebuchet MS"/>
                <a:cs typeface="Trebuchet MS"/>
              </a:rPr>
              <a:t>frameworks:</a:t>
            </a:r>
            <a:endParaRPr sz="1800" dirty="0">
              <a:latin typeface="Trebuchet MS"/>
              <a:cs typeface="Trebuchet MS"/>
            </a:endParaRPr>
          </a:p>
          <a:p>
            <a:pPr marL="836294" lvl="1" indent="-367030">
              <a:lnSpc>
                <a:spcPct val="100000"/>
              </a:lnSpc>
              <a:spcBef>
                <a:spcPts val="315"/>
              </a:spcBef>
              <a:buFont typeface="Arial MT"/>
              <a:buChar char="○"/>
              <a:tabLst>
                <a:tab pos="836294" algn="l"/>
                <a:tab pos="836930" algn="l"/>
              </a:tabLst>
            </a:pPr>
            <a:r>
              <a:rPr sz="1800" spc="-40" dirty="0">
                <a:solidFill>
                  <a:srgbClr val="616161"/>
                </a:solidFill>
                <a:latin typeface="Trebuchet MS"/>
                <a:cs typeface="Trebuchet MS"/>
              </a:rPr>
              <a:t>Tensorflow,</a:t>
            </a:r>
            <a:r>
              <a:rPr sz="1800" spc="-80" dirty="0">
                <a:solidFill>
                  <a:srgbClr val="616161"/>
                </a:solidFill>
                <a:latin typeface="Trebuchet MS"/>
                <a:cs typeface="Trebuchet MS"/>
              </a:rPr>
              <a:t> </a:t>
            </a:r>
            <a:r>
              <a:rPr sz="1800" spc="-65" dirty="0">
                <a:solidFill>
                  <a:srgbClr val="616161"/>
                </a:solidFill>
                <a:latin typeface="Trebuchet MS"/>
                <a:cs typeface="Trebuchet MS"/>
              </a:rPr>
              <a:t>Caffe,</a:t>
            </a:r>
            <a:r>
              <a:rPr sz="1800" spc="-80" dirty="0">
                <a:solidFill>
                  <a:srgbClr val="616161"/>
                </a:solidFill>
                <a:latin typeface="Trebuchet MS"/>
                <a:cs typeface="Trebuchet MS"/>
              </a:rPr>
              <a:t> </a:t>
            </a:r>
            <a:r>
              <a:rPr sz="1800" spc="-100" dirty="0">
                <a:solidFill>
                  <a:srgbClr val="616161"/>
                </a:solidFill>
                <a:latin typeface="Trebuchet MS"/>
                <a:cs typeface="Trebuchet MS"/>
              </a:rPr>
              <a:t>etc.</a:t>
            </a:r>
            <a:endParaRPr sz="1800" dirty="0">
              <a:latin typeface="Trebuchet MS"/>
              <a:cs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FB922C-3865-C59F-D569-E8765F71B927}"/>
              </a:ext>
            </a:extLst>
          </p:cNvPr>
          <p:cNvPicPr>
            <a:picLocks noChangeAspect="1"/>
          </p:cNvPicPr>
          <p:nvPr/>
        </p:nvPicPr>
        <p:blipFill>
          <a:blip r:embed="rId2"/>
          <a:stretch>
            <a:fillRect/>
          </a:stretch>
        </p:blipFill>
        <p:spPr>
          <a:xfrm>
            <a:off x="2286000" y="428743"/>
            <a:ext cx="6496111" cy="4702238"/>
          </a:xfrm>
          <a:prstGeom prst="rect">
            <a:avLst/>
          </a:prstGeom>
        </p:spPr>
      </p:pic>
      <p:sp>
        <p:nvSpPr>
          <p:cNvPr id="2" name="object 2">
            <a:extLst>
              <a:ext uri="{FF2B5EF4-FFF2-40B4-BE49-F238E27FC236}">
                <a16:creationId xmlns:a16="http://schemas.microsoft.com/office/drawing/2014/main" id="{03D78F6D-A8B1-48F9-78B4-C7BE88CDCD0B}"/>
              </a:ext>
            </a:extLst>
          </p:cNvPr>
          <p:cNvSpPr txBox="1">
            <a:spLocks noGrp="1"/>
          </p:cNvSpPr>
          <p:nvPr>
            <p:ph type="title"/>
          </p:nvPr>
        </p:nvSpPr>
        <p:spPr>
          <a:xfrm>
            <a:off x="361889" y="0"/>
            <a:ext cx="4143375" cy="452120"/>
          </a:xfrm>
          <a:prstGeom prst="rect">
            <a:avLst/>
          </a:prstGeom>
        </p:spPr>
        <p:txBody>
          <a:bodyPr vert="horz" wrap="square" lIns="0" tIns="12700" rIns="0" bIns="0" rtlCol="0">
            <a:spAutoFit/>
          </a:bodyPr>
          <a:lstStyle/>
          <a:p>
            <a:pPr marL="12700">
              <a:lnSpc>
                <a:spcPct val="100000"/>
              </a:lnSpc>
              <a:spcBef>
                <a:spcPts val="100"/>
              </a:spcBef>
            </a:pPr>
            <a:r>
              <a:rPr sz="2800" spc="-40" dirty="0">
                <a:solidFill>
                  <a:srgbClr val="202729"/>
                </a:solidFill>
              </a:rPr>
              <a:t>Computational</a:t>
            </a:r>
            <a:r>
              <a:rPr sz="2800" spc="-125" dirty="0">
                <a:solidFill>
                  <a:srgbClr val="202729"/>
                </a:solidFill>
              </a:rPr>
              <a:t> </a:t>
            </a:r>
            <a:r>
              <a:rPr sz="2800" spc="-20" dirty="0">
                <a:solidFill>
                  <a:srgbClr val="202729"/>
                </a:solidFill>
              </a:rPr>
              <a:t>Framework</a:t>
            </a:r>
            <a:endParaRPr sz="2800" dirty="0"/>
          </a:p>
        </p:txBody>
      </p:sp>
    </p:spTree>
    <p:extLst>
      <p:ext uri="{BB962C8B-B14F-4D97-AF65-F5344CB8AC3E}">
        <p14:creationId xmlns:p14="http://schemas.microsoft.com/office/powerpoint/2010/main" val="3555973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C664B-0B7D-52DF-BD58-1CE35BB4EBE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A935103-1E6B-F25F-59DE-19A8405C8144}"/>
              </a:ext>
            </a:extLst>
          </p:cNvPr>
          <p:cNvSpPr txBox="1">
            <a:spLocks noGrp="1"/>
          </p:cNvSpPr>
          <p:nvPr>
            <p:ph type="title"/>
          </p:nvPr>
        </p:nvSpPr>
        <p:spPr>
          <a:xfrm>
            <a:off x="384725" y="503825"/>
            <a:ext cx="2214245" cy="452120"/>
          </a:xfrm>
          <a:prstGeom prst="rect">
            <a:avLst/>
          </a:prstGeom>
        </p:spPr>
        <p:txBody>
          <a:bodyPr vert="horz" wrap="square" lIns="0" tIns="12700" rIns="0" bIns="0" rtlCol="0">
            <a:spAutoFit/>
          </a:bodyPr>
          <a:lstStyle/>
          <a:p>
            <a:pPr marL="12700">
              <a:lnSpc>
                <a:spcPct val="100000"/>
              </a:lnSpc>
              <a:spcBef>
                <a:spcPts val="100"/>
              </a:spcBef>
            </a:pPr>
            <a:r>
              <a:rPr sz="2800" spc="40" dirty="0">
                <a:solidFill>
                  <a:srgbClr val="202729"/>
                </a:solidFill>
              </a:rPr>
              <a:t>Spark</a:t>
            </a:r>
            <a:r>
              <a:rPr lang="en-US" sz="2800" spc="40" dirty="0">
                <a:solidFill>
                  <a:srgbClr val="202729"/>
                </a:solidFill>
              </a:rPr>
              <a:t> submit</a:t>
            </a:r>
            <a:endParaRPr sz="2800" dirty="0"/>
          </a:p>
        </p:txBody>
      </p:sp>
      <p:sp>
        <p:nvSpPr>
          <p:cNvPr id="3" name="object 3">
            <a:extLst>
              <a:ext uri="{FF2B5EF4-FFF2-40B4-BE49-F238E27FC236}">
                <a16:creationId xmlns:a16="http://schemas.microsoft.com/office/drawing/2014/main" id="{9B206C08-05CD-B7B3-8C4F-BE77689216B8}"/>
              </a:ext>
            </a:extLst>
          </p:cNvPr>
          <p:cNvSpPr txBox="1"/>
          <p:nvPr/>
        </p:nvSpPr>
        <p:spPr>
          <a:xfrm>
            <a:off x="384725" y="1216355"/>
            <a:ext cx="8454475" cy="843821"/>
          </a:xfrm>
          <a:prstGeom prst="rect">
            <a:avLst/>
          </a:prstGeom>
        </p:spPr>
        <p:txBody>
          <a:bodyPr vert="horz" wrap="square" lIns="0" tIns="12700" rIns="0" bIns="0" rtlCol="0">
            <a:spAutoFit/>
          </a:bodyPr>
          <a:lstStyle/>
          <a:p>
            <a:pPr marL="12700">
              <a:lnSpc>
                <a:spcPct val="100000"/>
              </a:lnSpc>
              <a:spcBef>
                <a:spcPts val="100"/>
              </a:spcBef>
            </a:pPr>
            <a:r>
              <a:rPr lang="en-US" sz="1800" spc="55" dirty="0">
                <a:solidFill>
                  <a:srgbClr val="616161"/>
                </a:solidFill>
                <a:latin typeface="Trebuchet MS"/>
                <a:cs typeface="Trebuchet MS"/>
              </a:rPr>
              <a:t>The spark-submit command is a utility to run or submit a Spark or </a:t>
            </a:r>
            <a:r>
              <a:rPr lang="en-US" sz="1800" spc="55" dirty="0" err="1">
                <a:solidFill>
                  <a:srgbClr val="616161"/>
                </a:solidFill>
                <a:latin typeface="Trebuchet MS"/>
                <a:cs typeface="Trebuchet MS"/>
              </a:rPr>
              <a:t>PySpark</a:t>
            </a:r>
            <a:r>
              <a:rPr lang="en-US" sz="1800" spc="55" dirty="0">
                <a:solidFill>
                  <a:srgbClr val="616161"/>
                </a:solidFill>
                <a:latin typeface="Trebuchet MS"/>
                <a:cs typeface="Trebuchet MS"/>
              </a:rPr>
              <a:t> application program (or job) to the cluster by specifying options and configurations</a:t>
            </a:r>
            <a:endParaRPr sz="1800" dirty="0">
              <a:latin typeface="Trebuchet MS"/>
              <a:cs typeface="Trebuchet MS"/>
            </a:endParaRPr>
          </a:p>
        </p:txBody>
      </p:sp>
      <p:pic>
        <p:nvPicPr>
          <p:cNvPr id="9" name="Picture 8">
            <a:extLst>
              <a:ext uri="{FF2B5EF4-FFF2-40B4-BE49-F238E27FC236}">
                <a16:creationId xmlns:a16="http://schemas.microsoft.com/office/drawing/2014/main" id="{1BB33F19-C943-13B2-CBD8-C325C1CA66A5}"/>
              </a:ext>
            </a:extLst>
          </p:cNvPr>
          <p:cNvPicPr>
            <a:picLocks noChangeAspect="1"/>
          </p:cNvPicPr>
          <p:nvPr/>
        </p:nvPicPr>
        <p:blipFill>
          <a:blip r:embed="rId3"/>
          <a:stretch>
            <a:fillRect/>
          </a:stretch>
        </p:blipFill>
        <p:spPr>
          <a:xfrm>
            <a:off x="2438400" y="2060176"/>
            <a:ext cx="3677163" cy="2686425"/>
          </a:xfrm>
          <a:prstGeom prst="rect">
            <a:avLst/>
          </a:prstGeom>
        </p:spPr>
      </p:pic>
    </p:spTree>
    <p:extLst>
      <p:ext uri="{BB962C8B-B14F-4D97-AF65-F5344CB8AC3E}">
        <p14:creationId xmlns:p14="http://schemas.microsoft.com/office/powerpoint/2010/main" val="3955054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0D78E-AF60-A9D8-73E7-7EC7AB5A884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A67AC0F-5ECE-EC8F-2EE5-B95D7A48C019}"/>
              </a:ext>
            </a:extLst>
          </p:cNvPr>
          <p:cNvSpPr txBox="1">
            <a:spLocks noGrp="1"/>
          </p:cNvSpPr>
          <p:nvPr>
            <p:ph type="title"/>
          </p:nvPr>
        </p:nvSpPr>
        <p:spPr>
          <a:xfrm>
            <a:off x="228600" y="133350"/>
            <a:ext cx="2214245" cy="443711"/>
          </a:xfrm>
          <a:prstGeom prst="rect">
            <a:avLst/>
          </a:prstGeom>
        </p:spPr>
        <p:txBody>
          <a:bodyPr vert="horz" wrap="square" lIns="0" tIns="12700" rIns="0" bIns="0" rtlCol="0">
            <a:spAutoFit/>
          </a:bodyPr>
          <a:lstStyle/>
          <a:p>
            <a:pPr marL="12700">
              <a:lnSpc>
                <a:spcPct val="100000"/>
              </a:lnSpc>
              <a:spcBef>
                <a:spcPts val="100"/>
              </a:spcBef>
            </a:pPr>
            <a:r>
              <a:rPr sz="2800" spc="40" dirty="0">
                <a:solidFill>
                  <a:srgbClr val="202729"/>
                </a:solidFill>
              </a:rPr>
              <a:t>Spark</a:t>
            </a:r>
            <a:r>
              <a:rPr lang="en-US" sz="2800" spc="40" dirty="0">
                <a:solidFill>
                  <a:srgbClr val="202729"/>
                </a:solidFill>
              </a:rPr>
              <a:t> UI</a:t>
            </a:r>
            <a:endParaRPr sz="2800" dirty="0"/>
          </a:p>
        </p:txBody>
      </p:sp>
      <p:sp>
        <p:nvSpPr>
          <p:cNvPr id="3" name="object 3">
            <a:extLst>
              <a:ext uri="{FF2B5EF4-FFF2-40B4-BE49-F238E27FC236}">
                <a16:creationId xmlns:a16="http://schemas.microsoft.com/office/drawing/2014/main" id="{C48E4F00-9C69-2F33-1FAB-7A7AD0E9F6B6}"/>
              </a:ext>
            </a:extLst>
          </p:cNvPr>
          <p:cNvSpPr txBox="1"/>
          <p:nvPr/>
        </p:nvSpPr>
        <p:spPr>
          <a:xfrm>
            <a:off x="56084" y="666750"/>
            <a:ext cx="9031832" cy="566822"/>
          </a:xfrm>
          <a:prstGeom prst="rect">
            <a:avLst/>
          </a:prstGeom>
        </p:spPr>
        <p:txBody>
          <a:bodyPr vert="horz" wrap="square" lIns="0" tIns="12700" rIns="0" bIns="0" rtlCol="0">
            <a:spAutoFit/>
          </a:bodyPr>
          <a:lstStyle/>
          <a:p>
            <a:pPr marL="12700">
              <a:lnSpc>
                <a:spcPct val="100000"/>
              </a:lnSpc>
              <a:spcBef>
                <a:spcPts val="100"/>
              </a:spcBef>
            </a:pPr>
            <a:r>
              <a:rPr lang="en-US" sz="1800" spc="55" dirty="0">
                <a:solidFill>
                  <a:srgbClr val="616161"/>
                </a:solidFill>
                <a:latin typeface="Trebuchet MS"/>
                <a:cs typeface="Trebuchet MS"/>
              </a:rPr>
              <a:t>Apache Spark provides a suite of Web UIs (Jobs, Stages, Tasks, Storage, Environment, Executors, and SQL) to monitor the status of your Spark application</a:t>
            </a:r>
            <a:endParaRPr sz="1800" dirty="0">
              <a:latin typeface="Trebuchet MS"/>
              <a:cs typeface="Trebuchet MS"/>
            </a:endParaRPr>
          </a:p>
        </p:txBody>
      </p:sp>
      <p:pic>
        <p:nvPicPr>
          <p:cNvPr id="5" name="Picture 4">
            <a:extLst>
              <a:ext uri="{FF2B5EF4-FFF2-40B4-BE49-F238E27FC236}">
                <a16:creationId xmlns:a16="http://schemas.microsoft.com/office/drawing/2014/main" id="{F28D7142-AE4A-9687-F56E-3C0D97455849}"/>
              </a:ext>
            </a:extLst>
          </p:cNvPr>
          <p:cNvPicPr>
            <a:picLocks noChangeAspect="1"/>
          </p:cNvPicPr>
          <p:nvPr/>
        </p:nvPicPr>
        <p:blipFill>
          <a:blip r:embed="rId3"/>
          <a:stretch>
            <a:fillRect/>
          </a:stretch>
        </p:blipFill>
        <p:spPr>
          <a:xfrm>
            <a:off x="1447800" y="1323261"/>
            <a:ext cx="5237598" cy="3547307"/>
          </a:xfrm>
          <a:prstGeom prst="rect">
            <a:avLst/>
          </a:prstGeom>
        </p:spPr>
      </p:pic>
    </p:spTree>
    <p:extLst>
      <p:ext uri="{BB962C8B-B14F-4D97-AF65-F5344CB8AC3E}">
        <p14:creationId xmlns:p14="http://schemas.microsoft.com/office/powerpoint/2010/main" val="956986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1927860" cy="452120"/>
          </a:xfrm>
          <a:prstGeom prst="rect">
            <a:avLst/>
          </a:prstGeom>
        </p:spPr>
        <p:txBody>
          <a:bodyPr vert="horz" wrap="square" lIns="0" tIns="12700" rIns="0" bIns="0" rtlCol="0">
            <a:spAutoFit/>
          </a:bodyPr>
          <a:lstStyle/>
          <a:p>
            <a:pPr marL="12700">
              <a:lnSpc>
                <a:spcPct val="100000"/>
              </a:lnSpc>
              <a:spcBef>
                <a:spcPts val="100"/>
              </a:spcBef>
            </a:pPr>
            <a:r>
              <a:rPr sz="2800" spc="-65" dirty="0">
                <a:solidFill>
                  <a:srgbClr val="202729"/>
                </a:solidFill>
              </a:rPr>
              <a:t>Architecture</a:t>
            </a:r>
            <a:endParaRPr sz="2800"/>
          </a:p>
        </p:txBody>
      </p:sp>
      <p:grpSp>
        <p:nvGrpSpPr>
          <p:cNvPr id="3" name="object 3"/>
          <p:cNvGrpSpPr/>
          <p:nvPr/>
        </p:nvGrpSpPr>
        <p:grpSpPr>
          <a:xfrm>
            <a:off x="173000" y="2387022"/>
            <a:ext cx="2743835" cy="1306195"/>
            <a:chOff x="173000" y="2387022"/>
            <a:chExt cx="2743835" cy="1306195"/>
          </a:xfrm>
        </p:grpSpPr>
        <p:sp>
          <p:nvSpPr>
            <p:cNvPr id="4" name="object 4"/>
            <p:cNvSpPr/>
            <p:nvPr/>
          </p:nvSpPr>
          <p:spPr>
            <a:xfrm>
              <a:off x="173000" y="2387022"/>
              <a:ext cx="2743835" cy="1306195"/>
            </a:xfrm>
            <a:custGeom>
              <a:avLst/>
              <a:gdLst/>
              <a:ahLst/>
              <a:cxnLst/>
              <a:rect l="l" t="t" r="r" b="b"/>
              <a:pathLst>
                <a:path w="2743835" h="1306195">
                  <a:moveTo>
                    <a:pt x="2743824" y="1306199"/>
                  </a:moveTo>
                  <a:lnTo>
                    <a:pt x="0" y="1306199"/>
                  </a:lnTo>
                  <a:lnTo>
                    <a:pt x="0" y="0"/>
                  </a:lnTo>
                  <a:lnTo>
                    <a:pt x="2743824" y="0"/>
                  </a:lnTo>
                  <a:lnTo>
                    <a:pt x="2743824" y="1306199"/>
                  </a:lnTo>
                  <a:close/>
                </a:path>
              </a:pathLst>
            </a:custGeom>
            <a:solidFill>
              <a:srgbClr val="F9CB9B"/>
            </a:solidFill>
          </p:spPr>
          <p:txBody>
            <a:bodyPr wrap="square" lIns="0" tIns="0" rIns="0" bIns="0" rtlCol="0"/>
            <a:lstStyle/>
            <a:p>
              <a:endParaRPr/>
            </a:p>
          </p:txBody>
        </p:sp>
        <p:sp>
          <p:nvSpPr>
            <p:cNvPr id="5" name="object 5"/>
            <p:cNvSpPr/>
            <p:nvPr/>
          </p:nvSpPr>
          <p:spPr>
            <a:xfrm>
              <a:off x="370924" y="3044123"/>
              <a:ext cx="2296795" cy="572770"/>
            </a:xfrm>
            <a:custGeom>
              <a:avLst/>
              <a:gdLst/>
              <a:ahLst/>
              <a:cxnLst/>
              <a:rect l="l" t="t" r="r" b="b"/>
              <a:pathLst>
                <a:path w="2296795" h="572770">
                  <a:moveTo>
                    <a:pt x="2201047" y="572699"/>
                  </a:moveTo>
                  <a:lnTo>
                    <a:pt x="95451" y="572699"/>
                  </a:lnTo>
                  <a:lnTo>
                    <a:pt x="58297" y="565198"/>
                  </a:lnTo>
                  <a:lnTo>
                    <a:pt x="27957" y="544742"/>
                  </a:lnTo>
                  <a:lnTo>
                    <a:pt x="7501" y="514402"/>
                  </a:lnTo>
                  <a:lnTo>
                    <a:pt x="0" y="477248"/>
                  </a:lnTo>
                  <a:lnTo>
                    <a:pt x="0" y="95451"/>
                  </a:lnTo>
                  <a:lnTo>
                    <a:pt x="7501" y="58297"/>
                  </a:lnTo>
                  <a:lnTo>
                    <a:pt x="27957" y="27957"/>
                  </a:lnTo>
                  <a:lnTo>
                    <a:pt x="58297" y="7501"/>
                  </a:lnTo>
                  <a:lnTo>
                    <a:pt x="95451" y="0"/>
                  </a:lnTo>
                  <a:lnTo>
                    <a:pt x="2201047" y="0"/>
                  </a:lnTo>
                  <a:lnTo>
                    <a:pt x="2254004" y="16037"/>
                  </a:lnTo>
                  <a:lnTo>
                    <a:pt x="2289234" y="58924"/>
                  </a:lnTo>
                  <a:lnTo>
                    <a:pt x="2296499" y="95451"/>
                  </a:lnTo>
                  <a:lnTo>
                    <a:pt x="2296499" y="477248"/>
                  </a:lnTo>
                  <a:lnTo>
                    <a:pt x="2288998" y="514402"/>
                  </a:lnTo>
                  <a:lnTo>
                    <a:pt x="2268542" y="544742"/>
                  </a:lnTo>
                  <a:lnTo>
                    <a:pt x="2238202" y="565198"/>
                  </a:lnTo>
                  <a:lnTo>
                    <a:pt x="2201047" y="572699"/>
                  </a:lnTo>
                  <a:close/>
                </a:path>
              </a:pathLst>
            </a:custGeom>
            <a:solidFill>
              <a:srgbClr val="FFF1CC"/>
            </a:solidFill>
          </p:spPr>
          <p:txBody>
            <a:bodyPr wrap="square" lIns="0" tIns="0" rIns="0" bIns="0" rtlCol="0"/>
            <a:lstStyle/>
            <a:p>
              <a:endParaRPr/>
            </a:p>
          </p:txBody>
        </p:sp>
        <p:sp>
          <p:nvSpPr>
            <p:cNvPr id="6" name="object 6"/>
            <p:cNvSpPr/>
            <p:nvPr/>
          </p:nvSpPr>
          <p:spPr>
            <a:xfrm>
              <a:off x="370924" y="3044123"/>
              <a:ext cx="2296795" cy="572770"/>
            </a:xfrm>
            <a:custGeom>
              <a:avLst/>
              <a:gdLst/>
              <a:ahLst/>
              <a:cxnLst/>
              <a:rect l="l" t="t" r="r" b="b"/>
              <a:pathLst>
                <a:path w="2296795" h="572770">
                  <a:moveTo>
                    <a:pt x="0" y="95451"/>
                  </a:moveTo>
                  <a:lnTo>
                    <a:pt x="7501" y="58297"/>
                  </a:lnTo>
                  <a:lnTo>
                    <a:pt x="27957" y="27957"/>
                  </a:lnTo>
                  <a:lnTo>
                    <a:pt x="58297" y="7501"/>
                  </a:lnTo>
                  <a:lnTo>
                    <a:pt x="95451" y="0"/>
                  </a:lnTo>
                  <a:lnTo>
                    <a:pt x="2201047" y="0"/>
                  </a:lnTo>
                  <a:lnTo>
                    <a:pt x="2254004" y="16037"/>
                  </a:lnTo>
                  <a:lnTo>
                    <a:pt x="2289234" y="58924"/>
                  </a:lnTo>
                  <a:lnTo>
                    <a:pt x="2296499" y="95451"/>
                  </a:lnTo>
                  <a:lnTo>
                    <a:pt x="2296499" y="477248"/>
                  </a:lnTo>
                  <a:lnTo>
                    <a:pt x="2288998" y="514402"/>
                  </a:lnTo>
                  <a:lnTo>
                    <a:pt x="2268542" y="544742"/>
                  </a:lnTo>
                  <a:lnTo>
                    <a:pt x="2238202" y="565198"/>
                  </a:lnTo>
                  <a:lnTo>
                    <a:pt x="2201047" y="572699"/>
                  </a:lnTo>
                  <a:lnTo>
                    <a:pt x="95451" y="572699"/>
                  </a:lnTo>
                  <a:lnTo>
                    <a:pt x="58297" y="565198"/>
                  </a:lnTo>
                  <a:lnTo>
                    <a:pt x="27957" y="544742"/>
                  </a:lnTo>
                  <a:lnTo>
                    <a:pt x="7501" y="514402"/>
                  </a:lnTo>
                  <a:lnTo>
                    <a:pt x="0" y="477248"/>
                  </a:lnTo>
                  <a:lnTo>
                    <a:pt x="0" y="95451"/>
                  </a:lnTo>
                  <a:close/>
                </a:path>
              </a:pathLst>
            </a:custGeom>
            <a:ln w="9524">
              <a:solidFill>
                <a:srgbClr val="595959"/>
              </a:solidFill>
            </a:ln>
          </p:spPr>
          <p:txBody>
            <a:bodyPr wrap="square" lIns="0" tIns="0" rIns="0" bIns="0" rtlCol="0"/>
            <a:lstStyle/>
            <a:p>
              <a:endParaRPr/>
            </a:p>
          </p:txBody>
        </p:sp>
      </p:grpSp>
      <p:grpSp>
        <p:nvGrpSpPr>
          <p:cNvPr id="7" name="object 7"/>
          <p:cNvGrpSpPr/>
          <p:nvPr/>
        </p:nvGrpSpPr>
        <p:grpSpPr>
          <a:xfrm>
            <a:off x="6641600" y="133350"/>
            <a:ext cx="2215515" cy="2422207"/>
            <a:chOff x="6641600" y="1239837"/>
            <a:chExt cx="2215515" cy="1315720"/>
          </a:xfrm>
        </p:grpSpPr>
        <p:sp>
          <p:nvSpPr>
            <p:cNvPr id="8" name="object 8"/>
            <p:cNvSpPr/>
            <p:nvPr/>
          </p:nvSpPr>
          <p:spPr>
            <a:xfrm>
              <a:off x="6646362" y="1244600"/>
              <a:ext cx="2205990" cy="1306195"/>
            </a:xfrm>
            <a:custGeom>
              <a:avLst/>
              <a:gdLst/>
              <a:ahLst/>
              <a:cxnLst/>
              <a:rect l="l" t="t" r="r" b="b"/>
              <a:pathLst>
                <a:path w="2205990" h="1306195">
                  <a:moveTo>
                    <a:pt x="2205899" y="1306199"/>
                  </a:moveTo>
                  <a:lnTo>
                    <a:pt x="0" y="1306199"/>
                  </a:lnTo>
                  <a:lnTo>
                    <a:pt x="0" y="0"/>
                  </a:lnTo>
                  <a:lnTo>
                    <a:pt x="2205899" y="0"/>
                  </a:lnTo>
                  <a:lnTo>
                    <a:pt x="2205899" y="1306199"/>
                  </a:lnTo>
                  <a:close/>
                </a:path>
              </a:pathLst>
            </a:custGeom>
            <a:solidFill>
              <a:srgbClr val="B6D7A8"/>
            </a:solidFill>
          </p:spPr>
          <p:txBody>
            <a:bodyPr wrap="square" lIns="0" tIns="0" rIns="0" bIns="0" rtlCol="0"/>
            <a:lstStyle/>
            <a:p>
              <a:endParaRPr/>
            </a:p>
          </p:txBody>
        </p:sp>
        <p:sp>
          <p:nvSpPr>
            <p:cNvPr id="9" name="object 9"/>
            <p:cNvSpPr/>
            <p:nvPr/>
          </p:nvSpPr>
          <p:spPr>
            <a:xfrm>
              <a:off x="6646362" y="1244600"/>
              <a:ext cx="2205990" cy="1306195"/>
            </a:xfrm>
            <a:custGeom>
              <a:avLst/>
              <a:gdLst/>
              <a:ahLst/>
              <a:cxnLst/>
              <a:rect l="l" t="t" r="r" b="b"/>
              <a:pathLst>
                <a:path w="2205990" h="1306195">
                  <a:moveTo>
                    <a:pt x="0" y="0"/>
                  </a:moveTo>
                  <a:lnTo>
                    <a:pt x="2205899" y="0"/>
                  </a:lnTo>
                  <a:lnTo>
                    <a:pt x="2205899" y="1306199"/>
                  </a:lnTo>
                  <a:lnTo>
                    <a:pt x="0" y="1306199"/>
                  </a:lnTo>
                  <a:lnTo>
                    <a:pt x="0" y="0"/>
                  </a:lnTo>
                  <a:close/>
                </a:path>
              </a:pathLst>
            </a:custGeom>
            <a:ln w="9524">
              <a:solidFill>
                <a:srgbClr val="4BA173"/>
              </a:solidFill>
            </a:ln>
          </p:spPr>
          <p:txBody>
            <a:bodyPr wrap="square" lIns="0" tIns="0" rIns="0" bIns="0" rtlCol="0"/>
            <a:lstStyle/>
            <a:p>
              <a:endParaRPr/>
            </a:p>
          </p:txBody>
        </p:sp>
      </p:grpSp>
      <p:sp>
        <p:nvSpPr>
          <p:cNvPr id="10" name="object 10"/>
          <p:cNvSpPr txBox="1"/>
          <p:nvPr/>
        </p:nvSpPr>
        <p:spPr>
          <a:xfrm>
            <a:off x="6680397" y="265065"/>
            <a:ext cx="619760" cy="238760"/>
          </a:xfrm>
          <a:prstGeom prst="rect">
            <a:avLst/>
          </a:prstGeom>
        </p:spPr>
        <p:txBody>
          <a:bodyPr vert="horz" wrap="square" lIns="0" tIns="12700" rIns="0" bIns="0" rtlCol="0">
            <a:spAutoFit/>
          </a:bodyPr>
          <a:lstStyle/>
          <a:p>
            <a:pPr marL="12700">
              <a:lnSpc>
                <a:spcPct val="100000"/>
              </a:lnSpc>
              <a:spcBef>
                <a:spcPts val="100"/>
              </a:spcBef>
            </a:pPr>
            <a:r>
              <a:rPr sz="1400" spc="-75" dirty="0">
                <a:latin typeface="Verdana"/>
                <a:cs typeface="Verdana"/>
              </a:rPr>
              <a:t>Worker</a:t>
            </a:r>
            <a:endParaRPr sz="1400" dirty="0">
              <a:latin typeface="Verdana"/>
              <a:cs typeface="Verdana"/>
            </a:endParaRPr>
          </a:p>
        </p:txBody>
      </p:sp>
      <p:graphicFrame>
        <p:nvGraphicFramePr>
          <p:cNvPr id="11" name="object 11"/>
          <p:cNvGraphicFramePr>
            <a:graphicFrameLocks noGrp="1"/>
          </p:cNvGraphicFramePr>
          <p:nvPr/>
        </p:nvGraphicFramePr>
        <p:xfrm>
          <a:off x="168237" y="2382260"/>
          <a:ext cx="5456555" cy="1306198"/>
        </p:xfrm>
        <a:graphic>
          <a:graphicData uri="http://schemas.openxmlformats.org/drawingml/2006/table">
            <a:tbl>
              <a:tblPr firstRow="1" bandRow="1">
                <a:tableStyleId>{2D5ABB26-0587-4C30-8999-92F81FD0307C}</a:tableStyleId>
              </a:tblPr>
              <a:tblGrid>
                <a:gridCol w="2743835">
                  <a:extLst>
                    <a:ext uri="{9D8B030D-6E8A-4147-A177-3AD203B41FA5}">
                      <a16:colId xmlns:a16="http://schemas.microsoft.com/office/drawing/2014/main" val="20000"/>
                    </a:ext>
                  </a:extLst>
                </a:gridCol>
                <a:gridCol w="794385">
                  <a:extLst>
                    <a:ext uri="{9D8B030D-6E8A-4147-A177-3AD203B41FA5}">
                      <a16:colId xmlns:a16="http://schemas.microsoft.com/office/drawing/2014/main" val="20001"/>
                    </a:ext>
                  </a:extLst>
                </a:gridCol>
                <a:gridCol w="1918335">
                  <a:extLst>
                    <a:ext uri="{9D8B030D-6E8A-4147-A177-3AD203B41FA5}">
                      <a16:colId xmlns:a16="http://schemas.microsoft.com/office/drawing/2014/main" val="20002"/>
                    </a:ext>
                  </a:extLst>
                </a:gridCol>
              </a:tblGrid>
              <a:tr h="261159">
                <a:tc rowSpan="4">
                  <a:txBody>
                    <a:bodyPr/>
                    <a:lstStyle/>
                    <a:p>
                      <a:pPr algn="ctr">
                        <a:lnSpc>
                          <a:spcPct val="100000"/>
                        </a:lnSpc>
                        <a:spcBef>
                          <a:spcPts val="1600"/>
                        </a:spcBef>
                      </a:pPr>
                      <a:r>
                        <a:rPr sz="1800" spc="-105" dirty="0">
                          <a:latin typeface="Verdana"/>
                          <a:cs typeface="Verdana"/>
                        </a:rPr>
                        <a:t>Driver</a:t>
                      </a:r>
                      <a:endParaRPr sz="1800" dirty="0">
                        <a:latin typeface="Verdana"/>
                        <a:cs typeface="Verdana"/>
                      </a:endParaRPr>
                    </a:p>
                    <a:p>
                      <a:pPr>
                        <a:lnSpc>
                          <a:spcPct val="100000"/>
                        </a:lnSpc>
                        <a:spcBef>
                          <a:spcPts val="25"/>
                        </a:spcBef>
                      </a:pPr>
                      <a:endParaRPr sz="2400" dirty="0">
                        <a:latin typeface="Times New Roman"/>
                        <a:cs typeface="Times New Roman"/>
                      </a:endParaRPr>
                    </a:p>
                    <a:p>
                      <a:pPr marR="43815" algn="ctr">
                        <a:lnSpc>
                          <a:spcPct val="100000"/>
                        </a:lnSpc>
                      </a:pPr>
                      <a:r>
                        <a:rPr sz="1400" spc="-15" dirty="0">
                          <a:latin typeface="Roboto"/>
                          <a:cs typeface="Roboto"/>
                        </a:rPr>
                        <a:t>SparkContext</a:t>
                      </a:r>
                      <a:endParaRPr sz="1400" dirty="0">
                        <a:latin typeface="Roboto"/>
                        <a:cs typeface="Roboto"/>
                      </a:endParaRPr>
                    </a:p>
                  </a:txBody>
                  <a:tcPr marL="0" marR="0" marT="203200"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tcPr>
                </a:tc>
                <a:tc gridSpan="2">
                  <a:txBody>
                    <a:bodyPr/>
                    <a:lstStyle/>
                    <a:p>
                      <a:pPr>
                        <a:lnSpc>
                          <a:spcPct val="100000"/>
                        </a:lnSpc>
                      </a:pPr>
                      <a:endParaRPr sz="1500" dirty="0">
                        <a:latin typeface="Times New Roman"/>
                        <a:cs typeface="Times New Roman"/>
                      </a:endParaRPr>
                    </a:p>
                  </a:txBody>
                  <a:tcPr marL="0" marR="0" marT="0" marB="0">
                    <a:lnL w="9525">
                      <a:solidFill>
                        <a:srgbClr val="595959"/>
                      </a:solidFill>
                      <a:prstDash val="solid"/>
                    </a:lnL>
                  </a:tcPr>
                </a:tc>
                <a:tc hMerge="1">
                  <a:txBody>
                    <a:bodyPr/>
                    <a:lstStyle/>
                    <a:p>
                      <a:endParaRPr/>
                    </a:p>
                  </a:txBody>
                  <a:tcPr marL="0" marR="0" marT="0" marB="0"/>
                </a:tc>
                <a:extLst>
                  <a:ext uri="{0D108BD9-81ED-4DB2-BD59-A6C34878D82A}">
                    <a16:rowId xmlns:a16="http://schemas.microsoft.com/office/drawing/2014/main" val="10000"/>
                  </a:ext>
                </a:extLst>
              </a:tr>
              <a:tr h="391945">
                <a:tc vMerge="1">
                  <a:txBody>
                    <a:bodyPr/>
                    <a:lstStyle/>
                    <a:p>
                      <a:endParaRPr/>
                    </a:p>
                  </a:txBody>
                  <a:tcPr marL="0" marR="0" marT="203200"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tcPr>
                </a:tc>
                <a:tc>
                  <a:txBody>
                    <a:bodyPr/>
                    <a:lstStyle/>
                    <a:p>
                      <a:pPr>
                        <a:lnSpc>
                          <a:spcPct val="100000"/>
                        </a:lnSpc>
                      </a:pPr>
                      <a:endParaRPr sz="1500">
                        <a:latin typeface="Times New Roman"/>
                        <a:cs typeface="Times New Roman"/>
                      </a:endParaRPr>
                    </a:p>
                  </a:txBody>
                  <a:tcPr marL="0" marR="0" marT="0" marB="0">
                    <a:lnL w="9525">
                      <a:solidFill>
                        <a:srgbClr val="595959"/>
                      </a:solidFill>
                      <a:prstDash val="solid"/>
                    </a:lnL>
                    <a:lnR w="9525">
                      <a:solidFill>
                        <a:srgbClr val="4BA173"/>
                      </a:solidFill>
                      <a:prstDash val="solid"/>
                    </a:lnR>
                    <a:lnB w="28575">
                      <a:solidFill>
                        <a:srgbClr val="4BA173"/>
                      </a:solidFill>
                      <a:prstDash val="solid"/>
                    </a:lnB>
                  </a:tcPr>
                </a:tc>
                <a:tc rowSpan="2">
                  <a:txBody>
                    <a:bodyPr/>
                    <a:lstStyle/>
                    <a:p>
                      <a:pPr>
                        <a:lnSpc>
                          <a:spcPct val="100000"/>
                        </a:lnSpc>
                        <a:spcBef>
                          <a:spcPts val="20"/>
                        </a:spcBef>
                      </a:pPr>
                      <a:endParaRPr sz="1900" dirty="0">
                        <a:latin typeface="Times New Roman"/>
                        <a:cs typeface="Times New Roman"/>
                      </a:endParaRPr>
                    </a:p>
                    <a:p>
                      <a:pPr marL="262890">
                        <a:lnSpc>
                          <a:spcPct val="100000"/>
                        </a:lnSpc>
                      </a:pPr>
                      <a:r>
                        <a:rPr sz="1400" b="1" spc="-5" dirty="0">
                          <a:latin typeface="Arial"/>
                          <a:cs typeface="Arial"/>
                        </a:rPr>
                        <a:t>Cluster</a:t>
                      </a:r>
                      <a:r>
                        <a:rPr sz="1400" b="1" spc="-50" dirty="0">
                          <a:latin typeface="Arial"/>
                          <a:cs typeface="Arial"/>
                        </a:rPr>
                        <a:t> </a:t>
                      </a:r>
                      <a:r>
                        <a:rPr sz="1400" b="1" dirty="0">
                          <a:latin typeface="Arial"/>
                          <a:cs typeface="Arial"/>
                        </a:rPr>
                        <a:t>Manager</a:t>
                      </a:r>
                      <a:endParaRPr sz="1400" dirty="0">
                        <a:latin typeface="Arial"/>
                        <a:cs typeface="Arial"/>
                      </a:endParaRPr>
                    </a:p>
                  </a:txBody>
                  <a:tcPr marL="0" marR="0" marT="2540" marB="0">
                    <a:lnL w="9525">
                      <a:solidFill>
                        <a:srgbClr val="4BA173"/>
                      </a:solidFill>
                      <a:prstDash val="solid"/>
                    </a:lnL>
                    <a:lnR w="9525">
                      <a:solidFill>
                        <a:srgbClr val="4BA173"/>
                      </a:solidFill>
                      <a:prstDash val="solid"/>
                    </a:lnR>
                    <a:lnT w="9525">
                      <a:solidFill>
                        <a:srgbClr val="4BA173"/>
                      </a:solidFill>
                      <a:prstDash val="solid"/>
                    </a:lnT>
                    <a:lnB w="9525">
                      <a:solidFill>
                        <a:srgbClr val="4BA173"/>
                      </a:solidFill>
                      <a:prstDash val="solid"/>
                    </a:lnB>
                    <a:solidFill>
                      <a:srgbClr val="B6D7A8"/>
                    </a:solidFill>
                  </a:tcPr>
                </a:tc>
                <a:extLst>
                  <a:ext uri="{0D108BD9-81ED-4DB2-BD59-A6C34878D82A}">
                    <a16:rowId xmlns:a16="http://schemas.microsoft.com/office/drawing/2014/main" val="10001"/>
                  </a:ext>
                </a:extLst>
              </a:tr>
              <a:tr h="391954">
                <a:tc vMerge="1">
                  <a:txBody>
                    <a:bodyPr/>
                    <a:lstStyle/>
                    <a:p>
                      <a:endParaRPr/>
                    </a:p>
                  </a:txBody>
                  <a:tcPr marL="0" marR="0" marT="203200"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tcPr>
                </a:tc>
                <a:tc>
                  <a:txBody>
                    <a:bodyPr/>
                    <a:lstStyle/>
                    <a:p>
                      <a:pPr>
                        <a:lnSpc>
                          <a:spcPct val="100000"/>
                        </a:lnSpc>
                      </a:pPr>
                      <a:endParaRPr sz="1500">
                        <a:latin typeface="Times New Roman"/>
                        <a:cs typeface="Times New Roman"/>
                      </a:endParaRPr>
                    </a:p>
                  </a:txBody>
                  <a:tcPr marL="0" marR="0" marT="0" marB="0">
                    <a:lnL w="9525">
                      <a:solidFill>
                        <a:srgbClr val="595959"/>
                      </a:solidFill>
                      <a:prstDash val="solid"/>
                    </a:lnL>
                    <a:lnR w="9525">
                      <a:solidFill>
                        <a:srgbClr val="4BA173"/>
                      </a:solidFill>
                      <a:prstDash val="solid"/>
                    </a:lnR>
                    <a:lnT w="28575">
                      <a:solidFill>
                        <a:srgbClr val="4BA173"/>
                      </a:solidFill>
                      <a:prstDash val="solid"/>
                    </a:lnT>
                  </a:tcPr>
                </a:tc>
                <a:tc vMerge="1">
                  <a:txBody>
                    <a:bodyPr/>
                    <a:lstStyle/>
                    <a:p>
                      <a:endParaRPr/>
                    </a:p>
                  </a:txBody>
                  <a:tcPr marL="0" marR="0" marT="2540" marB="0">
                    <a:lnL w="9525">
                      <a:solidFill>
                        <a:srgbClr val="4BA173"/>
                      </a:solidFill>
                      <a:prstDash val="solid"/>
                    </a:lnL>
                    <a:lnR w="9525">
                      <a:solidFill>
                        <a:srgbClr val="4BA173"/>
                      </a:solidFill>
                      <a:prstDash val="solid"/>
                    </a:lnR>
                    <a:lnT w="9525">
                      <a:solidFill>
                        <a:srgbClr val="4BA173"/>
                      </a:solidFill>
                      <a:prstDash val="solid"/>
                    </a:lnT>
                    <a:lnB w="9525">
                      <a:solidFill>
                        <a:srgbClr val="4BA173"/>
                      </a:solidFill>
                      <a:prstDash val="solid"/>
                    </a:lnB>
                    <a:solidFill>
                      <a:srgbClr val="B6D7A8"/>
                    </a:solidFill>
                  </a:tcPr>
                </a:tc>
                <a:extLst>
                  <a:ext uri="{0D108BD9-81ED-4DB2-BD59-A6C34878D82A}">
                    <a16:rowId xmlns:a16="http://schemas.microsoft.com/office/drawing/2014/main" val="10002"/>
                  </a:ext>
                </a:extLst>
              </a:tr>
              <a:tr h="261140">
                <a:tc vMerge="1">
                  <a:txBody>
                    <a:bodyPr/>
                    <a:lstStyle/>
                    <a:p>
                      <a:endParaRPr/>
                    </a:p>
                  </a:txBody>
                  <a:tcPr marL="0" marR="0" marT="203200"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tcPr>
                </a:tc>
                <a:tc gridSpan="2">
                  <a:txBody>
                    <a:bodyPr/>
                    <a:lstStyle/>
                    <a:p>
                      <a:pPr>
                        <a:lnSpc>
                          <a:spcPct val="100000"/>
                        </a:lnSpc>
                      </a:pPr>
                      <a:endParaRPr sz="1500" dirty="0">
                        <a:latin typeface="Times New Roman"/>
                        <a:cs typeface="Times New Roman"/>
                      </a:endParaRPr>
                    </a:p>
                  </a:txBody>
                  <a:tcPr marL="0" marR="0" marT="0" marB="0">
                    <a:lnL w="9525">
                      <a:solidFill>
                        <a:srgbClr val="595959"/>
                      </a:solidFill>
                      <a:prstDash val="solid"/>
                    </a:lnL>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pic>
        <p:nvPicPr>
          <p:cNvPr id="12" name="object 12"/>
          <p:cNvPicPr/>
          <p:nvPr/>
        </p:nvPicPr>
        <p:blipFill>
          <a:blip r:embed="rId3" cstate="print"/>
          <a:stretch>
            <a:fillRect/>
          </a:stretch>
        </p:blipFill>
        <p:spPr>
          <a:xfrm>
            <a:off x="3587400" y="2999132"/>
            <a:ext cx="105500" cy="81980"/>
          </a:xfrm>
          <a:prstGeom prst="rect">
            <a:avLst/>
          </a:prstGeom>
        </p:spPr>
      </p:pic>
      <p:pic>
        <p:nvPicPr>
          <p:cNvPr id="13" name="object 13"/>
          <p:cNvPicPr/>
          <p:nvPr/>
        </p:nvPicPr>
        <p:blipFill>
          <a:blip r:embed="rId4" cstate="print"/>
          <a:stretch>
            <a:fillRect/>
          </a:stretch>
        </p:blipFill>
        <p:spPr>
          <a:xfrm>
            <a:off x="2935260" y="2999142"/>
            <a:ext cx="105500" cy="81980"/>
          </a:xfrm>
          <a:prstGeom prst="rect">
            <a:avLst/>
          </a:prstGeom>
        </p:spPr>
      </p:pic>
      <p:grpSp>
        <p:nvGrpSpPr>
          <p:cNvPr id="14" name="object 14"/>
          <p:cNvGrpSpPr/>
          <p:nvPr/>
        </p:nvGrpSpPr>
        <p:grpSpPr>
          <a:xfrm>
            <a:off x="6747062" y="1631537"/>
            <a:ext cx="2004695" cy="820419"/>
            <a:chOff x="6747062" y="1631537"/>
            <a:chExt cx="2004695" cy="820419"/>
          </a:xfrm>
        </p:grpSpPr>
        <p:sp>
          <p:nvSpPr>
            <p:cNvPr id="15" name="object 15"/>
            <p:cNvSpPr/>
            <p:nvPr/>
          </p:nvSpPr>
          <p:spPr>
            <a:xfrm>
              <a:off x="6751825" y="1636299"/>
              <a:ext cx="1995170" cy="810895"/>
            </a:xfrm>
            <a:custGeom>
              <a:avLst/>
              <a:gdLst/>
              <a:ahLst/>
              <a:cxnLst/>
              <a:rect l="l" t="t" r="r" b="b"/>
              <a:pathLst>
                <a:path w="1995170" h="810894">
                  <a:moveTo>
                    <a:pt x="1859897" y="810599"/>
                  </a:moveTo>
                  <a:lnTo>
                    <a:pt x="135102" y="810599"/>
                  </a:lnTo>
                  <a:lnTo>
                    <a:pt x="92399" y="803712"/>
                  </a:lnTo>
                  <a:lnTo>
                    <a:pt x="55312" y="784533"/>
                  </a:lnTo>
                  <a:lnTo>
                    <a:pt x="26066" y="755287"/>
                  </a:lnTo>
                  <a:lnTo>
                    <a:pt x="6887" y="718200"/>
                  </a:lnTo>
                  <a:lnTo>
                    <a:pt x="0" y="675497"/>
                  </a:lnTo>
                  <a:lnTo>
                    <a:pt x="0" y="135102"/>
                  </a:lnTo>
                  <a:lnTo>
                    <a:pt x="6887" y="92399"/>
                  </a:lnTo>
                  <a:lnTo>
                    <a:pt x="26066" y="55312"/>
                  </a:lnTo>
                  <a:lnTo>
                    <a:pt x="55312" y="26066"/>
                  </a:lnTo>
                  <a:lnTo>
                    <a:pt x="92399" y="6887"/>
                  </a:lnTo>
                  <a:lnTo>
                    <a:pt x="135102" y="0"/>
                  </a:lnTo>
                  <a:lnTo>
                    <a:pt x="1859897" y="0"/>
                  </a:lnTo>
                  <a:lnTo>
                    <a:pt x="1911599" y="10284"/>
                  </a:lnTo>
                  <a:lnTo>
                    <a:pt x="1955429" y="39570"/>
                  </a:lnTo>
                  <a:lnTo>
                    <a:pt x="1984715" y="83401"/>
                  </a:lnTo>
                  <a:lnTo>
                    <a:pt x="1994999" y="135102"/>
                  </a:lnTo>
                  <a:lnTo>
                    <a:pt x="1994999" y="675497"/>
                  </a:lnTo>
                  <a:lnTo>
                    <a:pt x="1988112" y="718200"/>
                  </a:lnTo>
                  <a:lnTo>
                    <a:pt x="1968933" y="755287"/>
                  </a:lnTo>
                  <a:lnTo>
                    <a:pt x="1939687" y="784533"/>
                  </a:lnTo>
                  <a:lnTo>
                    <a:pt x="1902600" y="803712"/>
                  </a:lnTo>
                  <a:lnTo>
                    <a:pt x="1859897" y="810599"/>
                  </a:lnTo>
                  <a:close/>
                </a:path>
              </a:pathLst>
            </a:custGeom>
            <a:solidFill>
              <a:srgbClr val="A4C1F4"/>
            </a:solidFill>
          </p:spPr>
          <p:txBody>
            <a:bodyPr wrap="square" lIns="0" tIns="0" rIns="0" bIns="0" rtlCol="0"/>
            <a:lstStyle/>
            <a:p>
              <a:endParaRPr/>
            </a:p>
          </p:txBody>
        </p:sp>
        <p:sp>
          <p:nvSpPr>
            <p:cNvPr id="16" name="object 16"/>
            <p:cNvSpPr/>
            <p:nvPr/>
          </p:nvSpPr>
          <p:spPr>
            <a:xfrm>
              <a:off x="6751825" y="1636299"/>
              <a:ext cx="1995170" cy="810895"/>
            </a:xfrm>
            <a:custGeom>
              <a:avLst/>
              <a:gdLst/>
              <a:ahLst/>
              <a:cxnLst/>
              <a:rect l="l" t="t" r="r" b="b"/>
              <a:pathLst>
                <a:path w="1995170" h="810894">
                  <a:moveTo>
                    <a:pt x="0" y="135102"/>
                  </a:moveTo>
                  <a:lnTo>
                    <a:pt x="6887" y="92399"/>
                  </a:lnTo>
                  <a:lnTo>
                    <a:pt x="26066" y="55312"/>
                  </a:lnTo>
                  <a:lnTo>
                    <a:pt x="55312" y="26066"/>
                  </a:lnTo>
                  <a:lnTo>
                    <a:pt x="92399" y="6887"/>
                  </a:lnTo>
                  <a:lnTo>
                    <a:pt x="135102" y="0"/>
                  </a:lnTo>
                  <a:lnTo>
                    <a:pt x="1859897" y="0"/>
                  </a:lnTo>
                  <a:lnTo>
                    <a:pt x="1911599" y="10284"/>
                  </a:lnTo>
                  <a:lnTo>
                    <a:pt x="1955429" y="39570"/>
                  </a:lnTo>
                  <a:lnTo>
                    <a:pt x="1984715" y="83401"/>
                  </a:lnTo>
                  <a:lnTo>
                    <a:pt x="1994999" y="135102"/>
                  </a:lnTo>
                  <a:lnTo>
                    <a:pt x="1994999" y="675497"/>
                  </a:lnTo>
                  <a:lnTo>
                    <a:pt x="1988112" y="718200"/>
                  </a:lnTo>
                  <a:lnTo>
                    <a:pt x="1968933" y="755287"/>
                  </a:lnTo>
                  <a:lnTo>
                    <a:pt x="1939687" y="784533"/>
                  </a:lnTo>
                  <a:lnTo>
                    <a:pt x="1902600" y="803712"/>
                  </a:lnTo>
                  <a:lnTo>
                    <a:pt x="1859897" y="810599"/>
                  </a:lnTo>
                  <a:lnTo>
                    <a:pt x="135102" y="810599"/>
                  </a:lnTo>
                  <a:lnTo>
                    <a:pt x="92399" y="803712"/>
                  </a:lnTo>
                  <a:lnTo>
                    <a:pt x="55312" y="784533"/>
                  </a:lnTo>
                  <a:lnTo>
                    <a:pt x="26066" y="755287"/>
                  </a:lnTo>
                  <a:lnTo>
                    <a:pt x="6887" y="718200"/>
                  </a:lnTo>
                  <a:lnTo>
                    <a:pt x="0" y="675497"/>
                  </a:lnTo>
                  <a:lnTo>
                    <a:pt x="0" y="135102"/>
                  </a:lnTo>
                  <a:close/>
                </a:path>
              </a:pathLst>
            </a:custGeom>
            <a:ln w="9524">
              <a:solidFill>
                <a:srgbClr val="4BA173"/>
              </a:solidFill>
            </a:ln>
          </p:spPr>
          <p:txBody>
            <a:bodyPr wrap="square" lIns="0" tIns="0" rIns="0" bIns="0" rtlCol="0"/>
            <a:lstStyle/>
            <a:p>
              <a:endParaRPr/>
            </a:p>
          </p:txBody>
        </p:sp>
      </p:grpSp>
      <p:sp>
        <p:nvSpPr>
          <p:cNvPr id="17" name="object 17"/>
          <p:cNvSpPr txBox="1"/>
          <p:nvPr/>
        </p:nvSpPr>
        <p:spPr>
          <a:xfrm>
            <a:off x="6864420" y="1741783"/>
            <a:ext cx="722630" cy="238760"/>
          </a:xfrm>
          <a:prstGeom prst="rect">
            <a:avLst/>
          </a:prstGeom>
        </p:spPr>
        <p:txBody>
          <a:bodyPr vert="horz" wrap="square" lIns="0" tIns="12700" rIns="0" bIns="0" rtlCol="0">
            <a:spAutoFit/>
          </a:bodyPr>
          <a:lstStyle/>
          <a:p>
            <a:pPr marL="12700">
              <a:lnSpc>
                <a:spcPct val="100000"/>
              </a:lnSpc>
              <a:spcBef>
                <a:spcPts val="100"/>
              </a:spcBef>
            </a:pPr>
            <a:r>
              <a:rPr sz="1400" spc="-90" dirty="0">
                <a:latin typeface="Verdana"/>
                <a:cs typeface="Verdana"/>
              </a:rPr>
              <a:t>Executor</a:t>
            </a:r>
            <a:endParaRPr sz="1400" dirty="0">
              <a:latin typeface="Verdana"/>
              <a:cs typeface="Verdana"/>
            </a:endParaRPr>
          </a:p>
        </p:txBody>
      </p:sp>
      <p:sp>
        <p:nvSpPr>
          <p:cNvPr id="18" name="object 18"/>
          <p:cNvSpPr txBox="1"/>
          <p:nvPr/>
        </p:nvSpPr>
        <p:spPr>
          <a:xfrm>
            <a:off x="6875825" y="2087674"/>
            <a:ext cx="843280" cy="238125"/>
          </a:xfrm>
          <a:prstGeom prst="rect">
            <a:avLst/>
          </a:prstGeom>
          <a:solidFill>
            <a:srgbClr val="6FA8DC"/>
          </a:solidFill>
          <a:ln w="9524">
            <a:solidFill>
              <a:srgbClr val="4BA173"/>
            </a:solidFill>
          </a:ln>
        </p:spPr>
        <p:txBody>
          <a:bodyPr vert="horz" wrap="square" lIns="0" tIns="6985" rIns="0" bIns="0" rtlCol="0">
            <a:spAutoFit/>
          </a:bodyPr>
          <a:lstStyle/>
          <a:p>
            <a:pPr marL="210185">
              <a:lnSpc>
                <a:spcPct val="100000"/>
              </a:lnSpc>
              <a:spcBef>
                <a:spcPts val="55"/>
              </a:spcBef>
            </a:pPr>
            <a:r>
              <a:rPr sz="1400" spc="-110" dirty="0">
                <a:latin typeface="Verdana"/>
                <a:cs typeface="Verdana"/>
              </a:rPr>
              <a:t>TASK</a:t>
            </a:r>
            <a:endParaRPr sz="1400">
              <a:latin typeface="Verdana"/>
              <a:cs typeface="Verdana"/>
            </a:endParaRPr>
          </a:p>
        </p:txBody>
      </p:sp>
      <p:sp>
        <p:nvSpPr>
          <p:cNvPr id="19" name="object 19"/>
          <p:cNvSpPr txBox="1"/>
          <p:nvPr/>
        </p:nvSpPr>
        <p:spPr>
          <a:xfrm>
            <a:off x="7800124" y="2087674"/>
            <a:ext cx="843280" cy="238125"/>
          </a:xfrm>
          <a:prstGeom prst="rect">
            <a:avLst/>
          </a:prstGeom>
          <a:solidFill>
            <a:srgbClr val="6FA8DC"/>
          </a:solidFill>
          <a:ln w="9524">
            <a:solidFill>
              <a:srgbClr val="4BA173"/>
            </a:solidFill>
          </a:ln>
        </p:spPr>
        <p:txBody>
          <a:bodyPr vert="horz" wrap="square" lIns="0" tIns="6985" rIns="0" bIns="0" rtlCol="0">
            <a:spAutoFit/>
          </a:bodyPr>
          <a:lstStyle/>
          <a:p>
            <a:pPr marL="210185">
              <a:lnSpc>
                <a:spcPct val="100000"/>
              </a:lnSpc>
              <a:spcBef>
                <a:spcPts val="55"/>
              </a:spcBef>
            </a:pPr>
            <a:r>
              <a:rPr sz="1400" spc="-110" dirty="0">
                <a:latin typeface="Verdana"/>
                <a:cs typeface="Verdana"/>
              </a:rPr>
              <a:t>TASK</a:t>
            </a:r>
            <a:endParaRPr sz="1400">
              <a:latin typeface="Verdana"/>
              <a:cs typeface="Verdana"/>
            </a:endParaRPr>
          </a:p>
        </p:txBody>
      </p:sp>
      <p:sp>
        <p:nvSpPr>
          <p:cNvPr id="20" name="object 20"/>
          <p:cNvSpPr txBox="1"/>
          <p:nvPr/>
        </p:nvSpPr>
        <p:spPr>
          <a:xfrm>
            <a:off x="7683324" y="1695799"/>
            <a:ext cx="960119" cy="321310"/>
          </a:xfrm>
          <a:prstGeom prst="rect">
            <a:avLst/>
          </a:prstGeom>
          <a:solidFill>
            <a:srgbClr val="FFD966"/>
          </a:solidFill>
          <a:ln w="9524">
            <a:solidFill>
              <a:srgbClr val="4BA173"/>
            </a:solidFill>
          </a:ln>
        </p:spPr>
        <p:txBody>
          <a:bodyPr vert="horz" wrap="square" lIns="0" tIns="48260" rIns="0" bIns="0" rtlCol="0">
            <a:spAutoFit/>
          </a:bodyPr>
          <a:lstStyle/>
          <a:p>
            <a:pPr marL="168275">
              <a:lnSpc>
                <a:spcPct val="100000"/>
              </a:lnSpc>
              <a:spcBef>
                <a:spcPts val="380"/>
              </a:spcBef>
            </a:pPr>
            <a:r>
              <a:rPr sz="1400" spc="-5" dirty="0">
                <a:latin typeface="Arial MT"/>
                <a:cs typeface="Arial MT"/>
              </a:rPr>
              <a:t>CACHE</a:t>
            </a:r>
            <a:endParaRPr sz="1400">
              <a:latin typeface="Arial MT"/>
              <a:cs typeface="Arial MT"/>
            </a:endParaRPr>
          </a:p>
        </p:txBody>
      </p:sp>
      <p:grpSp>
        <p:nvGrpSpPr>
          <p:cNvPr id="21" name="object 21"/>
          <p:cNvGrpSpPr/>
          <p:nvPr/>
        </p:nvGrpSpPr>
        <p:grpSpPr>
          <a:xfrm>
            <a:off x="6668671" y="3121087"/>
            <a:ext cx="2215515" cy="1315720"/>
            <a:chOff x="6668671" y="3121087"/>
            <a:chExt cx="2215515" cy="1315720"/>
          </a:xfrm>
        </p:grpSpPr>
        <p:sp>
          <p:nvSpPr>
            <p:cNvPr id="22" name="object 22"/>
            <p:cNvSpPr/>
            <p:nvPr/>
          </p:nvSpPr>
          <p:spPr>
            <a:xfrm>
              <a:off x="6673433" y="3125849"/>
              <a:ext cx="2205990" cy="1306195"/>
            </a:xfrm>
            <a:custGeom>
              <a:avLst/>
              <a:gdLst/>
              <a:ahLst/>
              <a:cxnLst/>
              <a:rect l="l" t="t" r="r" b="b"/>
              <a:pathLst>
                <a:path w="2205990" h="1306195">
                  <a:moveTo>
                    <a:pt x="2205899" y="1306199"/>
                  </a:moveTo>
                  <a:lnTo>
                    <a:pt x="0" y="1306199"/>
                  </a:lnTo>
                  <a:lnTo>
                    <a:pt x="0" y="0"/>
                  </a:lnTo>
                  <a:lnTo>
                    <a:pt x="2205899" y="0"/>
                  </a:lnTo>
                  <a:lnTo>
                    <a:pt x="2205899" y="1306199"/>
                  </a:lnTo>
                  <a:close/>
                </a:path>
              </a:pathLst>
            </a:custGeom>
            <a:solidFill>
              <a:srgbClr val="B6D7A8"/>
            </a:solidFill>
          </p:spPr>
          <p:txBody>
            <a:bodyPr wrap="square" lIns="0" tIns="0" rIns="0" bIns="0" rtlCol="0"/>
            <a:lstStyle/>
            <a:p>
              <a:endParaRPr/>
            </a:p>
          </p:txBody>
        </p:sp>
        <p:sp>
          <p:nvSpPr>
            <p:cNvPr id="23" name="object 23"/>
            <p:cNvSpPr/>
            <p:nvPr/>
          </p:nvSpPr>
          <p:spPr>
            <a:xfrm>
              <a:off x="6673433" y="3125849"/>
              <a:ext cx="2205990" cy="1306195"/>
            </a:xfrm>
            <a:custGeom>
              <a:avLst/>
              <a:gdLst/>
              <a:ahLst/>
              <a:cxnLst/>
              <a:rect l="l" t="t" r="r" b="b"/>
              <a:pathLst>
                <a:path w="2205990" h="1306195">
                  <a:moveTo>
                    <a:pt x="0" y="0"/>
                  </a:moveTo>
                  <a:lnTo>
                    <a:pt x="2205899" y="0"/>
                  </a:lnTo>
                  <a:lnTo>
                    <a:pt x="2205899" y="1306199"/>
                  </a:lnTo>
                  <a:lnTo>
                    <a:pt x="0" y="1306199"/>
                  </a:lnTo>
                  <a:lnTo>
                    <a:pt x="0" y="0"/>
                  </a:lnTo>
                  <a:close/>
                </a:path>
              </a:pathLst>
            </a:custGeom>
            <a:ln w="9524">
              <a:solidFill>
                <a:srgbClr val="4BA173"/>
              </a:solidFill>
            </a:ln>
          </p:spPr>
          <p:txBody>
            <a:bodyPr wrap="square" lIns="0" tIns="0" rIns="0" bIns="0" rtlCol="0"/>
            <a:lstStyle/>
            <a:p>
              <a:endParaRPr/>
            </a:p>
          </p:txBody>
        </p:sp>
      </p:grpSp>
      <p:sp>
        <p:nvSpPr>
          <p:cNvPr id="24" name="object 24"/>
          <p:cNvSpPr txBox="1"/>
          <p:nvPr/>
        </p:nvSpPr>
        <p:spPr>
          <a:xfrm>
            <a:off x="6664660" y="3191762"/>
            <a:ext cx="1520825" cy="238760"/>
          </a:xfrm>
          <a:prstGeom prst="rect">
            <a:avLst/>
          </a:prstGeom>
        </p:spPr>
        <p:txBody>
          <a:bodyPr vert="horz" wrap="square" lIns="0" tIns="12700" rIns="0" bIns="0" rtlCol="0">
            <a:spAutoFit/>
          </a:bodyPr>
          <a:lstStyle/>
          <a:p>
            <a:pPr marL="93980">
              <a:lnSpc>
                <a:spcPct val="100000"/>
              </a:lnSpc>
              <a:spcBef>
                <a:spcPts val="100"/>
              </a:spcBef>
            </a:pPr>
            <a:r>
              <a:rPr sz="1400" spc="-75" dirty="0">
                <a:latin typeface="Verdana"/>
                <a:cs typeface="Verdana"/>
              </a:rPr>
              <a:t>Worker</a:t>
            </a:r>
            <a:endParaRPr sz="1400" dirty="0">
              <a:latin typeface="Verdana"/>
              <a:cs typeface="Verdana"/>
            </a:endParaRPr>
          </a:p>
        </p:txBody>
      </p:sp>
      <p:grpSp>
        <p:nvGrpSpPr>
          <p:cNvPr id="25" name="object 25"/>
          <p:cNvGrpSpPr/>
          <p:nvPr/>
        </p:nvGrpSpPr>
        <p:grpSpPr>
          <a:xfrm>
            <a:off x="6774133" y="3512787"/>
            <a:ext cx="2004695" cy="820419"/>
            <a:chOff x="6774133" y="3512787"/>
            <a:chExt cx="2004695" cy="820419"/>
          </a:xfrm>
        </p:grpSpPr>
        <p:sp>
          <p:nvSpPr>
            <p:cNvPr id="26" name="object 26"/>
            <p:cNvSpPr/>
            <p:nvPr/>
          </p:nvSpPr>
          <p:spPr>
            <a:xfrm>
              <a:off x="6778896" y="3517550"/>
              <a:ext cx="1995170" cy="810895"/>
            </a:xfrm>
            <a:custGeom>
              <a:avLst/>
              <a:gdLst/>
              <a:ahLst/>
              <a:cxnLst/>
              <a:rect l="l" t="t" r="r" b="b"/>
              <a:pathLst>
                <a:path w="1995170" h="810895">
                  <a:moveTo>
                    <a:pt x="1859897" y="810599"/>
                  </a:moveTo>
                  <a:lnTo>
                    <a:pt x="135102" y="810599"/>
                  </a:lnTo>
                  <a:lnTo>
                    <a:pt x="92399" y="803712"/>
                  </a:lnTo>
                  <a:lnTo>
                    <a:pt x="55312" y="784533"/>
                  </a:lnTo>
                  <a:lnTo>
                    <a:pt x="26066" y="755287"/>
                  </a:lnTo>
                  <a:lnTo>
                    <a:pt x="6887" y="718200"/>
                  </a:lnTo>
                  <a:lnTo>
                    <a:pt x="0" y="675497"/>
                  </a:lnTo>
                  <a:lnTo>
                    <a:pt x="0" y="135102"/>
                  </a:lnTo>
                  <a:lnTo>
                    <a:pt x="6887" y="92399"/>
                  </a:lnTo>
                  <a:lnTo>
                    <a:pt x="26066" y="55312"/>
                  </a:lnTo>
                  <a:lnTo>
                    <a:pt x="55312" y="26066"/>
                  </a:lnTo>
                  <a:lnTo>
                    <a:pt x="92399" y="6887"/>
                  </a:lnTo>
                  <a:lnTo>
                    <a:pt x="135102" y="0"/>
                  </a:lnTo>
                  <a:lnTo>
                    <a:pt x="1859897" y="0"/>
                  </a:lnTo>
                  <a:lnTo>
                    <a:pt x="1911599" y="10284"/>
                  </a:lnTo>
                  <a:lnTo>
                    <a:pt x="1955429" y="39570"/>
                  </a:lnTo>
                  <a:lnTo>
                    <a:pt x="1984715" y="83401"/>
                  </a:lnTo>
                  <a:lnTo>
                    <a:pt x="1994999" y="135102"/>
                  </a:lnTo>
                  <a:lnTo>
                    <a:pt x="1994999" y="675497"/>
                  </a:lnTo>
                  <a:lnTo>
                    <a:pt x="1988112" y="718200"/>
                  </a:lnTo>
                  <a:lnTo>
                    <a:pt x="1968933" y="755287"/>
                  </a:lnTo>
                  <a:lnTo>
                    <a:pt x="1939687" y="784533"/>
                  </a:lnTo>
                  <a:lnTo>
                    <a:pt x="1902600" y="803712"/>
                  </a:lnTo>
                  <a:lnTo>
                    <a:pt x="1859897" y="810599"/>
                  </a:lnTo>
                  <a:close/>
                </a:path>
              </a:pathLst>
            </a:custGeom>
            <a:solidFill>
              <a:srgbClr val="A4C1F4"/>
            </a:solidFill>
          </p:spPr>
          <p:txBody>
            <a:bodyPr wrap="square" lIns="0" tIns="0" rIns="0" bIns="0" rtlCol="0"/>
            <a:lstStyle/>
            <a:p>
              <a:endParaRPr/>
            </a:p>
          </p:txBody>
        </p:sp>
        <p:sp>
          <p:nvSpPr>
            <p:cNvPr id="27" name="object 27"/>
            <p:cNvSpPr/>
            <p:nvPr/>
          </p:nvSpPr>
          <p:spPr>
            <a:xfrm>
              <a:off x="6778896" y="3517550"/>
              <a:ext cx="1995170" cy="810895"/>
            </a:xfrm>
            <a:custGeom>
              <a:avLst/>
              <a:gdLst/>
              <a:ahLst/>
              <a:cxnLst/>
              <a:rect l="l" t="t" r="r" b="b"/>
              <a:pathLst>
                <a:path w="1995170" h="810895">
                  <a:moveTo>
                    <a:pt x="0" y="135102"/>
                  </a:moveTo>
                  <a:lnTo>
                    <a:pt x="6887" y="92399"/>
                  </a:lnTo>
                  <a:lnTo>
                    <a:pt x="26066" y="55312"/>
                  </a:lnTo>
                  <a:lnTo>
                    <a:pt x="55312" y="26066"/>
                  </a:lnTo>
                  <a:lnTo>
                    <a:pt x="92399" y="6887"/>
                  </a:lnTo>
                  <a:lnTo>
                    <a:pt x="135102" y="0"/>
                  </a:lnTo>
                  <a:lnTo>
                    <a:pt x="1859897" y="0"/>
                  </a:lnTo>
                  <a:lnTo>
                    <a:pt x="1911599" y="10284"/>
                  </a:lnTo>
                  <a:lnTo>
                    <a:pt x="1955429" y="39570"/>
                  </a:lnTo>
                  <a:lnTo>
                    <a:pt x="1984715" y="83401"/>
                  </a:lnTo>
                  <a:lnTo>
                    <a:pt x="1994999" y="135102"/>
                  </a:lnTo>
                  <a:lnTo>
                    <a:pt x="1994999" y="675497"/>
                  </a:lnTo>
                  <a:lnTo>
                    <a:pt x="1988112" y="718200"/>
                  </a:lnTo>
                  <a:lnTo>
                    <a:pt x="1968933" y="755287"/>
                  </a:lnTo>
                  <a:lnTo>
                    <a:pt x="1939687" y="784533"/>
                  </a:lnTo>
                  <a:lnTo>
                    <a:pt x="1902600" y="803712"/>
                  </a:lnTo>
                  <a:lnTo>
                    <a:pt x="1859897" y="810599"/>
                  </a:lnTo>
                  <a:lnTo>
                    <a:pt x="135102" y="810599"/>
                  </a:lnTo>
                  <a:lnTo>
                    <a:pt x="92399" y="803712"/>
                  </a:lnTo>
                  <a:lnTo>
                    <a:pt x="55312" y="784533"/>
                  </a:lnTo>
                  <a:lnTo>
                    <a:pt x="26066" y="755287"/>
                  </a:lnTo>
                  <a:lnTo>
                    <a:pt x="6887" y="718200"/>
                  </a:lnTo>
                  <a:lnTo>
                    <a:pt x="0" y="675497"/>
                  </a:lnTo>
                  <a:lnTo>
                    <a:pt x="0" y="135102"/>
                  </a:lnTo>
                  <a:close/>
                </a:path>
              </a:pathLst>
            </a:custGeom>
            <a:ln w="9524">
              <a:solidFill>
                <a:srgbClr val="4BA173"/>
              </a:solidFill>
            </a:ln>
          </p:spPr>
          <p:txBody>
            <a:bodyPr wrap="square" lIns="0" tIns="0" rIns="0" bIns="0" rtlCol="0"/>
            <a:lstStyle/>
            <a:p>
              <a:endParaRPr/>
            </a:p>
          </p:txBody>
        </p:sp>
      </p:grpSp>
      <p:sp>
        <p:nvSpPr>
          <p:cNvPr id="28" name="object 28"/>
          <p:cNvSpPr txBox="1"/>
          <p:nvPr/>
        </p:nvSpPr>
        <p:spPr>
          <a:xfrm>
            <a:off x="6891491" y="3623033"/>
            <a:ext cx="722630" cy="238760"/>
          </a:xfrm>
          <a:prstGeom prst="rect">
            <a:avLst/>
          </a:prstGeom>
        </p:spPr>
        <p:txBody>
          <a:bodyPr vert="horz" wrap="square" lIns="0" tIns="12700" rIns="0" bIns="0" rtlCol="0">
            <a:spAutoFit/>
          </a:bodyPr>
          <a:lstStyle/>
          <a:p>
            <a:pPr marL="12700">
              <a:lnSpc>
                <a:spcPct val="100000"/>
              </a:lnSpc>
              <a:spcBef>
                <a:spcPts val="100"/>
              </a:spcBef>
            </a:pPr>
            <a:r>
              <a:rPr sz="1400" spc="-90" dirty="0">
                <a:latin typeface="Verdana"/>
                <a:cs typeface="Verdana"/>
              </a:rPr>
              <a:t>Executor</a:t>
            </a:r>
            <a:endParaRPr sz="1400">
              <a:latin typeface="Verdana"/>
              <a:cs typeface="Verdana"/>
            </a:endParaRPr>
          </a:p>
        </p:txBody>
      </p:sp>
      <p:sp>
        <p:nvSpPr>
          <p:cNvPr id="29" name="object 29"/>
          <p:cNvSpPr txBox="1"/>
          <p:nvPr/>
        </p:nvSpPr>
        <p:spPr>
          <a:xfrm>
            <a:off x="6902895" y="3968924"/>
            <a:ext cx="843280" cy="238125"/>
          </a:xfrm>
          <a:prstGeom prst="rect">
            <a:avLst/>
          </a:prstGeom>
          <a:solidFill>
            <a:srgbClr val="6FA8DC"/>
          </a:solidFill>
          <a:ln w="9524">
            <a:solidFill>
              <a:srgbClr val="4BA173"/>
            </a:solidFill>
          </a:ln>
        </p:spPr>
        <p:txBody>
          <a:bodyPr vert="horz" wrap="square" lIns="0" tIns="6985" rIns="0" bIns="0" rtlCol="0">
            <a:spAutoFit/>
          </a:bodyPr>
          <a:lstStyle/>
          <a:p>
            <a:pPr marL="210185">
              <a:lnSpc>
                <a:spcPct val="100000"/>
              </a:lnSpc>
              <a:spcBef>
                <a:spcPts val="55"/>
              </a:spcBef>
            </a:pPr>
            <a:r>
              <a:rPr sz="1400" spc="-110" dirty="0">
                <a:latin typeface="Verdana"/>
                <a:cs typeface="Verdana"/>
              </a:rPr>
              <a:t>TASK</a:t>
            </a:r>
            <a:endParaRPr sz="1400">
              <a:latin typeface="Verdana"/>
              <a:cs typeface="Verdana"/>
            </a:endParaRPr>
          </a:p>
        </p:txBody>
      </p:sp>
      <p:sp>
        <p:nvSpPr>
          <p:cNvPr id="30" name="object 30"/>
          <p:cNvSpPr txBox="1"/>
          <p:nvPr/>
        </p:nvSpPr>
        <p:spPr>
          <a:xfrm>
            <a:off x="7827195" y="3968924"/>
            <a:ext cx="843280" cy="238125"/>
          </a:xfrm>
          <a:prstGeom prst="rect">
            <a:avLst/>
          </a:prstGeom>
          <a:solidFill>
            <a:srgbClr val="6FA8DC"/>
          </a:solidFill>
          <a:ln w="9524">
            <a:solidFill>
              <a:srgbClr val="4BA173"/>
            </a:solidFill>
          </a:ln>
        </p:spPr>
        <p:txBody>
          <a:bodyPr vert="horz" wrap="square" lIns="0" tIns="6985" rIns="0" bIns="0" rtlCol="0">
            <a:spAutoFit/>
          </a:bodyPr>
          <a:lstStyle/>
          <a:p>
            <a:pPr marL="210185">
              <a:lnSpc>
                <a:spcPct val="100000"/>
              </a:lnSpc>
              <a:spcBef>
                <a:spcPts val="55"/>
              </a:spcBef>
            </a:pPr>
            <a:r>
              <a:rPr sz="1400" spc="-110" dirty="0">
                <a:latin typeface="Verdana"/>
                <a:cs typeface="Verdana"/>
              </a:rPr>
              <a:t>TASK</a:t>
            </a:r>
            <a:endParaRPr sz="1400">
              <a:latin typeface="Verdana"/>
              <a:cs typeface="Verdana"/>
            </a:endParaRPr>
          </a:p>
        </p:txBody>
      </p:sp>
      <p:sp>
        <p:nvSpPr>
          <p:cNvPr id="31" name="object 31"/>
          <p:cNvSpPr txBox="1"/>
          <p:nvPr/>
        </p:nvSpPr>
        <p:spPr>
          <a:xfrm>
            <a:off x="7710396" y="3577049"/>
            <a:ext cx="960119" cy="321310"/>
          </a:xfrm>
          <a:prstGeom prst="rect">
            <a:avLst/>
          </a:prstGeom>
          <a:solidFill>
            <a:srgbClr val="FFD966"/>
          </a:solidFill>
          <a:ln w="9524">
            <a:solidFill>
              <a:srgbClr val="4BA173"/>
            </a:solidFill>
          </a:ln>
        </p:spPr>
        <p:txBody>
          <a:bodyPr vert="horz" wrap="square" lIns="0" tIns="48260" rIns="0" bIns="0" rtlCol="0">
            <a:spAutoFit/>
          </a:bodyPr>
          <a:lstStyle/>
          <a:p>
            <a:pPr marL="168275">
              <a:lnSpc>
                <a:spcPct val="100000"/>
              </a:lnSpc>
              <a:spcBef>
                <a:spcPts val="380"/>
              </a:spcBef>
            </a:pPr>
            <a:r>
              <a:rPr sz="1400" spc="-5" dirty="0">
                <a:latin typeface="Arial MT"/>
                <a:cs typeface="Arial MT"/>
              </a:rPr>
              <a:t>CACHE</a:t>
            </a:r>
            <a:endParaRPr sz="1400">
              <a:latin typeface="Arial MT"/>
              <a:cs typeface="Arial MT"/>
            </a:endParaRPr>
          </a:p>
        </p:txBody>
      </p:sp>
      <p:grpSp>
        <p:nvGrpSpPr>
          <p:cNvPr id="32" name="object 32"/>
          <p:cNvGrpSpPr/>
          <p:nvPr/>
        </p:nvGrpSpPr>
        <p:grpSpPr>
          <a:xfrm>
            <a:off x="5629535" y="1897700"/>
            <a:ext cx="2606795" cy="1881481"/>
            <a:chOff x="5629535" y="1897700"/>
            <a:chExt cx="2606795" cy="1881481"/>
          </a:xfrm>
        </p:grpSpPr>
        <p:sp>
          <p:nvSpPr>
            <p:cNvPr id="33" name="object 33"/>
            <p:cNvSpPr/>
            <p:nvPr/>
          </p:nvSpPr>
          <p:spPr>
            <a:xfrm>
              <a:off x="5629535" y="1983115"/>
              <a:ext cx="941069" cy="1057275"/>
            </a:xfrm>
            <a:custGeom>
              <a:avLst/>
              <a:gdLst/>
              <a:ahLst/>
              <a:cxnLst/>
              <a:rect l="l" t="t" r="r" b="b"/>
              <a:pathLst>
                <a:path w="941070" h="1057275">
                  <a:moveTo>
                    <a:pt x="0" y="1057016"/>
                  </a:moveTo>
                  <a:lnTo>
                    <a:pt x="940711" y="0"/>
                  </a:lnTo>
                </a:path>
              </a:pathLst>
            </a:custGeom>
            <a:ln w="19049">
              <a:solidFill>
                <a:srgbClr val="4BA173"/>
              </a:solidFill>
            </a:ln>
          </p:spPr>
          <p:txBody>
            <a:bodyPr wrap="square" lIns="0" tIns="0" rIns="0" bIns="0" rtlCol="0"/>
            <a:lstStyle/>
            <a:p>
              <a:endParaRPr/>
            </a:p>
          </p:txBody>
        </p:sp>
        <p:pic>
          <p:nvPicPr>
            <p:cNvPr id="34" name="object 34"/>
            <p:cNvPicPr/>
            <p:nvPr/>
          </p:nvPicPr>
          <p:blipFill>
            <a:blip r:embed="rId5" cstate="print"/>
            <a:stretch>
              <a:fillRect/>
            </a:stretch>
          </p:blipFill>
          <p:spPr>
            <a:xfrm>
              <a:off x="6537217" y="1909011"/>
              <a:ext cx="100028" cy="104548"/>
            </a:xfrm>
            <a:prstGeom prst="rect">
              <a:avLst/>
            </a:prstGeom>
          </p:spPr>
        </p:pic>
        <p:sp>
          <p:nvSpPr>
            <p:cNvPr id="35" name="object 35"/>
            <p:cNvSpPr/>
            <p:nvPr/>
          </p:nvSpPr>
          <p:spPr>
            <a:xfrm>
              <a:off x="5705650" y="1897700"/>
              <a:ext cx="941069" cy="1057275"/>
            </a:xfrm>
            <a:custGeom>
              <a:avLst/>
              <a:gdLst/>
              <a:ahLst/>
              <a:cxnLst/>
              <a:rect l="l" t="t" r="r" b="b"/>
              <a:pathLst>
                <a:path w="941070" h="1057275">
                  <a:moveTo>
                    <a:pt x="940711" y="0"/>
                  </a:moveTo>
                  <a:lnTo>
                    <a:pt x="0" y="1057016"/>
                  </a:lnTo>
                </a:path>
              </a:pathLst>
            </a:custGeom>
            <a:ln w="19049">
              <a:solidFill>
                <a:srgbClr val="4BA173"/>
              </a:solidFill>
            </a:ln>
          </p:spPr>
          <p:txBody>
            <a:bodyPr wrap="square" lIns="0" tIns="0" rIns="0" bIns="0" rtlCol="0"/>
            <a:lstStyle/>
            <a:p>
              <a:endParaRPr/>
            </a:p>
          </p:txBody>
        </p:sp>
        <p:pic>
          <p:nvPicPr>
            <p:cNvPr id="36" name="object 36"/>
            <p:cNvPicPr/>
            <p:nvPr/>
          </p:nvPicPr>
          <p:blipFill>
            <a:blip r:embed="rId6" cstate="print"/>
            <a:stretch>
              <a:fillRect/>
            </a:stretch>
          </p:blipFill>
          <p:spPr>
            <a:xfrm>
              <a:off x="5638651" y="2924273"/>
              <a:ext cx="100028" cy="104547"/>
            </a:xfrm>
            <a:prstGeom prst="rect">
              <a:avLst/>
            </a:prstGeom>
          </p:spPr>
        </p:pic>
        <p:sp>
          <p:nvSpPr>
            <p:cNvPr id="37" name="object 37"/>
            <p:cNvSpPr/>
            <p:nvPr/>
          </p:nvSpPr>
          <p:spPr>
            <a:xfrm>
              <a:off x="5722730" y="3106081"/>
              <a:ext cx="951230" cy="673100"/>
            </a:xfrm>
            <a:custGeom>
              <a:avLst/>
              <a:gdLst/>
              <a:ahLst/>
              <a:cxnLst/>
              <a:rect l="l" t="t" r="r" b="b"/>
              <a:pathLst>
                <a:path w="951229" h="673100">
                  <a:moveTo>
                    <a:pt x="950702" y="672868"/>
                  </a:moveTo>
                  <a:lnTo>
                    <a:pt x="0" y="0"/>
                  </a:lnTo>
                </a:path>
              </a:pathLst>
            </a:custGeom>
            <a:ln w="19049">
              <a:solidFill>
                <a:srgbClr val="4BA173"/>
              </a:solidFill>
            </a:ln>
          </p:spPr>
          <p:txBody>
            <a:bodyPr wrap="square" lIns="0" tIns="0" rIns="0" bIns="0" rtlCol="0"/>
            <a:lstStyle/>
            <a:p>
              <a:endParaRPr/>
            </a:p>
          </p:txBody>
        </p:sp>
        <p:pic>
          <p:nvPicPr>
            <p:cNvPr id="38" name="object 38"/>
            <p:cNvPicPr/>
            <p:nvPr/>
          </p:nvPicPr>
          <p:blipFill>
            <a:blip r:embed="rId7" cstate="print"/>
            <a:stretch>
              <a:fillRect/>
            </a:stretch>
          </p:blipFill>
          <p:spPr>
            <a:xfrm>
              <a:off x="5642640" y="3046613"/>
              <a:ext cx="107792" cy="94676"/>
            </a:xfrm>
            <a:prstGeom prst="rect">
              <a:avLst/>
            </a:prstGeom>
          </p:spPr>
        </p:pic>
        <p:sp>
          <p:nvSpPr>
            <p:cNvPr id="39" name="object 39"/>
            <p:cNvSpPr/>
            <p:nvPr/>
          </p:nvSpPr>
          <p:spPr>
            <a:xfrm>
              <a:off x="5629535" y="3040132"/>
              <a:ext cx="951230" cy="673100"/>
            </a:xfrm>
            <a:custGeom>
              <a:avLst/>
              <a:gdLst/>
              <a:ahLst/>
              <a:cxnLst/>
              <a:rect l="l" t="t" r="r" b="b"/>
              <a:pathLst>
                <a:path w="951229" h="673100">
                  <a:moveTo>
                    <a:pt x="0" y="0"/>
                  </a:moveTo>
                  <a:lnTo>
                    <a:pt x="950702" y="672868"/>
                  </a:lnTo>
                </a:path>
              </a:pathLst>
            </a:custGeom>
            <a:ln w="19049">
              <a:solidFill>
                <a:srgbClr val="4BA173"/>
              </a:solidFill>
            </a:ln>
          </p:spPr>
          <p:txBody>
            <a:bodyPr wrap="square" lIns="0" tIns="0" rIns="0" bIns="0" rtlCol="0"/>
            <a:lstStyle/>
            <a:p>
              <a:endParaRPr/>
            </a:p>
          </p:txBody>
        </p:sp>
        <p:pic>
          <p:nvPicPr>
            <p:cNvPr id="40" name="object 40"/>
            <p:cNvPicPr/>
            <p:nvPr/>
          </p:nvPicPr>
          <p:blipFill>
            <a:blip r:embed="rId8" cstate="print"/>
            <a:stretch>
              <a:fillRect/>
            </a:stretch>
          </p:blipFill>
          <p:spPr>
            <a:xfrm>
              <a:off x="6552535" y="3677792"/>
              <a:ext cx="107792" cy="94676"/>
            </a:xfrm>
            <a:prstGeom prst="rect">
              <a:avLst/>
            </a:prstGeom>
          </p:spPr>
        </p:pic>
        <p:sp>
          <p:nvSpPr>
            <p:cNvPr id="41" name="object 41"/>
            <p:cNvSpPr/>
            <p:nvPr/>
          </p:nvSpPr>
          <p:spPr>
            <a:xfrm>
              <a:off x="8190245" y="2382281"/>
              <a:ext cx="30480" cy="1195070"/>
            </a:xfrm>
            <a:custGeom>
              <a:avLst/>
              <a:gdLst/>
              <a:ahLst/>
              <a:cxnLst/>
              <a:rect l="l" t="t" r="r" b="b"/>
              <a:pathLst>
                <a:path w="30479" h="1195070">
                  <a:moveTo>
                    <a:pt x="0" y="1194768"/>
                  </a:moveTo>
                  <a:lnTo>
                    <a:pt x="30062" y="0"/>
                  </a:lnTo>
                </a:path>
              </a:pathLst>
            </a:custGeom>
            <a:ln w="9524">
              <a:solidFill>
                <a:srgbClr val="4BA173"/>
              </a:solidFill>
            </a:ln>
          </p:spPr>
          <p:txBody>
            <a:bodyPr wrap="square" lIns="0" tIns="0" rIns="0" bIns="0" rtlCol="0"/>
            <a:lstStyle/>
            <a:p>
              <a:endParaRPr/>
            </a:p>
          </p:txBody>
        </p:sp>
        <p:sp>
          <p:nvSpPr>
            <p:cNvPr id="42" name="object 42"/>
            <p:cNvSpPr/>
            <p:nvPr/>
          </p:nvSpPr>
          <p:spPr>
            <a:xfrm>
              <a:off x="8204580" y="2339070"/>
              <a:ext cx="31750" cy="43815"/>
            </a:xfrm>
            <a:custGeom>
              <a:avLst/>
              <a:gdLst/>
              <a:ahLst/>
              <a:cxnLst/>
              <a:rect l="l" t="t" r="r" b="b"/>
              <a:pathLst>
                <a:path w="31750" h="43814">
                  <a:moveTo>
                    <a:pt x="31455" y="43607"/>
                  </a:moveTo>
                  <a:lnTo>
                    <a:pt x="0" y="42815"/>
                  </a:lnTo>
                  <a:lnTo>
                    <a:pt x="16815" y="0"/>
                  </a:lnTo>
                  <a:lnTo>
                    <a:pt x="31455" y="43607"/>
                  </a:lnTo>
                  <a:close/>
                </a:path>
              </a:pathLst>
            </a:custGeom>
            <a:solidFill>
              <a:srgbClr val="4BA173"/>
            </a:solidFill>
          </p:spPr>
          <p:txBody>
            <a:bodyPr wrap="square" lIns="0" tIns="0" rIns="0" bIns="0" rtlCol="0"/>
            <a:lstStyle/>
            <a:p>
              <a:endParaRPr/>
            </a:p>
          </p:txBody>
        </p:sp>
        <p:sp>
          <p:nvSpPr>
            <p:cNvPr id="43" name="object 43"/>
            <p:cNvSpPr/>
            <p:nvPr/>
          </p:nvSpPr>
          <p:spPr>
            <a:xfrm>
              <a:off x="8204580" y="2339070"/>
              <a:ext cx="31750" cy="43815"/>
            </a:xfrm>
            <a:custGeom>
              <a:avLst/>
              <a:gdLst/>
              <a:ahLst/>
              <a:cxnLst/>
              <a:rect l="l" t="t" r="r" b="b"/>
              <a:pathLst>
                <a:path w="31750" h="43814">
                  <a:moveTo>
                    <a:pt x="31455" y="43607"/>
                  </a:moveTo>
                  <a:lnTo>
                    <a:pt x="16815" y="0"/>
                  </a:lnTo>
                  <a:lnTo>
                    <a:pt x="0" y="42815"/>
                  </a:lnTo>
                  <a:lnTo>
                    <a:pt x="31455" y="43607"/>
                  </a:lnTo>
                  <a:close/>
                </a:path>
              </a:pathLst>
            </a:custGeom>
            <a:ln w="9524">
              <a:solidFill>
                <a:srgbClr val="4BA173"/>
              </a:solidFill>
            </a:ln>
          </p:spPr>
          <p:txBody>
            <a:bodyPr wrap="square" lIns="0" tIns="0" rIns="0" bIns="0" rtlCol="0"/>
            <a:lstStyle/>
            <a:p>
              <a:endParaRPr/>
            </a:p>
          </p:txBody>
        </p:sp>
      </p:grpSp>
      <p:grpSp>
        <p:nvGrpSpPr>
          <p:cNvPr id="48" name="object 14">
            <a:extLst>
              <a:ext uri="{FF2B5EF4-FFF2-40B4-BE49-F238E27FC236}">
                <a16:creationId xmlns:a16="http://schemas.microsoft.com/office/drawing/2014/main" id="{B8C49C55-DC50-70AB-0679-636594E9D211}"/>
              </a:ext>
            </a:extLst>
          </p:cNvPr>
          <p:cNvGrpSpPr/>
          <p:nvPr/>
        </p:nvGrpSpPr>
        <p:grpSpPr>
          <a:xfrm>
            <a:off x="6774134" y="610489"/>
            <a:ext cx="2004695" cy="820419"/>
            <a:chOff x="6747062" y="1631537"/>
            <a:chExt cx="2004695" cy="820419"/>
          </a:xfrm>
        </p:grpSpPr>
        <p:sp>
          <p:nvSpPr>
            <p:cNvPr id="49" name="object 15">
              <a:extLst>
                <a:ext uri="{FF2B5EF4-FFF2-40B4-BE49-F238E27FC236}">
                  <a16:creationId xmlns:a16="http://schemas.microsoft.com/office/drawing/2014/main" id="{D1307B13-F20F-4DCC-1BCD-2BD8D1DCD38A}"/>
                </a:ext>
              </a:extLst>
            </p:cNvPr>
            <p:cNvSpPr/>
            <p:nvPr/>
          </p:nvSpPr>
          <p:spPr>
            <a:xfrm>
              <a:off x="6751825" y="1636299"/>
              <a:ext cx="1995170" cy="810895"/>
            </a:xfrm>
            <a:custGeom>
              <a:avLst/>
              <a:gdLst/>
              <a:ahLst/>
              <a:cxnLst/>
              <a:rect l="l" t="t" r="r" b="b"/>
              <a:pathLst>
                <a:path w="1995170" h="810894">
                  <a:moveTo>
                    <a:pt x="1859897" y="810599"/>
                  </a:moveTo>
                  <a:lnTo>
                    <a:pt x="135102" y="810599"/>
                  </a:lnTo>
                  <a:lnTo>
                    <a:pt x="92399" y="803712"/>
                  </a:lnTo>
                  <a:lnTo>
                    <a:pt x="55312" y="784533"/>
                  </a:lnTo>
                  <a:lnTo>
                    <a:pt x="26066" y="755287"/>
                  </a:lnTo>
                  <a:lnTo>
                    <a:pt x="6887" y="718200"/>
                  </a:lnTo>
                  <a:lnTo>
                    <a:pt x="0" y="675497"/>
                  </a:lnTo>
                  <a:lnTo>
                    <a:pt x="0" y="135102"/>
                  </a:lnTo>
                  <a:lnTo>
                    <a:pt x="6887" y="92399"/>
                  </a:lnTo>
                  <a:lnTo>
                    <a:pt x="26066" y="55312"/>
                  </a:lnTo>
                  <a:lnTo>
                    <a:pt x="55312" y="26066"/>
                  </a:lnTo>
                  <a:lnTo>
                    <a:pt x="92399" y="6887"/>
                  </a:lnTo>
                  <a:lnTo>
                    <a:pt x="135102" y="0"/>
                  </a:lnTo>
                  <a:lnTo>
                    <a:pt x="1859897" y="0"/>
                  </a:lnTo>
                  <a:lnTo>
                    <a:pt x="1911599" y="10284"/>
                  </a:lnTo>
                  <a:lnTo>
                    <a:pt x="1955429" y="39570"/>
                  </a:lnTo>
                  <a:lnTo>
                    <a:pt x="1984715" y="83401"/>
                  </a:lnTo>
                  <a:lnTo>
                    <a:pt x="1994999" y="135102"/>
                  </a:lnTo>
                  <a:lnTo>
                    <a:pt x="1994999" y="675497"/>
                  </a:lnTo>
                  <a:lnTo>
                    <a:pt x="1988112" y="718200"/>
                  </a:lnTo>
                  <a:lnTo>
                    <a:pt x="1968933" y="755287"/>
                  </a:lnTo>
                  <a:lnTo>
                    <a:pt x="1939687" y="784533"/>
                  </a:lnTo>
                  <a:lnTo>
                    <a:pt x="1902600" y="803712"/>
                  </a:lnTo>
                  <a:lnTo>
                    <a:pt x="1859897" y="810599"/>
                  </a:lnTo>
                  <a:close/>
                </a:path>
              </a:pathLst>
            </a:custGeom>
            <a:solidFill>
              <a:srgbClr val="A4C1F4"/>
            </a:solidFill>
          </p:spPr>
          <p:txBody>
            <a:bodyPr wrap="square" lIns="0" tIns="0" rIns="0" bIns="0" rtlCol="0"/>
            <a:lstStyle/>
            <a:p>
              <a:endParaRPr/>
            </a:p>
          </p:txBody>
        </p:sp>
        <p:sp>
          <p:nvSpPr>
            <p:cNvPr id="50" name="object 16">
              <a:extLst>
                <a:ext uri="{FF2B5EF4-FFF2-40B4-BE49-F238E27FC236}">
                  <a16:creationId xmlns:a16="http://schemas.microsoft.com/office/drawing/2014/main" id="{A14347F4-B3C0-EDCF-A01E-B49C1C470C7D}"/>
                </a:ext>
              </a:extLst>
            </p:cNvPr>
            <p:cNvSpPr/>
            <p:nvPr/>
          </p:nvSpPr>
          <p:spPr>
            <a:xfrm>
              <a:off x="6751825" y="1636299"/>
              <a:ext cx="1995170" cy="810895"/>
            </a:xfrm>
            <a:custGeom>
              <a:avLst/>
              <a:gdLst/>
              <a:ahLst/>
              <a:cxnLst/>
              <a:rect l="l" t="t" r="r" b="b"/>
              <a:pathLst>
                <a:path w="1995170" h="810894">
                  <a:moveTo>
                    <a:pt x="0" y="135102"/>
                  </a:moveTo>
                  <a:lnTo>
                    <a:pt x="6887" y="92399"/>
                  </a:lnTo>
                  <a:lnTo>
                    <a:pt x="26066" y="55312"/>
                  </a:lnTo>
                  <a:lnTo>
                    <a:pt x="55312" y="26066"/>
                  </a:lnTo>
                  <a:lnTo>
                    <a:pt x="92399" y="6887"/>
                  </a:lnTo>
                  <a:lnTo>
                    <a:pt x="135102" y="0"/>
                  </a:lnTo>
                  <a:lnTo>
                    <a:pt x="1859897" y="0"/>
                  </a:lnTo>
                  <a:lnTo>
                    <a:pt x="1911599" y="10284"/>
                  </a:lnTo>
                  <a:lnTo>
                    <a:pt x="1955429" y="39570"/>
                  </a:lnTo>
                  <a:lnTo>
                    <a:pt x="1984715" y="83401"/>
                  </a:lnTo>
                  <a:lnTo>
                    <a:pt x="1994999" y="135102"/>
                  </a:lnTo>
                  <a:lnTo>
                    <a:pt x="1994999" y="675497"/>
                  </a:lnTo>
                  <a:lnTo>
                    <a:pt x="1988112" y="718200"/>
                  </a:lnTo>
                  <a:lnTo>
                    <a:pt x="1968933" y="755287"/>
                  </a:lnTo>
                  <a:lnTo>
                    <a:pt x="1939687" y="784533"/>
                  </a:lnTo>
                  <a:lnTo>
                    <a:pt x="1902600" y="803712"/>
                  </a:lnTo>
                  <a:lnTo>
                    <a:pt x="1859897" y="810599"/>
                  </a:lnTo>
                  <a:lnTo>
                    <a:pt x="135102" y="810599"/>
                  </a:lnTo>
                  <a:lnTo>
                    <a:pt x="92399" y="803712"/>
                  </a:lnTo>
                  <a:lnTo>
                    <a:pt x="55312" y="784533"/>
                  </a:lnTo>
                  <a:lnTo>
                    <a:pt x="26066" y="755287"/>
                  </a:lnTo>
                  <a:lnTo>
                    <a:pt x="6887" y="718200"/>
                  </a:lnTo>
                  <a:lnTo>
                    <a:pt x="0" y="675497"/>
                  </a:lnTo>
                  <a:lnTo>
                    <a:pt x="0" y="135102"/>
                  </a:lnTo>
                  <a:close/>
                </a:path>
              </a:pathLst>
            </a:custGeom>
            <a:ln w="9524">
              <a:solidFill>
                <a:srgbClr val="4BA173"/>
              </a:solidFill>
            </a:ln>
          </p:spPr>
          <p:txBody>
            <a:bodyPr wrap="square" lIns="0" tIns="0" rIns="0" bIns="0" rtlCol="0"/>
            <a:lstStyle/>
            <a:p>
              <a:endParaRPr/>
            </a:p>
          </p:txBody>
        </p:sp>
      </p:grpSp>
      <p:sp>
        <p:nvSpPr>
          <p:cNvPr id="51" name="object 17">
            <a:extLst>
              <a:ext uri="{FF2B5EF4-FFF2-40B4-BE49-F238E27FC236}">
                <a16:creationId xmlns:a16="http://schemas.microsoft.com/office/drawing/2014/main" id="{7B3C80D8-C83D-E7C9-E617-D1018D6D1807}"/>
              </a:ext>
            </a:extLst>
          </p:cNvPr>
          <p:cNvSpPr txBox="1"/>
          <p:nvPr/>
        </p:nvSpPr>
        <p:spPr>
          <a:xfrm>
            <a:off x="6891492" y="720735"/>
            <a:ext cx="722630" cy="238760"/>
          </a:xfrm>
          <a:prstGeom prst="rect">
            <a:avLst/>
          </a:prstGeom>
        </p:spPr>
        <p:txBody>
          <a:bodyPr vert="horz" wrap="square" lIns="0" tIns="12700" rIns="0" bIns="0" rtlCol="0">
            <a:spAutoFit/>
          </a:bodyPr>
          <a:lstStyle/>
          <a:p>
            <a:pPr marL="12700">
              <a:lnSpc>
                <a:spcPct val="100000"/>
              </a:lnSpc>
              <a:spcBef>
                <a:spcPts val="100"/>
              </a:spcBef>
            </a:pPr>
            <a:r>
              <a:rPr sz="1400" spc="-90" dirty="0">
                <a:latin typeface="Verdana"/>
                <a:cs typeface="Verdana"/>
              </a:rPr>
              <a:t>Executor</a:t>
            </a:r>
            <a:endParaRPr sz="1400">
              <a:latin typeface="Verdana"/>
              <a:cs typeface="Verdana"/>
            </a:endParaRPr>
          </a:p>
        </p:txBody>
      </p:sp>
      <p:sp>
        <p:nvSpPr>
          <p:cNvPr id="52" name="object 18">
            <a:extLst>
              <a:ext uri="{FF2B5EF4-FFF2-40B4-BE49-F238E27FC236}">
                <a16:creationId xmlns:a16="http://schemas.microsoft.com/office/drawing/2014/main" id="{4E5D991C-13FE-5B5D-485C-56D24DD642FF}"/>
              </a:ext>
            </a:extLst>
          </p:cNvPr>
          <p:cNvSpPr txBox="1"/>
          <p:nvPr/>
        </p:nvSpPr>
        <p:spPr>
          <a:xfrm>
            <a:off x="6902897" y="1066626"/>
            <a:ext cx="843280" cy="238125"/>
          </a:xfrm>
          <a:prstGeom prst="rect">
            <a:avLst/>
          </a:prstGeom>
          <a:solidFill>
            <a:srgbClr val="6FA8DC"/>
          </a:solidFill>
          <a:ln w="9524">
            <a:solidFill>
              <a:srgbClr val="4BA173"/>
            </a:solidFill>
          </a:ln>
        </p:spPr>
        <p:txBody>
          <a:bodyPr vert="horz" wrap="square" lIns="0" tIns="6985" rIns="0" bIns="0" rtlCol="0">
            <a:spAutoFit/>
          </a:bodyPr>
          <a:lstStyle/>
          <a:p>
            <a:pPr marL="210185">
              <a:lnSpc>
                <a:spcPct val="100000"/>
              </a:lnSpc>
              <a:spcBef>
                <a:spcPts val="55"/>
              </a:spcBef>
            </a:pPr>
            <a:r>
              <a:rPr sz="1400" spc="-110" dirty="0">
                <a:latin typeface="Verdana"/>
                <a:cs typeface="Verdana"/>
              </a:rPr>
              <a:t>TASK</a:t>
            </a:r>
            <a:endParaRPr sz="1400">
              <a:latin typeface="Verdana"/>
              <a:cs typeface="Verdana"/>
            </a:endParaRPr>
          </a:p>
        </p:txBody>
      </p:sp>
      <p:sp>
        <p:nvSpPr>
          <p:cNvPr id="53" name="object 19">
            <a:extLst>
              <a:ext uri="{FF2B5EF4-FFF2-40B4-BE49-F238E27FC236}">
                <a16:creationId xmlns:a16="http://schemas.microsoft.com/office/drawing/2014/main" id="{BB019E9E-B2B3-6EF9-F5BF-5CC61AEC6F48}"/>
              </a:ext>
            </a:extLst>
          </p:cNvPr>
          <p:cNvSpPr txBox="1"/>
          <p:nvPr/>
        </p:nvSpPr>
        <p:spPr>
          <a:xfrm>
            <a:off x="7827196" y="1066626"/>
            <a:ext cx="843280" cy="238125"/>
          </a:xfrm>
          <a:prstGeom prst="rect">
            <a:avLst/>
          </a:prstGeom>
          <a:solidFill>
            <a:srgbClr val="6FA8DC"/>
          </a:solidFill>
          <a:ln w="9524">
            <a:solidFill>
              <a:srgbClr val="4BA173"/>
            </a:solidFill>
          </a:ln>
        </p:spPr>
        <p:txBody>
          <a:bodyPr vert="horz" wrap="square" lIns="0" tIns="6985" rIns="0" bIns="0" rtlCol="0">
            <a:spAutoFit/>
          </a:bodyPr>
          <a:lstStyle/>
          <a:p>
            <a:pPr marL="210185">
              <a:lnSpc>
                <a:spcPct val="100000"/>
              </a:lnSpc>
              <a:spcBef>
                <a:spcPts val="55"/>
              </a:spcBef>
            </a:pPr>
            <a:r>
              <a:rPr sz="1400" spc="-110" dirty="0">
                <a:latin typeface="Verdana"/>
                <a:cs typeface="Verdana"/>
              </a:rPr>
              <a:t>TASK</a:t>
            </a:r>
            <a:endParaRPr sz="1400">
              <a:latin typeface="Verdana"/>
              <a:cs typeface="Verdana"/>
            </a:endParaRPr>
          </a:p>
        </p:txBody>
      </p:sp>
      <p:sp>
        <p:nvSpPr>
          <p:cNvPr id="54" name="object 20">
            <a:extLst>
              <a:ext uri="{FF2B5EF4-FFF2-40B4-BE49-F238E27FC236}">
                <a16:creationId xmlns:a16="http://schemas.microsoft.com/office/drawing/2014/main" id="{7C892F2A-6A0B-21E8-D0AE-BBC9BF60F5A9}"/>
              </a:ext>
            </a:extLst>
          </p:cNvPr>
          <p:cNvSpPr txBox="1"/>
          <p:nvPr/>
        </p:nvSpPr>
        <p:spPr>
          <a:xfrm>
            <a:off x="7710396" y="674751"/>
            <a:ext cx="960119" cy="321310"/>
          </a:xfrm>
          <a:prstGeom prst="rect">
            <a:avLst/>
          </a:prstGeom>
          <a:solidFill>
            <a:srgbClr val="FFD966"/>
          </a:solidFill>
          <a:ln w="9524">
            <a:solidFill>
              <a:srgbClr val="4BA173"/>
            </a:solidFill>
          </a:ln>
        </p:spPr>
        <p:txBody>
          <a:bodyPr vert="horz" wrap="square" lIns="0" tIns="48260" rIns="0" bIns="0" rtlCol="0">
            <a:spAutoFit/>
          </a:bodyPr>
          <a:lstStyle/>
          <a:p>
            <a:pPr marL="168275">
              <a:lnSpc>
                <a:spcPct val="100000"/>
              </a:lnSpc>
              <a:spcBef>
                <a:spcPts val="380"/>
              </a:spcBef>
            </a:pPr>
            <a:r>
              <a:rPr sz="1400" spc="-5" dirty="0">
                <a:latin typeface="Arial MT"/>
                <a:cs typeface="Arial MT"/>
              </a:rPr>
              <a:t>CACHE</a:t>
            </a:r>
            <a:endParaRPr sz="1400">
              <a:latin typeface="Arial MT"/>
              <a:cs typeface="Arial MT"/>
            </a:endParaRPr>
          </a:p>
        </p:txBody>
      </p:sp>
      <p:sp>
        <p:nvSpPr>
          <p:cNvPr id="44" name="object 17">
            <a:extLst>
              <a:ext uri="{FF2B5EF4-FFF2-40B4-BE49-F238E27FC236}">
                <a16:creationId xmlns:a16="http://schemas.microsoft.com/office/drawing/2014/main" id="{A239C3FE-9C72-6631-CDF1-65AD994C65B3}"/>
              </a:ext>
            </a:extLst>
          </p:cNvPr>
          <p:cNvSpPr txBox="1"/>
          <p:nvPr/>
        </p:nvSpPr>
        <p:spPr>
          <a:xfrm>
            <a:off x="431629" y="2858424"/>
            <a:ext cx="1154579" cy="228268"/>
          </a:xfrm>
          <a:prstGeom prst="rect">
            <a:avLst/>
          </a:prstGeom>
        </p:spPr>
        <p:txBody>
          <a:bodyPr vert="horz" wrap="square" lIns="0" tIns="12700" rIns="0" bIns="0" rtlCol="0">
            <a:spAutoFit/>
          </a:bodyPr>
          <a:lstStyle/>
          <a:p>
            <a:pPr marL="12700">
              <a:lnSpc>
                <a:spcPct val="100000"/>
              </a:lnSpc>
              <a:spcBef>
                <a:spcPts val="100"/>
              </a:spcBef>
            </a:pPr>
            <a:r>
              <a:rPr lang="en-US" sz="1400" spc="-90" dirty="0">
                <a:latin typeface="Verdana"/>
                <a:cs typeface="Verdana"/>
              </a:rPr>
              <a:t>Application</a:t>
            </a:r>
            <a:endParaRPr sz="1400" dirty="0">
              <a:latin typeface="Verdana"/>
              <a:cs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D5F4C-2254-F560-338B-CE469F3E3250}"/>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F8FDD82F-C66D-AD8F-2E72-8B23FDBBC56B}"/>
              </a:ext>
            </a:extLst>
          </p:cNvPr>
          <p:cNvPicPr>
            <a:picLocks noChangeAspect="1"/>
          </p:cNvPicPr>
          <p:nvPr/>
        </p:nvPicPr>
        <p:blipFill>
          <a:blip r:embed="rId2"/>
          <a:stretch>
            <a:fillRect/>
          </a:stretch>
        </p:blipFill>
        <p:spPr>
          <a:xfrm>
            <a:off x="1008353" y="0"/>
            <a:ext cx="7127293" cy="5143500"/>
          </a:xfrm>
          <a:prstGeom prst="rect">
            <a:avLst/>
          </a:prstGeom>
        </p:spPr>
      </p:pic>
    </p:spTree>
    <p:extLst>
      <p:ext uri="{BB962C8B-B14F-4D97-AF65-F5344CB8AC3E}">
        <p14:creationId xmlns:p14="http://schemas.microsoft.com/office/powerpoint/2010/main" val="532685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48455"/>
            <a:ext cx="2663275" cy="443711"/>
          </a:xfrm>
          <a:prstGeom prst="rect">
            <a:avLst/>
          </a:prstGeom>
        </p:spPr>
        <p:txBody>
          <a:bodyPr vert="horz" wrap="square" lIns="0" tIns="12700" rIns="0" bIns="0" rtlCol="0">
            <a:spAutoFit/>
          </a:bodyPr>
          <a:lstStyle/>
          <a:p>
            <a:pPr marL="12700">
              <a:lnSpc>
                <a:spcPct val="100000"/>
              </a:lnSpc>
              <a:spcBef>
                <a:spcPts val="100"/>
              </a:spcBef>
            </a:pPr>
            <a:r>
              <a:rPr sz="2800" b="1" spc="-65" dirty="0">
                <a:solidFill>
                  <a:srgbClr val="202729"/>
                </a:solidFill>
              </a:rPr>
              <a:t>Architecture</a:t>
            </a:r>
            <a:endParaRPr sz="2800" b="1" dirty="0"/>
          </a:p>
        </p:txBody>
      </p:sp>
      <p:sp>
        <p:nvSpPr>
          <p:cNvPr id="3" name="object 3"/>
          <p:cNvSpPr txBox="1"/>
          <p:nvPr/>
        </p:nvSpPr>
        <p:spPr>
          <a:xfrm>
            <a:off x="381000" y="592166"/>
            <a:ext cx="8763000" cy="3605474"/>
          </a:xfrm>
          <a:prstGeom prst="rect">
            <a:avLst/>
          </a:prstGeom>
        </p:spPr>
        <p:txBody>
          <a:bodyPr vert="horz" wrap="square" lIns="0" tIns="60325" rIns="0" bIns="0" rtlCol="0">
            <a:spAutoFit/>
          </a:bodyPr>
          <a:lstStyle/>
          <a:p>
            <a:pPr marL="394335" indent="-382270">
              <a:lnSpc>
                <a:spcPct val="100000"/>
              </a:lnSpc>
              <a:spcBef>
                <a:spcPts val="475"/>
              </a:spcBef>
              <a:buFont typeface="Arial"/>
              <a:buChar char="●"/>
              <a:tabLst>
                <a:tab pos="394335" algn="l"/>
                <a:tab pos="394970" algn="l"/>
              </a:tabLst>
            </a:pPr>
            <a:r>
              <a:rPr sz="2000" b="1" spc="-50" dirty="0">
                <a:solidFill>
                  <a:srgbClr val="616161"/>
                </a:solidFill>
                <a:latin typeface="Trebuchet MS"/>
                <a:cs typeface="Trebuchet MS"/>
              </a:rPr>
              <a:t>Driver</a:t>
            </a:r>
            <a:endParaRPr sz="2000" dirty="0">
              <a:latin typeface="Trebuchet MS"/>
              <a:cs typeface="Trebuchet MS"/>
            </a:endParaRPr>
          </a:p>
          <a:p>
            <a:pPr marL="851535" lvl="1" indent="-382270">
              <a:lnSpc>
                <a:spcPct val="100000"/>
              </a:lnSpc>
              <a:spcBef>
                <a:spcPts val="375"/>
              </a:spcBef>
              <a:buFont typeface="Arial MT"/>
              <a:buChar char="○"/>
              <a:tabLst>
                <a:tab pos="851535" algn="l"/>
                <a:tab pos="852169" algn="l"/>
              </a:tabLst>
            </a:pPr>
            <a:r>
              <a:rPr sz="2000" spc="75" dirty="0">
                <a:solidFill>
                  <a:srgbClr val="616161"/>
                </a:solidFill>
                <a:latin typeface="Trebuchet MS"/>
                <a:cs typeface="Trebuchet MS"/>
              </a:rPr>
              <a:t>One</a:t>
            </a:r>
            <a:r>
              <a:rPr sz="2000" spc="-120" dirty="0">
                <a:solidFill>
                  <a:srgbClr val="616161"/>
                </a:solidFill>
                <a:latin typeface="Trebuchet MS"/>
                <a:cs typeface="Trebuchet MS"/>
              </a:rPr>
              <a:t> </a:t>
            </a:r>
            <a:r>
              <a:rPr sz="2000" spc="-20" dirty="0">
                <a:solidFill>
                  <a:srgbClr val="616161"/>
                </a:solidFill>
                <a:latin typeface="Trebuchet MS"/>
                <a:cs typeface="Trebuchet MS"/>
              </a:rPr>
              <a:t>per</a:t>
            </a:r>
            <a:r>
              <a:rPr sz="2000" spc="-114" dirty="0">
                <a:solidFill>
                  <a:srgbClr val="616161"/>
                </a:solidFill>
                <a:latin typeface="Trebuchet MS"/>
                <a:cs typeface="Trebuchet MS"/>
              </a:rPr>
              <a:t> </a:t>
            </a:r>
            <a:r>
              <a:rPr sz="2000" spc="-60" dirty="0">
                <a:solidFill>
                  <a:srgbClr val="FF0000"/>
                </a:solidFill>
                <a:latin typeface="Trebuchet MS"/>
                <a:cs typeface="Trebuchet MS"/>
              </a:rPr>
              <a:t>job</a:t>
            </a:r>
            <a:r>
              <a:rPr lang="en-US" sz="2000" spc="-60" dirty="0">
                <a:solidFill>
                  <a:srgbClr val="616161"/>
                </a:solidFill>
                <a:latin typeface="Trebuchet MS"/>
                <a:cs typeface="Trebuchet MS"/>
              </a:rPr>
              <a:t>, where the </a:t>
            </a:r>
            <a:r>
              <a:rPr lang="en-US" sz="2000" spc="-60" dirty="0">
                <a:solidFill>
                  <a:srgbClr val="FF0000"/>
                </a:solidFill>
                <a:latin typeface="Trebuchet MS"/>
                <a:cs typeface="Trebuchet MS"/>
              </a:rPr>
              <a:t>job</a:t>
            </a:r>
            <a:r>
              <a:rPr lang="en-US" sz="2000" spc="-60" dirty="0">
                <a:solidFill>
                  <a:srgbClr val="616161"/>
                </a:solidFill>
                <a:latin typeface="Trebuchet MS"/>
                <a:cs typeface="Trebuchet MS"/>
              </a:rPr>
              <a:t> is submit to</a:t>
            </a:r>
            <a:endParaRPr sz="2000" dirty="0">
              <a:latin typeface="Trebuchet MS"/>
              <a:cs typeface="Trebuchet MS"/>
            </a:endParaRPr>
          </a:p>
          <a:p>
            <a:pPr marL="851535" lvl="1" indent="-382270">
              <a:lnSpc>
                <a:spcPct val="100000"/>
              </a:lnSpc>
              <a:spcBef>
                <a:spcPts val="375"/>
              </a:spcBef>
              <a:buFont typeface="Arial MT"/>
              <a:buChar char="○"/>
              <a:tabLst>
                <a:tab pos="851535" algn="l"/>
                <a:tab pos="852169" algn="l"/>
              </a:tabLst>
            </a:pPr>
            <a:r>
              <a:rPr sz="2000" spc="25" dirty="0">
                <a:solidFill>
                  <a:srgbClr val="616161"/>
                </a:solidFill>
                <a:latin typeface="Trebuchet MS"/>
                <a:cs typeface="Trebuchet MS"/>
              </a:rPr>
              <a:t>Handles</a:t>
            </a:r>
            <a:r>
              <a:rPr sz="2000" spc="-95" dirty="0">
                <a:solidFill>
                  <a:srgbClr val="616161"/>
                </a:solidFill>
                <a:latin typeface="Trebuchet MS"/>
                <a:cs typeface="Trebuchet MS"/>
              </a:rPr>
              <a:t> </a:t>
            </a:r>
            <a:r>
              <a:rPr sz="2000" spc="125" dirty="0">
                <a:solidFill>
                  <a:srgbClr val="FF0000"/>
                </a:solidFill>
                <a:latin typeface="Trebuchet MS"/>
                <a:cs typeface="Trebuchet MS"/>
              </a:rPr>
              <a:t>DAG</a:t>
            </a:r>
            <a:r>
              <a:rPr sz="2000" spc="-90" dirty="0">
                <a:solidFill>
                  <a:srgbClr val="616161"/>
                </a:solidFill>
                <a:latin typeface="Trebuchet MS"/>
                <a:cs typeface="Trebuchet MS"/>
              </a:rPr>
              <a:t> </a:t>
            </a:r>
            <a:r>
              <a:rPr sz="2000" spc="-20" dirty="0">
                <a:solidFill>
                  <a:srgbClr val="616161"/>
                </a:solidFill>
                <a:latin typeface="Trebuchet MS"/>
                <a:cs typeface="Trebuchet MS"/>
              </a:rPr>
              <a:t>scheduling,</a:t>
            </a:r>
            <a:r>
              <a:rPr sz="2000" spc="-95" dirty="0">
                <a:solidFill>
                  <a:srgbClr val="616161"/>
                </a:solidFill>
                <a:latin typeface="Trebuchet MS"/>
                <a:cs typeface="Trebuchet MS"/>
              </a:rPr>
              <a:t> </a:t>
            </a:r>
            <a:r>
              <a:rPr sz="2000" spc="25" dirty="0">
                <a:solidFill>
                  <a:srgbClr val="616161"/>
                </a:solidFill>
                <a:latin typeface="Trebuchet MS"/>
                <a:cs typeface="Trebuchet MS"/>
              </a:rPr>
              <a:t>schedules</a:t>
            </a:r>
            <a:r>
              <a:rPr sz="2000" spc="-90" dirty="0">
                <a:solidFill>
                  <a:srgbClr val="616161"/>
                </a:solidFill>
                <a:latin typeface="Trebuchet MS"/>
                <a:cs typeface="Trebuchet MS"/>
              </a:rPr>
              <a:t> </a:t>
            </a:r>
            <a:r>
              <a:rPr sz="2000" spc="10" dirty="0">
                <a:solidFill>
                  <a:srgbClr val="616161"/>
                </a:solidFill>
                <a:latin typeface="Trebuchet MS"/>
                <a:cs typeface="Trebuchet MS"/>
              </a:rPr>
              <a:t>tasks</a:t>
            </a:r>
            <a:r>
              <a:rPr sz="2000" spc="-95" dirty="0">
                <a:solidFill>
                  <a:srgbClr val="616161"/>
                </a:solidFill>
                <a:latin typeface="Trebuchet MS"/>
                <a:cs typeface="Trebuchet MS"/>
              </a:rPr>
              <a:t> </a:t>
            </a:r>
            <a:r>
              <a:rPr sz="2000" spc="40" dirty="0">
                <a:solidFill>
                  <a:srgbClr val="616161"/>
                </a:solidFill>
                <a:latin typeface="Trebuchet MS"/>
                <a:cs typeface="Trebuchet MS"/>
              </a:rPr>
              <a:t>on</a:t>
            </a:r>
            <a:r>
              <a:rPr sz="2000" spc="-90" dirty="0">
                <a:solidFill>
                  <a:srgbClr val="616161"/>
                </a:solidFill>
                <a:latin typeface="Trebuchet MS"/>
                <a:cs typeface="Trebuchet MS"/>
              </a:rPr>
              <a:t> </a:t>
            </a:r>
            <a:r>
              <a:rPr sz="2000" spc="-10" dirty="0">
                <a:solidFill>
                  <a:srgbClr val="616161"/>
                </a:solidFill>
                <a:latin typeface="Trebuchet MS"/>
                <a:cs typeface="Trebuchet MS"/>
              </a:rPr>
              <a:t>executors</a:t>
            </a:r>
            <a:endParaRPr sz="2000" dirty="0">
              <a:latin typeface="Trebuchet MS"/>
              <a:cs typeface="Trebuchet MS"/>
            </a:endParaRPr>
          </a:p>
          <a:p>
            <a:pPr marL="851535" lvl="1" indent="-382270">
              <a:lnSpc>
                <a:spcPct val="100000"/>
              </a:lnSpc>
              <a:spcBef>
                <a:spcPts val="375"/>
              </a:spcBef>
              <a:buFont typeface="Arial MT"/>
              <a:buChar char="○"/>
              <a:tabLst>
                <a:tab pos="851535" algn="l"/>
                <a:tab pos="852169" algn="l"/>
              </a:tabLst>
            </a:pPr>
            <a:r>
              <a:rPr sz="2000" dirty="0">
                <a:solidFill>
                  <a:srgbClr val="616161"/>
                </a:solidFill>
                <a:latin typeface="Trebuchet MS"/>
                <a:cs typeface="Trebuchet MS"/>
              </a:rPr>
              <a:t>Tracks</a:t>
            </a:r>
            <a:r>
              <a:rPr sz="2000" spc="-90" dirty="0">
                <a:solidFill>
                  <a:srgbClr val="616161"/>
                </a:solidFill>
                <a:latin typeface="Trebuchet MS"/>
                <a:cs typeface="Trebuchet MS"/>
              </a:rPr>
              <a:t> </a:t>
            </a:r>
            <a:r>
              <a:rPr sz="2000" spc="-45" dirty="0">
                <a:solidFill>
                  <a:srgbClr val="616161"/>
                </a:solidFill>
                <a:latin typeface="Trebuchet MS"/>
                <a:cs typeface="Trebuchet MS"/>
              </a:rPr>
              <a:t>data</a:t>
            </a:r>
            <a:r>
              <a:rPr sz="2000" spc="-90" dirty="0">
                <a:solidFill>
                  <a:srgbClr val="616161"/>
                </a:solidFill>
                <a:latin typeface="Trebuchet MS"/>
                <a:cs typeface="Trebuchet MS"/>
              </a:rPr>
              <a:t> </a:t>
            </a:r>
            <a:r>
              <a:rPr sz="2000" spc="60" dirty="0">
                <a:solidFill>
                  <a:srgbClr val="616161"/>
                </a:solidFill>
                <a:latin typeface="Trebuchet MS"/>
                <a:cs typeface="Trebuchet MS"/>
              </a:rPr>
              <a:t>as</a:t>
            </a:r>
            <a:r>
              <a:rPr sz="2000" spc="-90" dirty="0">
                <a:solidFill>
                  <a:srgbClr val="616161"/>
                </a:solidFill>
                <a:latin typeface="Trebuchet MS"/>
                <a:cs typeface="Trebuchet MS"/>
              </a:rPr>
              <a:t> </a:t>
            </a:r>
            <a:r>
              <a:rPr sz="2000" spc="-165" dirty="0">
                <a:solidFill>
                  <a:srgbClr val="616161"/>
                </a:solidFill>
                <a:latin typeface="Trebuchet MS"/>
                <a:cs typeface="Trebuchet MS"/>
              </a:rPr>
              <a:t>it</a:t>
            </a:r>
            <a:r>
              <a:rPr sz="2000" spc="-90" dirty="0">
                <a:solidFill>
                  <a:srgbClr val="616161"/>
                </a:solidFill>
                <a:latin typeface="Trebuchet MS"/>
                <a:cs typeface="Trebuchet MS"/>
              </a:rPr>
              <a:t> </a:t>
            </a:r>
            <a:r>
              <a:rPr sz="2000" spc="-30" dirty="0">
                <a:solidFill>
                  <a:srgbClr val="616161"/>
                </a:solidFill>
                <a:latin typeface="Trebuchet MS"/>
                <a:cs typeface="Trebuchet MS"/>
              </a:rPr>
              <a:t>flows</a:t>
            </a:r>
            <a:r>
              <a:rPr sz="2000" spc="-90" dirty="0">
                <a:solidFill>
                  <a:srgbClr val="616161"/>
                </a:solidFill>
                <a:latin typeface="Trebuchet MS"/>
                <a:cs typeface="Trebuchet MS"/>
              </a:rPr>
              <a:t> </a:t>
            </a:r>
            <a:r>
              <a:rPr sz="2000" spc="-15" dirty="0">
                <a:solidFill>
                  <a:srgbClr val="616161"/>
                </a:solidFill>
                <a:latin typeface="Trebuchet MS"/>
                <a:cs typeface="Trebuchet MS"/>
              </a:rPr>
              <a:t>through</a:t>
            </a:r>
            <a:r>
              <a:rPr sz="2000" spc="-90" dirty="0">
                <a:solidFill>
                  <a:srgbClr val="616161"/>
                </a:solidFill>
                <a:latin typeface="Trebuchet MS"/>
                <a:cs typeface="Trebuchet MS"/>
              </a:rPr>
              <a:t> </a:t>
            </a:r>
            <a:r>
              <a:rPr sz="2000" spc="-55" dirty="0">
                <a:solidFill>
                  <a:srgbClr val="616161"/>
                </a:solidFill>
                <a:latin typeface="Trebuchet MS"/>
                <a:cs typeface="Trebuchet MS"/>
              </a:rPr>
              <a:t>the</a:t>
            </a:r>
            <a:r>
              <a:rPr sz="2000" spc="-90" dirty="0">
                <a:solidFill>
                  <a:srgbClr val="616161"/>
                </a:solidFill>
                <a:latin typeface="Trebuchet MS"/>
                <a:cs typeface="Trebuchet MS"/>
              </a:rPr>
              <a:t> </a:t>
            </a:r>
            <a:r>
              <a:rPr sz="2000" spc="-60" dirty="0">
                <a:solidFill>
                  <a:srgbClr val="FF0000"/>
                </a:solidFill>
                <a:latin typeface="Trebuchet MS"/>
                <a:cs typeface="Trebuchet MS"/>
              </a:rPr>
              <a:t>job</a:t>
            </a:r>
            <a:endParaRPr lang="en-US" sz="2000" spc="-60" dirty="0">
              <a:solidFill>
                <a:srgbClr val="FF0000"/>
              </a:solidFill>
              <a:latin typeface="Trebuchet MS"/>
              <a:cs typeface="Trebuchet MS"/>
            </a:endParaRPr>
          </a:p>
          <a:p>
            <a:pPr marL="851535" lvl="1" indent="-382270">
              <a:lnSpc>
                <a:spcPct val="100000"/>
              </a:lnSpc>
              <a:spcBef>
                <a:spcPts val="375"/>
              </a:spcBef>
              <a:buFont typeface="Arial MT"/>
              <a:buChar char="○"/>
              <a:tabLst>
                <a:tab pos="851535" algn="l"/>
                <a:tab pos="852169" algn="l"/>
              </a:tabLst>
            </a:pPr>
            <a:r>
              <a:rPr lang="en-US" sz="2000" spc="-60" dirty="0">
                <a:solidFill>
                  <a:srgbClr val="616161"/>
                </a:solidFill>
                <a:latin typeface="Trebuchet MS"/>
                <a:cs typeface="Trebuchet MS"/>
              </a:rPr>
              <a:t>Failure recovery and retries</a:t>
            </a:r>
          </a:p>
          <a:p>
            <a:pPr lvl="1">
              <a:lnSpc>
                <a:spcPct val="100000"/>
              </a:lnSpc>
              <a:spcBef>
                <a:spcPts val="10"/>
              </a:spcBef>
              <a:buClr>
                <a:srgbClr val="616161"/>
              </a:buClr>
            </a:pPr>
            <a:endParaRPr lang="en-US" sz="2700" dirty="0">
              <a:latin typeface="Trebuchet MS"/>
              <a:cs typeface="Trebuchet MS"/>
            </a:endParaRPr>
          </a:p>
          <a:p>
            <a:pPr marL="394335" indent="-382270">
              <a:lnSpc>
                <a:spcPct val="100000"/>
              </a:lnSpc>
              <a:spcBef>
                <a:spcPts val="5"/>
              </a:spcBef>
              <a:buFont typeface="Arial"/>
              <a:buChar char="●"/>
              <a:tabLst>
                <a:tab pos="394335" algn="l"/>
                <a:tab pos="394970" algn="l"/>
              </a:tabLst>
            </a:pPr>
            <a:r>
              <a:rPr sz="2000" b="1" spc="-50" dirty="0">
                <a:solidFill>
                  <a:srgbClr val="616161"/>
                </a:solidFill>
                <a:latin typeface="Trebuchet MS"/>
                <a:cs typeface="Trebuchet MS"/>
              </a:rPr>
              <a:t>Executor</a:t>
            </a:r>
            <a:r>
              <a:rPr lang="en-US" sz="2000" b="1" spc="-50" dirty="0">
                <a:solidFill>
                  <a:srgbClr val="616161"/>
                </a:solidFill>
                <a:latin typeface="Trebuchet MS"/>
                <a:cs typeface="Trebuchet MS"/>
              </a:rPr>
              <a:t>: JVM processes launched on worker nodes.</a:t>
            </a:r>
            <a:endParaRPr sz="2000" dirty="0">
              <a:latin typeface="Trebuchet MS"/>
              <a:cs typeface="Trebuchet MS"/>
            </a:endParaRPr>
          </a:p>
          <a:p>
            <a:pPr marL="851535" lvl="1" indent="-382270">
              <a:lnSpc>
                <a:spcPct val="100000"/>
              </a:lnSpc>
              <a:spcBef>
                <a:spcPts val="375"/>
              </a:spcBef>
              <a:buFont typeface="Arial MT"/>
              <a:buChar char="○"/>
              <a:tabLst>
                <a:tab pos="851535" algn="l"/>
                <a:tab pos="852169" algn="l"/>
              </a:tabLst>
            </a:pPr>
            <a:r>
              <a:rPr sz="2000" spc="15" dirty="0">
                <a:solidFill>
                  <a:srgbClr val="616161"/>
                </a:solidFill>
                <a:latin typeface="Trebuchet MS"/>
                <a:cs typeface="Trebuchet MS"/>
              </a:rPr>
              <a:t>Possibly</a:t>
            </a:r>
            <a:r>
              <a:rPr sz="2000" spc="-110" dirty="0">
                <a:solidFill>
                  <a:srgbClr val="616161"/>
                </a:solidFill>
                <a:latin typeface="Trebuchet MS"/>
                <a:cs typeface="Trebuchet MS"/>
              </a:rPr>
              <a:t> </a:t>
            </a:r>
            <a:r>
              <a:rPr sz="2000" spc="-10" dirty="0">
                <a:solidFill>
                  <a:srgbClr val="616161"/>
                </a:solidFill>
                <a:latin typeface="Trebuchet MS"/>
                <a:cs typeface="Trebuchet MS"/>
              </a:rPr>
              <a:t>many</a:t>
            </a:r>
            <a:r>
              <a:rPr sz="2000" spc="-105" dirty="0">
                <a:solidFill>
                  <a:srgbClr val="616161"/>
                </a:solidFill>
                <a:latin typeface="Trebuchet MS"/>
                <a:cs typeface="Trebuchet MS"/>
              </a:rPr>
              <a:t> </a:t>
            </a:r>
            <a:r>
              <a:rPr sz="2000" spc="-20" dirty="0">
                <a:solidFill>
                  <a:srgbClr val="616161"/>
                </a:solidFill>
                <a:latin typeface="Trebuchet MS"/>
                <a:cs typeface="Trebuchet MS"/>
              </a:rPr>
              <a:t>per</a:t>
            </a:r>
            <a:r>
              <a:rPr sz="2000" spc="-105" dirty="0">
                <a:solidFill>
                  <a:srgbClr val="616161"/>
                </a:solidFill>
                <a:latin typeface="Trebuchet MS"/>
                <a:cs typeface="Trebuchet MS"/>
              </a:rPr>
              <a:t> </a:t>
            </a:r>
            <a:r>
              <a:rPr sz="2000" spc="-60" dirty="0">
                <a:solidFill>
                  <a:srgbClr val="616161"/>
                </a:solidFill>
                <a:latin typeface="Trebuchet MS"/>
                <a:cs typeface="Trebuchet MS"/>
              </a:rPr>
              <a:t>job</a:t>
            </a:r>
            <a:r>
              <a:rPr lang="en-US" sz="2000" dirty="0">
                <a:latin typeface="Trebuchet MS"/>
                <a:cs typeface="Trebuchet MS"/>
              </a:rPr>
              <a:t>, </a:t>
            </a:r>
            <a:r>
              <a:rPr sz="2000" spc="15" dirty="0">
                <a:solidFill>
                  <a:srgbClr val="616161"/>
                </a:solidFill>
                <a:latin typeface="Trebuchet MS"/>
                <a:cs typeface="Trebuchet MS"/>
              </a:rPr>
              <a:t>Possibly</a:t>
            </a:r>
            <a:r>
              <a:rPr sz="2000" spc="-100" dirty="0">
                <a:solidFill>
                  <a:srgbClr val="616161"/>
                </a:solidFill>
                <a:latin typeface="Trebuchet MS"/>
                <a:cs typeface="Trebuchet MS"/>
              </a:rPr>
              <a:t> </a:t>
            </a:r>
            <a:r>
              <a:rPr sz="2000" spc="-10" dirty="0">
                <a:solidFill>
                  <a:srgbClr val="616161"/>
                </a:solidFill>
                <a:latin typeface="Trebuchet MS"/>
                <a:cs typeface="Trebuchet MS"/>
              </a:rPr>
              <a:t>many</a:t>
            </a:r>
            <a:r>
              <a:rPr sz="2000" spc="-95" dirty="0">
                <a:solidFill>
                  <a:srgbClr val="616161"/>
                </a:solidFill>
                <a:latin typeface="Trebuchet MS"/>
                <a:cs typeface="Trebuchet MS"/>
              </a:rPr>
              <a:t> </a:t>
            </a:r>
            <a:r>
              <a:rPr sz="2000" spc="-20" dirty="0">
                <a:solidFill>
                  <a:srgbClr val="616161"/>
                </a:solidFill>
                <a:latin typeface="Trebuchet MS"/>
                <a:cs typeface="Trebuchet MS"/>
              </a:rPr>
              <a:t>per</a:t>
            </a:r>
            <a:r>
              <a:rPr sz="2000" spc="-100" dirty="0">
                <a:solidFill>
                  <a:srgbClr val="616161"/>
                </a:solidFill>
                <a:latin typeface="Trebuchet MS"/>
                <a:cs typeface="Trebuchet MS"/>
              </a:rPr>
              <a:t> </a:t>
            </a:r>
            <a:r>
              <a:rPr sz="2000" spc="-25" dirty="0">
                <a:solidFill>
                  <a:srgbClr val="616161"/>
                </a:solidFill>
                <a:latin typeface="Trebuchet MS"/>
                <a:cs typeface="Trebuchet MS"/>
              </a:rPr>
              <a:t>worker</a:t>
            </a:r>
            <a:r>
              <a:rPr sz="2000" spc="-95" dirty="0">
                <a:solidFill>
                  <a:srgbClr val="616161"/>
                </a:solidFill>
                <a:latin typeface="Trebuchet MS"/>
                <a:cs typeface="Trebuchet MS"/>
              </a:rPr>
              <a:t> </a:t>
            </a:r>
            <a:r>
              <a:rPr sz="2000" spc="35" dirty="0">
                <a:solidFill>
                  <a:srgbClr val="616161"/>
                </a:solidFill>
                <a:latin typeface="Trebuchet MS"/>
                <a:cs typeface="Trebuchet MS"/>
              </a:rPr>
              <a:t>node</a:t>
            </a:r>
            <a:endParaRPr sz="2000" dirty="0">
              <a:latin typeface="Trebuchet MS"/>
              <a:cs typeface="Trebuchet MS"/>
            </a:endParaRPr>
          </a:p>
          <a:p>
            <a:pPr marL="851535" lvl="1" indent="-382270">
              <a:lnSpc>
                <a:spcPct val="100000"/>
              </a:lnSpc>
              <a:spcBef>
                <a:spcPts val="375"/>
              </a:spcBef>
              <a:buFont typeface="Arial MT"/>
              <a:buChar char="○"/>
              <a:tabLst>
                <a:tab pos="851535" algn="l"/>
                <a:tab pos="852169" algn="l"/>
              </a:tabLst>
            </a:pPr>
            <a:r>
              <a:rPr sz="2000" spc="15" dirty="0">
                <a:solidFill>
                  <a:srgbClr val="616161"/>
                </a:solidFill>
                <a:latin typeface="Trebuchet MS"/>
                <a:cs typeface="Trebuchet MS"/>
              </a:rPr>
              <a:t>Stores</a:t>
            </a:r>
            <a:r>
              <a:rPr sz="2000" spc="-90" dirty="0">
                <a:solidFill>
                  <a:srgbClr val="616161"/>
                </a:solidFill>
                <a:latin typeface="Trebuchet MS"/>
                <a:cs typeface="Trebuchet MS"/>
              </a:rPr>
              <a:t> </a:t>
            </a:r>
            <a:r>
              <a:rPr sz="2000" spc="130" dirty="0">
                <a:solidFill>
                  <a:srgbClr val="616161"/>
                </a:solidFill>
                <a:latin typeface="Trebuchet MS"/>
                <a:cs typeface="Trebuchet MS"/>
              </a:rPr>
              <a:t>RDD</a:t>
            </a:r>
            <a:r>
              <a:rPr sz="2000" spc="-90" dirty="0">
                <a:solidFill>
                  <a:srgbClr val="616161"/>
                </a:solidFill>
                <a:latin typeface="Trebuchet MS"/>
                <a:cs typeface="Trebuchet MS"/>
              </a:rPr>
              <a:t> </a:t>
            </a:r>
            <a:r>
              <a:rPr sz="2000" spc="-45" dirty="0">
                <a:solidFill>
                  <a:srgbClr val="616161"/>
                </a:solidFill>
                <a:latin typeface="Trebuchet MS"/>
                <a:cs typeface="Trebuchet MS"/>
              </a:rPr>
              <a:t>data</a:t>
            </a:r>
            <a:r>
              <a:rPr sz="2000" spc="-90" dirty="0">
                <a:solidFill>
                  <a:srgbClr val="616161"/>
                </a:solidFill>
                <a:latin typeface="Trebuchet MS"/>
                <a:cs typeface="Trebuchet MS"/>
              </a:rPr>
              <a:t> </a:t>
            </a:r>
            <a:r>
              <a:rPr sz="2000" spc="-60" dirty="0">
                <a:solidFill>
                  <a:srgbClr val="616161"/>
                </a:solidFill>
                <a:latin typeface="Trebuchet MS"/>
                <a:cs typeface="Trebuchet MS"/>
              </a:rPr>
              <a:t>in</a:t>
            </a:r>
            <a:r>
              <a:rPr sz="2000" spc="-90" dirty="0">
                <a:solidFill>
                  <a:srgbClr val="616161"/>
                </a:solidFill>
                <a:latin typeface="Trebuchet MS"/>
                <a:cs typeface="Trebuchet MS"/>
              </a:rPr>
              <a:t> </a:t>
            </a:r>
            <a:r>
              <a:rPr sz="2000" spc="-20" dirty="0">
                <a:solidFill>
                  <a:srgbClr val="616161"/>
                </a:solidFill>
                <a:latin typeface="Trebuchet MS"/>
                <a:cs typeface="Trebuchet MS"/>
              </a:rPr>
              <a:t>memory</a:t>
            </a:r>
            <a:endParaRPr sz="2000" dirty="0">
              <a:latin typeface="Trebuchet MS"/>
              <a:cs typeface="Trebuchet MS"/>
            </a:endParaRPr>
          </a:p>
          <a:p>
            <a:pPr marL="851535" lvl="1" indent="-382270">
              <a:lnSpc>
                <a:spcPct val="100000"/>
              </a:lnSpc>
              <a:spcBef>
                <a:spcPts val="375"/>
              </a:spcBef>
              <a:buFont typeface="Arial MT"/>
              <a:buChar char="○"/>
              <a:tabLst>
                <a:tab pos="851535" algn="l"/>
                <a:tab pos="852169" algn="l"/>
              </a:tabLst>
            </a:pPr>
            <a:r>
              <a:rPr sz="2000" spc="-25" dirty="0">
                <a:solidFill>
                  <a:srgbClr val="616161"/>
                </a:solidFill>
                <a:latin typeface="Trebuchet MS"/>
                <a:cs typeface="Trebuchet MS"/>
              </a:rPr>
              <a:t>Performs</a:t>
            </a:r>
            <a:r>
              <a:rPr sz="2000" spc="-85" dirty="0">
                <a:solidFill>
                  <a:srgbClr val="616161"/>
                </a:solidFill>
                <a:latin typeface="Trebuchet MS"/>
                <a:cs typeface="Trebuchet MS"/>
              </a:rPr>
              <a:t> </a:t>
            </a:r>
            <a:r>
              <a:rPr sz="2000" spc="10" dirty="0">
                <a:solidFill>
                  <a:srgbClr val="616161"/>
                </a:solidFill>
                <a:latin typeface="Trebuchet MS"/>
                <a:cs typeface="Trebuchet MS"/>
              </a:rPr>
              <a:t>tasks</a:t>
            </a:r>
            <a:r>
              <a:rPr sz="2000" spc="-85" dirty="0">
                <a:solidFill>
                  <a:srgbClr val="616161"/>
                </a:solidFill>
                <a:latin typeface="Trebuchet MS"/>
                <a:cs typeface="Trebuchet MS"/>
              </a:rPr>
              <a:t> </a:t>
            </a:r>
            <a:r>
              <a:rPr sz="2000" spc="-35" dirty="0">
                <a:solidFill>
                  <a:srgbClr val="616161"/>
                </a:solidFill>
                <a:latin typeface="Trebuchet MS"/>
                <a:cs typeface="Trebuchet MS"/>
              </a:rPr>
              <a:t>(operations</a:t>
            </a:r>
            <a:r>
              <a:rPr sz="2000" spc="-85" dirty="0">
                <a:solidFill>
                  <a:srgbClr val="616161"/>
                </a:solidFill>
                <a:latin typeface="Trebuchet MS"/>
                <a:cs typeface="Trebuchet MS"/>
              </a:rPr>
              <a:t> </a:t>
            </a:r>
            <a:r>
              <a:rPr sz="2000" spc="40" dirty="0">
                <a:solidFill>
                  <a:srgbClr val="616161"/>
                </a:solidFill>
                <a:latin typeface="Trebuchet MS"/>
                <a:cs typeface="Trebuchet MS"/>
              </a:rPr>
              <a:t>on</a:t>
            </a:r>
            <a:r>
              <a:rPr sz="2000" spc="-85" dirty="0">
                <a:solidFill>
                  <a:srgbClr val="616161"/>
                </a:solidFill>
                <a:latin typeface="Trebuchet MS"/>
                <a:cs typeface="Trebuchet MS"/>
              </a:rPr>
              <a:t> </a:t>
            </a:r>
            <a:r>
              <a:rPr sz="2000" dirty="0">
                <a:solidFill>
                  <a:srgbClr val="616161"/>
                </a:solidFill>
                <a:latin typeface="Trebuchet MS"/>
                <a:cs typeface="Trebuchet MS"/>
              </a:rPr>
              <a:t>RDDs),</a:t>
            </a:r>
            <a:r>
              <a:rPr sz="2000" spc="-80" dirty="0">
                <a:solidFill>
                  <a:srgbClr val="616161"/>
                </a:solidFill>
                <a:latin typeface="Trebuchet MS"/>
                <a:cs typeface="Trebuchet MS"/>
              </a:rPr>
              <a:t> </a:t>
            </a:r>
            <a:r>
              <a:rPr sz="2000" spc="15" dirty="0">
                <a:solidFill>
                  <a:srgbClr val="616161"/>
                </a:solidFill>
                <a:latin typeface="Trebuchet MS"/>
                <a:cs typeface="Trebuchet MS"/>
              </a:rPr>
              <a:t>and</a:t>
            </a:r>
            <a:r>
              <a:rPr sz="2000" spc="-85" dirty="0">
                <a:solidFill>
                  <a:srgbClr val="616161"/>
                </a:solidFill>
                <a:latin typeface="Trebuchet MS"/>
                <a:cs typeface="Trebuchet MS"/>
              </a:rPr>
              <a:t> </a:t>
            </a:r>
            <a:r>
              <a:rPr sz="2000" spc="-40" dirty="0">
                <a:solidFill>
                  <a:srgbClr val="616161"/>
                </a:solidFill>
                <a:latin typeface="Trebuchet MS"/>
                <a:cs typeface="Trebuchet MS"/>
              </a:rPr>
              <a:t>transfers</a:t>
            </a:r>
            <a:r>
              <a:rPr sz="2000" spc="-85" dirty="0">
                <a:solidFill>
                  <a:srgbClr val="616161"/>
                </a:solidFill>
                <a:latin typeface="Trebuchet MS"/>
                <a:cs typeface="Trebuchet MS"/>
              </a:rPr>
              <a:t> </a:t>
            </a:r>
            <a:r>
              <a:rPr sz="2000" spc="-45" dirty="0">
                <a:solidFill>
                  <a:srgbClr val="616161"/>
                </a:solidFill>
                <a:latin typeface="Trebuchet MS"/>
                <a:cs typeface="Trebuchet MS"/>
              </a:rPr>
              <a:t>data</a:t>
            </a:r>
            <a:r>
              <a:rPr sz="2000" spc="-85" dirty="0">
                <a:solidFill>
                  <a:srgbClr val="616161"/>
                </a:solidFill>
                <a:latin typeface="Trebuchet MS"/>
                <a:cs typeface="Trebuchet MS"/>
              </a:rPr>
              <a:t> </a:t>
            </a:r>
            <a:r>
              <a:rPr sz="2000" spc="60" dirty="0">
                <a:solidFill>
                  <a:srgbClr val="616161"/>
                </a:solidFill>
                <a:latin typeface="Trebuchet MS"/>
                <a:cs typeface="Trebuchet MS"/>
              </a:rPr>
              <a:t>as</a:t>
            </a:r>
            <a:r>
              <a:rPr sz="2000" spc="-80" dirty="0">
                <a:solidFill>
                  <a:srgbClr val="616161"/>
                </a:solidFill>
                <a:latin typeface="Trebuchet MS"/>
                <a:cs typeface="Trebuchet MS"/>
              </a:rPr>
              <a:t> </a:t>
            </a:r>
            <a:r>
              <a:rPr sz="2000" spc="30" dirty="0">
                <a:solidFill>
                  <a:srgbClr val="616161"/>
                </a:solidFill>
                <a:latin typeface="Trebuchet MS"/>
                <a:cs typeface="Trebuchet MS"/>
              </a:rPr>
              <a:t>needed</a:t>
            </a:r>
            <a:endParaRPr sz="2000" dirty="0">
              <a:latin typeface="Trebuchet MS"/>
              <a:cs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209550"/>
            <a:ext cx="3034665" cy="452120"/>
          </a:xfrm>
          <a:prstGeom prst="rect">
            <a:avLst/>
          </a:prstGeom>
        </p:spPr>
        <p:txBody>
          <a:bodyPr vert="horz" wrap="square" lIns="0" tIns="12700" rIns="0" bIns="0" rtlCol="0">
            <a:spAutoFit/>
          </a:bodyPr>
          <a:lstStyle/>
          <a:p>
            <a:pPr marL="12700">
              <a:lnSpc>
                <a:spcPct val="100000"/>
              </a:lnSpc>
              <a:spcBef>
                <a:spcPts val="100"/>
              </a:spcBef>
            </a:pPr>
            <a:r>
              <a:rPr sz="2800" spc="-30" dirty="0">
                <a:solidFill>
                  <a:srgbClr val="202729"/>
                </a:solidFill>
              </a:rPr>
              <a:t>Executor</a:t>
            </a:r>
            <a:r>
              <a:rPr sz="2800" spc="-125" dirty="0">
                <a:solidFill>
                  <a:srgbClr val="202729"/>
                </a:solidFill>
              </a:rPr>
              <a:t> </a:t>
            </a:r>
            <a:r>
              <a:rPr sz="2800" spc="-45" dirty="0">
                <a:solidFill>
                  <a:srgbClr val="202729"/>
                </a:solidFill>
              </a:rPr>
              <a:t>Allocation</a:t>
            </a:r>
            <a:endParaRPr sz="2800" dirty="0"/>
          </a:p>
        </p:txBody>
      </p:sp>
      <p:sp>
        <p:nvSpPr>
          <p:cNvPr id="3" name="object 3"/>
          <p:cNvSpPr txBox="1"/>
          <p:nvPr/>
        </p:nvSpPr>
        <p:spPr>
          <a:xfrm>
            <a:off x="384725" y="955945"/>
            <a:ext cx="7599680" cy="3861955"/>
          </a:xfrm>
          <a:prstGeom prst="rect">
            <a:avLst/>
          </a:prstGeom>
        </p:spPr>
        <p:txBody>
          <a:bodyPr vert="horz" wrap="square" lIns="0" tIns="60325" rIns="0" bIns="0" rtlCol="0">
            <a:spAutoFit/>
          </a:bodyPr>
          <a:lstStyle/>
          <a:p>
            <a:pPr marL="394335" indent="-382270">
              <a:lnSpc>
                <a:spcPct val="100000"/>
              </a:lnSpc>
              <a:spcBef>
                <a:spcPts val="475"/>
              </a:spcBef>
              <a:buFont typeface="Arial"/>
              <a:buChar char="●"/>
              <a:tabLst>
                <a:tab pos="394335" algn="l"/>
                <a:tab pos="394970" algn="l"/>
              </a:tabLst>
            </a:pPr>
            <a:r>
              <a:rPr sz="2000" b="1" spc="-50" dirty="0">
                <a:solidFill>
                  <a:srgbClr val="616161"/>
                </a:solidFill>
                <a:latin typeface="Trebuchet MS"/>
                <a:cs typeface="Trebuchet MS"/>
              </a:rPr>
              <a:t>Traditional</a:t>
            </a:r>
            <a:r>
              <a:rPr sz="2000" b="1" spc="-95" dirty="0">
                <a:solidFill>
                  <a:srgbClr val="616161"/>
                </a:solidFill>
                <a:latin typeface="Trebuchet MS"/>
                <a:cs typeface="Trebuchet MS"/>
              </a:rPr>
              <a:t> </a:t>
            </a:r>
            <a:r>
              <a:rPr sz="2000" b="1" spc="-30" dirty="0">
                <a:solidFill>
                  <a:srgbClr val="616161"/>
                </a:solidFill>
                <a:latin typeface="Trebuchet MS"/>
                <a:cs typeface="Trebuchet MS"/>
              </a:rPr>
              <a:t>Static</a:t>
            </a:r>
            <a:r>
              <a:rPr sz="2000" b="1" spc="-95" dirty="0">
                <a:solidFill>
                  <a:srgbClr val="616161"/>
                </a:solidFill>
                <a:latin typeface="Trebuchet MS"/>
                <a:cs typeface="Trebuchet MS"/>
              </a:rPr>
              <a:t> </a:t>
            </a:r>
            <a:r>
              <a:rPr sz="2000" b="1" spc="-30" dirty="0">
                <a:solidFill>
                  <a:srgbClr val="616161"/>
                </a:solidFill>
                <a:latin typeface="Trebuchet MS"/>
                <a:cs typeface="Trebuchet MS"/>
              </a:rPr>
              <a:t>Allocation</a:t>
            </a:r>
            <a:endParaRPr sz="2000" dirty="0">
              <a:latin typeface="Trebuchet MS"/>
              <a:cs typeface="Trebuchet MS"/>
            </a:endParaRPr>
          </a:p>
          <a:p>
            <a:pPr marL="851535" lvl="1" indent="-382270">
              <a:lnSpc>
                <a:spcPct val="100000"/>
              </a:lnSpc>
              <a:spcBef>
                <a:spcPts val="375"/>
              </a:spcBef>
              <a:buFont typeface="Arial MT"/>
              <a:buChar char="○"/>
              <a:tabLst>
                <a:tab pos="851535" algn="l"/>
                <a:tab pos="852169" algn="l"/>
              </a:tabLst>
            </a:pPr>
            <a:r>
              <a:rPr sz="2000" spc="-20" dirty="0">
                <a:solidFill>
                  <a:srgbClr val="616161"/>
                </a:solidFill>
                <a:latin typeface="Trebuchet MS"/>
                <a:cs typeface="Trebuchet MS"/>
              </a:rPr>
              <a:t>Create</a:t>
            </a:r>
            <a:r>
              <a:rPr sz="2000" spc="-90" dirty="0">
                <a:solidFill>
                  <a:srgbClr val="616161"/>
                </a:solidFill>
                <a:latin typeface="Trebuchet MS"/>
                <a:cs typeface="Trebuchet MS"/>
              </a:rPr>
              <a:t> </a:t>
            </a:r>
            <a:r>
              <a:rPr sz="2000" spc="-95" dirty="0">
                <a:solidFill>
                  <a:srgbClr val="616161"/>
                </a:solidFill>
                <a:latin typeface="Trebuchet MS"/>
                <a:cs typeface="Trebuchet MS"/>
              </a:rPr>
              <a:t>all</a:t>
            </a:r>
            <a:r>
              <a:rPr sz="2000" spc="-90" dirty="0">
                <a:solidFill>
                  <a:srgbClr val="616161"/>
                </a:solidFill>
                <a:latin typeface="Trebuchet MS"/>
                <a:cs typeface="Trebuchet MS"/>
              </a:rPr>
              <a:t> </a:t>
            </a:r>
            <a:r>
              <a:rPr sz="2000" spc="-10" dirty="0">
                <a:solidFill>
                  <a:srgbClr val="616161"/>
                </a:solidFill>
                <a:latin typeface="Trebuchet MS"/>
                <a:cs typeface="Trebuchet MS"/>
              </a:rPr>
              <a:t>Executors</a:t>
            </a:r>
            <a:r>
              <a:rPr sz="2000" spc="-90" dirty="0">
                <a:solidFill>
                  <a:srgbClr val="616161"/>
                </a:solidFill>
                <a:latin typeface="Trebuchet MS"/>
                <a:cs typeface="Trebuchet MS"/>
              </a:rPr>
              <a:t> </a:t>
            </a:r>
            <a:r>
              <a:rPr sz="2000" spc="-105" dirty="0">
                <a:solidFill>
                  <a:srgbClr val="616161"/>
                </a:solidFill>
                <a:latin typeface="Trebuchet MS"/>
                <a:cs typeface="Trebuchet MS"/>
              </a:rPr>
              <a:t>at</a:t>
            </a:r>
            <a:r>
              <a:rPr sz="2000" spc="-90" dirty="0">
                <a:solidFill>
                  <a:srgbClr val="616161"/>
                </a:solidFill>
                <a:latin typeface="Trebuchet MS"/>
                <a:cs typeface="Trebuchet MS"/>
              </a:rPr>
              <a:t> </a:t>
            </a:r>
            <a:r>
              <a:rPr sz="2000" spc="15" dirty="0">
                <a:solidFill>
                  <a:srgbClr val="616161"/>
                </a:solidFill>
                <a:latin typeface="Trebuchet MS"/>
                <a:cs typeface="Trebuchet MS"/>
              </a:rPr>
              <a:t>beginning</a:t>
            </a:r>
            <a:r>
              <a:rPr sz="2000" spc="-90" dirty="0">
                <a:solidFill>
                  <a:srgbClr val="616161"/>
                </a:solidFill>
                <a:latin typeface="Trebuchet MS"/>
                <a:cs typeface="Trebuchet MS"/>
              </a:rPr>
              <a:t> </a:t>
            </a:r>
            <a:r>
              <a:rPr sz="2000" spc="-55" dirty="0">
                <a:solidFill>
                  <a:srgbClr val="616161"/>
                </a:solidFill>
                <a:latin typeface="Trebuchet MS"/>
                <a:cs typeface="Trebuchet MS"/>
              </a:rPr>
              <a:t>of</a:t>
            </a:r>
            <a:r>
              <a:rPr sz="2000" spc="-90" dirty="0">
                <a:solidFill>
                  <a:srgbClr val="616161"/>
                </a:solidFill>
                <a:latin typeface="Trebuchet MS"/>
                <a:cs typeface="Trebuchet MS"/>
              </a:rPr>
              <a:t> </a:t>
            </a:r>
            <a:r>
              <a:rPr sz="2000" spc="-60" dirty="0">
                <a:solidFill>
                  <a:srgbClr val="616161"/>
                </a:solidFill>
                <a:latin typeface="Trebuchet MS"/>
                <a:cs typeface="Trebuchet MS"/>
              </a:rPr>
              <a:t>job</a:t>
            </a:r>
            <a:endParaRPr sz="2000" dirty="0">
              <a:latin typeface="Trebuchet MS"/>
              <a:cs typeface="Trebuchet MS"/>
            </a:endParaRPr>
          </a:p>
          <a:p>
            <a:pPr marL="851535" lvl="1" indent="-382270">
              <a:lnSpc>
                <a:spcPct val="100000"/>
              </a:lnSpc>
              <a:spcBef>
                <a:spcPts val="375"/>
              </a:spcBef>
              <a:buFont typeface="Arial MT"/>
              <a:buChar char="○"/>
              <a:tabLst>
                <a:tab pos="851535" algn="l"/>
                <a:tab pos="852169" algn="l"/>
              </a:tabLst>
            </a:pPr>
            <a:r>
              <a:rPr sz="2000" spc="-10" dirty="0">
                <a:solidFill>
                  <a:srgbClr val="616161"/>
                </a:solidFill>
                <a:latin typeface="Trebuchet MS"/>
                <a:cs typeface="Trebuchet MS"/>
              </a:rPr>
              <a:t>Executors</a:t>
            </a:r>
            <a:r>
              <a:rPr sz="2000" spc="-90" dirty="0">
                <a:solidFill>
                  <a:srgbClr val="616161"/>
                </a:solidFill>
                <a:latin typeface="Trebuchet MS"/>
                <a:cs typeface="Trebuchet MS"/>
              </a:rPr>
              <a:t> </a:t>
            </a:r>
            <a:r>
              <a:rPr sz="2000" spc="-30" dirty="0">
                <a:solidFill>
                  <a:srgbClr val="616161"/>
                </a:solidFill>
                <a:latin typeface="Trebuchet MS"/>
                <a:cs typeface="Trebuchet MS"/>
              </a:rPr>
              <a:t>are</a:t>
            </a:r>
            <a:r>
              <a:rPr sz="2000" spc="-90" dirty="0">
                <a:solidFill>
                  <a:srgbClr val="616161"/>
                </a:solidFill>
                <a:latin typeface="Trebuchet MS"/>
                <a:cs typeface="Trebuchet MS"/>
              </a:rPr>
              <a:t> </a:t>
            </a:r>
            <a:r>
              <a:rPr sz="2000" spc="-25" dirty="0">
                <a:solidFill>
                  <a:srgbClr val="616161"/>
                </a:solidFill>
                <a:latin typeface="Trebuchet MS"/>
                <a:cs typeface="Trebuchet MS"/>
              </a:rPr>
              <a:t>online</a:t>
            </a:r>
            <a:r>
              <a:rPr sz="2000" spc="-90" dirty="0">
                <a:solidFill>
                  <a:srgbClr val="616161"/>
                </a:solidFill>
                <a:latin typeface="Trebuchet MS"/>
                <a:cs typeface="Trebuchet MS"/>
              </a:rPr>
              <a:t> until </a:t>
            </a:r>
            <a:r>
              <a:rPr sz="2000" spc="25" dirty="0">
                <a:solidFill>
                  <a:srgbClr val="616161"/>
                </a:solidFill>
                <a:latin typeface="Trebuchet MS"/>
                <a:cs typeface="Trebuchet MS"/>
              </a:rPr>
              <a:t>end</a:t>
            </a:r>
            <a:r>
              <a:rPr sz="2000" spc="-90" dirty="0">
                <a:solidFill>
                  <a:srgbClr val="616161"/>
                </a:solidFill>
                <a:latin typeface="Trebuchet MS"/>
                <a:cs typeface="Trebuchet MS"/>
              </a:rPr>
              <a:t> </a:t>
            </a:r>
            <a:r>
              <a:rPr sz="2000" spc="-55" dirty="0">
                <a:solidFill>
                  <a:srgbClr val="616161"/>
                </a:solidFill>
                <a:latin typeface="Trebuchet MS"/>
                <a:cs typeface="Trebuchet MS"/>
              </a:rPr>
              <a:t>of</a:t>
            </a:r>
            <a:r>
              <a:rPr sz="2000" spc="-90" dirty="0">
                <a:solidFill>
                  <a:srgbClr val="616161"/>
                </a:solidFill>
                <a:latin typeface="Trebuchet MS"/>
                <a:cs typeface="Trebuchet MS"/>
              </a:rPr>
              <a:t> </a:t>
            </a:r>
            <a:r>
              <a:rPr sz="2000" spc="-60" dirty="0">
                <a:solidFill>
                  <a:srgbClr val="616161"/>
                </a:solidFill>
                <a:latin typeface="Trebuchet MS"/>
                <a:cs typeface="Trebuchet MS"/>
              </a:rPr>
              <a:t>job</a:t>
            </a:r>
            <a:endParaRPr sz="2000" dirty="0">
              <a:latin typeface="Trebuchet MS"/>
              <a:cs typeface="Trebuchet MS"/>
            </a:endParaRPr>
          </a:p>
          <a:p>
            <a:pPr marL="851535" lvl="1" indent="-382270">
              <a:lnSpc>
                <a:spcPct val="100000"/>
              </a:lnSpc>
              <a:spcBef>
                <a:spcPts val="375"/>
              </a:spcBef>
              <a:buFont typeface="Arial MT"/>
              <a:buChar char="○"/>
              <a:tabLst>
                <a:tab pos="851535" algn="l"/>
                <a:tab pos="852169" algn="l"/>
              </a:tabLst>
            </a:pPr>
            <a:r>
              <a:rPr sz="2000" spc="10" dirty="0">
                <a:solidFill>
                  <a:srgbClr val="616161"/>
                </a:solidFill>
                <a:latin typeface="Trebuchet MS"/>
                <a:cs typeface="Trebuchet MS"/>
              </a:rPr>
              <a:t>Only</a:t>
            </a:r>
            <a:r>
              <a:rPr sz="2000" spc="-90" dirty="0">
                <a:solidFill>
                  <a:srgbClr val="616161"/>
                </a:solidFill>
                <a:latin typeface="Trebuchet MS"/>
                <a:cs typeface="Trebuchet MS"/>
              </a:rPr>
              <a:t> </a:t>
            </a:r>
            <a:r>
              <a:rPr sz="2000" spc="-25" dirty="0">
                <a:solidFill>
                  <a:srgbClr val="616161"/>
                </a:solidFill>
                <a:latin typeface="Trebuchet MS"/>
                <a:cs typeface="Trebuchet MS"/>
              </a:rPr>
              <a:t>option</a:t>
            </a:r>
            <a:r>
              <a:rPr sz="2000" spc="-90" dirty="0">
                <a:solidFill>
                  <a:srgbClr val="616161"/>
                </a:solidFill>
                <a:latin typeface="Trebuchet MS"/>
                <a:cs typeface="Trebuchet MS"/>
              </a:rPr>
              <a:t> </a:t>
            </a:r>
            <a:r>
              <a:rPr sz="2000" spc="-60" dirty="0">
                <a:solidFill>
                  <a:srgbClr val="616161"/>
                </a:solidFill>
                <a:latin typeface="Trebuchet MS"/>
                <a:cs typeface="Trebuchet MS"/>
              </a:rPr>
              <a:t>in</a:t>
            </a:r>
            <a:r>
              <a:rPr sz="2000" spc="-90" dirty="0">
                <a:solidFill>
                  <a:srgbClr val="616161"/>
                </a:solidFill>
                <a:latin typeface="Trebuchet MS"/>
                <a:cs typeface="Trebuchet MS"/>
              </a:rPr>
              <a:t> </a:t>
            </a:r>
            <a:r>
              <a:rPr sz="2000" spc="-45" dirty="0">
                <a:solidFill>
                  <a:srgbClr val="616161"/>
                </a:solidFill>
                <a:latin typeface="Trebuchet MS"/>
                <a:cs typeface="Trebuchet MS"/>
              </a:rPr>
              <a:t>early</a:t>
            </a:r>
            <a:r>
              <a:rPr sz="2000" spc="-90" dirty="0">
                <a:solidFill>
                  <a:srgbClr val="616161"/>
                </a:solidFill>
                <a:latin typeface="Trebuchet MS"/>
                <a:cs typeface="Trebuchet MS"/>
              </a:rPr>
              <a:t> </a:t>
            </a:r>
            <a:r>
              <a:rPr sz="2000" spc="10" dirty="0">
                <a:solidFill>
                  <a:srgbClr val="616161"/>
                </a:solidFill>
                <a:latin typeface="Trebuchet MS"/>
                <a:cs typeface="Trebuchet MS"/>
              </a:rPr>
              <a:t>versions</a:t>
            </a:r>
            <a:r>
              <a:rPr sz="2000" spc="-90" dirty="0">
                <a:solidFill>
                  <a:srgbClr val="616161"/>
                </a:solidFill>
                <a:latin typeface="Trebuchet MS"/>
                <a:cs typeface="Trebuchet MS"/>
              </a:rPr>
              <a:t> </a:t>
            </a:r>
            <a:r>
              <a:rPr sz="2000" spc="-55" dirty="0">
                <a:solidFill>
                  <a:srgbClr val="616161"/>
                </a:solidFill>
                <a:latin typeface="Trebuchet MS"/>
                <a:cs typeface="Trebuchet MS"/>
              </a:rPr>
              <a:t>of</a:t>
            </a:r>
            <a:r>
              <a:rPr sz="2000" spc="-90" dirty="0">
                <a:solidFill>
                  <a:srgbClr val="616161"/>
                </a:solidFill>
                <a:latin typeface="Trebuchet MS"/>
                <a:cs typeface="Trebuchet MS"/>
              </a:rPr>
              <a:t> </a:t>
            </a:r>
            <a:r>
              <a:rPr sz="2000" spc="25" dirty="0">
                <a:solidFill>
                  <a:srgbClr val="616161"/>
                </a:solidFill>
                <a:latin typeface="Trebuchet MS"/>
                <a:cs typeface="Trebuchet MS"/>
              </a:rPr>
              <a:t>Spark</a:t>
            </a:r>
            <a:endParaRPr sz="2000" dirty="0">
              <a:latin typeface="Trebuchet MS"/>
              <a:cs typeface="Trebuchet MS"/>
            </a:endParaRPr>
          </a:p>
          <a:p>
            <a:pPr lvl="1">
              <a:lnSpc>
                <a:spcPct val="100000"/>
              </a:lnSpc>
              <a:spcBef>
                <a:spcPts val="10"/>
              </a:spcBef>
              <a:buClr>
                <a:srgbClr val="616161"/>
              </a:buClr>
              <a:buFont typeface="Arial MT"/>
              <a:buChar char="○"/>
            </a:pPr>
            <a:endParaRPr sz="2700" dirty="0">
              <a:latin typeface="Trebuchet MS"/>
              <a:cs typeface="Trebuchet MS"/>
            </a:endParaRPr>
          </a:p>
          <a:p>
            <a:pPr marL="394335" indent="-382270">
              <a:lnSpc>
                <a:spcPct val="100000"/>
              </a:lnSpc>
              <a:spcBef>
                <a:spcPts val="5"/>
              </a:spcBef>
              <a:buFont typeface="Arial"/>
              <a:buChar char="●"/>
              <a:tabLst>
                <a:tab pos="394335" algn="l"/>
                <a:tab pos="394970" algn="l"/>
              </a:tabLst>
            </a:pPr>
            <a:r>
              <a:rPr sz="2000" b="1" spc="-5" dirty="0">
                <a:solidFill>
                  <a:srgbClr val="616161"/>
                </a:solidFill>
                <a:latin typeface="Trebuchet MS"/>
                <a:cs typeface="Trebuchet MS"/>
              </a:rPr>
              <a:t>Dynamic</a:t>
            </a:r>
            <a:r>
              <a:rPr sz="2000" b="1" spc="-95" dirty="0">
                <a:solidFill>
                  <a:srgbClr val="616161"/>
                </a:solidFill>
                <a:latin typeface="Trebuchet MS"/>
                <a:cs typeface="Trebuchet MS"/>
              </a:rPr>
              <a:t> </a:t>
            </a:r>
            <a:r>
              <a:rPr sz="2000" b="1" spc="-50" dirty="0">
                <a:solidFill>
                  <a:srgbClr val="616161"/>
                </a:solidFill>
                <a:latin typeface="Trebuchet MS"/>
                <a:cs typeface="Trebuchet MS"/>
              </a:rPr>
              <a:t>Executor</a:t>
            </a:r>
            <a:r>
              <a:rPr sz="2000" b="1" spc="-95" dirty="0">
                <a:solidFill>
                  <a:srgbClr val="616161"/>
                </a:solidFill>
                <a:latin typeface="Trebuchet MS"/>
                <a:cs typeface="Trebuchet MS"/>
              </a:rPr>
              <a:t> </a:t>
            </a:r>
            <a:r>
              <a:rPr sz="2000" b="1" spc="-30" dirty="0">
                <a:solidFill>
                  <a:srgbClr val="616161"/>
                </a:solidFill>
                <a:latin typeface="Trebuchet MS"/>
                <a:cs typeface="Trebuchet MS"/>
              </a:rPr>
              <a:t>Allocation</a:t>
            </a:r>
            <a:endParaRPr sz="2000" dirty="0">
              <a:latin typeface="Trebuchet MS"/>
              <a:cs typeface="Trebuchet MS"/>
            </a:endParaRPr>
          </a:p>
          <a:p>
            <a:pPr marL="851535" lvl="1" indent="-382270">
              <a:lnSpc>
                <a:spcPct val="100000"/>
              </a:lnSpc>
              <a:spcBef>
                <a:spcPts val="375"/>
              </a:spcBef>
              <a:buFont typeface="Arial MT"/>
              <a:buChar char="○"/>
              <a:tabLst>
                <a:tab pos="851535" algn="l"/>
                <a:tab pos="852169" algn="l"/>
              </a:tabLst>
            </a:pPr>
            <a:r>
              <a:rPr sz="2000" spc="55" dirty="0">
                <a:solidFill>
                  <a:srgbClr val="616161"/>
                </a:solidFill>
                <a:latin typeface="Trebuchet MS"/>
                <a:cs typeface="Trebuchet MS"/>
              </a:rPr>
              <a:t>Jobs</a:t>
            </a:r>
            <a:r>
              <a:rPr sz="2000" spc="-90" dirty="0">
                <a:solidFill>
                  <a:srgbClr val="616161"/>
                </a:solidFill>
                <a:latin typeface="Trebuchet MS"/>
                <a:cs typeface="Trebuchet MS"/>
              </a:rPr>
              <a:t> </a:t>
            </a:r>
            <a:r>
              <a:rPr sz="2000" dirty="0">
                <a:solidFill>
                  <a:srgbClr val="616161"/>
                </a:solidFill>
                <a:latin typeface="Trebuchet MS"/>
                <a:cs typeface="Trebuchet MS"/>
              </a:rPr>
              <a:t>can</a:t>
            </a:r>
            <a:r>
              <a:rPr sz="2000" spc="-90" dirty="0">
                <a:solidFill>
                  <a:srgbClr val="616161"/>
                </a:solidFill>
                <a:latin typeface="Trebuchet MS"/>
                <a:cs typeface="Trebuchet MS"/>
              </a:rPr>
              <a:t> </a:t>
            </a:r>
            <a:r>
              <a:rPr sz="2000" dirty="0">
                <a:solidFill>
                  <a:srgbClr val="616161"/>
                </a:solidFill>
                <a:latin typeface="Trebuchet MS"/>
                <a:cs typeface="Trebuchet MS"/>
              </a:rPr>
              <a:t>scale</a:t>
            </a:r>
            <a:r>
              <a:rPr sz="2000" spc="-90" dirty="0">
                <a:solidFill>
                  <a:srgbClr val="616161"/>
                </a:solidFill>
                <a:latin typeface="Trebuchet MS"/>
                <a:cs typeface="Trebuchet MS"/>
              </a:rPr>
              <a:t> </a:t>
            </a:r>
            <a:r>
              <a:rPr sz="2000" spc="-50" dirty="0">
                <a:solidFill>
                  <a:srgbClr val="616161"/>
                </a:solidFill>
                <a:latin typeface="Trebuchet MS"/>
                <a:cs typeface="Trebuchet MS"/>
              </a:rPr>
              <a:t>up/down</a:t>
            </a:r>
            <a:r>
              <a:rPr sz="2000" spc="-90" dirty="0">
                <a:solidFill>
                  <a:srgbClr val="616161"/>
                </a:solidFill>
                <a:latin typeface="Trebuchet MS"/>
                <a:cs typeface="Trebuchet MS"/>
              </a:rPr>
              <a:t> </a:t>
            </a:r>
            <a:r>
              <a:rPr sz="2000" spc="-15" dirty="0">
                <a:solidFill>
                  <a:srgbClr val="616161"/>
                </a:solidFill>
                <a:latin typeface="Trebuchet MS"/>
                <a:cs typeface="Trebuchet MS"/>
              </a:rPr>
              <a:t>number</a:t>
            </a:r>
            <a:r>
              <a:rPr sz="2000" spc="-90" dirty="0">
                <a:solidFill>
                  <a:srgbClr val="616161"/>
                </a:solidFill>
                <a:latin typeface="Trebuchet MS"/>
                <a:cs typeface="Trebuchet MS"/>
              </a:rPr>
              <a:t> </a:t>
            </a:r>
            <a:r>
              <a:rPr sz="2000" spc="-55" dirty="0">
                <a:solidFill>
                  <a:srgbClr val="616161"/>
                </a:solidFill>
                <a:latin typeface="Trebuchet MS"/>
                <a:cs typeface="Trebuchet MS"/>
              </a:rPr>
              <a:t>of</a:t>
            </a:r>
            <a:r>
              <a:rPr sz="2000" spc="-90" dirty="0">
                <a:solidFill>
                  <a:srgbClr val="616161"/>
                </a:solidFill>
                <a:latin typeface="Trebuchet MS"/>
                <a:cs typeface="Trebuchet MS"/>
              </a:rPr>
              <a:t> </a:t>
            </a:r>
            <a:r>
              <a:rPr sz="2000" spc="-10" dirty="0">
                <a:solidFill>
                  <a:srgbClr val="616161"/>
                </a:solidFill>
                <a:latin typeface="Trebuchet MS"/>
                <a:cs typeface="Trebuchet MS"/>
              </a:rPr>
              <a:t>executors</a:t>
            </a:r>
            <a:r>
              <a:rPr sz="2000" spc="-90" dirty="0">
                <a:solidFill>
                  <a:srgbClr val="616161"/>
                </a:solidFill>
                <a:latin typeface="Trebuchet MS"/>
                <a:cs typeface="Trebuchet MS"/>
              </a:rPr>
              <a:t> </a:t>
            </a:r>
            <a:r>
              <a:rPr sz="2000" spc="60" dirty="0">
                <a:solidFill>
                  <a:srgbClr val="616161"/>
                </a:solidFill>
                <a:latin typeface="Trebuchet MS"/>
                <a:cs typeface="Trebuchet MS"/>
              </a:rPr>
              <a:t>as</a:t>
            </a:r>
            <a:r>
              <a:rPr sz="2000" spc="-85" dirty="0">
                <a:solidFill>
                  <a:srgbClr val="616161"/>
                </a:solidFill>
                <a:latin typeface="Trebuchet MS"/>
                <a:cs typeface="Trebuchet MS"/>
              </a:rPr>
              <a:t> </a:t>
            </a:r>
            <a:r>
              <a:rPr sz="2000" spc="30" dirty="0">
                <a:solidFill>
                  <a:srgbClr val="616161"/>
                </a:solidFill>
                <a:latin typeface="Trebuchet MS"/>
                <a:cs typeface="Trebuchet MS"/>
              </a:rPr>
              <a:t>needed</a:t>
            </a:r>
            <a:endParaRPr sz="2000" dirty="0">
              <a:latin typeface="Trebuchet MS"/>
              <a:cs typeface="Trebuchet MS"/>
            </a:endParaRPr>
          </a:p>
          <a:p>
            <a:pPr marL="851535" lvl="1" indent="-382270">
              <a:lnSpc>
                <a:spcPct val="100000"/>
              </a:lnSpc>
              <a:spcBef>
                <a:spcPts val="375"/>
              </a:spcBef>
              <a:buFont typeface="Arial MT"/>
              <a:buChar char="○"/>
              <a:tabLst>
                <a:tab pos="851535" algn="l"/>
                <a:tab pos="852169" algn="l"/>
              </a:tabLst>
            </a:pPr>
            <a:r>
              <a:rPr sz="2000" spc="45" dirty="0">
                <a:solidFill>
                  <a:srgbClr val="616161"/>
                </a:solidFill>
                <a:latin typeface="Trebuchet MS"/>
                <a:cs typeface="Trebuchet MS"/>
              </a:rPr>
              <a:t>More</a:t>
            </a:r>
            <a:r>
              <a:rPr sz="2000" spc="-90" dirty="0">
                <a:solidFill>
                  <a:srgbClr val="616161"/>
                </a:solidFill>
                <a:latin typeface="Trebuchet MS"/>
                <a:cs typeface="Trebuchet MS"/>
              </a:rPr>
              <a:t> </a:t>
            </a:r>
            <a:r>
              <a:rPr sz="2000" spc="-80" dirty="0">
                <a:solidFill>
                  <a:srgbClr val="616161"/>
                </a:solidFill>
                <a:latin typeface="Trebuchet MS"/>
                <a:cs typeface="Trebuchet MS"/>
              </a:rPr>
              <a:t>efficient</a:t>
            </a:r>
            <a:r>
              <a:rPr sz="2000" spc="-90" dirty="0">
                <a:solidFill>
                  <a:srgbClr val="616161"/>
                </a:solidFill>
                <a:latin typeface="Trebuchet MS"/>
                <a:cs typeface="Trebuchet MS"/>
              </a:rPr>
              <a:t> </a:t>
            </a:r>
            <a:r>
              <a:rPr sz="2000" spc="-75" dirty="0">
                <a:solidFill>
                  <a:srgbClr val="616161"/>
                </a:solidFill>
                <a:latin typeface="Trebuchet MS"/>
                <a:cs typeface="Trebuchet MS"/>
              </a:rPr>
              <a:t>for</a:t>
            </a:r>
            <a:r>
              <a:rPr sz="2000" spc="-90" dirty="0">
                <a:solidFill>
                  <a:srgbClr val="616161"/>
                </a:solidFill>
                <a:latin typeface="Trebuchet MS"/>
                <a:cs typeface="Trebuchet MS"/>
              </a:rPr>
              <a:t> </a:t>
            </a:r>
            <a:r>
              <a:rPr sz="2000" spc="-25" dirty="0">
                <a:solidFill>
                  <a:srgbClr val="616161"/>
                </a:solidFill>
                <a:latin typeface="Trebuchet MS"/>
                <a:cs typeface="Trebuchet MS"/>
              </a:rPr>
              <a:t>clusters</a:t>
            </a:r>
            <a:r>
              <a:rPr sz="2000" spc="-85" dirty="0">
                <a:solidFill>
                  <a:srgbClr val="616161"/>
                </a:solidFill>
                <a:latin typeface="Trebuchet MS"/>
                <a:cs typeface="Trebuchet MS"/>
              </a:rPr>
              <a:t> </a:t>
            </a:r>
            <a:r>
              <a:rPr sz="2000" spc="-10" dirty="0">
                <a:solidFill>
                  <a:srgbClr val="616161"/>
                </a:solidFill>
                <a:latin typeface="Trebuchet MS"/>
                <a:cs typeface="Trebuchet MS"/>
              </a:rPr>
              <a:t>running</a:t>
            </a:r>
            <a:r>
              <a:rPr sz="2000" spc="-90" dirty="0">
                <a:solidFill>
                  <a:srgbClr val="616161"/>
                </a:solidFill>
                <a:latin typeface="Trebuchet MS"/>
                <a:cs typeface="Trebuchet MS"/>
              </a:rPr>
              <a:t> </a:t>
            </a:r>
            <a:r>
              <a:rPr sz="2000" spc="-75" dirty="0">
                <a:solidFill>
                  <a:srgbClr val="616161"/>
                </a:solidFill>
                <a:latin typeface="Trebuchet MS"/>
                <a:cs typeface="Trebuchet MS"/>
              </a:rPr>
              <a:t>multiple</a:t>
            </a:r>
            <a:r>
              <a:rPr sz="2000" spc="-90" dirty="0">
                <a:solidFill>
                  <a:srgbClr val="616161"/>
                </a:solidFill>
                <a:latin typeface="Trebuchet MS"/>
                <a:cs typeface="Trebuchet MS"/>
              </a:rPr>
              <a:t> </a:t>
            </a:r>
            <a:r>
              <a:rPr sz="2000" spc="45" dirty="0">
                <a:solidFill>
                  <a:srgbClr val="616161"/>
                </a:solidFill>
                <a:latin typeface="Trebuchet MS"/>
                <a:cs typeface="Trebuchet MS"/>
              </a:rPr>
              <a:t>apps</a:t>
            </a:r>
            <a:r>
              <a:rPr sz="2000" spc="-85" dirty="0">
                <a:solidFill>
                  <a:srgbClr val="616161"/>
                </a:solidFill>
                <a:latin typeface="Trebuchet MS"/>
                <a:cs typeface="Trebuchet MS"/>
              </a:rPr>
              <a:t> </a:t>
            </a:r>
            <a:r>
              <a:rPr sz="2000" spc="-40" dirty="0">
                <a:solidFill>
                  <a:srgbClr val="616161"/>
                </a:solidFill>
                <a:latin typeface="Trebuchet MS"/>
                <a:cs typeface="Trebuchet MS"/>
              </a:rPr>
              <a:t>concurrently</a:t>
            </a:r>
            <a:endParaRPr lang="en-US" sz="2000" spc="-40" dirty="0">
              <a:solidFill>
                <a:srgbClr val="616161"/>
              </a:solidFill>
              <a:latin typeface="Trebuchet MS"/>
              <a:cs typeface="Trebuchet MS"/>
            </a:endParaRPr>
          </a:p>
          <a:p>
            <a:pPr marL="851535" lvl="1" indent="-382270">
              <a:lnSpc>
                <a:spcPct val="100000"/>
              </a:lnSpc>
              <a:spcBef>
                <a:spcPts val="375"/>
              </a:spcBef>
              <a:buFont typeface="Arial MT"/>
              <a:buChar char="○"/>
              <a:tabLst>
                <a:tab pos="851535" algn="l"/>
                <a:tab pos="852169" algn="l"/>
              </a:tabLst>
            </a:pPr>
            <a:r>
              <a:rPr lang="en-US" sz="2000" dirty="0">
                <a:latin typeface="Trebuchet MS"/>
                <a:cs typeface="Trebuchet MS"/>
              </a:rPr>
              <a:t>The cluster manager must support dynamic allocation (e.g., YARN, Kubernetes, Mesos, standalone cluster manager with an external shuffle service)</a:t>
            </a:r>
            <a:endParaRPr sz="2000" dirty="0">
              <a:latin typeface="Trebuchet MS"/>
              <a:cs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5558875" cy="443711"/>
          </a:xfrm>
          <a:prstGeom prst="rect">
            <a:avLst/>
          </a:prstGeom>
        </p:spPr>
        <p:txBody>
          <a:bodyPr vert="horz" wrap="square" lIns="0" tIns="12700" rIns="0" bIns="0" rtlCol="0">
            <a:spAutoFit/>
          </a:bodyPr>
          <a:lstStyle/>
          <a:p>
            <a:pPr marL="12700">
              <a:lnSpc>
                <a:spcPct val="100000"/>
              </a:lnSpc>
              <a:spcBef>
                <a:spcPts val="100"/>
              </a:spcBef>
            </a:pPr>
            <a:r>
              <a:rPr lang="en-US" sz="2800" spc="-30" dirty="0">
                <a:solidFill>
                  <a:srgbClr val="202729"/>
                </a:solidFill>
              </a:rPr>
              <a:t>Dynamic </a:t>
            </a:r>
            <a:r>
              <a:rPr sz="2800" spc="-30" dirty="0">
                <a:solidFill>
                  <a:srgbClr val="202729"/>
                </a:solidFill>
              </a:rPr>
              <a:t>Executor</a:t>
            </a:r>
            <a:r>
              <a:rPr sz="2800" spc="-125" dirty="0">
                <a:solidFill>
                  <a:srgbClr val="202729"/>
                </a:solidFill>
              </a:rPr>
              <a:t> </a:t>
            </a:r>
            <a:r>
              <a:rPr sz="2800" spc="-45" dirty="0">
                <a:solidFill>
                  <a:srgbClr val="202729"/>
                </a:solidFill>
              </a:rPr>
              <a:t>Allocation</a:t>
            </a:r>
            <a:endParaRPr sz="2800" dirty="0"/>
          </a:p>
        </p:txBody>
      </p:sp>
      <p:pic>
        <p:nvPicPr>
          <p:cNvPr id="4" name="object 4"/>
          <p:cNvPicPr/>
          <p:nvPr/>
        </p:nvPicPr>
        <p:blipFill>
          <a:blip r:embed="rId2" cstate="print"/>
          <a:stretch>
            <a:fillRect/>
          </a:stretch>
        </p:blipFill>
        <p:spPr>
          <a:xfrm>
            <a:off x="0" y="2152337"/>
            <a:ext cx="9143999" cy="152762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5417820" cy="452120"/>
          </a:xfrm>
          <a:prstGeom prst="rect">
            <a:avLst/>
          </a:prstGeom>
        </p:spPr>
        <p:txBody>
          <a:bodyPr vert="horz" wrap="square" lIns="0" tIns="12700" rIns="0" bIns="0" rtlCol="0">
            <a:spAutoFit/>
          </a:bodyPr>
          <a:lstStyle/>
          <a:p>
            <a:pPr marL="12700">
              <a:lnSpc>
                <a:spcPct val="100000"/>
              </a:lnSpc>
              <a:spcBef>
                <a:spcPts val="100"/>
              </a:spcBef>
            </a:pPr>
            <a:r>
              <a:rPr sz="2800" spc="-55" dirty="0">
                <a:solidFill>
                  <a:srgbClr val="202729"/>
                </a:solidFill>
              </a:rPr>
              <a:t>Resilient</a:t>
            </a:r>
            <a:r>
              <a:rPr sz="2800" spc="-130" dirty="0">
                <a:solidFill>
                  <a:srgbClr val="202729"/>
                </a:solidFill>
              </a:rPr>
              <a:t> </a:t>
            </a:r>
            <a:r>
              <a:rPr sz="2800" spc="-50" dirty="0">
                <a:solidFill>
                  <a:srgbClr val="202729"/>
                </a:solidFill>
              </a:rPr>
              <a:t>Distributed</a:t>
            </a:r>
            <a:r>
              <a:rPr sz="2800" spc="-125" dirty="0">
                <a:solidFill>
                  <a:srgbClr val="202729"/>
                </a:solidFill>
              </a:rPr>
              <a:t> </a:t>
            </a:r>
            <a:r>
              <a:rPr sz="2800" spc="-15" dirty="0">
                <a:solidFill>
                  <a:srgbClr val="202729"/>
                </a:solidFill>
              </a:rPr>
              <a:t>Dataset</a:t>
            </a:r>
            <a:r>
              <a:rPr sz="2800" spc="-130" dirty="0">
                <a:solidFill>
                  <a:srgbClr val="202729"/>
                </a:solidFill>
              </a:rPr>
              <a:t> </a:t>
            </a:r>
            <a:r>
              <a:rPr sz="2800" spc="-25" dirty="0">
                <a:solidFill>
                  <a:srgbClr val="202729"/>
                </a:solidFill>
              </a:rPr>
              <a:t>(RDD)</a:t>
            </a:r>
            <a:endParaRPr sz="2800" dirty="0"/>
          </a:p>
        </p:txBody>
      </p:sp>
      <p:sp>
        <p:nvSpPr>
          <p:cNvPr id="3" name="object 3"/>
          <p:cNvSpPr txBox="1"/>
          <p:nvPr/>
        </p:nvSpPr>
        <p:spPr>
          <a:xfrm>
            <a:off x="384725" y="1216355"/>
            <a:ext cx="8206105" cy="3147060"/>
          </a:xfrm>
          <a:prstGeom prst="rect">
            <a:avLst/>
          </a:prstGeom>
        </p:spPr>
        <p:txBody>
          <a:bodyPr vert="horz" wrap="square" lIns="0" tIns="12700" rIns="0" bIns="0" rtlCol="0">
            <a:spAutoFit/>
          </a:bodyPr>
          <a:lstStyle/>
          <a:p>
            <a:pPr marL="12700">
              <a:lnSpc>
                <a:spcPct val="100000"/>
              </a:lnSpc>
              <a:spcBef>
                <a:spcPts val="100"/>
              </a:spcBef>
            </a:pPr>
            <a:r>
              <a:rPr sz="1800" b="1" spc="15" dirty="0">
                <a:solidFill>
                  <a:srgbClr val="616161"/>
                </a:solidFill>
                <a:latin typeface="Trebuchet MS"/>
                <a:cs typeface="Trebuchet MS"/>
              </a:rPr>
              <a:t>Data</a:t>
            </a:r>
            <a:r>
              <a:rPr sz="1800" b="1" spc="-85" dirty="0">
                <a:solidFill>
                  <a:srgbClr val="616161"/>
                </a:solidFill>
                <a:latin typeface="Trebuchet MS"/>
                <a:cs typeface="Trebuchet MS"/>
              </a:rPr>
              <a:t> </a:t>
            </a:r>
            <a:r>
              <a:rPr sz="1800" b="1" spc="-25" dirty="0">
                <a:solidFill>
                  <a:srgbClr val="616161"/>
                </a:solidFill>
                <a:latin typeface="Trebuchet MS"/>
                <a:cs typeface="Trebuchet MS"/>
              </a:rPr>
              <a:t>Abstraction</a:t>
            </a:r>
            <a:r>
              <a:rPr sz="1800" b="1" spc="-80" dirty="0">
                <a:solidFill>
                  <a:srgbClr val="616161"/>
                </a:solidFill>
                <a:latin typeface="Trebuchet MS"/>
                <a:cs typeface="Trebuchet MS"/>
              </a:rPr>
              <a:t> </a:t>
            </a:r>
            <a:r>
              <a:rPr sz="1800" spc="-50" dirty="0">
                <a:solidFill>
                  <a:srgbClr val="616161"/>
                </a:solidFill>
                <a:latin typeface="Trebuchet MS"/>
                <a:cs typeface="Trebuchet MS"/>
              </a:rPr>
              <a:t>in</a:t>
            </a:r>
            <a:r>
              <a:rPr sz="1800" spc="-80" dirty="0">
                <a:solidFill>
                  <a:srgbClr val="616161"/>
                </a:solidFill>
                <a:latin typeface="Trebuchet MS"/>
                <a:cs typeface="Trebuchet MS"/>
              </a:rPr>
              <a:t> </a:t>
            </a:r>
            <a:r>
              <a:rPr sz="1800" spc="-20" dirty="0">
                <a:solidFill>
                  <a:srgbClr val="616161"/>
                </a:solidFill>
                <a:latin typeface="Trebuchet MS"/>
                <a:cs typeface="Trebuchet MS"/>
              </a:rPr>
              <a:t>Spark.</a:t>
            </a:r>
            <a:endParaRPr sz="1800" dirty="0">
              <a:latin typeface="Trebuchet MS"/>
              <a:cs typeface="Trebuchet MS"/>
            </a:endParaRPr>
          </a:p>
          <a:p>
            <a:pPr marL="469900" indent="-412750">
              <a:lnSpc>
                <a:spcPct val="100000"/>
              </a:lnSpc>
              <a:spcBef>
                <a:spcPts val="1864"/>
              </a:spcBef>
              <a:buFont typeface="Arial"/>
              <a:buChar char="●"/>
              <a:tabLst>
                <a:tab pos="469265" algn="l"/>
                <a:tab pos="469900" algn="l"/>
              </a:tabLst>
            </a:pPr>
            <a:r>
              <a:rPr sz="2400" b="1" spc="-45" dirty="0">
                <a:solidFill>
                  <a:srgbClr val="616161"/>
                </a:solidFill>
                <a:latin typeface="Trebuchet MS"/>
                <a:cs typeface="Trebuchet MS"/>
              </a:rPr>
              <a:t>Resilient</a:t>
            </a:r>
            <a:endParaRPr sz="2400" dirty="0">
              <a:latin typeface="Trebuchet MS"/>
              <a:cs typeface="Trebuchet MS"/>
            </a:endParaRPr>
          </a:p>
          <a:p>
            <a:pPr marL="927100" lvl="1" indent="-351790">
              <a:lnSpc>
                <a:spcPct val="100000"/>
              </a:lnSpc>
              <a:spcBef>
                <a:spcPts val="450"/>
              </a:spcBef>
              <a:buFont typeface="Arial MT"/>
              <a:buChar char="○"/>
              <a:tabLst>
                <a:tab pos="926465" algn="l"/>
                <a:tab pos="927100" algn="l"/>
              </a:tabLst>
            </a:pPr>
            <a:r>
              <a:rPr sz="1600" spc="-60" dirty="0">
                <a:solidFill>
                  <a:srgbClr val="616161"/>
                </a:solidFill>
                <a:latin typeface="Trebuchet MS"/>
                <a:cs typeface="Trebuchet MS"/>
              </a:rPr>
              <a:t>Fault-tolerant</a:t>
            </a:r>
            <a:r>
              <a:rPr sz="1600" spc="-70" dirty="0">
                <a:solidFill>
                  <a:srgbClr val="616161"/>
                </a:solidFill>
                <a:latin typeface="Trebuchet MS"/>
                <a:cs typeface="Trebuchet MS"/>
              </a:rPr>
              <a:t> </a:t>
            </a:r>
            <a:r>
              <a:rPr sz="1600" spc="25" dirty="0">
                <a:solidFill>
                  <a:srgbClr val="616161"/>
                </a:solidFill>
                <a:latin typeface="Trebuchet MS"/>
                <a:cs typeface="Trebuchet MS"/>
              </a:rPr>
              <a:t>using</a:t>
            </a:r>
            <a:r>
              <a:rPr sz="1600" spc="-70" dirty="0">
                <a:solidFill>
                  <a:srgbClr val="616161"/>
                </a:solidFill>
                <a:latin typeface="Trebuchet MS"/>
                <a:cs typeface="Trebuchet MS"/>
              </a:rPr>
              <a:t> </a:t>
            </a:r>
            <a:r>
              <a:rPr sz="1600" dirty="0">
                <a:solidFill>
                  <a:srgbClr val="616161"/>
                </a:solidFill>
                <a:latin typeface="Trebuchet MS"/>
                <a:cs typeface="Trebuchet MS"/>
              </a:rPr>
              <a:t>a</a:t>
            </a:r>
            <a:r>
              <a:rPr sz="1600" spc="-70" dirty="0">
                <a:solidFill>
                  <a:srgbClr val="616161"/>
                </a:solidFill>
                <a:latin typeface="Trebuchet MS"/>
                <a:cs typeface="Trebuchet MS"/>
              </a:rPr>
              <a:t> </a:t>
            </a:r>
            <a:r>
              <a:rPr sz="1600" spc="-35" dirty="0">
                <a:solidFill>
                  <a:srgbClr val="616161"/>
                </a:solidFill>
                <a:latin typeface="Trebuchet MS"/>
                <a:cs typeface="Trebuchet MS"/>
              </a:rPr>
              <a:t>data</a:t>
            </a:r>
            <a:r>
              <a:rPr sz="1600" spc="-70" dirty="0">
                <a:solidFill>
                  <a:srgbClr val="616161"/>
                </a:solidFill>
                <a:latin typeface="Trebuchet MS"/>
                <a:cs typeface="Trebuchet MS"/>
              </a:rPr>
              <a:t> </a:t>
            </a:r>
            <a:r>
              <a:rPr sz="1600" spc="-5" dirty="0">
                <a:solidFill>
                  <a:srgbClr val="616161"/>
                </a:solidFill>
                <a:latin typeface="Trebuchet MS"/>
                <a:cs typeface="Trebuchet MS"/>
              </a:rPr>
              <a:t>lineage</a:t>
            </a:r>
            <a:r>
              <a:rPr sz="1600" spc="-70" dirty="0">
                <a:solidFill>
                  <a:srgbClr val="616161"/>
                </a:solidFill>
                <a:latin typeface="Trebuchet MS"/>
                <a:cs typeface="Trebuchet MS"/>
              </a:rPr>
              <a:t> </a:t>
            </a:r>
            <a:r>
              <a:rPr sz="1600" spc="10" dirty="0">
                <a:solidFill>
                  <a:srgbClr val="616161"/>
                </a:solidFill>
                <a:latin typeface="Trebuchet MS"/>
                <a:cs typeface="Trebuchet MS"/>
              </a:rPr>
              <a:t>graph</a:t>
            </a:r>
            <a:endParaRPr sz="1600" dirty="0">
              <a:latin typeface="Trebuchet MS"/>
              <a:cs typeface="Trebuchet MS"/>
            </a:endParaRPr>
          </a:p>
          <a:p>
            <a:pPr marL="927100" lvl="1" indent="-351790">
              <a:lnSpc>
                <a:spcPct val="100000"/>
              </a:lnSpc>
              <a:spcBef>
                <a:spcPts val="254"/>
              </a:spcBef>
              <a:buFont typeface="Arial MT"/>
              <a:buChar char="○"/>
              <a:tabLst>
                <a:tab pos="926465" algn="l"/>
                <a:tab pos="927100" algn="l"/>
              </a:tabLst>
            </a:pPr>
            <a:r>
              <a:rPr sz="1600" spc="100" dirty="0">
                <a:solidFill>
                  <a:srgbClr val="616161"/>
                </a:solidFill>
                <a:latin typeface="Trebuchet MS"/>
                <a:cs typeface="Trebuchet MS"/>
              </a:rPr>
              <a:t>RDDs</a:t>
            </a:r>
            <a:r>
              <a:rPr sz="1600" spc="-70" dirty="0">
                <a:solidFill>
                  <a:srgbClr val="616161"/>
                </a:solidFill>
                <a:latin typeface="Trebuchet MS"/>
                <a:cs typeface="Trebuchet MS"/>
              </a:rPr>
              <a:t> </a:t>
            </a:r>
            <a:r>
              <a:rPr sz="1600" spc="15" dirty="0">
                <a:solidFill>
                  <a:srgbClr val="616161"/>
                </a:solidFill>
                <a:latin typeface="Trebuchet MS"/>
                <a:cs typeface="Trebuchet MS"/>
              </a:rPr>
              <a:t>know</a:t>
            </a:r>
            <a:r>
              <a:rPr sz="1600" spc="-70" dirty="0">
                <a:solidFill>
                  <a:srgbClr val="616161"/>
                </a:solidFill>
                <a:latin typeface="Trebuchet MS"/>
                <a:cs typeface="Trebuchet MS"/>
              </a:rPr>
              <a:t> </a:t>
            </a:r>
            <a:r>
              <a:rPr sz="1600" spc="-10" dirty="0">
                <a:solidFill>
                  <a:srgbClr val="616161"/>
                </a:solidFill>
                <a:latin typeface="Trebuchet MS"/>
                <a:cs typeface="Trebuchet MS"/>
              </a:rPr>
              <a:t>where</a:t>
            </a:r>
            <a:r>
              <a:rPr sz="1600" spc="-70" dirty="0">
                <a:solidFill>
                  <a:srgbClr val="616161"/>
                </a:solidFill>
                <a:latin typeface="Trebuchet MS"/>
                <a:cs typeface="Trebuchet MS"/>
              </a:rPr>
              <a:t> </a:t>
            </a:r>
            <a:r>
              <a:rPr sz="1600" spc="-35" dirty="0">
                <a:solidFill>
                  <a:srgbClr val="616161"/>
                </a:solidFill>
                <a:latin typeface="Trebuchet MS"/>
                <a:cs typeface="Trebuchet MS"/>
              </a:rPr>
              <a:t>they</a:t>
            </a:r>
            <a:r>
              <a:rPr sz="1600" spc="-65" dirty="0">
                <a:solidFill>
                  <a:srgbClr val="616161"/>
                </a:solidFill>
                <a:latin typeface="Trebuchet MS"/>
                <a:cs typeface="Trebuchet MS"/>
              </a:rPr>
              <a:t> </a:t>
            </a:r>
            <a:r>
              <a:rPr sz="1600" spc="-5" dirty="0">
                <a:solidFill>
                  <a:srgbClr val="616161"/>
                </a:solidFill>
                <a:latin typeface="Trebuchet MS"/>
                <a:cs typeface="Trebuchet MS"/>
              </a:rPr>
              <a:t>came</a:t>
            </a:r>
            <a:r>
              <a:rPr sz="1600" spc="-70" dirty="0">
                <a:solidFill>
                  <a:srgbClr val="616161"/>
                </a:solidFill>
                <a:latin typeface="Trebuchet MS"/>
                <a:cs typeface="Trebuchet MS"/>
              </a:rPr>
              <a:t> </a:t>
            </a:r>
            <a:r>
              <a:rPr sz="1600" spc="-90" dirty="0">
                <a:solidFill>
                  <a:srgbClr val="616161"/>
                </a:solidFill>
                <a:latin typeface="Trebuchet MS"/>
                <a:cs typeface="Trebuchet MS"/>
              </a:rPr>
              <a:t>from,</a:t>
            </a:r>
            <a:r>
              <a:rPr sz="1600" spc="-70" dirty="0">
                <a:solidFill>
                  <a:srgbClr val="616161"/>
                </a:solidFill>
                <a:latin typeface="Trebuchet MS"/>
                <a:cs typeface="Trebuchet MS"/>
              </a:rPr>
              <a:t> </a:t>
            </a:r>
            <a:r>
              <a:rPr sz="1600" spc="10" dirty="0">
                <a:solidFill>
                  <a:srgbClr val="616161"/>
                </a:solidFill>
                <a:latin typeface="Trebuchet MS"/>
                <a:cs typeface="Trebuchet MS"/>
              </a:rPr>
              <a:t>and</a:t>
            </a:r>
            <a:r>
              <a:rPr sz="1600" spc="-65" dirty="0">
                <a:solidFill>
                  <a:srgbClr val="616161"/>
                </a:solidFill>
                <a:latin typeface="Trebuchet MS"/>
                <a:cs typeface="Trebuchet MS"/>
              </a:rPr>
              <a:t> </a:t>
            </a:r>
            <a:r>
              <a:rPr sz="1600" spc="15" dirty="0">
                <a:solidFill>
                  <a:srgbClr val="616161"/>
                </a:solidFill>
                <a:latin typeface="Trebuchet MS"/>
                <a:cs typeface="Trebuchet MS"/>
              </a:rPr>
              <a:t>how</a:t>
            </a:r>
            <a:r>
              <a:rPr sz="1600" spc="-70" dirty="0">
                <a:solidFill>
                  <a:srgbClr val="616161"/>
                </a:solidFill>
                <a:latin typeface="Trebuchet MS"/>
                <a:cs typeface="Trebuchet MS"/>
              </a:rPr>
              <a:t> </a:t>
            </a:r>
            <a:r>
              <a:rPr sz="1600" spc="-35" dirty="0">
                <a:solidFill>
                  <a:srgbClr val="616161"/>
                </a:solidFill>
                <a:latin typeface="Trebuchet MS"/>
                <a:cs typeface="Trebuchet MS"/>
              </a:rPr>
              <a:t>they</a:t>
            </a:r>
            <a:r>
              <a:rPr sz="1600" spc="-70" dirty="0">
                <a:solidFill>
                  <a:srgbClr val="616161"/>
                </a:solidFill>
                <a:latin typeface="Trebuchet MS"/>
                <a:cs typeface="Trebuchet MS"/>
              </a:rPr>
              <a:t> </a:t>
            </a:r>
            <a:r>
              <a:rPr sz="1600" spc="-15" dirty="0">
                <a:solidFill>
                  <a:srgbClr val="616161"/>
                </a:solidFill>
                <a:latin typeface="Trebuchet MS"/>
                <a:cs typeface="Trebuchet MS"/>
              </a:rPr>
              <a:t>were</a:t>
            </a:r>
            <a:r>
              <a:rPr sz="1600" spc="-65" dirty="0">
                <a:solidFill>
                  <a:srgbClr val="616161"/>
                </a:solidFill>
                <a:latin typeface="Trebuchet MS"/>
                <a:cs typeface="Trebuchet MS"/>
              </a:rPr>
              <a:t> </a:t>
            </a:r>
            <a:r>
              <a:rPr sz="1600" spc="-10" dirty="0">
                <a:solidFill>
                  <a:srgbClr val="616161"/>
                </a:solidFill>
                <a:latin typeface="Trebuchet MS"/>
                <a:cs typeface="Trebuchet MS"/>
              </a:rPr>
              <a:t>computed</a:t>
            </a:r>
            <a:endParaRPr sz="1600" dirty="0">
              <a:latin typeface="Trebuchet MS"/>
              <a:cs typeface="Trebuchet MS"/>
            </a:endParaRPr>
          </a:p>
          <a:p>
            <a:pPr marL="469900" indent="-412750">
              <a:lnSpc>
                <a:spcPct val="100000"/>
              </a:lnSpc>
              <a:spcBef>
                <a:spcPts val="225"/>
              </a:spcBef>
              <a:buFont typeface="Arial"/>
              <a:buChar char="●"/>
              <a:tabLst>
                <a:tab pos="469265" algn="l"/>
                <a:tab pos="469900" algn="l"/>
              </a:tabLst>
            </a:pPr>
            <a:r>
              <a:rPr sz="2400" b="1" spc="-40" dirty="0">
                <a:solidFill>
                  <a:srgbClr val="616161"/>
                </a:solidFill>
                <a:latin typeface="Trebuchet MS"/>
                <a:cs typeface="Trebuchet MS"/>
              </a:rPr>
              <a:t>Distributed</a:t>
            </a:r>
            <a:endParaRPr sz="2400" dirty="0">
              <a:latin typeface="Trebuchet MS"/>
              <a:cs typeface="Trebuchet MS"/>
            </a:endParaRPr>
          </a:p>
          <a:p>
            <a:pPr marL="927100" lvl="1" indent="-351790">
              <a:lnSpc>
                <a:spcPct val="100000"/>
              </a:lnSpc>
              <a:spcBef>
                <a:spcPts val="450"/>
              </a:spcBef>
              <a:buFont typeface="Arial MT"/>
              <a:buChar char="○"/>
              <a:tabLst>
                <a:tab pos="926465" algn="l"/>
                <a:tab pos="927100" algn="l"/>
              </a:tabLst>
            </a:pPr>
            <a:r>
              <a:rPr sz="1600" spc="-5" dirty="0">
                <a:solidFill>
                  <a:srgbClr val="616161"/>
                </a:solidFill>
                <a:latin typeface="Trebuchet MS"/>
                <a:cs typeface="Trebuchet MS"/>
              </a:rPr>
              <a:t>Data</a:t>
            </a:r>
            <a:r>
              <a:rPr sz="1600" spc="-70" dirty="0">
                <a:solidFill>
                  <a:srgbClr val="616161"/>
                </a:solidFill>
                <a:latin typeface="Trebuchet MS"/>
                <a:cs typeface="Trebuchet MS"/>
              </a:rPr>
              <a:t> </a:t>
            </a:r>
            <a:r>
              <a:rPr sz="1600" spc="-20" dirty="0">
                <a:solidFill>
                  <a:srgbClr val="616161"/>
                </a:solidFill>
                <a:latin typeface="Trebuchet MS"/>
                <a:cs typeface="Trebuchet MS"/>
              </a:rPr>
              <a:t>lives</a:t>
            </a:r>
            <a:r>
              <a:rPr sz="1600" spc="-70" dirty="0">
                <a:solidFill>
                  <a:srgbClr val="616161"/>
                </a:solidFill>
                <a:latin typeface="Trebuchet MS"/>
                <a:cs typeface="Trebuchet MS"/>
              </a:rPr>
              <a:t> </a:t>
            </a:r>
            <a:r>
              <a:rPr sz="1600" spc="30" dirty="0">
                <a:solidFill>
                  <a:srgbClr val="616161"/>
                </a:solidFill>
                <a:latin typeface="Trebuchet MS"/>
                <a:cs typeface="Trebuchet MS"/>
              </a:rPr>
              <a:t>on</a:t>
            </a:r>
            <a:r>
              <a:rPr sz="1600" spc="-70" dirty="0">
                <a:solidFill>
                  <a:srgbClr val="616161"/>
                </a:solidFill>
                <a:latin typeface="Trebuchet MS"/>
                <a:cs typeface="Trebuchet MS"/>
              </a:rPr>
              <a:t> </a:t>
            </a:r>
            <a:r>
              <a:rPr sz="1600" spc="-60" dirty="0">
                <a:solidFill>
                  <a:srgbClr val="616161"/>
                </a:solidFill>
                <a:latin typeface="Trebuchet MS"/>
                <a:cs typeface="Trebuchet MS"/>
              </a:rPr>
              <a:t>multiple</a:t>
            </a:r>
            <a:r>
              <a:rPr sz="1600" spc="-70" dirty="0">
                <a:solidFill>
                  <a:srgbClr val="616161"/>
                </a:solidFill>
                <a:latin typeface="Trebuchet MS"/>
                <a:cs typeface="Trebuchet MS"/>
              </a:rPr>
              <a:t> </a:t>
            </a:r>
            <a:r>
              <a:rPr sz="1600" spc="40" dirty="0">
                <a:solidFill>
                  <a:srgbClr val="616161"/>
                </a:solidFill>
                <a:latin typeface="Trebuchet MS"/>
                <a:cs typeface="Trebuchet MS"/>
              </a:rPr>
              <a:t>nodes</a:t>
            </a:r>
            <a:endParaRPr sz="1600" dirty="0">
              <a:latin typeface="Trebuchet MS"/>
              <a:cs typeface="Trebuchet MS"/>
            </a:endParaRPr>
          </a:p>
          <a:p>
            <a:pPr marL="927100" lvl="1" indent="-351790">
              <a:lnSpc>
                <a:spcPct val="100000"/>
              </a:lnSpc>
              <a:spcBef>
                <a:spcPts val="254"/>
              </a:spcBef>
              <a:buFont typeface="Arial MT"/>
              <a:buChar char="○"/>
              <a:tabLst>
                <a:tab pos="926465" algn="l"/>
                <a:tab pos="927100" algn="l"/>
              </a:tabLst>
            </a:pPr>
            <a:r>
              <a:rPr sz="1600" spc="100" dirty="0">
                <a:solidFill>
                  <a:srgbClr val="616161"/>
                </a:solidFill>
                <a:latin typeface="Trebuchet MS"/>
                <a:cs typeface="Trebuchet MS"/>
              </a:rPr>
              <a:t>RDDs</a:t>
            </a:r>
            <a:r>
              <a:rPr sz="1600" spc="-70" dirty="0">
                <a:solidFill>
                  <a:srgbClr val="616161"/>
                </a:solidFill>
                <a:latin typeface="Trebuchet MS"/>
                <a:cs typeface="Trebuchet MS"/>
              </a:rPr>
              <a:t> </a:t>
            </a:r>
            <a:r>
              <a:rPr sz="1600" spc="15" dirty="0">
                <a:solidFill>
                  <a:srgbClr val="616161"/>
                </a:solidFill>
                <a:latin typeface="Trebuchet MS"/>
                <a:cs typeface="Trebuchet MS"/>
              </a:rPr>
              <a:t>know</a:t>
            </a:r>
            <a:r>
              <a:rPr sz="1600" spc="-70" dirty="0">
                <a:solidFill>
                  <a:srgbClr val="616161"/>
                </a:solidFill>
                <a:latin typeface="Trebuchet MS"/>
                <a:cs typeface="Trebuchet MS"/>
              </a:rPr>
              <a:t> </a:t>
            </a:r>
            <a:r>
              <a:rPr sz="1600" spc="-10" dirty="0">
                <a:solidFill>
                  <a:srgbClr val="616161"/>
                </a:solidFill>
                <a:latin typeface="Trebuchet MS"/>
                <a:cs typeface="Trebuchet MS"/>
              </a:rPr>
              <a:t>where</a:t>
            </a:r>
            <a:r>
              <a:rPr sz="1600" spc="-65" dirty="0">
                <a:solidFill>
                  <a:srgbClr val="616161"/>
                </a:solidFill>
                <a:latin typeface="Trebuchet MS"/>
                <a:cs typeface="Trebuchet MS"/>
              </a:rPr>
              <a:t> </a:t>
            </a:r>
            <a:r>
              <a:rPr sz="1600" spc="-60" dirty="0">
                <a:solidFill>
                  <a:srgbClr val="616161"/>
                </a:solidFill>
                <a:latin typeface="Trebuchet MS"/>
                <a:cs typeface="Trebuchet MS"/>
              </a:rPr>
              <a:t>they’re</a:t>
            </a:r>
            <a:r>
              <a:rPr sz="1600" spc="-70" dirty="0">
                <a:solidFill>
                  <a:srgbClr val="616161"/>
                </a:solidFill>
                <a:latin typeface="Trebuchet MS"/>
                <a:cs typeface="Trebuchet MS"/>
              </a:rPr>
              <a:t> </a:t>
            </a:r>
            <a:r>
              <a:rPr sz="1600" spc="-40" dirty="0">
                <a:solidFill>
                  <a:srgbClr val="616161"/>
                </a:solidFill>
                <a:latin typeface="Trebuchet MS"/>
                <a:cs typeface="Trebuchet MS"/>
              </a:rPr>
              <a:t>stored,</a:t>
            </a:r>
            <a:r>
              <a:rPr sz="1600" spc="-65" dirty="0">
                <a:solidFill>
                  <a:srgbClr val="616161"/>
                </a:solidFill>
                <a:latin typeface="Trebuchet MS"/>
                <a:cs typeface="Trebuchet MS"/>
              </a:rPr>
              <a:t> </a:t>
            </a:r>
            <a:r>
              <a:rPr sz="1600" spc="75" dirty="0">
                <a:solidFill>
                  <a:srgbClr val="616161"/>
                </a:solidFill>
                <a:latin typeface="Trebuchet MS"/>
                <a:cs typeface="Trebuchet MS"/>
              </a:rPr>
              <a:t>so</a:t>
            </a:r>
            <a:r>
              <a:rPr sz="1600" spc="-70" dirty="0">
                <a:solidFill>
                  <a:srgbClr val="616161"/>
                </a:solidFill>
                <a:latin typeface="Trebuchet MS"/>
                <a:cs typeface="Trebuchet MS"/>
              </a:rPr>
              <a:t> </a:t>
            </a:r>
            <a:r>
              <a:rPr sz="1600" spc="-30" dirty="0">
                <a:solidFill>
                  <a:srgbClr val="616161"/>
                </a:solidFill>
                <a:latin typeface="Trebuchet MS"/>
                <a:cs typeface="Trebuchet MS"/>
              </a:rPr>
              <a:t>computation</a:t>
            </a:r>
            <a:r>
              <a:rPr sz="1600" spc="-70" dirty="0">
                <a:solidFill>
                  <a:srgbClr val="616161"/>
                </a:solidFill>
                <a:latin typeface="Trebuchet MS"/>
                <a:cs typeface="Trebuchet MS"/>
              </a:rPr>
              <a:t> </a:t>
            </a:r>
            <a:r>
              <a:rPr sz="1600" dirty="0">
                <a:solidFill>
                  <a:srgbClr val="616161"/>
                </a:solidFill>
                <a:latin typeface="Trebuchet MS"/>
                <a:cs typeface="Trebuchet MS"/>
              </a:rPr>
              <a:t>can</a:t>
            </a:r>
            <a:r>
              <a:rPr sz="1600" spc="-65" dirty="0">
                <a:solidFill>
                  <a:srgbClr val="616161"/>
                </a:solidFill>
                <a:latin typeface="Trebuchet MS"/>
                <a:cs typeface="Trebuchet MS"/>
              </a:rPr>
              <a:t> </a:t>
            </a:r>
            <a:r>
              <a:rPr sz="1600" spc="25" dirty="0">
                <a:solidFill>
                  <a:srgbClr val="616161"/>
                </a:solidFill>
                <a:latin typeface="Trebuchet MS"/>
                <a:cs typeface="Trebuchet MS"/>
              </a:rPr>
              <a:t>be</a:t>
            </a:r>
            <a:r>
              <a:rPr sz="1600" spc="-70" dirty="0">
                <a:solidFill>
                  <a:srgbClr val="616161"/>
                </a:solidFill>
                <a:latin typeface="Trebuchet MS"/>
                <a:cs typeface="Trebuchet MS"/>
              </a:rPr>
              <a:t> </a:t>
            </a:r>
            <a:r>
              <a:rPr sz="1600" spc="30" dirty="0">
                <a:solidFill>
                  <a:srgbClr val="616161"/>
                </a:solidFill>
                <a:latin typeface="Trebuchet MS"/>
                <a:cs typeface="Trebuchet MS"/>
              </a:rPr>
              <a:t>done</a:t>
            </a:r>
            <a:r>
              <a:rPr sz="1600" spc="-65" dirty="0">
                <a:solidFill>
                  <a:srgbClr val="616161"/>
                </a:solidFill>
                <a:latin typeface="Trebuchet MS"/>
                <a:cs typeface="Trebuchet MS"/>
              </a:rPr>
              <a:t> </a:t>
            </a:r>
            <a:r>
              <a:rPr sz="1600" spc="-55" dirty="0">
                <a:solidFill>
                  <a:srgbClr val="616161"/>
                </a:solidFill>
                <a:latin typeface="Trebuchet MS"/>
                <a:cs typeface="Trebuchet MS"/>
              </a:rPr>
              <a:t>“close”</a:t>
            </a:r>
            <a:r>
              <a:rPr sz="1600" spc="-70" dirty="0">
                <a:solidFill>
                  <a:srgbClr val="616161"/>
                </a:solidFill>
                <a:latin typeface="Trebuchet MS"/>
                <a:cs typeface="Trebuchet MS"/>
              </a:rPr>
              <a:t> </a:t>
            </a:r>
            <a:r>
              <a:rPr sz="1600" spc="-55" dirty="0">
                <a:solidFill>
                  <a:srgbClr val="616161"/>
                </a:solidFill>
                <a:latin typeface="Trebuchet MS"/>
                <a:cs typeface="Trebuchet MS"/>
              </a:rPr>
              <a:t>to</a:t>
            </a:r>
            <a:r>
              <a:rPr sz="1600" spc="-65" dirty="0">
                <a:solidFill>
                  <a:srgbClr val="616161"/>
                </a:solidFill>
                <a:latin typeface="Trebuchet MS"/>
                <a:cs typeface="Trebuchet MS"/>
              </a:rPr>
              <a:t> </a:t>
            </a:r>
            <a:r>
              <a:rPr sz="1600" spc="-45" dirty="0">
                <a:solidFill>
                  <a:srgbClr val="616161"/>
                </a:solidFill>
                <a:latin typeface="Trebuchet MS"/>
                <a:cs typeface="Trebuchet MS"/>
              </a:rPr>
              <a:t>the</a:t>
            </a:r>
            <a:r>
              <a:rPr sz="1600" spc="-70" dirty="0">
                <a:solidFill>
                  <a:srgbClr val="616161"/>
                </a:solidFill>
                <a:latin typeface="Trebuchet MS"/>
                <a:cs typeface="Trebuchet MS"/>
              </a:rPr>
              <a:t> </a:t>
            </a:r>
            <a:r>
              <a:rPr sz="1600" spc="-35" dirty="0">
                <a:solidFill>
                  <a:srgbClr val="616161"/>
                </a:solidFill>
                <a:latin typeface="Trebuchet MS"/>
                <a:cs typeface="Trebuchet MS"/>
              </a:rPr>
              <a:t>data</a:t>
            </a:r>
            <a:endParaRPr sz="1600" dirty="0">
              <a:latin typeface="Trebuchet MS"/>
              <a:cs typeface="Trebuchet MS"/>
            </a:endParaRPr>
          </a:p>
          <a:p>
            <a:pPr marL="469900" indent="-412750">
              <a:lnSpc>
                <a:spcPct val="100000"/>
              </a:lnSpc>
              <a:spcBef>
                <a:spcPts val="225"/>
              </a:spcBef>
              <a:buFont typeface="Arial"/>
              <a:buChar char="●"/>
              <a:tabLst>
                <a:tab pos="469265" algn="l"/>
                <a:tab pos="469900" algn="l"/>
              </a:tabLst>
            </a:pPr>
            <a:r>
              <a:rPr sz="2400" b="1" dirty="0">
                <a:solidFill>
                  <a:srgbClr val="616161"/>
                </a:solidFill>
                <a:latin typeface="Trebuchet MS"/>
                <a:cs typeface="Trebuchet MS"/>
              </a:rPr>
              <a:t>Dataset</a:t>
            </a:r>
            <a:endParaRPr sz="2400" dirty="0">
              <a:latin typeface="Trebuchet MS"/>
              <a:cs typeface="Trebuchet MS"/>
            </a:endParaRPr>
          </a:p>
          <a:p>
            <a:pPr marL="927100" lvl="1" indent="-351790">
              <a:lnSpc>
                <a:spcPct val="100000"/>
              </a:lnSpc>
              <a:spcBef>
                <a:spcPts val="450"/>
              </a:spcBef>
              <a:buFont typeface="Arial MT"/>
              <a:buChar char="○"/>
              <a:tabLst>
                <a:tab pos="926465" algn="l"/>
                <a:tab pos="927100" algn="l"/>
              </a:tabLst>
            </a:pPr>
            <a:r>
              <a:rPr sz="1600" spc="105" dirty="0">
                <a:solidFill>
                  <a:srgbClr val="616161"/>
                </a:solidFill>
                <a:latin typeface="Trebuchet MS"/>
                <a:cs typeface="Trebuchet MS"/>
              </a:rPr>
              <a:t>A</a:t>
            </a:r>
            <a:r>
              <a:rPr sz="1600" spc="-70" dirty="0">
                <a:solidFill>
                  <a:srgbClr val="616161"/>
                </a:solidFill>
                <a:latin typeface="Trebuchet MS"/>
                <a:cs typeface="Trebuchet MS"/>
              </a:rPr>
              <a:t> </a:t>
            </a:r>
            <a:r>
              <a:rPr sz="1600" spc="-35" dirty="0">
                <a:solidFill>
                  <a:srgbClr val="616161"/>
                </a:solidFill>
                <a:latin typeface="Trebuchet MS"/>
                <a:cs typeface="Trebuchet MS"/>
              </a:rPr>
              <a:t>collection</a:t>
            </a:r>
            <a:r>
              <a:rPr sz="1600" spc="-70" dirty="0">
                <a:solidFill>
                  <a:srgbClr val="616161"/>
                </a:solidFill>
                <a:latin typeface="Trebuchet MS"/>
                <a:cs typeface="Trebuchet MS"/>
              </a:rPr>
              <a:t> </a:t>
            </a:r>
            <a:r>
              <a:rPr sz="1600" spc="-45" dirty="0">
                <a:solidFill>
                  <a:srgbClr val="616161"/>
                </a:solidFill>
                <a:latin typeface="Trebuchet MS"/>
                <a:cs typeface="Trebuchet MS"/>
              </a:rPr>
              <a:t>of</a:t>
            </a:r>
            <a:r>
              <a:rPr sz="1600" spc="-70" dirty="0">
                <a:solidFill>
                  <a:srgbClr val="616161"/>
                </a:solidFill>
                <a:latin typeface="Trebuchet MS"/>
                <a:cs typeface="Trebuchet MS"/>
              </a:rPr>
              <a:t> </a:t>
            </a:r>
            <a:r>
              <a:rPr sz="1600" spc="-45" dirty="0">
                <a:solidFill>
                  <a:srgbClr val="616161"/>
                </a:solidFill>
                <a:latin typeface="Trebuchet MS"/>
                <a:cs typeface="Trebuchet MS"/>
              </a:rPr>
              <a:t>partitioned</a:t>
            </a:r>
            <a:r>
              <a:rPr sz="1600" spc="-70" dirty="0">
                <a:solidFill>
                  <a:srgbClr val="616161"/>
                </a:solidFill>
                <a:latin typeface="Trebuchet MS"/>
                <a:cs typeface="Trebuchet MS"/>
              </a:rPr>
              <a:t> </a:t>
            </a:r>
            <a:r>
              <a:rPr sz="1600" spc="-35" dirty="0">
                <a:solidFill>
                  <a:srgbClr val="616161"/>
                </a:solidFill>
                <a:latin typeface="Trebuchet MS"/>
                <a:cs typeface="Trebuchet MS"/>
              </a:rPr>
              <a:t>data</a:t>
            </a:r>
            <a:endParaRPr sz="1600" dirty="0">
              <a:latin typeface="Trebuchet MS"/>
              <a:cs typeface="Trebuchet MS"/>
            </a:endParaRPr>
          </a:p>
        </p:txBody>
      </p:sp>
    </p:spTree>
    <p:extLst>
      <p:ext uri="{BB962C8B-B14F-4D97-AF65-F5344CB8AC3E}">
        <p14:creationId xmlns:p14="http://schemas.microsoft.com/office/powerpoint/2010/main" val="883387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5417820" cy="452120"/>
          </a:xfrm>
          <a:prstGeom prst="rect">
            <a:avLst/>
          </a:prstGeom>
        </p:spPr>
        <p:txBody>
          <a:bodyPr vert="horz" wrap="square" lIns="0" tIns="12700" rIns="0" bIns="0" rtlCol="0">
            <a:spAutoFit/>
          </a:bodyPr>
          <a:lstStyle/>
          <a:p>
            <a:pPr marL="12700">
              <a:lnSpc>
                <a:spcPct val="100000"/>
              </a:lnSpc>
              <a:spcBef>
                <a:spcPts val="100"/>
              </a:spcBef>
            </a:pPr>
            <a:r>
              <a:rPr sz="2800" spc="-55" dirty="0">
                <a:solidFill>
                  <a:srgbClr val="202729"/>
                </a:solidFill>
              </a:rPr>
              <a:t>Resilient</a:t>
            </a:r>
            <a:r>
              <a:rPr sz="2800" spc="-130" dirty="0">
                <a:solidFill>
                  <a:srgbClr val="202729"/>
                </a:solidFill>
              </a:rPr>
              <a:t> </a:t>
            </a:r>
            <a:r>
              <a:rPr sz="2800" spc="-50" dirty="0">
                <a:solidFill>
                  <a:srgbClr val="202729"/>
                </a:solidFill>
              </a:rPr>
              <a:t>Distributed</a:t>
            </a:r>
            <a:r>
              <a:rPr sz="2800" spc="-125" dirty="0">
                <a:solidFill>
                  <a:srgbClr val="202729"/>
                </a:solidFill>
              </a:rPr>
              <a:t> </a:t>
            </a:r>
            <a:r>
              <a:rPr sz="2800" spc="-15" dirty="0">
                <a:solidFill>
                  <a:srgbClr val="202729"/>
                </a:solidFill>
              </a:rPr>
              <a:t>Dataset</a:t>
            </a:r>
            <a:r>
              <a:rPr sz="2800" spc="-130" dirty="0">
                <a:solidFill>
                  <a:srgbClr val="202729"/>
                </a:solidFill>
              </a:rPr>
              <a:t> </a:t>
            </a:r>
            <a:r>
              <a:rPr sz="2800" spc="-25" dirty="0">
                <a:solidFill>
                  <a:srgbClr val="202729"/>
                </a:solidFill>
              </a:rPr>
              <a:t>(RDD)</a:t>
            </a:r>
            <a:endParaRPr sz="2800"/>
          </a:p>
        </p:txBody>
      </p:sp>
      <p:sp>
        <p:nvSpPr>
          <p:cNvPr id="3" name="object 3"/>
          <p:cNvSpPr txBox="1"/>
          <p:nvPr/>
        </p:nvSpPr>
        <p:spPr>
          <a:xfrm>
            <a:off x="475249" y="1162308"/>
            <a:ext cx="5151755" cy="3896580"/>
          </a:xfrm>
          <a:prstGeom prst="rect">
            <a:avLst/>
          </a:prstGeom>
        </p:spPr>
        <p:txBody>
          <a:bodyPr vert="horz" wrap="square" lIns="0" tIns="66675" rIns="0" bIns="0" rtlCol="0">
            <a:spAutoFit/>
          </a:bodyPr>
          <a:lstStyle/>
          <a:p>
            <a:pPr marL="379095" indent="-367030">
              <a:lnSpc>
                <a:spcPct val="100000"/>
              </a:lnSpc>
              <a:spcBef>
                <a:spcPts val="525"/>
              </a:spcBef>
              <a:buFont typeface="Arial MT"/>
              <a:buChar char="●"/>
              <a:tabLst>
                <a:tab pos="379095" algn="l"/>
                <a:tab pos="379730" algn="l"/>
              </a:tabLst>
            </a:pPr>
            <a:r>
              <a:rPr sz="1800" spc="-30" dirty="0">
                <a:solidFill>
                  <a:srgbClr val="616161"/>
                </a:solidFill>
                <a:latin typeface="Trebuchet MS"/>
                <a:cs typeface="Trebuchet MS"/>
              </a:rPr>
              <a:t>What</a:t>
            </a:r>
            <a:r>
              <a:rPr sz="1800" spc="-90" dirty="0">
                <a:solidFill>
                  <a:srgbClr val="616161"/>
                </a:solidFill>
                <a:latin typeface="Trebuchet MS"/>
                <a:cs typeface="Trebuchet MS"/>
              </a:rPr>
              <a:t> </a:t>
            </a:r>
            <a:r>
              <a:rPr sz="1800" spc="55" dirty="0">
                <a:solidFill>
                  <a:srgbClr val="616161"/>
                </a:solidFill>
                <a:latin typeface="Trebuchet MS"/>
                <a:cs typeface="Trebuchet MS"/>
              </a:rPr>
              <a:t>does</a:t>
            </a:r>
            <a:r>
              <a:rPr sz="1800" spc="-85" dirty="0">
                <a:solidFill>
                  <a:srgbClr val="616161"/>
                </a:solidFill>
                <a:latin typeface="Trebuchet MS"/>
                <a:cs typeface="Trebuchet MS"/>
              </a:rPr>
              <a:t> </a:t>
            </a:r>
            <a:r>
              <a:rPr sz="1800" spc="5" dirty="0">
                <a:solidFill>
                  <a:srgbClr val="616161"/>
                </a:solidFill>
                <a:latin typeface="Trebuchet MS"/>
                <a:cs typeface="Trebuchet MS"/>
              </a:rPr>
              <a:t>an</a:t>
            </a:r>
            <a:r>
              <a:rPr sz="1800" spc="-85" dirty="0">
                <a:solidFill>
                  <a:srgbClr val="616161"/>
                </a:solidFill>
                <a:latin typeface="Trebuchet MS"/>
                <a:cs typeface="Trebuchet MS"/>
              </a:rPr>
              <a:t> </a:t>
            </a:r>
            <a:r>
              <a:rPr sz="1800" spc="114" dirty="0">
                <a:solidFill>
                  <a:srgbClr val="616161"/>
                </a:solidFill>
                <a:latin typeface="Trebuchet MS"/>
                <a:cs typeface="Trebuchet MS"/>
              </a:rPr>
              <a:t>RDD</a:t>
            </a:r>
            <a:r>
              <a:rPr sz="1800" spc="-85" dirty="0">
                <a:solidFill>
                  <a:srgbClr val="616161"/>
                </a:solidFill>
                <a:latin typeface="Trebuchet MS"/>
                <a:cs typeface="Trebuchet MS"/>
              </a:rPr>
              <a:t> </a:t>
            </a:r>
            <a:r>
              <a:rPr sz="1800" dirty="0">
                <a:solidFill>
                  <a:srgbClr val="616161"/>
                </a:solidFill>
                <a:latin typeface="Trebuchet MS"/>
                <a:cs typeface="Trebuchet MS"/>
              </a:rPr>
              <a:t>look</a:t>
            </a:r>
            <a:r>
              <a:rPr sz="1800" spc="-85" dirty="0">
                <a:solidFill>
                  <a:srgbClr val="616161"/>
                </a:solidFill>
                <a:latin typeface="Trebuchet MS"/>
                <a:cs typeface="Trebuchet MS"/>
              </a:rPr>
              <a:t> </a:t>
            </a:r>
            <a:r>
              <a:rPr sz="1800" spc="-5" dirty="0">
                <a:solidFill>
                  <a:srgbClr val="616161"/>
                </a:solidFill>
                <a:latin typeface="Trebuchet MS"/>
                <a:cs typeface="Trebuchet MS"/>
              </a:rPr>
              <a:t>like?</a:t>
            </a:r>
            <a:endParaRPr sz="1800" dirty="0">
              <a:latin typeface="Trebuchet MS"/>
              <a:cs typeface="Trebuchet MS"/>
            </a:endParaRPr>
          </a:p>
          <a:p>
            <a:pPr marL="836294" lvl="1" indent="-336550">
              <a:lnSpc>
                <a:spcPct val="100000"/>
              </a:lnSpc>
              <a:spcBef>
                <a:spcPts val="330"/>
              </a:spcBef>
              <a:buFont typeface="Arial MT"/>
              <a:buChar char="○"/>
              <a:tabLst>
                <a:tab pos="836294" algn="l"/>
                <a:tab pos="836930" algn="l"/>
              </a:tabLst>
            </a:pPr>
            <a:r>
              <a:rPr sz="1600" spc="95" dirty="0">
                <a:solidFill>
                  <a:srgbClr val="616161"/>
                </a:solidFill>
                <a:latin typeface="Trebuchet MS"/>
                <a:cs typeface="Trebuchet MS"/>
              </a:rPr>
              <a:t>A</a:t>
            </a:r>
            <a:r>
              <a:rPr sz="1600" spc="-65" dirty="0">
                <a:solidFill>
                  <a:srgbClr val="616161"/>
                </a:solidFill>
                <a:latin typeface="Trebuchet MS"/>
                <a:cs typeface="Trebuchet MS"/>
              </a:rPr>
              <a:t> </a:t>
            </a:r>
            <a:r>
              <a:rPr sz="1600" spc="-15" dirty="0">
                <a:solidFill>
                  <a:srgbClr val="616161"/>
                </a:solidFill>
                <a:latin typeface="Trebuchet MS"/>
                <a:cs typeface="Trebuchet MS"/>
              </a:rPr>
              <a:t>large</a:t>
            </a:r>
            <a:r>
              <a:rPr sz="1600" spc="-65" dirty="0">
                <a:solidFill>
                  <a:srgbClr val="616161"/>
                </a:solidFill>
                <a:latin typeface="Trebuchet MS"/>
                <a:cs typeface="Trebuchet MS"/>
              </a:rPr>
              <a:t> </a:t>
            </a:r>
            <a:r>
              <a:rPr sz="1600" spc="-15" dirty="0">
                <a:solidFill>
                  <a:srgbClr val="616161"/>
                </a:solidFill>
                <a:latin typeface="Trebuchet MS"/>
                <a:cs typeface="Trebuchet MS"/>
              </a:rPr>
              <a:t>set</a:t>
            </a:r>
            <a:r>
              <a:rPr sz="1600" spc="-65" dirty="0">
                <a:solidFill>
                  <a:srgbClr val="616161"/>
                </a:solidFill>
                <a:latin typeface="Trebuchet MS"/>
                <a:cs typeface="Trebuchet MS"/>
              </a:rPr>
              <a:t> </a:t>
            </a:r>
            <a:r>
              <a:rPr sz="1600" spc="-40" dirty="0">
                <a:solidFill>
                  <a:srgbClr val="616161"/>
                </a:solidFill>
                <a:latin typeface="Trebuchet MS"/>
                <a:cs typeface="Trebuchet MS"/>
              </a:rPr>
              <a:t>of</a:t>
            </a:r>
            <a:r>
              <a:rPr sz="1600" spc="-65" dirty="0">
                <a:solidFill>
                  <a:srgbClr val="616161"/>
                </a:solidFill>
                <a:latin typeface="Trebuchet MS"/>
                <a:cs typeface="Trebuchet MS"/>
              </a:rPr>
              <a:t> </a:t>
            </a:r>
            <a:r>
              <a:rPr sz="1600" spc="-50" dirty="0">
                <a:solidFill>
                  <a:srgbClr val="616161"/>
                </a:solidFill>
                <a:latin typeface="Trebuchet MS"/>
                <a:cs typeface="Trebuchet MS"/>
              </a:rPr>
              <a:t>arbitrary</a:t>
            </a:r>
            <a:r>
              <a:rPr sz="1600" spc="-65" dirty="0">
                <a:solidFill>
                  <a:srgbClr val="616161"/>
                </a:solidFill>
                <a:latin typeface="Trebuchet MS"/>
                <a:cs typeface="Trebuchet MS"/>
              </a:rPr>
              <a:t> </a:t>
            </a:r>
            <a:r>
              <a:rPr sz="1600" spc="-30" dirty="0">
                <a:solidFill>
                  <a:srgbClr val="616161"/>
                </a:solidFill>
                <a:latin typeface="Trebuchet MS"/>
                <a:cs typeface="Trebuchet MS"/>
              </a:rPr>
              <a:t>data</a:t>
            </a:r>
            <a:r>
              <a:rPr sz="1600" spc="-65" dirty="0">
                <a:solidFill>
                  <a:srgbClr val="616161"/>
                </a:solidFill>
                <a:latin typeface="Trebuchet MS"/>
                <a:cs typeface="Trebuchet MS"/>
              </a:rPr>
              <a:t> </a:t>
            </a:r>
            <a:r>
              <a:rPr sz="1600" spc="-60" dirty="0">
                <a:solidFill>
                  <a:srgbClr val="616161"/>
                </a:solidFill>
                <a:latin typeface="Trebuchet MS"/>
                <a:cs typeface="Trebuchet MS"/>
              </a:rPr>
              <a:t>(tuples,</a:t>
            </a:r>
            <a:r>
              <a:rPr sz="1600" spc="-65" dirty="0">
                <a:solidFill>
                  <a:srgbClr val="616161"/>
                </a:solidFill>
                <a:latin typeface="Trebuchet MS"/>
                <a:cs typeface="Trebuchet MS"/>
              </a:rPr>
              <a:t> </a:t>
            </a:r>
            <a:r>
              <a:rPr sz="1600" spc="-45" dirty="0">
                <a:solidFill>
                  <a:srgbClr val="616161"/>
                </a:solidFill>
                <a:latin typeface="Trebuchet MS"/>
                <a:cs typeface="Trebuchet MS"/>
              </a:rPr>
              <a:t>objects,</a:t>
            </a:r>
            <a:r>
              <a:rPr sz="1600" spc="-65" dirty="0">
                <a:solidFill>
                  <a:srgbClr val="616161"/>
                </a:solidFill>
                <a:latin typeface="Trebuchet MS"/>
                <a:cs typeface="Trebuchet MS"/>
              </a:rPr>
              <a:t> </a:t>
            </a:r>
            <a:r>
              <a:rPr sz="1600" spc="-25" dirty="0">
                <a:solidFill>
                  <a:srgbClr val="616161"/>
                </a:solidFill>
                <a:latin typeface="Trebuchet MS"/>
                <a:cs typeface="Trebuchet MS"/>
              </a:rPr>
              <a:t>values,</a:t>
            </a:r>
            <a:r>
              <a:rPr sz="1600" spc="-65" dirty="0">
                <a:solidFill>
                  <a:srgbClr val="616161"/>
                </a:solidFill>
                <a:latin typeface="Trebuchet MS"/>
                <a:cs typeface="Trebuchet MS"/>
              </a:rPr>
              <a:t> </a:t>
            </a:r>
            <a:r>
              <a:rPr sz="1600" spc="-75" dirty="0">
                <a:solidFill>
                  <a:srgbClr val="616161"/>
                </a:solidFill>
                <a:latin typeface="Trebuchet MS"/>
                <a:cs typeface="Trebuchet MS"/>
              </a:rPr>
              <a:t>etc)</a:t>
            </a:r>
            <a:endParaRPr sz="1600" dirty="0">
              <a:latin typeface="Trebuchet MS"/>
              <a:cs typeface="Trebuchet MS"/>
            </a:endParaRPr>
          </a:p>
          <a:p>
            <a:pPr lvl="1">
              <a:lnSpc>
                <a:spcPct val="100000"/>
              </a:lnSpc>
              <a:spcBef>
                <a:spcPts val="55"/>
              </a:spcBef>
              <a:buClr>
                <a:srgbClr val="616161"/>
              </a:buClr>
              <a:buFont typeface="Arial MT"/>
              <a:buChar char="○"/>
            </a:pPr>
            <a:endParaRPr sz="1600" dirty="0">
              <a:latin typeface="Trebuchet MS"/>
              <a:cs typeface="Trebuchet MS"/>
            </a:endParaRPr>
          </a:p>
          <a:p>
            <a:pPr marL="379095" indent="-367030">
              <a:lnSpc>
                <a:spcPct val="100000"/>
              </a:lnSpc>
              <a:buFont typeface="Arial MT"/>
              <a:buChar char="●"/>
              <a:tabLst>
                <a:tab pos="379095" algn="l"/>
                <a:tab pos="379730" algn="l"/>
              </a:tabLst>
            </a:pPr>
            <a:r>
              <a:rPr sz="1800" spc="-10" dirty="0">
                <a:solidFill>
                  <a:srgbClr val="616161"/>
                </a:solidFill>
                <a:latin typeface="Trebuchet MS"/>
                <a:cs typeface="Trebuchet MS"/>
              </a:rPr>
              <a:t>Features</a:t>
            </a:r>
            <a:r>
              <a:rPr sz="1800" spc="-80" dirty="0">
                <a:solidFill>
                  <a:srgbClr val="616161"/>
                </a:solidFill>
                <a:latin typeface="Trebuchet MS"/>
                <a:cs typeface="Trebuchet MS"/>
              </a:rPr>
              <a:t> </a:t>
            </a:r>
            <a:r>
              <a:rPr sz="1800" spc="-50" dirty="0">
                <a:solidFill>
                  <a:srgbClr val="616161"/>
                </a:solidFill>
                <a:latin typeface="Trebuchet MS"/>
                <a:cs typeface="Trebuchet MS"/>
              </a:rPr>
              <a:t>of</a:t>
            </a:r>
            <a:r>
              <a:rPr sz="1800" spc="-80" dirty="0">
                <a:solidFill>
                  <a:srgbClr val="616161"/>
                </a:solidFill>
                <a:latin typeface="Trebuchet MS"/>
                <a:cs typeface="Trebuchet MS"/>
              </a:rPr>
              <a:t> </a:t>
            </a:r>
            <a:r>
              <a:rPr sz="1800" spc="40" dirty="0">
                <a:solidFill>
                  <a:srgbClr val="616161"/>
                </a:solidFill>
                <a:latin typeface="Trebuchet MS"/>
                <a:cs typeface="Trebuchet MS"/>
              </a:rPr>
              <a:t>RDDs:</a:t>
            </a:r>
            <a:endParaRPr sz="1800" dirty="0">
              <a:latin typeface="Trebuchet MS"/>
              <a:cs typeface="Trebuchet MS"/>
            </a:endParaRPr>
          </a:p>
          <a:p>
            <a:pPr marL="836294" lvl="1" indent="-336550">
              <a:lnSpc>
                <a:spcPct val="100000"/>
              </a:lnSpc>
              <a:spcBef>
                <a:spcPts val="330"/>
              </a:spcBef>
              <a:buFont typeface="Arial MT"/>
              <a:buChar char="○"/>
              <a:tabLst>
                <a:tab pos="836294" algn="l"/>
                <a:tab pos="836930" algn="l"/>
              </a:tabLst>
            </a:pPr>
            <a:r>
              <a:rPr sz="1600" dirty="0">
                <a:solidFill>
                  <a:srgbClr val="616161"/>
                </a:solidFill>
                <a:latin typeface="Trebuchet MS"/>
                <a:cs typeface="Trebuchet MS"/>
              </a:rPr>
              <a:t>Stored</a:t>
            </a:r>
            <a:r>
              <a:rPr sz="1600" spc="-65" dirty="0">
                <a:solidFill>
                  <a:srgbClr val="616161"/>
                </a:solidFill>
                <a:latin typeface="Trebuchet MS"/>
                <a:cs typeface="Trebuchet MS"/>
              </a:rPr>
              <a:t> </a:t>
            </a:r>
            <a:r>
              <a:rPr sz="1600" spc="-45" dirty="0">
                <a:solidFill>
                  <a:srgbClr val="616161"/>
                </a:solidFill>
                <a:latin typeface="Trebuchet MS"/>
                <a:cs typeface="Trebuchet MS"/>
              </a:rPr>
              <a:t>in-memory,</a:t>
            </a:r>
            <a:r>
              <a:rPr sz="1600" spc="-70" dirty="0">
                <a:solidFill>
                  <a:srgbClr val="616161"/>
                </a:solidFill>
                <a:latin typeface="Trebuchet MS"/>
                <a:cs typeface="Trebuchet MS"/>
              </a:rPr>
              <a:t> </a:t>
            </a:r>
            <a:r>
              <a:rPr sz="1600" b="1" spc="-5" dirty="0">
                <a:solidFill>
                  <a:srgbClr val="616161"/>
                </a:solidFill>
                <a:latin typeface="Trebuchet MS"/>
                <a:cs typeface="Trebuchet MS"/>
              </a:rPr>
              <a:t>Cacheable</a:t>
            </a:r>
            <a:endParaRPr sz="1600" dirty="0">
              <a:latin typeface="Trebuchet MS"/>
              <a:cs typeface="Trebuchet MS"/>
            </a:endParaRPr>
          </a:p>
          <a:p>
            <a:pPr marL="1293495" lvl="2" indent="-336550">
              <a:lnSpc>
                <a:spcPct val="100000"/>
              </a:lnSpc>
              <a:spcBef>
                <a:spcPts val="270"/>
              </a:spcBef>
              <a:buFont typeface="Arial MT"/>
              <a:buChar char="■"/>
              <a:tabLst>
                <a:tab pos="1293495" algn="l"/>
                <a:tab pos="1294130" algn="l"/>
              </a:tabLst>
            </a:pPr>
            <a:r>
              <a:rPr sz="1600" dirty="0">
                <a:solidFill>
                  <a:srgbClr val="616161"/>
                </a:solidFill>
                <a:latin typeface="Trebuchet MS"/>
                <a:cs typeface="Trebuchet MS"/>
              </a:rPr>
              <a:t>Stored</a:t>
            </a:r>
            <a:r>
              <a:rPr sz="1600" spc="-80" dirty="0">
                <a:solidFill>
                  <a:srgbClr val="616161"/>
                </a:solidFill>
                <a:latin typeface="Trebuchet MS"/>
                <a:cs typeface="Trebuchet MS"/>
              </a:rPr>
              <a:t> </a:t>
            </a:r>
            <a:r>
              <a:rPr sz="1600" spc="25" dirty="0">
                <a:solidFill>
                  <a:srgbClr val="616161"/>
                </a:solidFill>
                <a:latin typeface="Trebuchet MS"/>
                <a:cs typeface="Trebuchet MS"/>
              </a:rPr>
              <a:t>on</a:t>
            </a:r>
            <a:r>
              <a:rPr sz="1600" spc="-75" dirty="0">
                <a:solidFill>
                  <a:srgbClr val="616161"/>
                </a:solidFill>
                <a:latin typeface="Trebuchet MS"/>
                <a:cs typeface="Trebuchet MS"/>
              </a:rPr>
              <a:t> </a:t>
            </a:r>
            <a:r>
              <a:rPr sz="1600" spc="-10" dirty="0">
                <a:solidFill>
                  <a:srgbClr val="616161"/>
                </a:solidFill>
                <a:latin typeface="Trebuchet MS"/>
                <a:cs typeface="Trebuchet MS"/>
              </a:rPr>
              <a:t>executors</a:t>
            </a:r>
            <a:endParaRPr sz="1600" dirty="0">
              <a:latin typeface="Trebuchet MS"/>
              <a:cs typeface="Trebuchet MS"/>
            </a:endParaRPr>
          </a:p>
          <a:p>
            <a:pPr marL="836294" indent="-336550">
              <a:lnSpc>
                <a:spcPct val="100000"/>
              </a:lnSpc>
              <a:spcBef>
                <a:spcPts val="270"/>
              </a:spcBef>
              <a:buFont typeface="Arial"/>
              <a:buChar char="○"/>
              <a:tabLst>
                <a:tab pos="836294" algn="l"/>
                <a:tab pos="836930" algn="l"/>
              </a:tabLst>
            </a:pPr>
            <a:r>
              <a:rPr sz="1600" b="1" spc="-25" dirty="0">
                <a:solidFill>
                  <a:srgbClr val="616161"/>
                </a:solidFill>
                <a:latin typeface="Trebuchet MS"/>
                <a:cs typeface="Trebuchet MS"/>
              </a:rPr>
              <a:t>Immutable</a:t>
            </a:r>
            <a:endParaRPr sz="1600" dirty="0">
              <a:latin typeface="Trebuchet MS"/>
              <a:cs typeface="Trebuchet MS"/>
            </a:endParaRPr>
          </a:p>
          <a:p>
            <a:pPr marL="1293495" lvl="1" indent="-336550">
              <a:lnSpc>
                <a:spcPct val="100000"/>
              </a:lnSpc>
              <a:spcBef>
                <a:spcPts val="270"/>
              </a:spcBef>
              <a:buFont typeface="Arial MT"/>
              <a:buChar char="■"/>
              <a:tabLst>
                <a:tab pos="1293495" algn="l"/>
                <a:tab pos="1294130" algn="l"/>
              </a:tabLst>
            </a:pPr>
            <a:r>
              <a:rPr sz="1600" spc="35" dirty="0">
                <a:solidFill>
                  <a:srgbClr val="616161"/>
                </a:solidFill>
                <a:latin typeface="Trebuchet MS"/>
                <a:cs typeface="Trebuchet MS"/>
              </a:rPr>
              <a:t>Once</a:t>
            </a:r>
            <a:r>
              <a:rPr sz="1600" spc="-65" dirty="0">
                <a:solidFill>
                  <a:srgbClr val="616161"/>
                </a:solidFill>
                <a:latin typeface="Trebuchet MS"/>
                <a:cs typeface="Trebuchet MS"/>
              </a:rPr>
              <a:t> </a:t>
            </a:r>
            <a:r>
              <a:rPr sz="1600" spc="-45" dirty="0">
                <a:solidFill>
                  <a:srgbClr val="616161"/>
                </a:solidFill>
                <a:latin typeface="Trebuchet MS"/>
                <a:cs typeface="Trebuchet MS"/>
              </a:rPr>
              <a:t>created,</a:t>
            </a:r>
            <a:r>
              <a:rPr sz="1600" spc="-65" dirty="0">
                <a:solidFill>
                  <a:srgbClr val="616161"/>
                </a:solidFill>
                <a:latin typeface="Trebuchet MS"/>
                <a:cs typeface="Trebuchet MS"/>
              </a:rPr>
              <a:t> </a:t>
            </a:r>
            <a:r>
              <a:rPr sz="1600" spc="-15" dirty="0">
                <a:solidFill>
                  <a:srgbClr val="616161"/>
                </a:solidFill>
                <a:latin typeface="Trebuchet MS"/>
                <a:cs typeface="Trebuchet MS"/>
              </a:rPr>
              <a:t>cannot</a:t>
            </a:r>
            <a:r>
              <a:rPr sz="1600" spc="-65" dirty="0">
                <a:solidFill>
                  <a:srgbClr val="616161"/>
                </a:solidFill>
                <a:latin typeface="Trebuchet MS"/>
                <a:cs typeface="Trebuchet MS"/>
              </a:rPr>
              <a:t> </a:t>
            </a:r>
            <a:r>
              <a:rPr sz="1600" spc="20" dirty="0">
                <a:solidFill>
                  <a:srgbClr val="616161"/>
                </a:solidFill>
                <a:latin typeface="Trebuchet MS"/>
                <a:cs typeface="Trebuchet MS"/>
              </a:rPr>
              <a:t>be</a:t>
            </a:r>
            <a:r>
              <a:rPr sz="1600" spc="-65" dirty="0">
                <a:solidFill>
                  <a:srgbClr val="616161"/>
                </a:solidFill>
                <a:latin typeface="Trebuchet MS"/>
                <a:cs typeface="Trebuchet MS"/>
              </a:rPr>
              <a:t> </a:t>
            </a:r>
            <a:r>
              <a:rPr sz="1600" spc="-25" dirty="0">
                <a:solidFill>
                  <a:srgbClr val="616161"/>
                </a:solidFill>
                <a:latin typeface="Trebuchet MS"/>
                <a:cs typeface="Trebuchet MS"/>
              </a:rPr>
              <a:t>edited</a:t>
            </a:r>
            <a:endParaRPr sz="1600" dirty="0">
              <a:latin typeface="Trebuchet MS"/>
              <a:cs typeface="Trebuchet MS"/>
            </a:endParaRPr>
          </a:p>
          <a:p>
            <a:pPr marL="1293495" lvl="1" indent="-336550">
              <a:lnSpc>
                <a:spcPct val="100000"/>
              </a:lnSpc>
              <a:spcBef>
                <a:spcPts val="270"/>
              </a:spcBef>
              <a:buFont typeface="Arial MT"/>
              <a:buChar char="■"/>
              <a:tabLst>
                <a:tab pos="1293495" algn="l"/>
                <a:tab pos="1294130" algn="l"/>
              </a:tabLst>
            </a:pPr>
            <a:r>
              <a:rPr sz="1600" spc="20" dirty="0">
                <a:solidFill>
                  <a:srgbClr val="616161"/>
                </a:solidFill>
                <a:latin typeface="Trebuchet MS"/>
                <a:cs typeface="Trebuchet MS"/>
              </a:rPr>
              <a:t>Must</a:t>
            </a:r>
            <a:r>
              <a:rPr sz="1600" spc="-65" dirty="0">
                <a:solidFill>
                  <a:srgbClr val="616161"/>
                </a:solidFill>
                <a:latin typeface="Trebuchet MS"/>
                <a:cs typeface="Trebuchet MS"/>
              </a:rPr>
              <a:t> </a:t>
            </a:r>
            <a:r>
              <a:rPr sz="1600" spc="20" dirty="0">
                <a:solidFill>
                  <a:srgbClr val="616161"/>
                </a:solidFill>
                <a:latin typeface="Trebuchet MS"/>
                <a:cs typeface="Trebuchet MS"/>
              </a:rPr>
              <a:t>be</a:t>
            </a:r>
            <a:r>
              <a:rPr sz="1600" spc="-65" dirty="0">
                <a:solidFill>
                  <a:srgbClr val="616161"/>
                </a:solidFill>
                <a:latin typeface="Trebuchet MS"/>
                <a:cs typeface="Trebuchet MS"/>
              </a:rPr>
              <a:t> </a:t>
            </a:r>
            <a:r>
              <a:rPr sz="1600" i="1" spc="-35" dirty="0">
                <a:solidFill>
                  <a:srgbClr val="616161"/>
                </a:solidFill>
                <a:latin typeface="Trebuchet MS"/>
                <a:cs typeface="Trebuchet MS"/>
              </a:rPr>
              <a:t>transformed</a:t>
            </a:r>
            <a:r>
              <a:rPr sz="1600" i="1" spc="-65" dirty="0">
                <a:solidFill>
                  <a:srgbClr val="616161"/>
                </a:solidFill>
                <a:latin typeface="Trebuchet MS"/>
                <a:cs typeface="Trebuchet MS"/>
              </a:rPr>
              <a:t> </a:t>
            </a:r>
            <a:r>
              <a:rPr sz="1600" spc="-45" dirty="0">
                <a:solidFill>
                  <a:srgbClr val="616161"/>
                </a:solidFill>
                <a:latin typeface="Trebuchet MS"/>
                <a:cs typeface="Trebuchet MS"/>
              </a:rPr>
              <a:t>into</a:t>
            </a:r>
            <a:r>
              <a:rPr sz="1600" spc="-65" dirty="0">
                <a:solidFill>
                  <a:srgbClr val="616161"/>
                </a:solidFill>
                <a:latin typeface="Trebuchet MS"/>
                <a:cs typeface="Trebuchet MS"/>
              </a:rPr>
              <a:t> </a:t>
            </a:r>
            <a:r>
              <a:rPr sz="1600" dirty="0">
                <a:solidFill>
                  <a:srgbClr val="616161"/>
                </a:solidFill>
                <a:latin typeface="Trebuchet MS"/>
                <a:cs typeface="Trebuchet MS"/>
              </a:rPr>
              <a:t>a</a:t>
            </a:r>
            <a:r>
              <a:rPr sz="1600" spc="-65" dirty="0">
                <a:solidFill>
                  <a:srgbClr val="616161"/>
                </a:solidFill>
                <a:latin typeface="Trebuchet MS"/>
                <a:cs typeface="Trebuchet MS"/>
              </a:rPr>
              <a:t> </a:t>
            </a:r>
            <a:r>
              <a:rPr sz="1600" spc="5" dirty="0">
                <a:solidFill>
                  <a:srgbClr val="616161"/>
                </a:solidFill>
                <a:latin typeface="Trebuchet MS"/>
                <a:cs typeface="Trebuchet MS"/>
              </a:rPr>
              <a:t>new</a:t>
            </a:r>
            <a:r>
              <a:rPr sz="1600" spc="-60" dirty="0">
                <a:solidFill>
                  <a:srgbClr val="616161"/>
                </a:solidFill>
                <a:latin typeface="Trebuchet MS"/>
                <a:cs typeface="Trebuchet MS"/>
              </a:rPr>
              <a:t> </a:t>
            </a:r>
            <a:r>
              <a:rPr sz="1600" spc="5" dirty="0">
                <a:solidFill>
                  <a:srgbClr val="616161"/>
                </a:solidFill>
                <a:latin typeface="Trebuchet MS"/>
                <a:cs typeface="Trebuchet MS"/>
              </a:rPr>
              <a:t>descendent</a:t>
            </a:r>
            <a:r>
              <a:rPr sz="1600" spc="-65" dirty="0">
                <a:solidFill>
                  <a:srgbClr val="616161"/>
                </a:solidFill>
                <a:latin typeface="Trebuchet MS"/>
                <a:cs typeface="Trebuchet MS"/>
              </a:rPr>
              <a:t> </a:t>
            </a:r>
            <a:r>
              <a:rPr sz="1600" spc="90" dirty="0">
                <a:solidFill>
                  <a:srgbClr val="616161"/>
                </a:solidFill>
                <a:latin typeface="Trebuchet MS"/>
                <a:cs typeface="Trebuchet MS"/>
              </a:rPr>
              <a:t>RDD</a:t>
            </a:r>
            <a:endParaRPr sz="1600" dirty="0">
              <a:latin typeface="Trebuchet MS"/>
              <a:cs typeface="Trebuchet MS"/>
            </a:endParaRPr>
          </a:p>
          <a:p>
            <a:pPr marL="836294" indent="-336550">
              <a:lnSpc>
                <a:spcPct val="100000"/>
              </a:lnSpc>
              <a:spcBef>
                <a:spcPts val="270"/>
              </a:spcBef>
              <a:buFont typeface="Arial MT"/>
              <a:buChar char="○"/>
              <a:tabLst>
                <a:tab pos="836294" algn="l"/>
                <a:tab pos="836930" algn="l"/>
              </a:tabLst>
            </a:pPr>
            <a:r>
              <a:rPr sz="1600" b="1" spc="-30" dirty="0">
                <a:solidFill>
                  <a:srgbClr val="616161"/>
                </a:solidFill>
                <a:latin typeface="Trebuchet MS"/>
                <a:cs typeface="Trebuchet MS"/>
              </a:rPr>
              <a:t>Parallel</a:t>
            </a:r>
            <a:r>
              <a:rPr sz="1600" b="1" spc="-75" dirty="0">
                <a:solidFill>
                  <a:srgbClr val="616161"/>
                </a:solidFill>
                <a:latin typeface="Trebuchet MS"/>
                <a:cs typeface="Trebuchet MS"/>
              </a:rPr>
              <a:t> </a:t>
            </a:r>
            <a:r>
              <a:rPr sz="1600" spc="-30" dirty="0">
                <a:solidFill>
                  <a:srgbClr val="616161"/>
                </a:solidFill>
                <a:latin typeface="Trebuchet MS"/>
                <a:cs typeface="Trebuchet MS"/>
              </a:rPr>
              <a:t>via</a:t>
            </a:r>
            <a:r>
              <a:rPr sz="1600" spc="-75" dirty="0">
                <a:solidFill>
                  <a:srgbClr val="616161"/>
                </a:solidFill>
                <a:latin typeface="Trebuchet MS"/>
                <a:cs typeface="Trebuchet MS"/>
              </a:rPr>
              <a:t> </a:t>
            </a:r>
            <a:r>
              <a:rPr sz="1600" spc="-40" dirty="0">
                <a:solidFill>
                  <a:srgbClr val="616161"/>
                </a:solidFill>
                <a:latin typeface="Trebuchet MS"/>
                <a:cs typeface="Trebuchet MS"/>
              </a:rPr>
              <a:t>partitioning</a:t>
            </a:r>
            <a:endParaRPr sz="1600" dirty="0">
              <a:latin typeface="Trebuchet MS"/>
              <a:cs typeface="Trebuchet MS"/>
            </a:endParaRPr>
          </a:p>
          <a:p>
            <a:pPr marL="1293495" lvl="1" indent="-336550">
              <a:lnSpc>
                <a:spcPct val="100000"/>
              </a:lnSpc>
              <a:spcBef>
                <a:spcPts val="270"/>
              </a:spcBef>
              <a:buFont typeface="Arial MT"/>
              <a:buChar char="■"/>
              <a:tabLst>
                <a:tab pos="1293495" algn="l"/>
                <a:tab pos="1294130" algn="l"/>
              </a:tabLst>
            </a:pPr>
            <a:r>
              <a:rPr sz="1600" spc="-35" dirty="0">
                <a:solidFill>
                  <a:srgbClr val="616161"/>
                </a:solidFill>
                <a:latin typeface="Trebuchet MS"/>
                <a:cs typeface="Trebuchet MS"/>
              </a:rPr>
              <a:t>Similar</a:t>
            </a:r>
            <a:r>
              <a:rPr sz="1600" spc="-65" dirty="0">
                <a:solidFill>
                  <a:srgbClr val="616161"/>
                </a:solidFill>
                <a:latin typeface="Trebuchet MS"/>
                <a:cs typeface="Trebuchet MS"/>
              </a:rPr>
              <a:t> </a:t>
            </a:r>
            <a:r>
              <a:rPr sz="1600" spc="-50" dirty="0">
                <a:solidFill>
                  <a:srgbClr val="616161"/>
                </a:solidFill>
                <a:latin typeface="Trebuchet MS"/>
                <a:cs typeface="Trebuchet MS"/>
              </a:rPr>
              <a:t>to</a:t>
            </a:r>
            <a:r>
              <a:rPr sz="1600" spc="-65" dirty="0">
                <a:solidFill>
                  <a:srgbClr val="616161"/>
                </a:solidFill>
                <a:latin typeface="Trebuchet MS"/>
                <a:cs typeface="Trebuchet MS"/>
              </a:rPr>
              <a:t> </a:t>
            </a:r>
            <a:r>
              <a:rPr sz="1600" spc="10" dirty="0">
                <a:solidFill>
                  <a:srgbClr val="616161"/>
                </a:solidFill>
                <a:latin typeface="Trebuchet MS"/>
                <a:cs typeface="Trebuchet MS"/>
              </a:rPr>
              <a:t>how</a:t>
            </a:r>
            <a:r>
              <a:rPr sz="1600" spc="-65" dirty="0">
                <a:solidFill>
                  <a:srgbClr val="616161"/>
                </a:solidFill>
                <a:latin typeface="Trebuchet MS"/>
                <a:cs typeface="Trebuchet MS"/>
              </a:rPr>
              <a:t> </a:t>
            </a:r>
            <a:r>
              <a:rPr sz="1600" spc="35" dirty="0">
                <a:solidFill>
                  <a:srgbClr val="616161"/>
                </a:solidFill>
                <a:latin typeface="Trebuchet MS"/>
                <a:cs typeface="Trebuchet MS"/>
              </a:rPr>
              <a:t>Hadoop</a:t>
            </a:r>
            <a:r>
              <a:rPr sz="1600" spc="-65" dirty="0">
                <a:solidFill>
                  <a:srgbClr val="616161"/>
                </a:solidFill>
                <a:latin typeface="Trebuchet MS"/>
                <a:cs typeface="Trebuchet MS"/>
              </a:rPr>
              <a:t> </a:t>
            </a:r>
            <a:r>
              <a:rPr sz="1600" spc="-40" dirty="0">
                <a:solidFill>
                  <a:srgbClr val="616161"/>
                </a:solidFill>
                <a:latin typeface="Trebuchet MS"/>
                <a:cs typeface="Trebuchet MS"/>
              </a:rPr>
              <a:t>partitions</a:t>
            </a:r>
            <a:r>
              <a:rPr sz="1600" spc="-65" dirty="0">
                <a:solidFill>
                  <a:srgbClr val="616161"/>
                </a:solidFill>
                <a:latin typeface="Trebuchet MS"/>
                <a:cs typeface="Trebuchet MS"/>
              </a:rPr>
              <a:t> </a:t>
            </a:r>
            <a:r>
              <a:rPr sz="1600" spc="-5" dirty="0">
                <a:solidFill>
                  <a:srgbClr val="616161"/>
                </a:solidFill>
                <a:latin typeface="Trebuchet MS"/>
                <a:cs typeface="Trebuchet MS"/>
              </a:rPr>
              <a:t>map</a:t>
            </a:r>
            <a:r>
              <a:rPr sz="1600" spc="-65" dirty="0">
                <a:solidFill>
                  <a:srgbClr val="616161"/>
                </a:solidFill>
                <a:latin typeface="Trebuchet MS"/>
                <a:cs typeface="Trebuchet MS"/>
              </a:rPr>
              <a:t> </a:t>
            </a:r>
            <a:r>
              <a:rPr sz="1600" spc="-20" dirty="0">
                <a:solidFill>
                  <a:srgbClr val="616161"/>
                </a:solidFill>
                <a:latin typeface="Trebuchet MS"/>
                <a:cs typeface="Trebuchet MS"/>
              </a:rPr>
              <a:t>inputs</a:t>
            </a:r>
            <a:endParaRPr sz="1600" dirty="0">
              <a:latin typeface="Trebuchet MS"/>
              <a:cs typeface="Trebuchet MS"/>
            </a:endParaRPr>
          </a:p>
        </p:txBody>
      </p:sp>
      <p:pic>
        <p:nvPicPr>
          <p:cNvPr id="7" name="Picture 6">
            <a:extLst>
              <a:ext uri="{FF2B5EF4-FFF2-40B4-BE49-F238E27FC236}">
                <a16:creationId xmlns:a16="http://schemas.microsoft.com/office/drawing/2014/main" id="{91C2D0B4-0FB9-15B1-2CE1-B92212FFA7A2}"/>
              </a:ext>
            </a:extLst>
          </p:cNvPr>
          <p:cNvPicPr>
            <a:picLocks noChangeAspect="1"/>
          </p:cNvPicPr>
          <p:nvPr/>
        </p:nvPicPr>
        <p:blipFill>
          <a:blip r:embed="rId2"/>
          <a:stretch>
            <a:fillRect/>
          </a:stretch>
        </p:blipFill>
        <p:spPr>
          <a:xfrm>
            <a:off x="5623816" y="2114550"/>
            <a:ext cx="3520184" cy="1600987"/>
          </a:xfrm>
          <a:prstGeom prst="rect">
            <a:avLst/>
          </a:prstGeom>
        </p:spPr>
      </p:pic>
    </p:spTree>
    <p:extLst>
      <p:ext uri="{BB962C8B-B14F-4D97-AF65-F5344CB8AC3E}">
        <p14:creationId xmlns:p14="http://schemas.microsoft.com/office/powerpoint/2010/main" val="830781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86800" y="754905"/>
            <a:ext cx="7914132" cy="4348544"/>
            <a:chOff x="144000" y="838783"/>
            <a:chExt cx="8793480" cy="4831715"/>
          </a:xfrm>
        </p:grpSpPr>
        <p:pic>
          <p:nvPicPr>
            <p:cNvPr id="3" name="object 3"/>
            <p:cNvPicPr/>
            <p:nvPr/>
          </p:nvPicPr>
          <p:blipFill>
            <a:blip r:embed="rId2" cstate="print"/>
            <a:stretch>
              <a:fillRect/>
            </a:stretch>
          </p:blipFill>
          <p:spPr>
            <a:xfrm>
              <a:off x="442303" y="2311350"/>
              <a:ext cx="7776094" cy="2427830"/>
            </a:xfrm>
            <a:prstGeom prst="rect">
              <a:avLst/>
            </a:prstGeom>
          </p:spPr>
        </p:pic>
        <p:pic>
          <p:nvPicPr>
            <p:cNvPr id="4" name="object 4"/>
            <p:cNvPicPr/>
            <p:nvPr/>
          </p:nvPicPr>
          <p:blipFill>
            <a:blip r:embed="rId3" cstate="print"/>
            <a:stretch>
              <a:fillRect/>
            </a:stretch>
          </p:blipFill>
          <p:spPr>
            <a:xfrm>
              <a:off x="278766" y="838783"/>
              <a:ext cx="8658477" cy="1197521"/>
            </a:xfrm>
            <a:prstGeom prst="rect">
              <a:avLst/>
            </a:prstGeom>
          </p:spPr>
        </p:pic>
        <p:pic>
          <p:nvPicPr>
            <p:cNvPr id="5" name="object 5"/>
            <p:cNvPicPr/>
            <p:nvPr/>
          </p:nvPicPr>
          <p:blipFill>
            <a:blip r:embed="rId4" cstate="print"/>
            <a:stretch>
              <a:fillRect/>
            </a:stretch>
          </p:blipFill>
          <p:spPr>
            <a:xfrm>
              <a:off x="323528" y="863545"/>
              <a:ext cx="8568952" cy="1107995"/>
            </a:xfrm>
            <a:prstGeom prst="rect">
              <a:avLst/>
            </a:prstGeom>
          </p:spPr>
        </p:pic>
        <p:sp>
          <p:nvSpPr>
            <p:cNvPr id="6" name="object 6"/>
            <p:cNvSpPr/>
            <p:nvPr/>
          </p:nvSpPr>
          <p:spPr>
            <a:xfrm>
              <a:off x="323528" y="863545"/>
              <a:ext cx="8569325" cy="1108075"/>
            </a:xfrm>
            <a:custGeom>
              <a:avLst/>
              <a:gdLst/>
              <a:ahLst/>
              <a:cxnLst/>
              <a:rect l="l" t="t" r="r" b="b"/>
              <a:pathLst>
                <a:path w="8569325" h="1108075">
                  <a:moveTo>
                    <a:pt x="0" y="0"/>
                  </a:moveTo>
                  <a:lnTo>
                    <a:pt x="8568952" y="0"/>
                  </a:lnTo>
                  <a:lnTo>
                    <a:pt x="8568952" y="1107995"/>
                  </a:lnTo>
                  <a:lnTo>
                    <a:pt x="0" y="1107995"/>
                  </a:lnTo>
                  <a:lnTo>
                    <a:pt x="0" y="0"/>
                  </a:lnTo>
                  <a:close/>
                </a:path>
              </a:pathLst>
            </a:custGeom>
            <a:ln w="9524">
              <a:solidFill>
                <a:srgbClr val="00955B"/>
              </a:solidFill>
            </a:ln>
          </p:spPr>
          <p:txBody>
            <a:bodyPr wrap="square" lIns="0" tIns="0" rIns="0" bIns="0" rtlCol="0"/>
            <a:lstStyle/>
            <a:p>
              <a:endParaRPr sz="1620"/>
            </a:p>
          </p:txBody>
        </p:sp>
      </p:grpSp>
      <p:sp>
        <p:nvSpPr>
          <p:cNvPr id="7" name="object 7"/>
          <p:cNvSpPr txBox="1">
            <a:spLocks noGrp="1"/>
          </p:cNvSpPr>
          <p:nvPr>
            <p:ph type="title"/>
          </p:nvPr>
        </p:nvSpPr>
        <p:spPr>
          <a:xfrm>
            <a:off x="867251" y="151459"/>
            <a:ext cx="3649028" cy="1488869"/>
          </a:xfrm>
          <a:prstGeom prst="rect">
            <a:avLst/>
          </a:prstGeom>
        </p:spPr>
        <p:txBody>
          <a:bodyPr vert="horz" wrap="square" lIns="0" tIns="11430" rIns="0" bIns="0" rtlCol="0">
            <a:spAutoFit/>
          </a:bodyPr>
          <a:lstStyle/>
          <a:p>
            <a:pPr marL="11430">
              <a:spcBef>
                <a:spcPts val="90"/>
              </a:spcBef>
            </a:pPr>
            <a:r>
              <a:rPr spc="-9" dirty="0"/>
              <a:t>Example</a:t>
            </a:r>
            <a:r>
              <a:rPr spc="-50" dirty="0"/>
              <a:t> </a:t>
            </a:r>
            <a:r>
              <a:rPr spc="-9" dirty="0"/>
              <a:t>with</a:t>
            </a:r>
            <a:r>
              <a:rPr spc="-41" dirty="0"/>
              <a:t> </a:t>
            </a:r>
            <a:r>
              <a:rPr spc="-5" dirty="0"/>
              <a:t>RDD</a:t>
            </a:r>
          </a:p>
        </p:txBody>
      </p:sp>
      <p:sp>
        <p:nvSpPr>
          <p:cNvPr id="8" name="object 8"/>
          <p:cNvSpPr txBox="1"/>
          <p:nvPr/>
        </p:nvSpPr>
        <p:spPr>
          <a:xfrm>
            <a:off x="736946" y="760274"/>
            <a:ext cx="7672959" cy="1008738"/>
          </a:xfrm>
          <a:prstGeom prst="rect">
            <a:avLst/>
          </a:prstGeom>
        </p:spPr>
        <p:txBody>
          <a:bodyPr vert="horz" wrap="square" lIns="0" tIns="11430" rIns="0" bIns="0" rtlCol="0">
            <a:spAutoFit/>
          </a:bodyPr>
          <a:lstStyle/>
          <a:p>
            <a:pPr marL="11430" marR="4572" algn="just">
              <a:spcBef>
                <a:spcPts val="90"/>
              </a:spcBef>
            </a:pPr>
            <a:r>
              <a:rPr sz="1080" b="1" spc="-9" dirty="0">
                <a:latin typeface="Arial"/>
                <a:cs typeface="Arial"/>
              </a:rPr>
              <a:t>VendorID,tpep_pickup_datetime,tpep_dropoff_datetime,passenger_count,trip_distance,RatecodeID,store_and_fwd_fl </a:t>
            </a:r>
            <a:r>
              <a:rPr sz="1080" b="1" spc="-5" dirty="0">
                <a:latin typeface="Arial"/>
                <a:cs typeface="Arial"/>
              </a:rPr>
              <a:t> ag,PULocationID,DOLocationID,payment_type,fare_amount,extra,mta_tax,tip_amount,tolls_amount,improvement_sur </a:t>
            </a:r>
            <a:r>
              <a:rPr sz="1080" b="1" dirty="0">
                <a:latin typeface="Arial"/>
                <a:cs typeface="Arial"/>
              </a:rPr>
              <a:t> </a:t>
            </a:r>
            <a:r>
              <a:rPr sz="1080" b="1" spc="-5" dirty="0">
                <a:latin typeface="Arial"/>
                <a:cs typeface="Arial"/>
              </a:rPr>
              <a:t>charge,total_amount</a:t>
            </a:r>
            <a:endParaRPr sz="1080">
              <a:latin typeface="Arial"/>
              <a:cs typeface="Arial"/>
            </a:endParaRPr>
          </a:p>
          <a:p>
            <a:pPr marL="11430" algn="just"/>
            <a:r>
              <a:rPr sz="1080" b="1" spc="-9" dirty="0">
                <a:latin typeface="Arial"/>
                <a:cs typeface="Arial"/>
              </a:rPr>
              <a:t>2,11/04/2084</a:t>
            </a:r>
            <a:r>
              <a:rPr sz="1080" b="1" spc="-27" dirty="0">
                <a:latin typeface="Arial"/>
                <a:cs typeface="Arial"/>
              </a:rPr>
              <a:t> </a:t>
            </a:r>
            <a:r>
              <a:rPr sz="1080" b="1" spc="-5" dirty="0">
                <a:latin typeface="Arial"/>
                <a:cs typeface="Arial"/>
              </a:rPr>
              <a:t>12:32:24</a:t>
            </a:r>
            <a:r>
              <a:rPr sz="1080" b="1" spc="-23" dirty="0">
                <a:latin typeface="Arial"/>
                <a:cs typeface="Arial"/>
              </a:rPr>
              <a:t> </a:t>
            </a:r>
            <a:r>
              <a:rPr sz="1080" b="1" spc="-9" dirty="0">
                <a:latin typeface="Arial"/>
                <a:cs typeface="Arial"/>
              </a:rPr>
              <a:t>PM,11/04/2084</a:t>
            </a:r>
            <a:r>
              <a:rPr sz="1080" b="1" spc="-23" dirty="0">
                <a:latin typeface="Arial"/>
                <a:cs typeface="Arial"/>
              </a:rPr>
              <a:t> </a:t>
            </a:r>
            <a:r>
              <a:rPr sz="1080" b="1" spc="-5" dirty="0">
                <a:latin typeface="Arial"/>
                <a:cs typeface="Arial"/>
              </a:rPr>
              <a:t>12:47:41</a:t>
            </a:r>
            <a:r>
              <a:rPr sz="1080" b="1" spc="-23" dirty="0">
                <a:latin typeface="Arial"/>
                <a:cs typeface="Arial"/>
              </a:rPr>
              <a:t> </a:t>
            </a:r>
            <a:r>
              <a:rPr sz="1080" b="1" spc="-5" dirty="0">
                <a:latin typeface="Arial"/>
                <a:cs typeface="Arial"/>
              </a:rPr>
              <a:t>PM,1,1.34,1,N,238,236,2,10,0,0.5,0,0,0.3,10.8</a:t>
            </a:r>
            <a:endParaRPr sz="1080">
              <a:latin typeface="Arial"/>
              <a:cs typeface="Arial"/>
            </a:endParaRPr>
          </a:p>
          <a:p>
            <a:pPr marL="11430" algn="just"/>
            <a:r>
              <a:rPr sz="1080" b="1" spc="-9" dirty="0">
                <a:latin typeface="Arial"/>
                <a:cs typeface="Arial"/>
              </a:rPr>
              <a:t>2,11/04/2084</a:t>
            </a:r>
            <a:r>
              <a:rPr sz="1080" b="1" spc="-27" dirty="0">
                <a:latin typeface="Arial"/>
                <a:cs typeface="Arial"/>
              </a:rPr>
              <a:t> </a:t>
            </a:r>
            <a:r>
              <a:rPr sz="1080" b="1" spc="-5" dirty="0">
                <a:latin typeface="Arial"/>
                <a:cs typeface="Arial"/>
              </a:rPr>
              <a:t>12:32:24</a:t>
            </a:r>
            <a:r>
              <a:rPr sz="1080" b="1" spc="-23" dirty="0">
                <a:latin typeface="Arial"/>
                <a:cs typeface="Arial"/>
              </a:rPr>
              <a:t> </a:t>
            </a:r>
            <a:r>
              <a:rPr sz="1080" b="1" spc="-9" dirty="0">
                <a:latin typeface="Arial"/>
                <a:cs typeface="Arial"/>
              </a:rPr>
              <a:t>PM,11/04/2084</a:t>
            </a:r>
            <a:r>
              <a:rPr sz="1080" b="1" spc="-23" dirty="0">
                <a:latin typeface="Arial"/>
                <a:cs typeface="Arial"/>
              </a:rPr>
              <a:t> </a:t>
            </a:r>
            <a:r>
              <a:rPr sz="1080" b="1" spc="-5" dirty="0">
                <a:latin typeface="Arial"/>
                <a:cs typeface="Arial"/>
              </a:rPr>
              <a:t>12:47:41</a:t>
            </a:r>
            <a:r>
              <a:rPr sz="1080" b="1" spc="-23" dirty="0">
                <a:latin typeface="Arial"/>
                <a:cs typeface="Arial"/>
              </a:rPr>
              <a:t> </a:t>
            </a:r>
            <a:r>
              <a:rPr sz="1080" b="1" spc="-5" dirty="0">
                <a:latin typeface="Arial"/>
                <a:cs typeface="Arial"/>
              </a:rPr>
              <a:t>PM,1,1.34,1,N,238,236,2,10,0,0.5,0,0,0.3,10.8</a:t>
            </a:r>
            <a:endParaRPr sz="1080">
              <a:latin typeface="Arial"/>
              <a:cs typeface="Arial"/>
            </a:endParaRPr>
          </a:p>
          <a:p>
            <a:pPr marL="11430" algn="just"/>
            <a:r>
              <a:rPr sz="1080" b="1" spc="-9" dirty="0">
                <a:latin typeface="Arial"/>
                <a:cs typeface="Arial"/>
              </a:rPr>
              <a:t>2,11/04/2084</a:t>
            </a:r>
            <a:r>
              <a:rPr sz="1080" b="1" spc="-23" dirty="0">
                <a:latin typeface="Arial"/>
                <a:cs typeface="Arial"/>
              </a:rPr>
              <a:t> </a:t>
            </a:r>
            <a:r>
              <a:rPr sz="1080" b="1" spc="-5" dirty="0">
                <a:latin typeface="Arial"/>
                <a:cs typeface="Arial"/>
              </a:rPr>
              <a:t>12:25:53</a:t>
            </a:r>
            <a:r>
              <a:rPr sz="1080" b="1" spc="-18" dirty="0">
                <a:latin typeface="Arial"/>
                <a:cs typeface="Arial"/>
              </a:rPr>
              <a:t> </a:t>
            </a:r>
            <a:r>
              <a:rPr sz="1080" b="1" spc="-9" dirty="0">
                <a:latin typeface="Arial"/>
                <a:cs typeface="Arial"/>
              </a:rPr>
              <a:t>PM,11/04/2084</a:t>
            </a:r>
            <a:r>
              <a:rPr sz="1080" b="1" spc="-18" dirty="0">
                <a:latin typeface="Arial"/>
                <a:cs typeface="Arial"/>
              </a:rPr>
              <a:t> </a:t>
            </a:r>
            <a:r>
              <a:rPr sz="1080" b="1" spc="-5" dirty="0">
                <a:latin typeface="Arial"/>
                <a:cs typeface="Arial"/>
              </a:rPr>
              <a:t>12:29:00</a:t>
            </a:r>
            <a:r>
              <a:rPr sz="1080" b="1" spc="-23" dirty="0">
                <a:latin typeface="Arial"/>
                <a:cs typeface="Arial"/>
              </a:rPr>
              <a:t> </a:t>
            </a:r>
            <a:r>
              <a:rPr sz="1080" b="1" spc="-5" dirty="0">
                <a:latin typeface="Arial"/>
                <a:cs typeface="Arial"/>
              </a:rPr>
              <a:t>PM,1,0.32,1,N,238,238,2,4,0,0.5,0,0,0.3,4.8</a:t>
            </a:r>
            <a:endParaRPr sz="1080">
              <a:latin typeface="Arial"/>
              <a:cs typeface="Arial"/>
            </a:endParaRPr>
          </a:p>
        </p:txBody>
      </p:sp>
      <p:grpSp>
        <p:nvGrpSpPr>
          <p:cNvPr id="9" name="object 9"/>
          <p:cNvGrpSpPr/>
          <p:nvPr/>
        </p:nvGrpSpPr>
        <p:grpSpPr>
          <a:xfrm>
            <a:off x="3941305" y="1570212"/>
            <a:ext cx="2946654" cy="1196721"/>
            <a:chOff x="3871228" y="1744680"/>
            <a:chExt cx="3274060" cy="1329690"/>
          </a:xfrm>
        </p:grpSpPr>
        <p:pic>
          <p:nvPicPr>
            <p:cNvPr id="10" name="object 10"/>
            <p:cNvPicPr/>
            <p:nvPr/>
          </p:nvPicPr>
          <p:blipFill>
            <a:blip r:embed="rId5" cstate="print"/>
            <a:stretch>
              <a:fillRect/>
            </a:stretch>
          </p:blipFill>
          <p:spPr>
            <a:xfrm>
              <a:off x="3871228" y="1744680"/>
              <a:ext cx="3273752" cy="1329536"/>
            </a:xfrm>
            <a:prstGeom prst="rect">
              <a:avLst/>
            </a:prstGeom>
          </p:spPr>
        </p:pic>
        <p:sp>
          <p:nvSpPr>
            <p:cNvPr id="11" name="object 11"/>
            <p:cNvSpPr/>
            <p:nvPr/>
          </p:nvSpPr>
          <p:spPr>
            <a:xfrm>
              <a:off x="4066086" y="1777380"/>
              <a:ext cx="3026410" cy="1169670"/>
            </a:xfrm>
            <a:custGeom>
              <a:avLst/>
              <a:gdLst/>
              <a:ahLst/>
              <a:cxnLst/>
              <a:rect l="l" t="t" r="r" b="b"/>
              <a:pathLst>
                <a:path w="3026409" h="1169670">
                  <a:moveTo>
                    <a:pt x="3026193" y="0"/>
                  </a:moveTo>
                  <a:lnTo>
                    <a:pt x="0" y="1169211"/>
                  </a:lnTo>
                </a:path>
              </a:pathLst>
            </a:custGeom>
            <a:ln w="25399">
              <a:solidFill>
                <a:srgbClr val="FF671F"/>
              </a:solidFill>
            </a:ln>
          </p:spPr>
          <p:txBody>
            <a:bodyPr wrap="square" lIns="0" tIns="0" rIns="0" bIns="0" rtlCol="0"/>
            <a:lstStyle/>
            <a:p>
              <a:endParaRPr sz="1620"/>
            </a:p>
          </p:txBody>
        </p:sp>
        <p:pic>
          <p:nvPicPr>
            <p:cNvPr id="12" name="object 12"/>
            <p:cNvPicPr/>
            <p:nvPr/>
          </p:nvPicPr>
          <p:blipFill>
            <a:blip r:embed="rId6" cstate="print"/>
            <a:stretch>
              <a:fillRect/>
            </a:stretch>
          </p:blipFill>
          <p:spPr>
            <a:xfrm>
              <a:off x="3945865" y="2894756"/>
              <a:ext cx="148041" cy="106076"/>
            </a:xfrm>
            <a:prstGeom prst="rect">
              <a:avLst/>
            </a:prstGeom>
          </p:spPr>
        </p:pic>
      </p:grpSp>
      <p:sp>
        <p:nvSpPr>
          <p:cNvPr id="13" name="object 13"/>
          <p:cNvSpPr txBox="1"/>
          <p:nvPr/>
        </p:nvSpPr>
        <p:spPr>
          <a:xfrm>
            <a:off x="6625806" y="1712990"/>
            <a:ext cx="1331024" cy="288541"/>
          </a:xfrm>
          <a:prstGeom prst="rect">
            <a:avLst/>
          </a:prstGeom>
        </p:spPr>
        <p:txBody>
          <a:bodyPr vert="horz" wrap="square" lIns="0" tIns="11430" rIns="0" bIns="0" rtlCol="0">
            <a:spAutoFit/>
          </a:bodyPr>
          <a:lstStyle/>
          <a:p>
            <a:pPr marL="11430">
              <a:spcBef>
                <a:spcPts val="90"/>
              </a:spcBef>
            </a:pPr>
            <a:r>
              <a:rPr b="1" spc="-5" dirty="0">
                <a:latin typeface="Arial"/>
                <a:cs typeface="Arial"/>
              </a:rPr>
              <a:t>as</a:t>
            </a:r>
            <a:r>
              <a:rPr b="1" spc="-32" dirty="0">
                <a:latin typeface="Arial"/>
                <a:cs typeface="Arial"/>
              </a:rPr>
              <a:t> </a:t>
            </a:r>
            <a:r>
              <a:rPr b="1" dirty="0">
                <a:latin typeface="Arial"/>
                <a:cs typeface="Arial"/>
              </a:rPr>
              <a:t>a</a:t>
            </a:r>
            <a:r>
              <a:rPr b="1" spc="-32" dirty="0">
                <a:latin typeface="Arial"/>
                <a:cs typeface="Arial"/>
              </a:rPr>
              <a:t> </a:t>
            </a:r>
            <a:r>
              <a:rPr b="1" dirty="0">
                <a:latin typeface="Arial"/>
                <a:cs typeface="Arial"/>
              </a:rPr>
              <a:t>text</a:t>
            </a:r>
            <a:r>
              <a:rPr b="1" spc="-32" dirty="0">
                <a:latin typeface="Arial"/>
                <a:cs typeface="Arial"/>
              </a:rPr>
              <a:t> </a:t>
            </a:r>
            <a:r>
              <a:rPr b="1" dirty="0">
                <a:latin typeface="Arial"/>
                <a:cs typeface="Arial"/>
              </a:rPr>
              <a:t>file</a:t>
            </a:r>
            <a:endParaRPr>
              <a:latin typeface="Arial"/>
              <a:cs typeface="Arial"/>
            </a:endParaRPr>
          </a:p>
        </p:txBody>
      </p:sp>
      <p:pic>
        <p:nvPicPr>
          <p:cNvPr id="16" name="Picture 15">
            <a:extLst>
              <a:ext uri="{FF2B5EF4-FFF2-40B4-BE49-F238E27FC236}">
                <a16:creationId xmlns:a16="http://schemas.microsoft.com/office/drawing/2014/main" id="{5F9A73F7-920E-A346-5D04-C082DA86622F}"/>
              </a:ext>
            </a:extLst>
          </p:cNvPr>
          <p:cNvPicPr>
            <a:picLocks noChangeAspect="1"/>
          </p:cNvPicPr>
          <p:nvPr/>
        </p:nvPicPr>
        <p:blipFill>
          <a:blip r:embed="rId7"/>
          <a:stretch>
            <a:fillRect/>
          </a:stretch>
        </p:blipFill>
        <p:spPr>
          <a:xfrm>
            <a:off x="408615" y="-28443"/>
            <a:ext cx="4566300" cy="963251"/>
          </a:xfrm>
          <a:prstGeom prst="rect">
            <a:avLst/>
          </a:prstGeom>
        </p:spPr>
      </p:pic>
    </p:spTree>
    <p:extLst>
      <p:ext uri="{BB962C8B-B14F-4D97-AF65-F5344CB8AC3E}">
        <p14:creationId xmlns:p14="http://schemas.microsoft.com/office/powerpoint/2010/main" val="1798660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25FE4-1237-AB69-B5AB-ABB0335EA5DB}"/>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1474BEF5-12B8-2000-E2C3-3C96E8F46049}"/>
              </a:ext>
            </a:extLst>
          </p:cNvPr>
          <p:cNvPicPr>
            <a:picLocks noChangeAspect="1"/>
          </p:cNvPicPr>
          <p:nvPr/>
        </p:nvPicPr>
        <p:blipFill>
          <a:blip r:embed="rId3"/>
          <a:stretch>
            <a:fillRect/>
          </a:stretch>
        </p:blipFill>
        <p:spPr>
          <a:xfrm>
            <a:off x="609600" y="126139"/>
            <a:ext cx="7601063" cy="4512241"/>
          </a:xfrm>
          <a:prstGeom prst="rect">
            <a:avLst/>
          </a:prstGeom>
        </p:spPr>
      </p:pic>
    </p:spTree>
    <p:extLst>
      <p:ext uri="{BB962C8B-B14F-4D97-AF65-F5344CB8AC3E}">
        <p14:creationId xmlns:p14="http://schemas.microsoft.com/office/powerpoint/2010/main" val="5890921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2747" y="151459"/>
            <a:ext cx="6559677" cy="1488869"/>
          </a:xfrm>
          <a:prstGeom prst="rect">
            <a:avLst/>
          </a:prstGeom>
        </p:spPr>
        <p:txBody>
          <a:bodyPr vert="horz" wrap="square" lIns="0" tIns="11430" rIns="0" bIns="0" rtlCol="0">
            <a:spAutoFit/>
          </a:bodyPr>
          <a:lstStyle/>
          <a:p>
            <a:pPr marL="11430">
              <a:spcBef>
                <a:spcPts val="90"/>
              </a:spcBef>
            </a:pPr>
            <a:r>
              <a:rPr spc="-5" dirty="0"/>
              <a:t>RDD</a:t>
            </a:r>
            <a:r>
              <a:rPr spc="-32" dirty="0"/>
              <a:t> </a:t>
            </a:r>
            <a:r>
              <a:rPr spc="-5" dirty="0"/>
              <a:t>transformations</a:t>
            </a:r>
            <a:r>
              <a:rPr spc="-27" dirty="0"/>
              <a:t> </a:t>
            </a:r>
            <a:r>
              <a:rPr spc="-5" dirty="0"/>
              <a:t>and</a:t>
            </a:r>
            <a:r>
              <a:rPr spc="-27" dirty="0"/>
              <a:t> </a:t>
            </a:r>
            <a:r>
              <a:rPr spc="-5" dirty="0"/>
              <a:t>actions</a:t>
            </a:r>
          </a:p>
        </p:txBody>
      </p:sp>
      <p:sp>
        <p:nvSpPr>
          <p:cNvPr id="3" name="object 3"/>
          <p:cNvSpPr txBox="1"/>
          <p:nvPr/>
        </p:nvSpPr>
        <p:spPr>
          <a:xfrm>
            <a:off x="464365" y="1114419"/>
            <a:ext cx="3726635" cy="884088"/>
          </a:xfrm>
          <a:prstGeom prst="rect">
            <a:avLst/>
          </a:prstGeom>
        </p:spPr>
        <p:txBody>
          <a:bodyPr vert="horz" wrap="square" lIns="0" tIns="11430" rIns="0" bIns="0" rtlCol="0">
            <a:spAutoFit/>
          </a:bodyPr>
          <a:lstStyle/>
          <a:p>
            <a:pPr marL="11430">
              <a:spcBef>
                <a:spcPts val="90"/>
              </a:spcBef>
            </a:pPr>
            <a:r>
              <a:rPr sz="1890" b="1" spc="-14" dirty="0">
                <a:solidFill>
                  <a:srgbClr val="FF0000"/>
                </a:solidFill>
                <a:latin typeface="Arial"/>
                <a:cs typeface="Arial"/>
              </a:rPr>
              <a:t>Transformations</a:t>
            </a:r>
            <a:r>
              <a:rPr lang="en-US" sz="1890" b="1" spc="-14" dirty="0">
                <a:solidFill>
                  <a:srgbClr val="FF0000"/>
                </a:solidFill>
                <a:latin typeface="Arial"/>
                <a:cs typeface="Arial"/>
              </a:rPr>
              <a:t> - create a new RDD/</a:t>
            </a:r>
            <a:r>
              <a:rPr lang="en-US" sz="1890" b="1" spc="-14" dirty="0" err="1">
                <a:solidFill>
                  <a:srgbClr val="FF0000"/>
                </a:solidFill>
                <a:latin typeface="Arial"/>
                <a:cs typeface="Arial"/>
              </a:rPr>
              <a:t>DataFrame</a:t>
            </a:r>
            <a:r>
              <a:rPr lang="en-US" sz="1890" b="1" spc="-14" dirty="0">
                <a:solidFill>
                  <a:srgbClr val="FF0000"/>
                </a:solidFill>
                <a:latin typeface="Arial"/>
                <a:cs typeface="Arial"/>
              </a:rPr>
              <a:t> without immediately executing</a:t>
            </a:r>
            <a:endParaRPr sz="1890" dirty="0">
              <a:latin typeface="Arial"/>
              <a:cs typeface="Arial"/>
            </a:endParaRPr>
          </a:p>
        </p:txBody>
      </p:sp>
      <p:sp>
        <p:nvSpPr>
          <p:cNvPr id="4" name="object 4"/>
          <p:cNvSpPr txBox="1"/>
          <p:nvPr/>
        </p:nvSpPr>
        <p:spPr>
          <a:xfrm>
            <a:off x="990600" y="2343150"/>
            <a:ext cx="1721930" cy="2061590"/>
          </a:xfrm>
          <a:prstGeom prst="rect">
            <a:avLst/>
          </a:prstGeom>
        </p:spPr>
        <p:txBody>
          <a:bodyPr vert="horz" wrap="square" lIns="0" tIns="59436" rIns="0" bIns="0" rtlCol="0">
            <a:spAutoFit/>
          </a:bodyPr>
          <a:lstStyle/>
          <a:p>
            <a:pPr marL="284607" indent="-273749">
              <a:spcBef>
                <a:spcPts val="468"/>
              </a:spcBef>
              <a:buChar char="▪"/>
              <a:tabLst>
                <a:tab pos="284607" algn="l"/>
                <a:tab pos="285179" algn="l"/>
              </a:tabLst>
            </a:pPr>
            <a:r>
              <a:rPr sz="1890" b="1" spc="-5" dirty="0">
                <a:latin typeface="Arial"/>
                <a:cs typeface="Arial"/>
              </a:rPr>
              <a:t>map</a:t>
            </a:r>
            <a:endParaRPr sz="1890" dirty="0">
              <a:latin typeface="Arial"/>
              <a:cs typeface="Arial"/>
            </a:endParaRPr>
          </a:p>
          <a:p>
            <a:pPr marL="284607" indent="-273749">
              <a:spcBef>
                <a:spcPts val="378"/>
              </a:spcBef>
              <a:buChar char="▪"/>
              <a:tabLst>
                <a:tab pos="284607" algn="l"/>
                <a:tab pos="285179" algn="l"/>
              </a:tabLst>
            </a:pPr>
            <a:r>
              <a:rPr sz="1890" b="1" dirty="0">
                <a:latin typeface="Arial"/>
                <a:cs typeface="Arial"/>
              </a:rPr>
              <a:t>filter</a:t>
            </a:r>
            <a:endParaRPr sz="1890" dirty="0">
              <a:latin typeface="Arial"/>
              <a:cs typeface="Arial"/>
            </a:endParaRPr>
          </a:p>
          <a:p>
            <a:pPr marL="284607" indent="-273749">
              <a:spcBef>
                <a:spcPts val="378"/>
              </a:spcBef>
              <a:buChar char="▪"/>
              <a:tabLst>
                <a:tab pos="284607" algn="l"/>
                <a:tab pos="285179" algn="l"/>
              </a:tabLst>
            </a:pPr>
            <a:r>
              <a:rPr sz="1890" b="1" spc="-5" dirty="0">
                <a:latin typeface="Arial"/>
                <a:cs typeface="Arial"/>
              </a:rPr>
              <a:t>sample</a:t>
            </a:r>
            <a:endParaRPr sz="1890" dirty="0">
              <a:latin typeface="Arial"/>
              <a:cs typeface="Arial"/>
            </a:endParaRPr>
          </a:p>
          <a:p>
            <a:pPr marL="284607" indent="-273749">
              <a:spcBef>
                <a:spcPts val="378"/>
              </a:spcBef>
              <a:buChar char="▪"/>
              <a:tabLst>
                <a:tab pos="284607" algn="l"/>
                <a:tab pos="285179" algn="l"/>
              </a:tabLst>
            </a:pPr>
            <a:r>
              <a:rPr sz="1890" b="1" spc="-5" dirty="0">
                <a:latin typeface="Arial"/>
                <a:cs typeface="Arial"/>
              </a:rPr>
              <a:t>intersection</a:t>
            </a:r>
            <a:endParaRPr sz="1890" dirty="0">
              <a:latin typeface="Arial"/>
              <a:cs typeface="Arial"/>
            </a:endParaRPr>
          </a:p>
          <a:p>
            <a:pPr marL="284607" indent="-273749">
              <a:spcBef>
                <a:spcPts val="378"/>
              </a:spcBef>
              <a:buChar char="▪"/>
              <a:tabLst>
                <a:tab pos="284607" algn="l"/>
                <a:tab pos="285179" algn="l"/>
              </a:tabLst>
            </a:pPr>
            <a:r>
              <a:rPr sz="1890" b="1" spc="-5" dirty="0" err="1">
                <a:latin typeface="Arial"/>
                <a:cs typeface="Arial"/>
              </a:rPr>
              <a:t>groupByKey</a:t>
            </a:r>
            <a:endParaRPr lang="en-US" sz="1890" b="1" spc="-5" dirty="0">
              <a:latin typeface="Arial"/>
              <a:cs typeface="Arial"/>
            </a:endParaRPr>
          </a:p>
          <a:p>
            <a:pPr marL="284607" indent="-273749">
              <a:spcBef>
                <a:spcPts val="378"/>
              </a:spcBef>
              <a:buChar char="▪"/>
              <a:tabLst>
                <a:tab pos="284607" algn="l"/>
                <a:tab pos="285179" algn="l"/>
              </a:tabLst>
            </a:pPr>
            <a:r>
              <a:rPr lang="en-US" sz="1890" b="1" spc="-5" dirty="0">
                <a:latin typeface="Arial"/>
                <a:cs typeface="Arial"/>
              </a:rPr>
              <a:t>join</a:t>
            </a:r>
            <a:endParaRPr sz="1890" dirty="0">
              <a:latin typeface="Arial"/>
              <a:cs typeface="Arial"/>
            </a:endParaRPr>
          </a:p>
        </p:txBody>
      </p:sp>
      <p:sp>
        <p:nvSpPr>
          <p:cNvPr id="5" name="object 5"/>
          <p:cNvSpPr txBox="1"/>
          <p:nvPr/>
        </p:nvSpPr>
        <p:spPr>
          <a:xfrm>
            <a:off x="4664617" y="1114419"/>
            <a:ext cx="3581591" cy="593239"/>
          </a:xfrm>
          <a:prstGeom prst="rect">
            <a:avLst/>
          </a:prstGeom>
        </p:spPr>
        <p:txBody>
          <a:bodyPr vert="horz" wrap="square" lIns="0" tIns="11430" rIns="0" bIns="0" rtlCol="0">
            <a:spAutoFit/>
          </a:bodyPr>
          <a:lstStyle/>
          <a:p>
            <a:pPr marL="11430">
              <a:spcBef>
                <a:spcPts val="90"/>
              </a:spcBef>
            </a:pPr>
            <a:r>
              <a:rPr sz="1890" b="1" spc="-5" dirty="0">
                <a:solidFill>
                  <a:srgbClr val="FF0000"/>
                </a:solidFill>
                <a:latin typeface="Arial"/>
                <a:cs typeface="Arial"/>
              </a:rPr>
              <a:t>Actions</a:t>
            </a:r>
            <a:r>
              <a:rPr lang="en-US" sz="1890" b="1" spc="-5" dirty="0">
                <a:solidFill>
                  <a:srgbClr val="FF0000"/>
                </a:solidFill>
                <a:latin typeface="Arial"/>
                <a:cs typeface="Arial"/>
              </a:rPr>
              <a:t> – trigger execution and returns result </a:t>
            </a:r>
            <a:endParaRPr sz="1890" dirty="0">
              <a:latin typeface="Arial"/>
              <a:cs typeface="Arial"/>
            </a:endParaRPr>
          </a:p>
        </p:txBody>
      </p:sp>
      <p:sp>
        <p:nvSpPr>
          <p:cNvPr id="6" name="object 6"/>
          <p:cNvSpPr txBox="1"/>
          <p:nvPr/>
        </p:nvSpPr>
        <p:spPr>
          <a:xfrm>
            <a:off x="4800600" y="2343150"/>
            <a:ext cx="1950530" cy="2061590"/>
          </a:xfrm>
          <a:prstGeom prst="rect">
            <a:avLst/>
          </a:prstGeom>
        </p:spPr>
        <p:txBody>
          <a:bodyPr vert="horz" wrap="square" lIns="0" tIns="59436" rIns="0" bIns="0" rtlCol="0">
            <a:spAutoFit/>
          </a:bodyPr>
          <a:lstStyle/>
          <a:p>
            <a:pPr marL="284607" indent="-273749">
              <a:spcBef>
                <a:spcPts val="468"/>
              </a:spcBef>
              <a:buChar char="▪"/>
              <a:tabLst>
                <a:tab pos="284607" algn="l"/>
                <a:tab pos="285179" algn="l"/>
              </a:tabLst>
            </a:pPr>
            <a:r>
              <a:rPr sz="1890" b="1" spc="-5" dirty="0">
                <a:latin typeface="Arial"/>
                <a:cs typeface="Arial"/>
              </a:rPr>
              <a:t>reduce()</a:t>
            </a:r>
            <a:endParaRPr sz="1890" dirty="0">
              <a:latin typeface="Arial"/>
              <a:cs typeface="Arial"/>
            </a:endParaRPr>
          </a:p>
          <a:p>
            <a:pPr marL="284607" indent="-273749">
              <a:spcBef>
                <a:spcPts val="378"/>
              </a:spcBef>
              <a:buChar char="▪"/>
              <a:tabLst>
                <a:tab pos="284607" algn="l"/>
                <a:tab pos="285179" algn="l"/>
              </a:tabLst>
            </a:pPr>
            <a:r>
              <a:rPr sz="1890" b="1" spc="-5" dirty="0">
                <a:latin typeface="Arial"/>
                <a:cs typeface="Arial"/>
              </a:rPr>
              <a:t>collect()</a:t>
            </a:r>
            <a:endParaRPr sz="1890" dirty="0">
              <a:latin typeface="Arial"/>
              <a:cs typeface="Arial"/>
            </a:endParaRPr>
          </a:p>
          <a:p>
            <a:pPr marL="284607" indent="-273749">
              <a:spcBef>
                <a:spcPts val="378"/>
              </a:spcBef>
              <a:buChar char="▪"/>
              <a:tabLst>
                <a:tab pos="284607" algn="l"/>
                <a:tab pos="285179" algn="l"/>
              </a:tabLst>
            </a:pPr>
            <a:r>
              <a:rPr sz="1890" b="1" spc="-5" dirty="0">
                <a:latin typeface="Arial"/>
                <a:cs typeface="Arial"/>
              </a:rPr>
              <a:t>count()</a:t>
            </a:r>
            <a:endParaRPr lang="en-US" sz="1890" b="1" spc="-5" dirty="0">
              <a:latin typeface="Arial"/>
              <a:cs typeface="Arial"/>
            </a:endParaRPr>
          </a:p>
          <a:p>
            <a:pPr marL="284607" indent="-273749">
              <a:spcBef>
                <a:spcPts val="378"/>
              </a:spcBef>
              <a:buChar char="▪"/>
              <a:tabLst>
                <a:tab pos="284607" algn="l"/>
                <a:tab pos="285179" algn="l"/>
              </a:tabLst>
            </a:pPr>
            <a:r>
              <a:rPr lang="en-US" sz="1890" b="1" spc="-5" dirty="0">
                <a:latin typeface="Arial"/>
                <a:cs typeface="Arial"/>
              </a:rPr>
              <a:t>write()</a:t>
            </a:r>
          </a:p>
          <a:p>
            <a:pPr marL="284607" indent="-273749">
              <a:spcBef>
                <a:spcPts val="378"/>
              </a:spcBef>
              <a:buChar char="▪"/>
              <a:tabLst>
                <a:tab pos="284607" algn="l"/>
                <a:tab pos="285179" algn="l"/>
              </a:tabLst>
            </a:pPr>
            <a:r>
              <a:rPr lang="en-US" sz="1890" b="1" spc="-5" dirty="0">
                <a:latin typeface="Arial"/>
                <a:cs typeface="Arial"/>
              </a:rPr>
              <a:t>take()</a:t>
            </a:r>
            <a:endParaRPr sz="1890" dirty="0">
              <a:latin typeface="Arial"/>
              <a:cs typeface="Arial"/>
            </a:endParaRPr>
          </a:p>
          <a:p>
            <a:pPr marL="284607" indent="-273749">
              <a:spcBef>
                <a:spcPts val="378"/>
              </a:spcBef>
              <a:buChar char="▪"/>
              <a:tabLst>
                <a:tab pos="284607" algn="l"/>
                <a:tab pos="285179" algn="l"/>
              </a:tabLst>
            </a:pPr>
            <a:r>
              <a:rPr sz="1890" b="1" spc="-5" dirty="0">
                <a:latin typeface="Arial"/>
                <a:cs typeface="Arial"/>
              </a:rPr>
              <a:t>saveAs…File()</a:t>
            </a:r>
            <a:endParaRPr sz="1890" dirty="0">
              <a:latin typeface="Arial"/>
              <a:cs typeface="Arial"/>
            </a:endParaRPr>
          </a:p>
        </p:txBody>
      </p:sp>
      <p:sp>
        <p:nvSpPr>
          <p:cNvPr id="7" name="object 2">
            <a:extLst>
              <a:ext uri="{FF2B5EF4-FFF2-40B4-BE49-F238E27FC236}">
                <a16:creationId xmlns:a16="http://schemas.microsoft.com/office/drawing/2014/main" id="{326406AD-B8DF-853D-7615-632C3E906B78}"/>
              </a:ext>
            </a:extLst>
          </p:cNvPr>
          <p:cNvSpPr txBox="1">
            <a:spLocks/>
          </p:cNvSpPr>
          <p:nvPr/>
        </p:nvSpPr>
        <p:spPr>
          <a:xfrm>
            <a:off x="304800" y="206919"/>
            <a:ext cx="6345392"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185" dirty="0">
                <a:solidFill>
                  <a:srgbClr val="202729"/>
                </a:solidFill>
              </a:rPr>
              <a:t>RDD</a:t>
            </a:r>
            <a:r>
              <a:rPr lang="en-US" sz="2800" kern="0" spc="-200" dirty="0">
                <a:solidFill>
                  <a:srgbClr val="202729"/>
                </a:solidFill>
              </a:rPr>
              <a:t> </a:t>
            </a:r>
            <a:r>
              <a:rPr lang="en-US" sz="2800" kern="0" dirty="0">
                <a:solidFill>
                  <a:srgbClr val="202729"/>
                </a:solidFill>
              </a:rPr>
              <a:t>Transformations and Actions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33350"/>
            <a:ext cx="4759325" cy="452120"/>
          </a:xfrm>
          <a:prstGeom prst="rect">
            <a:avLst/>
          </a:prstGeom>
        </p:spPr>
        <p:txBody>
          <a:bodyPr vert="horz" wrap="square" lIns="0" tIns="12700" rIns="0" bIns="0" rtlCol="0">
            <a:spAutoFit/>
          </a:bodyPr>
          <a:lstStyle/>
          <a:p>
            <a:pPr marL="12700">
              <a:lnSpc>
                <a:spcPct val="100000"/>
              </a:lnSpc>
              <a:spcBef>
                <a:spcPts val="100"/>
              </a:spcBef>
            </a:pPr>
            <a:r>
              <a:rPr sz="2800" spc="40" dirty="0">
                <a:solidFill>
                  <a:srgbClr val="202729"/>
                </a:solidFill>
              </a:rPr>
              <a:t>Spark</a:t>
            </a:r>
            <a:r>
              <a:rPr sz="2800" spc="-155" dirty="0">
                <a:solidFill>
                  <a:srgbClr val="202729"/>
                </a:solidFill>
              </a:rPr>
              <a:t> </a:t>
            </a:r>
            <a:r>
              <a:rPr sz="2800" spc="-40" dirty="0">
                <a:solidFill>
                  <a:srgbClr val="202729"/>
                </a:solidFill>
              </a:rPr>
              <a:t>Application</a:t>
            </a:r>
            <a:r>
              <a:rPr sz="2800" spc="-155" dirty="0">
                <a:solidFill>
                  <a:srgbClr val="202729"/>
                </a:solidFill>
              </a:rPr>
              <a:t> </a:t>
            </a:r>
            <a:r>
              <a:rPr lang="en-US" sz="2800" spc="-65" dirty="0">
                <a:solidFill>
                  <a:srgbClr val="202729"/>
                </a:solidFill>
              </a:rPr>
              <a:t>Components</a:t>
            </a:r>
            <a:endParaRPr sz="2800" dirty="0"/>
          </a:p>
        </p:txBody>
      </p:sp>
      <p:sp>
        <p:nvSpPr>
          <p:cNvPr id="3" name="object 3"/>
          <p:cNvSpPr txBox="1"/>
          <p:nvPr/>
        </p:nvSpPr>
        <p:spPr>
          <a:xfrm>
            <a:off x="381000" y="621128"/>
            <a:ext cx="8534400" cy="4155625"/>
          </a:xfrm>
          <a:prstGeom prst="rect">
            <a:avLst/>
          </a:prstGeom>
        </p:spPr>
        <p:txBody>
          <a:bodyPr vert="horz" wrap="square" lIns="0" tIns="74295" rIns="0" bIns="0" rtlCol="0">
            <a:spAutoFit/>
          </a:bodyPr>
          <a:lstStyle/>
          <a:p>
            <a:pPr marL="394335" indent="-382270">
              <a:lnSpc>
                <a:spcPct val="100000"/>
              </a:lnSpc>
              <a:spcBef>
                <a:spcPts val="585"/>
              </a:spcBef>
              <a:buFont typeface="Arial"/>
              <a:buChar char="●"/>
              <a:tabLst>
                <a:tab pos="394335" algn="l"/>
                <a:tab pos="394970" algn="l"/>
              </a:tabLst>
            </a:pPr>
            <a:r>
              <a:rPr sz="2000" b="1" spc="-25" dirty="0">
                <a:solidFill>
                  <a:srgbClr val="616161"/>
                </a:solidFill>
                <a:latin typeface="Trebuchet MS"/>
                <a:cs typeface="Trebuchet MS"/>
              </a:rPr>
              <a:t>Job</a:t>
            </a:r>
            <a:endParaRPr sz="2000" dirty="0">
              <a:latin typeface="Trebuchet MS"/>
              <a:cs typeface="Trebuchet MS"/>
            </a:endParaRPr>
          </a:p>
          <a:p>
            <a:pPr marL="851535" lvl="1" indent="-351790">
              <a:lnSpc>
                <a:spcPct val="100000"/>
              </a:lnSpc>
              <a:spcBef>
                <a:spcPts val="395"/>
              </a:spcBef>
              <a:buFont typeface="Arial MT"/>
              <a:buChar char="○"/>
              <a:tabLst>
                <a:tab pos="851535" algn="l"/>
                <a:tab pos="852169" algn="l"/>
              </a:tabLst>
            </a:pPr>
            <a:r>
              <a:rPr sz="1600" spc="55" dirty="0">
                <a:solidFill>
                  <a:srgbClr val="616161"/>
                </a:solidFill>
                <a:latin typeface="Trebuchet MS"/>
                <a:cs typeface="Trebuchet MS"/>
              </a:rPr>
              <a:t>An</a:t>
            </a:r>
            <a:r>
              <a:rPr sz="1600" spc="-70" dirty="0">
                <a:solidFill>
                  <a:srgbClr val="616161"/>
                </a:solidFill>
                <a:latin typeface="Trebuchet MS"/>
                <a:cs typeface="Trebuchet MS"/>
              </a:rPr>
              <a:t> </a:t>
            </a:r>
            <a:r>
              <a:rPr sz="1600" spc="-35" dirty="0">
                <a:solidFill>
                  <a:srgbClr val="616161"/>
                </a:solidFill>
                <a:latin typeface="Trebuchet MS"/>
                <a:cs typeface="Trebuchet MS"/>
              </a:rPr>
              <a:t>application</a:t>
            </a:r>
            <a:r>
              <a:rPr sz="1600" spc="-70" dirty="0">
                <a:solidFill>
                  <a:srgbClr val="616161"/>
                </a:solidFill>
                <a:latin typeface="Trebuchet MS"/>
                <a:cs typeface="Trebuchet MS"/>
              </a:rPr>
              <a:t> </a:t>
            </a:r>
            <a:r>
              <a:rPr sz="1600" dirty="0">
                <a:solidFill>
                  <a:srgbClr val="616161"/>
                </a:solidFill>
                <a:latin typeface="Trebuchet MS"/>
                <a:cs typeface="Trebuchet MS"/>
              </a:rPr>
              <a:t>can</a:t>
            </a:r>
            <a:r>
              <a:rPr sz="1600" spc="-70" dirty="0">
                <a:solidFill>
                  <a:srgbClr val="616161"/>
                </a:solidFill>
                <a:latin typeface="Trebuchet MS"/>
                <a:cs typeface="Trebuchet MS"/>
              </a:rPr>
              <a:t> </a:t>
            </a:r>
            <a:r>
              <a:rPr sz="1600" spc="10" dirty="0">
                <a:solidFill>
                  <a:srgbClr val="616161"/>
                </a:solidFill>
                <a:latin typeface="Trebuchet MS"/>
                <a:cs typeface="Trebuchet MS"/>
              </a:rPr>
              <a:t>have</a:t>
            </a:r>
            <a:r>
              <a:rPr sz="1600" spc="-70" dirty="0">
                <a:solidFill>
                  <a:srgbClr val="616161"/>
                </a:solidFill>
                <a:latin typeface="Trebuchet MS"/>
                <a:cs typeface="Trebuchet MS"/>
              </a:rPr>
              <a:t> </a:t>
            </a:r>
            <a:r>
              <a:rPr sz="1600" spc="-60" dirty="0">
                <a:solidFill>
                  <a:srgbClr val="616161"/>
                </a:solidFill>
                <a:latin typeface="Trebuchet MS"/>
                <a:cs typeface="Trebuchet MS"/>
              </a:rPr>
              <a:t>multiple</a:t>
            </a:r>
            <a:r>
              <a:rPr sz="1600" spc="-70" dirty="0">
                <a:solidFill>
                  <a:srgbClr val="616161"/>
                </a:solidFill>
                <a:latin typeface="Trebuchet MS"/>
                <a:cs typeface="Trebuchet MS"/>
              </a:rPr>
              <a:t> </a:t>
            </a:r>
            <a:r>
              <a:rPr sz="1600" spc="-15" dirty="0">
                <a:solidFill>
                  <a:srgbClr val="616161"/>
                </a:solidFill>
                <a:latin typeface="Trebuchet MS"/>
                <a:cs typeface="Trebuchet MS"/>
              </a:rPr>
              <a:t>jobs</a:t>
            </a:r>
            <a:endParaRPr lang="en-US" sz="1600" spc="-15" dirty="0">
              <a:solidFill>
                <a:srgbClr val="616161"/>
              </a:solidFill>
              <a:latin typeface="Trebuchet MS"/>
              <a:cs typeface="Trebuchet MS"/>
            </a:endParaRPr>
          </a:p>
          <a:p>
            <a:pPr marL="851535" lvl="1" indent="-351790">
              <a:lnSpc>
                <a:spcPct val="100000"/>
              </a:lnSpc>
              <a:spcBef>
                <a:spcPts val="395"/>
              </a:spcBef>
              <a:buFont typeface="Arial MT"/>
              <a:buChar char="○"/>
              <a:tabLst>
                <a:tab pos="851535" algn="l"/>
                <a:tab pos="852169" algn="l"/>
              </a:tabLst>
            </a:pPr>
            <a:r>
              <a:rPr lang="en-US" sz="1600" spc="-10" dirty="0">
                <a:solidFill>
                  <a:srgbClr val="616161"/>
                </a:solidFill>
                <a:latin typeface="Trebuchet MS"/>
                <a:cs typeface="Trebuchet MS"/>
              </a:rPr>
              <a:t>a complete computation triggered </a:t>
            </a:r>
            <a:r>
              <a:rPr sz="1600" spc="10" dirty="0">
                <a:solidFill>
                  <a:srgbClr val="616161"/>
                </a:solidFill>
                <a:latin typeface="Trebuchet MS"/>
                <a:cs typeface="Trebuchet MS"/>
              </a:rPr>
              <a:t>by</a:t>
            </a:r>
            <a:r>
              <a:rPr sz="1600" spc="-70" dirty="0">
                <a:solidFill>
                  <a:srgbClr val="616161"/>
                </a:solidFill>
                <a:latin typeface="Trebuchet MS"/>
                <a:cs typeface="Trebuchet MS"/>
              </a:rPr>
              <a:t> </a:t>
            </a:r>
            <a:r>
              <a:rPr sz="1600" dirty="0">
                <a:solidFill>
                  <a:srgbClr val="616161"/>
                </a:solidFill>
                <a:latin typeface="Trebuchet MS"/>
                <a:cs typeface="Trebuchet MS"/>
              </a:rPr>
              <a:t>a</a:t>
            </a:r>
            <a:r>
              <a:rPr sz="1600" spc="-70" dirty="0">
                <a:solidFill>
                  <a:srgbClr val="616161"/>
                </a:solidFill>
                <a:latin typeface="Trebuchet MS"/>
                <a:cs typeface="Trebuchet MS"/>
              </a:rPr>
              <a:t> </a:t>
            </a:r>
            <a:r>
              <a:rPr sz="1600" spc="105" dirty="0">
                <a:solidFill>
                  <a:srgbClr val="616161"/>
                </a:solidFill>
                <a:latin typeface="Trebuchet MS"/>
                <a:cs typeface="Trebuchet MS"/>
              </a:rPr>
              <a:t>RDD</a:t>
            </a:r>
            <a:r>
              <a:rPr sz="1600" spc="-70" dirty="0">
                <a:solidFill>
                  <a:srgbClr val="616161"/>
                </a:solidFill>
                <a:latin typeface="Trebuchet MS"/>
                <a:cs typeface="Trebuchet MS"/>
              </a:rPr>
              <a:t> </a:t>
            </a:r>
            <a:r>
              <a:rPr sz="1600" spc="-35" dirty="0">
                <a:solidFill>
                  <a:srgbClr val="FF0000"/>
                </a:solidFill>
                <a:latin typeface="Trebuchet MS"/>
                <a:cs typeface="Trebuchet MS"/>
              </a:rPr>
              <a:t>action</a:t>
            </a:r>
            <a:r>
              <a:rPr sz="1600" spc="-70" dirty="0">
                <a:solidFill>
                  <a:srgbClr val="616161"/>
                </a:solidFill>
                <a:latin typeface="Trebuchet MS"/>
                <a:cs typeface="Trebuchet MS"/>
              </a:rPr>
              <a:t> </a:t>
            </a:r>
            <a:r>
              <a:rPr sz="1600" spc="-100" dirty="0">
                <a:solidFill>
                  <a:srgbClr val="616161"/>
                </a:solidFill>
                <a:latin typeface="Trebuchet MS"/>
                <a:cs typeface="Trebuchet MS"/>
              </a:rPr>
              <a:t>(e.g.</a:t>
            </a:r>
            <a:r>
              <a:rPr sz="1600" spc="-70" dirty="0">
                <a:solidFill>
                  <a:srgbClr val="616161"/>
                </a:solidFill>
                <a:latin typeface="Trebuchet MS"/>
                <a:cs typeface="Trebuchet MS"/>
              </a:rPr>
              <a:t> </a:t>
            </a:r>
            <a:r>
              <a:rPr sz="1600" spc="-65" dirty="0">
                <a:solidFill>
                  <a:srgbClr val="616161"/>
                </a:solidFill>
                <a:latin typeface="Trebuchet MS"/>
                <a:cs typeface="Trebuchet MS"/>
              </a:rPr>
              <a:t>collect</a:t>
            </a:r>
            <a:r>
              <a:rPr lang="en-US" sz="1600" spc="-65" dirty="0">
                <a:solidFill>
                  <a:srgbClr val="616161"/>
                </a:solidFill>
                <a:latin typeface="Trebuchet MS"/>
                <a:cs typeface="Trebuchet MS"/>
              </a:rPr>
              <a:t>, count, show</a:t>
            </a:r>
            <a:r>
              <a:rPr sz="1600" spc="-65" dirty="0">
                <a:solidFill>
                  <a:srgbClr val="616161"/>
                </a:solidFill>
                <a:latin typeface="Trebuchet MS"/>
                <a:cs typeface="Trebuchet MS"/>
              </a:rPr>
              <a:t>)</a:t>
            </a:r>
            <a:endParaRPr sz="1600" dirty="0">
              <a:latin typeface="Trebuchet MS"/>
              <a:cs typeface="Trebuchet MS"/>
            </a:endParaRPr>
          </a:p>
          <a:p>
            <a:pPr marL="394335" indent="-382270">
              <a:lnSpc>
                <a:spcPct val="100000"/>
              </a:lnSpc>
              <a:spcBef>
                <a:spcPts val="235"/>
              </a:spcBef>
              <a:buFont typeface="Arial"/>
              <a:buChar char="●"/>
              <a:tabLst>
                <a:tab pos="394335" algn="l"/>
                <a:tab pos="394970" algn="l"/>
              </a:tabLst>
            </a:pPr>
            <a:r>
              <a:rPr sz="2000" b="1" spc="40" dirty="0">
                <a:solidFill>
                  <a:srgbClr val="616161"/>
                </a:solidFill>
                <a:latin typeface="Trebuchet MS"/>
                <a:cs typeface="Trebuchet MS"/>
              </a:rPr>
              <a:t>Stage</a:t>
            </a:r>
            <a:endParaRPr sz="2000" dirty="0">
              <a:latin typeface="Trebuchet MS"/>
              <a:cs typeface="Trebuchet MS"/>
            </a:endParaRPr>
          </a:p>
          <a:p>
            <a:pPr marL="851535" lvl="1" indent="-351790">
              <a:lnSpc>
                <a:spcPct val="100000"/>
              </a:lnSpc>
              <a:spcBef>
                <a:spcPts val="395"/>
              </a:spcBef>
              <a:buFont typeface="Arial MT"/>
              <a:buChar char="○"/>
              <a:tabLst>
                <a:tab pos="851535" algn="l"/>
                <a:tab pos="852169" algn="l"/>
              </a:tabLst>
            </a:pPr>
            <a:r>
              <a:rPr sz="1600" spc="105" dirty="0">
                <a:solidFill>
                  <a:srgbClr val="616161"/>
                </a:solidFill>
                <a:latin typeface="Trebuchet MS"/>
                <a:cs typeface="Trebuchet MS"/>
              </a:rPr>
              <a:t>A</a:t>
            </a:r>
            <a:r>
              <a:rPr sz="1600" spc="-70" dirty="0">
                <a:solidFill>
                  <a:srgbClr val="616161"/>
                </a:solidFill>
                <a:latin typeface="Trebuchet MS"/>
                <a:cs typeface="Trebuchet MS"/>
              </a:rPr>
              <a:t> </a:t>
            </a:r>
            <a:r>
              <a:rPr sz="1600" spc="20" dirty="0">
                <a:solidFill>
                  <a:srgbClr val="616161"/>
                </a:solidFill>
                <a:latin typeface="Trebuchet MS"/>
                <a:cs typeface="Trebuchet MS"/>
              </a:rPr>
              <a:t>group</a:t>
            </a:r>
            <a:r>
              <a:rPr sz="1600" spc="-70" dirty="0">
                <a:solidFill>
                  <a:srgbClr val="616161"/>
                </a:solidFill>
                <a:latin typeface="Trebuchet MS"/>
                <a:cs typeface="Trebuchet MS"/>
              </a:rPr>
              <a:t> </a:t>
            </a:r>
            <a:r>
              <a:rPr sz="1600" spc="-45" dirty="0">
                <a:solidFill>
                  <a:srgbClr val="616161"/>
                </a:solidFill>
                <a:latin typeface="Trebuchet MS"/>
                <a:cs typeface="Trebuchet MS"/>
              </a:rPr>
              <a:t>of</a:t>
            </a:r>
            <a:r>
              <a:rPr sz="1600" spc="-70" dirty="0">
                <a:solidFill>
                  <a:srgbClr val="616161"/>
                </a:solidFill>
                <a:latin typeface="Trebuchet MS"/>
                <a:cs typeface="Trebuchet MS"/>
              </a:rPr>
              <a:t> </a:t>
            </a:r>
            <a:r>
              <a:rPr sz="1600" spc="-50" dirty="0">
                <a:solidFill>
                  <a:srgbClr val="616161"/>
                </a:solidFill>
                <a:latin typeface="Trebuchet MS"/>
                <a:cs typeface="Trebuchet MS"/>
              </a:rPr>
              <a:t>potentially</a:t>
            </a:r>
            <a:r>
              <a:rPr sz="1600" spc="-70" dirty="0">
                <a:solidFill>
                  <a:srgbClr val="616161"/>
                </a:solidFill>
                <a:latin typeface="Trebuchet MS"/>
                <a:cs typeface="Trebuchet MS"/>
              </a:rPr>
              <a:t> </a:t>
            </a:r>
            <a:r>
              <a:rPr sz="1600" spc="-10" dirty="0">
                <a:solidFill>
                  <a:srgbClr val="616161"/>
                </a:solidFill>
                <a:latin typeface="Trebuchet MS"/>
                <a:cs typeface="Trebuchet MS"/>
              </a:rPr>
              <a:t>many</a:t>
            </a:r>
            <a:r>
              <a:rPr sz="1600" spc="-70" dirty="0">
                <a:solidFill>
                  <a:srgbClr val="616161"/>
                </a:solidFill>
                <a:latin typeface="Trebuchet MS"/>
                <a:cs typeface="Trebuchet MS"/>
              </a:rPr>
              <a:t> </a:t>
            </a:r>
            <a:r>
              <a:rPr sz="1600" spc="-10" dirty="0">
                <a:solidFill>
                  <a:srgbClr val="616161"/>
                </a:solidFill>
                <a:latin typeface="Trebuchet MS"/>
                <a:cs typeface="Trebuchet MS"/>
              </a:rPr>
              <a:t>operations</a:t>
            </a:r>
            <a:r>
              <a:rPr lang="en-US" sz="1600" spc="-10" dirty="0">
                <a:solidFill>
                  <a:srgbClr val="616161"/>
                </a:solidFill>
                <a:latin typeface="Trebuchet MS"/>
                <a:cs typeface="Trebuchet MS"/>
              </a:rPr>
              <a:t>, e.g. </a:t>
            </a:r>
            <a:r>
              <a:rPr lang="en-US" sz="1600" spc="-10" dirty="0">
                <a:solidFill>
                  <a:srgbClr val="FF0000"/>
                </a:solidFill>
                <a:latin typeface="Trebuchet MS"/>
                <a:cs typeface="Trebuchet MS"/>
              </a:rPr>
              <a:t>a set of tasks that can be executed without shuffle dependencies</a:t>
            </a:r>
            <a:r>
              <a:rPr lang="en-US" sz="1600" spc="-10" dirty="0">
                <a:solidFill>
                  <a:srgbClr val="616161"/>
                </a:solidFill>
                <a:latin typeface="Trebuchet MS"/>
                <a:cs typeface="Trebuchet MS"/>
              </a:rPr>
              <a:t>.</a:t>
            </a:r>
            <a:endParaRPr sz="1600" dirty="0">
              <a:latin typeface="Trebuchet MS"/>
              <a:cs typeface="Trebuchet MS"/>
            </a:endParaRPr>
          </a:p>
          <a:p>
            <a:pPr marL="851535" lvl="1" indent="-351790">
              <a:lnSpc>
                <a:spcPct val="100000"/>
              </a:lnSpc>
              <a:spcBef>
                <a:spcPts val="254"/>
              </a:spcBef>
              <a:buFont typeface="Arial MT"/>
              <a:buChar char="○"/>
              <a:tabLst>
                <a:tab pos="851535" algn="l"/>
                <a:tab pos="852169" algn="l"/>
              </a:tabLst>
            </a:pPr>
            <a:r>
              <a:rPr sz="1600" spc="40" dirty="0">
                <a:solidFill>
                  <a:srgbClr val="616161"/>
                </a:solidFill>
                <a:latin typeface="Trebuchet MS"/>
                <a:cs typeface="Trebuchet MS"/>
              </a:rPr>
              <a:t>Many</a:t>
            </a:r>
            <a:r>
              <a:rPr sz="1600" spc="-75" dirty="0">
                <a:solidFill>
                  <a:srgbClr val="616161"/>
                </a:solidFill>
                <a:latin typeface="Trebuchet MS"/>
                <a:cs typeface="Trebuchet MS"/>
              </a:rPr>
              <a:t> </a:t>
            </a:r>
            <a:r>
              <a:rPr sz="1600" spc="-10" dirty="0">
                <a:solidFill>
                  <a:srgbClr val="616161"/>
                </a:solidFill>
                <a:latin typeface="Trebuchet MS"/>
                <a:cs typeface="Trebuchet MS"/>
              </a:rPr>
              <a:t>executors</a:t>
            </a:r>
            <a:r>
              <a:rPr sz="1600" spc="-75" dirty="0">
                <a:solidFill>
                  <a:srgbClr val="616161"/>
                </a:solidFill>
                <a:latin typeface="Trebuchet MS"/>
                <a:cs typeface="Trebuchet MS"/>
              </a:rPr>
              <a:t> </a:t>
            </a:r>
            <a:r>
              <a:rPr sz="1600" spc="-10" dirty="0">
                <a:solidFill>
                  <a:srgbClr val="616161"/>
                </a:solidFill>
                <a:latin typeface="Trebuchet MS"/>
                <a:cs typeface="Trebuchet MS"/>
              </a:rPr>
              <a:t>work</a:t>
            </a:r>
            <a:r>
              <a:rPr sz="1600" spc="-70" dirty="0">
                <a:solidFill>
                  <a:srgbClr val="616161"/>
                </a:solidFill>
                <a:latin typeface="Trebuchet MS"/>
                <a:cs typeface="Trebuchet MS"/>
              </a:rPr>
              <a:t> </a:t>
            </a:r>
            <a:r>
              <a:rPr sz="1600" spc="30" dirty="0">
                <a:solidFill>
                  <a:srgbClr val="616161"/>
                </a:solidFill>
                <a:latin typeface="Trebuchet MS"/>
                <a:cs typeface="Trebuchet MS"/>
              </a:rPr>
              <a:t>on</a:t>
            </a:r>
            <a:r>
              <a:rPr sz="1600" spc="-75" dirty="0">
                <a:solidFill>
                  <a:srgbClr val="616161"/>
                </a:solidFill>
                <a:latin typeface="Trebuchet MS"/>
                <a:cs typeface="Trebuchet MS"/>
              </a:rPr>
              <a:t> </a:t>
            </a:r>
            <a:r>
              <a:rPr sz="1600" spc="5" dirty="0">
                <a:solidFill>
                  <a:srgbClr val="616161"/>
                </a:solidFill>
                <a:latin typeface="Trebuchet MS"/>
                <a:cs typeface="Trebuchet MS"/>
              </a:rPr>
              <a:t>tasks</a:t>
            </a:r>
            <a:r>
              <a:rPr sz="1600" spc="-70" dirty="0">
                <a:solidFill>
                  <a:srgbClr val="616161"/>
                </a:solidFill>
                <a:latin typeface="Trebuchet MS"/>
                <a:cs typeface="Trebuchet MS"/>
              </a:rPr>
              <a:t> </a:t>
            </a:r>
            <a:r>
              <a:rPr sz="1600" spc="-45" dirty="0">
                <a:solidFill>
                  <a:srgbClr val="616161"/>
                </a:solidFill>
                <a:latin typeface="Trebuchet MS"/>
                <a:cs typeface="Trebuchet MS"/>
              </a:rPr>
              <a:t>in</a:t>
            </a:r>
            <a:r>
              <a:rPr sz="1600" spc="-75" dirty="0">
                <a:solidFill>
                  <a:srgbClr val="616161"/>
                </a:solidFill>
                <a:latin typeface="Trebuchet MS"/>
                <a:cs typeface="Trebuchet MS"/>
              </a:rPr>
              <a:t> </a:t>
            </a:r>
            <a:r>
              <a:rPr sz="1600" dirty="0">
                <a:solidFill>
                  <a:srgbClr val="616161"/>
                </a:solidFill>
                <a:latin typeface="Trebuchet MS"/>
                <a:cs typeface="Trebuchet MS"/>
              </a:rPr>
              <a:t>a</a:t>
            </a:r>
            <a:r>
              <a:rPr sz="1600" spc="-75" dirty="0">
                <a:solidFill>
                  <a:srgbClr val="616161"/>
                </a:solidFill>
                <a:latin typeface="Trebuchet MS"/>
                <a:cs typeface="Trebuchet MS"/>
              </a:rPr>
              <a:t> </a:t>
            </a:r>
            <a:r>
              <a:rPr sz="1600" spc="5" dirty="0">
                <a:solidFill>
                  <a:srgbClr val="616161"/>
                </a:solidFill>
                <a:latin typeface="Trebuchet MS"/>
                <a:cs typeface="Trebuchet MS"/>
              </a:rPr>
              <a:t>single</a:t>
            </a:r>
            <a:r>
              <a:rPr sz="1600" spc="-70" dirty="0">
                <a:solidFill>
                  <a:srgbClr val="616161"/>
                </a:solidFill>
                <a:latin typeface="Trebuchet MS"/>
                <a:cs typeface="Trebuchet MS"/>
              </a:rPr>
              <a:t> </a:t>
            </a:r>
            <a:r>
              <a:rPr sz="1600" spc="15" dirty="0">
                <a:solidFill>
                  <a:srgbClr val="616161"/>
                </a:solidFill>
                <a:latin typeface="Trebuchet MS"/>
                <a:cs typeface="Trebuchet MS"/>
              </a:rPr>
              <a:t>stage</a:t>
            </a:r>
            <a:endParaRPr sz="1600" dirty="0">
              <a:latin typeface="Trebuchet MS"/>
              <a:cs typeface="Trebuchet MS"/>
            </a:endParaRPr>
          </a:p>
          <a:p>
            <a:pPr marL="851535" lvl="1" indent="-351790">
              <a:lnSpc>
                <a:spcPct val="100000"/>
              </a:lnSpc>
              <a:spcBef>
                <a:spcPts val="254"/>
              </a:spcBef>
              <a:buFont typeface="Arial MT"/>
              <a:buChar char="○"/>
              <a:tabLst>
                <a:tab pos="851535" algn="l"/>
                <a:tab pos="852169" algn="l"/>
              </a:tabLst>
            </a:pPr>
            <a:r>
              <a:rPr lang="en-US" sz="1600" spc="5" dirty="0">
                <a:solidFill>
                  <a:srgbClr val="FF0000"/>
                </a:solidFill>
                <a:latin typeface="Trebuchet MS"/>
                <a:cs typeface="Trebuchet MS"/>
              </a:rPr>
              <a:t>Narrow transformations </a:t>
            </a:r>
            <a:r>
              <a:rPr lang="en-US" sz="1600" spc="5" dirty="0">
                <a:solidFill>
                  <a:srgbClr val="616161"/>
                </a:solidFill>
                <a:latin typeface="Trebuchet MS"/>
                <a:cs typeface="Trebuchet MS"/>
              </a:rPr>
              <a:t>(like map, filter, select) are pipelined into a single stage. </a:t>
            </a:r>
          </a:p>
          <a:p>
            <a:pPr marL="851535" lvl="1" indent="-351790">
              <a:lnSpc>
                <a:spcPct val="100000"/>
              </a:lnSpc>
              <a:spcBef>
                <a:spcPts val="254"/>
              </a:spcBef>
              <a:buFont typeface="Arial MT"/>
              <a:buChar char="○"/>
              <a:tabLst>
                <a:tab pos="851535" algn="l"/>
                <a:tab pos="852169" algn="l"/>
              </a:tabLst>
            </a:pPr>
            <a:r>
              <a:rPr lang="en-US" sz="1600" spc="5" dirty="0">
                <a:solidFill>
                  <a:srgbClr val="FF0000"/>
                </a:solidFill>
                <a:latin typeface="Trebuchet MS"/>
                <a:cs typeface="Trebuchet MS"/>
              </a:rPr>
              <a:t>Wide transformations </a:t>
            </a:r>
            <a:r>
              <a:rPr lang="en-US" sz="1600" spc="5" dirty="0">
                <a:solidFill>
                  <a:srgbClr val="616161"/>
                </a:solidFill>
                <a:latin typeface="Trebuchet MS"/>
                <a:cs typeface="Trebuchet MS"/>
              </a:rPr>
              <a:t>(like </a:t>
            </a:r>
            <a:r>
              <a:rPr lang="en-US" sz="1600" spc="5" dirty="0" err="1">
                <a:solidFill>
                  <a:srgbClr val="616161"/>
                </a:solidFill>
                <a:latin typeface="Trebuchet MS"/>
                <a:cs typeface="Trebuchet MS"/>
              </a:rPr>
              <a:t>groupBy</a:t>
            </a:r>
            <a:r>
              <a:rPr lang="en-US" sz="1600" spc="5" dirty="0">
                <a:solidFill>
                  <a:srgbClr val="616161"/>
                </a:solidFill>
                <a:latin typeface="Trebuchet MS"/>
                <a:cs typeface="Trebuchet MS"/>
              </a:rPr>
              <a:t>, reduce, join) create shuffle boundaries, resulting in additional stages.</a:t>
            </a:r>
            <a:endParaRPr lang="en-US" sz="1600" dirty="0">
              <a:latin typeface="Trebuchet MS"/>
              <a:cs typeface="Trebuchet MS"/>
            </a:endParaRPr>
          </a:p>
          <a:p>
            <a:pPr marL="394335" indent="-382270">
              <a:lnSpc>
                <a:spcPct val="100000"/>
              </a:lnSpc>
              <a:spcBef>
                <a:spcPts val="235"/>
              </a:spcBef>
              <a:buFont typeface="Arial MT"/>
              <a:buChar char="●"/>
              <a:tabLst>
                <a:tab pos="394335" algn="l"/>
                <a:tab pos="394970" algn="l"/>
              </a:tabLst>
            </a:pPr>
            <a:r>
              <a:rPr lang="en-US" sz="2000" b="1" spc="5" dirty="0">
                <a:solidFill>
                  <a:srgbClr val="616161"/>
                </a:solidFill>
                <a:latin typeface="Trebuchet MS"/>
                <a:cs typeface="Trebuchet MS"/>
              </a:rPr>
              <a:t>Task</a:t>
            </a:r>
            <a:endParaRPr lang="en-US" sz="2000" dirty="0">
              <a:latin typeface="Trebuchet MS"/>
              <a:cs typeface="Trebuchet MS"/>
            </a:endParaRPr>
          </a:p>
          <a:p>
            <a:pPr marL="851535" lvl="1" indent="-351790">
              <a:lnSpc>
                <a:spcPct val="100000"/>
              </a:lnSpc>
              <a:spcBef>
                <a:spcPts val="395"/>
              </a:spcBef>
              <a:buFont typeface="Arial MT"/>
              <a:buChar char="○"/>
              <a:tabLst>
                <a:tab pos="851535" algn="l"/>
                <a:tab pos="852169" algn="l"/>
              </a:tabLst>
            </a:pPr>
            <a:r>
              <a:rPr sz="1600" spc="5" dirty="0">
                <a:solidFill>
                  <a:srgbClr val="616161"/>
                </a:solidFill>
                <a:latin typeface="Trebuchet MS"/>
                <a:cs typeface="Trebuchet MS"/>
              </a:rPr>
              <a:t>The</a:t>
            </a:r>
            <a:r>
              <a:rPr sz="1600" spc="-70" dirty="0">
                <a:solidFill>
                  <a:srgbClr val="616161"/>
                </a:solidFill>
                <a:latin typeface="Trebuchet MS"/>
                <a:cs typeface="Trebuchet MS"/>
              </a:rPr>
              <a:t> </a:t>
            </a:r>
            <a:r>
              <a:rPr sz="1600" spc="-45" dirty="0">
                <a:solidFill>
                  <a:srgbClr val="616161"/>
                </a:solidFill>
                <a:latin typeface="Trebuchet MS"/>
                <a:cs typeface="Trebuchet MS"/>
              </a:rPr>
              <a:t>“simplest</a:t>
            </a:r>
            <a:r>
              <a:rPr sz="1600" spc="-70" dirty="0">
                <a:solidFill>
                  <a:srgbClr val="616161"/>
                </a:solidFill>
                <a:latin typeface="Trebuchet MS"/>
                <a:cs typeface="Trebuchet MS"/>
              </a:rPr>
              <a:t> </a:t>
            </a:r>
            <a:r>
              <a:rPr sz="1600" spc="-65" dirty="0">
                <a:solidFill>
                  <a:srgbClr val="616161"/>
                </a:solidFill>
                <a:latin typeface="Trebuchet MS"/>
                <a:cs typeface="Trebuchet MS"/>
              </a:rPr>
              <a:t>unit</a:t>
            </a:r>
            <a:r>
              <a:rPr sz="1600" spc="-70" dirty="0">
                <a:solidFill>
                  <a:srgbClr val="616161"/>
                </a:solidFill>
                <a:latin typeface="Trebuchet MS"/>
                <a:cs typeface="Trebuchet MS"/>
              </a:rPr>
              <a:t> </a:t>
            </a:r>
            <a:r>
              <a:rPr sz="1600" spc="-45" dirty="0">
                <a:solidFill>
                  <a:srgbClr val="616161"/>
                </a:solidFill>
                <a:latin typeface="Trebuchet MS"/>
                <a:cs typeface="Trebuchet MS"/>
              </a:rPr>
              <a:t>of</a:t>
            </a:r>
            <a:r>
              <a:rPr sz="1600" spc="-70" dirty="0">
                <a:solidFill>
                  <a:srgbClr val="616161"/>
                </a:solidFill>
                <a:latin typeface="Trebuchet MS"/>
                <a:cs typeface="Trebuchet MS"/>
              </a:rPr>
              <a:t> </a:t>
            </a:r>
            <a:r>
              <a:rPr sz="1600" spc="-55" dirty="0">
                <a:solidFill>
                  <a:srgbClr val="616161"/>
                </a:solidFill>
                <a:latin typeface="Trebuchet MS"/>
                <a:cs typeface="Trebuchet MS"/>
              </a:rPr>
              <a:t>work”</a:t>
            </a:r>
            <a:r>
              <a:rPr sz="1600" spc="-70" dirty="0">
                <a:solidFill>
                  <a:srgbClr val="616161"/>
                </a:solidFill>
                <a:latin typeface="Trebuchet MS"/>
                <a:cs typeface="Trebuchet MS"/>
              </a:rPr>
              <a:t> </a:t>
            </a:r>
            <a:r>
              <a:rPr sz="1600" spc="-45" dirty="0">
                <a:solidFill>
                  <a:srgbClr val="616161"/>
                </a:solidFill>
                <a:latin typeface="Trebuchet MS"/>
                <a:cs typeface="Trebuchet MS"/>
              </a:rPr>
              <a:t>in</a:t>
            </a:r>
            <a:r>
              <a:rPr sz="1600" spc="-70" dirty="0">
                <a:solidFill>
                  <a:srgbClr val="616161"/>
                </a:solidFill>
                <a:latin typeface="Trebuchet MS"/>
                <a:cs typeface="Trebuchet MS"/>
              </a:rPr>
              <a:t> </a:t>
            </a:r>
            <a:r>
              <a:rPr sz="1600" spc="20" dirty="0">
                <a:solidFill>
                  <a:srgbClr val="616161"/>
                </a:solidFill>
                <a:latin typeface="Trebuchet MS"/>
                <a:cs typeface="Trebuchet MS"/>
              </a:rPr>
              <a:t>Spark</a:t>
            </a:r>
            <a:endParaRPr sz="1600" dirty="0">
              <a:latin typeface="Trebuchet MS"/>
              <a:cs typeface="Trebuchet MS"/>
            </a:endParaRPr>
          </a:p>
          <a:p>
            <a:pPr marL="851535" lvl="1" indent="-351790">
              <a:lnSpc>
                <a:spcPct val="100000"/>
              </a:lnSpc>
              <a:spcBef>
                <a:spcPts val="254"/>
              </a:spcBef>
              <a:buFont typeface="Arial MT"/>
              <a:buChar char="○"/>
              <a:tabLst>
                <a:tab pos="851535" algn="l"/>
                <a:tab pos="852169" algn="l"/>
              </a:tabLst>
            </a:pPr>
            <a:r>
              <a:rPr sz="1600" spc="60" dirty="0">
                <a:solidFill>
                  <a:srgbClr val="616161"/>
                </a:solidFill>
                <a:latin typeface="Trebuchet MS"/>
                <a:cs typeface="Trebuchet MS"/>
              </a:rPr>
              <a:t>One</a:t>
            </a:r>
            <a:r>
              <a:rPr sz="1600" spc="-70" dirty="0">
                <a:solidFill>
                  <a:srgbClr val="616161"/>
                </a:solidFill>
                <a:latin typeface="Trebuchet MS"/>
                <a:cs typeface="Trebuchet MS"/>
              </a:rPr>
              <a:t> </a:t>
            </a:r>
            <a:r>
              <a:rPr sz="1600" spc="-20" dirty="0">
                <a:solidFill>
                  <a:srgbClr val="616161"/>
                </a:solidFill>
                <a:latin typeface="Trebuchet MS"/>
                <a:cs typeface="Trebuchet MS"/>
              </a:rPr>
              <a:t>operation</a:t>
            </a:r>
            <a:r>
              <a:rPr sz="1600" spc="-70" dirty="0">
                <a:solidFill>
                  <a:srgbClr val="616161"/>
                </a:solidFill>
                <a:latin typeface="Trebuchet MS"/>
                <a:cs typeface="Trebuchet MS"/>
              </a:rPr>
              <a:t> </a:t>
            </a:r>
            <a:r>
              <a:rPr sz="1600" spc="30" dirty="0">
                <a:solidFill>
                  <a:srgbClr val="616161"/>
                </a:solidFill>
                <a:latin typeface="Trebuchet MS"/>
                <a:cs typeface="Trebuchet MS"/>
              </a:rPr>
              <a:t>on</a:t>
            </a:r>
            <a:r>
              <a:rPr sz="1600" spc="-70" dirty="0">
                <a:solidFill>
                  <a:srgbClr val="616161"/>
                </a:solidFill>
                <a:latin typeface="Trebuchet MS"/>
                <a:cs typeface="Trebuchet MS"/>
              </a:rPr>
              <a:t> </a:t>
            </a:r>
            <a:r>
              <a:rPr sz="1600" dirty="0">
                <a:solidFill>
                  <a:srgbClr val="616161"/>
                </a:solidFill>
                <a:latin typeface="Trebuchet MS"/>
                <a:cs typeface="Trebuchet MS"/>
              </a:rPr>
              <a:t>a</a:t>
            </a:r>
            <a:r>
              <a:rPr sz="1600" spc="-70" dirty="0">
                <a:solidFill>
                  <a:srgbClr val="616161"/>
                </a:solidFill>
                <a:latin typeface="Trebuchet MS"/>
                <a:cs typeface="Trebuchet MS"/>
              </a:rPr>
              <a:t> </a:t>
            </a:r>
            <a:r>
              <a:rPr sz="1600" spc="-60" dirty="0">
                <a:solidFill>
                  <a:srgbClr val="616161"/>
                </a:solidFill>
                <a:latin typeface="Trebuchet MS"/>
                <a:cs typeface="Trebuchet MS"/>
              </a:rPr>
              <a:t>partition</a:t>
            </a:r>
            <a:r>
              <a:rPr sz="1600" spc="-70" dirty="0">
                <a:solidFill>
                  <a:srgbClr val="616161"/>
                </a:solidFill>
                <a:latin typeface="Trebuchet MS"/>
                <a:cs typeface="Trebuchet MS"/>
              </a:rPr>
              <a:t> </a:t>
            </a:r>
            <a:r>
              <a:rPr sz="1600" spc="-45" dirty="0">
                <a:solidFill>
                  <a:srgbClr val="616161"/>
                </a:solidFill>
                <a:latin typeface="Trebuchet MS"/>
                <a:cs typeface="Trebuchet MS"/>
              </a:rPr>
              <a:t>of</a:t>
            </a:r>
            <a:r>
              <a:rPr sz="1600" spc="-70" dirty="0">
                <a:solidFill>
                  <a:srgbClr val="616161"/>
                </a:solidFill>
                <a:latin typeface="Trebuchet MS"/>
                <a:cs typeface="Trebuchet MS"/>
              </a:rPr>
              <a:t> </a:t>
            </a:r>
            <a:r>
              <a:rPr sz="1600" spc="5" dirty="0">
                <a:solidFill>
                  <a:srgbClr val="616161"/>
                </a:solidFill>
                <a:latin typeface="Trebuchet MS"/>
                <a:cs typeface="Trebuchet MS"/>
              </a:rPr>
              <a:t>an</a:t>
            </a:r>
            <a:r>
              <a:rPr sz="1600" spc="-70" dirty="0">
                <a:solidFill>
                  <a:srgbClr val="616161"/>
                </a:solidFill>
                <a:latin typeface="Trebuchet MS"/>
                <a:cs typeface="Trebuchet MS"/>
              </a:rPr>
              <a:t> </a:t>
            </a:r>
            <a:r>
              <a:rPr sz="1600" spc="105" dirty="0">
                <a:solidFill>
                  <a:srgbClr val="616161"/>
                </a:solidFill>
                <a:latin typeface="Trebuchet MS"/>
                <a:cs typeface="Trebuchet MS"/>
              </a:rPr>
              <a:t>RDD</a:t>
            </a:r>
            <a:endParaRPr lang="en-US" sz="1600" spc="105" dirty="0">
              <a:solidFill>
                <a:srgbClr val="616161"/>
              </a:solidFill>
              <a:latin typeface="Trebuchet MS"/>
              <a:cs typeface="Trebuchet MS"/>
            </a:endParaRPr>
          </a:p>
          <a:p>
            <a:pPr marL="851535" lvl="1" indent="-351790">
              <a:lnSpc>
                <a:spcPct val="100000"/>
              </a:lnSpc>
              <a:spcBef>
                <a:spcPts val="254"/>
              </a:spcBef>
              <a:buFont typeface="Arial MT"/>
              <a:buChar char="○"/>
              <a:tabLst>
                <a:tab pos="851535" algn="l"/>
                <a:tab pos="852169" algn="l"/>
              </a:tabLst>
            </a:pPr>
            <a:r>
              <a:rPr lang="en-US" sz="1600" spc="105" dirty="0">
                <a:solidFill>
                  <a:srgbClr val="616161"/>
                </a:solidFill>
                <a:latin typeface="Trebuchet MS"/>
                <a:cs typeface="Trebuchet MS"/>
              </a:rPr>
              <a:t>Fully </a:t>
            </a:r>
            <a:r>
              <a:rPr lang="en-US" sz="1600" spc="105" dirty="0" err="1">
                <a:solidFill>
                  <a:srgbClr val="616161"/>
                </a:solidFill>
                <a:latin typeface="Trebuchet MS"/>
                <a:cs typeface="Trebuchet MS"/>
              </a:rPr>
              <a:t>parrallel</a:t>
            </a:r>
            <a:endParaRPr sz="1600" dirty="0">
              <a:latin typeface="Trebuchet MS"/>
              <a:cs typeface="Trebuchet M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B18B3A67-0AEC-FCD9-5F11-D38369F6EF0C}"/>
              </a:ext>
            </a:extLst>
          </p:cNvPr>
          <p:cNvSpPr txBox="1">
            <a:spLocks noGrp="1"/>
          </p:cNvSpPr>
          <p:nvPr>
            <p:ph type="title"/>
          </p:nvPr>
        </p:nvSpPr>
        <p:spPr>
          <a:xfrm>
            <a:off x="381000" y="133350"/>
            <a:ext cx="4759325" cy="452120"/>
          </a:xfrm>
          <a:prstGeom prst="rect">
            <a:avLst/>
          </a:prstGeom>
        </p:spPr>
        <p:txBody>
          <a:bodyPr vert="horz" wrap="square" lIns="0" tIns="12700" rIns="0" bIns="0" rtlCol="0">
            <a:spAutoFit/>
          </a:bodyPr>
          <a:lstStyle/>
          <a:p>
            <a:pPr marL="12700">
              <a:lnSpc>
                <a:spcPct val="100000"/>
              </a:lnSpc>
              <a:spcBef>
                <a:spcPts val="100"/>
              </a:spcBef>
            </a:pPr>
            <a:r>
              <a:rPr lang="en-US" sz="2800" spc="40" dirty="0">
                <a:solidFill>
                  <a:srgbClr val="202729"/>
                </a:solidFill>
              </a:rPr>
              <a:t>The </a:t>
            </a:r>
            <a:r>
              <a:rPr sz="2800" spc="40" dirty="0">
                <a:solidFill>
                  <a:srgbClr val="202729"/>
                </a:solidFill>
              </a:rPr>
              <a:t>Spark</a:t>
            </a:r>
            <a:r>
              <a:rPr sz="2800" spc="-155" dirty="0">
                <a:solidFill>
                  <a:srgbClr val="202729"/>
                </a:solidFill>
              </a:rPr>
              <a:t> </a:t>
            </a:r>
            <a:r>
              <a:rPr lang="en-US" sz="2800" spc="-40" dirty="0">
                <a:solidFill>
                  <a:srgbClr val="202729"/>
                </a:solidFill>
              </a:rPr>
              <a:t>Flow</a:t>
            </a:r>
            <a:endParaRPr sz="2800" dirty="0"/>
          </a:p>
        </p:txBody>
      </p:sp>
      <p:sp>
        <p:nvSpPr>
          <p:cNvPr id="7" name="object 3">
            <a:extLst>
              <a:ext uri="{FF2B5EF4-FFF2-40B4-BE49-F238E27FC236}">
                <a16:creationId xmlns:a16="http://schemas.microsoft.com/office/drawing/2014/main" id="{E9C9A8F3-DA60-CE71-A392-BAB3F1BBA3CF}"/>
              </a:ext>
            </a:extLst>
          </p:cNvPr>
          <p:cNvSpPr txBox="1"/>
          <p:nvPr/>
        </p:nvSpPr>
        <p:spPr>
          <a:xfrm>
            <a:off x="381000" y="819150"/>
            <a:ext cx="8534400" cy="3229730"/>
          </a:xfrm>
          <a:prstGeom prst="rect">
            <a:avLst/>
          </a:prstGeom>
        </p:spPr>
        <p:txBody>
          <a:bodyPr vert="horz" wrap="square" lIns="0" tIns="74295" rIns="0" bIns="0" rtlCol="0">
            <a:spAutoFit/>
          </a:bodyPr>
          <a:lstStyle/>
          <a:p>
            <a:pPr marL="394335" indent="-382270">
              <a:lnSpc>
                <a:spcPct val="100000"/>
              </a:lnSpc>
              <a:spcBef>
                <a:spcPts val="585"/>
              </a:spcBef>
              <a:buFont typeface="Arial"/>
              <a:buChar char="●"/>
              <a:tabLst>
                <a:tab pos="394335" algn="l"/>
                <a:tab pos="394970" algn="l"/>
              </a:tabLst>
            </a:pPr>
            <a:r>
              <a:rPr lang="en-US" sz="2000" b="1" spc="-25" dirty="0">
                <a:solidFill>
                  <a:srgbClr val="616161"/>
                </a:solidFill>
                <a:latin typeface="Trebuchet MS"/>
                <a:cs typeface="Trebuchet MS"/>
              </a:rPr>
              <a:t>JA Spark job is submitted to Spark for processing.</a:t>
            </a:r>
          </a:p>
          <a:p>
            <a:pPr marL="394335" indent="-382270">
              <a:lnSpc>
                <a:spcPct val="100000"/>
              </a:lnSpc>
              <a:spcBef>
                <a:spcPts val="585"/>
              </a:spcBef>
              <a:buFont typeface="Arial"/>
              <a:buChar char="●"/>
              <a:tabLst>
                <a:tab pos="394335" algn="l"/>
                <a:tab pos="394970" algn="l"/>
              </a:tabLst>
            </a:pPr>
            <a:r>
              <a:rPr lang="en-US" sz="2000" b="1" spc="-25" dirty="0">
                <a:solidFill>
                  <a:srgbClr val="616161"/>
                </a:solidFill>
                <a:latin typeface="Trebuchet MS"/>
                <a:cs typeface="Trebuchet MS"/>
              </a:rPr>
              <a:t>The job is divided into stages based on the transformations and dependencies in the computation.</a:t>
            </a:r>
          </a:p>
          <a:p>
            <a:pPr marL="394335" indent="-382270">
              <a:lnSpc>
                <a:spcPct val="100000"/>
              </a:lnSpc>
              <a:spcBef>
                <a:spcPts val="585"/>
              </a:spcBef>
              <a:buFont typeface="Arial"/>
              <a:buChar char="●"/>
              <a:tabLst>
                <a:tab pos="394335" algn="l"/>
                <a:tab pos="394970" algn="l"/>
              </a:tabLst>
            </a:pPr>
            <a:r>
              <a:rPr lang="en-US" sz="2000" b="1" spc="-25" dirty="0">
                <a:solidFill>
                  <a:srgbClr val="616161"/>
                </a:solidFill>
                <a:latin typeface="Trebuchet MS"/>
                <a:cs typeface="Trebuchet MS"/>
              </a:rPr>
              <a:t>Each stage consists of multiple tasks that can be executed in parallel.</a:t>
            </a:r>
          </a:p>
          <a:p>
            <a:pPr marL="394335" indent="-382270">
              <a:lnSpc>
                <a:spcPct val="100000"/>
              </a:lnSpc>
              <a:spcBef>
                <a:spcPts val="585"/>
              </a:spcBef>
              <a:buFont typeface="Arial"/>
              <a:buChar char="●"/>
              <a:tabLst>
                <a:tab pos="394335" algn="l"/>
                <a:tab pos="394970" algn="l"/>
              </a:tabLst>
            </a:pPr>
            <a:r>
              <a:rPr lang="en-US" sz="2000" b="1" spc="-25" dirty="0">
                <a:solidFill>
                  <a:srgbClr val="616161"/>
                </a:solidFill>
                <a:latin typeface="Trebuchet MS"/>
                <a:cs typeface="Trebuchet MS"/>
              </a:rPr>
              <a:t>Tasks are assigned to worker nodes, which perform the required computations on the data partitions assigned to them.</a:t>
            </a:r>
          </a:p>
          <a:p>
            <a:pPr marL="394335" indent="-382270">
              <a:lnSpc>
                <a:spcPct val="100000"/>
              </a:lnSpc>
              <a:spcBef>
                <a:spcPts val="585"/>
              </a:spcBef>
              <a:buFont typeface="Arial"/>
              <a:buChar char="●"/>
              <a:tabLst>
                <a:tab pos="394335" algn="l"/>
                <a:tab pos="394970" algn="l"/>
              </a:tabLst>
            </a:pPr>
            <a:r>
              <a:rPr lang="en-US" sz="2000" b="1" spc="-25" dirty="0">
                <a:solidFill>
                  <a:srgbClr val="616161"/>
                </a:solidFill>
                <a:latin typeface="Trebuchet MS"/>
                <a:cs typeface="Trebuchet MS"/>
              </a:rPr>
              <a:t>Intermediate and final results are produced as tasks complete their computations.</a:t>
            </a:r>
          </a:p>
          <a:p>
            <a:pPr marL="394335" indent="-382270">
              <a:lnSpc>
                <a:spcPct val="100000"/>
              </a:lnSpc>
              <a:spcBef>
                <a:spcPts val="585"/>
              </a:spcBef>
              <a:buFont typeface="Arial"/>
              <a:buChar char="●"/>
              <a:tabLst>
                <a:tab pos="394335" algn="l"/>
                <a:tab pos="394970" algn="l"/>
              </a:tabLst>
            </a:pPr>
            <a:r>
              <a:rPr lang="en-US" sz="2000" b="1" spc="-25" dirty="0">
                <a:solidFill>
                  <a:srgbClr val="616161"/>
                </a:solidFill>
                <a:latin typeface="Trebuchet MS"/>
                <a:cs typeface="Trebuchet MS"/>
              </a:rPr>
              <a:t>The overall job completes when all stages and tasks finish execution</a:t>
            </a:r>
            <a:endParaRPr lang="en-US" sz="1600" dirty="0">
              <a:latin typeface="Trebuchet MS"/>
              <a:cs typeface="Trebuchet MS"/>
            </a:endParaRPr>
          </a:p>
        </p:txBody>
      </p:sp>
    </p:spTree>
    <p:extLst>
      <p:ext uri="{BB962C8B-B14F-4D97-AF65-F5344CB8AC3E}">
        <p14:creationId xmlns:p14="http://schemas.microsoft.com/office/powerpoint/2010/main" val="3298152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6520" y="887805"/>
            <a:ext cx="7530950" cy="3367890"/>
          </a:xfrm>
          <a:prstGeom prst="rect">
            <a:avLst/>
          </a:prstGeom>
        </p:spPr>
      </p:pic>
      <p:sp>
        <p:nvSpPr>
          <p:cNvPr id="3" name="object 3"/>
          <p:cNvSpPr txBox="1">
            <a:spLocks noGrp="1"/>
          </p:cNvSpPr>
          <p:nvPr>
            <p:ph type="title"/>
          </p:nvPr>
        </p:nvSpPr>
        <p:spPr>
          <a:xfrm>
            <a:off x="541553" y="151470"/>
            <a:ext cx="7646099" cy="1488869"/>
          </a:xfrm>
          <a:prstGeom prst="rect">
            <a:avLst/>
          </a:prstGeom>
        </p:spPr>
        <p:txBody>
          <a:bodyPr vert="horz" wrap="square" lIns="0" tIns="11430" rIns="0" bIns="0" rtlCol="0">
            <a:spAutoFit/>
          </a:bodyPr>
          <a:lstStyle/>
          <a:p>
            <a:pPr marL="11430">
              <a:spcBef>
                <a:spcPts val="90"/>
              </a:spcBef>
            </a:pPr>
            <a:r>
              <a:rPr spc="-5" dirty="0"/>
              <a:t>Monitoring</a:t>
            </a:r>
            <a:r>
              <a:rPr spc="-23" dirty="0"/>
              <a:t> </a:t>
            </a:r>
            <a:r>
              <a:rPr spc="-9" dirty="0"/>
              <a:t>Spark:</a:t>
            </a:r>
            <a:r>
              <a:rPr spc="-27" dirty="0"/>
              <a:t> </a:t>
            </a:r>
            <a:r>
              <a:rPr spc="-9" dirty="0"/>
              <a:t>Executors</a:t>
            </a:r>
            <a:r>
              <a:rPr spc="-27" dirty="0"/>
              <a:t> </a:t>
            </a:r>
            <a:r>
              <a:rPr spc="-5" dirty="0"/>
              <a:t>and</a:t>
            </a:r>
            <a:r>
              <a:rPr spc="-23" dirty="0"/>
              <a:t> </a:t>
            </a:r>
            <a:r>
              <a:rPr dirty="0"/>
              <a:t>tasks</a:t>
            </a:r>
          </a:p>
        </p:txBody>
      </p:sp>
      <p:pic>
        <p:nvPicPr>
          <p:cNvPr id="6" name="Picture 5">
            <a:extLst>
              <a:ext uri="{FF2B5EF4-FFF2-40B4-BE49-F238E27FC236}">
                <a16:creationId xmlns:a16="http://schemas.microsoft.com/office/drawing/2014/main" id="{5EC5BDE7-86D0-2061-2171-51E4D66928C0}"/>
              </a:ext>
            </a:extLst>
          </p:cNvPr>
          <p:cNvPicPr>
            <a:picLocks noChangeAspect="1"/>
          </p:cNvPicPr>
          <p:nvPr/>
        </p:nvPicPr>
        <p:blipFill>
          <a:blip r:embed="rId3"/>
          <a:stretch>
            <a:fillRect/>
          </a:stretch>
        </p:blipFill>
        <p:spPr>
          <a:xfrm>
            <a:off x="-137684" y="-44833"/>
            <a:ext cx="9004572" cy="96325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67251" y="151459"/>
            <a:ext cx="4017074" cy="1488869"/>
          </a:xfrm>
          <a:prstGeom prst="rect">
            <a:avLst/>
          </a:prstGeom>
        </p:spPr>
        <p:txBody>
          <a:bodyPr vert="horz" wrap="square" lIns="0" tIns="11430" rIns="0" bIns="0" rtlCol="0">
            <a:spAutoFit/>
          </a:bodyPr>
          <a:lstStyle/>
          <a:p>
            <a:pPr marL="11430">
              <a:spcBef>
                <a:spcPts val="90"/>
              </a:spcBef>
            </a:pPr>
            <a:r>
              <a:rPr spc="-9" dirty="0"/>
              <a:t>Executors</a:t>
            </a:r>
            <a:r>
              <a:rPr spc="-50" dirty="0"/>
              <a:t> </a:t>
            </a:r>
            <a:r>
              <a:rPr spc="-5" dirty="0"/>
              <a:t>and</a:t>
            </a:r>
            <a:r>
              <a:rPr spc="-41" dirty="0"/>
              <a:t> </a:t>
            </a:r>
            <a:r>
              <a:rPr dirty="0"/>
              <a:t>tasks</a:t>
            </a:r>
          </a:p>
        </p:txBody>
      </p:sp>
      <p:pic>
        <p:nvPicPr>
          <p:cNvPr id="3" name="object 3"/>
          <p:cNvPicPr/>
          <p:nvPr/>
        </p:nvPicPr>
        <p:blipFill>
          <a:blip r:embed="rId2" cstate="print"/>
          <a:stretch>
            <a:fillRect/>
          </a:stretch>
        </p:blipFill>
        <p:spPr>
          <a:xfrm>
            <a:off x="304800" y="687026"/>
            <a:ext cx="7866321" cy="4094524"/>
          </a:xfrm>
          <a:prstGeom prst="rect">
            <a:avLst/>
          </a:prstGeom>
        </p:spPr>
      </p:pic>
      <p:pic>
        <p:nvPicPr>
          <p:cNvPr id="6" name="Picture 5">
            <a:extLst>
              <a:ext uri="{FF2B5EF4-FFF2-40B4-BE49-F238E27FC236}">
                <a16:creationId xmlns:a16="http://schemas.microsoft.com/office/drawing/2014/main" id="{10733EB4-6597-AE89-3767-E9E74073C616}"/>
              </a:ext>
            </a:extLst>
          </p:cNvPr>
          <p:cNvPicPr>
            <a:picLocks noChangeAspect="1"/>
          </p:cNvPicPr>
          <p:nvPr/>
        </p:nvPicPr>
        <p:blipFill>
          <a:blip r:embed="rId3"/>
          <a:stretch>
            <a:fillRect/>
          </a:stretch>
        </p:blipFill>
        <p:spPr>
          <a:xfrm>
            <a:off x="-6927" y="-67358"/>
            <a:ext cx="4980864" cy="96325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CD2992-84AE-7025-FC6B-265378E654E4}"/>
              </a:ext>
            </a:extLst>
          </p:cNvPr>
          <p:cNvPicPr>
            <a:picLocks noChangeAspect="1"/>
          </p:cNvPicPr>
          <p:nvPr/>
        </p:nvPicPr>
        <p:blipFill>
          <a:blip r:embed="rId3"/>
          <a:stretch>
            <a:fillRect/>
          </a:stretch>
        </p:blipFill>
        <p:spPr>
          <a:xfrm>
            <a:off x="685800" y="971550"/>
            <a:ext cx="7106642" cy="3610479"/>
          </a:xfrm>
          <a:prstGeom prst="rect">
            <a:avLst/>
          </a:prstGeom>
        </p:spPr>
      </p:pic>
      <p:sp>
        <p:nvSpPr>
          <p:cNvPr id="7" name="object 2">
            <a:extLst>
              <a:ext uri="{FF2B5EF4-FFF2-40B4-BE49-F238E27FC236}">
                <a16:creationId xmlns:a16="http://schemas.microsoft.com/office/drawing/2014/main" id="{6E6AFDF0-0113-0F6F-711C-91E0A3A45344}"/>
              </a:ext>
            </a:extLst>
          </p:cNvPr>
          <p:cNvSpPr txBox="1">
            <a:spLocks/>
          </p:cNvSpPr>
          <p:nvPr/>
        </p:nvSpPr>
        <p:spPr>
          <a:xfrm>
            <a:off x="304800" y="206919"/>
            <a:ext cx="6345392" cy="443711"/>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185" dirty="0">
                <a:solidFill>
                  <a:srgbClr val="202729"/>
                </a:solidFill>
              </a:rPr>
              <a:t>RDD</a:t>
            </a:r>
            <a:r>
              <a:rPr lang="en-US" sz="2800" kern="0" spc="-200" dirty="0">
                <a:solidFill>
                  <a:srgbClr val="202729"/>
                </a:solidFill>
              </a:rPr>
              <a:t> </a:t>
            </a:r>
            <a:r>
              <a:rPr lang="en-US" sz="2800" kern="0" dirty="0">
                <a:solidFill>
                  <a:srgbClr val="202729"/>
                </a:solidFill>
              </a:rPr>
              <a:t>operations</a:t>
            </a:r>
          </a:p>
        </p:txBody>
      </p:sp>
    </p:spTree>
    <p:extLst>
      <p:ext uri="{BB962C8B-B14F-4D97-AF65-F5344CB8AC3E}">
        <p14:creationId xmlns:p14="http://schemas.microsoft.com/office/powerpoint/2010/main" val="39428850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206919"/>
            <a:ext cx="2560955" cy="452120"/>
          </a:xfrm>
          <a:prstGeom prst="rect">
            <a:avLst/>
          </a:prstGeom>
        </p:spPr>
        <p:txBody>
          <a:bodyPr vert="horz" wrap="square" lIns="0" tIns="12700" rIns="0" bIns="0" rtlCol="0">
            <a:spAutoFit/>
          </a:bodyPr>
          <a:lstStyle/>
          <a:p>
            <a:pPr marL="12700">
              <a:lnSpc>
                <a:spcPct val="100000"/>
              </a:lnSpc>
              <a:spcBef>
                <a:spcPts val="100"/>
              </a:spcBef>
            </a:pPr>
            <a:r>
              <a:rPr sz="2800" spc="185" dirty="0">
                <a:solidFill>
                  <a:srgbClr val="202729"/>
                </a:solidFill>
              </a:rPr>
              <a:t>RDD</a:t>
            </a:r>
            <a:r>
              <a:rPr sz="2800" spc="-200" dirty="0">
                <a:solidFill>
                  <a:srgbClr val="202729"/>
                </a:solidFill>
              </a:rPr>
              <a:t> </a:t>
            </a:r>
            <a:r>
              <a:rPr sz="2800" dirty="0">
                <a:solidFill>
                  <a:srgbClr val="202729"/>
                </a:solidFill>
              </a:rPr>
              <a:t>Operations</a:t>
            </a:r>
            <a:endParaRPr sz="2800" dirty="0"/>
          </a:p>
        </p:txBody>
      </p:sp>
      <p:sp>
        <p:nvSpPr>
          <p:cNvPr id="3" name="object 3"/>
          <p:cNvSpPr txBox="1"/>
          <p:nvPr/>
        </p:nvSpPr>
        <p:spPr>
          <a:xfrm>
            <a:off x="152401" y="742950"/>
            <a:ext cx="8086358" cy="2144818"/>
          </a:xfrm>
          <a:prstGeom prst="rect">
            <a:avLst/>
          </a:prstGeom>
        </p:spPr>
        <p:txBody>
          <a:bodyPr vert="horz" wrap="square" lIns="0" tIns="66675" rIns="0" bIns="0" rtlCol="0">
            <a:spAutoFit/>
          </a:bodyPr>
          <a:lstStyle/>
          <a:p>
            <a:pPr marL="379095" indent="-367030">
              <a:lnSpc>
                <a:spcPct val="100000"/>
              </a:lnSpc>
              <a:spcBef>
                <a:spcPts val="525"/>
              </a:spcBef>
              <a:buFont typeface="Arial"/>
              <a:buChar char="●"/>
              <a:tabLst>
                <a:tab pos="379095" algn="l"/>
                <a:tab pos="379730" algn="l"/>
              </a:tabLst>
            </a:pPr>
            <a:r>
              <a:rPr sz="1800" b="1" spc="-30" dirty="0">
                <a:solidFill>
                  <a:srgbClr val="616161"/>
                </a:solidFill>
                <a:latin typeface="Trebuchet MS"/>
                <a:cs typeface="Trebuchet MS"/>
              </a:rPr>
              <a:t>Transformations</a:t>
            </a:r>
            <a:endParaRPr sz="1800" dirty="0">
              <a:latin typeface="Trebuchet MS"/>
              <a:cs typeface="Trebuchet MS"/>
            </a:endParaRPr>
          </a:p>
          <a:p>
            <a:pPr marL="836294" lvl="1" indent="-336550">
              <a:lnSpc>
                <a:spcPct val="100000"/>
              </a:lnSpc>
              <a:spcBef>
                <a:spcPts val="330"/>
              </a:spcBef>
              <a:buFont typeface="Arial MT"/>
              <a:buChar char="○"/>
              <a:tabLst>
                <a:tab pos="836294" algn="l"/>
                <a:tab pos="836930" algn="l"/>
              </a:tabLst>
            </a:pPr>
            <a:r>
              <a:rPr sz="1400" spc="5" dirty="0">
                <a:solidFill>
                  <a:srgbClr val="616161"/>
                </a:solidFill>
                <a:latin typeface="Trebuchet MS"/>
                <a:cs typeface="Trebuchet MS"/>
              </a:rPr>
              <a:t>The</a:t>
            </a:r>
            <a:r>
              <a:rPr sz="1400" spc="-65" dirty="0">
                <a:solidFill>
                  <a:srgbClr val="616161"/>
                </a:solidFill>
                <a:latin typeface="Trebuchet MS"/>
                <a:cs typeface="Trebuchet MS"/>
              </a:rPr>
              <a:t> </a:t>
            </a:r>
            <a:r>
              <a:rPr sz="1400" spc="25" dirty="0">
                <a:solidFill>
                  <a:srgbClr val="616161"/>
                </a:solidFill>
                <a:latin typeface="Trebuchet MS"/>
                <a:cs typeface="Trebuchet MS"/>
              </a:rPr>
              <a:t>process</a:t>
            </a:r>
            <a:r>
              <a:rPr sz="1400" spc="-60" dirty="0">
                <a:solidFill>
                  <a:srgbClr val="616161"/>
                </a:solidFill>
                <a:latin typeface="Trebuchet MS"/>
                <a:cs typeface="Trebuchet MS"/>
              </a:rPr>
              <a:t> </a:t>
            </a:r>
            <a:r>
              <a:rPr sz="1400" spc="-40" dirty="0">
                <a:solidFill>
                  <a:srgbClr val="616161"/>
                </a:solidFill>
                <a:latin typeface="Trebuchet MS"/>
                <a:cs typeface="Trebuchet MS"/>
              </a:rPr>
              <a:t>of</a:t>
            </a:r>
            <a:r>
              <a:rPr sz="1400" spc="-60" dirty="0">
                <a:solidFill>
                  <a:srgbClr val="616161"/>
                </a:solidFill>
                <a:latin typeface="Trebuchet MS"/>
                <a:cs typeface="Trebuchet MS"/>
              </a:rPr>
              <a:t> </a:t>
            </a:r>
            <a:r>
              <a:rPr sz="1400" spc="-20" dirty="0">
                <a:solidFill>
                  <a:srgbClr val="616161"/>
                </a:solidFill>
                <a:latin typeface="Trebuchet MS"/>
                <a:cs typeface="Trebuchet MS"/>
              </a:rPr>
              <a:t>taking</a:t>
            </a:r>
            <a:r>
              <a:rPr sz="1400" spc="-60" dirty="0">
                <a:solidFill>
                  <a:srgbClr val="616161"/>
                </a:solidFill>
                <a:latin typeface="Trebuchet MS"/>
                <a:cs typeface="Trebuchet MS"/>
              </a:rPr>
              <a:t> </a:t>
            </a:r>
            <a:r>
              <a:rPr sz="1400" dirty="0">
                <a:solidFill>
                  <a:srgbClr val="616161"/>
                </a:solidFill>
                <a:latin typeface="Trebuchet MS"/>
                <a:cs typeface="Trebuchet MS"/>
              </a:rPr>
              <a:t>an</a:t>
            </a:r>
            <a:r>
              <a:rPr sz="1400" spc="-60" dirty="0">
                <a:solidFill>
                  <a:srgbClr val="616161"/>
                </a:solidFill>
                <a:latin typeface="Trebuchet MS"/>
                <a:cs typeface="Trebuchet MS"/>
              </a:rPr>
              <a:t> </a:t>
            </a:r>
            <a:r>
              <a:rPr sz="1400" spc="-40" dirty="0">
                <a:solidFill>
                  <a:srgbClr val="616161"/>
                </a:solidFill>
                <a:latin typeface="Trebuchet MS"/>
                <a:cs typeface="Trebuchet MS"/>
              </a:rPr>
              <a:t>input</a:t>
            </a:r>
            <a:r>
              <a:rPr sz="1400" spc="-60" dirty="0">
                <a:solidFill>
                  <a:srgbClr val="616161"/>
                </a:solidFill>
                <a:latin typeface="Trebuchet MS"/>
                <a:cs typeface="Trebuchet MS"/>
              </a:rPr>
              <a:t> </a:t>
            </a:r>
            <a:r>
              <a:rPr sz="1400" spc="20" dirty="0">
                <a:solidFill>
                  <a:srgbClr val="616161"/>
                </a:solidFill>
                <a:latin typeface="Trebuchet MS"/>
                <a:cs typeface="Trebuchet MS"/>
              </a:rPr>
              <a:t>RDD,</a:t>
            </a:r>
            <a:r>
              <a:rPr sz="1400" spc="-60" dirty="0">
                <a:solidFill>
                  <a:srgbClr val="616161"/>
                </a:solidFill>
                <a:latin typeface="Trebuchet MS"/>
                <a:cs typeface="Trebuchet MS"/>
              </a:rPr>
              <a:t> </a:t>
            </a:r>
            <a:r>
              <a:rPr sz="1400" spc="15" dirty="0">
                <a:solidFill>
                  <a:srgbClr val="616161"/>
                </a:solidFill>
                <a:latin typeface="Trebuchet MS"/>
                <a:cs typeface="Trebuchet MS"/>
              </a:rPr>
              <a:t>doing</a:t>
            </a:r>
            <a:r>
              <a:rPr sz="1400" spc="-60" dirty="0">
                <a:solidFill>
                  <a:srgbClr val="616161"/>
                </a:solidFill>
                <a:latin typeface="Trebuchet MS"/>
                <a:cs typeface="Trebuchet MS"/>
              </a:rPr>
              <a:t> </a:t>
            </a:r>
            <a:r>
              <a:rPr sz="1400" spc="30" dirty="0">
                <a:solidFill>
                  <a:srgbClr val="616161"/>
                </a:solidFill>
                <a:latin typeface="Trebuchet MS"/>
                <a:cs typeface="Trebuchet MS"/>
              </a:rPr>
              <a:t>some</a:t>
            </a:r>
            <a:r>
              <a:rPr sz="1400" spc="-60" dirty="0">
                <a:solidFill>
                  <a:srgbClr val="616161"/>
                </a:solidFill>
                <a:latin typeface="Trebuchet MS"/>
                <a:cs typeface="Trebuchet MS"/>
              </a:rPr>
              <a:t> </a:t>
            </a:r>
            <a:r>
              <a:rPr sz="1400" spc="-40" dirty="0">
                <a:solidFill>
                  <a:srgbClr val="616161"/>
                </a:solidFill>
                <a:latin typeface="Trebuchet MS"/>
                <a:cs typeface="Trebuchet MS"/>
              </a:rPr>
              <a:t>computation,</a:t>
            </a:r>
            <a:r>
              <a:rPr sz="1400" spc="-65" dirty="0">
                <a:solidFill>
                  <a:srgbClr val="616161"/>
                </a:solidFill>
                <a:latin typeface="Trebuchet MS"/>
                <a:cs typeface="Trebuchet MS"/>
              </a:rPr>
              <a:t> </a:t>
            </a:r>
            <a:r>
              <a:rPr sz="1400" spc="10" dirty="0">
                <a:solidFill>
                  <a:srgbClr val="616161"/>
                </a:solidFill>
                <a:latin typeface="Trebuchet MS"/>
                <a:cs typeface="Trebuchet MS"/>
              </a:rPr>
              <a:t>and</a:t>
            </a:r>
            <a:r>
              <a:rPr sz="1400" spc="-60" dirty="0">
                <a:solidFill>
                  <a:srgbClr val="616161"/>
                </a:solidFill>
                <a:latin typeface="Trebuchet MS"/>
                <a:cs typeface="Trebuchet MS"/>
              </a:rPr>
              <a:t> </a:t>
            </a:r>
            <a:r>
              <a:rPr sz="1400" dirty="0">
                <a:solidFill>
                  <a:srgbClr val="616161"/>
                </a:solidFill>
                <a:latin typeface="Trebuchet MS"/>
                <a:cs typeface="Trebuchet MS"/>
              </a:rPr>
              <a:t>producing</a:t>
            </a:r>
            <a:r>
              <a:rPr sz="1400" spc="-60" dirty="0">
                <a:solidFill>
                  <a:srgbClr val="616161"/>
                </a:solidFill>
                <a:latin typeface="Trebuchet MS"/>
                <a:cs typeface="Trebuchet MS"/>
              </a:rPr>
              <a:t> </a:t>
            </a:r>
            <a:r>
              <a:rPr sz="1400" dirty="0">
                <a:solidFill>
                  <a:srgbClr val="616161"/>
                </a:solidFill>
                <a:latin typeface="Trebuchet MS"/>
                <a:cs typeface="Trebuchet MS"/>
              </a:rPr>
              <a:t>a</a:t>
            </a:r>
            <a:r>
              <a:rPr sz="1400" spc="-60" dirty="0">
                <a:solidFill>
                  <a:srgbClr val="616161"/>
                </a:solidFill>
                <a:latin typeface="Trebuchet MS"/>
                <a:cs typeface="Trebuchet MS"/>
              </a:rPr>
              <a:t> </a:t>
            </a:r>
            <a:r>
              <a:rPr sz="1400" spc="5" dirty="0">
                <a:solidFill>
                  <a:srgbClr val="616161"/>
                </a:solidFill>
                <a:latin typeface="Trebuchet MS"/>
                <a:cs typeface="Trebuchet MS"/>
              </a:rPr>
              <a:t>new</a:t>
            </a:r>
            <a:r>
              <a:rPr sz="1400" spc="-60" dirty="0">
                <a:solidFill>
                  <a:srgbClr val="616161"/>
                </a:solidFill>
                <a:latin typeface="Trebuchet MS"/>
                <a:cs typeface="Trebuchet MS"/>
              </a:rPr>
              <a:t> </a:t>
            </a:r>
            <a:r>
              <a:rPr sz="1400" spc="90" dirty="0">
                <a:solidFill>
                  <a:srgbClr val="616161"/>
                </a:solidFill>
                <a:latin typeface="Trebuchet MS"/>
                <a:cs typeface="Trebuchet MS"/>
              </a:rPr>
              <a:t>RDD</a:t>
            </a:r>
            <a:endParaRPr sz="1400" dirty="0">
              <a:latin typeface="Trebuchet MS"/>
              <a:cs typeface="Trebuchet MS"/>
            </a:endParaRPr>
          </a:p>
          <a:p>
            <a:pPr marL="836294" lvl="1" indent="-336550">
              <a:lnSpc>
                <a:spcPct val="100000"/>
              </a:lnSpc>
              <a:spcBef>
                <a:spcPts val="270"/>
              </a:spcBef>
              <a:buFont typeface="Arial MT"/>
              <a:buChar char="○"/>
              <a:tabLst>
                <a:tab pos="836294" algn="l"/>
                <a:tab pos="836930" algn="l"/>
              </a:tabLst>
            </a:pPr>
            <a:r>
              <a:rPr sz="1400" spc="50" dirty="0">
                <a:solidFill>
                  <a:srgbClr val="616161"/>
                </a:solidFill>
                <a:latin typeface="Trebuchet MS"/>
                <a:cs typeface="Trebuchet MS"/>
              </a:rPr>
              <a:t>Done</a:t>
            </a:r>
            <a:r>
              <a:rPr sz="1400" spc="-65" dirty="0">
                <a:solidFill>
                  <a:srgbClr val="616161"/>
                </a:solidFill>
                <a:latin typeface="Trebuchet MS"/>
                <a:cs typeface="Trebuchet MS"/>
              </a:rPr>
              <a:t> </a:t>
            </a:r>
            <a:r>
              <a:rPr sz="1400" spc="-50" dirty="0">
                <a:solidFill>
                  <a:srgbClr val="616161"/>
                </a:solidFill>
                <a:latin typeface="Trebuchet MS"/>
                <a:cs typeface="Trebuchet MS"/>
              </a:rPr>
              <a:t>lazily</a:t>
            </a:r>
            <a:r>
              <a:rPr sz="1400" spc="-65" dirty="0">
                <a:solidFill>
                  <a:srgbClr val="616161"/>
                </a:solidFill>
                <a:latin typeface="Trebuchet MS"/>
                <a:cs typeface="Trebuchet MS"/>
              </a:rPr>
              <a:t> </a:t>
            </a:r>
            <a:r>
              <a:rPr sz="1400" spc="-45" dirty="0">
                <a:solidFill>
                  <a:srgbClr val="616161"/>
                </a:solidFill>
                <a:latin typeface="Trebuchet MS"/>
                <a:cs typeface="Trebuchet MS"/>
              </a:rPr>
              <a:t>(only</a:t>
            </a:r>
            <a:r>
              <a:rPr sz="1400" spc="-65" dirty="0">
                <a:solidFill>
                  <a:srgbClr val="616161"/>
                </a:solidFill>
                <a:latin typeface="Trebuchet MS"/>
                <a:cs typeface="Trebuchet MS"/>
              </a:rPr>
              <a:t> </a:t>
            </a:r>
            <a:r>
              <a:rPr sz="1400" spc="-10" dirty="0">
                <a:solidFill>
                  <a:srgbClr val="616161"/>
                </a:solidFill>
                <a:latin typeface="Trebuchet MS"/>
                <a:cs typeface="Trebuchet MS"/>
              </a:rPr>
              <a:t>ever</a:t>
            </a:r>
            <a:r>
              <a:rPr sz="1400" spc="-65" dirty="0">
                <a:solidFill>
                  <a:srgbClr val="616161"/>
                </a:solidFill>
                <a:latin typeface="Trebuchet MS"/>
                <a:cs typeface="Trebuchet MS"/>
              </a:rPr>
              <a:t> </a:t>
            </a:r>
            <a:r>
              <a:rPr sz="1400" spc="-10" dirty="0">
                <a:solidFill>
                  <a:srgbClr val="616161"/>
                </a:solidFill>
                <a:latin typeface="Trebuchet MS"/>
                <a:cs typeface="Trebuchet MS"/>
              </a:rPr>
              <a:t>executed</a:t>
            </a:r>
            <a:r>
              <a:rPr sz="1400" spc="-60" dirty="0">
                <a:solidFill>
                  <a:srgbClr val="616161"/>
                </a:solidFill>
                <a:latin typeface="Trebuchet MS"/>
                <a:cs typeface="Trebuchet MS"/>
              </a:rPr>
              <a:t> </a:t>
            </a:r>
            <a:r>
              <a:rPr sz="1400" spc="-105" dirty="0">
                <a:solidFill>
                  <a:srgbClr val="616161"/>
                </a:solidFill>
                <a:latin typeface="Trebuchet MS"/>
                <a:cs typeface="Trebuchet MS"/>
              </a:rPr>
              <a:t>if</a:t>
            </a:r>
            <a:r>
              <a:rPr sz="1400" spc="-65" dirty="0">
                <a:solidFill>
                  <a:srgbClr val="616161"/>
                </a:solidFill>
                <a:latin typeface="Trebuchet MS"/>
                <a:cs typeface="Trebuchet MS"/>
              </a:rPr>
              <a:t> </a:t>
            </a:r>
            <a:r>
              <a:rPr sz="1400" dirty="0">
                <a:solidFill>
                  <a:srgbClr val="616161"/>
                </a:solidFill>
                <a:latin typeface="Trebuchet MS"/>
                <a:cs typeface="Trebuchet MS"/>
              </a:rPr>
              <a:t>an</a:t>
            </a:r>
            <a:r>
              <a:rPr sz="1400" spc="-65" dirty="0">
                <a:solidFill>
                  <a:srgbClr val="616161"/>
                </a:solidFill>
                <a:latin typeface="Trebuchet MS"/>
                <a:cs typeface="Trebuchet MS"/>
              </a:rPr>
              <a:t> </a:t>
            </a:r>
            <a:r>
              <a:rPr sz="1400" spc="-70" dirty="0">
                <a:solidFill>
                  <a:srgbClr val="616161"/>
                </a:solidFill>
                <a:latin typeface="Trebuchet MS"/>
                <a:cs typeface="Trebuchet MS"/>
              </a:rPr>
              <a:t>“action”</a:t>
            </a:r>
            <a:r>
              <a:rPr sz="1400" spc="-65" dirty="0">
                <a:solidFill>
                  <a:srgbClr val="616161"/>
                </a:solidFill>
                <a:latin typeface="Trebuchet MS"/>
                <a:cs typeface="Trebuchet MS"/>
              </a:rPr>
              <a:t> </a:t>
            </a:r>
            <a:r>
              <a:rPr sz="1400" spc="30" dirty="0">
                <a:solidFill>
                  <a:srgbClr val="616161"/>
                </a:solidFill>
                <a:latin typeface="Trebuchet MS"/>
                <a:cs typeface="Trebuchet MS"/>
              </a:rPr>
              <a:t>depends</a:t>
            </a:r>
            <a:r>
              <a:rPr sz="1400" spc="-60" dirty="0">
                <a:solidFill>
                  <a:srgbClr val="616161"/>
                </a:solidFill>
                <a:latin typeface="Trebuchet MS"/>
                <a:cs typeface="Trebuchet MS"/>
              </a:rPr>
              <a:t> </a:t>
            </a:r>
            <a:r>
              <a:rPr sz="1400" spc="25" dirty="0">
                <a:solidFill>
                  <a:srgbClr val="616161"/>
                </a:solidFill>
                <a:latin typeface="Trebuchet MS"/>
                <a:cs typeface="Trebuchet MS"/>
              </a:rPr>
              <a:t>on</a:t>
            </a:r>
            <a:r>
              <a:rPr sz="1400" spc="-65" dirty="0">
                <a:solidFill>
                  <a:srgbClr val="616161"/>
                </a:solidFill>
                <a:latin typeface="Trebuchet MS"/>
                <a:cs typeface="Trebuchet MS"/>
              </a:rPr>
              <a:t> </a:t>
            </a:r>
            <a:r>
              <a:rPr sz="1400" spc="-40" dirty="0">
                <a:solidFill>
                  <a:srgbClr val="616161"/>
                </a:solidFill>
                <a:latin typeface="Trebuchet MS"/>
                <a:cs typeface="Trebuchet MS"/>
              </a:rPr>
              <a:t>the</a:t>
            </a:r>
            <a:r>
              <a:rPr sz="1400" spc="-65" dirty="0">
                <a:solidFill>
                  <a:srgbClr val="616161"/>
                </a:solidFill>
                <a:latin typeface="Trebuchet MS"/>
                <a:cs typeface="Trebuchet MS"/>
              </a:rPr>
              <a:t> </a:t>
            </a:r>
            <a:r>
              <a:rPr sz="1400" spc="-55" dirty="0">
                <a:solidFill>
                  <a:srgbClr val="616161"/>
                </a:solidFill>
                <a:latin typeface="Trebuchet MS"/>
                <a:cs typeface="Trebuchet MS"/>
              </a:rPr>
              <a:t>output)</a:t>
            </a:r>
            <a:endParaRPr sz="1400" dirty="0">
              <a:latin typeface="Trebuchet MS"/>
              <a:cs typeface="Trebuchet MS"/>
            </a:endParaRPr>
          </a:p>
          <a:p>
            <a:pPr marL="836294" lvl="1" indent="-336550">
              <a:lnSpc>
                <a:spcPct val="100000"/>
              </a:lnSpc>
              <a:spcBef>
                <a:spcPts val="270"/>
              </a:spcBef>
              <a:buFont typeface="Arial MT"/>
              <a:buChar char="○"/>
              <a:tabLst>
                <a:tab pos="836294" algn="l"/>
                <a:tab pos="836930" algn="l"/>
              </a:tabLst>
            </a:pPr>
            <a:r>
              <a:rPr sz="1400" spc="-114" dirty="0">
                <a:solidFill>
                  <a:srgbClr val="616161"/>
                </a:solidFill>
                <a:latin typeface="Trebuchet MS"/>
                <a:cs typeface="Trebuchet MS"/>
              </a:rPr>
              <a:t>i.e.</a:t>
            </a:r>
            <a:r>
              <a:rPr sz="1400" spc="-65" dirty="0">
                <a:solidFill>
                  <a:srgbClr val="616161"/>
                </a:solidFill>
                <a:latin typeface="Trebuchet MS"/>
                <a:cs typeface="Trebuchet MS"/>
              </a:rPr>
              <a:t> </a:t>
            </a:r>
            <a:r>
              <a:rPr sz="1400" spc="5" dirty="0">
                <a:solidFill>
                  <a:srgbClr val="616161"/>
                </a:solidFill>
                <a:latin typeface="Trebuchet MS"/>
                <a:cs typeface="Trebuchet MS"/>
              </a:rPr>
              <a:t>Higher</a:t>
            </a:r>
            <a:r>
              <a:rPr sz="1400" spc="-65" dirty="0">
                <a:solidFill>
                  <a:srgbClr val="616161"/>
                </a:solidFill>
                <a:latin typeface="Trebuchet MS"/>
                <a:cs typeface="Trebuchet MS"/>
              </a:rPr>
              <a:t> </a:t>
            </a:r>
            <a:r>
              <a:rPr sz="1400" spc="-15" dirty="0">
                <a:solidFill>
                  <a:srgbClr val="616161"/>
                </a:solidFill>
                <a:latin typeface="Trebuchet MS"/>
                <a:cs typeface="Trebuchet MS"/>
              </a:rPr>
              <a:t>order</a:t>
            </a:r>
            <a:r>
              <a:rPr sz="1400" spc="-65" dirty="0">
                <a:solidFill>
                  <a:srgbClr val="616161"/>
                </a:solidFill>
                <a:latin typeface="Trebuchet MS"/>
                <a:cs typeface="Trebuchet MS"/>
              </a:rPr>
              <a:t> </a:t>
            </a:r>
            <a:r>
              <a:rPr sz="1400" spc="-35" dirty="0">
                <a:solidFill>
                  <a:srgbClr val="616161"/>
                </a:solidFill>
                <a:latin typeface="Trebuchet MS"/>
                <a:cs typeface="Trebuchet MS"/>
              </a:rPr>
              <a:t>function</a:t>
            </a:r>
            <a:r>
              <a:rPr sz="1400" spc="-65" dirty="0">
                <a:solidFill>
                  <a:srgbClr val="616161"/>
                </a:solidFill>
                <a:latin typeface="Trebuchet MS"/>
                <a:cs typeface="Trebuchet MS"/>
              </a:rPr>
              <a:t> </a:t>
            </a:r>
            <a:r>
              <a:rPr sz="1400" spc="-40" dirty="0">
                <a:solidFill>
                  <a:srgbClr val="616161"/>
                </a:solidFill>
                <a:latin typeface="Trebuchet MS"/>
                <a:cs typeface="Trebuchet MS"/>
              </a:rPr>
              <a:t>like</a:t>
            </a:r>
            <a:r>
              <a:rPr sz="1400" spc="-65" dirty="0">
                <a:solidFill>
                  <a:srgbClr val="616161"/>
                </a:solidFill>
                <a:latin typeface="Trebuchet MS"/>
                <a:cs typeface="Trebuchet MS"/>
              </a:rPr>
              <a:t> </a:t>
            </a:r>
            <a:r>
              <a:rPr sz="1400" spc="-10" dirty="0">
                <a:solidFill>
                  <a:srgbClr val="616161"/>
                </a:solidFill>
                <a:latin typeface="Trebuchet MS"/>
                <a:cs typeface="Trebuchet MS"/>
              </a:rPr>
              <a:t>Map,</a:t>
            </a:r>
            <a:r>
              <a:rPr sz="1400" spc="-65" dirty="0">
                <a:solidFill>
                  <a:srgbClr val="616161"/>
                </a:solidFill>
                <a:latin typeface="Trebuchet MS"/>
                <a:cs typeface="Trebuchet MS"/>
              </a:rPr>
              <a:t> </a:t>
            </a:r>
            <a:r>
              <a:rPr sz="1400" spc="5" dirty="0">
                <a:solidFill>
                  <a:srgbClr val="616161"/>
                </a:solidFill>
                <a:latin typeface="Trebuchet MS"/>
                <a:cs typeface="Trebuchet MS"/>
              </a:rPr>
              <a:t>ReduceByKey,</a:t>
            </a:r>
            <a:r>
              <a:rPr sz="1400" spc="-65" dirty="0">
                <a:solidFill>
                  <a:srgbClr val="616161"/>
                </a:solidFill>
                <a:latin typeface="Trebuchet MS"/>
                <a:cs typeface="Trebuchet MS"/>
              </a:rPr>
              <a:t> </a:t>
            </a:r>
            <a:r>
              <a:rPr sz="1400" spc="-10" dirty="0">
                <a:solidFill>
                  <a:srgbClr val="616161"/>
                </a:solidFill>
                <a:latin typeface="Trebuchet MS"/>
                <a:cs typeface="Trebuchet MS"/>
              </a:rPr>
              <a:t>FlatMap</a:t>
            </a:r>
            <a:endParaRPr sz="1400" dirty="0">
              <a:latin typeface="Trebuchet MS"/>
              <a:cs typeface="Trebuchet MS"/>
            </a:endParaRPr>
          </a:p>
          <a:p>
            <a:pPr marL="379095" indent="-367030">
              <a:lnSpc>
                <a:spcPct val="100000"/>
              </a:lnSpc>
              <a:buFont typeface="Arial"/>
              <a:buChar char="●"/>
              <a:tabLst>
                <a:tab pos="379095" algn="l"/>
                <a:tab pos="379730" algn="l"/>
              </a:tabLst>
            </a:pPr>
            <a:r>
              <a:rPr sz="1800" b="1" spc="-10" dirty="0">
                <a:solidFill>
                  <a:srgbClr val="616161"/>
                </a:solidFill>
                <a:latin typeface="Trebuchet MS"/>
                <a:cs typeface="Trebuchet MS"/>
              </a:rPr>
              <a:t>Actions</a:t>
            </a:r>
            <a:endParaRPr sz="1800" dirty="0">
              <a:latin typeface="Trebuchet MS"/>
              <a:cs typeface="Trebuchet MS"/>
            </a:endParaRPr>
          </a:p>
          <a:p>
            <a:pPr marL="836294" lvl="1" indent="-336550">
              <a:lnSpc>
                <a:spcPct val="100000"/>
              </a:lnSpc>
              <a:spcBef>
                <a:spcPts val="330"/>
              </a:spcBef>
              <a:buFont typeface="Arial MT"/>
              <a:buChar char="○"/>
              <a:tabLst>
                <a:tab pos="836294" algn="l"/>
                <a:tab pos="836930" algn="l"/>
              </a:tabLst>
            </a:pPr>
            <a:r>
              <a:rPr sz="1400" spc="5" dirty="0">
                <a:solidFill>
                  <a:srgbClr val="616161"/>
                </a:solidFill>
                <a:latin typeface="Trebuchet MS"/>
                <a:cs typeface="Trebuchet MS"/>
              </a:rPr>
              <a:t>Triggers</a:t>
            </a:r>
            <a:r>
              <a:rPr sz="1400" spc="-65" dirty="0">
                <a:solidFill>
                  <a:srgbClr val="616161"/>
                </a:solidFill>
                <a:latin typeface="Trebuchet MS"/>
                <a:cs typeface="Trebuchet MS"/>
              </a:rPr>
              <a:t> </a:t>
            </a:r>
            <a:r>
              <a:rPr sz="1400" spc="-25" dirty="0">
                <a:solidFill>
                  <a:srgbClr val="616161"/>
                </a:solidFill>
                <a:latin typeface="Trebuchet MS"/>
                <a:cs typeface="Trebuchet MS"/>
              </a:rPr>
              <a:t>computation</a:t>
            </a:r>
            <a:r>
              <a:rPr sz="1400" spc="-65" dirty="0">
                <a:solidFill>
                  <a:srgbClr val="616161"/>
                </a:solidFill>
                <a:latin typeface="Trebuchet MS"/>
                <a:cs typeface="Trebuchet MS"/>
              </a:rPr>
              <a:t> </a:t>
            </a:r>
            <a:r>
              <a:rPr sz="1400" spc="10" dirty="0">
                <a:solidFill>
                  <a:srgbClr val="616161"/>
                </a:solidFill>
                <a:latin typeface="Trebuchet MS"/>
                <a:cs typeface="Trebuchet MS"/>
              </a:rPr>
              <a:t>by</a:t>
            </a:r>
            <a:r>
              <a:rPr sz="1400" spc="-65" dirty="0">
                <a:solidFill>
                  <a:srgbClr val="616161"/>
                </a:solidFill>
                <a:latin typeface="Trebuchet MS"/>
                <a:cs typeface="Trebuchet MS"/>
              </a:rPr>
              <a:t> </a:t>
            </a:r>
            <a:r>
              <a:rPr sz="1400" spc="20" dirty="0">
                <a:solidFill>
                  <a:srgbClr val="616161"/>
                </a:solidFill>
                <a:latin typeface="Trebuchet MS"/>
                <a:cs typeface="Trebuchet MS"/>
              </a:rPr>
              <a:t>asking</a:t>
            </a:r>
            <a:r>
              <a:rPr sz="1400" spc="-65" dirty="0">
                <a:solidFill>
                  <a:srgbClr val="616161"/>
                </a:solidFill>
                <a:latin typeface="Trebuchet MS"/>
                <a:cs typeface="Trebuchet MS"/>
              </a:rPr>
              <a:t> </a:t>
            </a:r>
            <a:r>
              <a:rPr sz="1400" spc="-55" dirty="0">
                <a:solidFill>
                  <a:srgbClr val="616161"/>
                </a:solidFill>
                <a:latin typeface="Trebuchet MS"/>
                <a:cs typeface="Trebuchet MS"/>
              </a:rPr>
              <a:t>for</a:t>
            </a:r>
            <a:r>
              <a:rPr sz="1400" spc="-65" dirty="0">
                <a:solidFill>
                  <a:srgbClr val="616161"/>
                </a:solidFill>
                <a:latin typeface="Trebuchet MS"/>
                <a:cs typeface="Trebuchet MS"/>
              </a:rPr>
              <a:t> </a:t>
            </a:r>
            <a:r>
              <a:rPr sz="1400" spc="30" dirty="0">
                <a:solidFill>
                  <a:srgbClr val="616161"/>
                </a:solidFill>
                <a:latin typeface="Trebuchet MS"/>
                <a:cs typeface="Trebuchet MS"/>
              </a:rPr>
              <a:t>some</a:t>
            </a:r>
            <a:r>
              <a:rPr sz="1400" spc="-65" dirty="0">
                <a:solidFill>
                  <a:srgbClr val="616161"/>
                </a:solidFill>
                <a:latin typeface="Trebuchet MS"/>
                <a:cs typeface="Trebuchet MS"/>
              </a:rPr>
              <a:t> </a:t>
            </a:r>
            <a:r>
              <a:rPr sz="1400" spc="-30" dirty="0">
                <a:solidFill>
                  <a:srgbClr val="616161"/>
                </a:solidFill>
                <a:latin typeface="Trebuchet MS"/>
                <a:cs typeface="Trebuchet MS"/>
              </a:rPr>
              <a:t>type</a:t>
            </a:r>
            <a:r>
              <a:rPr sz="1400" spc="-65" dirty="0">
                <a:solidFill>
                  <a:srgbClr val="616161"/>
                </a:solidFill>
                <a:latin typeface="Trebuchet MS"/>
                <a:cs typeface="Trebuchet MS"/>
              </a:rPr>
              <a:t> </a:t>
            </a:r>
            <a:r>
              <a:rPr sz="1400" spc="-40" dirty="0">
                <a:solidFill>
                  <a:srgbClr val="616161"/>
                </a:solidFill>
                <a:latin typeface="Trebuchet MS"/>
                <a:cs typeface="Trebuchet MS"/>
              </a:rPr>
              <a:t>of</a:t>
            </a:r>
            <a:r>
              <a:rPr sz="1400" spc="-65" dirty="0">
                <a:solidFill>
                  <a:srgbClr val="616161"/>
                </a:solidFill>
                <a:latin typeface="Trebuchet MS"/>
                <a:cs typeface="Trebuchet MS"/>
              </a:rPr>
              <a:t> </a:t>
            </a:r>
            <a:r>
              <a:rPr sz="1400" spc="-35" dirty="0">
                <a:solidFill>
                  <a:srgbClr val="616161"/>
                </a:solidFill>
                <a:latin typeface="Trebuchet MS"/>
                <a:cs typeface="Trebuchet MS"/>
              </a:rPr>
              <a:t>output</a:t>
            </a:r>
            <a:endParaRPr sz="1400" dirty="0">
              <a:latin typeface="Trebuchet MS"/>
              <a:cs typeface="Trebuchet MS"/>
            </a:endParaRPr>
          </a:p>
          <a:p>
            <a:pPr marL="836294" lvl="1" indent="-336550">
              <a:lnSpc>
                <a:spcPct val="100000"/>
              </a:lnSpc>
              <a:spcBef>
                <a:spcPts val="270"/>
              </a:spcBef>
              <a:buFont typeface="Arial MT"/>
              <a:buChar char="○"/>
              <a:tabLst>
                <a:tab pos="836294" algn="l"/>
                <a:tab pos="836930" algn="l"/>
              </a:tabLst>
            </a:pPr>
            <a:r>
              <a:rPr sz="1400" spc="-114" dirty="0">
                <a:solidFill>
                  <a:srgbClr val="616161"/>
                </a:solidFill>
                <a:latin typeface="Trebuchet MS"/>
                <a:cs typeface="Trebuchet MS"/>
              </a:rPr>
              <a:t>i.e.</a:t>
            </a:r>
            <a:r>
              <a:rPr sz="1400" spc="-65" dirty="0">
                <a:solidFill>
                  <a:srgbClr val="616161"/>
                </a:solidFill>
                <a:latin typeface="Trebuchet MS"/>
                <a:cs typeface="Trebuchet MS"/>
              </a:rPr>
              <a:t> </a:t>
            </a:r>
            <a:r>
              <a:rPr sz="1400" spc="-25" dirty="0">
                <a:solidFill>
                  <a:srgbClr val="616161"/>
                </a:solidFill>
                <a:latin typeface="Trebuchet MS"/>
                <a:cs typeface="Trebuchet MS"/>
              </a:rPr>
              <a:t>Output</a:t>
            </a:r>
            <a:r>
              <a:rPr sz="1400" spc="-65" dirty="0">
                <a:solidFill>
                  <a:srgbClr val="616161"/>
                </a:solidFill>
                <a:latin typeface="Trebuchet MS"/>
                <a:cs typeface="Trebuchet MS"/>
              </a:rPr>
              <a:t> </a:t>
            </a:r>
            <a:r>
              <a:rPr sz="1400" spc="-50" dirty="0">
                <a:solidFill>
                  <a:srgbClr val="616161"/>
                </a:solidFill>
                <a:latin typeface="Trebuchet MS"/>
                <a:cs typeface="Trebuchet MS"/>
              </a:rPr>
              <a:t>to</a:t>
            </a:r>
            <a:r>
              <a:rPr sz="1400" spc="-65" dirty="0">
                <a:solidFill>
                  <a:srgbClr val="616161"/>
                </a:solidFill>
                <a:latin typeface="Trebuchet MS"/>
                <a:cs typeface="Trebuchet MS"/>
              </a:rPr>
              <a:t> </a:t>
            </a:r>
            <a:r>
              <a:rPr sz="1400" spc="-75" dirty="0">
                <a:solidFill>
                  <a:srgbClr val="616161"/>
                </a:solidFill>
                <a:latin typeface="Trebuchet MS"/>
                <a:cs typeface="Trebuchet MS"/>
              </a:rPr>
              <a:t>text</a:t>
            </a:r>
            <a:r>
              <a:rPr sz="1400" spc="-60" dirty="0">
                <a:solidFill>
                  <a:srgbClr val="616161"/>
                </a:solidFill>
                <a:latin typeface="Trebuchet MS"/>
                <a:cs typeface="Trebuchet MS"/>
              </a:rPr>
              <a:t> </a:t>
            </a:r>
            <a:r>
              <a:rPr sz="1400" spc="-95" dirty="0">
                <a:solidFill>
                  <a:srgbClr val="616161"/>
                </a:solidFill>
                <a:latin typeface="Trebuchet MS"/>
                <a:cs typeface="Trebuchet MS"/>
              </a:rPr>
              <a:t>file,</a:t>
            </a:r>
            <a:r>
              <a:rPr sz="1400" spc="-65" dirty="0">
                <a:solidFill>
                  <a:srgbClr val="616161"/>
                </a:solidFill>
                <a:latin typeface="Trebuchet MS"/>
                <a:cs typeface="Trebuchet MS"/>
              </a:rPr>
              <a:t> </a:t>
            </a:r>
            <a:r>
              <a:rPr sz="1400" spc="5" dirty="0">
                <a:solidFill>
                  <a:srgbClr val="616161"/>
                </a:solidFill>
                <a:latin typeface="Trebuchet MS"/>
                <a:cs typeface="Trebuchet MS"/>
              </a:rPr>
              <a:t>Count</a:t>
            </a:r>
            <a:r>
              <a:rPr sz="1400" spc="-65" dirty="0">
                <a:solidFill>
                  <a:srgbClr val="616161"/>
                </a:solidFill>
                <a:latin typeface="Trebuchet MS"/>
                <a:cs typeface="Trebuchet MS"/>
              </a:rPr>
              <a:t> </a:t>
            </a:r>
            <a:r>
              <a:rPr sz="1400" spc="-40" dirty="0">
                <a:solidFill>
                  <a:srgbClr val="616161"/>
                </a:solidFill>
                <a:latin typeface="Trebuchet MS"/>
                <a:cs typeface="Trebuchet MS"/>
              </a:rPr>
              <a:t>of</a:t>
            </a:r>
            <a:r>
              <a:rPr sz="1400" spc="-60" dirty="0">
                <a:solidFill>
                  <a:srgbClr val="616161"/>
                </a:solidFill>
                <a:latin typeface="Trebuchet MS"/>
                <a:cs typeface="Trebuchet MS"/>
              </a:rPr>
              <a:t> </a:t>
            </a:r>
            <a:r>
              <a:rPr sz="1400" spc="90" dirty="0">
                <a:solidFill>
                  <a:srgbClr val="616161"/>
                </a:solidFill>
                <a:latin typeface="Trebuchet MS"/>
                <a:cs typeface="Trebuchet MS"/>
              </a:rPr>
              <a:t>RDD</a:t>
            </a:r>
            <a:r>
              <a:rPr sz="1400" spc="-65" dirty="0">
                <a:solidFill>
                  <a:srgbClr val="616161"/>
                </a:solidFill>
                <a:latin typeface="Trebuchet MS"/>
                <a:cs typeface="Trebuchet MS"/>
              </a:rPr>
              <a:t> </a:t>
            </a:r>
            <a:r>
              <a:rPr sz="1400" spc="-60" dirty="0">
                <a:solidFill>
                  <a:srgbClr val="616161"/>
                </a:solidFill>
                <a:latin typeface="Trebuchet MS"/>
                <a:cs typeface="Trebuchet MS"/>
              </a:rPr>
              <a:t>items,</a:t>
            </a:r>
            <a:r>
              <a:rPr sz="1400" spc="-65" dirty="0">
                <a:solidFill>
                  <a:srgbClr val="616161"/>
                </a:solidFill>
                <a:latin typeface="Trebuchet MS"/>
                <a:cs typeface="Trebuchet MS"/>
              </a:rPr>
              <a:t> </a:t>
            </a:r>
            <a:r>
              <a:rPr sz="1400" spc="-35" dirty="0">
                <a:solidFill>
                  <a:srgbClr val="616161"/>
                </a:solidFill>
                <a:latin typeface="Trebuchet MS"/>
                <a:cs typeface="Trebuchet MS"/>
              </a:rPr>
              <a:t>Min,</a:t>
            </a:r>
            <a:r>
              <a:rPr sz="1400" spc="-65" dirty="0">
                <a:solidFill>
                  <a:srgbClr val="616161"/>
                </a:solidFill>
                <a:latin typeface="Trebuchet MS"/>
                <a:cs typeface="Trebuchet MS"/>
              </a:rPr>
              <a:t> </a:t>
            </a:r>
            <a:r>
              <a:rPr sz="1400" spc="40" dirty="0">
                <a:solidFill>
                  <a:srgbClr val="616161"/>
                </a:solidFill>
                <a:latin typeface="Trebuchet MS"/>
                <a:cs typeface="Trebuchet MS"/>
              </a:rPr>
              <a:t>Max</a:t>
            </a:r>
            <a:r>
              <a:rPr lang="en-US" sz="1400" spc="40" dirty="0">
                <a:solidFill>
                  <a:srgbClr val="616161"/>
                </a:solidFill>
                <a:latin typeface="Trebuchet MS"/>
                <a:cs typeface="Trebuchet MS"/>
              </a:rPr>
              <a:t>, </a:t>
            </a:r>
          </a:p>
          <a:p>
            <a:pPr marL="836294" lvl="1" indent="-336550">
              <a:lnSpc>
                <a:spcPct val="100000"/>
              </a:lnSpc>
              <a:spcBef>
                <a:spcPts val="270"/>
              </a:spcBef>
              <a:buFont typeface="Arial MT"/>
              <a:buChar char="○"/>
              <a:tabLst>
                <a:tab pos="836294" algn="l"/>
                <a:tab pos="836930" algn="l"/>
              </a:tabLst>
            </a:pPr>
            <a:r>
              <a:rPr lang="en-US" sz="1400" spc="40" dirty="0">
                <a:solidFill>
                  <a:srgbClr val="FF0000"/>
                </a:solidFill>
                <a:latin typeface="Trebuchet MS"/>
                <a:cs typeface="Trebuchet MS"/>
              </a:rPr>
              <a:t>Collect, show, save</a:t>
            </a:r>
            <a:endParaRPr sz="1400" dirty="0">
              <a:solidFill>
                <a:srgbClr val="FF0000"/>
              </a:solidFill>
              <a:latin typeface="Trebuchet MS"/>
              <a:cs typeface="Trebuchet MS"/>
            </a:endParaRPr>
          </a:p>
        </p:txBody>
      </p:sp>
      <p:pic>
        <p:nvPicPr>
          <p:cNvPr id="5" name="Picture 4">
            <a:extLst>
              <a:ext uri="{FF2B5EF4-FFF2-40B4-BE49-F238E27FC236}">
                <a16:creationId xmlns:a16="http://schemas.microsoft.com/office/drawing/2014/main" id="{AAFDF979-FDAF-AC8D-7766-911282E94112}"/>
              </a:ext>
            </a:extLst>
          </p:cNvPr>
          <p:cNvPicPr>
            <a:picLocks noChangeAspect="1"/>
          </p:cNvPicPr>
          <p:nvPr/>
        </p:nvPicPr>
        <p:blipFill>
          <a:blip r:embed="rId3"/>
          <a:stretch>
            <a:fillRect/>
          </a:stretch>
        </p:blipFill>
        <p:spPr>
          <a:xfrm>
            <a:off x="5731892" y="3181350"/>
            <a:ext cx="3412108" cy="186412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E2FAF-41E8-39BC-5980-98288C28A8B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53069FB-DD77-E0A7-CBF2-F02AB9F0AED7}"/>
              </a:ext>
            </a:extLst>
          </p:cNvPr>
          <p:cNvSpPr txBox="1">
            <a:spLocks noGrp="1"/>
          </p:cNvSpPr>
          <p:nvPr>
            <p:ph type="title"/>
          </p:nvPr>
        </p:nvSpPr>
        <p:spPr>
          <a:xfrm>
            <a:off x="381000" y="133350"/>
            <a:ext cx="4759325" cy="452120"/>
          </a:xfrm>
          <a:prstGeom prst="rect">
            <a:avLst/>
          </a:prstGeom>
        </p:spPr>
        <p:txBody>
          <a:bodyPr vert="horz" wrap="square" lIns="0" tIns="12700" rIns="0" bIns="0" rtlCol="0">
            <a:spAutoFit/>
          </a:bodyPr>
          <a:lstStyle/>
          <a:p>
            <a:pPr marL="12700">
              <a:lnSpc>
                <a:spcPct val="100000"/>
              </a:lnSpc>
              <a:spcBef>
                <a:spcPts val="100"/>
              </a:spcBef>
            </a:pPr>
            <a:r>
              <a:rPr lang="en-US" sz="2800" spc="40" dirty="0">
                <a:solidFill>
                  <a:srgbClr val="202729"/>
                </a:solidFill>
              </a:rPr>
              <a:t>Lazy evaluation in Spark</a:t>
            </a:r>
            <a:endParaRPr sz="2800" dirty="0"/>
          </a:p>
        </p:txBody>
      </p:sp>
      <p:sp>
        <p:nvSpPr>
          <p:cNvPr id="3" name="object 3">
            <a:extLst>
              <a:ext uri="{FF2B5EF4-FFF2-40B4-BE49-F238E27FC236}">
                <a16:creationId xmlns:a16="http://schemas.microsoft.com/office/drawing/2014/main" id="{D1B55331-7E78-1CBA-657F-52391654A4F1}"/>
              </a:ext>
            </a:extLst>
          </p:cNvPr>
          <p:cNvSpPr txBox="1"/>
          <p:nvPr/>
        </p:nvSpPr>
        <p:spPr>
          <a:xfrm>
            <a:off x="381000" y="742950"/>
            <a:ext cx="8305800" cy="2757806"/>
          </a:xfrm>
          <a:prstGeom prst="rect">
            <a:avLst/>
          </a:prstGeom>
        </p:spPr>
        <p:txBody>
          <a:bodyPr vert="horz" wrap="square" lIns="0" tIns="74295" rIns="0" bIns="0" rtlCol="0">
            <a:spAutoFit/>
          </a:bodyPr>
          <a:lstStyle/>
          <a:p>
            <a:pPr marL="12065">
              <a:lnSpc>
                <a:spcPct val="100000"/>
              </a:lnSpc>
              <a:spcBef>
                <a:spcPts val="585"/>
              </a:spcBef>
              <a:tabLst>
                <a:tab pos="394335" algn="l"/>
                <a:tab pos="394970" algn="l"/>
              </a:tabLst>
            </a:pPr>
            <a:r>
              <a:rPr lang="en-US" sz="2000" spc="-25" dirty="0">
                <a:solidFill>
                  <a:srgbClr val="616161"/>
                </a:solidFill>
                <a:latin typeface="Trebuchet MS"/>
                <a:cs typeface="Trebuchet MS"/>
              </a:rPr>
              <a:t>is a fundamental concept that optimizes data processing by delaying the execution of transformations until an action is performed.</a:t>
            </a:r>
          </a:p>
          <a:p>
            <a:pPr marL="394335" indent="-382270">
              <a:lnSpc>
                <a:spcPct val="100000"/>
              </a:lnSpc>
              <a:spcBef>
                <a:spcPts val="585"/>
              </a:spcBef>
              <a:buFont typeface="Arial"/>
              <a:buChar char="●"/>
              <a:tabLst>
                <a:tab pos="394335" algn="l"/>
                <a:tab pos="394970" algn="l"/>
              </a:tabLst>
            </a:pPr>
            <a:r>
              <a:rPr lang="en-US" sz="2000" dirty="0">
                <a:latin typeface="Trebuchet MS"/>
                <a:cs typeface="Trebuchet MS"/>
              </a:rPr>
              <a:t>Deferred Execution</a:t>
            </a:r>
          </a:p>
          <a:p>
            <a:pPr marL="851535" lvl="1" indent="-351790">
              <a:lnSpc>
                <a:spcPct val="100000"/>
              </a:lnSpc>
              <a:spcBef>
                <a:spcPts val="395"/>
              </a:spcBef>
              <a:buFont typeface="Arial MT"/>
              <a:buChar char="○"/>
              <a:tabLst>
                <a:tab pos="851535" algn="l"/>
                <a:tab pos="852169" algn="l"/>
              </a:tabLst>
            </a:pPr>
            <a:r>
              <a:rPr lang="en-US" sz="1600" spc="55" dirty="0">
                <a:latin typeface="Trebuchet MS"/>
                <a:cs typeface="Trebuchet MS"/>
              </a:rPr>
              <a:t>Transformations (e.g., map, filter) are not executed immediately</a:t>
            </a:r>
          </a:p>
          <a:p>
            <a:pPr marL="851535" lvl="1" indent="-351790">
              <a:lnSpc>
                <a:spcPct val="100000"/>
              </a:lnSpc>
              <a:spcBef>
                <a:spcPts val="395"/>
              </a:spcBef>
              <a:buFont typeface="Arial MT"/>
              <a:buChar char="○"/>
              <a:tabLst>
                <a:tab pos="851535" algn="l"/>
                <a:tab pos="852169" algn="l"/>
              </a:tabLst>
            </a:pPr>
            <a:r>
              <a:rPr lang="en-US" sz="1600" dirty="0">
                <a:latin typeface="Trebuchet MS"/>
                <a:cs typeface="Trebuchet MS"/>
              </a:rPr>
              <a:t>Spark records these transformations as a logical plan</a:t>
            </a:r>
            <a:endParaRPr lang="en-US" sz="1600" spc="55" dirty="0">
              <a:latin typeface="Trebuchet MS"/>
              <a:cs typeface="Trebuchet MS"/>
            </a:endParaRPr>
          </a:p>
          <a:p>
            <a:pPr marL="851535" lvl="1" indent="-351790">
              <a:lnSpc>
                <a:spcPct val="100000"/>
              </a:lnSpc>
              <a:spcBef>
                <a:spcPts val="395"/>
              </a:spcBef>
              <a:buFont typeface="Arial MT"/>
              <a:buChar char="○"/>
              <a:tabLst>
                <a:tab pos="851535" algn="l"/>
                <a:tab pos="852169" algn="l"/>
              </a:tabLst>
            </a:pPr>
            <a:r>
              <a:rPr lang="en-US" sz="1600" dirty="0">
                <a:latin typeface="Trebuchet MS"/>
                <a:cs typeface="Trebuchet MS"/>
              </a:rPr>
              <a:t>analyzes and optimizes the logical plan before execution, combining or reordering operations</a:t>
            </a:r>
          </a:p>
          <a:p>
            <a:pPr marL="851535" lvl="1" indent="-351790">
              <a:lnSpc>
                <a:spcPct val="100000"/>
              </a:lnSpc>
              <a:spcBef>
                <a:spcPts val="395"/>
              </a:spcBef>
              <a:buFont typeface="Arial MT"/>
              <a:buChar char="○"/>
              <a:tabLst>
                <a:tab pos="851535" algn="l"/>
                <a:tab pos="852169" algn="l"/>
              </a:tabLst>
            </a:pPr>
            <a:r>
              <a:rPr lang="en-US" sz="1600" dirty="0">
                <a:latin typeface="Trebuchet MS"/>
                <a:cs typeface="Trebuchet MS"/>
              </a:rPr>
              <a:t>Only when an action (e.g., count, collect, save) is called does Spark execute the transformations</a:t>
            </a:r>
          </a:p>
        </p:txBody>
      </p:sp>
    </p:spTree>
    <p:extLst>
      <p:ext uri="{BB962C8B-B14F-4D97-AF65-F5344CB8AC3E}">
        <p14:creationId xmlns:p14="http://schemas.microsoft.com/office/powerpoint/2010/main" val="19058589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4725" y="1216355"/>
            <a:ext cx="6798309" cy="3280385"/>
          </a:xfrm>
          <a:prstGeom prst="rect">
            <a:avLst/>
          </a:prstGeom>
        </p:spPr>
        <p:txBody>
          <a:bodyPr vert="horz" wrap="square" lIns="0" tIns="12700" rIns="0" bIns="0" rtlCol="0">
            <a:spAutoFit/>
          </a:bodyPr>
          <a:lstStyle/>
          <a:p>
            <a:pPr marL="12700">
              <a:lnSpc>
                <a:spcPct val="100000"/>
              </a:lnSpc>
              <a:spcBef>
                <a:spcPts val="100"/>
              </a:spcBef>
            </a:pPr>
            <a:r>
              <a:rPr sz="1800" spc="-30" dirty="0">
                <a:solidFill>
                  <a:srgbClr val="616161"/>
                </a:solidFill>
                <a:latin typeface="Trebuchet MS"/>
                <a:cs typeface="Trebuchet MS"/>
              </a:rPr>
              <a:t>What</a:t>
            </a:r>
            <a:r>
              <a:rPr sz="1800" spc="-80" dirty="0">
                <a:solidFill>
                  <a:srgbClr val="616161"/>
                </a:solidFill>
                <a:latin typeface="Trebuchet MS"/>
                <a:cs typeface="Trebuchet MS"/>
              </a:rPr>
              <a:t> </a:t>
            </a:r>
            <a:r>
              <a:rPr sz="1800" spc="55" dirty="0">
                <a:solidFill>
                  <a:srgbClr val="616161"/>
                </a:solidFill>
                <a:latin typeface="Trebuchet MS"/>
                <a:cs typeface="Trebuchet MS"/>
              </a:rPr>
              <a:t>does</a:t>
            </a:r>
            <a:r>
              <a:rPr sz="1800" spc="-80" dirty="0">
                <a:solidFill>
                  <a:srgbClr val="616161"/>
                </a:solidFill>
                <a:latin typeface="Trebuchet MS"/>
                <a:cs typeface="Trebuchet MS"/>
              </a:rPr>
              <a:t> </a:t>
            </a:r>
            <a:r>
              <a:rPr sz="1800" spc="-150" dirty="0">
                <a:solidFill>
                  <a:srgbClr val="616161"/>
                </a:solidFill>
                <a:latin typeface="Trebuchet MS"/>
                <a:cs typeface="Trebuchet MS"/>
              </a:rPr>
              <a:t>it</a:t>
            </a:r>
            <a:r>
              <a:rPr sz="1800" spc="-80" dirty="0">
                <a:solidFill>
                  <a:srgbClr val="616161"/>
                </a:solidFill>
                <a:latin typeface="Trebuchet MS"/>
                <a:cs typeface="Trebuchet MS"/>
              </a:rPr>
              <a:t> </a:t>
            </a:r>
            <a:r>
              <a:rPr sz="1800" spc="85" dirty="0">
                <a:solidFill>
                  <a:srgbClr val="616161"/>
                </a:solidFill>
                <a:latin typeface="Trebuchet MS"/>
                <a:cs typeface="Trebuchet MS"/>
              </a:rPr>
              <a:t>do?</a:t>
            </a:r>
            <a:endParaRPr sz="1800" dirty="0">
              <a:latin typeface="Trebuchet MS"/>
              <a:cs typeface="Trebuchet MS"/>
            </a:endParaRPr>
          </a:p>
          <a:p>
            <a:pPr marL="469900" indent="-367030">
              <a:lnSpc>
                <a:spcPct val="100000"/>
              </a:lnSpc>
              <a:spcBef>
                <a:spcPts val="1889"/>
              </a:spcBef>
              <a:buFont typeface="Arial MT"/>
              <a:buChar char="●"/>
              <a:tabLst>
                <a:tab pos="469265" algn="l"/>
                <a:tab pos="469900" algn="l"/>
              </a:tabLst>
            </a:pPr>
            <a:r>
              <a:rPr sz="1800" spc="15" dirty="0">
                <a:solidFill>
                  <a:srgbClr val="616161"/>
                </a:solidFill>
                <a:latin typeface="Trebuchet MS"/>
                <a:cs typeface="Trebuchet MS"/>
              </a:rPr>
              <a:t>Computes</a:t>
            </a:r>
            <a:r>
              <a:rPr sz="1800" spc="-95" dirty="0">
                <a:solidFill>
                  <a:srgbClr val="616161"/>
                </a:solidFill>
                <a:latin typeface="Trebuchet MS"/>
                <a:cs typeface="Trebuchet MS"/>
              </a:rPr>
              <a:t> </a:t>
            </a:r>
            <a:r>
              <a:rPr sz="1800" spc="5" dirty="0">
                <a:solidFill>
                  <a:srgbClr val="616161"/>
                </a:solidFill>
                <a:latin typeface="Trebuchet MS"/>
                <a:cs typeface="Trebuchet MS"/>
              </a:rPr>
              <a:t>an</a:t>
            </a:r>
            <a:r>
              <a:rPr sz="1800" spc="-95" dirty="0">
                <a:solidFill>
                  <a:srgbClr val="616161"/>
                </a:solidFill>
                <a:latin typeface="Trebuchet MS"/>
                <a:cs typeface="Trebuchet MS"/>
              </a:rPr>
              <a:t> </a:t>
            </a:r>
            <a:r>
              <a:rPr sz="1800" spc="-20" dirty="0">
                <a:solidFill>
                  <a:srgbClr val="616161"/>
                </a:solidFill>
                <a:latin typeface="Trebuchet MS"/>
                <a:cs typeface="Trebuchet MS"/>
              </a:rPr>
              <a:t>execution</a:t>
            </a:r>
            <a:r>
              <a:rPr sz="1800" spc="-95" dirty="0">
                <a:solidFill>
                  <a:srgbClr val="616161"/>
                </a:solidFill>
                <a:latin typeface="Trebuchet MS"/>
                <a:cs typeface="Trebuchet MS"/>
              </a:rPr>
              <a:t> </a:t>
            </a:r>
            <a:r>
              <a:rPr sz="1800" spc="114" dirty="0">
                <a:solidFill>
                  <a:srgbClr val="616161"/>
                </a:solidFill>
                <a:latin typeface="Trebuchet MS"/>
                <a:cs typeface="Trebuchet MS"/>
              </a:rPr>
              <a:t>DAG</a:t>
            </a:r>
            <a:endParaRPr lang="en-US" sz="1800" dirty="0">
              <a:latin typeface="Trebuchet MS"/>
              <a:cs typeface="Trebuchet MS"/>
            </a:endParaRPr>
          </a:p>
          <a:p>
            <a:pPr>
              <a:lnSpc>
                <a:spcPct val="100000"/>
              </a:lnSpc>
              <a:buClr>
                <a:srgbClr val="616161"/>
              </a:buClr>
              <a:buFont typeface="Arial MT"/>
              <a:buChar char="●"/>
            </a:pPr>
            <a:endParaRPr lang="en-US" sz="2400" dirty="0">
              <a:latin typeface="Trebuchet MS"/>
              <a:cs typeface="Trebuchet MS"/>
            </a:endParaRPr>
          </a:p>
          <a:p>
            <a:pPr marL="469900" indent="-367030">
              <a:lnSpc>
                <a:spcPct val="100000"/>
              </a:lnSpc>
              <a:buFont typeface="Arial MT"/>
              <a:buChar char="●"/>
              <a:tabLst>
                <a:tab pos="469265" algn="l"/>
                <a:tab pos="469900" algn="l"/>
              </a:tabLst>
            </a:pPr>
            <a:r>
              <a:rPr sz="1800" spc="-10" dirty="0">
                <a:solidFill>
                  <a:srgbClr val="616161"/>
                </a:solidFill>
                <a:latin typeface="Trebuchet MS"/>
                <a:cs typeface="Trebuchet MS"/>
              </a:rPr>
              <a:t>Determines</a:t>
            </a:r>
            <a:r>
              <a:rPr sz="1800" spc="-80" dirty="0">
                <a:solidFill>
                  <a:srgbClr val="616161"/>
                </a:solidFill>
                <a:latin typeface="Trebuchet MS"/>
                <a:cs typeface="Trebuchet MS"/>
              </a:rPr>
              <a:t> </a:t>
            </a:r>
            <a:r>
              <a:rPr sz="1800" spc="-50" dirty="0">
                <a:solidFill>
                  <a:srgbClr val="616161"/>
                </a:solidFill>
                <a:latin typeface="Trebuchet MS"/>
                <a:cs typeface="Trebuchet MS"/>
              </a:rPr>
              <a:t>the</a:t>
            </a:r>
            <a:r>
              <a:rPr sz="1800" spc="-75" dirty="0">
                <a:solidFill>
                  <a:srgbClr val="616161"/>
                </a:solidFill>
                <a:latin typeface="Trebuchet MS"/>
                <a:cs typeface="Trebuchet MS"/>
              </a:rPr>
              <a:t> </a:t>
            </a:r>
            <a:r>
              <a:rPr sz="1800" spc="-40" dirty="0">
                <a:solidFill>
                  <a:srgbClr val="616161"/>
                </a:solidFill>
                <a:latin typeface="Trebuchet MS"/>
                <a:cs typeface="Trebuchet MS"/>
              </a:rPr>
              <a:t>preferred</a:t>
            </a:r>
            <a:r>
              <a:rPr sz="1800" spc="-80" dirty="0">
                <a:solidFill>
                  <a:srgbClr val="616161"/>
                </a:solidFill>
                <a:latin typeface="Trebuchet MS"/>
                <a:cs typeface="Trebuchet MS"/>
              </a:rPr>
              <a:t> </a:t>
            </a:r>
            <a:r>
              <a:rPr sz="1800" spc="-20" dirty="0">
                <a:solidFill>
                  <a:srgbClr val="616161"/>
                </a:solidFill>
                <a:latin typeface="Trebuchet MS"/>
                <a:cs typeface="Trebuchet MS"/>
              </a:rPr>
              <a:t>locations</a:t>
            </a:r>
            <a:r>
              <a:rPr sz="1800" spc="-75" dirty="0">
                <a:solidFill>
                  <a:srgbClr val="616161"/>
                </a:solidFill>
                <a:latin typeface="Trebuchet MS"/>
                <a:cs typeface="Trebuchet MS"/>
              </a:rPr>
              <a:t> </a:t>
            </a:r>
            <a:r>
              <a:rPr sz="1800" spc="-45" dirty="0">
                <a:solidFill>
                  <a:srgbClr val="616161"/>
                </a:solidFill>
                <a:latin typeface="Trebuchet MS"/>
                <a:cs typeface="Trebuchet MS"/>
              </a:rPr>
              <a:t>(Executors)</a:t>
            </a:r>
            <a:r>
              <a:rPr sz="1800" spc="-75" dirty="0">
                <a:solidFill>
                  <a:srgbClr val="616161"/>
                </a:solidFill>
                <a:latin typeface="Trebuchet MS"/>
                <a:cs typeface="Trebuchet MS"/>
              </a:rPr>
              <a:t> </a:t>
            </a:r>
            <a:r>
              <a:rPr sz="1800" spc="-65" dirty="0">
                <a:solidFill>
                  <a:srgbClr val="616161"/>
                </a:solidFill>
                <a:latin typeface="Trebuchet MS"/>
                <a:cs typeface="Trebuchet MS"/>
              </a:rPr>
              <a:t>to</a:t>
            </a:r>
            <a:r>
              <a:rPr sz="1800" spc="-80" dirty="0">
                <a:solidFill>
                  <a:srgbClr val="616161"/>
                </a:solidFill>
                <a:latin typeface="Trebuchet MS"/>
                <a:cs typeface="Trebuchet MS"/>
              </a:rPr>
              <a:t> </a:t>
            </a:r>
            <a:r>
              <a:rPr sz="1800" spc="-30" dirty="0">
                <a:solidFill>
                  <a:srgbClr val="616161"/>
                </a:solidFill>
                <a:latin typeface="Trebuchet MS"/>
                <a:cs typeface="Trebuchet MS"/>
              </a:rPr>
              <a:t>run</a:t>
            </a:r>
            <a:r>
              <a:rPr sz="1800" spc="-75" dirty="0">
                <a:solidFill>
                  <a:srgbClr val="616161"/>
                </a:solidFill>
                <a:latin typeface="Trebuchet MS"/>
                <a:cs typeface="Trebuchet MS"/>
              </a:rPr>
              <a:t> </a:t>
            </a:r>
            <a:r>
              <a:rPr sz="1800" spc="10" dirty="0">
                <a:solidFill>
                  <a:srgbClr val="616161"/>
                </a:solidFill>
                <a:latin typeface="Trebuchet MS"/>
                <a:cs typeface="Trebuchet MS"/>
              </a:rPr>
              <a:t>each</a:t>
            </a:r>
            <a:r>
              <a:rPr sz="1800" spc="-80" dirty="0">
                <a:solidFill>
                  <a:srgbClr val="616161"/>
                </a:solidFill>
                <a:latin typeface="Trebuchet MS"/>
                <a:cs typeface="Trebuchet MS"/>
              </a:rPr>
              <a:t> </a:t>
            </a:r>
            <a:r>
              <a:rPr sz="1800" spc="-15" dirty="0">
                <a:solidFill>
                  <a:srgbClr val="616161"/>
                </a:solidFill>
                <a:latin typeface="Trebuchet MS"/>
                <a:cs typeface="Trebuchet MS"/>
              </a:rPr>
              <a:t>task</a:t>
            </a:r>
            <a:endParaRPr sz="1800" dirty="0">
              <a:latin typeface="Trebuchet MS"/>
              <a:cs typeface="Trebuchet MS"/>
            </a:endParaRPr>
          </a:p>
          <a:p>
            <a:pPr>
              <a:lnSpc>
                <a:spcPct val="100000"/>
              </a:lnSpc>
              <a:spcBef>
                <a:spcPts val="5"/>
              </a:spcBef>
              <a:buClr>
                <a:srgbClr val="616161"/>
              </a:buClr>
              <a:buFont typeface="Arial MT"/>
              <a:buChar char="●"/>
            </a:pPr>
            <a:endParaRPr sz="2400" dirty="0">
              <a:latin typeface="Trebuchet MS"/>
              <a:cs typeface="Trebuchet MS"/>
            </a:endParaRPr>
          </a:p>
          <a:p>
            <a:pPr marL="469900" indent="-367030">
              <a:lnSpc>
                <a:spcPct val="100000"/>
              </a:lnSpc>
              <a:buFont typeface="Arial MT"/>
              <a:buChar char="●"/>
              <a:tabLst>
                <a:tab pos="469265" algn="l"/>
                <a:tab pos="469900" algn="l"/>
              </a:tabLst>
            </a:pPr>
            <a:r>
              <a:rPr sz="1800" spc="20" dirty="0">
                <a:solidFill>
                  <a:srgbClr val="616161"/>
                </a:solidFill>
                <a:latin typeface="Trebuchet MS"/>
                <a:cs typeface="Trebuchet MS"/>
              </a:rPr>
              <a:t>Handles</a:t>
            </a:r>
            <a:r>
              <a:rPr sz="1800" spc="-80" dirty="0">
                <a:solidFill>
                  <a:srgbClr val="616161"/>
                </a:solidFill>
                <a:latin typeface="Trebuchet MS"/>
                <a:cs typeface="Trebuchet MS"/>
              </a:rPr>
              <a:t> </a:t>
            </a:r>
            <a:r>
              <a:rPr sz="1800" spc="-65" dirty="0">
                <a:solidFill>
                  <a:srgbClr val="616161"/>
                </a:solidFill>
                <a:latin typeface="Trebuchet MS"/>
                <a:cs typeface="Trebuchet MS"/>
              </a:rPr>
              <a:t>failure</a:t>
            </a:r>
            <a:r>
              <a:rPr sz="1800" spc="-80" dirty="0">
                <a:solidFill>
                  <a:srgbClr val="616161"/>
                </a:solidFill>
                <a:latin typeface="Trebuchet MS"/>
                <a:cs typeface="Trebuchet MS"/>
              </a:rPr>
              <a:t> </a:t>
            </a:r>
            <a:r>
              <a:rPr sz="1800" spc="20" dirty="0">
                <a:solidFill>
                  <a:srgbClr val="616161"/>
                </a:solidFill>
                <a:latin typeface="Trebuchet MS"/>
                <a:cs typeface="Trebuchet MS"/>
              </a:rPr>
              <a:t>due</a:t>
            </a:r>
            <a:r>
              <a:rPr sz="1800" spc="-80" dirty="0">
                <a:solidFill>
                  <a:srgbClr val="616161"/>
                </a:solidFill>
                <a:latin typeface="Trebuchet MS"/>
                <a:cs typeface="Trebuchet MS"/>
              </a:rPr>
              <a:t> </a:t>
            </a:r>
            <a:r>
              <a:rPr sz="1800" spc="-65" dirty="0">
                <a:solidFill>
                  <a:srgbClr val="616161"/>
                </a:solidFill>
                <a:latin typeface="Trebuchet MS"/>
                <a:cs typeface="Trebuchet MS"/>
              </a:rPr>
              <a:t>to</a:t>
            </a:r>
            <a:r>
              <a:rPr sz="1800" spc="-80" dirty="0">
                <a:solidFill>
                  <a:srgbClr val="616161"/>
                </a:solidFill>
                <a:latin typeface="Trebuchet MS"/>
                <a:cs typeface="Trebuchet MS"/>
              </a:rPr>
              <a:t> </a:t>
            </a:r>
            <a:r>
              <a:rPr sz="1800" spc="-35" dirty="0">
                <a:solidFill>
                  <a:srgbClr val="616161"/>
                </a:solidFill>
                <a:latin typeface="Trebuchet MS"/>
                <a:cs typeface="Trebuchet MS"/>
              </a:rPr>
              <a:t>lost</a:t>
            </a:r>
            <a:r>
              <a:rPr sz="1800" spc="-80" dirty="0">
                <a:solidFill>
                  <a:srgbClr val="616161"/>
                </a:solidFill>
                <a:latin typeface="Trebuchet MS"/>
                <a:cs typeface="Trebuchet MS"/>
              </a:rPr>
              <a:t> </a:t>
            </a:r>
            <a:r>
              <a:rPr sz="1800" spc="-40" dirty="0">
                <a:solidFill>
                  <a:srgbClr val="616161"/>
                </a:solidFill>
                <a:latin typeface="Trebuchet MS"/>
                <a:cs typeface="Trebuchet MS"/>
              </a:rPr>
              <a:t>shuffle</a:t>
            </a:r>
            <a:r>
              <a:rPr sz="1800" spc="-80" dirty="0">
                <a:solidFill>
                  <a:srgbClr val="616161"/>
                </a:solidFill>
                <a:latin typeface="Trebuchet MS"/>
                <a:cs typeface="Trebuchet MS"/>
              </a:rPr>
              <a:t> </a:t>
            </a:r>
            <a:r>
              <a:rPr sz="1800" spc="-45" dirty="0">
                <a:solidFill>
                  <a:srgbClr val="616161"/>
                </a:solidFill>
                <a:latin typeface="Trebuchet MS"/>
                <a:cs typeface="Trebuchet MS"/>
              </a:rPr>
              <a:t>output</a:t>
            </a:r>
            <a:r>
              <a:rPr sz="1800" spc="-80" dirty="0">
                <a:solidFill>
                  <a:srgbClr val="616161"/>
                </a:solidFill>
                <a:latin typeface="Trebuchet MS"/>
                <a:cs typeface="Trebuchet MS"/>
              </a:rPr>
              <a:t> </a:t>
            </a:r>
            <a:r>
              <a:rPr sz="1800" spc="-50" dirty="0">
                <a:solidFill>
                  <a:srgbClr val="616161"/>
                </a:solidFill>
                <a:latin typeface="Trebuchet MS"/>
                <a:cs typeface="Trebuchet MS"/>
              </a:rPr>
              <a:t>files</a:t>
            </a:r>
            <a:endParaRPr sz="1800" dirty="0">
              <a:latin typeface="Trebuchet MS"/>
              <a:cs typeface="Trebuchet MS"/>
            </a:endParaRPr>
          </a:p>
          <a:p>
            <a:pPr>
              <a:lnSpc>
                <a:spcPct val="100000"/>
              </a:lnSpc>
              <a:buClr>
                <a:srgbClr val="616161"/>
              </a:buClr>
              <a:buFont typeface="Arial MT"/>
              <a:buChar char="●"/>
            </a:pPr>
            <a:endParaRPr sz="2400" dirty="0">
              <a:latin typeface="Trebuchet MS"/>
              <a:cs typeface="Trebuchet MS"/>
            </a:endParaRPr>
          </a:p>
          <a:p>
            <a:pPr marL="469900" indent="-367030">
              <a:lnSpc>
                <a:spcPct val="100000"/>
              </a:lnSpc>
              <a:spcBef>
                <a:spcPts val="5"/>
              </a:spcBef>
              <a:buFont typeface="Arial MT"/>
              <a:buChar char="●"/>
              <a:tabLst>
                <a:tab pos="469265" algn="l"/>
                <a:tab pos="469900" algn="l"/>
              </a:tabLst>
            </a:pPr>
            <a:r>
              <a:rPr sz="1800" spc="-20" dirty="0">
                <a:solidFill>
                  <a:srgbClr val="616161"/>
                </a:solidFill>
                <a:latin typeface="Trebuchet MS"/>
                <a:cs typeface="Trebuchet MS"/>
              </a:rPr>
              <a:t>Performs</a:t>
            </a:r>
            <a:r>
              <a:rPr sz="1800" spc="-95" dirty="0">
                <a:solidFill>
                  <a:srgbClr val="616161"/>
                </a:solidFill>
                <a:latin typeface="Trebuchet MS"/>
                <a:cs typeface="Trebuchet MS"/>
              </a:rPr>
              <a:t> </a:t>
            </a:r>
            <a:r>
              <a:rPr sz="1800" spc="-25" dirty="0">
                <a:solidFill>
                  <a:srgbClr val="616161"/>
                </a:solidFill>
                <a:latin typeface="Trebuchet MS"/>
                <a:cs typeface="Trebuchet MS"/>
              </a:rPr>
              <a:t>operation</a:t>
            </a:r>
            <a:r>
              <a:rPr sz="1800" spc="-95" dirty="0">
                <a:solidFill>
                  <a:srgbClr val="616161"/>
                </a:solidFill>
                <a:latin typeface="Trebuchet MS"/>
                <a:cs typeface="Trebuchet MS"/>
              </a:rPr>
              <a:t> </a:t>
            </a:r>
            <a:r>
              <a:rPr sz="1800" spc="-35" dirty="0">
                <a:solidFill>
                  <a:srgbClr val="616161"/>
                </a:solidFill>
                <a:latin typeface="Trebuchet MS"/>
                <a:cs typeface="Trebuchet MS"/>
              </a:rPr>
              <a:t>optimizing</a:t>
            </a:r>
            <a:endParaRPr sz="1800" dirty="0">
              <a:latin typeface="Trebuchet MS"/>
              <a:cs typeface="Trebuchet MS"/>
            </a:endParaRPr>
          </a:p>
          <a:p>
            <a:pPr marL="927100" lvl="1" indent="-336550">
              <a:lnSpc>
                <a:spcPct val="100000"/>
              </a:lnSpc>
              <a:spcBef>
                <a:spcPts val="330"/>
              </a:spcBef>
              <a:buFont typeface="Arial MT"/>
              <a:buChar char="○"/>
              <a:tabLst>
                <a:tab pos="926465" algn="l"/>
                <a:tab pos="927100" algn="l"/>
              </a:tabLst>
            </a:pPr>
            <a:r>
              <a:rPr sz="1600" spc="20" dirty="0">
                <a:solidFill>
                  <a:srgbClr val="616161"/>
                </a:solidFill>
                <a:latin typeface="Trebuchet MS"/>
                <a:cs typeface="Trebuchet MS"/>
              </a:rPr>
              <a:t>Groups</a:t>
            </a:r>
            <a:r>
              <a:rPr sz="1600" spc="-60" dirty="0">
                <a:solidFill>
                  <a:srgbClr val="616161"/>
                </a:solidFill>
                <a:latin typeface="Trebuchet MS"/>
                <a:cs typeface="Trebuchet MS"/>
              </a:rPr>
              <a:t> </a:t>
            </a:r>
            <a:r>
              <a:rPr sz="1600" spc="-55" dirty="0">
                <a:solidFill>
                  <a:srgbClr val="616161"/>
                </a:solidFill>
                <a:latin typeface="Trebuchet MS"/>
                <a:cs typeface="Trebuchet MS"/>
              </a:rPr>
              <a:t>multiple</a:t>
            </a:r>
            <a:r>
              <a:rPr sz="1600" spc="-60" dirty="0">
                <a:solidFill>
                  <a:srgbClr val="616161"/>
                </a:solidFill>
                <a:latin typeface="Trebuchet MS"/>
                <a:cs typeface="Trebuchet MS"/>
              </a:rPr>
              <a:t> </a:t>
            </a:r>
            <a:r>
              <a:rPr sz="1600" spc="-10" dirty="0">
                <a:solidFill>
                  <a:srgbClr val="616161"/>
                </a:solidFill>
                <a:latin typeface="Trebuchet MS"/>
                <a:cs typeface="Trebuchet MS"/>
              </a:rPr>
              <a:t>operations</a:t>
            </a:r>
            <a:r>
              <a:rPr sz="1600" spc="-60" dirty="0">
                <a:solidFill>
                  <a:srgbClr val="616161"/>
                </a:solidFill>
                <a:latin typeface="Trebuchet MS"/>
                <a:cs typeface="Trebuchet MS"/>
              </a:rPr>
              <a:t> </a:t>
            </a:r>
            <a:r>
              <a:rPr sz="1600" spc="-90" dirty="0">
                <a:solidFill>
                  <a:srgbClr val="616161"/>
                </a:solidFill>
                <a:latin typeface="Trebuchet MS"/>
                <a:cs typeface="Trebuchet MS"/>
              </a:rPr>
              <a:t>(e.g.</a:t>
            </a:r>
            <a:r>
              <a:rPr sz="1600" spc="-60" dirty="0">
                <a:solidFill>
                  <a:srgbClr val="616161"/>
                </a:solidFill>
                <a:latin typeface="Trebuchet MS"/>
                <a:cs typeface="Trebuchet MS"/>
              </a:rPr>
              <a:t> </a:t>
            </a:r>
            <a:r>
              <a:rPr sz="1600" spc="15" dirty="0">
                <a:solidFill>
                  <a:srgbClr val="616161"/>
                </a:solidFill>
                <a:latin typeface="Trebuchet MS"/>
                <a:cs typeface="Trebuchet MS"/>
              </a:rPr>
              <a:t>maps</a:t>
            </a:r>
            <a:r>
              <a:rPr sz="1600" spc="-55" dirty="0">
                <a:solidFill>
                  <a:srgbClr val="616161"/>
                </a:solidFill>
                <a:latin typeface="Trebuchet MS"/>
                <a:cs typeface="Trebuchet MS"/>
              </a:rPr>
              <a:t> </a:t>
            </a:r>
            <a:r>
              <a:rPr sz="1600" spc="10" dirty="0">
                <a:solidFill>
                  <a:srgbClr val="616161"/>
                </a:solidFill>
                <a:latin typeface="Trebuchet MS"/>
                <a:cs typeface="Trebuchet MS"/>
              </a:rPr>
              <a:t>and</a:t>
            </a:r>
            <a:r>
              <a:rPr sz="1600" spc="-60" dirty="0">
                <a:solidFill>
                  <a:srgbClr val="616161"/>
                </a:solidFill>
                <a:latin typeface="Trebuchet MS"/>
                <a:cs typeface="Trebuchet MS"/>
              </a:rPr>
              <a:t> </a:t>
            </a:r>
            <a:r>
              <a:rPr sz="1600" spc="-75" dirty="0">
                <a:solidFill>
                  <a:srgbClr val="616161"/>
                </a:solidFill>
                <a:latin typeface="Trebuchet MS"/>
                <a:cs typeface="Trebuchet MS"/>
              </a:rPr>
              <a:t>filters)</a:t>
            </a:r>
            <a:r>
              <a:rPr sz="1600" spc="-60" dirty="0">
                <a:solidFill>
                  <a:srgbClr val="616161"/>
                </a:solidFill>
                <a:latin typeface="Trebuchet MS"/>
                <a:cs typeface="Trebuchet MS"/>
              </a:rPr>
              <a:t> </a:t>
            </a:r>
            <a:r>
              <a:rPr sz="1600" spc="-45" dirty="0">
                <a:solidFill>
                  <a:srgbClr val="616161"/>
                </a:solidFill>
                <a:latin typeface="Trebuchet MS"/>
                <a:cs typeface="Trebuchet MS"/>
              </a:rPr>
              <a:t>into</a:t>
            </a:r>
            <a:r>
              <a:rPr sz="1600" spc="-60" dirty="0">
                <a:solidFill>
                  <a:srgbClr val="616161"/>
                </a:solidFill>
                <a:latin typeface="Trebuchet MS"/>
                <a:cs typeface="Trebuchet MS"/>
              </a:rPr>
              <a:t> </a:t>
            </a:r>
            <a:r>
              <a:rPr sz="1600" spc="-40" dirty="0">
                <a:solidFill>
                  <a:srgbClr val="616161"/>
                </a:solidFill>
                <a:latin typeface="Trebuchet MS"/>
                <a:cs typeface="Trebuchet MS"/>
              </a:rPr>
              <a:t>the</a:t>
            </a:r>
            <a:r>
              <a:rPr sz="1600" spc="-55" dirty="0">
                <a:solidFill>
                  <a:srgbClr val="616161"/>
                </a:solidFill>
                <a:latin typeface="Trebuchet MS"/>
                <a:cs typeface="Trebuchet MS"/>
              </a:rPr>
              <a:t> </a:t>
            </a:r>
            <a:r>
              <a:rPr sz="1600" spc="20" dirty="0">
                <a:solidFill>
                  <a:srgbClr val="616161"/>
                </a:solidFill>
                <a:latin typeface="Trebuchet MS"/>
                <a:cs typeface="Trebuchet MS"/>
              </a:rPr>
              <a:t>same</a:t>
            </a:r>
            <a:r>
              <a:rPr sz="1600" spc="-60" dirty="0">
                <a:solidFill>
                  <a:srgbClr val="616161"/>
                </a:solidFill>
                <a:latin typeface="Trebuchet MS"/>
                <a:cs typeface="Trebuchet MS"/>
              </a:rPr>
              <a:t> </a:t>
            </a:r>
            <a:r>
              <a:rPr sz="1600" spc="10" dirty="0">
                <a:solidFill>
                  <a:srgbClr val="616161"/>
                </a:solidFill>
                <a:latin typeface="Trebuchet MS"/>
                <a:cs typeface="Trebuchet MS"/>
              </a:rPr>
              <a:t>stage</a:t>
            </a:r>
            <a:endParaRPr sz="1600" dirty="0">
              <a:latin typeface="Trebuchet MS"/>
              <a:cs typeface="Trebuchet MS"/>
            </a:endParaRPr>
          </a:p>
        </p:txBody>
      </p:sp>
      <p:sp>
        <p:nvSpPr>
          <p:cNvPr id="3" name="object 3"/>
          <p:cNvSpPr txBox="1">
            <a:spLocks noGrp="1"/>
          </p:cNvSpPr>
          <p:nvPr>
            <p:ph type="title"/>
          </p:nvPr>
        </p:nvSpPr>
        <p:spPr>
          <a:xfrm>
            <a:off x="384725" y="503825"/>
            <a:ext cx="2341245" cy="452120"/>
          </a:xfrm>
          <a:prstGeom prst="rect">
            <a:avLst/>
          </a:prstGeom>
        </p:spPr>
        <p:txBody>
          <a:bodyPr vert="horz" wrap="square" lIns="0" tIns="12700" rIns="0" bIns="0" rtlCol="0">
            <a:spAutoFit/>
          </a:bodyPr>
          <a:lstStyle/>
          <a:p>
            <a:pPr marL="12700">
              <a:lnSpc>
                <a:spcPct val="100000"/>
              </a:lnSpc>
              <a:spcBef>
                <a:spcPts val="100"/>
              </a:spcBef>
            </a:pPr>
            <a:r>
              <a:rPr sz="2800" spc="50" dirty="0">
                <a:solidFill>
                  <a:srgbClr val="202729"/>
                </a:solidFill>
              </a:rPr>
              <a:t>DAGScheduler</a:t>
            </a:r>
            <a:endParaRPr sz="2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2279" y="225390"/>
            <a:ext cx="8378275" cy="443711"/>
          </a:xfrm>
          <a:prstGeom prst="rect">
            <a:avLst/>
          </a:prstGeom>
        </p:spPr>
        <p:txBody>
          <a:bodyPr vert="horz" wrap="square" lIns="0" tIns="12700" rIns="0" bIns="0" rtlCol="0">
            <a:spAutoFit/>
          </a:bodyPr>
          <a:lstStyle/>
          <a:p>
            <a:pPr marL="12700">
              <a:lnSpc>
                <a:spcPct val="100000"/>
              </a:lnSpc>
              <a:spcBef>
                <a:spcPts val="100"/>
              </a:spcBef>
            </a:pPr>
            <a:r>
              <a:rPr sz="2800" spc="50" dirty="0" err="1">
                <a:solidFill>
                  <a:srgbClr val="202729"/>
                </a:solidFill>
              </a:rPr>
              <a:t>DAGScheduler</a:t>
            </a:r>
            <a:r>
              <a:rPr lang="en-US" sz="2800" spc="50" dirty="0">
                <a:solidFill>
                  <a:srgbClr val="202729"/>
                </a:solidFill>
              </a:rPr>
              <a:t> - Directed Acyclic Graph Scheduler</a:t>
            </a:r>
            <a:endParaRPr sz="2800" dirty="0"/>
          </a:p>
        </p:txBody>
      </p:sp>
      <p:pic>
        <p:nvPicPr>
          <p:cNvPr id="3" name="object 3"/>
          <p:cNvPicPr/>
          <p:nvPr/>
        </p:nvPicPr>
        <p:blipFill>
          <a:blip r:embed="rId2" cstate="print"/>
          <a:stretch>
            <a:fillRect/>
          </a:stretch>
        </p:blipFill>
        <p:spPr>
          <a:xfrm>
            <a:off x="1143000" y="819150"/>
            <a:ext cx="6934200" cy="40989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FFC5E-49B0-1A7A-E245-77AA94699FA8}"/>
              </a:ext>
            </a:extLst>
          </p:cNvPr>
          <p:cNvSpPr>
            <a:spLocks noGrp="1"/>
          </p:cNvSpPr>
          <p:nvPr>
            <p:ph type="title"/>
          </p:nvPr>
        </p:nvSpPr>
        <p:spPr/>
        <p:txBody>
          <a:bodyPr/>
          <a:lstStyle/>
          <a:p>
            <a:endParaRPr lang="en-US"/>
          </a:p>
        </p:txBody>
      </p:sp>
      <p:sp>
        <p:nvSpPr>
          <p:cNvPr id="3" name="object 2">
            <a:extLst>
              <a:ext uri="{FF2B5EF4-FFF2-40B4-BE49-F238E27FC236}">
                <a16:creationId xmlns:a16="http://schemas.microsoft.com/office/drawing/2014/main" id="{897D7632-3301-5C10-84D2-539AA2289A02}"/>
              </a:ext>
            </a:extLst>
          </p:cNvPr>
          <p:cNvSpPr txBox="1">
            <a:spLocks/>
          </p:cNvSpPr>
          <p:nvPr/>
        </p:nvSpPr>
        <p:spPr>
          <a:xfrm>
            <a:off x="384725" y="503825"/>
            <a:ext cx="2341245" cy="452120"/>
          </a:xfrm>
          <a:prstGeom prst="rect">
            <a:avLst/>
          </a:prstGeom>
        </p:spPr>
        <p:txBody>
          <a:bodyPr vert="horz" wrap="square" lIns="0" tIns="12700" rIns="0" bIns="0" rtlCol="0">
            <a:spAutoFit/>
          </a:bodyPr>
          <a:lstStyle>
            <a:lvl1pPr>
              <a:defRPr sz="4800" b="0" i="0">
                <a:solidFill>
                  <a:schemeClr val="bg1"/>
                </a:solidFill>
                <a:latin typeface="Trebuchet MS"/>
                <a:ea typeface="+mj-ea"/>
                <a:cs typeface="Trebuchet MS"/>
              </a:defRPr>
            </a:lvl1pPr>
          </a:lstStyle>
          <a:p>
            <a:pPr marL="12700">
              <a:spcBef>
                <a:spcPts val="100"/>
              </a:spcBef>
            </a:pPr>
            <a:r>
              <a:rPr lang="en-US" sz="2800" kern="0" spc="50" dirty="0">
                <a:solidFill>
                  <a:srgbClr val="202729"/>
                </a:solidFill>
              </a:rPr>
              <a:t>RDD Workflow</a:t>
            </a:r>
            <a:endParaRPr lang="en-US" sz="2800" kern="0" dirty="0"/>
          </a:p>
        </p:txBody>
      </p:sp>
      <p:pic>
        <p:nvPicPr>
          <p:cNvPr id="5" name="Picture 4">
            <a:extLst>
              <a:ext uri="{FF2B5EF4-FFF2-40B4-BE49-F238E27FC236}">
                <a16:creationId xmlns:a16="http://schemas.microsoft.com/office/drawing/2014/main" id="{588B500E-05B5-94A9-9A68-3D9B13305044}"/>
              </a:ext>
            </a:extLst>
          </p:cNvPr>
          <p:cNvPicPr>
            <a:picLocks noChangeAspect="1"/>
          </p:cNvPicPr>
          <p:nvPr/>
        </p:nvPicPr>
        <p:blipFill>
          <a:blip r:embed="rId2"/>
          <a:stretch>
            <a:fillRect/>
          </a:stretch>
        </p:blipFill>
        <p:spPr>
          <a:xfrm>
            <a:off x="751304" y="1047750"/>
            <a:ext cx="8392696" cy="3972479"/>
          </a:xfrm>
          <a:prstGeom prst="rect">
            <a:avLst/>
          </a:prstGeom>
        </p:spPr>
      </p:pic>
    </p:spTree>
    <p:extLst>
      <p:ext uri="{BB962C8B-B14F-4D97-AF65-F5344CB8AC3E}">
        <p14:creationId xmlns:p14="http://schemas.microsoft.com/office/powerpoint/2010/main" val="38318442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9DAA5-1B20-063A-5C3E-B9F4DDD9B11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54D49C7-1C20-DC69-35F1-EB563AA3E865}"/>
              </a:ext>
            </a:extLst>
          </p:cNvPr>
          <p:cNvSpPr txBox="1">
            <a:spLocks noGrp="1"/>
          </p:cNvSpPr>
          <p:nvPr>
            <p:ph type="title"/>
          </p:nvPr>
        </p:nvSpPr>
        <p:spPr>
          <a:xfrm>
            <a:off x="384725" y="503825"/>
            <a:ext cx="2755265" cy="452120"/>
          </a:xfrm>
          <a:prstGeom prst="rect">
            <a:avLst/>
          </a:prstGeom>
        </p:spPr>
        <p:txBody>
          <a:bodyPr vert="horz" wrap="square" lIns="0" tIns="12700" rIns="0" bIns="0" rtlCol="0">
            <a:spAutoFit/>
          </a:bodyPr>
          <a:lstStyle/>
          <a:p>
            <a:pPr marL="12700">
              <a:lnSpc>
                <a:spcPct val="100000"/>
              </a:lnSpc>
              <a:spcBef>
                <a:spcPts val="100"/>
              </a:spcBef>
            </a:pPr>
            <a:r>
              <a:rPr sz="2800" spc="25" dirty="0">
                <a:solidFill>
                  <a:srgbClr val="202729"/>
                </a:solidFill>
              </a:rPr>
              <a:t>Storage</a:t>
            </a:r>
            <a:r>
              <a:rPr sz="2800" spc="-125" dirty="0">
                <a:solidFill>
                  <a:srgbClr val="202729"/>
                </a:solidFill>
              </a:rPr>
              <a:t> </a:t>
            </a:r>
            <a:r>
              <a:rPr sz="2800" spc="-105" dirty="0">
                <a:solidFill>
                  <a:srgbClr val="202729"/>
                </a:solidFill>
              </a:rPr>
              <a:t>for</a:t>
            </a:r>
            <a:r>
              <a:rPr sz="2800" spc="-125" dirty="0">
                <a:solidFill>
                  <a:srgbClr val="202729"/>
                </a:solidFill>
              </a:rPr>
              <a:t> </a:t>
            </a:r>
            <a:r>
              <a:rPr sz="2800" spc="40" dirty="0">
                <a:solidFill>
                  <a:srgbClr val="202729"/>
                </a:solidFill>
              </a:rPr>
              <a:t>Spark</a:t>
            </a:r>
            <a:endParaRPr sz="2800"/>
          </a:p>
        </p:txBody>
      </p:sp>
      <p:sp>
        <p:nvSpPr>
          <p:cNvPr id="3" name="object 3">
            <a:extLst>
              <a:ext uri="{FF2B5EF4-FFF2-40B4-BE49-F238E27FC236}">
                <a16:creationId xmlns:a16="http://schemas.microsoft.com/office/drawing/2014/main" id="{33C4735F-DA44-4D4C-0CA3-0B3C05336743}"/>
              </a:ext>
            </a:extLst>
          </p:cNvPr>
          <p:cNvSpPr txBox="1"/>
          <p:nvPr/>
        </p:nvSpPr>
        <p:spPr>
          <a:xfrm>
            <a:off x="384725" y="1215340"/>
            <a:ext cx="3140710" cy="2110740"/>
          </a:xfrm>
          <a:prstGeom prst="rect">
            <a:avLst/>
          </a:prstGeom>
        </p:spPr>
        <p:txBody>
          <a:bodyPr vert="horz" wrap="square" lIns="0" tIns="12700" rIns="0" bIns="0" rtlCol="0">
            <a:spAutoFit/>
          </a:bodyPr>
          <a:lstStyle/>
          <a:p>
            <a:pPr marL="12700">
              <a:lnSpc>
                <a:spcPct val="100000"/>
              </a:lnSpc>
              <a:spcBef>
                <a:spcPts val="100"/>
              </a:spcBef>
            </a:pPr>
            <a:r>
              <a:rPr sz="2000" spc="-20" dirty="0">
                <a:solidFill>
                  <a:srgbClr val="616161"/>
                </a:solidFill>
                <a:latin typeface="Trebuchet MS"/>
                <a:cs typeface="Trebuchet MS"/>
              </a:rPr>
              <a:t>Again,</a:t>
            </a:r>
            <a:r>
              <a:rPr sz="2000" spc="-110" dirty="0">
                <a:solidFill>
                  <a:srgbClr val="616161"/>
                </a:solidFill>
                <a:latin typeface="Trebuchet MS"/>
                <a:cs typeface="Trebuchet MS"/>
              </a:rPr>
              <a:t> </a:t>
            </a:r>
            <a:r>
              <a:rPr sz="2000" spc="-10" dirty="0">
                <a:solidFill>
                  <a:srgbClr val="616161"/>
                </a:solidFill>
                <a:latin typeface="Trebuchet MS"/>
                <a:cs typeface="Trebuchet MS"/>
              </a:rPr>
              <a:t>much</a:t>
            </a:r>
            <a:r>
              <a:rPr sz="2000" spc="-110" dirty="0">
                <a:solidFill>
                  <a:srgbClr val="616161"/>
                </a:solidFill>
                <a:latin typeface="Trebuchet MS"/>
                <a:cs typeface="Trebuchet MS"/>
              </a:rPr>
              <a:t> </a:t>
            </a:r>
            <a:r>
              <a:rPr sz="2000" spc="-15" dirty="0">
                <a:solidFill>
                  <a:srgbClr val="616161"/>
                </a:solidFill>
                <a:latin typeface="Trebuchet MS"/>
                <a:cs typeface="Trebuchet MS"/>
              </a:rPr>
              <a:t>more</a:t>
            </a:r>
            <a:r>
              <a:rPr sz="2000" spc="-110" dirty="0">
                <a:solidFill>
                  <a:srgbClr val="616161"/>
                </a:solidFill>
                <a:latin typeface="Trebuchet MS"/>
                <a:cs typeface="Trebuchet MS"/>
              </a:rPr>
              <a:t> </a:t>
            </a:r>
            <a:r>
              <a:rPr sz="2000" spc="-105" dirty="0">
                <a:solidFill>
                  <a:srgbClr val="616161"/>
                </a:solidFill>
                <a:latin typeface="Trebuchet MS"/>
                <a:cs typeface="Trebuchet MS"/>
              </a:rPr>
              <a:t>flexibility.</a:t>
            </a:r>
            <a:endParaRPr sz="2000">
              <a:latin typeface="Trebuchet MS"/>
              <a:cs typeface="Trebuchet MS"/>
            </a:endParaRPr>
          </a:p>
          <a:p>
            <a:pPr marL="469900" indent="-297180">
              <a:lnSpc>
                <a:spcPct val="100000"/>
              </a:lnSpc>
              <a:spcBef>
                <a:spcPts val="1955"/>
              </a:spcBef>
              <a:buChar char="-"/>
              <a:tabLst>
                <a:tab pos="469265" algn="l"/>
                <a:tab pos="469900" algn="l"/>
              </a:tabLst>
            </a:pPr>
            <a:r>
              <a:rPr sz="1800" spc="120" dirty="0">
                <a:solidFill>
                  <a:srgbClr val="616161"/>
                </a:solidFill>
                <a:latin typeface="Trebuchet MS"/>
                <a:cs typeface="Trebuchet MS"/>
              </a:rPr>
              <a:t>HDFS</a:t>
            </a:r>
            <a:endParaRPr sz="1800">
              <a:latin typeface="Trebuchet MS"/>
              <a:cs typeface="Trebuchet MS"/>
            </a:endParaRPr>
          </a:p>
          <a:p>
            <a:pPr marL="469900" indent="-297180">
              <a:lnSpc>
                <a:spcPct val="100000"/>
              </a:lnSpc>
              <a:spcBef>
                <a:spcPts val="315"/>
              </a:spcBef>
              <a:buChar char="-"/>
              <a:tabLst>
                <a:tab pos="469265" algn="l"/>
                <a:tab pos="469900" algn="l"/>
              </a:tabLst>
            </a:pPr>
            <a:r>
              <a:rPr sz="1800" spc="120" dirty="0">
                <a:solidFill>
                  <a:srgbClr val="616161"/>
                </a:solidFill>
                <a:latin typeface="Trebuchet MS"/>
                <a:cs typeface="Trebuchet MS"/>
              </a:rPr>
              <a:t>S3</a:t>
            </a:r>
            <a:endParaRPr sz="1800">
              <a:latin typeface="Trebuchet MS"/>
              <a:cs typeface="Trebuchet MS"/>
            </a:endParaRPr>
          </a:p>
          <a:p>
            <a:pPr marL="469900" indent="-297180">
              <a:lnSpc>
                <a:spcPct val="100000"/>
              </a:lnSpc>
              <a:spcBef>
                <a:spcPts val="315"/>
              </a:spcBef>
              <a:buChar char="-"/>
              <a:tabLst>
                <a:tab pos="469265" algn="l"/>
                <a:tab pos="469900" algn="l"/>
              </a:tabLst>
            </a:pPr>
            <a:r>
              <a:rPr sz="1800" spc="30" dirty="0">
                <a:solidFill>
                  <a:srgbClr val="616161"/>
                </a:solidFill>
                <a:latin typeface="Trebuchet MS"/>
                <a:cs typeface="Trebuchet MS"/>
              </a:rPr>
              <a:t>Cassandra</a:t>
            </a:r>
            <a:endParaRPr sz="1800">
              <a:latin typeface="Trebuchet MS"/>
              <a:cs typeface="Trebuchet MS"/>
            </a:endParaRPr>
          </a:p>
          <a:p>
            <a:pPr marL="469900" indent="-297180">
              <a:lnSpc>
                <a:spcPct val="100000"/>
              </a:lnSpc>
              <a:spcBef>
                <a:spcPts val="315"/>
              </a:spcBef>
              <a:buChar char="-"/>
              <a:tabLst>
                <a:tab pos="469265" algn="l"/>
                <a:tab pos="469900" algn="l"/>
              </a:tabLst>
            </a:pPr>
            <a:r>
              <a:rPr sz="1800" spc="70" dirty="0">
                <a:solidFill>
                  <a:srgbClr val="616161"/>
                </a:solidFill>
                <a:latin typeface="Trebuchet MS"/>
                <a:cs typeface="Trebuchet MS"/>
              </a:rPr>
              <a:t>HBase</a:t>
            </a:r>
            <a:endParaRPr sz="1800">
              <a:latin typeface="Trebuchet MS"/>
              <a:cs typeface="Trebuchet MS"/>
            </a:endParaRPr>
          </a:p>
          <a:p>
            <a:pPr marL="469900" indent="-297180">
              <a:lnSpc>
                <a:spcPct val="100000"/>
              </a:lnSpc>
              <a:spcBef>
                <a:spcPts val="315"/>
              </a:spcBef>
              <a:buChar char="-"/>
              <a:tabLst>
                <a:tab pos="469265" algn="l"/>
                <a:tab pos="469900" algn="l"/>
              </a:tabLst>
            </a:pPr>
            <a:r>
              <a:rPr sz="1800" spc="-95" dirty="0">
                <a:solidFill>
                  <a:srgbClr val="616161"/>
                </a:solidFill>
                <a:latin typeface="Trebuchet MS"/>
                <a:cs typeface="Trebuchet MS"/>
              </a:rPr>
              <a:t>Etc.</a:t>
            </a:r>
            <a:endParaRPr sz="1800">
              <a:latin typeface="Trebuchet MS"/>
              <a:cs typeface="Trebuchet MS"/>
            </a:endParaRPr>
          </a:p>
        </p:txBody>
      </p:sp>
      <p:sp>
        <p:nvSpPr>
          <p:cNvPr id="4" name="object 4">
            <a:extLst>
              <a:ext uri="{FF2B5EF4-FFF2-40B4-BE49-F238E27FC236}">
                <a16:creationId xmlns:a16="http://schemas.microsoft.com/office/drawing/2014/main" id="{33819D4E-1975-7F64-DDB9-03097D39523A}"/>
              </a:ext>
            </a:extLst>
          </p:cNvPr>
          <p:cNvSpPr txBox="1"/>
          <p:nvPr/>
        </p:nvSpPr>
        <p:spPr>
          <a:xfrm>
            <a:off x="384725" y="4054805"/>
            <a:ext cx="7876540" cy="299720"/>
          </a:xfrm>
          <a:prstGeom prst="rect">
            <a:avLst/>
          </a:prstGeom>
        </p:spPr>
        <p:txBody>
          <a:bodyPr vert="horz" wrap="square" lIns="0" tIns="12700" rIns="0" bIns="0" rtlCol="0">
            <a:spAutoFit/>
          </a:bodyPr>
          <a:lstStyle/>
          <a:p>
            <a:pPr marL="12700">
              <a:lnSpc>
                <a:spcPct val="100000"/>
              </a:lnSpc>
              <a:spcBef>
                <a:spcPts val="100"/>
              </a:spcBef>
            </a:pPr>
            <a:r>
              <a:rPr sz="1800" spc="-30" dirty="0">
                <a:solidFill>
                  <a:srgbClr val="616161"/>
                </a:solidFill>
                <a:latin typeface="Trebuchet MS"/>
                <a:cs typeface="Trebuchet MS"/>
              </a:rPr>
              <a:t>While</a:t>
            </a:r>
            <a:r>
              <a:rPr sz="1800" spc="-75" dirty="0">
                <a:solidFill>
                  <a:srgbClr val="616161"/>
                </a:solidFill>
                <a:latin typeface="Trebuchet MS"/>
                <a:cs typeface="Trebuchet MS"/>
              </a:rPr>
              <a:t> </a:t>
            </a:r>
            <a:r>
              <a:rPr sz="1800" spc="45" dirty="0">
                <a:solidFill>
                  <a:srgbClr val="616161"/>
                </a:solidFill>
                <a:latin typeface="Trebuchet MS"/>
                <a:cs typeface="Trebuchet MS"/>
              </a:rPr>
              <a:t>Hadoop</a:t>
            </a:r>
            <a:r>
              <a:rPr sz="1800" spc="-75" dirty="0">
                <a:solidFill>
                  <a:srgbClr val="616161"/>
                </a:solidFill>
                <a:latin typeface="Trebuchet MS"/>
                <a:cs typeface="Trebuchet MS"/>
              </a:rPr>
              <a:t> </a:t>
            </a:r>
            <a:r>
              <a:rPr sz="1800" spc="-80" dirty="0">
                <a:solidFill>
                  <a:srgbClr val="616161"/>
                </a:solidFill>
                <a:latin typeface="Trebuchet MS"/>
                <a:cs typeface="Trebuchet MS"/>
              </a:rPr>
              <a:t>(mostly)</a:t>
            </a:r>
            <a:r>
              <a:rPr sz="1800" spc="-70" dirty="0">
                <a:solidFill>
                  <a:srgbClr val="616161"/>
                </a:solidFill>
                <a:latin typeface="Trebuchet MS"/>
                <a:cs typeface="Trebuchet MS"/>
              </a:rPr>
              <a:t> </a:t>
            </a:r>
            <a:r>
              <a:rPr sz="1800" spc="-75" dirty="0">
                <a:solidFill>
                  <a:srgbClr val="616161"/>
                </a:solidFill>
                <a:latin typeface="Trebuchet MS"/>
                <a:cs typeface="Trebuchet MS"/>
              </a:rPr>
              <a:t>limited </a:t>
            </a:r>
            <a:r>
              <a:rPr sz="1800" spc="-65" dirty="0">
                <a:solidFill>
                  <a:srgbClr val="616161"/>
                </a:solidFill>
                <a:latin typeface="Trebuchet MS"/>
                <a:cs typeface="Trebuchet MS"/>
              </a:rPr>
              <a:t>to</a:t>
            </a:r>
            <a:r>
              <a:rPr sz="1800" spc="-70" dirty="0">
                <a:solidFill>
                  <a:srgbClr val="616161"/>
                </a:solidFill>
                <a:latin typeface="Trebuchet MS"/>
                <a:cs typeface="Trebuchet MS"/>
              </a:rPr>
              <a:t> </a:t>
            </a:r>
            <a:r>
              <a:rPr sz="1800" spc="45" dirty="0">
                <a:solidFill>
                  <a:srgbClr val="616161"/>
                </a:solidFill>
                <a:latin typeface="Trebuchet MS"/>
                <a:cs typeface="Trebuchet MS"/>
              </a:rPr>
              <a:t>HDFS,</a:t>
            </a:r>
            <a:r>
              <a:rPr sz="1800" spc="-75" dirty="0">
                <a:solidFill>
                  <a:srgbClr val="616161"/>
                </a:solidFill>
                <a:latin typeface="Trebuchet MS"/>
                <a:cs typeface="Trebuchet MS"/>
              </a:rPr>
              <a:t> </a:t>
            </a:r>
            <a:r>
              <a:rPr sz="1800" spc="25" dirty="0">
                <a:solidFill>
                  <a:srgbClr val="616161"/>
                </a:solidFill>
                <a:latin typeface="Trebuchet MS"/>
                <a:cs typeface="Trebuchet MS"/>
              </a:rPr>
              <a:t>Spark</a:t>
            </a:r>
            <a:r>
              <a:rPr sz="1800" spc="-70" dirty="0">
                <a:solidFill>
                  <a:srgbClr val="616161"/>
                </a:solidFill>
                <a:latin typeface="Trebuchet MS"/>
                <a:cs typeface="Trebuchet MS"/>
              </a:rPr>
              <a:t> </a:t>
            </a:r>
            <a:r>
              <a:rPr sz="1800" dirty="0">
                <a:solidFill>
                  <a:srgbClr val="616161"/>
                </a:solidFill>
                <a:latin typeface="Trebuchet MS"/>
                <a:cs typeface="Trebuchet MS"/>
              </a:rPr>
              <a:t>can</a:t>
            </a:r>
            <a:r>
              <a:rPr sz="1800" spc="-75" dirty="0">
                <a:solidFill>
                  <a:srgbClr val="616161"/>
                </a:solidFill>
                <a:latin typeface="Trebuchet MS"/>
                <a:cs typeface="Trebuchet MS"/>
              </a:rPr>
              <a:t> </a:t>
            </a:r>
            <a:r>
              <a:rPr sz="1800" spc="-10" dirty="0">
                <a:solidFill>
                  <a:srgbClr val="616161"/>
                </a:solidFill>
                <a:latin typeface="Trebuchet MS"/>
                <a:cs typeface="Trebuchet MS"/>
              </a:rPr>
              <a:t>bring</a:t>
            </a:r>
            <a:r>
              <a:rPr sz="1800" spc="-70" dirty="0">
                <a:solidFill>
                  <a:srgbClr val="616161"/>
                </a:solidFill>
                <a:latin typeface="Trebuchet MS"/>
                <a:cs typeface="Trebuchet MS"/>
              </a:rPr>
              <a:t> </a:t>
            </a:r>
            <a:r>
              <a:rPr sz="1800" spc="-50" dirty="0">
                <a:solidFill>
                  <a:srgbClr val="616161"/>
                </a:solidFill>
                <a:latin typeface="Trebuchet MS"/>
                <a:cs typeface="Trebuchet MS"/>
              </a:rPr>
              <a:t>in</a:t>
            </a:r>
            <a:r>
              <a:rPr sz="1800" spc="-75" dirty="0">
                <a:solidFill>
                  <a:srgbClr val="616161"/>
                </a:solidFill>
                <a:latin typeface="Trebuchet MS"/>
                <a:cs typeface="Trebuchet MS"/>
              </a:rPr>
              <a:t> </a:t>
            </a:r>
            <a:r>
              <a:rPr sz="1800" spc="-40" dirty="0">
                <a:solidFill>
                  <a:srgbClr val="616161"/>
                </a:solidFill>
                <a:latin typeface="Trebuchet MS"/>
                <a:cs typeface="Trebuchet MS"/>
              </a:rPr>
              <a:t>data</a:t>
            </a:r>
            <a:r>
              <a:rPr sz="1800" spc="-70" dirty="0">
                <a:solidFill>
                  <a:srgbClr val="616161"/>
                </a:solidFill>
                <a:latin typeface="Trebuchet MS"/>
                <a:cs typeface="Trebuchet MS"/>
              </a:rPr>
              <a:t> </a:t>
            </a:r>
            <a:r>
              <a:rPr sz="1800" spc="-60" dirty="0">
                <a:solidFill>
                  <a:srgbClr val="616161"/>
                </a:solidFill>
                <a:latin typeface="Trebuchet MS"/>
                <a:cs typeface="Trebuchet MS"/>
              </a:rPr>
              <a:t>from</a:t>
            </a:r>
            <a:r>
              <a:rPr sz="1800" spc="-75" dirty="0">
                <a:solidFill>
                  <a:srgbClr val="616161"/>
                </a:solidFill>
                <a:latin typeface="Trebuchet MS"/>
                <a:cs typeface="Trebuchet MS"/>
              </a:rPr>
              <a:t> </a:t>
            </a:r>
            <a:r>
              <a:rPr sz="1800" spc="-10" dirty="0">
                <a:solidFill>
                  <a:srgbClr val="616161"/>
                </a:solidFill>
                <a:latin typeface="Trebuchet MS"/>
                <a:cs typeface="Trebuchet MS"/>
              </a:rPr>
              <a:t>anywhere</a:t>
            </a:r>
            <a:endParaRPr sz="1800">
              <a:latin typeface="Trebuchet MS"/>
              <a:cs typeface="Trebuchet MS"/>
            </a:endParaRPr>
          </a:p>
        </p:txBody>
      </p:sp>
    </p:spTree>
    <p:extLst>
      <p:ext uri="{BB962C8B-B14F-4D97-AF65-F5344CB8AC3E}">
        <p14:creationId xmlns:p14="http://schemas.microsoft.com/office/powerpoint/2010/main" val="13088118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0C060-6A55-F348-82F4-947A1C2D0F4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D02526E-CCBC-3A46-E98D-74EEDE0FF1DA}"/>
              </a:ext>
            </a:extLst>
          </p:cNvPr>
          <p:cNvSpPr txBox="1">
            <a:spLocks noGrp="1"/>
          </p:cNvSpPr>
          <p:nvPr>
            <p:ph type="title"/>
          </p:nvPr>
        </p:nvSpPr>
        <p:spPr>
          <a:xfrm>
            <a:off x="304800" y="206919"/>
            <a:ext cx="4343400" cy="443711"/>
          </a:xfrm>
          <a:prstGeom prst="rect">
            <a:avLst/>
          </a:prstGeom>
        </p:spPr>
        <p:txBody>
          <a:bodyPr vert="horz" wrap="square" lIns="0" tIns="12700" rIns="0" bIns="0" rtlCol="0">
            <a:spAutoFit/>
          </a:bodyPr>
          <a:lstStyle/>
          <a:p>
            <a:pPr marL="12700">
              <a:lnSpc>
                <a:spcPct val="100000"/>
              </a:lnSpc>
              <a:spcBef>
                <a:spcPts val="100"/>
              </a:spcBef>
            </a:pPr>
            <a:r>
              <a:rPr sz="2800" spc="185" dirty="0">
                <a:solidFill>
                  <a:srgbClr val="202729"/>
                </a:solidFill>
              </a:rPr>
              <a:t>RDD</a:t>
            </a:r>
            <a:r>
              <a:rPr sz="2800" spc="-200" dirty="0">
                <a:solidFill>
                  <a:srgbClr val="202729"/>
                </a:solidFill>
              </a:rPr>
              <a:t> </a:t>
            </a:r>
            <a:r>
              <a:rPr sz="2800" dirty="0">
                <a:solidFill>
                  <a:srgbClr val="202729"/>
                </a:solidFill>
              </a:rPr>
              <a:t>Operations</a:t>
            </a:r>
            <a:r>
              <a:rPr lang="en-US" sz="2800" dirty="0">
                <a:solidFill>
                  <a:srgbClr val="202729"/>
                </a:solidFill>
              </a:rPr>
              <a:t> - Cache</a:t>
            </a:r>
            <a:endParaRPr sz="2800" dirty="0"/>
          </a:p>
        </p:txBody>
      </p:sp>
      <p:sp>
        <p:nvSpPr>
          <p:cNvPr id="3" name="object 3">
            <a:extLst>
              <a:ext uri="{FF2B5EF4-FFF2-40B4-BE49-F238E27FC236}">
                <a16:creationId xmlns:a16="http://schemas.microsoft.com/office/drawing/2014/main" id="{9D6EB921-C60D-4AE8-4DF0-BB8632A415F1}"/>
              </a:ext>
            </a:extLst>
          </p:cNvPr>
          <p:cNvSpPr txBox="1"/>
          <p:nvPr/>
        </p:nvSpPr>
        <p:spPr>
          <a:xfrm>
            <a:off x="152401" y="742950"/>
            <a:ext cx="8086358" cy="2637260"/>
          </a:xfrm>
          <a:prstGeom prst="rect">
            <a:avLst/>
          </a:prstGeom>
        </p:spPr>
        <p:txBody>
          <a:bodyPr vert="horz" wrap="square" lIns="0" tIns="66675" rIns="0" bIns="0" rtlCol="0">
            <a:spAutoFit/>
          </a:bodyPr>
          <a:lstStyle/>
          <a:p>
            <a:pPr>
              <a:spcBef>
                <a:spcPts val="55"/>
              </a:spcBef>
              <a:buClr>
                <a:srgbClr val="616161"/>
              </a:buClr>
              <a:buFont typeface="Arial MT"/>
              <a:buChar char="○"/>
            </a:pPr>
            <a:r>
              <a:rPr lang="en-US" b="1" dirty="0">
                <a:latin typeface="Trebuchet MS"/>
                <a:cs typeface="Trebuchet MS"/>
              </a:rPr>
              <a:t>   Persistence</a:t>
            </a:r>
            <a:r>
              <a:rPr lang="en-US" sz="1400" dirty="0">
                <a:latin typeface="Trebuchet MS"/>
                <a:cs typeface="Trebuchet MS"/>
              </a:rPr>
              <a:t>:</a:t>
            </a:r>
          </a:p>
          <a:p>
            <a:pPr lvl="1">
              <a:spcBef>
                <a:spcPts val="55"/>
              </a:spcBef>
              <a:buClr>
                <a:srgbClr val="616161"/>
              </a:buClr>
              <a:buFont typeface="Arial MT"/>
              <a:buChar char="○"/>
            </a:pPr>
            <a:r>
              <a:rPr lang="en-US" sz="1400" dirty="0">
                <a:latin typeface="Trebuchet MS"/>
                <a:cs typeface="Trebuchet MS"/>
              </a:rPr>
              <a:t>     </a:t>
            </a:r>
            <a:r>
              <a:rPr lang="en-US" sz="1600" dirty="0">
                <a:solidFill>
                  <a:srgbClr val="FF0000"/>
                </a:solidFill>
                <a:latin typeface="Trebuchet MS"/>
                <a:cs typeface="Trebuchet MS"/>
              </a:rPr>
              <a:t>cache</a:t>
            </a:r>
            <a:r>
              <a:rPr lang="en-US" sz="1600" dirty="0">
                <a:latin typeface="Trebuchet MS"/>
                <a:cs typeface="Trebuchet MS"/>
              </a:rPr>
              <a:t>() </a:t>
            </a:r>
            <a:r>
              <a:rPr lang="en-US" sz="1600" b="0" i="0" dirty="0">
                <a:effectLst/>
                <a:latin typeface="Trebuchet MS" panose="020B0603020202020204" pitchFamily="34" charset="0"/>
              </a:rPr>
              <a:t>uses default storage level, i.e., MEMORY_ONLY</a:t>
            </a:r>
            <a:r>
              <a:rPr lang="en-US" sz="1600" b="0" i="0" dirty="0">
                <a:solidFill>
                  <a:srgbClr val="0000FF"/>
                </a:solidFill>
                <a:effectLst/>
                <a:latin typeface="Trebuchet MS" panose="020B0603020202020204" pitchFamily="34" charset="0"/>
              </a:rPr>
              <a:t>.</a:t>
            </a:r>
            <a:endParaRPr lang="en-US" sz="1600" dirty="0">
              <a:latin typeface="Trebuchet MS" panose="020B0603020202020204" pitchFamily="34" charset="0"/>
              <a:cs typeface="Trebuchet MS"/>
            </a:endParaRPr>
          </a:p>
          <a:p>
            <a:pPr lvl="1">
              <a:spcBef>
                <a:spcPts val="55"/>
              </a:spcBef>
              <a:buClr>
                <a:srgbClr val="616161"/>
              </a:buClr>
              <a:buFont typeface="Arial MT"/>
              <a:buChar char="○"/>
            </a:pPr>
            <a:r>
              <a:rPr lang="en-US" sz="1600" dirty="0">
                <a:latin typeface="Trebuchet MS"/>
                <a:cs typeface="Trebuchet MS"/>
              </a:rPr>
              <a:t>    </a:t>
            </a:r>
            <a:r>
              <a:rPr lang="en-US" sz="1600" dirty="0">
                <a:solidFill>
                  <a:srgbClr val="FF0000"/>
                </a:solidFill>
                <a:latin typeface="Trebuchet MS"/>
                <a:cs typeface="Trebuchet MS"/>
              </a:rPr>
              <a:t>persist</a:t>
            </a:r>
            <a:r>
              <a:rPr lang="en-US" sz="1600" dirty="0">
                <a:latin typeface="Trebuchet MS"/>
                <a:cs typeface="Trebuchet MS"/>
              </a:rPr>
              <a:t>() can be provided with any of the possible storage levels memory/disk</a:t>
            </a:r>
          </a:p>
          <a:p>
            <a:pPr lvl="1">
              <a:spcBef>
                <a:spcPts val="55"/>
              </a:spcBef>
              <a:buClr>
                <a:srgbClr val="616161"/>
              </a:buClr>
              <a:buFont typeface="Arial MT"/>
              <a:buChar char="○"/>
            </a:pPr>
            <a:r>
              <a:rPr lang="en-US" sz="1600" dirty="0">
                <a:latin typeface="Trebuchet MS"/>
                <a:cs typeface="Trebuchet MS"/>
              </a:rPr>
              <a:t>    When an RDD is persisted, each node in the cluster stores the partitions (of the RDD) in memory (RAM).</a:t>
            </a:r>
          </a:p>
          <a:p>
            <a:pPr lvl="1">
              <a:spcBef>
                <a:spcPts val="55"/>
              </a:spcBef>
              <a:buClr>
                <a:srgbClr val="616161"/>
              </a:buClr>
              <a:buFont typeface="Arial MT"/>
              <a:buChar char="○"/>
            </a:pPr>
            <a:r>
              <a:rPr lang="en-US" sz="1600" dirty="0">
                <a:latin typeface="Trebuchet MS"/>
                <a:cs typeface="Trebuchet MS"/>
              </a:rPr>
              <a:t>    When there are multiple transformations or actions on an RDD, persistence helps to cut down the latency by the time required to load the data from file storage to memory.</a:t>
            </a:r>
          </a:p>
          <a:p>
            <a:pPr lvl="1">
              <a:spcBef>
                <a:spcPts val="55"/>
              </a:spcBef>
              <a:buClr>
                <a:srgbClr val="616161"/>
              </a:buClr>
              <a:buFont typeface="Arial MT"/>
              <a:buChar char="○"/>
            </a:pPr>
            <a:endParaRPr lang="en-US" sz="1600" dirty="0">
              <a:latin typeface="Trebuchet MS"/>
              <a:cs typeface="Trebuchet MS"/>
            </a:endParaRPr>
          </a:p>
          <a:p>
            <a:pPr lvl="1">
              <a:spcBef>
                <a:spcPts val="55"/>
              </a:spcBef>
              <a:buClr>
                <a:srgbClr val="616161"/>
              </a:buClr>
              <a:buFont typeface="Arial MT"/>
              <a:buChar char="○"/>
            </a:pPr>
            <a:endParaRPr lang="en-US" sz="1600" b="1" spc="-30" dirty="0">
              <a:solidFill>
                <a:srgbClr val="616161"/>
              </a:solidFill>
              <a:latin typeface="Trebuchet MS"/>
              <a:cs typeface="Trebuchet MS"/>
            </a:endParaRPr>
          </a:p>
        </p:txBody>
      </p:sp>
    </p:spTree>
    <p:extLst>
      <p:ext uri="{BB962C8B-B14F-4D97-AF65-F5344CB8AC3E}">
        <p14:creationId xmlns:p14="http://schemas.microsoft.com/office/powerpoint/2010/main" val="15432610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DF2B7E-23C5-B592-C5C4-BCB3FE72027F}"/>
              </a:ext>
            </a:extLst>
          </p:cNvPr>
          <p:cNvPicPr>
            <a:picLocks noChangeAspect="1"/>
          </p:cNvPicPr>
          <p:nvPr/>
        </p:nvPicPr>
        <p:blipFill>
          <a:blip r:embed="rId2"/>
          <a:stretch>
            <a:fillRect/>
          </a:stretch>
        </p:blipFill>
        <p:spPr>
          <a:xfrm>
            <a:off x="540951" y="895350"/>
            <a:ext cx="8062097" cy="3657600"/>
          </a:xfrm>
          <a:prstGeom prst="rect">
            <a:avLst/>
          </a:prstGeom>
        </p:spPr>
      </p:pic>
      <p:sp>
        <p:nvSpPr>
          <p:cNvPr id="6" name="object 2">
            <a:extLst>
              <a:ext uri="{FF2B5EF4-FFF2-40B4-BE49-F238E27FC236}">
                <a16:creationId xmlns:a16="http://schemas.microsoft.com/office/drawing/2014/main" id="{BA536686-3EFB-AC31-016E-85D371AE0365}"/>
              </a:ext>
            </a:extLst>
          </p:cNvPr>
          <p:cNvSpPr txBox="1">
            <a:spLocks noGrp="1"/>
          </p:cNvSpPr>
          <p:nvPr>
            <p:ph type="title"/>
          </p:nvPr>
        </p:nvSpPr>
        <p:spPr>
          <a:xfrm>
            <a:off x="304800" y="206919"/>
            <a:ext cx="5638800" cy="443711"/>
          </a:xfrm>
          <a:prstGeom prst="rect">
            <a:avLst/>
          </a:prstGeom>
        </p:spPr>
        <p:txBody>
          <a:bodyPr vert="horz" wrap="square" lIns="0" tIns="12700" rIns="0" bIns="0" rtlCol="0">
            <a:spAutoFit/>
          </a:bodyPr>
          <a:lstStyle/>
          <a:p>
            <a:pPr marL="12700">
              <a:lnSpc>
                <a:spcPct val="100000"/>
              </a:lnSpc>
              <a:spcBef>
                <a:spcPts val="100"/>
              </a:spcBef>
            </a:pPr>
            <a:r>
              <a:rPr lang="en-US" sz="2800" spc="185" dirty="0">
                <a:solidFill>
                  <a:srgbClr val="202729"/>
                </a:solidFill>
              </a:rPr>
              <a:t>Example </a:t>
            </a:r>
            <a:r>
              <a:rPr lang="en-US" sz="2800" dirty="0">
                <a:solidFill>
                  <a:srgbClr val="202729"/>
                </a:solidFill>
              </a:rPr>
              <a:t>– Without Cache</a:t>
            </a:r>
            <a:endParaRPr sz="2800" dirty="0"/>
          </a:p>
        </p:txBody>
      </p:sp>
    </p:spTree>
    <p:extLst>
      <p:ext uri="{BB962C8B-B14F-4D97-AF65-F5344CB8AC3E}">
        <p14:creationId xmlns:p14="http://schemas.microsoft.com/office/powerpoint/2010/main" val="31468751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869357C5-96C5-0AA5-F306-66FF2E7E022F}"/>
              </a:ext>
            </a:extLst>
          </p:cNvPr>
          <p:cNvSpPr txBox="1">
            <a:spLocks noGrp="1"/>
          </p:cNvSpPr>
          <p:nvPr>
            <p:ph type="title"/>
          </p:nvPr>
        </p:nvSpPr>
        <p:spPr>
          <a:xfrm>
            <a:off x="304800" y="206919"/>
            <a:ext cx="5638800" cy="443711"/>
          </a:xfrm>
          <a:prstGeom prst="rect">
            <a:avLst/>
          </a:prstGeom>
        </p:spPr>
        <p:txBody>
          <a:bodyPr vert="horz" wrap="square" lIns="0" tIns="12700" rIns="0" bIns="0" rtlCol="0">
            <a:spAutoFit/>
          </a:bodyPr>
          <a:lstStyle/>
          <a:p>
            <a:pPr marL="12700">
              <a:lnSpc>
                <a:spcPct val="100000"/>
              </a:lnSpc>
              <a:spcBef>
                <a:spcPts val="100"/>
              </a:spcBef>
            </a:pPr>
            <a:r>
              <a:rPr lang="en-US" sz="2800" spc="185" dirty="0">
                <a:solidFill>
                  <a:srgbClr val="202729"/>
                </a:solidFill>
              </a:rPr>
              <a:t>Example </a:t>
            </a:r>
            <a:r>
              <a:rPr lang="en-US" sz="2800" dirty="0">
                <a:solidFill>
                  <a:srgbClr val="202729"/>
                </a:solidFill>
              </a:rPr>
              <a:t>– With Cache</a:t>
            </a:r>
            <a:endParaRPr sz="2800" dirty="0"/>
          </a:p>
        </p:txBody>
      </p:sp>
      <p:pic>
        <p:nvPicPr>
          <p:cNvPr id="6" name="Picture 5">
            <a:extLst>
              <a:ext uri="{FF2B5EF4-FFF2-40B4-BE49-F238E27FC236}">
                <a16:creationId xmlns:a16="http://schemas.microsoft.com/office/drawing/2014/main" id="{7A01B318-8216-CA23-CBCE-D80B7768D7B0}"/>
              </a:ext>
            </a:extLst>
          </p:cNvPr>
          <p:cNvPicPr>
            <a:picLocks noChangeAspect="1"/>
          </p:cNvPicPr>
          <p:nvPr/>
        </p:nvPicPr>
        <p:blipFill>
          <a:blip r:embed="rId2"/>
          <a:stretch>
            <a:fillRect/>
          </a:stretch>
        </p:blipFill>
        <p:spPr>
          <a:xfrm>
            <a:off x="838200" y="742950"/>
            <a:ext cx="6639852" cy="3839111"/>
          </a:xfrm>
          <a:prstGeom prst="rect">
            <a:avLst/>
          </a:prstGeom>
        </p:spPr>
      </p:pic>
    </p:spTree>
    <p:extLst>
      <p:ext uri="{BB962C8B-B14F-4D97-AF65-F5344CB8AC3E}">
        <p14:creationId xmlns:p14="http://schemas.microsoft.com/office/powerpoint/2010/main" val="1797540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244B8-F3A5-E2F0-5087-33ECD6B64E9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21BD9B7-14A7-953A-D2A9-049C4DBE8405}"/>
              </a:ext>
            </a:extLst>
          </p:cNvPr>
          <p:cNvSpPr txBox="1">
            <a:spLocks noGrp="1"/>
          </p:cNvSpPr>
          <p:nvPr>
            <p:ph type="title"/>
          </p:nvPr>
        </p:nvSpPr>
        <p:spPr>
          <a:xfrm>
            <a:off x="384725" y="503825"/>
            <a:ext cx="7876540" cy="443711"/>
          </a:xfrm>
          <a:prstGeom prst="rect">
            <a:avLst/>
          </a:prstGeom>
        </p:spPr>
        <p:txBody>
          <a:bodyPr vert="horz" wrap="square" lIns="0" tIns="12700" rIns="0" bIns="0" rtlCol="0">
            <a:spAutoFit/>
          </a:bodyPr>
          <a:lstStyle/>
          <a:p>
            <a:pPr marL="12700">
              <a:lnSpc>
                <a:spcPct val="100000"/>
              </a:lnSpc>
              <a:spcBef>
                <a:spcPts val="100"/>
              </a:spcBef>
            </a:pPr>
            <a:r>
              <a:rPr lang="en-US" sz="2800" spc="25" dirty="0">
                <a:solidFill>
                  <a:srgbClr val="202729"/>
                </a:solidFill>
              </a:rPr>
              <a:t>Resource managers for Spark</a:t>
            </a:r>
            <a:endParaRPr sz="2800" dirty="0"/>
          </a:p>
        </p:txBody>
      </p:sp>
      <p:sp>
        <p:nvSpPr>
          <p:cNvPr id="3" name="object 3">
            <a:extLst>
              <a:ext uri="{FF2B5EF4-FFF2-40B4-BE49-F238E27FC236}">
                <a16:creationId xmlns:a16="http://schemas.microsoft.com/office/drawing/2014/main" id="{81C6CFBC-1F5B-18E4-4B08-CFAC1941C67B}"/>
              </a:ext>
            </a:extLst>
          </p:cNvPr>
          <p:cNvSpPr txBox="1"/>
          <p:nvPr/>
        </p:nvSpPr>
        <p:spPr>
          <a:xfrm>
            <a:off x="384724" y="1215340"/>
            <a:ext cx="8302076" cy="1490152"/>
          </a:xfrm>
          <a:prstGeom prst="rect">
            <a:avLst/>
          </a:prstGeom>
        </p:spPr>
        <p:txBody>
          <a:bodyPr vert="horz" wrap="square" lIns="0" tIns="12700" rIns="0" bIns="0" rtlCol="0">
            <a:spAutoFit/>
          </a:bodyPr>
          <a:lstStyle/>
          <a:p>
            <a:pPr marL="342900" indent="-342900" algn="l" fontAlgn="base">
              <a:buFont typeface="Arial" panose="020B0604020202020204" pitchFamily="34" charset="0"/>
              <a:buChar char="•"/>
            </a:pPr>
            <a:r>
              <a:rPr lang="en-US" sz="2400" dirty="0">
                <a:solidFill>
                  <a:srgbClr val="0C0D0E"/>
                </a:solidFill>
                <a:latin typeface="Trebuchet MS" panose="020B0603020202020204" pitchFamily="34" charset="0"/>
              </a:rPr>
              <a:t>A</a:t>
            </a:r>
            <a:r>
              <a:rPr lang="en-US" sz="2400" b="0" i="0" dirty="0">
                <a:solidFill>
                  <a:srgbClr val="0C0D0E"/>
                </a:solidFill>
                <a:effectLst/>
                <a:latin typeface="Trebuchet MS" panose="020B0603020202020204" pitchFamily="34" charset="0"/>
              </a:rPr>
              <a:t>llocating resources (CPU cores, memory, or GPUs) to the tasks and jobs submitted to the cluster</a:t>
            </a:r>
          </a:p>
          <a:p>
            <a:pPr marL="342900" indent="-342900" algn="l" fontAlgn="base">
              <a:buFont typeface="Arial" panose="020B0604020202020204" pitchFamily="34" charset="0"/>
              <a:buChar char="•"/>
            </a:pPr>
            <a:r>
              <a:rPr lang="en-US" sz="2400" dirty="0">
                <a:solidFill>
                  <a:srgbClr val="0C0D0E"/>
                </a:solidFill>
                <a:latin typeface="Trebuchet MS" panose="020B0603020202020204" pitchFamily="34" charset="0"/>
              </a:rPr>
              <a:t>J</a:t>
            </a:r>
            <a:r>
              <a:rPr lang="en-US" sz="2400" b="0" i="0" dirty="0">
                <a:solidFill>
                  <a:srgbClr val="0C0D0E"/>
                </a:solidFill>
                <a:effectLst/>
                <a:latin typeface="Trebuchet MS" panose="020B0603020202020204" pitchFamily="34" charset="0"/>
              </a:rPr>
              <a:t>ob/task scheduling</a:t>
            </a:r>
          </a:p>
          <a:p>
            <a:pPr marL="342900" indent="-342900" algn="l" fontAlgn="base">
              <a:buFont typeface="Arial" panose="020B0604020202020204" pitchFamily="34" charset="0"/>
              <a:buChar char="•"/>
            </a:pPr>
            <a:r>
              <a:rPr lang="en-US" sz="2400" dirty="0">
                <a:solidFill>
                  <a:srgbClr val="0C0D0E"/>
                </a:solidFill>
                <a:latin typeface="Trebuchet MS" panose="020B0603020202020204" pitchFamily="34" charset="0"/>
              </a:rPr>
              <a:t>R</a:t>
            </a:r>
            <a:r>
              <a:rPr lang="en-US" sz="2400" b="0" i="0" dirty="0">
                <a:solidFill>
                  <a:srgbClr val="0C0D0E"/>
                </a:solidFill>
                <a:effectLst/>
                <a:latin typeface="Trebuchet MS" panose="020B0603020202020204" pitchFamily="34" charset="0"/>
              </a:rPr>
              <a:t>eassigning tasks from failed jobs etc.</a:t>
            </a:r>
          </a:p>
        </p:txBody>
      </p:sp>
    </p:spTree>
    <p:extLst>
      <p:ext uri="{BB962C8B-B14F-4D97-AF65-F5344CB8AC3E}">
        <p14:creationId xmlns:p14="http://schemas.microsoft.com/office/powerpoint/2010/main" val="28620156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DCCF7-F8E3-BDE9-FCB7-903B00CFE2C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7C58E0F-8B60-E9D6-D778-22F168AD40D4}"/>
              </a:ext>
            </a:extLst>
          </p:cNvPr>
          <p:cNvSpPr txBox="1">
            <a:spLocks noGrp="1"/>
          </p:cNvSpPr>
          <p:nvPr>
            <p:ph type="title"/>
          </p:nvPr>
        </p:nvSpPr>
        <p:spPr>
          <a:xfrm>
            <a:off x="384725" y="503825"/>
            <a:ext cx="7876540" cy="443711"/>
          </a:xfrm>
          <a:prstGeom prst="rect">
            <a:avLst/>
          </a:prstGeom>
        </p:spPr>
        <p:txBody>
          <a:bodyPr vert="horz" wrap="square" lIns="0" tIns="12700" rIns="0" bIns="0" rtlCol="0">
            <a:spAutoFit/>
          </a:bodyPr>
          <a:lstStyle/>
          <a:p>
            <a:pPr marL="12700">
              <a:lnSpc>
                <a:spcPct val="100000"/>
              </a:lnSpc>
              <a:spcBef>
                <a:spcPts val="100"/>
              </a:spcBef>
            </a:pPr>
            <a:r>
              <a:rPr lang="en-US" sz="2800" spc="25" dirty="0">
                <a:solidFill>
                  <a:srgbClr val="202729"/>
                </a:solidFill>
              </a:rPr>
              <a:t>Resource managers for Spark</a:t>
            </a:r>
            <a:endParaRPr sz="2800" dirty="0"/>
          </a:p>
        </p:txBody>
      </p:sp>
      <p:sp>
        <p:nvSpPr>
          <p:cNvPr id="3" name="object 3">
            <a:extLst>
              <a:ext uri="{FF2B5EF4-FFF2-40B4-BE49-F238E27FC236}">
                <a16:creationId xmlns:a16="http://schemas.microsoft.com/office/drawing/2014/main" id="{5A14CA79-EC2E-AF3E-7FEF-DEB9BFADDBAB}"/>
              </a:ext>
            </a:extLst>
          </p:cNvPr>
          <p:cNvSpPr txBox="1"/>
          <p:nvPr/>
        </p:nvSpPr>
        <p:spPr>
          <a:xfrm>
            <a:off x="384724" y="1215340"/>
            <a:ext cx="8302076" cy="1490152"/>
          </a:xfrm>
          <a:prstGeom prst="rect">
            <a:avLst/>
          </a:prstGeom>
        </p:spPr>
        <p:txBody>
          <a:bodyPr vert="horz" wrap="square" lIns="0" tIns="12700" rIns="0" bIns="0" rtlCol="0">
            <a:spAutoFit/>
          </a:bodyPr>
          <a:lstStyle/>
          <a:p>
            <a:pPr marL="342900" indent="-342900" algn="l" fontAlgn="base">
              <a:buFont typeface="Arial" panose="020B0604020202020204" pitchFamily="34" charset="0"/>
              <a:buChar char="•"/>
            </a:pPr>
            <a:r>
              <a:rPr lang="en-US" sz="2400" dirty="0"/>
              <a:t>Standalone Cluster Manager</a:t>
            </a:r>
          </a:p>
          <a:p>
            <a:pPr marL="342900" indent="-342900" algn="l" fontAlgn="base">
              <a:buFont typeface="Arial" panose="020B0604020202020204" pitchFamily="34" charset="0"/>
              <a:buChar char="•"/>
            </a:pPr>
            <a:r>
              <a:rPr lang="en-US" sz="2400" dirty="0"/>
              <a:t>Apache Hadoop YARN (Yet Another Resource Negotiator)</a:t>
            </a:r>
          </a:p>
          <a:p>
            <a:pPr marL="342900" indent="-342900" algn="l" fontAlgn="base">
              <a:buFont typeface="Arial" panose="020B0604020202020204" pitchFamily="34" charset="0"/>
              <a:buChar char="•"/>
            </a:pPr>
            <a:r>
              <a:rPr lang="en-US" sz="2400" dirty="0"/>
              <a:t>Apache Mesos</a:t>
            </a:r>
          </a:p>
          <a:p>
            <a:pPr marL="342900" indent="-342900" algn="l" fontAlgn="base">
              <a:buFont typeface="Arial" panose="020B0604020202020204" pitchFamily="34" charset="0"/>
              <a:buChar char="•"/>
            </a:pPr>
            <a:r>
              <a:rPr lang="en-US" sz="2400" dirty="0"/>
              <a:t>Kubernetes (K8s)</a:t>
            </a:r>
            <a:endParaRPr lang="en-US" sz="2400" b="0" i="0" dirty="0">
              <a:solidFill>
                <a:srgbClr val="0C0D0E"/>
              </a:solidFill>
              <a:effectLst/>
              <a:latin typeface="Trebuchet MS" panose="020B0603020202020204" pitchFamily="34" charset="0"/>
            </a:endParaRPr>
          </a:p>
        </p:txBody>
      </p:sp>
    </p:spTree>
    <p:extLst>
      <p:ext uri="{BB962C8B-B14F-4D97-AF65-F5344CB8AC3E}">
        <p14:creationId xmlns:p14="http://schemas.microsoft.com/office/powerpoint/2010/main" val="19307208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D0CCD-75B6-8845-9B21-8AB0EAAD421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6360BF7-71A9-7B70-76E5-59BB17C0C719}"/>
              </a:ext>
            </a:extLst>
          </p:cNvPr>
          <p:cNvSpPr txBox="1">
            <a:spLocks noGrp="1"/>
          </p:cNvSpPr>
          <p:nvPr>
            <p:ph type="title"/>
          </p:nvPr>
        </p:nvSpPr>
        <p:spPr>
          <a:xfrm>
            <a:off x="384724" y="222017"/>
            <a:ext cx="7876540" cy="443711"/>
          </a:xfrm>
          <a:prstGeom prst="rect">
            <a:avLst/>
          </a:prstGeom>
        </p:spPr>
        <p:txBody>
          <a:bodyPr vert="horz" wrap="square" lIns="0" tIns="12700" rIns="0" bIns="0" rtlCol="0">
            <a:spAutoFit/>
          </a:bodyPr>
          <a:lstStyle/>
          <a:p>
            <a:pPr marL="12700">
              <a:lnSpc>
                <a:spcPct val="100000"/>
              </a:lnSpc>
              <a:spcBef>
                <a:spcPts val="100"/>
              </a:spcBef>
            </a:pPr>
            <a:r>
              <a:rPr lang="en-US" sz="2800" spc="25" dirty="0">
                <a:solidFill>
                  <a:srgbClr val="202729"/>
                </a:solidFill>
              </a:rPr>
              <a:t>Spark deployment modes - Local mode</a:t>
            </a:r>
            <a:endParaRPr sz="2800" dirty="0"/>
          </a:p>
        </p:txBody>
      </p:sp>
      <p:sp>
        <p:nvSpPr>
          <p:cNvPr id="3" name="object 3">
            <a:extLst>
              <a:ext uri="{FF2B5EF4-FFF2-40B4-BE49-F238E27FC236}">
                <a16:creationId xmlns:a16="http://schemas.microsoft.com/office/drawing/2014/main" id="{5042C34B-E9FD-4E6A-36A4-903203D9396D}"/>
              </a:ext>
            </a:extLst>
          </p:cNvPr>
          <p:cNvSpPr txBox="1"/>
          <p:nvPr/>
        </p:nvSpPr>
        <p:spPr>
          <a:xfrm>
            <a:off x="384724" y="742950"/>
            <a:ext cx="8530676" cy="3336811"/>
          </a:xfrm>
          <a:prstGeom prst="rect">
            <a:avLst/>
          </a:prstGeom>
        </p:spPr>
        <p:txBody>
          <a:bodyPr vert="horz" wrap="square" lIns="0" tIns="12700" rIns="0" bIns="0" rtlCol="0">
            <a:spAutoFit/>
          </a:bodyPr>
          <a:lstStyle/>
          <a:p>
            <a:pPr marL="342900" indent="-342900" algn="l" fontAlgn="base">
              <a:buFont typeface="Arial" panose="020B0604020202020204" pitchFamily="34" charset="0"/>
              <a:buChar char="•"/>
            </a:pPr>
            <a:r>
              <a:rPr lang="en-US" sz="2400" dirty="0">
                <a:solidFill>
                  <a:srgbClr val="0C0D0E"/>
                </a:solidFill>
                <a:latin typeface="-apple-system"/>
              </a:rPr>
              <a:t>E</a:t>
            </a:r>
            <a:r>
              <a:rPr lang="en-US" sz="2400" b="0" i="0" dirty="0">
                <a:solidFill>
                  <a:srgbClr val="0C0D0E"/>
                </a:solidFill>
                <a:effectLst/>
                <a:latin typeface="-apple-system"/>
              </a:rPr>
              <a:t>xecuting a program on your laptop using </a:t>
            </a:r>
            <a:r>
              <a:rPr lang="en-US" sz="2400" b="0" i="0" dirty="0">
                <a:solidFill>
                  <a:srgbClr val="FF0000"/>
                </a:solidFill>
                <a:effectLst/>
                <a:latin typeface="-apple-system"/>
              </a:rPr>
              <a:t>single JVM</a:t>
            </a:r>
            <a:r>
              <a:rPr lang="en-US" sz="2400" b="0" i="0" dirty="0">
                <a:solidFill>
                  <a:srgbClr val="0C0D0E"/>
                </a:solidFill>
                <a:effectLst/>
                <a:latin typeface="-apple-system"/>
              </a:rPr>
              <a:t>. It can be java, scala or python program where you have defined &amp; used spark context object, imported spark libraries and processed data residing in your system</a:t>
            </a:r>
          </a:p>
          <a:p>
            <a:pPr marL="342900" indent="-342900" algn="l" fontAlgn="base">
              <a:buFont typeface="Arial" panose="020B0604020202020204" pitchFamily="34" charset="0"/>
              <a:buChar char="•"/>
            </a:pPr>
            <a:r>
              <a:rPr lang="en-US" sz="2400" b="0" i="0" dirty="0">
                <a:solidFill>
                  <a:srgbClr val="0C0D0E"/>
                </a:solidFill>
                <a:effectLst/>
                <a:latin typeface="-apple-system"/>
              </a:rPr>
              <a:t>Spark runs the driver and workers in the same JVM </a:t>
            </a:r>
          </a:p>
          <a:p>
            <a:pPr marL="800100" lvl="1" indent="-342900" fontAlgn="base">
              <a:buFont typeface="Arial" panose="020B0604020202020204" pitchFamily="34" charset="0"/>
              <a:buChar char="•"/>
            </a:pPr>
            <a:r>
              <a:rPr lang="en-US" sz="2400" b="0" i="0" dirty="0">
                <a:solidFill>
                  <a:srgbClr val="0C0D0E"/>
                </a:solidFill>
                <a:effectLst/>
                <a:latin typeface="-apple-system"/>
              </a:rPr>
              <a:t>both the Master and Worker(s) run as threads within a single Java Virtual Machine process</a:t>
            </a:r>
          </a:p>
          <a:p>
            <a:pPr algn="l" fontAlgn="base"/>
            <a:endParaRPr lang="en-US" sz="2400" dirty="0">
              <a:solidFill>
                <a:srgbClr val="0C0D0E"/>
              </a:solidFill>
              <a:latin typeface="-apple-system"/>
            </a:endParaRPr>
          </a:p>
          <a:p>
            <a:pPr algn="l" fontAlgn="base"/>
            <a:endParaRPr lang="en-US" sz="2400" b="0" i="0" dirty="0">
              <a:solidFill>
                <a:srgbClr val="0C0D0E"/>
              </a:solidFill>
              <a:effectLst/>
              <a:latin typeface="Trebuchet MS" panose="020B0603020202020204" pitchFamily="34" charset="0"/>
            </a:endParaRPr>
          </a:p>
        </p:txBody>
      </p:sp>
    </p:spTree>
    <p:extLst>
      <p:ext uri="{BB962C8B-B14F-4D97-AF65-F5344CB8AC3E}">
        <p14:creationId xmlns:p14="http://schemas.microsoft.com/office/powerpoint/2010/main" val="6832867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B9E22-A405-4EF4-E3CA-FB5978F1BF0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711F0E8-3C77-4CAE-CF13-291871DC8FE6}"/>
              </a:ext>
            </a:extLst>
          </p:cNvPr>
          <p:cNvSpPr txBox="1">
            <a:spLocks noGrp="1"/>
          </p:cNvSpPr>
          <p:nvPr>
            <p:ph type="title"/>
          </p:nvPr>
        </p:nvSpPr>
        <p:spPr>
          <a:xfrm>
            <a:off x="384725" y="503825"/>
            <a:ext cx="7876540" cy="443711"/>
          </a:xfrm>
          <a:prstGeom prst="rect">
            <a:avLst/>
          </a:prstGeom>
        </p:spPr>
        <p:txBody>
          <a:bodyPr vert="horz" wrap="square" lIns="0" tIns="12700" rIns="0" bIns="0" rtlCol="0">
            <a:spAutoFit/>
          </a:bodyPr>
          <a:lstStyle/>
          <a:p>
            <a:pPr marL="12700">
              <a:lnSpc>
                <a:spcPct val="100000"/>
              </a:lnSpc>
              <a:spcBef>
                <a:spcPts val="100"/>
              </a:spcBef>
            </a:pPr>
            <a:r>
              <a:rPr lang="en-US" sz="2800" spc="25" dirty="0">
                <a:solidFill>
                  <a:srgbClr val="202729"/>
                </a:solidFill>
              </a:rPr>
              <a:t>Spark deployment modes - Cluster mode  </a:t>
            </a:r>
            <a:endParaRPr sz="2800" dirty="0"/>
          </a:p>
        </p:txBody>
      </p:sp>
      <p:sp>
        <p:nvSpPr>
          <p:cNvPr id="3" name="object 3">
            <a:extLst>
              <a:ext uri="{FF2B5EF4-FFF2-40B4-BE49-F238E27FC236}">
                <a16:creationId xmlns:a16="http://schemas.microsoft.com/office/drawing/2014/main" id="{4A05F87B-5CA5-5387-6F88-87DF5698F723}"/>
              </a:ext>
            </a:extLst>
          </p:cNvPr>
          <p:cNvSpPr txBox="1"/>
          <p:nvPr/>
        </p:nvSpPr>
        <p:spPr>
          <a:xfrm>
            <a:off x="384724" y="1215340"/>
            <a:ext cx="8302076" cy="3706143"/>
          </a:xfrm>
          <a:prstGeom prst="rect">
            <a:avLst/>
          </a:prstGeom>
        </p:spPr>
        <p:txBody>
          <a:bodyPr vert="horz" wrap="square" lIns="0" tIns="12700" rIns="0" bIns="0" rtlCol="0">
            <a:spAutoFit/>
          </a:bodyPr>
          <a:lstStyle/>
          <a:p>
            <a:pPr marL="342900" indent="-342900" algn="l" fontAlgn="base">
              <a:buFont typeface="Arial" panose="020B0604020202020204" pitchFamily="34" charset="0"/>
              <a:buChar char="•"/>
            </a:pPr>
            <a:r>
              <a:rPr lang="en-US" sz="2400" b="1" i="0" dirty="0">
                <a:solidFill>
                  <a:srgbClr val="0C0D0E"/>
                </a:solidFill>
                <a:effectLst/>
                <a:latin typeface="-apple-system"/>
              </a:rPr>
              <a:t>Standalone: Master -&gt; Workers</a:t>
            </a:r>
          </a:p>
          <a:p>
            <a:pPr marL="800100" lvl="1" indent="-342900" fontAlgn="base">
              <a:buFont typeface="Arial" panose="020B0604020202020204" pitchFamily="34" charset="0"/>
              <a:buChar char="•"/>
            </a:pPr>
            <a:r>
              <a:rPr lang="en-US" sz="2400" b="0" i="0" dirty="0">
                <a:solidFill>
                  <a:srgbClr val="0C0D0E"/>
                </a:solidFill>
                <a:effectLst/>
                <a:latin typeface="-apple-system"/>
              </a:rPr>
              <a:t>Spark distribution comes with its own resource manager also. When your program uses spark's resource manager, execution mode is called Standalone.  </a:t>
            </a:r>
            <a:r>
              <a:rPr lang="en-US" sz="2400" dirty="0">
                <a:solidFill>
                  <a:srgbClr val="0C0D0E"/>
                </a:solidFill>
                <a:latin typeface="-apple-system"/>
              </a:rPr>
              <a:t>T</a:t>
            </a:r>
            <a:r>
              <a:rPr lang="en-US" sz="2400" b="0" i="0" dirty="0">
                <a:solidFill>
                  <a:srgbClr val="0C0D0E"/>
                </a:solidFill>
                <a:effectLst/>
                <a:latin typeface="-apple-system"/>
              </a:rPr>
              <a:t>here are multiple JVMs</a:t>
            </a:r>
            <a:endParaRPr lang="en-US" sz="2400" dirty="0">
              <a:solidFill>
                <a:srgbClr val="0C0D0E"/>
              </a:solidFill>
              <a:latin typeface="Trebuchet MS" panose="020B0603020202020204" pitchFamily="34" charset="0"/>
            </a:endParaRPr>
          </a:p>
          <a:p>
            <a:pPr marL="342900" indent="-342900" algn="l" fontAlgn="base">
              <a:buFont typeface="Arial" panose="020B0604020202020204" pitchFamily="34" charset="0"/>
              <a:buChar char="•"/>
            </a:pPr>
            <a:r>
              <a:rPr lang="en-US" sz="2400" b="1" i="0" dirty="0">
                <a:solidFill>
                  <a:srgbClr val="0C0D0E"/>
                </a:solidFill>
                <a:effectLst/>
                <a:latin typeface="-apple-system"/>
              </a:rPr>
              <a:t>YARN/Mesos/K8s – </a:t>
            </a:r>
            <a:r>
              <a:rPr lang="en-US" sz="2400" b="1" i="0" dirty="0" err="1">
                <a:solidFill>
                  <a:srgbClr val="0C0D0E"/>
                </a:solidFill>
                <a:effectLst/>
                <a:latin typeface="-apple-system"/>
              </a:rPr>
              <a:t>ResourceManager</a:t>
            </a:r>
            <a:r>
              <a:rPr lang="en-US" sz="2400" b="1" i="0" dirty="0">
                <a:solidFill>
                  <a:srgbClr val="0C0D0E"/>
                </a:solidFill>
                <a:effectLst/>
                <a:latin typeface="-apple-system"/>
              </a:rPr>
              <a:t> + </a:t>
            </a:r>
            <a:r>
              <a:rPr lang="en-US" sz="2400" b="1" i="0" dirty="0" err="1">
                <a:solidFill>
                  <a:srgbClr val="0C0D0E"/>
                </a:solidFill>
                <a:effectLst/>
                <a:latin typeface="-apple-system"/>
              </a:rPr>
              <a:t>NodeManager</a:t>
            </a:r>
            <a:r>
              <a:rPr lang="en-US" sz="2400" b="1" i="0" dirty="0">
                <a:solidFill>
                  <a:srgbClr val="0C0D0E"/>
                </a:solidFill>
                <a:effectLst/>
                <a:latin typeface="-apple-system"/>
              </a:rPr>
              <a:t> + </a:t>
            </a:r>
            <a:endParaRPr lang="en-US" sz="2400" b="1" i="0" dirty="0">
              <a:solidFill>
                <a:srgbClr val="0C0D0E"/>
              </a:solidFill>
              <a:effectLst/>
              <a:latin typeface="Trebuchet MS" panose="020B0603020202020204" pitchFamily="34" charset="0"/>
            </a:endParaRPr>
          </a:p>
          <a:p>
            <a:pPr marL="800100" lvl="1" indent="-342900" fontAlgn="base">
              <a:buFont typeface="Arial" panose="020B0604020202020204" pitchFamily="34" charset="0"/>
              <a:buChar char="•"/>
            </a:pPr>
            <a:r>
              <a:rPr lang="en-US" sz="2400" b="0" i="0" dirty="0">
                <a:solidFill>
                  <a:srgbClr val="0C0D0E"/>
                </a:solidFill>
                <a:effectLst/>
                <a:latin typeface="-apple-system"/>
              </a:rPr>
              <a:t>In reality Spark programs are meant to process data stored across machines. Executors process data stored on these machines. We need a utility to monitor executors and manage resources on these machines( clusters). </a:t>
            </a:r>
            <a:endParaRPr lang="en-US" sz="2400" b="0" i="0" dirty="0">
              <a:solidFill>
                <a:srgbClr val="0C0D0E"/>
              </a:solidFill>
              <a:effectLst/>
              <a:latin typeface="Trebuchet MS" panose="020B0603020202020204" pitchFamily="34" charset="0"/>
            </a:endParaRPr>
          </a:p>
        </p:txBody>
      </p:sp>
    </p:spTree>
    <p:extLst>
      <p:ext uri="{BB962C8B-B14F-4D97-AF65-F5344CB8AC3E}">
        <p14:creationId xmlns:p14="http://schemas.microsoft.com/office/powerpoint/2010/main" val="31250366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67A17-2688-F925-07F9-5D2E54223D5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7C650ED-5EE8-7616-A1F5-AA6A61322FA8}"/>
              </a:ext>
            </a:extLst>
          </p:cNvPr>
          <p:cNvSpPr txBox="1">
            <a:spLocks noGrp="1"/>
          </p:cNvSpPr>
          <p:nvPr>
            <p:ph type="title"/>
          </p:nvPr>
        </p:nvSpPr>
        <p:spPr>
          <a:xfrm>
            <a:off x="384725" y="503825"/>
            <a:ext cx="7876540" cy="443711"/>
          </a:xfrm>
          <a:prstGeom prst="rect">
            <a:avLst/>
          </a:prstGeom>
        </p:spPr>
        <p:txBody>
          <a:bodyPr vert="horz" wrap="square" lIns="0" tIns="12700" rIns="0" bIns="0" rtlCol="0">
            <a:spAutoFit/>
          </a:bodyPr>
          <a:lstStyle/>
          <a:p>
            <a:pPr marL="12700">
              <a:lnSpc>
                <a:spcPct val="100000"/>
              </a:lnSpc>
              <a:spcBef>
                <a:spcPts val="100"/>
              </a:spcBef>
            </a:pPr>
            <a:r>
              <a:rPr lang="en-US" sz="2800" spc="25" dirty="0">
                <a:solidFill>
                  <a:srgbClr val="202729"/>
                </a:solidFill>
              </a:rPr>
              <a:t>Deployment modes submit commands</a:t>
            </a:r>
            <a:endParaRPr sz="2800" dirty="0"/>
          </a:p>
        </p:txBody>
      </p:sp>
      <p:pic>
        <p:nvPicPr>
          <p:cNvPr id="5" name="Picture 4">
            <a:extLst>
              <a:ext uri="{FF2B5EF4-FFF2-40B4-BE49-F238E27FC236}">
                <a16:creationId xmlns:a16="http://schemas.microsoft.com/office/drawing/2014/main" id="{975E7009-9B63-FC0D-5551-86C932738A1C}"/>
              </a:ext>
            </a:extLst>
          </p:cNvPr>
          <p:cNvPicPr>
            <a:picLocks noChangeAspect="1"/>
          </p:cNvPicPr>
          <p:nvPr/>
        </p:nvPicPr>
        <p:blipFill>
          <a:blip r:embed="rId2"/>
          <a:stretch>
            <a:fillRect/>
          </a:stretch>
        </p:blipFill>
        <p:spPr>
          <a:xfrm>
            <a:off x="76200" y="2820146"/>
            <a:ext cx="7640116" cy="1819529"/>
          </a:xfrm>
          <a:prstGeom prst="rect">
            <a:avLst/>
          </a:prstGeom>
        </p:spPr>
      </p:pic>
      <p:pic>
        <p:nvPicPr>
          <p:cNvPr id="7" name="Picture 6">
            <a:extLst>
              <a:ext uri="{FF2B5EF4-FFF2-40B4-BE49-F238E27FC236}">
                <a16:creationId xmlns:a16="http://schemas.microsoft.com/office/drawing/2014/main" id="{6D4DC4E3-C706-779C-06FD-CAA3D6D7107C}"/>
              </a:ext>
            </a:extLst>
          </p:cNvPr>
          <p:cNvPicPr>
            <a:picLocks noChangeAspect="1"/>
          </p:cNvPicPr>
          <p:nvPr/>
        </p:nvPicPr>
        <p:blipFill>
          <a:blip r:embed="rId3"/>
          <a:stretch>
            <a:fillRect/>
          </a:stretch>
        </p:blipFill>
        <p:spPr>
          <a:xfrm>
            <a:off x="152400" y="1250340"/>
            <a:ext cx="8611802" cy="1267002"/>
          </a:xfrm>
          <a:prstGeom prst="rect">
            <a:avLst/>
          </a:prstGeom>
        </p:spPr>
      </p:pic>
    </p:spTree>
    <p:extLst>
      <p:ext uri="{BB962C8B-B14F-4D97-AF65-F5344CB8AC3E}">
        <p14:creationId xmlns:p14="http://schemas.microsoft.com/office/powerpoint/2010/main" val="16475959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830" y="269899"/>
            <a:ext cx="5353050" cy="452120"/>
          </a:xfrm>
          <a:prstGeom prst="rect">
            <a:avLst/>
          </a:prstGeom>
        </p:spPr>
        <p:txBody>
          <a:bodyPr vert="horz" wrap="square" lIns="0" tIns="12700" rIns="0" bIns="0" rtlCol="0">
            <a:spAutoFit/>
          </a:bodyPr>
          <a:lstStyle/>
          <a:p>
            <a:pPr marL="12700">
              <a:lnSpc>
                <a:spcPct val="100000"/>
              </a:lnSpc>
              <a:spcBef>
                <a:spcPts val="100"/>
              </a:spcBef>
            </a:pPr>
            <a:r>
              <a:rPr sz="2800" spc="75" dirty="0">
                <a:solidFill>
                  <a:srgbClr val="202729"/>
                </a:solidFill>
              </a:rPr>
              <a:t>Much</a:t>
            </a:r>
            <a:r>
              <a:rPr sz="2800" spc="-125" dirty="0">
                <a:solidFill>
                  <a:srgbClr val="202729"/>
                </a:solidFill>
              </a:rPr>
              <a:t> </a:t>
            </a:r>
            <a:r>
              <a:rPr sz="2800" spc="-20" dirty="0">
                <a:solidFill>
                  <a:srgbClr val="202729"/>
                </a:solidFill>
              </a:rPr>
              <a:t>more</a:t>
            </a:r>
            <a:r>
              <a:rPr sz="2800" spc="-125" dirty="0">
                <a:solidFill>
                  <a:srgbClr val="202729"/>
                </a:solidFill>
              </a:rPr>
              <a:t> </a:t>
            </a:r>
            <a:r>
              <a:rPr sz="2800" spc="-130" dirty="0">
                <a:solidFill>
                  <a:srgbClr val="202729"/>
                </a:solidFill>
              </a:rPr>
              <a:t>flexibility</a:t>
            </a:r>
            <a:r>
              <a:rPr sz="2800" spc="-125" dirty="0">
                <a:solidFill>
                  <a:srgbClr val="202729"/>
                </a:solidFill>
              </a:rPr>
              <a:t> </a:t>
            </a:r>
            <a:r>
              <a:rPr sz="2800" spc="-65" dirty="0">
                <a:solidFill>
                  <a:srgbClr val="202729"/>
                </a:solidFill>
              </a:rPr>
              <a:t>than</a:t>
            </a:r>
            <a:r>
              <a:rPr sz="2800" spc="-125" dirty="0">
                <a:solidFill>
                  <a:srgbClr val="202729"/>
                </a:solidFill>
              </a:rPr>
              <a:t> </a:t>
            </a:r>
            <a:r>
              <a:rPr sz="2800" spc="75" dirty="0">
                <a:solidFill>
                  <a:srgbClr val="202729"/>
                </a:solidFill>
              </a:rPr>
              <a:t>Hadoop</a:t>
            </a:r>
            <a:endParaRPr sz="2800" dirty="0"/>
          </a:p>
        </p:txBody>
      </p:sp>
      <p:sp>
        <p:nvSpPr>
          <p:cNvPr id="3" name="object 3"/>
          <p:cNvSpPr txBox="1"/>
          <p:nvPr/>
        </p:nvSpPr>
        <p:spPr>
          <a:xfrm>
            <a:off x="475249" y="4137176"/>
            <a:ext cx="7923530" cy="654050"/>
          </a:xfrm>
          <a:prstGeom prst="rect">
            <a:avLst/>
          </a:prstGeom>
        </p:spPr>
        <p:txBody>
          <a:bodyPr vert="horz" wrap="square" lIns="0" tIns="52705" rIns="0" bIns="0" rtlCol="0">
            <a:spAutoFit/>
          </a:bodyPr>
          <a:lstStyle/>
          <a:p>
            <a:pPr marL="379095" indent="-367030">
              <a:lnSpc>
                <a:spcPct val="100000"/>
              </a:lnSpc>
              <a:spcBef>
                <a:spcPts val="415"/>
              </a:spcBef>
              <a:buFont typeface="Arial MT"/>
              <a:buChar char="●"/>
              <a:tabLst>
                <a:tab pos="379095" algn="l"/>
                <a:tab pos="379730" algn="l"/>
              </a:tabLst>
            </a:pPr>
            <a:r>
              <a:rPr sz="1800" spc="20" dirty="0">
                <a:solidFill>
                  <a:srgbClr val="616161"/>
                </a:solidFill>
                <a:latin typeface="Trebuchet MS"/>
                <a:cs typeface="Trebuchet MS"/>
              </a:rPr>
              <a:t>Aims</a:t>
            </a:r>
            <a:r>
              <a:rPr sz="1800" spc="-80" dirty="0">
                <a:solidFill>
                  <a:srgbClr val="616161"/>
                </a:solidFill>
                <a:latin typeface="Trebuchet MS"/>
                <a:cs typeface="Trebuchet MS"/>
              </a:rPr>
              <a:t> </a:t>
            </a:r>
            <a:r>
              <a:rPr sz="1800" spc="-70" dirty="0">
                <a:solidFill>
                  <a:srgbClr val="616161"/>
                </a:solidFill>
                <a:latin typeface="Trebuchet MS"/>
                <a:cs typeface="Trebuchet MS"/>
              </a:rPr>
              <a:t>for</a:t>
            </a:r>
            <a:r>
              <a:rPr sz="1800" spc="-80" dirty="0">
                <a:solidFill>
                  <a:srgbClr val="616161"/>
                </a:solidFill>
                <a:latin typeface="Trebuchet MS"/>
                <a:cs typeface="Trebuchet MS"/>
              </a:rPr>
              <a:t> </a:t>
            </a:r>
            <a:r>
              <a:rPr sz="1800" spc="30" dirty="0">
                <a:solidFill>
                  <a:srgbClr val="616161"/>
                </a:solidFill>
                <a:latin typeface="Trebuchet MS"/>
                <a:cs typeface="Trebuchet MS"/>
              </a:rPr>
              <a:t>easy</a:t>
            </a:r>
            <a:r>
              <a:rPr sz="1800" spc="-80" dirty="0">
                <a:solidFill>
                  <a:srgbClr val="616161"/>
                </a:solidFill>
                <a:latin typeface="Trebuchet MS"/>
                <a:cs typeface="Trebuchet MS"/>
              </a:rPr>
              <a:t> </a:t>
            </a:r>
            <a:r>
              <a:rPr sz="1800" spc="10" dirty="0">
                <a:solidFill>
                  <a:srgbClr val="616161"/>
                </a:solidFill>
                <a:latin typeface="Trebuchet MS"/>
                <a:cs typeface="Trebuchet MS"/>
              </a:rPr>
              <a:t>and</a:t>
            </a:r>
            <a:r>
              <a:rPr sz="1800" spc="-80" dirty="0">
                <a:solidFill>
                  <a:srgbClr val="616161"/>
                </a:solidFill>
                <a:latin typeface="Trebuchet MS"/>
                <a:cs typeface="Trebuchet MS"/>
              </a:rPr>
              <a:t> </a:t>
            </a:r>
            <a:r>
              <a:rPr sz="1800" spc="-60" dirty="0">
                <a:solidFill>
                  <a:srgbClr val="616161"/>
                </a:solidFill>
                <a:latin typeface="Trebuchet MS"/>
                <a:cs typeface="Trebuchet MS"/>
              </a:rPr>
              <a:t>interactive</a:t>
            </a:r>
            <a:r>
              <a:rPr sz="1800" spc="-80" dirty="0">
                <a:solidFill>
                  <a:srgbClr val="616161"/>
                </a:solidFill>
                <a:latin typeface="Trebuchet MS"/>
                <a:cs typeface="Trebuchet MS"/>
              </a:rPr>
              <a:t> </a:t>
            </a:r>
            <a:r>
              <a:rPr sz="1800" spc="-35" dirty="0">
                <a:solidFill>
                  <a:srgbClr val="616161"/>
                </a:solidFill>
                <a:latin typeface="Trebuchet MS"/>
                <a:cs typeface="Trebuchet MS"/>
              </a:rPr>
              <a:t>analytics</a:t>
            </a:r>
            <a:endParaRPr sz="1800">
              <a:latin typeface="Trebuchet MS"/>
              <a:cs typeface="Trebuchet MS"/>
            </a:endParaRPr>
          </a:p>
          <a:p>
            <a:pPr marL="379095" indent="-367030">
              <a:lnSpc>
                <a:spcPct val="100000"/>
              </a:lnSpc>
              <a:spcBef>
                <a:spcPts val="315"/>
              </a:spcBef>
              <a:buFont typeface="Arial MT"/>
              <a:buChar char="●"/>
              <a:tabLst>
                <a:tab pos="379095" algn="l"/>
                <a:tab pos="379730" algn="l"/>
              </a:tabLst>
            </a:pPr>
            <a:r>
              <a:rPr sz="1800" spc="-30" dirty="0">
                <a:solidFill>
                  <a:srgbClr val="616161"/>
                </a:solidFill>
                <a:latin typeface="Trebuchet MS"/>
                <a:cs typeface="Trebuchet MS"/>
              </a:rPr>
              <a:t>Distributed</a:t>
            </a:r>
            <a:r>
              <a:rPr sz="1800" spc="-75" dirty="0">
                <a:solidFill>
                  <a:srgbClr val="616161"/>
                </a:solidFill>
                <a:latin typeface="Trebuchet MS"/>
                <a:cs typeface="Trebuchet MS"/>
              </a:rPr>
              <a:t> </a:t>
            </a:r>
            <a:r>
              <a:rPr sz="1800" spc="-65" dirty="0">
                <a:solidFill>
                  <a:srgbClr val="616161"/>
                </a:solidFill>
                <a:latin typeface="Trebuchet MS"/>
                <a:cs typeface="Trebuchet MS"/>
              </a:rPr>
              <a:t>Platform</a:t>
            </a:r>
            <a:r>
              <a:rPr sz="1800" spc="-75" dirty="0">
                <a:solidFill>
                  <a:srgbClr val="616161"/>
                </a:solidFill>
                <a:latin typeface="Trebuchet MS"/>
                <a:cs typeface="Trebuchet MS"/>
              </a:rPr>
              <a:t> </a:t>
            </a:r>
            <a:r>
              <a:rPr sz="1800" spc="-70" dirty="0">
                <a:solidFill>
                  <a:srgbClr val="616161"/>
                </a:solidFill>
                <a:latin typeface="Trebuchet MS"/>
                <a:cs typeface="Trebuchet MS"/>
              </a:rPr>
              <a:t>for </a:t>
            </a:r>
            <a:r>
              <a:rPr sz="1800" spc="-15" dirty="0">
                <a:solidFill>
                  <a:srgbClr val="616161"/>
                </a:solidFill>
                <a:latin typeface="Trebuchet MS"/>
                <a:cs typeface="Trebuchet MS"/>
              </a:rPr>
              <a:t>complex</a:t>
            </a:r>
            <a:r>
              <a:rPr sz="1800" spc="-75" dirty="0">
                <a:solidFill>
                  <a:srgbClr val="616161"/>
                </a:solidFill>
                <a:latin typeface="Trebuchet MS"/>
                <a:cs typeface="Trebuchet MS"/>
              </a:rPr>
              <a:t> </a:t>
            </a:r>
            <a:r>
              <a:rPr sz="1800" spc="-45" dirty="0">
                <a:solidFill>
                  <a:srgbClr val="616161"/>
                </a:solidFill>
                <a:latin typeface="Trebuchet MS"/>
                <a:cs typeface="Trebuchet MS"/>
              </a:rPr>
              <a:t>multi-stage</a:t>
            </a:r>
            <a:r>
              <a:rPr sz="1800" spc="-70" dirty="0">
                <a:solidFill>
                  <a:srgbClr val="616161"/>
                </a:solidFill>
                <a:latin typeface="Trebuchet MS"/>
                <a:cs typeface="Trebuchet MS"/>
              </a:rPr>
              <a:t> </a:t>
            </a:r>
            <a:r>
              <a:rPr sz="1800" spc="-45" dirty="0">
                <a:solidFill>
                  <a:srgbClr val="616161"/>
                </a:solidFill>
                <a:latin typeface="Trebuchet MS"/>
                <a:cs typeface="Trebuchet MS"/>
              </a:rPr>
              <a:t>applications,</a:t>
            </a:r>
            <a:r>
              <a:rPr sz="1800" spc="-75" dirty="0">
                <a:solidFill>
                  <a:srgbClr val="616161"/>
                </a:solidFill>
                <a:latin typeface="Trebuchet MS"/>
                <a:cs typeface="Trebuchet MS"/>
              </a:rPr>
              <a:t> </a:t>
            </a:r>
            <a:r>
              <a:rPr sz="1800" spc="-110" dirty="0">
                <a:solidFill>
                  <a:srgbClr val="616161"/>
                </a:solidFill>
                <a:latin typeface="Trebuchet MS"/>
                <a:cs typeface="Trebuchet MS"/>
              </a:rPr>
              <a:t>(e.g.</a:t>
            </a:r>
            <a:r>
              <a:rPr sz="1800" spc="-70" dirty="0">
                <a:solidFill>
                  <a:srgbClr val="616161"/>
                </a:solidFill>
                <a:latin typeface="Trebuchet MS"/>
                <a:cs typeface="Trebuchet MS"/>
              </a:rPr>
              <a:t> real-time</a:t>
            </a:r>
            <a:r>
              <a:rPr sz="1800" spc="-75" dirty="0">
                <a:solidFill>
                  <a:srgbClr val="616161"/>
                </a:solidFill>
                <a:latin typeface="Trebuchet MS"/>
                <a:cs typeface="Trebuchet MS"/>
              </a:rPr>
              <a:t> </a:t>
            </a:r>
            <a:r>
              <a:rPr sz="1800" spc="-10" dirty="0">
                <a:solidFill>
                  <a:srgbClr val="616161"/>
                </a:solidFill>
                <a:latin typeface="Trebuchet MS"/>
                <a:cs typeface="Trebuchet MS"/>
              </a:rPr>
              <a:t>ML)</a:t>
            </a:r>
            <a:endParaRPr sz="1800">
              <a:latin typeface="Trebuchet MS"/>
              <a:cs typeface="Trebuchet MS"/>
            </a:endParaRPr>
          </a:p>
        </p:txBody>
      </p:sp>
      <p:sp>
        <p:nvSpPr>
          <p:cNvPr id="4" name="object 4"/>
          <p:cNvSpPr txBox="1"/>
          <p:nvPr/>
        </p:nvSpPr>
        <p:spPr>
          <a:xfrm>
            <a:off x="2988774" y="2101675"/>
            <a:ext cx="4477385" cy="807720"/>
          </a:xfrm>
          <a:prstGeom prst="rect">
            <a:avLst/>
          </a:prstGeom>
          <a:solidFill>
            <a:srgbClr val="FFD966"/>
          </a:solidFill>
          <a:ln w="9524">
            <a:solidFill>
              <a:srgbClr val="000000"/>
            </a:solidFill>
          </a:ln>
        </p:spPr>
        <p:txBody>
          <a:bodyPr vert="horz" wrap="square" lIns="0" tIns="210185" rIns="0" bIns="0" rtlCol="0">
            <a:spAutoFit/>
          </a:bodyPr>
          <a:lstStyle/>
          <a:p>
            <a:pPr algn="ctr">
              <a:lnSpc>
                <a:spcPct val="100000"/>
              </a:lnSpc>
              <a:spcBef>
                <a:spcPts val="1655"/>
              </a:spcBef>
            </a:pPr>
            <a:r>
              <a:rPr sz="2400" spc="-165" dirty="0">
                <a:latin typeface="Verdana"/>
                <a:cs typeface="Verdana"/>
              </a:rPr>
              <a:t>Spark</a:t>
            </a:r>
            <a:r>
              <a:rPr sz="2400" spc="-250" dirty="0">
                <a:latin typeface="Verdana"/>
                <a:cs typeface="Verdana"/>
              </a:rPr>
              <a:t> </a:t>
            </a:r>
            <a:r>
              <a:rPr sz="2400" spc="-130" dirty="0">
                <a:latin typeface="Verdana"/>
                <a:cs typeface="Verdana"/>
              </a:rPr>
              <a:t>Core</a:t>
            </a:r>
            <a:endParaRPr sz="2400">
              <a:latin typeface="Verdana"/>
              <a:cs typeface="Verdana"/>
            </a:endParaRPr>
          </a:p>
        </p:txBody>
      </p:sp>
      <p:sp>
        <p:nvSpPr>
          <p:cNvPr id="5" name="object 5"/>
          <p:cNvSpPr/>
          <p:nvPr/>
        </p:nvSpPr>
        <p:spPr>
          <a:xfrm>
            <a:off x="2644375" y="3069375"/>
            <a:ext cx="5165725" cy="807720"/>
          </a:xfrm>
          <a:custGeom>
            <a:avLst/>
            <a:gdLst/>
            <a:ahLst/>
            <a:cxnLst/>
            <a:rect l="l" t="t" r="r" b="b"/>
            <a:pathLst>
              <a:path w="5165725" h="807720">
                <a:moveTo>
                  <a:pt x="5031097" y="807599"/>
                </a:moveTo>
                <a:lnTo>
                  <a:pt x="134602" y="807599"/>
                </a:lnTo>
                <a:lnTo>
                  <a:pt x="92057" y="800737"/>
                </a:lnTo>
                <a:lnTo>
                  <a:pt x="55108" y="781629"/>
                </a:lnTo>
                <a:lnTo>
                  <a:pt x="25970" y="752491"/>
                </a:lnTo>
                <a:lnTo>
                  <a:pt x="6862" y="715542"/>
                </a:lnTo>
                <a:lnTo>
                  <a:pt x="0" y="672997"/>
                </a:lnTo>
                <a:lnTo>
                  <a:pt x="0" y="134602"/>
                </a:lnTo>
                <a:lnTo>
                  <a:pt x="6862" y="92057"/>
                </a:lnTo>
                <a:lnTo>
                  <a:pt x="25970" y="55108"/>
                </a:lnTo>
                <a:lnTo>
                  <a:pt x="55108" y="25970"/>
                </a:lnTo>
                <a:lnTo>
                  <a:pt x="92057" y="6862"/>
                </a:lnTo>
                <a:lnTo>
                  <a:pt x="134602" y="0"/>
                </a:lnTo>
                <a:lnTo>
                  <a:pt x="5031097" y="0"/>
                </a:lnTo>
                <a:lnTo>
                  <a:pt x="5082607" y="10245"/>
                </a:lnTo>
                <a:lnTo>
                  <a:pt x="5126275" y="39424"/>
                </a:lnTo>
                <a:lnTo>
                  <a:pt x="5155453" y="83092"/>
                </a:lnTo>
                <a:lnTo>
                  <a:pt x="5165699" y="134602"/>
                </a:lnTo>
                <a:lnTo>
                  <a:pt x="5165699" y="672997"/>
                </a:lnTo>
                <a:lnTo>
                  <a:pt x="5158837" y="715542"/>
                </a:lnTo>
                <a:lnTo>
                  <a:pt x="5139729" y="752491"/>
                </a:lnTo>
                <a:lnTo>
                  <a:pt x="5110591" y="781629"/>
                </a:lnTo>
                <a:lnTo>
                  <a:pt x="5073642" y="800737"/>
                </a:lnTo>
                <a:lnTo>
                  <a:pt x="5031097" y="807599"/>
                </a:lnTo>
                <a:close/>
              </a:path>
            </a:pathLst>
          </a:custGeom>
          <a:solidFill>
            <a:srgbClr val="FFD966"/>
          </a:solidFill>
        </p:spPr>
        <p:txBody>
          <a:bodyPr wrap="square" lIns="0" tIns="0" rIns="0" bIns="0" rtlCol="0"/>
          <a:lstStyle/>
          <a:p>
            <a:endParaRPr/>
          </a:p>
        </p:txBody>
      </p:sp>
      <p:sp>
        <p:nvSpPr>
          <p:cNvPr id="6" name="object 6"/>
          <p:cNvSpPr txBox="1"/>
          <p:nvPr/>
        </p:nvSpPr>
        <p:spPr>
          <a:xfrm>
            <a:off x="2988774" y="3211875"/>
            <a:ext cx="1354455" cy="572770"/>
          </a:xfrm>
          <a:prstGeom prst="rect">
            <a:avLst/>
          </a:prstGeom>
          <a:solidFill>
            <a:srgbClr val="F9CB9B"/>
          </a:solidFill>
          <a:ln w="9524">
            <a:solidFill>
              <a:srgbClr val="000000"/>
            </a:solidFill>
          </a:ln>
        </p:spPr>
        <p:txBody>
          <a:bodyPr vert="horz" wrap="square" lIns="0" tIns="79375" rIns="0" bIns="0" rtlCol="0">
            <a:spAutoFit/>
          </a:bodyPr>
          <a:lstStyle/>
          <a:p>
            <a:pPr marL="217170" marR="209550" indent="228600">
              <a:lnSpc>
                <a:spcPts val="1650"/>
              </a:lnSpc>
              <a:spcBef>
                <a:spcPts val="625"/>
              </a:spcBef>
            </a:pPr>
            <a:r>
              <a:rPr sz="1400" spc="-100" dirty="0">
                <a:latin typeface="Verdana"/>
                <a:cs typeface="Verdana"/>
              </a:rPr>
              <a:t>Spark </a:t>
            </a:r>
            <a:r>
              <a:rPr sz="1400" spc="-95" dirty="0">
                <a:latin typeface="Verdana"/>
                <a:cs typeface="Verdana"/>
              </a:rPr>
              <a:t> </a:t>
            </a:r>
            <a:r>
              <a:rPr sz="1400" spc="-75" dirty="0">
                <a:latin typeface="Verdana"/>
                <a:cs typeface="Verdana"/>
              </a:rPr>
              <a:t>Standalone</a:t>
            </a:r>
            <a:endParaRPr sz="1400">
              <a:latin typeface="Verdana"/>
              <a:cs typeface="Verdana"/>
            </a:endParaRPr>
          </a:p>
        </p:txBody>
      </p:sp>
      <p:sp>
        <p:nvSpPr>
          <p:cNvPr id="7" name="object 7"/>
          <p:cNvSpPr txBox="1"/>
          <p:nvPr/>
        </p:nvSpPr>
        <p:spPr>
          <a:xfrm>
            <a:off x="4550274" y="3211875"/>
            <a:ext cx="1354455" cy="572770"/>
          </a:xfrm>
          <a:prstGeom prst="rect">
            <a:avLst/>
          </a:prstGeom>
          <a:solidFill>
            <a:srgbClr val="F9CB9B"/>
          </a:solidFill>
          <a:ln w="9524">
            <a:solidFill>
              <a:srgbClr val="000000"/>
            </a:solidFill>
          </a:ln>
        </p:spPr>
        <p:txBody>
          <a:bodyPr vert="horz" wrap="square" lIns="0" tIns="173990" rIns="0" bIns="0" rtlCol="0">
            <a:spAutoFit/>
          </a:bodyPr>
          <a:lstStyle/>
          <a:p>
            <a:pPr marL="444500">
              <a:lnSpc>
                <a:spcPct val="100000"/>
              </a:lnSpc>
              <a:spcBef>
                <a:spcPts val="1370"/>
              </a:spcBef>
            </a:pPr>
            <a:r>
              <a:rPr sz="1400" spc="-50" dirty="0">
                <a:latin typeface="Verdana"/>
                <a:cs typeface="Verdana"/>
              </a:rPr>
              <a:t>YARN</a:t>
            </a:r>
            <a:endParaRPr sz="1400">
              <a:latin typeface="Verdana"/>
              <a:cs typeface="Verdana"/>
            </a:endParaRPr>
          </a:p>
        </p:txBody>
      </p:sp>
      <p:sp>
        <p:nvSpPr>
          <p:cNvPr id="8" name="object 8"/>
          <p:cNvSpPr txBox="1"/>
          <p:nvPr/>
        </p:nvSpPr>
        <p:spPr>
          <a:xfrm>
            <a:off x="6111775" y="3224937"/>
            <a:ext cx="1354455" cy="572770"/>
          </a:xfrm>
          <a:prstGeom prst="rect">
            <a:avLst/>
          </a:prstGeom>
          <a:solidFill>
            <a:srgbClr val="F9CB9B"/>
          </a:solidFill>
          <a:ln w="9524">
            <a:solidFill>
              <a:srgbClr val="000000"/>
            </a:solidFill>
          </a:ln>
        </p:spPr>
        <p:txBody>
          <a:bodyPr vert="horz" wrap="square" lIns="0" tIns="173990" rIns="0" bIns="0" rtlCol="0">
            <a:spAutoFit/>
          </a:bodyPr>
          <a:lstStyle/>
          <a:p>
            <a:pPr marL="371475">
              <a:lnSpc>
                <a:spcPct val="100000"/>
              </a:lnSpc>
              <a:spcBef>
                <a:spcPts val="1370"/>
              </a:spcBef>
            </a:pPr>
            <a:r>
              <a:rPr sz="1400" spc="-60" dirty="0">
                <a:latin typeface="Verdana"/>
                <a:cs typeface="Verdana"/>
              </a:rPr>
              <a:t>MESOS</a:t>
            </a:r>
            <a:endParaRPr sz="1400">
              <a:latin typeface="Verdana"/>
              <a:cs typeface="Verdana"/>
            </a:endParaRPr>
          </a:p>
        </p:txBody>
      </p:sp>
      <p:sp>
        <p:nvSpPr>
          <p:cNvPr id="9" name="object 9"/>
          <p:cNvSpPr txBox="1"/>
          <p:nvPr/>
        </p:nvSpPr>
        <p:spPr>
          <a:xfrm>
            <a:off x="2988774" y="1368874"/>
            <a:ext cx="725805" cy="572770"/>
          </a:xfrm>
          <a:prstGeom prst="rect">
            <a:avLst/>
          </a:prstGeom>
          <a:solidFill>
            <a:srgbClr val="FCE4CD"/>
          </a:solidFill>
          <a:ln w="9524">
            <a:solidFill>
              <a:srgbClr val="000000"/>
            </a:solidFill>
          </a:ln>
        </p:spPr>
        <p:txBody>
          <a:bodyPr vert="horz" wrap="square" lIns="0" tIns="173990" rIns="0" bIns="0" rtlCol="0">
            <a:spAutoFit/>
          </a:bodyPr>
          <a:lstStyle/>
          <a:p>
            <a:pPr marL="194310">
              <a:lnSpc>
                <a:spcPct val="100000"/>
              </a:lnSpc>
              <a:spcBef>
                <a:spcPts val="1370"/>
              </a:spcBef>
            </a:pPr>
            <a:r>
              <a:rPr sz="1400" spc="-70" dirty="0">
                <a:latin typeface="Verdana"/>
                <a:cs typeface="Verdana"/>
              </a:rPr>
              <a:t>SQL</a:t>
            </a:r>
            <a:endParaRPr sz="1400">
              <a:latin typeface="Verdana"/>
              <a:cs typeface="Verdana"/>
            </a:endParaRPr>
          </a:p>
        </p:txBody>
      </p:sp>
      <p:sp>
        <p:nvSpPr>
          <p:cNvPr id="10" name="object 10"/>
          <p:cNvSpPr txBox="1"/>
          <p:nvPr/>
        </p:nvSpPr>
        <p:spPr>
          <a:xfrm>
            <a:off x="3887291" y="1368874"/>
            <a:ext cx="1078865" cy="572770"/>
          </a:xfrm>
          <a:prstGeom prst="rect">
            <a:avLst/>
          </a:prstGeom>
          <a:solidFill>
            <a:srgbClr val="FCE4CD"/>
          </a:solidFill>
          <a:ln w="9524">
            <a:solidFill>
              <a:srgbClr val="000000"/>
            </a:solidFill>
          </a:ln>
        </p:spPr>
        <p:txBody>
          <a:bodyPr vert="horz" wrap="square" lIns="0" tIns="173990" rIns="0" bIns="0" rtlCol="0">
            <a:spAutoFit/>
          </a:bodyPr>
          <a:lstStyle/>
          <a:p>
            <a:pPr marL="125095">
              <a:lnSpc>
                <a:spcPct val="100000"/>
              </a:lnSpc>
              <a:spcBef>
                <a:spcPts val="1370"/>
              </a:spcBef>
            </a:pPr>
            <a:r>
              <a:rPr sz="1400" spc="-90" dirty="0">
                <a:latin typeface="Verdana"/>
                <a:cs typeface="Verdana"/>
              </a:rPr>
              <a:t>Streaming</a:t>
            </a:r>
            <a:endParaRPr sz="1400">
              <a:latin typeface="Verdana"/>
              <a:cs typeface="Verdana"/>
            </a:endParaRPr>
          </a:p>
        </p:txBody>
      </p:sp>
      <p:sp>
        <p:nvSpPr>
          <p:cNvPr id="11" name="object 11"/>
          <p:cNvSpPr txBox="1"/>
          <p:nvPr/>
        </p:nvSpPr>
        <p:spPr>
          <a:xfrm>
            <a:off x="5114448" y="1368874"/>
            <a:ext cx="1078865" cy="572770"/>
          </a:xfrm>
          <a:prstGeom prst="rect">
            <a:avLst/>
          </a:prstGeom>
          <a:solidFill>
            <a:srgbClr val="FCE4CD"/>
          </a:solidFill>
          <a:ln w="9524">
            <a:solidFill>
              <a:srgbClr val="000000"/>
            </a:solidFill>
          </a:ln>
        </p:spPr>
        <p:txBody>
          <a:bodyPr vert="horz" wrap="square" lIns="0" tIns="173990" rIns="0" bIns="0" rtlCol="0">
            <a:spAutoFit/>
          </a:bodyPr>
          <a:lstStyle/>
          <a:p>
            <a:pPr marL="316230">
              <a:lnSpc>
                <a:spcPct val="100000"/>
              </a:lnSpc>
              <a:spcBef>
                <a:spcPts val="1370"/>
              </a:spcBef>
            </a:pPr>
            <a:r>
              <a:rPr sz="1400" spc="-25" dirty="0">
                <a:latin typeface="Verdana"/>
                <a:cs typeface="Verdana"/>
              </a:rPr>
              <a:t>MLlib</a:t>
            </a:r>
            <a:endParaRPr sz="1400">
              <a:latin typeface="Verdana"/>
              <a:cs typeface="Verdana"/>
            </a:endParaRPr>
          </a:p>
        </p:txBody>
      </p:sp>
      <p:sp>
        <p:nvSpPr>
          <p:cNvPr id="12" name="object 12"/>
          <p:cNvSpPr txBox="1"/>
          <p:nvPr/>
        </p:nvSpPr>
        <p:spPr>
          <a:xfrm>
            <a:off x="6341574" y="1368874"/>
            <a:ext cx="1078865" cy="572770"/>
          </a:xfrm>
          <a:prstGeom prst="rect">
            <a:avLst/>
          </a:prstGeom>
          <a:solidFill>
            <a:srgbClr val="FCE4CD"/>
          </a:solidFill>
          <a:ln w="9524">
            <a:solidFill>
              <a:srgbClr val="000000"/>
            </a:solidFill>
          </a:ln>
        </p:spPr>
        <p:txBody>
          <a:bodyPr vert="horz" wrap="square" lIns="0" tIns="173990" rIns="0" bIns="0" rtlCol="0">
            <a:spAutoFit/>
          </a:bodyPr>
          <a:lstStyle/>
          <a:p>
            <a:pPr marL="241300">
              <a:lnSpc>
                <a:spcPct val="100000"/>
              </a:lnSpc>
              <a:spcBef>
                <a:spcPts val="1370"/>
              </a:spcBef>
            </a:pPr>
            <a:r>
              <a:rPr sz="1400" spc="-100" dirty="0">
                <a:latin typeface="Verdana"/>
                <a:cs typeface="Verdana"/>
              </a:rPr>
              <a:t>GraphX</a:t>
            </a:r>
            <a:endParaRPr sz="1400">
              <a:latin typeface="Verdana"/>
              <a:cs typeface="Verdana"/>
            </a:endParaRPr>
          </a:p>
        </p:txBody>
      </p:sp>
      <p:sp>
        <p:nvSpPr>
          <p:cNvPr id="13" name="object 13"/>
          <p:cNvSpPr txBox="1"/>
          <p:nvPr/>
        </p:nvSpPr>
        <p:spPr>
          <a:xfrm>
            <a:off x="278399" y="3140562"/>
            <a:ext cx="1704975" cy="675640"/>
          </a:xfrm>
          <a:prstGeom prst="rect">
            <a:avLst/>
          </a:prstGeom>
          <a:solidFill>
            <a:srgbClr val="B6D7A8"/>
          </a:solidFill>
          <a:ln w="9524">
            <a:solidFill>
              <a:srgbClr val="4BA173"/>
            </a:solidFill>
          </a:ln>
        </p:spPr>
        <p:txBody>
          <a:bodyPr vert="horz" wrap="square" lIns="0" tIns="130810" rIns="0" bIns="0" rtlCol="0">
            <a:spAutoFit/>
          </a:bodyPr>
          <a:lstStyle/>
          <a:p>
            <a:pPr marL="629920" marR="324485" indent="-301625">
              <a:lnSpc>
                <a:spcPts val="1650"/>
              </a:lnSpc>
              <a:spcBef>
                <a:spcPts val="1030"/>
              </a:spcBef>
            </a:pPr>
            <a:r>
              <a:rPr sz="1400" spc="-5" dirty="0">
                <a:latin typeface="Arial MT"/>
                <a:cs typeface="Arial MT"/>
              </a:rPr>
              <a:t>Infrastructure  Layer</a:t>
            </a:r>
            <a:endParaRPr sz="1400">
              <a:latin typeface="Arial MT"/>
              <a:cs typeface="Arial MT"/>
            </a:endParaRPr>
          </a:p>
        </p:txBody>
      </p:sp>
      <p:sp>
        <p:nvSpPr>
          <p:cNvPr id="14" name="object 14"/>
          <p:cNvSpPr txBox="1"/>
          <p:nvPr/>
        </p:nvSpPr>
        <p:spPr>
          <a:xfrm>
            <a:off x="278399" y="2167825"/>
            <a:ext cx="1704975" cy="675640"/>
          </a:xfrm>
          <a:prstGeom prst="rect">
            <a:avLst/>
          </a:prstGeom>
          <a:solidFill>
            <a:srgbClr val="B6D7A8"/>
          </a:solidFill>
          <a:ln w="9524">
            <a:solidFill>
              <a:srgbClr val="4BA173"/>
            </a:solidFill>
          </a:ln>
        </p:spPr>
        <p:txBody>
          <a:bodyPr vert="horz" wrap="square" lIns="0" tIns="6350" rIns="0" bIns="0" rtlCol="0">
            <a:spAutoFit/>
          </a:bodyPr>
          <a:lstStyle/>
          <a:p>
            <a:pPr>
              <a:lnSpc>
                <a:spcPct val="100000"/>
              </a:lnSpc>
              <a:spcBef>
                <a:spcPts val="50"/>
              </a:spcBef>
            </a:pPr>
            <a:endParaRPr sz="1500">
              <a:latin typeface="Times New Roman"/>
              <a:cs typeface="Times New Roman"/>
            </a:endParaRPr>
          </a:p>
          <a:p>
            <a:pPr marL="160655">
              <a:lnSpc>
                <a:spcPct val="100000"/>
              </a:lnSpc>
            </a:pPr>
            <a:r>
              <a:rPr sz="1400" spc="-5" dirty="0">
                <a:latin typeface="Arial MT"/>
                <a:cs typeface="Arial MT"/>
              </a:rPr>
              <a:t>Framework</a:t>
            </a:r>
            <a:r>
              <a:rPr sz="1400" spc="-50" dirty="0">
                <a:latin typeface="Arial MT"/>
                <a:cs typeface="Arial MT"/>
              </a:rPr>
              <a:t> </a:t>
            </a:r>
            <a:r>
              <a:rPr sz="1400" spc="-5" dirty="0">
                <a:latin typeface="Arial MT"/>
                <a:cs typeface="Arial MT"/>
              </a:rPr>
              <a:t>Layer</a:t>
            </a:r>
            <a:endParaRPr sz="1400">
              <a:latin typeface="Arial MT"/>
              <a:cs typeface="Arial MT"/>
            </a:endParaRPr>
          </a:p>
        </p:txBody>
      </p:sp>
      <p:sp>
        <p:nvSpPr>
          <p:cNvPr id="15" name="object 15"/>
          <p:cNvSpPr txBox="1"/>
          <p:nvPr/>
        </p:nvSpPr>
        <p:spPr>
          <a:xfrm>
            <a:off x="278399" y="1290749"/>
            <a:ext cx="1704975" cy="675640"/>
          </a:xfrm>
          <a:prstGeom prst="rect">
            <a:avLst/>
          </a:prstGeom>
          <a:solidFill>
            <a:srgbClr val="B6D7A8"/>
          </a:solidFill>
          <a:ln w="9524">
            <a:solidFill>
              <a:srgbClr val="4BA173"/>
            </a:solidFill>
          </a:ln>
        </p:spPr>
        <p:txBody>
          <a:bodyPr vert="horz" wrap="square" lIns="0" tIns="130810" rIns="0" bIns="0" rtlCol="0">
            <a:spAutoFit/>
          </a:bodyPr>
          <a:lstStyle/>
          <a:p>
            <a:pPr marL="629920" marR="113030" indent="-509270">
              <a:lnSpc>
                <a:spcPts val="1650"/>
              </a:lnSpc>
              <a:spcBef>
                <a:spcPts val="1030"/>
              </a:spcBef>
            </a:pPr>
            <a:r>
              <a:rPr sz="1400" spc="-5" dirty="0">
                <a:latin typeface="Arial MT"/>
                <a:cs typeface="Arial MT"/>
              </a:rPr>
              <a:t>Library/Application  Layer</a:t>
            </a:r>
            <a:endParaRPr sz="1400">
              <a:latin typeface="Arial MT"/>
              <a:cs typeface="Arial M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3228340" cy="452120"/>
          </a:xfrm>
          <a:prstGeom prst="rect">
            <a:avLst/>
          </a:prstGeom>
        </p:spPr>
        <p:txBody>
          <a:bodyPr vert="horz" wrap="square" lIns="0" tIns="12700" rIns="0" bIns="0" rtlCol="0">
            <a:spAutoFit/>
          </a:bodyPr>
          <a:lstStyle/>
          <a:p>
            <a:pPr marL="12700">
              <a:lnSpc>
                <a:spcPct val="100000"/>
              </a:lnSpc>
              <a:spcBef>
                <a:spcPts val="100"/>
              </a:spcBef>
            </a:pPr>
            <a:r>
              <a:rPr sz="2800" spc="-40" dirty="0">
                <a:solidFill>
                  <a:srgbClr val="202729"/>
                </a:solidFill>
              </a:rPr>
              <a:t>Related</a:t>
            </a:r>
            <a:r>
              <a:rPr sz="2800" spc="-125" dirty="0">
                <a:solidFill>
                  <a:srgbClr val="202729"/>
                </a:solidFill>
              </a:rPr>
              <a:t> </a:t>
            </a:r>
            <a:r>
              <a:rPr sz="2800" dirty="0">
                <a:solidFill>
                  <a:srgbClr val="202729"/>
                </a:solidFill>
              </a:rPr>
              <a:t>Frameworks</a:t>
            </a:r>
            <a:endParaRPr sz="2800"/>
          </a:p>
        </p:txBody>
      </p:sp>
      <p:sp>
        <p:nvSpPr>
          <p:cNvPr id="3" name="object 3"/>
          <p:cNvSpPr txBox="1"/>
          <p:nvPr/>
        </p:nvSpPr>
        <p:spPr>
          <a:xfrm>
            <a:off x="384725" y="1213308"/>
            <a:ext cx="7515859" cy="391160"/>
          </a:xfrm>
          <a:prstGeom prst="rect">
            <a:avLst/>
          </a:prstGeom>
        </p:spPr>
        <p:txBody>
          <a:bodyPr vert="horz" wrap="square" lIns="0" tIns="12700" rIns="0" bIns="0" rtlCol="0">
            <a:spAutoFit/>
          </a:bodyPr>
          <a:lstStyle/>
          <a:p>
            <a:pPr marL="12700">
              <a:lnSpc>
                <a:spcPct val="100000"/>
              </a:lnSpc>
              <a:spcBef>
                <a:spcPts val="100"/>
              </a:spcBef>
            </a:pPr>
            <a:r>
              <a:rPr sz="2400" spc="30" dirty="0">
                <a:solidFill>
                  <a:srgbClr val="616161"/>
                </a:solidFill>
                <a:latin typeface="Trebuchet MS"/>
                <a:cs typeface="Trebuchet MS"/>
              </a:rPr>
              <a:t>Spark</a:t>
            </a:r>
            <a:r>
              <a:rPr sz="2400" spc="-100" dirty="0">
                <a:solidFill>
                  <a:srgbClr val="616161"/>
                </a:solidFill>
                <a:latin typeface="Trebuchet MS"/>
                <a:cs typeface="Trebuchet MS"/>
              </a:rPr>
              <a:t> </a:t>
            </a:r>
            <a:r>
              <a:rPr sz="2400" spc="40" dirty="0">
                <a:solidFill>
                  <a:srgbClr val="616161"/>
                </a:solidFill>
                <a:latin typeface="Trebuchet MS"/>
                <a:cs typeface="Trebuchet MS"/>
              </a:rPr>
              <a:t>Core</a:t>
            </a:r>
            <a:r>
              <a:rPr sz="2400" spc="-95" dirty="0">
                <a:solidFill>
                  <a:srgbClr val="616161"/>
                </a:solidFill>
                <a:latin typeface="Trebuchet MS"/>
                <a:cs typeface="Trebuchet MS"/>
              </a:rPr>
              <a:t> </a:t>
            </a:r>
            <a:r>
              <a:rPr sz="2400" dirty="0">
                <a:solidFill>
                  <a:srgbClr val="616161"/>
                </a:solidFill>
                <a:latin typeface="Trebuchet MS"/>
                <a:cs typeface="Trebuchet MS"/>
              </a:rPr>
              <a:t>is</a:t>
            </a:r>
            <a:r>
              <a:rPr sz="2400" spc="-95" dirty="0">
                <a:solidFill>
                  <a:srgbClr val="616161"/>
                </a:solidFill>
                <a:latin typeface="Trebuchet MS"/>
                <a:cs typeface="Trebuchet MS"/>
              </a:rPr>
              <a:t> </a:t>
            </a:r>
            <a:r>
              <a:rPr sz="2400" spc="-90" dirty="0">
                <a:solidFill>
                  <a:srgbClr val="616161"/>
                </a:solidFill>
                <a:latin typeface="Trebuchet MS"/>
                <a:cs typeface="Trebuchet MS"/>
              </a:rPr>
              <a:t>tightly</a:t>
            </a:r>
            <a:r>
              <a:rPr sz="2400" spc="-95" dirty="0">
                <a:solidFill>
                  <a:srgbClr val="616161"/>
                </a:solidFill>
                <a:latin typeface="Trebuchet MS"/>
                <a:cs typeface="Trebuchet MS"/>
              </a:rPr>
              <a:t> </a:t>
            </a:r>
            <a:r>
              <a:rPr sz="2400" spc="-50" dirty="0">
                <a:solidFill>
                  <a:srgbClr val="616161"/>
                </a:solidFill>
                <a:latin typeface="Trebuchet MS"/>
                <a:cs typeface="Trebuchet MS"/>
              </a:rPr>
              <a:t>integrated</a:t>
            </a:r>
            <a:r>
              <a:rPr sz="2400" spc="-95" dirty="0">
                <a:solidFill>
                  <a:srgbClr val="616161"/>
                </a:solidFill>
                <a:latin typeface="Trebuchet MS"/>
                <a:cs typeface="Trebuchet MS"/>
              </a:rPr>
              <a:t> </a:t>
            </a:r>
            <a:r>
              <a:rPr sz="2400" spc="-105" dirty="0">
                <a:solidFill>
                  <a:srgbClr val="616161"/>
                </a:solidFill>
                <a:latin typeface="Trebuchet MS"/>
                <a:cs typeface="Trebuchet MS"/>
              </a:rPr>
              <a:t>with</a:t>
            </a:r>
            <a:r>
              <a:rPr sz="2400" spc="-95" dirty="0">
                <a:solidFill>
                  <a:srgbClr val="616161"/>
                </a:solidFill>
                <a:latin typeface="Trebuchet MS"/>
                <a:cs typeface="Trebuchet MS"/>
              </a:rPr>
              <a:t> </a:t>
            </a:r>
            <a:r>
              <a:rPr sz="2400" spc="-15" dirty="0">
                <a:solidFill>
                  <a:srgbClr val="616161"/>
                </a:solidFill>
                <a:latin typeface="Trebuchet MS"/>
                <a:cs typeface="Trebuchet MS"/>
              </a:rPr>
              <a:t>several</a:t>
            </a:r>
            <a:r>
              <a:rPr sz="2400" spc="-95" dirty="0">
                <a:solidFill>
                  <a:srgbClr val="616161"/>
                </a:solidFill>
                <a:latin typeface="Trebuchet MS"/>
                <a:cs typeface="Trebuchet MS"/>
              </a:rPr>
              <a:t> </a:t>
            </a:r>
            <a:r>
              <a:rPr sz="2400" spc="15" dirty="0">
                <a:solidFill>
                  <a:srgbClr val="616161"/>
                </a:solidFill>
                <a:latin typeface="Trebuchet MS"/>
                <a:cs typeface="Trebuchet MS"/>
              </a:rPr>
              <a:t>key</a:t>
            </a:r>
            <a:r>
              <a:rPr sz="2400" spc="-100" dirty="0">
                <a:solidFill>
                  <a:srgbClr val="616161"/>
                </a:solidFill>
                <a:latin typeface="Trebuchet MS"/>
                <a:cs typeface="Trebuchet MS"/>
              </a:rPr>
              <a:t> </a:t>
            </a:r>
            <a:r>
              <a:rPr sz="2400" spc="-60" dirty="0">
                <a:solidFill>
                  <a:srgbClr val="616161"/>
                </a:solidFill>
                <a:latin typeface="Trebuchet MS"/>
                <a:cs typeface="Trebuchet MS"/>
              </a:rPr>
              <a:t>libraries</a:t>
            </a:r>
            <a:endParaRPr sz="2400">
              <a:latin typeface="Trebuchet MS"/>
              <a:cs typeface="Trebuchet MS"/>
            </a:endParaRPr>
          </a:p>
        </p:txBody>
      </p:sp>
      <p:sp>
        <p:nvSpPr>
          <p:cNvPr id="4" name="object 4"/>
          <p:cNvSpPr txBox="1"/>
          <p:nvPr/>
        </p:nvSpPr>
        <p:spPr>
          <a:xfrm>
            <a:off x="2327574" y="3209700"/>
            <a:ext cx="4477385" cy="807720"/>
          </a:xfrm>
          <a:prstGeom prst="rect">
            <a:avLst/>
          </a:prstGeom>
          <a:solidFill>
            <a:srgbClr val="FFD966"/>
          </a:solidFill>
          <a:ln w="9524">
            <a:solidFill>
              <a:srgbClr val="000000"/>
            </a:solidFill>
          </a:ln>
        </p:spPr>
        <p:txBody>
          <a:bodyPr vert="horz" wrap="square" lIns="0" tIns="210185" rIns="0" bIns="0" rtlCol="0">
            <a:spAutoFit/>
          </a:bodyPr>
          <a:lstStyle/>
          <a:p>
            <a:pPr algn="ctr">
              <a:lnSpc>
                <a:spcPct val="100000"/>
              </a:lnSpc>
              <a:spcBef>
                <a:spcPts val="1655"/>
              </a:spcBef>
            </a:pPr>
            <a:r>
              <a:rPr sz="2400" spc="-165" dirty="0">
                <a:latin typeface="Verdana"/>
                <a:cs typeface="Verdana"/>
              </a:rPr>
              <a:t>Spark</a:t>
            </a:r>
            <a:r>
              <a:rPr sz="2400" spc="-250" dirty="0">
                <a:latin typeface="Verdana"/>
                <a:cs typeface="Verdana"/>
              </a:rPr>
              <a:t> </a:t>
            </a:r>
            <a:r>
              <a:rPr sz="2400" spc="-130" dirty="0">
                <a:latin typeface="Verdana"/>
                <a:cs typeface="Verdana"/>
              </a:rPr>
              <a:t>Core</a:t>
            </a:r>
            <a:endParaRPr sz="2400">
              <a:latin typeface="Verdana"/>
              <a:cs typeface="Verdana"/>
            </a:endParaRPr>
          </a:p>
        </p:txBody>
      </p:sp>
      <p:sp>
        <p:nvSpPr>
          <p:cNvPr id="5" name="object 5"/>
          <p:cNvSpPr txBox="1"/>
          <p:nvPr/>
        </p:nvSpPr>
        <p:spPr>
          <a:xfrm>
            <a:off x="2327574" y="2519199"/>
            <a:ext cx="725805" cy="572770"/>
          </a:xfrm>
          <a:prstGeom prst="rect">
            <a:avLst/>
          </a:prstGeom>
          <a:solidFill>
            <a:srgbClr val="FCE4CD"/>
          </a:solidFill>
          <a:ln w="9524">
            <a:solidFill>
              <a:srgbClr val="000000"/>
            </a:solidFill>
          </a:ln>
        </p:spPr>
        <p:txBody>
          <a:bodyPr vert="horz" wrap="square" lIns="0" tIns="173990" rIns="0" bIns="0" rtlCol="0">
            <a:spAutoFit/>
          </a:bodyPr>
          <a:lstStyle/>
          <a:p>
            <a:pPr marL="194310">
              <a:lnSpc>
                <a:spcPct val="100000"/>
              </a:lnSpc>
              <a:spcBef>
                <a:spcPts val="1370"/>
              </a:spcBef>
            </a:pPr>
            <a:r>
              <a:rPr sz="1400" spc="-70" dirty="0">
                <a:latin typeface="Verdana"/>
                <a:cs typeface="Verdana"/>
              </a:rPr>
              <a:t>SQL</a:t>
            </a:r>
            <a:endParaRPr sz="1400">
              <a:latin typeface="Verdana"/>
              <a:cs typeface="Verdana"/>
            </a:endParaRPr>
          </a:p>
        </p:txBody>
      </p:sp>
      <p:sp>
        <p:nvSpPr>
          <p:cNvPr id="6" name="object 6"/>
          <p:cNvSpPr txBox="1"/>
          <p:nvPr/>
        </p:nvSpPr>
        <p:spPr>
          <a:xfrm>
            <a:off x="3226091" y="2519199"/>
            <a:ext cx="1078865" cy="572770"/>
          </a:xfrm>
          <a:prstGeom prst="rect">
            <a:avLst/>
          </a:prstGeom>
          <a:solidFill>
            <a:srgbClr val="FCE4CD"/>
          </a:solidFill>
          <a:ln w="9524">
            <a:solidFill>
              <a:srgbClr val="000000"/>
            </a:solidFill>
          </a:ln>
        </p:spPr>
        <p:txBody>
          <a:bodyPr vert="horz" wrap="square" lIns="0" tIns="173990" rIns="0" bIns="0" rtlCol="0">
            <a:spAutoFit/>
          </a:bodyPr>
          <a:lstStyle/>
          <a:p>
            <a:pPr marL="125095">
              <a:lnSpc>
                <a:spcPct val="100000"/>
              </a:lnSpc>
              <a:spcBef>
                <a:spcPts val="1370"/>
              </a:spcBef>
            </a:pPr>
            <a:r>
              <a:rPr sz="1400" spc="-90" dirty="0">
                <a:latin typeface="Verdana"/>
                <a:cs typeface="Verdana"/>
              </a:rPr>
              <a:t>Streaming</a:t>
            </a:r>
            <a:endParaRPr sz="1400">
              <a:latin typeface="Verdana"/>
              <a:cs typeface="Verdana"/>
            </a:endParaRPr>
          </a:p>
        </p:txBody>
      </p:sp>
      <p:sp>
        <p:nvSpPr>
          <p:cNvPr id="7" name="object 7"/>
          <p:cNvSpPr txBox="1"/>
          <p:nvPr/>
        </p:nvSpPr>
        <p:spPr>
          <a:xfrm>
            <a:off x="4453248" y="2519199"/>
            <a:ext cx="1078865" cy="572770"/>
          </a:xfrm>
          <a:prstGeom prst="rect">
            <a:avLst/>
          </a:prstGeom>
          <a:solidFill>
            <a:srgbClr val="FCE4CD"/>
          </a:solidFill>
          <a:ln w="9524">
            <a:solidFill>
              <a:srgbClr val="000000"/>
            </a:solidFill>
          </a:ln>
        </p:spPr>
        <p:txBody>
          <a:bodyPr vert="horz" wrap="square" lIns="0" tIns="173990" rIns="0" bIns="0" rtlCol="0">
            <a:spAutoFit/>
          </a:bodyPr>
          <a:lstStyle/>
          <a:p>
            <a:pPr marL="316230">
              <a:lnSpc>
                <a:spcPct val="100000"/>
              </a:lnSpc>
              <a:spcBef>
                <a:spcPts val="1370"/>
              </a:spcBef>
            </a:pPr>
            <a:r>
              <a:rPr sz="1400" spc="-25" dirty="0">
                <a:latin typeface="Verdana"/>
                <a:cs typeface="Verdana"/>
              </a:rPr>
              <a:t>MLlib</a:t>
            </a:r>
            <a:endParaRPr sz="1400">
              <a:latin typeface="Verdana"/>
              <a:cs typeface="Verdana"/>
            </a:endParaRPr>
          </a:p>
        </p:txBody>
      </p:sp>
      <p:sp>
        <p:nvSpPr>
          <p:cNvPr id="8" name="object 8"/>
          <p:cNvSpPr txBox="1"/>
          <p:nvPr/>
        </p:nvSpPr>
        <p:spPr>
          <a:xfrm>
            <a:off x="5680374" y="2519199"/>
            <a:ext cx="1078865" cy="572770"/>
          </a:xfrm>
          <a:prstGeom prst="rect">
            <a:avLst/>
          </a:prstGeom>
          <a:solidFill>
            <a:srgbClr val="FCE4CD"/>
          </a:solidFill>
          <a:ln w="9524">
            <a:solidFill>
              <a:srgbClr val="000000"/>
            </a:solidFill>
          </a:ln>
        </p:spPr>
        <p:txBody>
          <a:bodyPr vert="horz" wrap="square" lIns="0" tIns="173990" rIns="0" bIns="0" rtlCol="0">
            <a:spAutoFit/>
          </a:bodyPr>
          <a:lstStyle/>
          <a:p>
            <a:pPr marL="241300">
              <a:lnSpc>
                <a:spcPct val="100000"/>
              </a:lnSpc>
              <a:spcBef>
                <a:spcPts val="1370"/>
              </a:spcBef>
            </a:pPr>
            <a:r>
              <a:rPr sz="1400" spc="-100" dirty="0">
                <a:latin typeface="Verdana"/>
                <a:cs typeface="Verdana"/>
              </a:rPr>
              <a:t>GraphX</a:t>
            </a:r>
            <a:endParaRPr sz="1400">
              <a:latin typeface="Verdana"/>
              <a:cs typeface="Verdan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3228340" cy="452120"/>
          </a:xfrm>
          <a:prstGeom prst="rect">
            <a:avLst/>
          </a:prstGeom>
        </p:spPr>
        <p:txBody>
          <a:bodyPr vert="horz" wrap="square" lIns="0" tIns="12700" rIns="0" bIns="0" rtlCol="0">
            <a:spAutoFit/>
          </a:bodyPr>
          <a:lstStyle/>
          <a:p>
            <a:pPr marL="12700">
              <a:lnSpc>
                <a:spcPct val="100000"/>
              </a:lnSpc>
              <a:spcBef>
                <a:spcPts val="100"/>
              </a:spcBef>
            </a:pPr>
            <a:r>
              <a:rPr sz="2800" spc="-40" dirty="0">
                <a:solidFill>
                  <a:srgbClr val="202729"/>
                </a:solidFill>
              </a:rPr>
              <a:t>Related</a:t>
            </a:r>
            <a:r>
              <a:rPr sz="2800" spc="-125" dirty="0">
                <a:solidFill>
                  <a:srgbClr val="202729"/>
                </a:solidFill>
              </a:rPr>
              <a:t> </a:t>
            </a:r>
            <a:r>
              <a:rPr sz="2800" dirty="0">
                <a:solidFill>
                  <a:srgbClr val="202729"/>
                </a:solidFill>
              </a:rPr>
              <a:t>Frameworks</a:t>
            </a:r>
            <a:endParaRPr sz="2800"/>
          </a:p>
        </p:txBody>
      </p:sp>
      <p:sp>
        <p:nvSpPr>
          <p:cNvPr id="3" name="object 3"/>
          <p:cNvSpPr txBox="1"/>
          <p:nvPr/>
        </p:nvSpPr>
        <p:spPr>
          <a:xfrm>
            <a:off x="475249" y="1162308"/>
            <a:ext cx="5579110" cy="2543175"/>
          </a:xfrm>
          <a:prstGeom prst="rect">
            <a:avLst/>
          </a:prstGeom>
        </p:spPr>
        <p:txBody>
          <a:bodyPr vert="horz" wrap="square" lIns="0" tIns="66675" rIns="0" bIns="0" rtlCol="0">
            <a:spAutoFit/>
          </a:bodyPr>
          <a:lstStyle/>
          <a:p>
            <a:pPr marL="379095" indent="-367030">
              <a:lnSpc>
                <a:spcPct val="100000"/>
              </a:lnSpc>
              <a:spcBef>
                <a:spcPts val="525"/>
              </a:spcBef>
              <a:buFont typeface="Arial"/>
              <a:buChar char="●"/>
              <a:tabLst>
                <a:tab pos="379095" algn="l"/>
                <a:tab pos="379730" algn="l"/>
              </a:tabLst>
            </a:pPr>
            <a:r>
              <a:rPr sz="1800" b="1" spc="5" dirty="0">
                <a:solidFill>
                  <a:srgbClr val="616161"/>
                </a:solidFill>
                <a:latin typeface="Trebuchet MS"/>
                <a:cs typeface="Trebuchet MS"/>
              </a:rPr>
              <a:t>Spark</a:t>
            </a:r>
            <a:r>
              <a:rPr sz="1800" b="1" spc="-110" dirty="0">
                <a:solidFill>
                  <a:srgbClr val="616161"/>
                </a:solidFill>
                <a:latin typeface="Trebuchet MS"/>
                <a:cs typeface="Trebuchet MS"/>
              </a:rPr>
              <a:t> </a:t>
            </a:r>
            <a:r>
              <a:rPr sz="1800" b="1" spc="-10" dirty="0">
                <a:solidFill>
                  <a:srgbClr val="616161"/>
                </a:solidFill>
                <a:latin typeface="Trebuchet MS"/>
                <a:cs typeface="Trebuchet MS"/>
              </a:rPr>
              <a:t>Streaming</a:t>
            </a:r>
            <a:endParaRPr sz="1800">
              <a:latin typeface="Trebuchet MS"/>
              <a:cs typeface="Trebuchet MS"/>
            </a:endParaRPr>
          </a:p>
          <a:p>
            <a:pPr marL="836294" lvl="1" indent="-336550">
              <a:lnSpc>
                <a:spcPct val="100000"/>
              </a:lnSpc>
              <a:spcBef>
                <a:spcPts val="330"/>
              </a:spcBef>
              <a:buFont typeface="Arial MT"/>
              <a:buChar char="○"/>
              <a:tabLst>
                <a:tab pos="836294" algn="l"/>
                <a:tab pos="836930" algn="l"/>
              </a:tabLst>
            </a:pPr>
            <a:r>
              <a:rPr sz="1400" spc="-15" dirty="0">
                <a:solidFill>
                  <a:srgbClr val="616161"/>
                </a:solidFill>
                <a:latin typeface="Trebuchet MS"/>
                <a:cs typeface="Trebuchet MS"/>
              </a:rPr>
              <a:t>Stream</a:t>
            </a:r>
            <a:r>
              <a:rPr sz="1400" spc="-65" dirty="0">
                <a:solidFill>
                  <a:srgbClr val="616161"/>
                </a:solidFill>
                <a:latin typeface="Trebuchet MS"/>
                <a:cs typeface="Trebuchet MS"/>
              </a:rPr>
              <a:t> </a:t>
            </a:r>
            <a:r>
              <a:rPr sz="1400" spc="-40" dirty="0">
                <a:solidFill>
                  <a:srgbClr val="616161"/>
                </a:solidFill>
                <a:latin typeface="Trebuchet MS"/>
                <a:cs typeface="Trebuchet MS"/>
              </a:rPr>
              <a:t>live</a:t>
            </a:r>
            <a:r>
              <a:rPr sz="1400" spc="-65" dirty="0">
                <a:solidFill>
                  <a:srgbClr val="616161"/>
                </a:solidFill>
                <a:latin typeface="Trebuchet MS"/>
                <a:cs typeface="Trebuchet MS"/>
              </a:rPr>
              <a:t> </a:t>
            </a:r>
            <a:r>
              <a:rPr sz="1400" spc="-30" dirty="0">
                <a:solidFill>
                  <a:srgbClr val="616161"/>
                </a:solidFill>
                <a:latin typeface="Trebuchet MS"/>
                <a:cs typeface="Trebuchet MS"/>
              </a:rPr>
              <a:t>data</a:t>
            </a:r>
            <a:r>
              <a:rPr sz="1400" spc="-65" dirty="0">
                <a:solidFill>
                  <a:srgbClr val="616161"/>
                </a:solidFill>
                <a:latin typeface="Trebuchet MS"/>
                <a:cs typeface="Trebuchet MS"/>
              </a:rPr>
              <a:t> </a:t>
            </a:r>
            <a:r>
              <a:rPr sz="1400" spc="-45" dirty="0">
                <a:solidFill>
                  <a:srgbClr val="616161"/>
                </a:solidFill>
                <a:latin typeface="Trebuchet MS"/>
                <a:cs typeface="Trebuchet MS"/>
              </a:rPr>
              <a:t>into</a:t>
            </a:r>
            <a:r>
              <a:rPr sz="1400" spc="-65" dirty="0">
                <a:solidFill>
                  <a:srgbClr val="616161"/>
                </a:solidFill>
                <a:latin typeface="Trebuchet MS"/>
                <a:cs typeface="Trebuchet MS"/>
              </a:rPr>
              <a:t> </a:t>
            </a:r>
            <a:r>
              <a:rPr sz="1400" spc="20" dirty="0">
                <a:solidFill>
                  <a:srgbClr val="616161"/>
                </a:solidFill>
                <a:latin typeface="Trebuchet MS"/>
                <a:cs typeface="Trebuchet MS"/>
              </a:rPr>
              <a:t>Spark</a:t>
            </a:r>
            <a:r>
              <a:rPr sz="1400" spc="-65" dirty="0">
                <a:solidFill>
                  <a:srgbClr val="616161"/>
                </a:solidFill>
                <a:latin typeface="Trebuchet MS"/>
                <a:cs typeface="Trebuchet MS"/>
              </a:rPr>
              <a:t> </a:t>
            </a:r>
            <a:r>
              <a:rPr sz="1400" spc="-30" dirty="0">
                <a:solidFill>
                  <a:srgbClr val="616161"/>
                </a:solidFill>
                <a:latin typeface="Trebuchet MS"/>
                <a:cs typeface="Trebuchet MS"/>
              </a:rPr>
              <a:t>cluster</a:t>
            </a:r>
            <a:endParaRPr sz="1400">
              <a:latin typeface="Trebuchet MS"/>
              <a:cs typeface="Trebuchet MS"/>
            </a:endParaRPr>
          </a:p>
          <a:p>
            <a:pPr marL="836294" lvl="1" indent="-336550">
              <a:lnSpc>
                <a:spcPct val="100000"/>
              </a:lnSpc>
              <a:spcBef>
                <a:spcPts val="270"/>
              </a:spcBef>
              <a:buFont typeface="Arial MT"/>
              <a:buChar char="○"/>
              <a:tabLst>
                <a:tab pos="836294" algn="l"/>
                <a:tab pos="836930" algn="l"/>
              </a:tabLst>
            </a:pPr>
            <a:r>
              <a:rPr sz="1400" spc="50" dirty="0">
                <a:solidFill>
                  <a:srgbClr val="616161"/>
                </a:solidFill>
                <a:latin typeface="Trebuchet MS"/>
                <a:cs typeface="Trebuchet MS"/>
              </a:rPr>
              <a:t>Send</a:t>
            </a:r>
            <a:r>
              <a:rPr sz="1400" spc="-65" dirty="0">
                <a:solidFill>
                  <a:srgbClr val="616161"/>
                </a:solidFill>
                <a:latin typeface="Trebuchet MS"/>
                <a:cs typeface="Trebuchet MS"/>
              </a:rPr>
              <a:t> </a:t>
            </a:r>
            <a:r>
              <a:rPr sz="1400" spc="-114" dirty="0">
                <a:solidFill>
                  <a:srgbClr val="616161"/>
                </a:solidFill>
                <a:latin typeface="Trebuchet MS"/>
                <a:cs typeface="Trebuchet MS"/>
              </a:rPr>
              <a:t>it</a:t>
            </a:r>
            <a:r>
              <a:rPr sz="1400" spc="-65" dirty="0">
                <a:solidFill>
                  <a:srgbClr val="616161"/>
                </a:solidFill>
                <a:latin typeface="Trebuchet MS"/>
                <a:cs typeface="Trebuchet MS"/>
              </a:rPr>
              <a:t> </a:t>
            </a:r>
            <a:r>
              <a:rPr sz="1400" spc="-30" dirty="0">
                <a:solidFill>
                  <a:srgbClr val="616161"/>
                </a:solidFill>
                <a:latin typeface="Trebuchet MS"/>
                <a:cs typeface="Trebuchet MS"/>
              </a:rPr>
              <a:t>out</a:t>
            </a:r>
            <a:r>
              <a:rPr sz="1400" spc="-65" dirty="0">
                <a:solidFill>
                  <a:srgbClr val="616161"/>
                </a:solidFill>
                <a:latin typeface="Trebuchet MS"/>
                <a:cs typeface="Trebuchet MS"/>
              </a:rPr>
              <a:t> </a:t>
            </a:r>
            <a:r>
              <a:rPr sz="1400" spc="-50" dirty="0">
                <a:solidFill>
                  <a:srgbClr val="616161"/>
                </a:solidFill>
                <a:latin typeface="Trebuchet MS"/>
                <a:cs typeface="Trebuchet MS"/>
              </a:rPr>
              <a:t>to</a:t>
            </a:r>
            <a:r>
              <a:rPr sz="1400" spc="-65" dirty="0">
                <a:solidFill>
                  <a:srgbClr val="616161"/>
                </a:solidFill>
                <a:latin typeface="Trebuchet MS"/>
                <a:cs typeface="Trebuchet MS"/>
              </a:rPr>
              <a:t> </a:t>
            </a:r>
            <a:r>
              <a:rPr sz="1400" spc="10" dirty="0">
                <a:solidFill>
                  <a:srgbClr val="616161"/>
                </a:solidFill>
                <a:latin typeface="Trebuchet MS"/>
                <a:cs typeface="Trebuchet MS"/>
              </a:rPr>
              <a:t>databases</a:t>
            </a:r>
            <a:r>
              <a:rPr sz="1400" spc="-65" dirty="0">
                <a:solidFill>
                  <a:srgbClr val="616161"/>
                </a:solidFill>
                <a:latin typeface="Trebuchet MS"/>
                <a:cs typeface="Trebuchet MS"/>
              </a:rPr>
              <a:t> </a:t>
            </a:r>
            <a:r>
              <a:rPr sz="1400" spc="-20" dirty="0">
                <a:solidFill>
                  <a:srgbClr val="616161"/>
                </a:solidFill>
                <a:latin typeface="Trebuchet MS"/>
                <a:cs typeface="Trebuchet MS"/>
              </a:rPr>
              <a:t>or</a:t>
            </a:r>
            <a:r>
              <a:rPr sz="1400" spc="-65" dirty="0">
                <a:solidFill>
                  <a:srgbClr val="616161"/>
                </a:solidFill>
                <a:latin typeface="Trebuchet MS"/>
                <a:cs typeface="Trebuchet MS"/>
              </a:rPr>
              <a:t> </a:t>
            </a:r>
            <a:r>
              <a:rPr sz="1400" spc="95" dirty="0">
                <a:solidFill>
                  <a:srgbClr val="616161"/>
                </a:solidFill>
                <a:latin typeface="Trebuchet MS"/>
                <a:cs typeface="Trebuchet MS"/>
              </a:rPr>
              <a:t>HDFS</a:t>
            </a:r>
            <a:endParaRPr sz="1400">
              <a:latin typeface="Trebuchet MS"/>
              <a:cs typeface="Trebuchet MS"/>
            </a:endParaRPr>
          </a:p>
          <a:p>
            <a:pPr marL="379095" indent="-367030">
              <a:lnSpc>
                <a:spcPct val="100000"/>
              </a:lnSpc>
              <a:spcBef>
                <a:spcPts val="254"/>
              </a:spcBef>
              <a:buFont typeface="Arial"/>
              <a:buChar char="●"/>
              <a:tabLst>
                <a:tab pos="379095" algn="l"/>
                <a:tab pos="379730" algn="l"/>
              </a:tabLst>
            </a:pPr>
            <a:r>
              <a:rPr sz="1800" b="1" spc="5" dirty="0">
                <a:solidFill>
                  <a:srgbClr val="616161"/>
                </a:solidFill>
                <a:latin typeface="Trebuchet MS"/>
                <a:cs typeface="Trebuchet MS"/>
              </a:rPr>
              <a:t>Spark</a:t>
            </a:r>
            <a:r>
              <a:rPr sz="1800" b="1" spc="-120" dirty="0">
                <a:solidFill>
                  <a:srgbClr val="616161"/>
                </a:solidFill>
                <a:latin typeface="Trebuchet MS"/>
                <a:cs typeface="Trebuchet MS"/>
              </a:rPr>
              <a:t> </a:t>
            </a:r>
            <a:r>
              <a:rPr sz="1800" b="1" spc="65" dirty="0">
                <a:solidFill>
                  <a:srgbClr val="616161"/>
                </a:solidFill>
                <a:latin typeface="Trebuchet MS"/>
                <a:cs typeface="Trebuchet MS"/>
              </a:rPr>
              <a:t>SQL</a:t>
            </a:r>
            <a:endParaRPr sz="1800">
              <a:latin typeface="Trebuchet MS"/>
              <a:cs typeface="Trebuchet MS"/>
            </a:endParaRPr>
          </a:p>
          <a:p>
            <a:pPr marL="836294" lvl="1" indent="-336550">
              <a:lnSpc>
                <a:spcPct val="100000"/>
              </a:lnSpc>
              <a:spcBef>
                <a:spcPts val="330"/>
              </a:spcBef>
              <a:buFont typeface="Arial MT"/>
              <a:buChar char="○"/>
              <a:tabLst>
                <a:tab pos="836294" algn="l"/>
                <a:tab pos="836930" algn="l"/>
              </a:tabLst>
            </a:pPr>
            <a:r>
              <a:rPr sz="1400" spc="-20" dirty="0">
                <a:solidFill>
                  <a:srgbClr val="616161"/>
                </a:solidFill>
                <a:latin typeface="Trebuchet MS"/>
                <a:cs typeface="Trebuchet MS"/>
              </a:rPr>
              <a:t>Integrates</a:t>
            </a:r>
            <a:r>
              <a:rPr sz="1400" spc="-65" dirty="0">
                <a:solidFill>
                  <a:srgbClr val="616161"/>
                </a:solidFill>
                <a:latin typeface="Trebuchet MS"/>
                <a:cs typeface="Trebuchet MS"/>
              </a:rPr>
              <a:t> </a:t>
            </a:r>
            <a:r>
              <a:rPr sz="1400" spc="-45" dirty="0">
                <a:solidFill>
                  <a:srgbClr val="616161"/>
                </a:solidFill>
                <a:latin typeface="Trebuchet MS"/>
                <a:cs typeface="Trebuchet MS"/>
              </a:rPr>
              <a:t>relational</a:t>
            </a:r>
            <a:r>
              <a:rPr sz="1400" spc="-60" dirty="0">
                <a:solidFill>
                  <a:srgbClr val="616161"/>
                </a:solidFill>
                <a:latin typeface="Trebuchet MS"/>
                <a:cs typeface="Trebuchet MS"/>
              </a:rPr>
              <a:t> </a:t>
            </a:r>
            <a:r>
              <a:rPr sz="1400" dirty="0">
                <a:solidFill>
                  <a:srgbClr val="616161"/>
                </a:solidFill>
                <a:latin typeface="Trebuchet MS"/>
                <a:cs typeface="Trebuchet MS"/>
              </a:rPr>
              <a:t>database</a:t>
            </a:r>
            <a:r>
              <a:rPr sz="1400" spc="-60" dirty="0">
                <a:solidFill>
                  <a:srgbClr val="616161"/>
                </a:solidFill>
                <a:latin typeface="Trebuchet MS"/>
                <a:cs typeface="Trebuchet MS"/>
              </a:rPr>
              <a:t> </a:t>
            </a:r>
            <a:r>
              <a:rPr sz="1400" spc="-5" dirty="0">
                <a:solidFill>
                  <a:srgbClr val="616161"/>
                </a:solidFill>
                <a:latin typeface="Trebuchet MS"/>
                <a:cs typeface="Trebuchet MS"/>
              </a:rPr>
              <a:t>programming</a:t>
            </a:r>
            <a:r>
              <a:rPr sz="1400" spc="-65" dirty="0">
                <a:solidFill>
                  <a:srgbClr val="616161"/>
                </a:solidFill>
                <a:latin typeface="Trebuchet MS"/>
                <a:cs typeface="Trebuchet MS"/>
              </a:rPr>
              <a:t> </a:t>
            </a:r>
            <a:r>
              <a:rPr sz="1400" spc="-15" dirty="0">
                <a:solidFill>
                  <a:srgbClr val="616161"/>
                </a:solidFill>
                <a:latin typeface="Trebuchet MS"/>
                <a:cs typeface="Trebuchet MS"/>
              </a:rPr>
              <a:t>(SQL)</a:t>
            </a:r>
            <a:r>
              <a:rPr sz="1400" spc="-60" dirty="0">
                <a:solidFill>
                  <a:srgbClr val="616161"/>
                </a:solidFill>
                <a:latin typeface="Trebuchet MS"/>
                <a:cs typeface="Trebuchet MS"/>
              </a:rPr>
              <a:t> with </a:t>
            </a:r>
            <a:r>
              <a:rPr sz="1400" spc="20" dirty="0">
                <a:solidFill>
                  <a:srgbClr val="616161"/>
                </a:solidFill>
                <a:latin typeface="Trebuchet MS"/>
                <a:cs typeface="Trebuchet MS"/>
              </a:rPr>
              <a:t>Spark</a:t>
            </a:r>
            <a:endParaRPr sz="1400">
              <a:latin typeface="Trebuchet MS"/>
              <a:cs typeface="Trebuchet MS"/>
            </a:endParaRPr>
          </a:p>
          <a:p>
            <a:pPr marL="379095" indent="-367030">
              <a:lnSpc>
                <a:spcPct val="100000"/>
              </a:lnSpc>
              <a:spcBef>
                <a:spcPts val="254"/>
              </a:spcBef>
              <a:buFont typeface="Arial"/>
              <a:buChar char="●"/>
              <a:tabLst>
                <a:tab pos="379095" algn="l"/>
                <a:tab pos="379730" algn="l"/>
              </a:tabLst>
            </a:pPr>
            <a:r>
              <a:rPr sz="1800" b="1" spc="5" dirty="0">
                <a:solidFill>
                  <a:srgbClr val="616161"/>
                </a:solidFill>
                <a:latin typeface="Trebuchet MS"/>
                <a:cs typeface="Trebuchet MS"/>
              </a:rPr>
              <a:t>Spark</a:t>
            </a:r>
            <a:r>
              <a:rPr sz="1800" b="1" spc="-120" dirty="0">
                <a:solidFill>
                  <a:srgbClr val="616161"/>
                </a:solidFill>
                <a:latin typeface="Trebuchet MS"/>
                <a:cs typeface="Trebuchet MS"/>
              </a:rPr>
              <a:t> </a:t>
            </a:r>
            <a:r>
              <a:rPr sz="1800" b="1" spc="-5" dirty="0">
                <a:solidFill>
                  <a:srgbClr val="616161"/>
                </a:solidFill>
                <a:latin typeface="Trebuchet MS"/>
                <a:cs typeface="Trebuchet MS"/>
              </a:rPr>
              <a:t>MLlib</a:t>
            </a:r>
            <a:endParaRPr sz="1800">
              <a:latin typeface="Trebuchet MS"/>
              <a:cs typeface="Trebuchet MS"/>
            </a:endParaRPr>
          </a:p>
          <a:p>
            <a:pPr marL="836294" lvl="1" indent="-336550">
              <a:lnSpc>
                <a:spcPct val="100000"/>
              </a:lnSpc>
              <a:spcBef>
                <a:spcPts val="330"/>
              </a:spcBef>
              <a:buFont typeface="Arial MT"/>
              <a:buChar char="○"/>
              <a:tabLst>
                <a:tab pos="836294" algn="l"/>
                <a:tab pos="836930" algn="l"/>
              </a:tabLst>
            </a:pPr>
            <a:r>
              <a:rPr sz="1400" dirty="0">
                <a:solidFill>
                  <a:srgbClr val="616161"/>
                </a:solidFill>
                <a:latin typeface="Trebuchet MS"/>
                <a:cs typeface="Trebuchet MS"/>
              </a:rPr>
              <a:t>Large-Scale</a:t>
            </a:r>
            <a:r>
              <a:rPr sz="1400" spc="-75" dirty="0">
                <a:solidFill>
                  <a:srgbClr val="616161"/>
                </a:solidFill>
                <a:latin typeface="Trebuchet MS"/>
                <a:cs typeface="Trebuchet MS"/>
              </a:rPr>
              <a:t> </a:t>
            </a:r>
            <a:r>
              <a:rPr sz="1400" spc="10" dirty="0">
                <a:solidFill>
                  <a:srgbClr val="616161"/>
                </a:solidFill>
                <a:latin typeface="Trebuchet MS"/>
                <a:cs typeface="Trebuchet MS"/>
              </a:rPr>
              <a:t>Machine</a:t>
            </a:r>
            <a:r>
              <a:rPr sz="1400" spc="-70" dirty="0">
                <a:solidFill>
                  <a:srgbClr val="616161"/>
                </a:solidFill>
                <a:latin typeface="Trebuchet MS"/>
                <a:cs typeface="Trebuchet MS"/>
              </a:rPr>
              <a:t> </a:t>
            </a:r>
            <a:r>
              <a:rPr sz="1400" spc="-5" dirty="0">
                <a:solidFill>
                  <a:srgbClr val="616161"/>
                </a:solidFill>
                <a:latin typeface="Trebuchet MS"/>
                <a:cs typeface="Trebuchet MS"/>
              </a:rPr>
              <a:t>Learning</a:t>
            </a:r>
            <a:endParaRPr sz="1400">
              <a:latin typeface="Trebuchet MS"/>
              <a:cs typeface="Trebuchet MS"/>
            </a:endParaRPr>
          </a:p>
          <a:p>
            <a:pPr marL="379095" indent="-367030">
              <a:lnSpc>
                <a:spcPct val="100000"/>
              </a:lnSpc>
              <a:spcBef>
                <a:spcPts val="254"/>
              </a:spcBef>
              <a:buFont typeface="Arial"/>
              <a:buChar char="●"/>
              <a:tabLst>
                <a:tab pos="379095" algn="l"/>
                <a:tab pos="379730" algn="l"/>
              </a:tabLst>
            </a:pPr>
            <a:r>
              <a:rPr sz="1800" b="1" spc="10" dirty="0">
                <a:solidFill>
                  <a:srgbClr val="616161"/>
                </a:solidFill>
                <a:latin typeface="Trebuchet MS"/>
                <a:cs typeface="Trebuchet MS"/>
              </a:rPr>
              <a:t>GraphX</a:t>
            </a:r>
            <a:endParaRPr sz="1800">
              <a:latin typeface="Trebuchet MS"/>
              <a:cs typeface="Trebuchet MS"/>
            </a:endParaRPr>
          </a:p>
          <a:p>
            <a:pPr marL="836294" lvl="1" indent="-336550">
              <a:lnSpc>
                <a:spcPct val="100000"/>
              </a:lnSpc>
              <a:spcBef>
                <a:spcPts val="330"/>
              </a:spcBef>
              <a:buFont typeface="Arial MT"/>
              <a:buChar char="○"/>
              <a:tabLst>
                <a:tab pos="836294" algn="l"/>
                <a:tab pos="836930" algn="l"/>
              </a:tabLst>
            </a:pPr>
            <a:r>
              <a:rPr sz="1400" dirty="0">
                <a:solidFill>
                  <a:srgbClr val="616161"/>
                </a:solidFill>
                <a:latin typeface="Trebuchet MS"/>
                <a:cs typeface="Trebuchet MS"/>
              </a:rPr>
              <a:t>Graph</a:t>
            </a:r>
            <a:r>
              <a:rPr sz="1400" spc="-65" dirty="0">
                <a:solidFill>
                  <a:srgbClr val="616161"/>
                </a:solidFill>
                <a:latin typeface="Trebuchet MS"/>
                <a:cs typeface="Trebuchet MS"/>
              </a:rPr>
              <a:t> </a:t>
            </a:r>
            <a:r>
              <a:rPr sz="1400" spc="10" dirty="0">
                <a:solidFill>
                  <a:srgbClr val="616161"/>
                </a:solidFill>
                <a:latin typeface="Trebuchet MS"/>
                <a:cs typeface="Trebuchet MS"/>
              </a:rPr>
              <a:t>and</a:t>
            </a:r>
            <a:r>
              <a:rPr sz="1400" spc="-65" dirty="0">
                <a:solidFill>
                  <a:srgbClr val="616161"/>
                </a:solidFill>
                <a:latin typeface="Trebuchet MS"/>
                <a:cs typeface="Trebuchet MS"/>
              </a:rPr>
              <a:t> </a:t>
            </a:r>
            <a:r>
              <a:rPr sz="1400" spc="-30" dirty="0">
                <a:solidFill>
                  <a:srgbClr val="616161"/>
                </a:solidFill>
                <a:latin typeface="Trebuchet MS"/>
                <a:cs typeface="Trebuchet MS"/>
              </a:rPr>
              <a:t>graph-parallel</a:t>
            </a:r>
            <a:r>
              <a:rPr sz="1400" spc="-60" dirty="0">
                <a:solidFill>
                  <a:srgbClr val="616161"/>
                </a:solidFill>
                <a:latin typeface="Trebuchet MS"/>
                <a:cs typeface="Trebuchet MS"/>
              </a:rPr>
              <a:t> </a:t>
            </a:r>
            <a:r>
              <a:rPr sz="1400" spc="-20" dirty="0">
                <a:solidFill>
                  <a:srgbClr val="616161"/>
                </a:solidFill>
                <a:latin typeface="Trebuchet MS"/>
                <a:cs typeface="Trebuchet MS"/>
              </a:rPr>
              <a:t>computations</a:t>
            </a:r>
            <a:endParaRPr sz="1400">
              <a:latin typeface="Trebuchet MS"/>
              <a:cs typeface="Trebuchet MS"/>
            </a:endParaRPr>
          </a:p>
        </p:txBody>
      </p:sp>
      <p:sp>
        <p:nvSpPr>
          <p:cNvPr id="4" name="object 4"/>
          <p:cNvSpPr txBox="1"/>
          <p:nvPr/>
        </p:nvSpPr>
        <p:spPr>
          <a:xfrm>
            <a:off x="384725" y="4426281"/>
            <a:ext cx="7295515" cy="299720"/>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616161"/>
                </a:solidFill>
                <a:latin typeface="Trebuchet MS"/>
                <a:cs typeface="Trebuchet MS"/>
              </a:rPr>
              <a:t>Interactions</a:t>
            </a:r>
            <a:r>
              <a:rPr sz="1800" spc="-70" dirty="0">
                <a:solidFill>
                  <a:srgbClr val="616161"/>
                </a:solidFill>
                <a:latin typeface="Trebuchet MS"/>
                <a:cs typeface="Trebuchet MS"/>
              </a:rPr>
              <a:t> </a:t>
            </a:r>
            <a:r>
              <a:rPr sz="1800" spc="-10" dirty="0">
                <a:solidFill>
                  <a:srgbClr val="616161"/>
                </a:solidFill>
                <a:latin typeface="Trebuchet MS"/>
                <a:cs typeface="Trebuchet MS"/>
              </a:rPr>
              <a:t>between</a:t>
            </a:r>
            <a:r>
              <a:rPr sz="1800" spc="-65" dirty="0">
                <a:solidFill>
                  <a:srgbClr val="616161"/>
                </a:solidFill>
                <a:latin typeface="Trebuchet MS"/>
                <a:cs typeface="Trebuchet MS"/>
              </a:rPr>
              <a:t> </a:t>
            </a:r>
            <a:r>
              <a:rPr sz="1800" spc="-50" dirty="0">
                <a:solidFill>
                  <a:srgbClr val="616161"/>
                </a:solidFill>
                <a:latin typeface="Trebuchet MS"/>
                <a:cs typeface="Trebuchet MS"/>
              </a:rPr>
              <a:t>the</a:t>
            </a:r>
            <a:r>
              <a:rPr sz="1800" spc="-65" dirty="0">
                <a:solidFill>
                  <a:srgbClr val="616161"/>
                </a:solidFill>
                <a:latin typeface="Trebuchet MS"/>
                <a:cs typeface="Trebuchet MS"/>
              </a:rPr>
              <a:t> </a:t>
            </a:r>
            <a:r>
              <a:rPr sz="1800" spc="-25" dirty="0">
                <a:solidFill>
                  <a:srgbClr val="616161"/>
                </a:solidFill>
                <a:latin typeface="Trebuchet MS"/>
                <a:cs typeface="Trebuchet MS"/>
              </a:rPr>
              <a:t>frameworks</a:t>
            </a:r>
            <a:r>
              <a:rPr sz="1800" spc="-65" dirty="0">
                <a:solidFill>
                  <a:srgbClr val="616161"/>
                </a:solidFill>
                <a:latin typeface="Trebuchet MS"/>
                <a:cs typeface="Trebuchet MS"/>
              </a:rPr>
              <a:t> </a:t>
            </a:r>
            <a:r>
              <a:rPr sz="1800" spc="-45" dirty="0">
                <a:solidFill>
                  <a:srgbClr val="616161"/>
                </a:solidFill>
                <a:latin typeface="Trebuchet MS"/>
                <a:cs typeface="Trebuchet MS"/>
              </a:rPr>
              <a:t>allow</a:t>
            </a:r>
            <a:r>
              <a:rPr sz="1800" spc="-65" dirty="0">
                <a:solidFill>
                  <a:srgbClr val="616161"/>
                </a:solidFill>
                <a:latin typeface="Trebuchet MS"/>
                <a:cs typeface="Trebuchet MS"/>
              </a:rPr>
              <a:t> </a:t>
            </a:r>
            <a:r>
              <a:rPr sz="1800" spc="-45" dirty="0">
                <a:solidFill>
                  <a:srgbClr val="616161"/>
                </a:solidFill>
                <a:latin typeface="Trebuchet MS"/>
                <a:cs typeface="Trebuchet MS"/>
              </a:rPr>
              <a:t>multi-stage</a:t>
            </a:r>
            <a:r>
              <a:rPr sz="1800" spc="-65" dirty="0">
                <a:solidFill>
                  <a:srgbClr val="616161"/>
                </a:solidFill>
                <a:latin typeface="Trebuchet MS"/>
                <a:cs typeface="Trebuchet MS"/>
              </a:rPr>
              <a:t> </a:t>
            </a:r>
            <a:r>
              <a:rPr sz="1800" spc="-40" dirty="0">
                <a:solidFill>
                  <a:srgbClr val="616161"/>
                </a:solidFill>
                <a:latin typeface="Trebuchet MS"/>
                <a:cs typeface="Trebuchet MS"/>
              </a:rPr>
              <a:t>data</a:t>
            </a:r>
            <a:r>
              <a:rPr sz="1800" spc="-65" dirty="0">
                <a:solidFill>
                  <a:srgbClr val="616161"/>
                </a:solidFill>
                <a:latin typeface="Trebuchet MS"/>
                <a:cs typeface="Trebuchet MS"/>
              </a:rPr>
              <a:t> </a:t>
            </a:r>
            <a:r>
              <a:rPr sz="1800" spc="-45" dirty="0">
                <a:solidFill>
                  <a:srgbClr val="616161"/>
                </a:solidFill>
                <a:latin typeface="Trebuchet MS"/>
                <a:cs typeface="Trebuchet MS"/>
              </a:rPr>
              <a:t>applications.</a:t>
            </a:r>
            <a:endParaRPr sz="1800">
              <a:latin typeface="Trebuchet MS"/>
              <a:cs typeface="Trebuchet M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5787475" cy="443711"/>
          </a:xfrm>
          <a:prstGeom prst="rect">
            <a:avLst/>
          </a:prstGeom>
        </p:spPr>
        <p:txBody>
          <a:bodyPr vert="horz" wrap="square" lIns="0" tIns="12700" rIns="0" bIns="0" rtlCol="0">
            <a:spAutoFit/>
          </a:bodyPr>
          <a:lstStyle/>
          <a:p>
            <a:pPr marL="12700">
              <a:lnSpc>
                <a:spcPct val="100000"/>
              </a:lnSpc>
              <a:spcBef>
                <a:spcPts val="100"/>
              </a:spcBef>
            </a:pPr>
            <a:r>
              <a:rPr lang="en-US" sz="2800" spc="25" dirty="0">
                <a:solidFill>
                  <a:srgbClr val="202729"/>
                </a:solidFill>
              </a:rPr>
              <a:t>Catalyst Optimizer in Spark SQL</a:t>
            </a:r>
            <a:endParaRPr sz="2800" dirty="0"/>
          </a:p>
        </p:txBody>
      </p:sp>
      <p:sp>
        <p:nvSpPr>
          <p:cNvPr id="5" name="object 2">
            <a:extLst>
              <a:ext uri="{FF2B5EF4-FFF2-40B4-BE49-F238E27FC236}">
                <a16:creationId xmlns:a16="http://schemas.microsoft.com/office/drawing/2014/main" id="{74E1E585-1F1E-0209-54EB-723F101A5A98}"/>
              </a:ext>
            </a:extLst>
          </p:cNvPr>
          <p:cNvSpPr txBox="1"/>
          <p:nvPr/>
        </p:nvSpPr>
        <p:spPr>
          <a:xfrm>
            <a:off x="384725" y="1216355"/>
            <a:ext cx="6798309" cy="810478"/>
          </a:xfrm>
          <a:prstGeom prst="rect">
            <a:avLst/>
          </a:prstGeom>
        </p:spPr>
        <p:txBody>
          <a:bodyPr vert="horz" wrap="square" lIns="0" tIns="12700" rIns="0" bIns="0" rtlCol="0">
            <a:spAutoFit/>
          </a:bodyPr>
          <a:lstStyle/>
          <a:p>
            <a:pPr marL="469900" indent="-367030">
              <a:lnSpc>
                <a:spcPct val="100000"/>
              </a:lnSpc>
              <a:spcBef>
                <a:spcPts val="1889"/>
              </a:spcBef>
              <a:buFont typeface="Arial MT"/>
              <a:buChar char="●"/>
              <a:tabLst>
                <a:tab pos="469265" algn="l"/>
                <a:tab pos="469900" algn="l"/>
              </a:tabLst>
            </a:pPr>
            <a:r>
              <a:rPr lang="en-US" sz="1800" spc="15" dirty="0">
                <a:solidFill>
                  <a:srgbClr val="616161"/>
                </a:solidFill>
                <a:latin typeface="Trebuchet MS"/>
                <a:cs typeface="Trebuchet MS"/>
              </a:rPr>
              <a:t>Optimizes logical plans for </a:t>
            </a:r>
            <a:r>
              <a:rPr lang="en-US" sz="1800" spc="15" dirty="0" err="1">
                <a:solidFill>
                  <a:srgbClr val="616161"/>
                </a:solidFill>
                <a:latin typeface="Trebuchet MS"/>
                <a:cs typeface="Trebuchet MS"/>
              </a:rPr>
              <a:t>DataFrames</a:t>
            </a:r>
            <a:r>
              <a:rPr lang="en-US" sz="1800" spc="15" dirty="0">
                <a:solidFill>
                  <a:srgbClr val="616161"/>
                </a:solidFill>
                <a:latin typeface="Trebuchet MS"/>
                <a:cs typeface="Trebuchet MS"/>
              </a:rPr>
              <a:t> and Datasets. </a:t>
            </a:r>
          </a:p>
          <a:p>
            <a:pPr marL="469900" indent="-367030">
              <a:lnSpc>
                <a:spcPct val="100000"/>
              </a:lnSpc>
              <a:spcBef>
                <a:spcPts val="1889"/>
              </a:spcBef>
              <a:buFont typeface="Arial MT"/>
              <a:buChar char="●"/>
              <a:tabLst>
                <a:tab pos="469265" algn="l"/>
                <a:tab pos="469900" algn="l"/>
              </a:tabLst>
            </a:pPr>
            <a:r>
              <a:rPr lang="en-US" sz="1800" spc="15" dirty="0">
                <a:solidFill>
                  <a:srgbClr val="616161"/>
                </a:solidFill>
                <a:latin typeface="Trebuchet MS"/>
                <a:cs typeface="Trebuchet MS"/>
              </a:rPr>
              <a:t>Performs rule-based and cost-based optimization.</a:t>
            </a:r>
          </a:p>
        </p:txBody>
      </p:sp>
      <p:pic>
        <p:nvPicPr>
          <p:cNvPr id="8" name="Picture 7">
            <a:extLst>
              <a:ext uri="{FF2B5EF4-FFF2-40B4-BE49-F238E27FC236}">
                <a16:creationId xmlns:a16="http://schemas.microsoft.com/office/drawing/2014/main" id="{EB8CB913-A3DF-D4BC-4CC2-73432F7A4C6E}"/>
              </a:ext>
            </a:extLst>
          </p:cNvPr>
          <p:cNvPicPr>
            <a:picLocks noChangeAspect="1"/>
          </p:cNvPicPr>
          <p:nvPr/>
        </p:nvPicPr>
        <p:blipFill>
          <a:blip r:embed="rId2"/>
          <a:stretch>
            <a:fillRect/>
          </a:stretch>
        </p:blipFill>
        <p:spPr>
          <a:xfrm>
            <a:off x="1447800" y="2190750"/>
            <a:ext cx="4801366" cy="2800797"/>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92B21D-0254-675E-43CD-03E6CE3515F2}"/>
              </a:ext>
            </a:extLst>
          </p:cNvPr>
          <p:cNvPicPr>
            <a:picLocks noChangeAspect="1"/>
          </p:cNvPicPr>
          <p:nvPr/>
        </p:nvPicPr>
        <p:blipFill>
          <a:blip r:embed="rId3"/>
          <a:stretch>
            <a:fillRect/>
          </a:stretch>
        </p:blipFill>
        <p:spPr>
          <a:xfrm>
            <a:off x="0" y="819150"/>
            <a:ext cx="4505954" cy="3048425"/>
          </a:xfrm>
          <a:prstGeom prst="rect">
            <a:avLst/>
          </a:prstGeom>
        </p:spPr>
      </p:pic>
      <p:sp>
        <p:nvSpPr>
          <p:cNvPr id="6" name="object 2">
            <a:extLst>
              <a:ext uri="{FF2B5EF4-FFF2-40B4-BE49-F238E27FC236}">
                <a16:creationId xmlns:a16="http://schemas.microsoft.com/office/drawing/2014/main" id="{5FB45521-C63C-09D3-272C-9CD7797EC3E1}"/>
              </a:ext>
            </a:extLst>
          </p:cNvPr>
          <p:cNvSpPr txBox="1">
            <a:spLocks noGrp="1"/>
          </p:cNvSpPr>
          <p:nvPr>
            <p:ph type="title"/>
          </p:nvPr>
        </p:nvSpPr>
        <p:spPr>
          <a:xfrm>
            <a:off x="381000" y="285750"/>
            <a:ext cx="5787475" cy="443711"/>
          </a:xfrm>
          <a:prstGeom prst="rect">
            <a:avLst/>
          </a:prstGeom>
        </p:spPr>
        <p:txBody>
          <a:bodyPr vert="horz" wrap="square" lIns="0" tIns="12700" rIns="0" bIns="0" rtlCol="0">
            <a:spAutoFit/>
          </a:bodyPr>
          <a:lstStyle/>
          <a:p>
            <a:pPr marL="12700">
              <a:lnSpc>
                <a:spcPct val="100000"/>
              </a:lnSpc>
              <a:spcBef>
                <a:spcPts val="100"/>
              </a:spcBef>
            </a:pPr>
            <a:r>
              <a:rPr lang="en-US" sz="2800" spc="25" dirty="0">
                <a:solidFill>
                  <a:srgbClr val="202729"/>
                </a:solidFill>
              </a:rPr>
              <a:t>Catalyst Optimizer in Spark SQL</a:t>
            </a:r>
            <a:endParaRPr sz="2800" dirty="0"/>
          </a:p>
        </p:txBody>
      </p:sp>
      <p:sp>
        <p:nvSpPr>
          <p:cNvPr id="7" name="object 2">
            <a:extLst>
              <a:ext uri="{FF2B5EF4-FFF2-40B4-BE49-F238E27FC236}">
                <a16:creationId xmlns:a16="http://schemas.microsoft.com/office/drawing/2014/main" id="{46CA3D12-E802-D3B5-6FF2-7C15E4CA3CE4}"/>
              </a:ext>
            </a:extLst>
          </p:cNvPr>
          <p:cNvSpPr txBox="1"/>
          <p:nvPr/>
        </p:nvSpPr>
        <p:spPr>
          <a:xfrm>
            <a:off x="4451246" y="1123950"/>
            <a:ext cx="4648200" cy="810478"/>
          </a:xfrm>
          <a:prstGeom prst="rect">
            <a:avLst/>
          </a:prstGeom>
        </p:spPr>
        <p:txBody>
          <a:bodyPr vert="horz" wrap="square" lIns="0" tIns="12700" rIns="0" bIns="0" rtlCol="0">
            <a:spAutoFit/>
          </a:bodyPr>
          <a:lstStyle/>
          <a:p>
            <a:pPr marL="469900" indent="-367030">
              <a:lnSpc>
                <a:spcPct val="100000"/>
              </a:lnSpc>
              <a:spcBef>
                <a:spcPts val="1889"/>
              </a:spcBef>
              <a:buFont typeface="Arial MT"/>
              <a:buChar char="●"/>
              <a:tabLst>
                <a:tab pos="469265" algn="l"/>
                <a:tab pos="469900" algn="l"/>
              </a:tabLst>
            </a:pPr>
            <a:r>
              <a:rPr lang="en-US" spc="15" dirty="0">
                <a:solidFill>
                  <a:srgbClr val="616161"/>
                </a:solidFill>
                <a:latin typeface="Trebuchet MS"/>
                <a:cs typeface="Trebuchet MS"/>
              </a:rPr>
              <a:t>Not calculate 1 + 2 for all </a:t>
            </a:r>
            <a:r>
              <a:rPr lang="en-US" sz="1800" spc="15" dirty="0">
                <a:solidFill>
                  <a:srgbClr val="616161"/>
                </a:solidFill>
                <a:latin typeface="Trebuchet MS"/>
                <a:cs typeface="Trebuchet MS"/>
              </a:rPr>
              <a:t> </a:t>
            </a:r>
          </a:p>
          <a:p>
            <a:pPr marL="469900" indent="-367030">
              <a:lnSpc>
                <a:spcPct val="100000"/>
              </a:lnSpc>
              <a:spcBef>
                <a:spcPts val="1889"/>
              </a:spcBef>
              <a:buFont typeface="Arial MT"/>
              <a:buChar char="●"/>
              <a:tabLst>
                <a:tab pos="469265" algn="l"/>
                <a:tab pos="469900" algn="l"/>
              </a:tabLst>
            </a:pPr>
            <a:r>
              <a:rPr lang="en-US" sz="1800" spc="15" dirty="0">
                <a:solidFill>
                  <a:srgbClr val="616161"/>
                </a:solidFill>
                <a:latin typeface="Trebuchet MS"/>
                <a:cs typeface="Trebuchet MS"/>
              </a:rPr>
              <a:t>Filter t2.id &gt; 50 </a:t>
            </a:r>
            <a:r>
              <a:rPr lang="en-US" spc="15" dirty="0">
                <a:solidFill>
                  <a:srgbClr val="616161"/>
                </a:solidFill>
                <a:latin typeface="Trebuchet MS"/>
                <a:cs typeface="Trebuchet MS"/>
              </a:rPr>
              <a:t>b</a:t>
            </a:r>
            <a:r>
              <a:rPr lang="en-US" sz="1800" spc="15" dirty="0">
                <a:solidFill>
                  <a:srgbClr val="616161"/>
                </a:solidFill>
                <a:latin typeface="Trebuchet MS"/>
                <a:cs typeface="Trebuchet MS"/>
              </a:rPr>
              <a:t>efore JOIN</a:t>
            </a:r>
          </a:p>
        </p:txBody>
      </p:sp>
      <p:pic>
        <p:nvPicPr>
          <p:cNvPr id="13" name="Picture 12">
            <a:extLst>
              <a:ext uri="{FF2B5EF4-FFF2-40B4-BE49-F238E27FC236}">
                <a16:creationId xmlns:a16="http://schemas.microsoft.com/office/drawing/2014/main" id="{587C2B25-0566-757B-8211-823215D82A6C}"/>
              </a:ext>
            </a:extLst>
          </p:cNvPr>
          <p:cNvPicPr>
            <a:picLocks noChangeAspect="1"/>
          </p:cNvPicPr>
          <p:nvPr/>
        </p:nvPicPr>
        <p:blipFill>
          <a:blip r:embed="rId4"/>
          <a:stretch>
            <a:fillRect/>
          </a:stretch>
        </p:blipFill>
        <p:spPr>
          <a:xfrm>
            <a:off x="3962400" y="2282222"/>
            <a:ext cx="5144477" cy="2572109"/>
          </a:xfrm>
          <a:prstGeom prst="rect">
            <a:avLst/>
          </a:prstGeom>
        </p:spPr>
      </p:pic>
    </p:spTree>
    <p:extLst>
      <p:ext uri="{BB962C8B-B14F-4D97-AF65-F5344CB8AC3E}">
        <p14:creationId xmlns:p14="http://schemas.microsoft.com/office/powerpoint/2010/main" val="39269804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8842-CC85-3729-30B4-E599BFF3C076}"/>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A3E57940-49BB-3A9D-4929-97AFD01B32FE}"/>
              </a:ext>
            </a:extLst>
          </p:cNvPr>
          <p:cNvPicPr>
            <a:picLocks noChangeAspect="1"/>
          </p:cNvPicPr>
          <p:nvPr/>
        </p:nvPicPr>
        <p:blipFill>
          <a:blip r:embed="rId2"/>
          <a:stretch>
            <a:fillRect/>
          </a:stretch>
        </p:blipFill>
        <p:spPr>
          <a:xfrm>
            <a:off x="990600" y="320708"/>
            <a:ext cx="7344438" cy="4665705"/>
          </a:xfrm>
          <a:prstGeom prst="rect">
            <a:avLst/>
          </a:prstGeom>
        </p:spPr>
      </p:pic>
    </p:spTree>
    <p:extLst>
      <p:ext uri="{BB962C8B-B14F-4D97-AF65-F5344CB8AC3E}">
        <p14:creationId xmlns:p14="http://schemas.microsoft.com/office/powerpoint/2010/main" val="14777433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5249" y="1081100"/>
            <a:ext cx="2374900" cy="2482850"/>
          </a:xfrm>
          <a:prstGeom prst="rect">
            <a:avLst/>
          </a:prstGeom>
        </p:spPr>
        <p:txBody>
          <a:bodyPr vert="horz" wrap="square" lIns="0" tIns="147955" rIns="0" bIns="0" rtlCol="0">
            <a:spAutoFit/>
          </a:bodyPr>
          <a:lstStyle/>
          <a:p>
            <a:pPr marL="379095" indent="-367030">
              <a:lnSpc>
                <a:spcPct val="100000"/>
              </a:lnSpc>
              <a:spcBef>
                <a:spcPts val="1165"/>
              </a:spcBef>
              <a:buFont typeface="Arial MT"/>
              <a:buChar char="●"/>
              <a:tabLst>
                <a:tab pos="379095" algn="l"/>
                <a:tab pos="379730" algn="l"/>
              </a:tabLst>
            </a:pPr>
            <a:r>
              <a:rPr sz="1800" spc="25" dirty="0">
                <a:solidFill>
                  <a:srgbClr val="616161"/>
                </a:solidFill>
                <a:latin typeface="Trebuchet MS"/>
                <a:cs typeface="Trebuchet MS"/>
              </a:rPr>
              <a:t>Spark</a:t>
            </a:r>
            <a:r>
              <a:rPr sz="1800" spc="-110" dirty="0">
                <a:solidFill>
                  <a:srgbClr val="616161"/>
                </a:solidFill>
                <a:latin typeface="Trebuchet MS"/>
                <a:cs typeface="Trebuchet MS"/>
              </a:rPr>
              <a:t> </a:t>
            </a:r>
            <a:r>
              <a:rPr sz="1800" spc="-5" dirty="0">
                <a:solidFill>
                  <a:srgbClr val="616161"/>
                </a:solidFill>
                <a:latin typeface="Trebuchet MS"/>
                <a:cs typeface="Trebuchet MS"/>
              </a:rPr>
              <a:t>Overview</a:t>
            </a:r>
            <a:endParaRPr sz="1800">
              <a:latin typeface="Trebuchet MS"/>
              <a:cs typeface="Trebuchet MS"/>
            </a:endParaRPr>
          </a:p>
          <a:p>
            <a:pPr marL="379095" indent="-367030">
              <a:lnSpc>
                <a:spcPct val="100000"/>
              </a:lnSpc>
              <a:spcBef>
                <a:spcPts val="1065"/>
              </a:spcBef>
              <a:buFont typeface="Arial MT"/>
              <a:buChar char="●"/>
              <a:tabLst>
                <a:tab pos="379095" algn="l"/>
                <a:tab pos="379730" algn="l"/>
              </a:tabLst>
            </a:pPr>
            <a:r>
              <a:rPr sz="1800" spc="25" dirty="0">
                <a:solidFill>
                  <a:srgbClr val="616161"/>
                </a:solidFill>
                <a:latin typeface="Trebuchet MS"/>
                <a:cs typeface="Trebuchet MS"/>
              </a:rPr>
              <a:t>Spark</a:t>
            </a:r>
            <a:r>
              <a:rPr sz="1800" spc="-120" dirty="0">
                <a:solidFill>
                  <a:srgbClr val="616161"/>
                </a:solidFill>
                <a:latin typeface="Trebuchet MS"/>
                <a:cs typeface="Trebuchet MS"/>
              </a:rPr>
              <a:t> </a:t>
            </a:r>
            <a:r>
              <a:rPr sz="1800" spc="30" dirty="0">
                <a:solidFill>
                  <a:srgbClr val="616161"/>
                </a:solidFill>
                <a:latin typeface="Trebuchet MS"/>
                <a:cs typeface="Trebuchet MS"/>
              </a:rPr>
              <a:t>Core</a:t>
            </a:r>
            <a:endParaRPr sz="1800">
              <a:latin typeface="Trebuchet MS"/>
              <a:cs typeface="Trebuchet MS"/>
            </a:endParaRPr>
          </a:p>
          <a:p>
            <a:pPr marL="379095" indent="-367030">
              <a:lnSpc>
                <a:spcPct val="100000"/>
              </a:lnSpc>
              <a:spcBef>
                <a:spcPts val="1065"/>
              </a:spcBef>
              <a:buFont typeface="Arial MT"/>
              <a:buChar char="●"/>
              <a:tabLst>
                <a:tab pos="379095" algn="l"/>
                <a:tab pos="379730" algn="l"/>
              </a:tabLst>
            </a:pPr>
            <a:r>
              <a:rPr sz="1800" spc="-25" dirty="0">
                <a:solidFill>
                  <a:srgbClr val="616161"/>
                </a:solidFill>
                <a:latin typeface="Trebuchet MS"/>
                <a:cs typeface="Trebuchet MS"/>
              </a:rPr>
              <a:t>Related</a:t>
            </a:r>
            <a:r>
              <a:rPr sz="1800" spc="-80" dirty="0">
                <a:solidFill>
                  <a:srgbClr val="616161"/>
                </a:solidFill>
                <a:latin typeface="Trebuchet MS"/>
                <a:cs typeface="Trebuchet MS"/>
              </a:rPr>
              <a:t> </a:t>
            </a:r>
            <a:r>
              <a:rPr sz="1800" spc="-15" dirty="0">
                <a:solidFill>
                  <a:srgbClr val="616161"/>
                </a:solidFill>
                <a:latin typeface="Trebuchet MS"/>
                <a:cs typeface="Trebuchet MS"/>
              </a:rPr>
              <a:t>Framework</a:t>
            </a:r>
            <a:endParaRPr sz="1800">
              <a:latin typeface="Trebuchet MS"/>
              <a:cs typeface="Trebuchet MS"/>
            </a:endParaRPr>
          </a:p>
          <a:p>
            <a:pPr marL="379095" indent="-367030">
              <a:lnSpc>
                <a:spcPct val="100000"/>
              </a:lnSpc>
              <a:spcBef>
                <a:spcPts val="1065"/>
              </a:spcBef>
              <a:buFont typeface="Arial"/>
              <a:buChar char="●"/>
              <a:tabLst>
                <a:tab pos="379095" algn="l"/>
                <a:tab pos="379730" algn="l"/>
              </a:tabLst>
            </a:pPr>
            <a:r>
              <a:rPr sz="1800" b="1" spc="5" dirty="0">
                <a:solidFill>
                  <a:srgbClr val="616161"/>
                </a:solidFill>
                <a:latin typeface="Trebuchet MS"/>
                <a:cs typeface="Trebuchet MS"/>
              </a:rPr>
              <a:t>Spark</a:t>
            </a:r>
            <a:r>
              <a:rPr sz="1800" b="1" spc="-85" dirty="0">
                <a:solidFill>
                  <a:srgbClr val="616161"/>
                </a:solidFill>
                <a:latin typeface="Trebuchet MS"/>
                <a:cs typeface="Trebuchet MS"/>
              </a:rPr>
              <a:t> </a:t>
            </a:r>
            <a:r>
              <a:rPr sz="1800" b="1" spc="-50" dirty="0">
                <a:solidFill>
                  <a:srgbClr val="616161"/>
                </a:solidFill>
                <a:latin typeface="Trebuchet MS"/>
                <a:cs typeface="Trebuchet MS"/>
              </a:rPr>
              <a:t>vs.</a:t>
            </a:r>
            <a:r>
              <a:rPr sz="1800" b="1" spc="-85" dirty="0">
                <a:solidFill>
                  <a:srgbClr val="616161"/>
                </a:solidFill>
                <a:latin typeface="Trebuchet MS"/>
                <a:cs typeface="Trebuchet MS"/>
              </a:rPr>
              <a:t> </a:t>
            </a:r>
            <a:r>
              <a:rPr sz="1800" b="1" spc="20" dirty="0">
                <a:solidFill>
                  <a:srgbClr val="616161"/>
                </a:solidFill>
                <a:latin typeface="Trebuchet MS"/>
                <a:cs typeface="Trebuchet MS"/>
              </a:rPr>
              <a:t>Hadoop</a:t>
            </a:r>
            <a:endParaRPr sz="1800">
              <a:latin typeface="Trebuchet MS"/>
              <a:cs typeface="Trebuchet MS"/>
            </a:endParaRPr>
          </a:p>
          <a:p>
            <a:pPr marL="379095" indent="-367030">
              <a:lnSpc>
                <a:spcPct val="100000"/>
              </a:lnSpc>
              <a:spcBef>
                <a:spcPts val="1065"/>
              </a:spcBef>
              <a:buFont typeface="Arial MT"/>
              <a:buChar char="●"/>
              <a:tabLst>
                <a:tab pos="379095" algn="l"/>
                <a:tab pos="379730" algn="l"/>
              </a:tabLst>
            </a:pPr>
            <a:r>
              <a:rPr sz="1800" spc="25" dirty="0">
                <a:solidFill>
                  <a:srgbClr val="616161"/>
                </a:solidFill>
                <a:latin typeface="Trebuchet MS"/>
                <a:cs typeface="Trebuchet MS"/>
              </a:rPr>
              <a:t>Spark</a:t>
            </a:r>
            <a:r>
              <a:rPr sz="1800" spc="-105" dirty="0">
                <a:solidFill>
                  <a:srgbClr val="616161"/>
                </a:solidFill>
                <a:latin typeface="Trebuchet MS"/>
                <a:cs typeface="Trebuchet MS"/>
              </a:rPr>
              <a:t> </a:t>
            </a:r>
            <a:r>
              <a:rPr sz="1800" spc="75" dirty="0">
                <a:solidFill>
                  <a:srgbClr val="616161"/>
                </a:solidFill>
                <a:latin typeface="Trebuchet MS"/>
                <a:cs typeface="Trebuchet MS"/>
              </a:rPr>
              <a:t>Use</a:t>
            </a:r>
            <a:r>
              <a:rPr sz="1800" spc="-100" dirty="0">
                <a:solidFill>
                  <a:srgbClr val="616161"/>
                </a:solidFill>
                <a:latin typeface="Trebuchet MS"/>
                <a:cs typeface="Trebuchet MS"/>
              </a:rPr>
              <a:t> </a:t>
            </a:r>
            <a:r>
              <a:rPr sz="1800" spc="75" dirty="0">
                <a:solidFill>
                  <a:srgbClr val="616161"/>
                </a:solidFill>
                <a:latin typeface="Trebuchet MS"/>
                <a:cs typeface="Trebuchet MS"/>
              </a:rPr>
              <a:t>Cases</a:t>
            </a:r>
            <a:endParaRPr sz="1800">
              <a:latin typeface="Trebuchet MS"/>
              <a:cs typeface="Trebuchet MS"/>
            </a:endParaRPr>
          </a:p>
          <a:p>
            <a:pPr marL="379095" indent="-367030">
              <a:lnSpc>
                <a:spcPct val="100000"/>
              </a:lnSpc>
              <a:spcBef>
                <a:spcPts val="1065"/>
              </a:spcBef>
              <a:buFont typeface="Arial MT"/>
              <a:buChar char="●"/>
              <a:tabLst>
                <a:tab pos="379095" algn="l"/>
                <a:tab pos="379730" algn="l"/>
              </a:tabLst>
            </a:pPr>
            <a:r>
              <a:rPr sz="1800" spc="25" dirty="0">
                <a:solidFill>
                  <a:srgbClr val="616161"/>
                </a:solidFill>
                <a:latin typeface="Trebuchet MS"/>
                <a:cs typeface="Trebuchet MS"/>
              </a:rPr>
              <a:t>Spark</a:t>
            </a:r>
            <a:r>
              <a:rPr sz="1800" spc="-125" dirty="0">
                <a:solidFill>
                  <a:srgbClr val="616161"/>
                </a:solidFill>
                <a:latin typeface="Trebuchet MS"/>
                <a:cs typeface="Trebuchet MS"/>
              </a:rPr>
              <a:t> </a:t>
            </a:r>
            <a:r>
              <a:rPr sz="1800" spc="-5" dirty="0">
                <a:solidFill>
                  <a:srgbClr val="616161"/>
                </a:solidFill>
                <a:latin typeface="Trebuchet MS"/>
                <a:cs typeface="Trebuchet MS"/>
              </a:rPr>
              <a:t>Programming</a:t>
            </a:r>
            <a:endParaRPr sz="1800">
              <a:latin typeface="Trebuchet MS"/>
              <a:cs typeface="Trebuchet MS"/>
            </a:endParaRPr>
          </a:p>
        </p:txBody>
      </p:sp>
      <p:sp>
        <p:nvSpPr>
          <p:cNvPr id="3" name="object 3"/>
          <p:cNvSpPr txBox="1">
            <a:spLocks noGrp="1"/>
          </p:cNvSpPr>
          <p:nvPr>
            <p:ph type="title"/>
          </p:nvPr>
        </p:nvSpPr>
        <p:spPr>
          <a:xfrm>
            <a:off x="384725" y="503825"/>
            <a:ext cx="1154430" cy="452120"/>
          </a:xfrm>
          <a:prstGeom prst="rect">
            <a:avLst/>
          </a:prstGeom>
        </p:spPr>
        <p:txBody>
          <a:bodyPr vert="horz" wrap="square" lIns="0" tIns="12700" rIns="0" bIns="0" rtlCol="0">
            <a:spAutoFit/>
          </a:bodyPr>
          <a:lstStyle/>
          <a:p>
            <a:pPr marL="12700">
              <a:lnSpc>
                <a:spcPct val="100000"/>
              </a:lnSpc>
              <a:spcBef>
                <a:spcPts val="100"/>
              </a:spcBef>
            </a:pPr>
            <a:r>
              <a:rPr sz="2800" spc="-50" dirty="0">
                <a:solidFill>
                  <a:srgbClr val="202729"/>
                </a:solidFill>
              </a:rPr>
              <a:t>Outline</a:t>
            </a:r>
            <a:endParaRPr sz="2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4725" y="503825"/>
            <a:ext cx="2785110" cy="452120"/>
          </a:xfrm>
          <a:prstGeom prst="rect">
            <a:avLst/>
          </a:prstGeom>
        </p:spPr>
        <p:txBody>
          <a:bodyPr vert="horz" wrap="square" lIns="0" tIns="12700" rIns="0" bIns="0" rtlCol="0">
            <a:spAutoFit/>
          </a:bodyPr>
          <a:lstStyle/>
          <a:p>
            <a:pPr marL="12700">
              <a:lnSpc>
                <a:spcPct val="100000"/>
              </a:lnSpc>
              <a:spcBef>
                <a:spcPts val="100"/>
              </a:spcBef>
            </a:pPr>
            <a:r>
              <a:rPr sz="2800" spc="75" dirty="0">
                <a:solidFill>
                  <a:srgbClr val="202729"/>
                </a:solidFill>
                <a:latin typeface="Trebuchet MS"/>
                <a:cs typeface="Trebuchet MS"/>
              </a:rPr>
              <a:t>Hadoop</a:t>
            </a:r>
            <a:r>
              <a:rPr sz="2800" spc="-125" dirty="0">
                <a:solidFill>
                  <a:srgbClr val="202729"/>
                </a:solidFill>
                <a:latin typeface="Trebuchet MS"/>
                <a:cs typeface="Trebuchet MS"/>
              </a:rPr>
              <a:t> </a:t>
            </a:r>
            <a:r>
              <a:rPr sz="2800" spc="-75" dirty="0">
                <a:solidFill>
                  <a:srgbClr val="202729"/>
                </a:solidFill>
                <a:latin typeface="Trebuchet MS"/>
                <a:cs typeface="Trebuchet MS"/>
              </a:rPr>
              <a:t>vs.</a:t>
            </a:r>
            <a:r>
              <a:rPr sz="2800" spc="-125" dirty="0">
                <a:solidFill>
                  <a:srgbClr val="202729"/>
                </a:solidFill>
                <a:latin typeface="Trebuchet MS"/>
                <a:cs typeface="Trebuchet MS"/>
              </a:rPr>
              <a:t> </a:t>
            </a:r>
            <a:r>
              <a:rPr sz="2800" spc="40" dirty="0">
                <a:solidFill>
                  <a:srgbClr val="202729"/>
                </a:solidFill>
                <a:latin typeface="Trebuchet MS"/>
                <a:cs typeface="Trebuchet MS"/>
              </a:rPr>
              <a:t>Spark</a:t>
            </a:r>
            <a:endParaRPr sz="2800">
              <a:latin typeface="Trebuchet MS"/>
              <a:cs typeface="Trebuchet MS"/>
            </a:endParaRPr>
          </a:p>
        </p:txBody>
      </p:sp>
      <p:sp>
        <p:nvSpPr>
          <p:cNvPr id="3" name="object 3"/>
          <p:cNvSpPr txBox="1"/>
          <p:nvPr/>
        </p:nvSpPr>
        <p:spPr>
          <a:xfrm>
            <a:off x="384725" y="2277376"/>
            <a:ext cx="3460115" cy="968375"/>
          </a:xfrm>
          <a:prstGeom prst="rect">
            <a:avLst/>
          </a:prstGeom>
        </p:spPr>
        <p:txBody>
          <a:bodyPr vert="horz" wrap="square" lIns="0" tIns="12700" rIns="0" bIns="0" rtlCol="0">
            <a:spAutoFit/>
          </a:bodyPr>
          <a:lstStyle/>
          <a:p>
            <a:pPr marL="12700" marR="5080">
              <a:lnSpc>
                <a:spcPct val="114599"/>
              </a:lnSpc>
              <a:spcBef>
                <a:spcPts val="100"/>
              </a:spcBef>
            </a:pPr>
            <a:r>
              <a:rPr sz="1800" spc="25" dirty="0">
                <a:solidFill>
                  <a:srgbClr val="616161"/>
                </a:solidFill>
                <a:latin typeface="Trebuchet MS"/>
                <a:cs typeface="Trebuchet MS"/>
              </a:rPr>
              <a:t>Spark </a:t>
            </a:r>
            <a:r>
              <a:rPr sz="1800" dirty="0">
                <a:solidFill>
                  <a:srgbClr val="616161"/>
                </a:solidFill>
                <a:latin typeface="Trebuchet MS"/>
                <a:cs typeface="Trebuchet MS"/>
              </a:rPr>
              <a:t>can </a:t>
            </a:r>
            <a:r>
              <a:rPr sz="1800" spc="30" dirty="0">
                <a:solidFill>
                  <a:srgbClr val="616161"/>
                </a:solidFill>
                <a:latin typeface="Trebuchet MS"/>
                <a:cs typeface="Trebuchet MS"/>
              </a:rPr>
              <a:t>be </a:t>
            </a:r>
            <a:r>
              <a:rPr sz="1800" spc="-15" dirty="0">
                <a:solidFill>
                  <a:srgbClr val="616161"/>
                </a:solidFill>
                <a:latin typeface="Trebuchet MS"/>
                <a:cs typeface="Trebuchet MS"/>
              </a:rPr>
              <a:t>more </a:t>
            </a:r>
            <a:r>
              <a:rPr sz="1800" spc="-45" dirty="0">
                <a:solidFill>
                  <a:srgbClr val="616161"/>
                </a:solidFill>
                <a:latin typeface="Trebuchet MS"/>
                <a:cs typeface="Trebuchet MS"/>
              </a:rPr>
              <a:t>than </a:t>
            </a:r>
            <a:r>
              <a:rPr sz="1800" spc="-15" dirty="0">
                <a:solidFill>
                  <a:srgbClr val="616161"/>
                </a:solidFill>
                <a:latin typeface="Trebuchet MS"/>
                <a:cs typeface="Trebuchet MS"/>
              </a:rPr>
              <a:t>100x </a:t>
            </a:r>
            <a:r>
              <a:rPr sz="1800" spc="-10" dirty="0">
                <a:solidFill>
                  <a:srgbClr val="616161"/>
                </a:solidFill>
                <a:latin typeface="Trebuchet MS"/>
                <a:cs typeface="Trebuchet MS"/>
              </a:rPr>
              <a:t> </a:t>
            </a:r>
            <a:r>
              <a:rPr sz="1800" spc="-80" dirty="0">
                <a:solidFill>
                  <a:srgbClr val="616161"/>
                </a:solidFill>
                <a:latin typeface="Trebuchet MS"/>
                <a:cs typeface="Trebuchet MS"/>
              </a:rPr>
              <a:t>faster, </a:t>
            </a:r>
            <a:r>
              <a:rPr sz="1800" spc="-20" dirty="0">
                <a:solidFill>
                  <a:srgbClr val="616161"/>
                </a:solidFill>
                <a:latin typeface="Trebuchet MS"/>
                <a:cs typeface="Trebuchet MS"/>
              </a:rPr>
              <a:t>especially</a:t>
            </a:r>
            <a:r>
              <a:rPr sz="1800" spc="-80" dirty="0">
                <a:solidFill>
                  <a:srgbClr val="616161"/>
                </a:solidFill>
                <a:latin typeface="Trebuchet MS"/>
                <a:cs typeface="Trebuchet MS"/>
              </a:rPr>
              <a:t> </a:t>
            </a:r>
            <a:r>
              <a:rPr sz="1800" spc="5" dirty="0">
                <a:solidFill>
                  <a:srgbClr val="616161"/>
                </a:solidFill>
                <a:latin typeface="Trebuchet MS"/>
                <a:cs typeface="Trebuchet MS"/>
              </a:rPr>
              <a:t>when</a:t>
            </a:r>
            <a:r>
              <a:rPr sz="1800" spc="-80" dirty="0">
                <a:solidFill>
                  <a:srgbClr val="616161"/>
                </a:solidFill>
                <a:latin typeface="Trebuchet MS"/>
                <a:cs typeface="Trebuchet MS"/>
              </a:rPr>
              <a:t> </a:t>
            </a:r>
            <a:r>
              <a:rPr sz="1800" spc="-30" dirty="0">
                <a:solidFill>
                  <a:srgbClr val="616161"/>
                </a:solidFill>
                <a:latin typeface="Trebuchet MS"/>
                <a:cs typeface="Trebuchet MS"/>
              </a:rPr>
              <a:t>performing </a:t>
            </a:r>
            <a:r>
              <a:rPr sz="1800" spc="-530" dirty="0">
                <a:solidFill>
                  <a:srgbClr val="616161"/>
                </a:solidFill>
                <a:latin typeface="Trebuchet MS"/>
                <a:cs typeface="Trebuchet MS"/>
              </a:rPr>
              <a:t> </a:t>
            </a:r>
            <a:r>
              <a:rPr sz="1800" spc="-40" dirty="0">
                <a:solidFill>
                  <a:srgbClr val="616161"/>
                </a:solidFill>
                <a:latin typeface="Trebuchet MS"/>
                <a:cs typeface="Trebuchet MS"/>
              </a:rPr>
              <a:t>computationally</a:t>
            </a:r>
            <a:r>
              <a:rPr sz="1800" spc="-95" dirty="0">
                <a:solidFill>
                  <a:srgbClr val="616161"/>
                </a:solidFill>
                <a:latin typeface="Trebuchet MS"/>
                <a:cs typeface="Trebuchet MS"/>
              </a:rPr>
              <a:t> </a:t>
            </a:r>
            <a:r>
              <a:rPr sz="1800" spc="-25" dirty="0">
                <a:solidFill>
                  <a:srgbClr val="616161"/>
                </a:solidFill>
                <a:latin typeface="Trebuchet MS"/>
                <a:cs typeface="Trebuchet MS"/>
              </a:rPr>
              <a:t>intensive</a:t>
            </a:r>
            <a:r>
              <a:rPr sz="1800" spc="-90" dirty="0">
                <a:solidFill>
                  <a:srgbClr val="616161"/>
                </a:solidFill>
                <a:latin typeface="Trebuchet MS"/>
                <a:cs typeface="Trebuchet MS"/>
              </a:rPr>
              <a:t> </a:t>
            </a:r>
            <a:r>
              <a:rPr sz="1800" spc="-35" dirty="0">
                <a:solidFill>
                  <a:srgbClr val="616161"/>
                </a:solidFill>
                <a:latin typeface="Trebuchet MS"/>
                <a:cs typeface="Trebuchet MS"/>
              </a:rPr>
              <a:t>tasks.</a:t>
            </a:r>
            <a:endParaRPr sz="1800">
              <a:latin typeface="Trebuchet MS"/>
              <a:cs typeface="Trebuchet MS"/>
            </a:endParaRPr>
          </a:p>
        </p:txBody>
      </p:sp>
      <p:pic>
        <p:nvPicPr>
          <p:cNvPr id="4" name="object 4"/>
          <p:cNvPicPr/>
          <p:nvPr/>
        </p:nvPicPr>
        <p:blipFill>
          <a:blip r:embed="rId2" cstate="print"/>
          <a:stretch>
            <a:fillRect/>
          </a:stretch>
        </p:blipFill>
        <p:spPr>
          <a:xfrm>
            <a:off x="4531577" y="1447559"/>
            <a:ext cx="3140592" cy="214726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785110" cy="452120"/>
          </a:xfrm>
          <a:prstGeom prst="rect">
            <a:avLst/>
          </a:prstGeom>
        </p:spPr>
        <p:txBody>
          <a:bodyPr vert="horz" wrap="square" lIns="0" tIns="12700" rIns="0" bIns="0" rtlCol="0">
            <a:spAutoFit/>
          </a:bodyPr>
          <a:lstStyle/>
          <a:p>
            <a:pPr marL="12700">
              <a:lnSpc>
                <a:spcPct val="100000"/>
              </a:lnSpc>
              <a:spcBef>
                <a:spcPts val="100"/>
              </a:spcBef>
            </a:pPr>
            <a:r>
              <a:rPr sz="2800" spc="75" dirty="0">
                <a:solidFill>
                  <a:srgbClr val="202729"/>
                </a:solidFill>
              </a:rPr>
              <a:t>Hadoop</a:t>
            </a:r>
            <a:r>
              <a:rPr sz="2800" spc="-125" dirty="0">
                <a:solidFill>
                  <a:srgbClr val="202729"/>
                </a:solidFill>
              </a:rPr>
              <a:t> </a:t>
            </a:r>
            <a:r>
              <a:rPr sz="2800" spc="-75" dirty="0">
                <a:solidFill>
                  <a:srgbClr val="202729"/>
                </a:solidFill>
              </a:rPr>
              <a:t>vs.</a:t>
            </a:r>
            <a:r>
              <a:rPr sz="2800" spc="-125" dirty="0">
                <a:solidFill>
                  <a:srgbClr val="202729"/>
                </a:solidFill>
              </a:rPr>
              <a:t> </a:t>
            </a:r>
            <a:r>
              <a:rPr sz="2800" spc="40" dirty="0">
                <a:solidFill>
                  <a:srgbClr val="202729"/>
                </a:solidFill>
              </a:rPr>
              <a:t>Spark</a:t>
            </a:r>
            <a:endParaRPr sz="2800"/>
          </a:p>
        </p:txBody>
      </p:sp>
      <p:sp>
        <p:nvSpPr>
          <p:cNvPr id="3" name="object 3"/>
          <p:cNvSpPr txBox="1"/>
          <p:nvPr/>
        </p:nvSpPr>
        <p:spPr>
          <a:xfrm>
            <a:off x="384725" y="1318433"/>
            <a:ext cx="5551805" cy="2248535"/>
          </a:xfrm>
          <a:prstGeom prst="rect">
            <a:avLst/>
          </a:prstGeom>
        </p:spPr>
        <p:txBody>
          <a:bodyPr vert="horz" wrap="square" lIns="0" tIns="12700" rIns="0" bIns="0" rtlCol="0">
            <a:spAutoFit/>
          </a:bodyPr>
          <a:lstStyle/>
          <a:p>
            <a:pPr marL="12700">
              <a:lnSpc>
                <a:spcPct val="100000"/>
              </a:lnSpc>
              <a:spcBef>
                <a:spcPts val="100"/>
              </a:spcBef>
            </a:pPr>
            <a:r>
              <a:rPr sz="2400" spc="20" dirty="0">
                <a:solidFill>
                  <a:srgbClr val="616161"/>
                </a:solidFill>
                <a:latin typeface="Trebuchet MS"/>
                <a:cs typeface="Trebuchet MS"/>
              </a:rPr>
              <a:t>Step</a:t>
            </a:r>
            <a:r>
              <a:rPr sz="2400" spc="-105" dirty="0">
                <a:solidFill>
                  <a:srgbClr val="616161"/>
                </a:solidFill>
                <a:latin typeface="Trebuchet MS"/>
                <a:cs typeface="Trebuchet MS"/>
              </a:rPr>
              <a:t> </a:t>
            </a:r>
            <a:r>
              <a:rPr sz="2400" spc="-390" dirty="0">
                <a:solidFill>
                  <a:srgbClr val="616161"/>
                </a:solidFill>
                <a:latin typeface="Trebuchet MS"/>
                <a:cs typeface="Trebuchet MS"/>
              </a:rPr>
              <a:t>1.</a:t>
            </a:r>
            <a:r>
              <a:rPr sz="2400" spc="-105" dirty="0">
                <a:solidFill>
                  <a:srgbClr val="616161"/>
                </a:solidFill>
                <a:latin typeface="Trebuchet MS"/>
                <a:cs typeface="Trebuchet MS"/>
              </a:rPr>
              <a:t> </a:t>
            </a:r>
            <a:r>
              <a:rPr sz="2400" spc="-25" dirty="0">
                <a:solidFill>
                  <a:srgbClr val="616161"/>
                </a:solidFill>
                <a:latin typeface="Trebuchet MS"/>
                <a:cs typeface="Trebuchet MS"/>
              </a:rPr>
              <a:t>Build</a:t>
            </a:r>
            <a:r>
              <a:rPr sz="2400" spc="-105" dirty="0">
                <a:solidFill>
                  <a:srgbClr val="616161"/>
                </a:solidFill>
                <a:latin typeface="Trebuchet MS"/>
                <a:cs typeface="Trebuchet MS"/>
              </a:rPr>
              <a:t> </a:t>
            </a:r>
            <a:r>
              <a:rPr sz="2400" dirty="0">
                <a:solidFill>
                  <a:srgbClr val="616161"/>
                </a:solidFill>
                <a:latin typeface="Trebuchet MS"/>
                <a:cs typeface="Trebuchet MS"/>
              </a:rPr>
              <a:t>something</a:t>
            </a:r>
            <a:endParaRPr sz="2400">
              <a:latin typeface="Trebuchet MS"/>
              <a:cs typeface="Trebuchet MS"/>
            </a:endParaRPr>
          </a:p>
          <a:p>
            <a:pPr marL="12700" marR="5080">
              <a:lnSpc>
                <a:spcPct val="169300"/>
              </a:lnSpc>
            </a:pPr>
            <a:r>
              <a:rPr sz="2400" spc="20" dirty="0">
                <a:solidFill>
                  <a:srgbClr val="616161"/>
                </a:solidFill>
                <a:latin typeface="Trebuchet MS"/>
                <a:cs typeface="Trebuchet MS"/>
              </a:rPr>
              <a:t>Step</a:t>
            </a:r>
            <a:r>
              <a:rPr sz="2400" spc="-105" dirty="0">
                <a:solidFill>
                  <a:srgbClr val="616161"/>
                </a:solidFill>
                <a:latin typeface="Trebuchet MS"/>
                <a:cs typeface="Trebuchet MS"/>
              </a:rPr>
              <a:t> </a:t>
            </a:r>
            <a:r>
              <a:rPr sz="2400" spc="-90" dirty="0">
                <a:solidFill>
                  <a:srgbClr val="616161"/>
                </a:solidFill>
                <a:latin typeface="Trebuchet MS"/>
                <a:cs typeface="Trebuchet MS"/>
              </a:rPr>
              <a:t>2.</a:t>
            </a:r>
            <a:r>
              <a:rPr sz="2400" spc="-105" dirty="0">
                <a:solidFill>
                  <a:srgbClr val="616161"/>
                </a:solidFill>
                <a:latin typeface="Trebuchet MS"/>
                <a:cs typeface="Trebuchet MS"/>
              </a:rPr>
              <a:t> </a:t>
            </a:r>
            <a:r>
              <a:rPr sz="2400" spc="10" dirty="0">
                <a:solidFill>
                  <a:srgbClr val="616161"/>
                </a:solidFill>
                <a:latin typeface="Trebuchet MS"/>
                <a:cs typeface="Trebuchet MS"/>
              </a:rPr>
              <a:t>Prove</a:t>
            </a:r>
            <a:r>
              <a:rPr sz="2400" spc="-105" dirty="0">
                <a:solidFill>
                  <a:srgbClr val="616161"/>
                </a:solidFill>
                <a:latin typeface="Trebuchet MS"/>
                <a:cs typeface="Trebuchet MS"/>
              </a:rPr>
              <a:t> </a:t>
            </a:r>
            <a:r>
              <a:rPr sz="2400" spc="-85" dirty="0">
                <a:solidFill>
                  <a:srgbClr val="616161"/>
                </a:solidFill>
                <a:latin typeface="Trebuchet MS"/>
                <a:cs typeface="Trebuchet MS"/>
              </a:rPr>
              <a:t>its</a:t>
            </a:r>
            <a:r>
              <a:rPr sz="2400" spc="-105" dirty="0">
                <a:solidFill>
                  <a:srgbClr val="616161"/>
                </a:solidFill>
                <a:latin typeface="Trebuchet MS"/>
                <a:cs typeface="Trebuchet MS"/>
              </a:rPr>
              <a:t> </a:t>
            </a:r>
            <a:r>
              <a:rPr sz="2400" spc="-20" dirty="0">
                <a:solidFill>
                  <a:srgbClr val="616161"/>
                </a:solidFill>
                <a:latin typeface="Trebuchet MS"/>
                <a:cs typeface="Trebuchet MS"/>
              </a:rPr>
              <a:t>100x</a:t>
            </a:r>
            <a:r>
              <a:rPr sz="2400" spc="-105" dirty="0">
                <a:solidFill>
                  <a:srgbClr val="616161"/>
                </a:solidFill>
                <a:latin typeface="Trebuchet MS"/>
                <a:cs typeface="Trebuchet MS"/>
              </a:rPr>
              <a:t> </a:t>
            </a:r>
            <a:r>
              <a:rPr sz="2400" spc="-70" dirty="0">
                <a:solidFill>
                  <a:srgbClr val="616161"/>
                </a:solidFill>
                <a:latin typeface="Trebuchet MS"/>
                <a:cs typeface="Trebuchet MS"/>
              </a:rPr>
              <a:t>faster</a:t>
            </a:r>
            <a:r>
              <a:rPr sz="2400" spc="-105" dirty="0">
                <a:solidFill>
                  <a:srgbClr val="616161"/>
                </a:solidFill>
                <a:latin typeface="Trebuchet MS"/>
                <a:cs typeface="Trebuchet MS"/>
              </a:rPr>
              <a:t> </a:t>
            </a:r>
            <a:r>
              <a:rPr sz="2400" spc="-55" dirty="0">
                <a:solidFill>
                  <a:srgbClr val="616161"/>
                </a:solidFill>
                <a:latin typeface="Trebuchet MS"/>
                <a:cs typeface="Trebuchet MS"/>
              </a:rPr>
              <a:t>than</a:t>
            </a:r>
            <a:r>
              <a:rPr sz="2400" spc="-105" dirty="0">
                <a:solidFill>
                  <a:srgbClr val="616161"/>
                </a:solidFill>
                <a:latin typeface="Trebuchet MS"/>
                <a:cs typeface="Trebuchet MS"/>
              </a:rPr>
              <a:t> </a:t>
            </a:r>
            <a:r>
              <a:rPr sz="2400" spc="55" dirty="0">
                <a:solidFill>
                  <a:srgbClr val="616161"/>
                </a:solidFill>
                <a:latin typeface="Trebuchet MS"/>
                <a:cs typeface="Trebuchet MS"/>
              </a:rPr>
              <a:t>Hadoop  </a:t>
            </a:r>
            <a:r>
              <a:rPr sz="2400" spc="20" dirty="0">
                <a:solidFill>
                  <a:srgbClr val="616161"/>
                </a:solidFill>
                <a:latin typeface="Trebuchet MS"/>
                <a:cs typeface="Trebuchet MS"/>
              </a:rPr>
              <a:t>Step</a:t>
            </a:r>
            <a:r>
              <a:rPr sz="2400" spc="-105" dirty="0">
                <a:solidFill>
                  <a:srgbClr val="616161"/>
                </a:solidFill>
                <a:latin typeface="Trebuchet MS"/>
                <a:cs typeface="Trebuchet MS"/>
              </a:rPr>
              <a:t> </a:t>
            </a:r>
            <a:r>
              <a:rPr sz="2400" spc="-130" dirty="0">
                <a:solidFill>
                  <a:srgbClr val="616161"/>
                </a:solidFill>
                <a:latin typeface="Trebuchet MS"/>
                <a:cs typeface="Trebuchet MS"/>
              </a:rPr>
              <a:t>3.</a:t>
            </a:r>
            <a:r>
              <a:rPr sz="2400" spc="-105" dirty="0">
                <a:solidFill>
                  <a:srgbClr val="616161"/>
                </a:solidFill>
                <a:latin typeface="Trebuchet MS"/>
                <a:cs typeface="Trebuchet MS"/>
              </a:rPr>
              <a:t> </a:t>
            </a:r>
            <a:r>
              <a:rPr sz="2400" spc="225" dirty="0">
                <a:solidFill>
                  <a:srgbClr val="616161"/>
                </a:solidFill>
                <a:latin typeface="Trebuchet MS"/>
                <a:cs typeface="Trebuchet MS"/>
              </a:rPr>
              <a:t>???</a:t>
            </a:r>
            <a:endParaRPr sz="2400">
              <a:latin typeface="Trebuchet MS"/>
              <a:cs typeface="Trebuchet MS"/>
            </a:endParaRPr>
          </a:p>
          <a:p>
            <a:pPr marL="12700">
              <a:lnSpc>
                <a:spcPct val="100000"/>
              </a:lnSpc>
              <a:spcBef>
                <a:spcPts val="1995"/>
              </a:spcBef>
            </a:pPr>
            <a:r>
              <a:rPr sz="2400" spc="20" dirty="0">
                <a:solidFill>
                  <a:srgbClr val="616161"/>
                </a:solidFill>
                <a:latin typeface="Trebuchet MS"/>
                <a:cs typeface="Trebuchet MS"/>
              </a:rPr>
              <a:t>Step</a:t>
            </a:r>
            <a:r>
              <a:rPr sz="2400" spc="-105" dirty="0">
                <a:solidFill>
                  <a:srgbClr val="616161"/>
                </a:solidFill>
                <a:latin typeface="Trebuchet MS"/>
                <a:cs typeface="Trebuchet MS"/>
              </a:rPr>
              <a:t> </a:t>
            </a:r>
            <a:r>
              <a:rPr sz="2400" spc="-125" dirty="0">
                <a:solidFill>
                  <a:srgbClr val="616161"/>
                </a:solidFill>
                <a:latin typeface="Trebuchet MS"/>
                <a:cs typeface="Trebuchet MS"/>
              </a:rPr>
              <a:t>4.</a:t>
            </a:r>
            <a:r>
              <a:rPr sz="2400" spc="-105" dirty="0">
                <a:solidFill>
                  <a:srgbClr val="616161"/>
                </a:solidFill>
                <a:latin typeface="Trebuchet MS"/>
                <a:cs typeface="Trebuchet MS"/>
              </a:rPr>
              <a:t> </a:t>
            </a:r>
            <a:r>
              <a:rPr sz="2400" spc="-135" dirty="0">
                <a:solidFill>
                  <a:srgbClr val="616161"/>
                </a:solidFill>
                <a:latin typeface="Trebuchet MS"/>
                <a:cs typeface="Trebuchet MS"/>
              </a:rPr>
              <a:t>Profit!</a:t>
            </a:r>
            <a:endParaRPr sz="2400">
              <a:latin typeface="Trebuchet MS"/>
              <a:cs typeface="Trebuchet M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541270" cy="452120"/>
          </a:xfrm>
          <a:prstGeom prst="rect">
            <a:avLst/>
          </a:prstGeom>
        </p:spPr>
        <p:txBody>
          <a:bodyPr vert="horz" wrap="square" lIns="0" tIns="12700" rIns="0" bIns="0" rtlCol="0">
            <a:spAutoFit/>
          </a:bodyPr>
          <a:lstStyle/>
          <a:p>
            <a:pPr marL="12700">
              <a:lnSpc>
                <a:spcPct val="100000"/>
              </a:lnSpc>
              <a:spcBef>
                <a:spcPts val="100"/>
              </a:spcBef>
            </a:pPr>
            <a:r>
              <a:rPr sz="2800" spc="75" dirty="0">
                <a:solidFill>
                  <a:srgbClr val="202729"/>
                </a:solidFill>
              </a:rPr>
              <a:t>Hadoop</a:t>
            </a:r>
            <a:r>
              <a:rPr sz="2800" spc="-125" dirty="0">
                <a:solidFill>
                  <a:srgbClr val="202729"/>
                </a:solidFill>
              </a:rPr>
              <a:t> </a:t>
            </a:r>
            <a:r>
              <a:rPr sz="2800" spc="-75" dirty="0">
                <a:solidFill>
                  <a:srgbClr val="202729"/>
                </a:solidFill>
              </a:rPr>
              <a:t>+</a:t>
            </a:r>
            <a:r>
              <a:rPr sz="2800" spc="-125" dirty="0">
                <a:solidFill>
                  <a:srgbClr val="202729"/>
                </a:solidFill>
              </a:rPr>
              <a:t> </a:t>
            </a:r>
            <a:r>
              <a:rPr sz="2800" spc="40" dirty="0">
                <a:solidFill>
                  <a:srgbClr val="202729"/>
                </a:solidFill>
              </a:rPr>
              <a:t>Spark</a:t>
            </a:r>
            <a:endParaRPr sz="2800"/>
          </a:p>
        </p:txBody>
      </p:sp>
      <p:sp>
        <p:nvSpPr>
          <p:cNvPr id="3" name="object 3"/>
          <p:cNvSpPr txBox="1"/>
          <p:nvPr/>
        </p:nvSpPr>
        <p:spPr>
          <a:xfrm>
            <a:off x="384725" y="1216355"/>
            <a:ext cx="6272530" cy="3147695"/>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616161"/>
                </a:solidFill>
                <a:latin typeface="Trebuchet MS"/>
                <a:cs typeface="Trebuchet MS"/>
              </a:rPr>
              <a:t>Spark</a:t>
            </a:r>
            <a:r>
              <a:rPr sz="1800" spc="-105" dirty="0">
                <a:solidFill>
                  <a:srgbClr val="616161"/>
                </a:solidFill>
                <a:latin typeface="Trebuchet MS"/>
                <a:cs typeface="Trebuchet MS"/>
              </a:rPr>
              <a:t> </a:t>
            </a:r>
            <a:r>
              <a:rPr sz="1800" spc="35" dirty="0">
                <a:solidFill>
                  <a:srgbClr val="616161"/>
                </a:solidFill>
                <a:latin typeface="Trebuchet MS"/>
                <a:cs typeface="Trebuchet MS"/>
              </a:rPr>
              <a:t>on</a:t>
            </a:r>
            <a:r>
              <a:rPr sz="1800" spc="-105" dirty="0">
                <a:solidFill>
                  <a:srgbClr val="616161"/>
                </a:solidFill>
                <a:latin typeface="Trebuchet MS"/>
                <a:cs typeface="Trebuchet MS"/>
              </a:rPr>
              <a:t> </a:t>
            </a:r>
            <a:r>
              <a:rPr sz="1800" spc="120" dirty="0">
                <a:solidFill>
                  <a:srgbClr val="616161"/>
                </a:solidFill>
                <a:latin typeface="Trebuchet MS"/>
                <a:cs typeface="Trebuchet MS"/>
              </a:rPr>
              <a:t>HDFS</a:t>
            </a:r>
            <a:endParaRPr sz="1800">
              <a:latin typeface="Trebuchet MS"/>
              <a:cs typeface="Trebuchet MS"/>
            </a:endParaRPr>
          </a:p>
          <a:p>
            <a:pPr marL="12700">
              <a:lnSpc>
                <a:spcPct val="100000"/>
              </a:lnSpc>
              <a:spcBef>
                <a:spcPts val="1889"/>
              </a:spcBef>
            </a:pPr>
            <a:r>
              <a:rPr sz="1800" spc="-30" dirty="0">
                <a:solidFill>
                  <a:srgbClr val="616161"/>
                </a:solidFill>
                <a:latin typeface="Trebuchet MS"/>
                <a:cs typeface="Trebuchet MS"/>
              </a:rPr>
              <a:t>What</a:t>
            </a:r>
            <a:r>
              <a:rPr sz="1800" spc="-80" dirty="0">
                <a:solidFill>
                  <a:srgbClr val="616161"/>
                </a:solidFill>
                <a:latin typeface="Trebuchet MS"/>
                <a:cs typeface="Trebuchet MS"/>
              </a:rPr>
              <a:t> </a:t>
            </a:r>
            <a:r>
              <a:rPr sz="1800" dirty="0">
                <a:solidFill>
                  <a:srgbClr val="616161"/>
                </a:solidFill>
                <a:latin typeface="Trebuchet MS"/>
                <a:cs typeface="Trebuchet MS"/>
              </a:rPr>
              <a:t>can</a:t>
            </a:r>
            <a:r>
              <a:rPr sz="1800" spc="-80" dirty="0">
                <a:solidFill>
                  <a:srgbClr val="616161"/>
                </a:solidFill>
                <a:latin typeface="Trebuchet MS"/>
                <a:cs typeface="Trebuchet MS"/>
              </a:rPr>
              <a:t> </a:t>
            </a:r>
            <a:r>
              <a:rPr sz="1800" spc="-40" dirty="0">
                <a:solidFill>
                  <a:srgbClr val="616161"/>
                </a:solidFill>
                <a:latin typeface="Trebuchet MS"/>
                <a:cs typeface="Trebuchet MS"/>
              </a:rPr>
              <a:t>they</a:t>
            </a:r>
            <a:r>
              <a:rPr sz="1800" spc="-80" dirty="0">
                <a:solidFill>
                  <a:srgbClr val="616161"/>
                </a:solidFill>
                <a:latin typeface="Trebuchet MS"/>
                <a:cs typeface="Trebuchet MS"/>
              </a:rPr>
              <a:t> </a:t>
            </a:r>
            <a:r>
              <a:rPr sz="1800" spc="-10" dirty="0">
                <a:solidFill>
                  <a:srgbClr val="616161"/>
                </a:solidFill>
                <a:latin typeface="Trebuchet MS"/>
                <a:cs typeface="Trebuchet MS"/>
              </a:rPr>
              <a:t>bring</a:t>
            </a:r>
            <a:r>
              <a:rPr sz="1800" spc="-80" dirty="0">
                <a:solidFill>
                  <a:srgbClr val="616161"/>
                </a:solidFill>
                <a:latin typeface="Trebuchet MS"/>
                <a:cs typeface="Trebuchet MS"/>
              </a:rPr>
              <a:t> </a:t>
            </a:r>
            <a:r>
              <a:rPr sz="1800" spc="-65" dirty="0">
                <a:solidFill>
                  <a:srgbClr val="616161"/>
                </a:solidFill>
                <a:latin typeface="Trebuchet MS"/>
                <a:cs typeface="Trebuchet MS"/>
              </a:rPr>
              <a:t>to</a:t>
            </a:r>
            <a:r>
              <a:rPr sz="1800" spc="-80" dirty="0">
                <a:solidFill>
                  <a:srgbClr val="616161"/>
                </a:solidFill>
                <a:latin typeface="Trebuchet MS"/>
                <a:cs typeface="Trebuchet MS"/>
              </a:rPr>
              <a:t> </a:t>
            </a:r>
            <a:r>
              <a:rPr sz="1800" spc="-50" dirty="0">
                <a:solidFill>
                  <a:srgbClr val="616161"/>
                </a:solidFill>
                <a:latin typeface="Trebuchet MS"/>
                <a:cs typeface="Trebuchet MS"/>
              </a:rPr>
              <a:t>the</a:t>
            </a:r>
            <a:r>
              <a:rPr sz="1800" spc="-80" dirty="0">
                <a:solidFill>
                  <a:srgbClr val="616161"/>
                </a:solidFill>
                <a:latin typeface="Trebuchet MS"/>
                <a:cs typeface="Trebuchet MS"/>
              </a:rPr>
              <a:t> </a:t>
            </a:r>
            <a:r>
              <a:rPr sz="1800" spc="-50" dirty="0">
                <a:solidFill>
                  <a:srgbClr val="616161"/>
                </a:solidFill>
                <a:latin typeface="Trebuchet MS"/>
                <a:cs typeface="Trebuchet MS"/>
              </a:rPr>
              <a:t>table</a:t>
            </a:r>
            <a:r>
              <a:rPr sz="1800" spc="-80" dirty="0">
                <a:solidFill>
                  <a:srgbClr val="616161"/>
                </a:solidFill>
                <a:latin typeface="Trebuchet MS"/>
                <a:cs typeface="Trebuchet MS"/>
              </a:rPr>
              <a:t> </a:t>
            </a:r>
            <a:r>
              <a:rPr sz="1800" spc="-70" dirty="0">
                <a:solidFill>
                  <a:srgbClr val="616161"/>
                </a:solidFill>
                <a:latin typeface="Trebuchet MS"/>
                <a:cs typeface="Trebuchet MS"/>
              </a:rPr>
              <a:t>for</a:t>
            </a:r>
            <a:r>
              <a:rPr sz="1800" spc="-80" dirty="0">
                <a:solidFill>
                  <a:srgbClr val="616161"/>
                </a:solidFill>
                <a:latin typeface="Trebuchet MS"/>
                <a:cs typeface="Trebuchet MS"/>
              </a:rPr>
              <a:t> </a:t>
            </a:r>
            <a:r>
              <a:rPr sz="1800" spc="10" dirty="0">
                <a:solidFill>
                  <a:srgbClr val="616161"/>
                </a:solidFill>
                <a:latin typeface="Trebuchet MS"/>
                <a:cs typeface="Trebuchet MS"/>
              </a:rPr>
              <a:t>each</a:t>
            </a:r>
            <a:r>
              <a:rPr sz="1800" spc="-80" dirty="0">
                <a:solidFill>
                  <a:srgbClr val="616161"/>
                </a:solidFill>
                <a:latin typeface="Trebuchet MS"/>
                <a:cs typeface="Trebuchet MS"/>
              </a:rPr>
              <a:t> </a:t>
            </a:r>
            <a:r>
              <a:rPr sz="1800" spc="-5" dirty="0">
                <a:solidFill>
                  <a:srgbClr val="616161"/>
                </a:solidFill>
                <a:latin typeface="Trebuchet MS"/>
                <a:cs typeface="Trebuchet MS"/>
              </a:rPr>
              <a:t>other?</a:t>
            </a:r>
            <a:endParaRPr sz="1800">
              <a:latin typeface="Trebuchet MS"/>
              <a:cs typeface="Trebuchet MS"/>
            </a:endParaRPr>
          </a:p>
          <a:p>
            <a:pPr marL="469900" indent="-367030">
              <a:lnSpc>
                <a:spcPct val="100000"/>
              </a:lnSpc>
              <a:spcBef>
                <a:spcPts val="1889"/>
              </a:spcBef>
              <a:buFont typeface="Arial MT"/>
              <a:buChar char="●"/>
              <a:tabLst>
                <a:tab pos="469265" algn="l"/>
                <a:tab pos="469900" algn="l"/>
              </a:tabLst>
            </a:pPr>
            <a:r>
              <a:rPr sz="1800" b="1" spc="20" dirty="0">
                <a:solidFill>
                  <a:srgbClr val="616161"/>
                </a:solidFill>
                <a:latin typeface="Trebuchet MS"/>
                <a:cs typeface="Trebuchet MS"/>
              </a:rPr>
              <a:t>Hadoop</a:t>
            </a:r>
            <a:endParaRPr sz="1800">
              <a:latin typeface="Trebuchet MS"/>
              <a:cs typeface="Trebuchet MS"/>
            </a:endParaRPr>
          </a:p>
          <a:p>
            <a:pPr marL="927100" lvl="1" indent="-336550">
              <a:lnSpc>
                <a:spcPct val="100000"/>
              </a:lnSpc>
              <a:spcBef>
                <a:spcPts val="330"/>
              </a:spcBef>
              <a:buFont typeface="Arial MT"/>
              <a:buChar char="○"/>
              <a:tabLst>
                <a:tab pos="926465" algn="l"/>
                <a:tab pos="927100" algn="l"/>
              </a:tabLst>
            </a:pPr>
            <a:r>
              <a:rPr sz="1400" spc="50" dirty="0">
                <a:solidFill>
                  <a:srgbClr val="616161"/>
                </a:solidFill>
                <a:latin typeface="Trebuchet MS"/>
                <a:cs typeface="Trebuchet MS"/>
              </a:rPr>
              <a:t>Huge</a:t>
            </a:r>
            <a:r>
              <a:rPr sz="1400" spc="-70" dirty="0">
                <a:solidFill>
                  <a:srgbClr val="616161"/>
                </a:solidFill>
                <a:latin typeface="Trebuchet MS"/>
                <a:cs typeface="Trebuchet MS"/>
              </a:rPr>
              <a:t> </a:t>
            </a:r>
            <a:r>
              <a:rPr sz="1400" dirty="0">
                <a:solidFill>
                  <a:srgbClr val="616161"/>
                </a:solidFill>
                <a:latin typeface="Trebuchet MS"/>
                <a:cs typeface="Trebuchet MS"/>
              </a:rPr>
              <a:t>Datasets</a:t>
            </a:r>
            <a:r>
              <a:rPr sz="1400" spc="-65" dirty="0">
                <a:solidFill>
                  <a:srgbClr val="616161"/>
                </a:solidFill>
                <a:latin typeface="Trebuchet MS"/>
                <a:cs typeface="Trebuchet MS"/>
              </a:rPr>
              <a:t> </a:t>
            </a:r>
            <a:r>
              <a:rPr sz="1400" spc="-5" dirty="0">
                <a:solidFill>
                  <a:srgbClr val="616161"/>
                </a:solidFill>
                <a:latin typeface="Trebuchet MS"/>
                <a:cs typeface="Trebuchet MS"/>
              </a:rPr>
              <a:t>under</a:t>
            </a:r>
            <a:r>
              <a:rPr sz="1400" spc="-65" dirty="0">
                <a:solidFill>
                  <a:srgbClr val="616161"/>
                </a:solidFill>
                <a:latin typeface="Trebuchet MS"/>
                <a:cs typeface="Trebuchet MS"/>
              </a:rPr>
              <a:t> </a:t>
            </a:r>
            <a:r>
              <a:rPr sz="1400" spc="-35" dirty="0">
                <a:solidFill>
                  <a:srgbClr val="616161"/>
                </a:solidFill>
                <a:latin typeface="Trebuchet MS"/>
                <a:cs typeface="Trebuchet MS"/>
              </a:rPr>
              <a:t>control</a:t>
            </a:r>
            <a:r>
              <a:rPr sz="1400" spc="-65" dirty="0">
                <a:solidFill>
                  <a:srgbClr val="616161"/>
                </a:solidFill>
                <a:latin typeface="Trebuchet MS"/>
                <a:cs typeface="Trebuchet MS"/>
              </a:rPr>
              <a:t> </a:t>
            </a:r>
            <a:r>
              <a:rPr sz="1400" spc="10" dirty="0">
                <a:solidFill>
                  <a:srgbClr val="616161"/>
                </a:solidFill>
                <a:latin typeface="Trebuchet MS"/>
                <a:cs typeface="Trebuchet MS"/>
              </a:rPr>
              <a:t>by</a:t>
            </a:r>
            <a:r>
              <a:rPr sz="1400" spc="-65" dirty="0">
                <a:solidFill>
                  <a:srgbClr val="616161"/>
                </a:solidFill>
                <a:latin typeface="Trebuchet MS"/>
                <a:cs typeface="Trebuchet MS"/>
              </a:rPr>
              <a:t> </a:t>
            </a:r>
            <a:r>
              <a:rPr sz="1400" spc="-20" dirty="0">
                <a:solidFill>
                  <a:srgbClr val="616161"/>
                </a:solidFill>
                <a:latin typeface="Trebuchet MS"/>
                <a:cs typeface="Trebuchet MS"/>
              </a:rPr>
              <a:t>commodity</a:t>
            </a:r>
            <a:r>
              <a:rPr sz="1400" spc="-65" dirty="0">
                <a:solidFill>
                  <a:srgbClr val="616161"/>
                </a:solidFill>
                <a:latin typeface="Trebuchet MS"/>
                <a:cs typeface="Trebuchet MS"/>
              </a:rPr>
              <a:t> </a:t>
            </a:r>
            <a:r>
              <a:rPr sz="1400" spc="-35" dirty="0">
                <a:solidFill>
                  <a:srgbClr val="616161"/>
                </a:solidFill>
                <a:latin typeface="Trebuchet MS"/>
                <a:cs typeface="Trebuchet MS"/>
              </a:rPr>
              <a:t>hardware.</a:t>
            </a:r>
            <a:endParaRPr sz="1400">
              <a:latin typeface="Trebuchet MS"/>
              <a:cs typeface="Trebuchet MS"/>
            </a:endParaRPr>
          </a:p>
          <a:p>
            <a:pPr marL="1384300" lvl="2" indent="-336550">
              <a:lnSpc>
                <a:spcPct val="100000"/>
              </a:lnSpc>
              <a:spcBef>
                <a:spcPts val="270"/>
              </a:spcBef>
              <a:buFont typeface="Arial MT"/>
              <a:buChar char="■"/>
              <a:tabLst>
                <a:tab pos="1383665" algn="l"/>
                <a:tab pos="1384300" algn="l"/>
              </a:tabLst>
            </a:pPr>
            <a:r>
              <a:rPr sz="1400" spc="10" dirty="0">
                <a:solidFill>
                  <a:srgbClr val="616161"/>
                </a:solidFill>
                <a:latin typeface="Trebuchet MS"/>
                <a:cs typeface="Trebuchet MS"/>
              </a:rPr>
              <a:t>Low</a:t>
            </a:r>
            <a:r>
              <a:rPr sz="1400" spc="-85" dirty="0">
                <a:solidFill>
                  <a:srgbClr val="616161"/>
                </a:solidFill>
                <a:latin typeface="Trebuchet MS"/>
                <a:cs typeface="Trebuchet MS"/>
              </a:rPr>
              <a:t> </a:t>
            </a:r>
            <a:r>
              <a:rPr sz="1400" spc="-5" dirty="0">
                <a:solidFill>
                  <a:srgbClr val="616161"/>
                </a:solidFill>
                <a:latin typeface="Trebuchet MS"/>
                <a:cs typeface="Trebuchet MS"/>
              </a:rPr>
              <a:t>cost</a:t>
            </a:r>
            <a:r>
              <a:rPr sz="1400" spc="-80" dirty="0">
                <a:solidFill>
                  <a:srgbClr val="616161"/>
                </a:solidFill>
                <a:latin typeface="Trebuchet MS"/>
                <a:cs typeface="Trebuchet MS"/>
              </a:rPr>
              <a:t> </a:t>
            </a:r>
            <a:r>
              <a:rPr sz="1400" spc="-10" dirty="0">
                <a:solidFill>
                  <a:srgbClr val="616161"/>
                </a:solidFill>
                <a:latin typeface="Trebuchet MS"/>
                <a:cs typeface="Trebuchet MS"/>
              </a:rPr>
              <a:t>operations</a:t>
            </a:r>
            <a:endParaRPr sz="1400">
              <a:latin typeface="Trebuchet MS"/>
              <a:cs typeface="Trebuchet MS"/>
            </a:endParaRPr>
          </a:p>
          <a:p>
            <a:pPr marL="469900" indent="-367030">
              <a:lnSpc>
                <a:spcPct val="100000"/>
              </a:lnSpc>
              <a:spcBef>
                <a:spcPts val="254"/>
              </a:spcBef>
              <a:buFont typeface="Arial"/>
              <a:buChar char="●"/>
              <a:tabLst>
                <a:tab pos="469265" algn="l"/>
                <a:tab pos="469900" algn="l"/>
              </a:tabLst>
            </a:pPr>
            <a:r>
              <a:rPr sz="1800" b="1" spc="5" dirty="0">
                <a:solidFill>
                  <a:srgbClr val="616161"/>
                </a:solidFill>
                <a:latin typeface="Trebuchet MS"/>
                <a:cs typeface="Trebuchet MS"/>
              </a:rPr>
              <a:t>Spark</a:t>
            </a:r>
            <a:endParaRPr sz="1800">
              <a:latin typeface="Trebuchet MS"/>
              <a:cs typeface="Trebuchet MS"/>
            </a:endParaRPr>
          </a:p>
          <a:p>
            <a:pPr marL="927100" lvl="1" indent="-336550">
              <a:lnSpc>
                <a:spcPct val="100000"/>
              </a:lnSpc>
              <a:spcBef>
                <a:spcPts val="330"/>
              </a:spcBef>
              <a:buFont typeface="Arial MT"/>
              <a:buChar char="○"/>
              <a:tabLst>
                <a:tab pos="926465" algn="l"/>
                <a:tab pos="927100" algn="l"/>
              </a:tabLst>
            </a:pPr>
            <a:r>
              <a:rPr sz="1400" spc="-60" dirty="0">
                <a:solidFill>
                  <a:srgbClr val="616161"/>
                </a:solidFill>
                <a:latin typeface="Trebuchet MS"/>
                <a:cs typeface="Trebuchet MS"/>
              </a:rPr>
              <a:t>Real-time,</a:t>
            </a:r>
            <a:r>
              <a:rPr sz="1400" spc="-65" dirty="0">
                <a:solidFill>
                  <a:srgbClr val="616161"/>
                </a:solidFill>
                <a:latin typeface="Trebuchet MS"/>
                <a:cs typeface="Trebuchet MS"/>
              </a:rPr>
              <a:t> </a:t>
            </a:r>
            <a:r>
              <a:rPr sz="1400" spc="-30" dirty="0">
                <a:solidFill>
                  <a:srgbClr val="616161"/>
                </a:solidFill>
                <a:latin typeface="Trebuchet MS"/>
                <a:cs typeface="Trebuchet MS"/>
              </a:rPr>
              <a:t>in-memory</a:t>
            </a:r>
            <a:r>
              <a:rPr sz="1400" spc="-60" dirty="0">
                <a:solidFill>
                  <a:srgbClr val="616161"/>
                </a:solidFill>
                <a:latin typeface="Trebuchet MS"/>
                <a:cs typeface="Trebuchet MS"/>
              </a:rPr>
              <a:t> </a:t>
            </a:r>
            <a:r>
              <a:rPr sz="1400" spc="20" dirty="0">
                <a:solidFill>
                  <a:srgbClr val="616161"/>
                </a:solidFill>
                <a:latin typeface="Trebuchet MS"/>
                <a:cs typeface="Trebuchet MS"/>
              </a:rPr>
              <a:t>processing</a:t>
            </a:r>
            <a:r>
              <a:rPr sz="1400" spc="-65" dirty="0">
                <a:solidFill>
                  <a:srgbClr val="616161"/>
                </a:solidFill>
                <a:latin typeface="Trebuchet MS"/>
                <a:cs typeface="Trebuchet MS"/>
              </a:rPr>
              <a:t> </a:t>
            </a:r>
            <a:r>
              <a:rPr sz="1400" spc="-55" dirty="0">
                <a:solidFill>
                  <a:srgbClr val="616161"/>
                </a:solidFill>
                <a:latin typeface="Trebuchet MS"/>
                <a:cs typeface="Trebuchet MS"/>
              </a:rPr>
              <a:t>for</a:t>
            </a:r>
            <a:r>
              <a:rPr sz="1400" spc="-60" dirty="0">
                <a:solidFill>
                  <a:srgbClr val="616161"/>
                </a:solidFill>
                <a:latin typeface="Trebuchet MS"/>
                <a:cs typeface="Trebuchet MS"/>
              </a:rPr>
              <a:t> </a:t>
            </a:r>
            <a:r>
              <a:rPr sz="1400" dirty="0">
                <a:solidFill>
                  <a:srgbClr val="616161"/>
                </a:solidFill>
                <a:latin typeface="Trebuchet MS"/>
                <a:cs typeface="Trebuchet MS"/>
              </a:rPr>
              <a:t>those</a:t>
            </a:r>
            <a:r>
              <a:rPr sz="1400" spc="-65" dirty="0">
                <a:solidFill>
                  <a:srgbClr val="616161"/>
                </a:solidFill>
                <a:latin typeface="Trebuchet MS"/>
                <a:cs typeface="Trebuchet MS"/>
              </a:rPr>
              <a:t> </a:t>
            </a:r>
            <a:r>
              <a:rPr sz="1400" spc="-30" dirty="0">
                <a:solidFill>
                  <a:srgbClr val="616161"/>
                </a:solidFill>
                <a:latin typeface="Trebuchet MS"/>
                <a:cs typeface="Trebuchet MS"/>
              </a:rPr>
              <a:t>data</a:t>
            </a:r>
            <a:r>
              <a:rPr sz="1400" spc="-60" dirty="0">
                <a:solidFill>
                  <a:srgbClr val="616161"/>
                </a:solidFill>
                <a:latin typeface="Trebuchet MS"/>
                <a:cs typeface="Trebuchet MS"/>
              </a:rPr>
              <a:t> </a:t>
            </a:r>
            <a:r>
              <a:rPr sz="1400" spc="-30" dirty="0">
                <a:solidFill>
                  <a:srgbClr val="616161"/>
                </a:solidFill>
                <a:latin typeface="Trebuchet MS"/>
                <a:cs typeface="Trebuchet MS"/>
              </a:rPr>
              <a:t>sets.</a:t>
            </a:r>
            <a:endParaRPr sz="1400">
              <a:latin typeface="Trebuchet MS"/>
              <a:cs typeface="Trebuchet MS"/>
            </a:endParaRPr>
          </a:p>
          <a:p>
            <a:pPr marL="1384300" lvl="2" indent="-336550">
              <a:lnSpc>
                <a:spcPct val="100000"/>
              </a:lnSpc>
              <a:spcBef>
                <a:spcPts val="270"/>
              </a:spcBef>
              <a:buFont typeface="Arial MT"/>
              <a:buChar char="■"/>
              <a:tabLst>
                <a:tab pos="1383665" algn="l"/>
                <a:tab pos="1384300" algn="l"/>
              </a:tabLst>
            </a:pPr>
            <a:r>
              <a:rPr sz="1400" spc="-5" dirty="0">
                <a:solidFill>
                  <a:srgbClr val="616161"/>
                </a:solidFill>
                <a:latin typeface="Trebuchet MS"/>
                <a:cs typeface="Trebuchet MS"/>
              </a:rPr>
              <a:t>High-speed,</a:t>
            </a:r>
            <a:r>
              <a:rPr sz="1400" spc="-60" dirty="0">
                <a:solidFill>
                  <a:srgbClr val="616161"/>
                </a:solidFill>
                <a:latin typeface="Trebuchet MS"/>
                <a:cs typeface="Trebuchet MS"/>
              </a:rPr>
              <a:t> </a:t>
            </a:r>
            <a:r>
              <a:rPr sz="1400" spc="10" dirty="0">
                <a:solidFill>
                  <a:srgbClr val="616161"/>
                </a:solidFill>
                <a:latin typeface="Trebuchet MS"/>
                <a:cs typeface="Trebuchet MS"/>
              </a:rPr>
              <a:t>advanced</a:t>
            </a:r>
            <a:r>
              <a:rPr sz="1400" spc="-55" dirty="0">
                <a:solidFill>
                  <a:srgbClr val="616161"/>
                </a:solidFill>
                <a:latin typeface="Trebuchet MS"/>
                <a:cs typeface="Trebuchet MS"/>
              </a:rPr>
              <a:t> </a:t>
            </a:r>
            <a:r>
              <a:rPr sz="1400" spc="-30" dirty="0">
                <a:solidFill>
                  <a:srgbClr val="616161"/>
                </a:solidFill>
                <a:latin typeface="Trebuchet MS"/>
                <a:cs typeface="Trebuchet MS"/>
              </a:rPr>
              <a:t>analytics</a:t>
            </a:r>
            <a:r>
              <a:rPr sz="1400" spc="-55" dirty="0">
                <a:solidFill>
                  <a:srgbClr val="616161"/>
                </a:solidFill>
                <a:latin typeface="Trebuchet MS"/>
                <a:cs typeface="Trebuchet MS"/>
              </a:rPr>
              <a:t> </a:t>
            </a:r>
            <a:r>
              <a:rPr sz="1400" spc="-50" dirty="0">
                <a:solidFill>
                  <a:srgbClr val="616161"/>
                </a:solidFill>
                <a:latin typeface="Trebuchet MS"/>
                <a:cs typeface="Trebuchet MS"/>
              </a:rPr>
              <a:t>to</a:t>
            </a:r>
            <a:r>
              <a:rPr sz="1400" spc="-55" dirty="0">
                <a:solidFill>
                  <a:srgbClr val="616161"/>
                </a:solidFill>
                <a:latin typeface="Trebuchet MS"/>
                <a:cs typeface="Trebuchet MS"/>
              </a:rPr>
              <a:t> </a:t>
            </a:r>
            <a:r>
              <a:rPr sz="1400" dirty="0">
                <a:solidFill>
                  <a:srgbClr val="616161"/>
                </a:solidFill>
                <a:latin typeface="Trebuchet MS"/>
                <a:cs typeface="Trebuchet MS"/>
              </a:rPr>
              <a:t>a</a:t>
            </a:r>
            <a:r>
              <a:rPr sz="1400" spc="-55" dirty="0">
                <a:solidFill>
                  <a:srgbClr val="616161"/>
                </a:solidFill>
                <a:latin typeface="Trebuchet MS"/>
                <a:cs typeface="Trebuchet MS"/>
              </a:rPr>
              <a:t> multiple </a:t>
            </a:r>
            <a:r>
              <a:rPr sz="1400" spc="10" dirty="0">
                <a:solidFill>
                  <a:srgbClr val="616161"/>
                </a:solidFill>
                <a:latin typeface="Trebuchet MS"/>
                <a:cs typeface="Trebuchet MS"/>
              </a:rPr>
              <a:t>stage</a:t>
            </a:r>
            <a:r>
              <a:rPr sz="1400" spc="-55" dirty="0">
                <a:solidFill>
                  <a:srgbClr val="616161"/>
                </a:solidFill>
                <a:latin typeface="Trebuchet MS"/>
                <a:cs typeface="Trebuchet MS"/>
              </a:rPr>
              <a:t> </a:t>
            </a:r>
            <a:r>
              <a:rPr sz="1400" spc="-25" dirty="0">
                <a:solidFill>
                  <a:srgbClr val="616161"/>
                </a:solidFill>
                <a:latin typeface="Trebuchet MS"/>
                <a:cs typeface="Trebuchet MS"/>
              </a:rPr>
              <a:t>operations.</a:t>
            </a:r>
            <a:endParaRPr sz="1400">
              <a:latin typeface="Trebuchet MS"/>
              <a:cs typeface="Trebuchet MS"/>
            </a:endParaRPr>
          </a:p>
          <a:p>
            <a:pPr>
              <a:lnSpc>
                <a:spcPct val="100000"/>
              </a:lnSpc>
              <a:spcBef>
                <a:spcPts val="30"/>
              </a:spcBef>
            </a:pPr>
            <a:endParaRPr sz="1550">
              <a:latin typeface="Trebuchet MS"/>
              <a:cs typeface="Trebuchet MS"/>
            </a:endParaRPr>
          </a:p>
          <a:p>
            <a:pPr marL="12700">
              <a:lnSpc>
                <a:spcPct val="100000"/>
              </a:lnSpc>
            </a:pPr>
            <a:r>
              <a:rPr sz="1800" spc="25" dirty="0">
                <a:solidFill>
                  <a:srgbClr val="616161"/>
                </a:solidFill>
                <a:latin typeface="Trebuchet MS"/>
                <a:cs typeface="Trebuchet MS"/>
              </a:rPr>
              <a:t>Spark</a:t>
            </a:r>
            <a:r>
              <a:rPr sz="1800" spc="-80" dirty="0">
                <a:solidFill>
                  <a:srgbClr val="616161"/>
                </a:solidFill>
                <a:latin typeface="Trebuchet MS"/>
                <a:cs typeface="Trebuchet MS"/>
              </a:rPr>
              <a:t> </a:t>
            </a:r>
            <a:r>
              <a:rPr sz="1800" spc="-20" dirty="0">
                <a:solidFill>
                  <a:srgbClr val="616161"/>
                </a:solidFill>
                <a:latin typeface="Trebuchet MS"/>
                <a:cs typeface="Trebuchet MS"/>
              </a:rPr>
              <a:t>cannot</a:t>
            </a:r>
            <a:r>
              <a:rPr sz="1800" spc="-80" dirty="0">
                <a:solidFill>
                  <a:srgbClr val="616161"/>
                </a:solidFill>
                <a:latin typeface="Trebuchet MS"/>
                <a:cs typeface="Trebuchet MS"/>
              </a:rPr>
              <a:t> </a:t>
            </a:r>
            <a:r>
              <a:rPr sz="1800" spc="-55" dirty="0">
                <a:solidFill>
                  <a:srgbClr val="616161"/>
                </a:solidFill>
                <a:latin typeface="Trebuchet MS"/>
                <a:cs typeface="Trebuchet MS"/>
              </a:rPr>
              <a:t>yet</a:t>
            </a:r>
            <a:r>
              <a:rPr sz="1800" spc="-80" dirty="0">
                <a:solidFill>
                  <a:srgbClr val="616161"/>
                </a:solidFill>
                <a:latin typeface="Trebuchet MS"/>
                <a:cs typeface="Trebuchet MS"/>
              </a:rPr>
              <a:t> </a:t>
            </a:r>
            <a:r>
              <a:rPr sz="1800" spc="-35" dirty="0">
                <a:solidFill>
                  <a:srgbClr val="616161"/>
                </a:solidFill>
                <a:latin typeface="Trebuchet MS"/>
                <a:cs typeface="Trebuchet MS"/>
              </a:rPr>
              <a:t>completely</a:t>
            </a:r>
            <a:r>
              <a:rPr sz="1800" spc="-80" dirty="0">
                <a:solidFill>
                  <a:srgbClr val="616161"/>
                </a:solidFill>
                <a:latin typeface="Trebuchet MS"/>
                <a:cs typeface="Trebuchet MS"/>
              </a:rPr>
              <a:t> </a:t>
            </a:r>
            <a:r>
              <a:rPr sz="1800" spc="-20" dirty="0">
                <a:solidFill>
                  <a:srgbClr val="616161"/>
                </a:solidFill>
                <a:latin typeface="Trebuchet MS"/>
                <a:cs typeface="Trebuchet MS"/>
              </a:rPr>
              <a:t>replace</a:t>
            </a:r>
            <a:r>
              <a:rPr sz="1800" spc="-80" dirty="0">
                <a:solidFill>
                  <a:srgbClr val="616161"/>
                </a:solidFill>
                <a:latin typeface="Trebuchet MS"/>
                <a:cs typeface="Trebuchet MS"/>
              </a:rPr>
              <a:t> </a:t>
            </a:r>
            <a:r>
              <a:rPr sz="1800" spc="5" dirty="0">
                <a:solidFill>
                  <a:srgbClr val="616161"/>
                </a:solidFill>
                <a:latin typeface="Trebuchet MS"/>
                <a:cs typeface="Trebuchet MS"/>
              </a:rPr>
              <a:t>Hadoop.</a:t>
            </a:r>
            <a:endParaRPr sz="1800">
              <a:latin typeface="Trebuchet MS"/>
              <a:cs typeface="Trebuchet M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F54D30-93B3-2989-9538-51550330BBA6}"/>
              </a:ext>
            </a:extLst>
          </p:cNvPr>
          <p:cNvPicPr>
            <a:picLocks noChangeAspect="1"/>
          </p:cNvPicPr>
          <p:nvPr/>
        </p:nvPicPr>
        <p:blipFill>
          <a:blip r:embed="rId2"/>
          <a:stretch>
            <a:fillRect/>
          </a:stretch>
        </p:blipFill>
        <p:spPr>
          <a:xfrm>
            <a:off x="213704" y="1090406"/>
            <a:ext cx="8716591" cy="2962688"/>
          </a:xfrm>
          <a:prstGeom prst="rect">
            <a:avLst/>
          </a:prstGeom>
        </p:spPr>
      </p:pic>
    </p:spTree>
    <p:extLst>
      <p:ext uri="{BB962C8B-B14F-4D97-AF65-F5344CB8AC3E}">
        <p14:creationId xmlns:p14="http://schemas.microsoft.com/office/powerpoint/2010/main" val="35631632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7B35DE6-F7B0-5D12-5B74-C6F1B6AB14F7}"/>
              </a:ext>
            </a:extLst>
          </p:cNvPr>
          <p:cNvPicPr>
            <a:picLocks noChangeAspect="1"/>
          </p:cNvPicPr>
          <p:nvPr/>
        </p:nvPicPr>
        <p:blipFill>
          <a:blip r:embed="rId2"/>
          <a:stretch>
            <a:fillRect/>
          </a:stretch>
        </p:blipFill>
        <p:spPr>
          <a:xfrm>
            <a:off x="285152" y="857010"/>
            <a:ext cx="8573696" cy="3429479"/>
          </a:xfrm>
          <a:prstGeom prst="rect">
            <a:avLst/>
          </a:prstGeom>
        </p:spPr>
      </p:pic>
    </p:spTree>
    <p:extLst>
      <p:ext uri="{BB962C8B-B14F-4D97-AF65-F5344CB8AC3E}">
        <p14:creationId xmlns:p14="http://schemas.microsoft.com/office/powerpoint/2010/main" val="29521332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F7E451-8BAE-A18A-A15B-AAED1616C2C0}"/>
              </a:ext>
            </a:extLst>
          </p:cNvPr>
          <p:cNvPicPr>
            <a:picLocks noChangeAspect="1"/>
          </p:cNvPicPr>
          <p:nvPr/>
        </p:nvPicPr>
        <p:blipFill>
          <a:blip r:embed="rId2"/>
          <a:stretch>
            <a:fillRect/>
          </a:stretch>
        </p:blipFill>
        <p:spPr>
          <a:xfrm>
            <a:off x="213704" y="1352550"/>
            <a:ext cx="8716591" cy="2124371"/>
          </a:xfrm>
          <a:prstGeom prst="rect">
            <a:avLst/>
          </a:prstGeom>
        </p:spPr>
      </p:pic>
    </p:spTree>
    <p:extLst>
      <p:ext uri="{BB962C8B-B14F-4D97-AF65-F5344CB8AC3E}">
        <p14:creationId xmlns:p14="http://schemas.microsoft.com/office/powerpoint/2010/main" val="11247348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5249" y="1081100"/>
            <a:ext cx="2345055" cy="2482850"/>
          </a:xfrm>
          <a:prstGeom prst="rect">
            <a:avLst/>
          </a:prstGeom>
        </p:spPr>
        <p:txBody>
          <a:bodyPr vert="horz" wrap="square" lIns="0" tIns="147955" rIns="0" bIns="0" rtlCol="0">
            <a:spAutoFit/>
          </a:bodyPr>
          <a:lstStyle/>
          <a:p>
            <a:pPr marL="379095" indent="-367030">
              <a:lnSpc>
                <a:spcPct val="100000"/>
              </a:lnSpc>
              <a:spcBef>
                <a:spcPts val="1165"/>
              </a:spcBef>
              <a:buFont typeface="Arial MT"/>
              <a:buChar char="●"/>
              <a:tabLst>
                <a:tab pos="379095" algn="l"/>
                <a:tab pos="379730" algn="l"/>
              </a:tabLst>
            </a:pPr>
            <a:r>
              <a:rPr sz="1800" spc="25" dirty="0">
                <a:solidFill>
                  <a:srgbClr val="616161"/>
                </a:solidFill>
                <a:latin typeface="Trebuchet MS"/>
                <a:cs typeface="Trebuchet MS"/>
              </a:rPr>
              <a:t>Spark</a:t>
            </a:r>
            <a:r>
              <a:rPr sz="1800" spc="-110" dirty="0">
                <a:solidFill>
                  <a:srgbClr val="616161"/>
                </a:solidFill>
                <a:latin typeface="Trebuchet MS"/>
                <a:cs typeface="Trebuchet MS"/>
              </a:rPr>
              <a:t> </a:t>
            </a:r>
            <a:r>
              <a:rPr sz="1800" spc="-5" dirty="0">
                <a:solidFill>
                  <a:srgbClr val="616161"/>
                </a:solidFill>
                <a:latin typeface="Trebuchet MS"/>
                <a:cs typeface="Trebuchet MS"/>
              </a:rPr>
              <a:t>Overview</a:t>
            </a:r>
            <a:endParaRPr sz="1800">
              <a:latin typeface="Trebuchet MS"/>
              <a:cs typeface="Trebuchet MS"/>
            </a:endParaRPr>
          </a:p>
          <a:p>
            <a:pPr marL="379095" indent="-367030">
              <a:lnSpc>
                <a:spcPct val="100000"/>
              </a:lnSpc>
              <a:spcBef>
                <a:spcPts val="1065"/>
              </a:spcBef>
              <a:buFont typeface="Arial MT"/>
              <a:buChar char="●"/>
              <a:tabLst>
                <a:tab pos="379095" algn="l"/>
                <a:tab pos="379730" algn="l"/>
              </a:tabLst>
            </a:pPr>
            <a:r>
              <a:rPr sz="1800" spc="25" dirty="0">
                <a:solidFill>
                  <a:srgbClr val="616161"/>
                </a:solidFill>
                <a:latin typeface="Trebuchet MS"/>
                <a:cs typeface="Trebuchet MS"/>
              </a:rPr>
              <a:t>Spark</a:t>
            </a:r>
            <a:r>
              <a:rPr sz="1800" spc="-120" dirty="0">
                <a:solidFill>
                  <a:srgbClr val="616161"/>
                </a:solidFill>
                <a:latin typeface="Trebuchet MS"/>
                <a:cs typeface="Trebuchet MS"/>
              </a:rPr>
              <a:t> </a:t>
            </a:r>
            <a:r>
              <a:rPr sz="1800" spc="30" dirty="0">
                <a:solidFill>
                  <a:srgbClr val="616161"/>
                </a:solidFill>
                <a:latin typeface="Trebuchet MS"/>
                <a:cs typeface="Trebuchet MS"/>
              </a:rPr>
              <a:t>Core</a:t>
            </a:r>
            <a:endParaRPr sz="1800">
              <a:latin typeface="Trebuchet MS"/>
              <a:cs typeface="Trebuchet MS"/>
            </a:endParaRPr>
          </a:p>
          <a:p>
            <a:pPr marL="379095" indent="-367030">
              <a:lnSpc>
                <a:spcPct val="100000"/>
              </a:lnSpc>
              <a:spcBef>
                <a:spcPts val="1065"/>
              </a:spcBef>
              <a:buFont typeface="Arial MT"/>
              <a:buChar char="●"/>
              <a:tabLst>
                <a:tab pos="379095" algn="l"/>
                <a:tab pos="379730" algn="l"/>
              </a:tabLst>
            </a:pPr>
            <a:r>
              <a:rPr sz="1800" spc="-25" dirty="0">
                <a:solidFill>
                  <a:srgbClr val="616161"/>
                </a:solidFill>
                <a:latin typeface="Trebuchet MS"/>
                <a:cs typeface="Trebuchet MS"/>
              </a:rPr>
              <a:t>Related</a:t>
            </a:r>
            <a:r>
              <a:rPr sz="1800" spc="-80" dirty="0">
                <a:solidFill>
                  <a:srgbClr val="616161"/>
                </a:solidFill>
                <a:latin typeface="Trebuchet MS"/>
                <a:cs typeface="Trebuchet MS"/>
              </a:rPr>
              <a:t> </a:t>
            </a:r>
            <a:r>
              <a:rPr sz="1800" spc="-15" dirty="0">
                <a:solidFill>
                  <a:srgbClr val="616161"/>
                </a:solidFill>
                <a:latin typeface="Trebuchet MS"/>
                <a:cs typeface="Trebuchet MS"/>
              </a:rPr>
              <a:t>Framework</a:t>
            </a:r>
            <a:endParaRPr sz="1800">
              <a:latin typeface="Trebuchet MS"/>
              <a:cs typeface="Trebuchet MS"/>
            </a:endParaRPr>
          </a:p>
          <a:p>
            <a:pPr marL="379095" indent="-367030">
              <a:lnSpc>
                <a:spcPct val="100000"/>
              </a:lnSpc>
              <a:spcBef>
                <a:spcPts val="1065"/>
              </a:spcBef>
              <a:buFont typeface="Arial MT"/>
              <a:buChar char="●"/>
              <a:tabLst>
                <a:tab pos="379095" algn="l"/>
                <a:tab pos="379730" algn="l"/>
              </a:tabLst>
            </a:pPr>
            <a:r>
              <a:rPr sz="1800" spc="25" dirty="0">
                <a:solidFill>
                  <a:srgbClr val="616161"/>
                </a:solidFill>
                <a:latin typeface="Trebuchet MS"/>
                <a:cs typeface="Trebuchet MS"/>
              </a:rPr>
              <a:t>Spark</a:t>
            </a:r>
            <a:r>
              <a:rPr sz="1800" spc="-80" dirty="0">
                <a:solidFill>
                  <a:srgbClr val="616161"/>
                </a:solidFill>
                <a:latin typeface="Trebuchet MS"/>
                <a:cs typeface="Trebuchet MS"/>
              </a:rPr>
              <a:t> </a:t>
            </a:r>
            <a:r>
              <a:rPr sz="1800" spc="-50" dirty="0">
                <a:solidFill>
                  <a:srgbClr val="616161"/>
                </a:solidFill>
                <a:latin typeface="Trebuchet MS"/>
                <a:cs typeface="Trebuchet MS"/>
              </a:rPr>
              <a:t>vs.</a:t>
            </a:r>
            <a:r>
              <a:rPr sz="1800" spc="-80" dirty="0">
                <a:solidFill>
                  <a:srgbClr val="616161"/>
                </a:solidFill>
                <a:latin typeface="Trebuchet MS"/>
                <a:cs typeface="Trebuchet MS"/>
              </a:rPr>
              <a:t> </a:t>
            </a:r>
            <a:r>
              <a:rPr sz="1800" spc="45" dirty="0">
                <a:solidFill>
                  <a:srgbClr val="616161"/>
                </a:solidFill>
                <a:latin typeface="Trebuchet MS"/>
                <a:cs typeface="Trebuchet MS"/>
              </a:rPr>
              <a:t>Hadoop</a:t>
            </a:r>
            <a:endParaRPr sz="1800">
              <a:latin typeface="Trebuchet MS"/>
              <a:cs typeface="Trebuchet MS"/>
            </a:endParaRPr>
          </a:p>
          <a:p>
            <a:pPr marL="379095" indent="-367030">
              <a:lnSpc>
                <a:spcPct val="100000"/>
              </a:lnSpc>
              <a:spcBef>
                <a:spcPts val="1065"/>
              </a:spcBef>
              <a:buFont typeface="Arial"/>
              <a:buChar char="●"/>
              <a:tabLst>
                <a:tab pos="379095" algn="l"/>
                <a:tab pos="379730" algn="l"/>
              </a:tabLst>
            </a:pPr>
            <a:r>
              <a:rPr sz="1800" b="1" spc="5" dirty="0">
                <a:solidFill>
                  <a:srgbClr val="616161"/>
                </a:solidFill>
                <a:latin typeface="Trebuchet MS"/>
                <a:cs typeface="Trebuchet MS"/>
              </a:rPr>
              <a:t>Spark</a:t>
            </a:r>
            <a:r>
              <a:rPr sz="1800" b="1" spc="-110" dirty="0">
                <a:solidFill>
                  <a:srgbClr val="616161"/>
                </a:solidFill>
                <a:latin typeface="Trebuchet MS"/>
                <a:cs typeface="Trebuchet MS"/>
              </a:rPr>
              <a:t> </a:t>
            </a:r>
            <a:r>
              <a:rPr sz="1800" b="1" spc="45" dirty="0">
                <a:solidFill>
                  <a:srgbClr val="616161"/>
                </a:solidFill>
                <a:latin typeface="Trebuchet MS"/>
                <a:cs typeface="Trebuchet MS"/>
              </a:rPr>
              <a:t>Use</a:t>
            </a:r>
            <a:r>
              <a:rPr sz="1800" b="1" spc="-110" dirty="0">
                <a:solidFill>
                  <a:srgbClr val="616161"/>
                </a:solidFill>
                <a:latin typeface="Trebuchet MS"/>
                <a:cs typeface="Trebuchet MS"/>
              </a:rPr>
              <a:t> </a:t>
            </a:r>
            <a:r>
              <a:rPr sz="1800" b="1" spc="55" dirty="0">
                <a:solidFill>
                  <a:srgbClr val="616161"/>
                </a:solidFill>
                <a:latin typeface="Trebuchet MS"/>
                <a:cs typeface="Trebuchet MS"/>
              </a:rPr>
              <a:t>Cases</a:t>
            </a:r>
            <a:endParaRPr sz="1800">
              <a:latin typeface="Trebuchet MS"/>
              <a:cs typeface="Trebuchet MS"/>
            </a:endParaRPr>
          </a:p>
          <a:p>
            <a:pPr marL="379095" indent="-367030">
              <a:lnSpc>
                <a:spcPct val="100000"/>
              </a:lnSpc>
              <a:spcBef>
                <a:spcPts val="1065"/>
              </a:spcBef>
              <a:buFont typeface="Arial MT"/>
              <a:buChar char="●"/>
              <a:tabLst>
                <a:tab pos="379095" algn="l"/>
                <a:tab pos="379730" algn="l"/>
              </a:tabLst>
            </a:pPr>
            <a:r>
              <a:rPr sz="1800" spc="15" dirty="0">
                <a:solidFill>
                  <a:srgbClr val="616161"/>
                </a:solidFill>
                <a:latin typeface="Trebuchet MS"/>
                <a:cs typeface="Trebuchet MS"/>
              </a:rPr>
              <a:t>Deploying</a:t>
            </a:r>
            <a:r>
              <a:rPr sz="1800" spc="-105" dirty="0">
                <a:solidFill>
                  <a:srgbClr val="616161"/>
                </a:solidFill>
                <a:latin typeface="Trebuchet MS"/>
                <a:cs typeface="Trebuchet MS"/>
              </a:rPr>
              <a:t> </a:t>
            </a:r>
            <a:r>
              <a:rPr sz="1800" spc="25" dirty="0">
                <a:solidFill>
                  <a:srgbClr val="616161"/>
                </a:solidFill>
                <a:latin typeface="Trebuchet MS"/>
                <a:cs typeface="Trebuchet MS"/>
              </a:rPr>
              <a:t>Spark</a:t>
            </a:r>
            <a:endParaRPr sz="1800">
              <a:latin typeface="Trebuchet MS"/>
              <a:cs typeface="Trebuchet MS"/>
            </a:endParaRPr>
          </a:p>
        </p:txBody>
      </p:sp>
      <p:sp>
        <p:nvSpPr>
          <p:cNvPr id="3" name="object 3"/>
          <p:cNvSpPr txBox="1">
            <a:spLocks noGrp="1"/>
          </p:cNvSpPr>
          <p:nvPr>
            <p:ph type="title"/>
          </p:nvPr>
        </p:nvSpPr>
        <p:spPr>
          <a:xfrm>
            <a:off x="384725" y="503825"/>
            <a:ext cx="1154430" cy="452120"/>
          </a:xfrm>
          <a:prstGeom prst="rect">
            <a:avLst/>
          </a:prstGeom>
        </p:spPr>
        <p:txBody>
          <a:bodyPr vert="horz" wrap="square" lIns="0" tIns="12700" rIns="0" bIns="0" rtlCol="0">
            <a:spAutoFit/>
          </a:bodyPr>
          <a:lstStyle/>
          <a:p>
            <a:pPr marL="12700">
              <a:lnSpc>
                <a:spcPct val="100000"/>
              </a:lnSpc>
              <a:spcBef>
                <a:spcPts val="100"/>
              </a:spcBef>
            </a:pPr>
            <a:r>
              <a:rPr sz="2800" spc="-50" dirty="0">
                <a:solidFill>
                  <a:srgbClr val="202729"/>
                </a:solidFill>
              </a:rPr>
              <a:t>Outline</a:t>
            </a:r>
            <a:endParaRPr sz="2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976245" cy="452120"/>
          </a:xfrm>
          <a:prstGeom prst="rect">
            <a:avLst/>
          </a:prstGeom>
        </p:spPr>
        <p:txBody>
          <a:bodyPr vert="horz" wrap="square" lIns="0" tIns="12700" rIns="0" bIns="0" rtlCol="0">
            <a:spAutoFit/>
          </a:bodyPr>
          <a:lstStyle/>
          <a:p>
            <a:pPr marL="12700">
              <a:lnSpc>
                <a:spcPct val="100000"/>
              </a:lnSpc>
              <a:spcBef>
                <a:spcPts val="100"/>
              </a:spcBef>
            </a:pPr>
            <a:r>
              <a:rPr sz="2800" spc="40" dirty="0">
                <a:solidFill>
                  <a:srgbClr val="202729"/>
                </a:solidFill>
              </a:rPr>
              <a:t>When</a:t>
            </a:r>
            <a:r>
              <a:rPr sz="2800" spc="-125" dirty="0">
                <a:solidFill>
                  <a:srgbClr val="202729"/>
                </a:solidFill>
              </a:rPr>
              <a:t> </a:t>
            </a:r>
            <a:r>
              <a:rPr sz="2800" spc="-95" dirty="0">
                <a:solidFill>
                  <a:srgbClr val="202729"/>
                </a:solidFill>
              </a:rPr>
              <a:t>to</a:t>
            </a:r>
            <a:r>
              <a:rPr sz="2800" spc="-125" dirty="0">
                <a:solidFill>
                  <a:srgbClr val="202729"/>
                </a:solidFill>
              </a:rPr>
              <a:t> </a:t>
            </a:r>
            <a:r>
              <a:rPr sz="2800" spc="75" dirty="0">
                <a:solidFill>
                  <a:srgbClr val="202729"/>
                </a:solidFill>
              </a:rPr>
              <a:t>use</a:t>
            </a:r>
            <a:r>
              <a:rPr sz="2800" spc="-125" dirty="0">
                <a:solidFill>
                  <a:srgbClr val="202729"/>
                </a:solidFill>
              </a:rPr>
              <a:t> </a:t>
            </a:r>
            <a:r>
              <a:rPr sz="2800" spc="40" dirty="0">
                <a:solidFill>
                  <a:srgbClr val="202729"/>
                </a:solidFill>
              </a:rPr>
              <a:t>Spark</a:t>
            </a:r>
            <a:endParaRPr sz="2800"/>
          </a:p>
        </p:txBody>
      </p:sp>
      <p:sp>
        <p:nvSpPr>
          <p:cNvPr id="3" name="object 3"/>
          <p:cNvSpPr txBox="1"/>
          <p:nvPr/>
        </p:nvSpPr>
        <p:spPr>
          <a:xfrm>
            <a:off x="384724" y="1216355"/>
            <a:ext cx="6778075" cy="2469459"/>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616161"/>
                </a:solidFill>
                <a:latin typeface="Trebuchet MS"/>
                <a:cs typeface="Trebuchet MS"/>
              </a:rPr>
              <a:t>Building</a:t>
            </a:r>
            <a:r>
              <a:rPr sz="1800" spc="-90" dirty="0">
                <a:solidFill>
                  <a:srgbClr val="616161"/>
                </a:solidFill>
                <a:latin typeface="Trebuchet MS"/>
                <a:cs typeface="Trebuchet MS"/>
              </a:rPr>
              <a:t> </a:t>
            </a:r>
            <a:r>
              <a:rPr sz="1800" dirty="0">
                <a:solidFill>
                  <a:srgbClr val="616161"/>
                </a:solidFill>
                <a:latin typeface="Trebuchet MS"/>
                <a:cs typeface="Trebuchet MS"/>
              </a:rPr>
              <a:t>a</a:t>
            </a:r>
            <a:r>
              <a:rPr sz="1800" spc="-85" dirty="0">
                <a:solidFill>
                  <a:srgbClr val="616161"/>
                </a:solidFill>
                <a:latin typeface="Trebuchet MS"/>
                <a:cs typeface="Trebuchet MS"/>
              </a:rPr>
              <a:t> </a:t>
            </a:r>
            <a:r>
              <a:rPr sz="1800" spc="-40" dirty="0">
                <a:solidFill>
                  <a:srgbClr val="616161"/>
                </a:solidFill>
                <a:latin typeface="Trebuchet MS"/>
                <a:cs typeface="Trebuchet MS"/>
              </a:rPr>
              <a:t>data</a:t>
            </a:r>
            <a:r>
              <a:rPr sz="1800" spc="-90" dirty="0">
                <a:solidFill>
                  <a:srgbClr val="616161"/>
                </a:solidFill>
                <a:latin typeface="Trebuchet MS"/>
                <a:cs typeface="Trebuchet MS"/>
              </a:rPr>
              <a:t> </a:t>
            </a:r>
            <a:r>
              <a:rPr sz="1800" spc="-30" dirty="0">
                <a:solidFill>
                  <a:srgbClr val="616161"/>
                </a:solidFill>
                <a:latin typeface="Trebuchet MS"/>
                <a:cs typeface="Trebuchet MS"/>
              </a:rPr>
              <a:t>pipeline</a:t>
            </a:r>
            <a:endParaRPr sz="1800" dirty="0">
              <a:latin typeface="Trebuchet MS"/>
              <a:cs typeface="Trebuchet MS"/>
            </a:endParaRPr>
          </a:p>
          <a:p>
            <a:pPr marL="12700">
              <a:lnSpc>
                <a:spcPct val="100000"/>
              </a:lnSpc>
              <a:spcBef>
                <a:spcPts val="1889"/>
              </a:spcBef>
            </a:pPr>
            <a:r>
              <a:rPr sz="1800" b="1" spc="-50" dirty="0">
                <a:solidFill>
                  <a:srgbClr val="616161"/>
                </a:solidFill>
                <a:latin typeface="Trebuchet MS"/>
                <a:cs typeface="Trebuchet MS"/>
              </a:rPr>
              <a:t>Interactive</a:t>
            </a:r>
            <a:r>
              <a:rPr sz="1800" b="1" spc="-85" dirty="0">
                <a:solidFill>
                  <a:srgbClr val="616161"/>
                </a:solidFill>
                <a:latin typeface="Trebuchet MS"/>
                <a:cs typeface="Trebuchet MS"/>
              </a:rPr>
              <a:t> </a:t>
            </a:r>
            <a:r>
              <a:rPr sz="1800" b="1" spc="-5" dirty="0">
                <a:solidFill>
                  <a:srgbClr val="616161"/>
                </a:solidFill>
                <a:latin typeface="Trebuchet MS"/>
                <a:cs typeface="Trebuchet MS"/>
              </a:rPr>
              <a:t>analysis</a:t>
            </a:r>
            <a:r>
              <a:rPr sz="1800" b="1" spc="-80" dirty="0">
                <a:solidFill>
                  <a:srgbClr val="616161"/>
                </a:solidFill>
                <a:latin typeface="Trebuchet MS"/>
                <a:cs typeface="Trebuchet MS"/>
              </a:rPr>
              <a:t> </a:t>
            </a:r>
            <a:r>
              <a:rPr sz="1800" spc="10" dirty="0">
                <a:solidFill>
                  <a:srgbClr val="616161"/>
                </a:solidFill>
                <a:latin typeface="Trebuchet MS"/>
                <a:cs typeface="Trebuchet MS"/>
              </a:rPr>
              <a:t>and</a:t>
            </a:r>
            <a:r>
              <a:rPr sz="1800" spc="-80" dirty="0">
                <a:solidFill>
                  <a:srgbClr val="616161"/>
                </a:solidFill>
                <a:latin typeface="Trebuchet MS"/>
                <a:cs typeface="Trebuchet MS"/>
              </a:rPr>
              <a:t> </a:t>
            </a:r>
            <a:r>
              <a:rPr sz="1800" b="1" spc="-30" dirty="0">
                <a:solidFill>
                  <a:srgbClr val="616161"/>
                </a:solidFill>
                <a:latin typeface="Trebuchet MS"/>
                <a:cs typeface="Trebuchet MS"/>
              </a:rPr>
              <a:t>multi-stage</a:t>
            </a:r>
            <a:r>
              <a:rPr sz="1800" b="1" spc="-80" dirty="0">
                <a:solidFill>
                  <a:srgbClr val="616161"/>
                </a:solidFill>
                <a:latin typeface="Trebuchet MS"/>
                <a:cs typeface="Trebuchet MS"/>
              </a:rPr>
              <a:t> </a:t>
            </a:r>
            <a:r>
              <a:rPr sz="1800" spc="-40" dirty="0">
                <a:solidFill>
                  <a:srgbClr val="616161"/>
                </a:solidFill>
                <a:latin typeface="Trebuchet MS"/>
                <a:cs typeface="Trebuchet MS"/>
              </a:rPr>
              <a:t>data</a:t>
            </a:r>
            <a:r>
              <a:rPr sz="1800" spc="-80" dirty="0">
                <a:solidFill>
                  <a:srgbClr val="616161"/>
                </a:solidFill>
                <a:latin typeface="Trebuchet MS"/>
                <a:cs typeface="Trebuchet MS"/>
              </a:rPr>
              <a:t> </a:t>
            </a:r>
            <a:r>
              <a:rPr sz="1800" spc="-55" dirty="0">
                <a:solidFill>
                  <a:srgbClr val="616161"/>
                </a:solidFill>
                <a:latin typeface="Trebuchet MS"/>
                <a:cs typeface="Trebuchet MS"/>
              </a:rPr>
              <a:t>application.</a:t>
            </a:r>
            <a:endParaRPr sz="1800" dirty="0">
              <a:latin typeface="Trebuchet MS"/>
              <a:cs typeface="Trebuchet MS"/>
            </a:endParaRPr>
          </a:p>
          <a:p>
            <a:pPr marL="469900" indent="-297180">
              <a:lnSpc>
                <a:spcPct val="100000"/>
              </a:lnSpc>
              <a:spcBef>
                <a:spcPts val="1889"/>
              </a:spcBef>
              <a:buChar char="-"/>
              <a:tabLst>
                <a:tab pos="469265" algn="l"/>
                <a:tab pos="469900" algn="l"/>
              </a:tabLst>
            </a:pPr>
            <a:r>
              <a:rPr sz="1800" dirty="0">
                <a:solidFill>
                  <a:srgbClr val="616161"/>
                </a:solidFill>
                <a:latin typeface="Trebuchet MS"/>
                <a:cs typeface="Trebuchet MS"/>
              </a:rPr>
              <a:t>Allows</a:t>
            </a:r>
            <a:r>
              <a:rPr sz="1800" spc="-75" dirty="0">
                <a:solidFill>
                  <a:srgbClr val="616161"/>
                </a:solidFill>
                <a:latin typeface="Trebuchet MS"/>
                <a:cs typeface="Trebuchet MS"/>
              </a:rPr>
              <a:t> </a:t>
            </a:r>
            <a:r>
              <a:rPr sz="1800" spc="-70" dirty="0">
                <a:solidFill>
                  <a:srgbClr val="616161"/>
                </a:solidFill>
                <a:latin typeface="Trebuchet MS"/>
                <a:cs typeface="Trebuchet MS"/>
              </a:rPr>
              <a:t>real-time </a:t>
            </a:r>
            <a:r>
              <a:rPr sz="1800" spc="-55" dirty="0">
                <a:solidFill>
                  <a:srgbClr val="616161"/>
                </a:solidFill>
                <a:latin typeface="Trebuchet MS"/>
                <a:cs typeface="Trebuchet MS"/>
              </a:rPr>
              <a:t>interaction</a:t>
            </a:r>
            <a:r>
              <a:rPr sz="1800" spc="-75" dirty="0">
                <a:solidFill>
                  <a:srgbClr val="616161"/>
                </a:solidFill>
                <a:latin typeface="Trebuchet MS"/>
                <a:cs typeface="Trebuchet MS"/>
              </a:rPr>
              <a:t> </a:t>
            </a:r>
            <a:r>
              <a:rPr sz="1800" spc="-415" dirty="0">
                <a:solidFill>
                  <a:srgbClr val="616161"/>
                </a:solidFill>
                <a:latin typeface="Trebuchet MS"/>
                <a:cs typeface="Trebuchet MS"/>
              </a:rPr>
              <a:t>/</a:t>
            </a:r>
            <a:r>
              <a:rPr sz="1800" spc="-70" dirty="0">
                <a:solidFill>
                  <a:srgbClr val="616161"/>
                </a:solidFill>
                <a:latin typeface="Trebuchet MS"/>
                <a:cs typeface="Trebuchet MS"/>
              </a:rPr>
              <a:t> </a:t>
            </a:r>
            <a:r>
              <a:rPr sz="1800" spc="-40" dirty="0">
                <a:solidFill>
                  <a:srgbClr val="616161"/>
                </a:solidFill>
                <a:latin typeface="Trebuchet MS"/>
                <a:cs typeface="Trebuchet MS"/>
              </a:rPr>
              <a:t>experimentation</a:t>
            </a:r>
            <a:r>
              <a:rPr sz="1800" spc="-75" dirty="0">
                <a:solidFill>
                  <a:srgbClr val="616161"/>
                </a:solidFill>
                <a:latin typeface="Trebuchet MS"/>
                <a:cs typeface="Trebuchet MS"/>
              </a:rPr>
              <a:t> </a:t>
            </a:r>
            <a:r>
              <a:rPr sz="1800" spc="-80" dirty="0">
                <a:solidFill>
                  <a:srgbClr val="616161"/>
                </a:solidFill>
                <a:latin typeface="Trebuchet MS"/>
                <a:cs typeface="Trebuchet MS"/>
              </a:rPr>
              <a:t>with</a:t>
            </a:r>
            <a:r>
              <a:rPr sz="1800" spc="-70" dirty="0">
                <a:solidFill>
                  <a:srgbClr val="616161"/>
                </a:solidFill>
                <a:latin typeface="Trebuchet MS"/>
                <a:cs typeface="Trebuchet MS"/>
              </a:rPr>
              <a:t> </a:t>
            </a:r>
            <a:r>
              <a:rPr sz="1800" spc="-40" dirty="0">
                <a:solidFill>
                  <a:srgbClr val="616161"/>
                </a:solidFill>
                <a:latin typeface="Trebuchet MS"/>
                <a:cs typeface="Trebuchet MS"/>
              </a:rPr>
              <a:t>data</a:t>
            </a:r>
            <a:endParaRPr sz="1800" dirty="0">
              <a:latin typeface="Trebuchet MS"/>
              <a:cs typeface="Trebuchet MS"/>
            </a:endParaRPr>
          </a:p>
          <a:p>
            <a:pPr>
              <a:lnSpc>
                <a:spcPct val="100000"/>
              </a:lnSpc>
              <a:buClr>
                <a:srgbClr val="616161"/>
              </a:buClr>
              <a:buFont typeface="Trebuchet MS"/>
              <a:buChar char="-"/>
            </a:pPr>
            <a:endParaRPr sz="2200" dirty="0">
              <a:latin typeface="Trebuchet MS"/>
              <a:cs typeface="Trebuchet MS"/>
            </a:endParaRPr>
          </a:p>
          <a:p>
            <a:pPr marL="12700">
              <a:lnSpc>
                <a:spcPct val="100000"/>
              </a:lnSpc>
              <a:spcBef>
                <a:spcPts val="1810"/>
              </a:spcBef>
            </a:pPr>
            <a:r>
              <a:rPr sz="1800" spc="-10" dirty="0">
                <a:solidFill>
                  <a:srgbClr val="616161"/>
                </a:solidFill>
                <a:latin typeface="Trebuchet MS"/>
                <a:cs typeface="Trebuchet MS"/>
              </a:rPr>
              <a:t>Streaming</a:t>
            </a:r>
            <a:r>
              <a:rPr sz="1800" spc="-114" dirty="0">
                <a:solidFill>
                  <a:srgbClr val="616161"/>
                </a:solidFill>
                <a:latin typeface="Trebuchet MS"/>
                <a:cs typeface="Trebuchet MS"/>
              </a:rPr>
              <a:t> </a:t>
            </a:r>
            <a:r>
              <a:rPr sz="1800" spc="-10" dirty="0">
                <a:solidFill>
                  <a:srgbClr val="616161"/>
                </a:solidFill>
                <a:latin typeface="Trebuchet MS"/>
                <a:cs typeface="Trebuchet MS"/>
              </a:rPr>
              <a:t>Data</a:t>
            </a:r>
            <a:r>
              <a:rPr lang="en-US" sz="1800" dirty="0">
                <a:latin typeface="Trebuchet MS"/>
                <a:cs typeface="Trebuchet MS"/>
              </a:rPr>
              <a:t> : </a:t>
            </a:r>
            <a:r>
              <a:rPr spc="25" dirty="0">
                <a:solidFill>
                  <a:srgbClr val="616161"/>
                </a:solidFill>
                <a:latin typeface="Trebuchet MS"/>
                <a:cs typeface="Trebuchet MS"/>
              </a:rPr>
              <a:t>Spark</a:t>
            </a:r>
            <a:r>
              <a:rPr lang="en-US" spc="-80" dirty="0">
                <a:solidFill>
                  <a:srgbClr val="616161"/>
                </a:solidFill>
                <a:latin typeface="Trebuchet MS"/>
                <a:cs typeface="Trebuchet MS"/>
              </a:rPr>
              <a:t> </a:t>
            </a:r>
            <a:r>
              <a:rPr spc="-10" dirty="0">
                <a:solidFill>
                  <a:srgbClr val="616161"/>
                </a:solidFill>
                <a:latin typeface="Trebuchet MS"/>
                <a:cs typeface="Trebuchet MS"/>
              </a:rPr>
              <a:t>Streaming  </a:t>
            </a:r>
            <a:endParaRPr lang="en-US" spc="-10" dirty="0">
              <a:solidFill>
                <a:srgbClr val="616161"/>
              </a:solidFill>
              <a:latin typeface="Trebuchet MS"/>
              <a:cs typeface="Trebuchet MS"/>
            </a:endParaRPr>
          </a:p>
          <a:p>
            <a:pPr marR="3386454">
              <a:lnSpc>
                <a:spcPct val="114599"/>
              </a:lnSpc>
              <a:tabLst>
                <a:tab pos="926465" algn="l"/>
                <a:tab pos="927100" algn="l"/>
              </a:tabLst>
            </a:pPr>
            <a:r>
              <a:rPr spc="15" dirty="0">
                <a:solidFill>
                  <a:srgbClr val="616161"/>
                </a:solidFill>
                <a:latin typeface="Trebuchet MS"/>
                <a:cs typeface="Trebuchet MS"/>
              </a:rPr>
              <a:t>Machine</a:t>
            </a:r>
            <a:r>
              <a:rPr spc="-85" dirty="0">
                <a:solidFill>
                  <a:srgbClr val="616161"/>
                </a:solidFill>
                <a:latin typeface="Trebuchet MS"/>
                <a:cs typeface="Trebuchet MS"/>
              </a:rPr>
              <a:t> </a:t>
            </a:r>
            <a:r>
              <a:rPr spc="-5" dirty="0">
                <a:solidFill>
                  <a:srgbClr val="616161"/>
                </a:solidFill>
                <a:latin typeface="Trebuchet MS"/>
                <a:cs typeface="Trebuchet MS"/>
              </a:rPr>
              <a:t>Learning</a:t>
            </a:r>
            <a:r>
              <a:rPr lang="en-US" spc="-5" dirty="0">
                <a:solidFill>
                  <a:srgbClr val="616161"/>
                </a:solidFill>
                <a:latin typeface="Trebuchet MS"/>
                <a:cs typeface="Trebuchet MS"/>
              </a:rPr>
              <a:t>: </a:t>
            </a:r>
            <a:r>
              <a:rPr sz="1800" spc="25" dirty="0">
                <a:solidFill>
                  <a:srgbClr val="616161"/>
                </a:solidFill>
                <a:latin typeface="Trebuchet MS"/>
                <a:cs typeface="Trebuchet MS"/>
              </a:rPr>
              <a:t>Spark</a:t>
            </a:r>
            <a:r>
              <a:rPr lang="en-US" spc="-120" dirty="0">
                <a:solidFill>
                  <a:srgbClr val="616161"/>
                </a:solidFill>
                <a:latin typeface="Trebuchet MS"/>
                <a:cs typeface="Trebuchet MS"/>
              </a:rPr>
              <a:t> </a:t>
            </a:r>
            <a:r>
              <a:rPr lang="en-US" sz="1800" spc="-5" dirty="0" err="1">
                <a:solidFill>
                  <a:srgbClr val="616161"/>
                </a:solidFill>
                <a:latin typeface="Trebuchet MS"/>
                <a:cs typeface="Trebuchet MS"/>
              </a:rPr>
              <a:t>ML</a:t>
            </a:r>
            <a:r>
              <a:rPr sz="1800" spc="-5" dirty="0" err="1">
                <a:solidFill>
                  <a:srgbClr val="616161"/>
                </a:solidFill>
                <a:latin typeface="Trebuchet MS"/>
                <a:cs typeface="Trebuchet MS"/>
              </a:rPr>
              <a:t>lib</a:t>
            </a:r>
            <a:endParaRPr sz="1800" dirty="0">
              <a:latin typeface="Trebuchet MS"/>
              <a:cs typeface="Trebuchet M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626995" cy="452120"/>
          </a:xfrm>
          <a:prstGeom prst="rect">
            <a:avLst/>
          </a:prstGeom>
        </p:spPr>
        <p:txBody>
          <a:bodyPr vert="horz" wrap="square" lIns="0" tIns="12700" rIns="0" bIns="0" rtlCol="0">
            <a:spAutoFit/>
          </a:bodyPr>
          <a:lstStyle/>
          <a:p>
            <a:pPr marL="12700">
              <a:lnSpc>
                <a:spcPct val="100000"/>
              </a:lnSpc>
              <a:spcBef>
                <a:spcPts val="100"/>
              </a:spcBef>
            </a:pPr>
            <a:r>
              <a:rPr sz="2800" spc="40" dirty="0">
                <a:solidFill>
                  <a:srgbClr val="202729"/>
                </a:solidFill>
              </a:rPr>
              <a:t>Spark</a:t>
            </a:r>
            <a:r>
              <a:rPr sz="2800" spc="-125" dirty="0">
                <a:solidFill>
                  <a:srgbClr val="202729"/>
                </a:solidFill>
              </a:rPr>
              <a:t> </a:t>
            </a:r>
            <a:r>
              <a:rPr sz="2800" spc="-80" dirty="0">
                <a:solidFill>
                  <a:srgbClr val="202729"/>
                </a:solidFill>
              </a:rPr>
              <a:t>in</a:t>
            </a:r>
            <a:r>
              <a:rPr sz="2800" spc="-125" dirty="0">
                <a:solidFill>
                  <a:srgbClr val="202729"/>
                </a:solidFill>
              </a:rPr>
              <a:t> </a:t>
            </a:r>
            <a:r>
              <a:rPr sz="2800" spc="-45" dirty="0">
                <a:solidFill>
                  <a:srgbClr val="202729"/>
                </a:solidFill>
              </a:rPr>
              <a:t>Industry</a:t>
            </a:r>
            <a:endParaRPr sz="2800"/>
          </a:p>
        </p:txBody>
      </p:sp>
      <p:sp>
        <p:nvSpPr>
          <p:cNvPr id="3" name="object 3"/>
          <p:cNvSpPr txBox="1"/>
          <p:nvPr/>
        </p:nvSpPr>
        <p:spPr>
          <a:xfrm>
            <a:off x="384725" y="1216355"/>
            <a:ext cx="7508240" cy="2909570"/>
          </a:xfrm>
          <a:prstGeom prst="rect">
            <a:avLst/>
          </a:prstGeom>
        </p:spPr>
        <p:txBody>
          <a:bodyPr vert="horz" wrap="square" lIns="0" tIns="12700" rIns="0" bIns="0" rtlCol="0">
            <a:spAutoFit/>
          </a:bodyPr>
          <a:lstStyle/>
          <a:p>
            <a:pPr marL="12065" lvl="1">
              <a:lnSpc>
                <a:spcPct val="100000"/>
              </a:lnSpc>
              <a:spcBef>
                <a:spcPts val="100"/>
              </a:spcBef>
              <a:buSzPct val="94444"/>
              <a:tabLst>
                <a:tab pos="365760" algn="l"/>
              </a:tabLst>
            </a:pPr>
            <a:r>
              <a:rPr lang="en-US" sz="1800" spc="-10" dirty="0">
                <a:solidFill>
                  <a:srgbClr val="616161"/>
                </a:solidFill>
                <a:latin typeface="Trebuchet MS"/>
                <a:cs typeface="Trebuchet MS"/>
              </a:rPr>
              <a:t>C</a:t>
            </a:r>
            <a:r>
              <a:rPr sz="1800" spc="-10" dirty="0">
                <a:solidFill>
                  <a:srgbClr val="616161"/>
                </a:solidFill>
                <a:latin typeface="Trebuchet MS"/>
                <a:cs typeface="Trebuchet MS"/>
              </a:rPr>
              <a:t>ommerce</a:t>
            </a:r>
            <a:r>
              <a:rPr sz="1800" spc="-110" dirty="0">
                <a:solidFill>
                  <a:srgbClr val="616161"/>
                </a:solidFill>
                <a:latin typeface="Trebuchet MS"/>
                <a:cs typeface="Trebuchet MS"/>
              </a:rPr>
              <a:t> </a:t>
            </a:r>
            <a:r>
              <a:rPr sz="1800" spc="-30" dirty="0">
                <a:solidFill>
                  <a:srgbClr val="616161"/>
                </a:solidFill>
                <a:latin typeface="Trebuchet MS"/>
                <a:cs typeface="Trebuchet MS"/>
              </a:rPr>
              <a:t>Industry</a:t>
            </a:r>
            <a:endParaRPr sz="1800" dirty="0">
              <a:latin typeface="Trebuchet MS"/>
              <a:cs typeface="Trebuchet MS"/>
            </a:endParaRPr>
          </a:p>
          <a:p>
            <a:pPr marL="469900" lvl="2" indent="-320675">
              <a:lnSpc>
                <a:spcPct val="100000"/>
              </a:lnSpc>
              <a:spcBef>
                <a:spcPts val="1864"/>
              </a:spcBef>
              <a:buChar char="-"/>
              <a:tabLst>
                <a:tab pos="469265" algn="l"/>
                <a:tab pos="469900" algn="l"/>
              </a:tabLst>
            </a:pPr>
            <a:r>
              <a:rPr sz="2400" spc="45" dirty="0">
                <a:solidFill>
                  <a:srgbClr val="616161"/>
                </a:solidFill>
                <a:latin typeface="Trebuchet MS"/>
                <a:cs typeface="Trebuchet MS"/>
              </a:rPr>
              <a:t>eBay</a:t>
            </a:r>
            <a:endParaRPr sz="2400" dirty="0">
              <a:latin typeface="Trebuchet MS"/>
              <a:cs typeface="Trebuchet MS"/>
            </a:endParaRPr>
          </a:p>
          <a:p>
            <a:pPr marL="927100" lvl="3" indent="-297180">
              <a:lnSpc>
                <a:spcPct val="100000"/>
              </a:lnSpc>
              <a:spcBef>
                <a:spcPts val="445"/>
              </a:spcBef>
              <a:buChar char="-"/>
              <a:tabLst>
                <a:tab pos="926465" algn="l"/>
                <a:tab pos="927100" algn="l"/>
              </a:tabLst>
            </a:pPr>
            <a:r>
              <a:rPr sz="1800" spc="-5" dirty="0">
                <a:solidFill>
                  <a:srgbClr val="616161"/>
                </a:solidFill>
                <a:latin typeface="Trebuchet MS"/>
                <a:cs typeface="Trebuchet MS"/>
              </a:rPr>
              <a:t>Provide</a:t>
            </a:r>
            <a:r>
              <a:rPr sz="1800" spc="-80" dirty="0">
                <a:solidFill>
                  <a:srgbClr val="616161"/>
                </a:solidFill>
                <a:latin typeface="Trebuchet MS"/>
                <a:cs typeface="Trebuchet MS"/>
              </a:rPr>
              <a:t> </a:t>
            </a:r>
            <a:r>
              <a:rPr sz="1800" spc="-35" dirty="0">
                <a:solidFill>
                  <a:srgbClr val="616161"/>
                </a:solidFill>
                <a:latin typeface="Trebuchet MS"/>
                <a:cs typeface="Trebuchet MS"/>
              </a:rPr>
              <a:t>targeted</a:t>
            </a:r>
            <a:r>
              <a:rPr sz="1800" spc="-80" dirty="0">
                <a:solidFill>
                  <a:srgbClr val="616161"/>
                </a:solidFill>
                <a:latin typeface="Trebuchet MS"/>
                <a:cs typeface="Trebuchet MS"/>
              </a:rPr>
              <a:t> </a:t>
            </a:r>
            <a:r>
              <a:rPr sz="1800" spc="-70" dirty="0">
                <a:solidFill>
                  <a:srgbClr val="616161"/>
                </a:solidFill>
                <a:latin typeface="Trebuchet MS"/>
                <a:cs typeface="Trebuchet MS"/>
              </a:rPr>
              <a:t>offers,</a:t>
            </a:r>
            <a:r>
              <a:rPr sz="1800" spc="-80" dirty="0">
                <a:solidFill>
                  <a:srgbClr val="616161"/>
                </a:solidFill>
                <a:latin typeface="Trebuchet MS"/>
                <a:cs typeface="Trebuchet MS"/>
              </a:rPr>
              <a:t> </a:t>
            </a:r>
            <a:r>
              <a:rPr sz="1800" spc="10" dirty="0">
                <a:solidFill>
                  <a:srgbClr val="616161"/>
                </a:solidFill>
                <a:latin typeface="Trebuchet MS"/>
                <a:cs typeface="Trebuchet MS"/>
              </a:rPr>
              <a:t>enhance</a:t>
            </a:r>
            <a:r>
              <a:rPr sz="1800" spc="-80" dirty="0">
                <a:solidFill>
                  <a:srgbClr val="616161"/>
                </a:solidFill>
                <a:latin typeface="Trebuchet MS"/>
                <a:cs typeface="Trebuchet MS"/>
              </a:rPr>
              <a:t> </a:t>
            </a:r>
            <a:r>
              <a:rPr sz="1800" spc="-15" dirty="0">
                <a:solidFill>
                  <a:srgbClr val="616161"/>
                </a:solidFill>
                <a:latin typeface="Trebuchet MS"/>
                <a:cs typeface="Trebuchet MS"/>
              </a:rPr>
              <a:t>customer</a:t>
            </a:r>
            <a:r>
              <a:rPr sz="1800" spc="-80" dirty="0">
                <a:solidFill>
                  <a:srgbClr val="616161"/>
                </a:solidFill>
                <a:latin typeface="Trebuchet MS"/>
                <a:cs typeface="Trebuchet MS"/>
              </a:rPr>
              <a:t> </a:t>
            </a:r>
            <a:r>
              <a:rPr sz="1800" spc="-30" dirty="0">
                <a:solidFill>
                  <a:srgbClr val="616161"/>
                </a:solidFill>
                <a:latin typeface="Trebuchet MS"/>
                <a:cs typeface="Trebuchet MS"/>
              </a:rPr>
              <a:t>experience,</a:t>
            </a:r>
            <a:r>
              <a:rPr sz="1800" spc="-80" dirty="0">
                <a:solidFill>
                  <a:srgbClr val="616161"/>
                </a:solidFill>
                <a:latin typeface="Trebuchet MS"/>
                <a:cs typeface="Trebuchet MS"/>
              </a:rPr>
              <a:t> </a:t>
            </a:r>
            <a:r>
              <a:rPr sz="1800" spc="-100" dirty="0">
                <a:solidFill>
                  <a:srgbClr val="616161"/>
                </a:solidFill>
                <a:latin typeface="Trebuchet MS"/>
                <a:cs typeface="Trebuchet MS"/>
              </a:rPr>
              <a:t>etc.</a:t>
            </a:r>
            <a:endParaRPr sz="1800" dirty="0">
              <a:latin typeface="Trebuchet MS"/>
              <a:cs typeface="Trebuchet MS"/>
            </a:endParaRPr>
          </a:p>
          <a:p>
            <a:pPr marL="927100" lvl="3" indent="-297180">
              <a:lnSpc>
                <a:spcPct val="100000"/>
              </a:lnSpc>
              <a:spcBef>
                <a:spcPts val="315"/>
              </a:spcBef>
              <a:buChar char="-"/>
              <a:tabLst>
                <a:tab pos="926465" algn="l"/>
                <a:tab pos="927100" algn="l"/>
              </a:tabLst>
            </a:pPr>
            <a:r>
              <a:rPr sz="1800" spc="35" dirty="0">
                <a:solidFill>
                  <a:srgbClr val="616161"/>
                </a:solidFill>
                <a:latin typeface="Trebuchet MS"/>
                <a:cs typeface="Trebuchet MS"/>
              </a:rPr>
              <a:t>eBay</a:t>
            </a:r>
            <a:r>
              <a:rPr sz="1800" spc="-85" dirty="0">
                <a:solidFill>
                  <a:srgbClr val="616161"/>
                </a:solidFill>
                <a:latin typeface="Trebuchet MS"/>
                <a:cs typeface="Trebuchet MS"/>
              </a:rPr>
              <a:t> </a:t>
            </a:r>
            <a:r>
              <a:rPr sz="1800" dirty="0">
                <a:solidFill>
                  <a:srgbClr val="616161"/>
                </a:solidFill>
                <a:latin typeface="Trebuchet MS"/>
                <a:cs typeface="Trebuchet MS"/>
              </a:rPr>
              <a:t>runs</a:t>
            </a:r>
            <a:r>
              <a:rPr sz="1800" spc="-85" dirty="0">
                <a:solidFill>
                  <a:srgbClr val="616161"/>
                </a:solidFill>
                <a:latin typeface="Trebuchet MS"/>
                <a:cs typeface="Trebuchet MS"/>
              </a:rPr>
              <a:t> </a:t>
            </a:r>
            <a:r>
              <a:rPr sz="1800" spc="25" dirty="0">
                <a:solidFill>
                  <a:srgbClr val="616161"/>
                </a:solidFill>
                <a:latin typeface="Trebuchet MS"/>
                <a:cs typeface="Trebuchet MS"/>
              </a:rPr>
              <a:t>Spark</a:t>
            </a:r>
            <a:r>
              <a:rPr sz="1800" spc="-85" dirty="0">
                <a:solidFill>
                  <a:srgbClr val="616161"/>
                </a:solidFill>
                <a:latin typeface="Trebuchet MS"/>
                <a:cs typeface="Trebuchet MS"/>
              </a:rPr>
              <a:t> </a:t>
            </a:r>
            <a:r>
              <a:rPr sz="1800" spc="35" dirty="0">
                <a:solidFill>
                  <a:srgbClr val="616161"/>
                </a:solidFill>
                <a:latin typeface="Trebuchet MS"/>
                <a:cs typeface="Trebuchet MS"/>
              </a:rPr>
              <a:t>on</a:t>
            </a:r>
            <a:r>
              <a:rPr sz="1800" spc="-85" dirty="0">
                <a:solidFill>
                  <a:srgbClr val="616161"/>
                </a:solidFill>
                <a:latin typeface="Trebuchet MS"/>
                <a:cs typeface="Trebuchet MS"/>
              </a:rPr>
              <a:t> </a:t>
            </a:r>
            <a:r>
              <a:rPr sz="1800" spc="-35" dirty="0">
                <a:solidFill>
                  <a:srgbClr val="616161"/>
                </a:solidFill>
                <a:latin typeface="Trebuchet MS"/>
                <a:cs typeface="Trebuchet MS"/>
              </a:rPr>
              <a:t>top</a:t>
            </a:r>
            <a:r>
              <a:rPr sz="1800" spc="-80" dirty="0">
                <a:solidFill>
                  <a:srgbClr val="616161"/>
                </a:solidFill>
                <a:latin typeface="Trebuchet MS"/>
                <a:cs typeface="Trebuchet MS"/>
              </a:rPr>
              <a:t> </a:t>
            </a:r>
            <a:r>
              <a:rPr sz="1800" spc="-50" dirty="0">
                <a:solidFill>
                  <a:srgbClr val="616161"/>
                </a:solidFill>
                <a:latin typeface="Trebuchet MS"/>
                <a:cs typeface="Trebuchet MS"/>
              </a:rPr>
              <a:t>of</a:t>
            </a:r>
            <a:r>
              <a:rPr sz="1800" spc="-85" dirty="0">
                <a:solidFill>
                  <a:srgbClr val="616161"/>
                </a:solidFill>
                <a:latin typeface="Trebuchet MS"/>
                <a:cs typeface="Trebuchet MS"/>
              </a:rPr>
              <a:t> </a:t>
            </a:r>
            <a:r>
              <a:rPr sz="1800" spc="25" dirty="0">
                <a:solidFill>
                  <a:srgbClr val="616161"/>
                </a:solidFill>
                <a:latin typeface="Trebuchet MS"/>
                <a:cs typeface="Trebuchet MS"/>
              </a:rPr>
              <a:t>YARN.</a:t>
            </a:r>
            <a:endParaRPr sz="1800" dirty="0">
              <a:latin typeface="Trebuchet MS"/>
              <a:cs typeface="Trebuchet MS"/>
            </a:endParaRPr>
          </a:p>
          <a:p>
            <a:pPr marL="1087120">
              <a:lnSpc>
                <a:spcPct val="100000"/>
              </a:lnSpc>
              <a:spcBef>
                <a:spcPts val="315"/>
              </a:spcBef>
              <a:tabLst>
                <a:tab pos="1383665" algn="l"/>
              </a:tabLst>
            </a:pPr>
            <a:r>
              <a:rPr sz="1800" spc="-125" dirty="0">
                <a:solidFill>
                  <a:srgbClr val="616161"/>
                </a:solidFill>
                <a:latin typeface="Trebuchet MS"/>
                <a:cs typeface="Trebuchet MS"/>
              </a:rPr>
              <a:t>-	</a:t>
            </a:r>
            <a:r>
              <a:rPr sz="1800" spc="145" dirty="0">
                <a:solidFill>
                  <a:srgbClr val="616161"/>
                </a:solidFill>
                <a:latin typeface="Trebuchet MS"/>
                <a:cs typeface="Trebuchet MS"/>
              </a:rPr>
              <a:t>2000</a:t>
            </a:r>
            <a:r>
              <a:rPr sz="1800" spc="-85" dirty="0">
                <a:solidFill>
                  <a:srgbClr val="616161"/>
                </a:solidFill>
                <a:latin typeface="Trebuchet MS"/>
                <a:cs typeface="Trebuchet MS"/>
              </a:rPr>
              <a:t> </a:t>
            </a:r>
            <a:r>
              <a:rPr sz="1800" spc="-5" dirty="0">
                <a:solidFill>
                  <a:srgbClr val="616161"/>
                </a:solidFill>
                <a:latin typeface="Trebuchet MS"/>
                <a:cs typeface="Trebuchet MS"/>
              </a:rPr>
              <a:t>nodes,</a:t>
            </a:r>
            <a:r>
              <a:rPr sz="1800" spc="-80" dirty="0">
                <a:solidFill>
                  <a:srgbClr val="616161"/>
                </a:solidFill>
                <a:latin typeface="Trebuchet MS"/>
                <a:cs typeface="Trebuchet MS"/>
              </a:rPr>
              <a:t> </a:t>
            </a:r>
            <a:r>
              <a:rPr sz="1800" spc="80" dirty="0">
                <a:solidFill>
                  <a:srgbClr val="616161"/>
                </a:solidFill>
                <a:latin typeface="Trebuchet MS"/>
                <a:cs typeface="Trebuchet MS"/>
              </a:rPr>
              <a:t>20,000</a:t>
            </a:r>
            <a:r>
              <a:rPr sz="1800" spc="-85" dirty="0">
                <a:solidFill>
                  <a:srgbClr val="616161"/>
                </a:solidFill>
                <a:latin typeface="Trebuchet MS"/>
                <a:cs typeface="Trebuchet MS"/>
              </a:rPr>
              <a:t> </a:t>
            </a:r>
            <a:r>
              <a:rPr sz="1800" spc="-25" dirty="0">
                <a:solidFill>
                  <a:srgbClr val="616161"/>
                </a:solidFill>
                <a:latin typeface="Trebuchet MS"/>
                <a:cs typeface="Trebuchet MS"/>
              </a:rPr>
              <a:t>cores,</a:t>
            </a:r>
            <a:r>
              <a:rPr sz="1800" spc="-80" dirty="0">
                <a:solidFill>
                  <a:srgbClr val="616161"/>
                </a:solidFill>
                <a:latin typeface="Trebuchet MS"/>
                <a:cs typeface="Trebuchet MS"/>
              </a:rPr>
              <a:t> </a:t>
            </a:r>
            <a:r>
              <a:rPr sz="1800" spc="10" dirty="0">
                <a:solidFill>
                  <a:srgbClr val="616161"/>
                </a:solidFill>
                <a:latin typeface="Trebuchet MS"/>
                <a:cs typeface="Trebuchet MS"/>
              </a:rPr>
              <a:t>and</a:t>
            </a:r>
            <a:r>
              <a:rPr sz="1800" spc="-85" dirty="0">
                <a:solidFill>
                  <a:srgbClr val="616161"/>
                </a:solidFill>
                <a:latin typeface="Trebuchet MS"/>
                <a:cs typeface="Trebuchet MS"/>
              </a:rPr>
              <a:t> </a:t>
            </a:r>
            <a:r>
              <a:rPr sz="1800" spc="15" dirty="0">
                <a:solidFill>
                  <a:srgbClr val="616161"/>
                </a:solidFill>
                <a:latin typeface="Trebuchet MS"/>
                <a:cs typeface="Trebuchet MS"/>
              </a:rPr>
              <a:t>100TB</a:t>
            </a:r>
            <a:r>
              <a:rPr sz="1800" spc="-80" dirty="0">
                <a:solidFill>
                  <a:srgbClr val="616161"/>
                </a:solidFill>
                <a:latin typeface="Trebuchet MS"/>
                <a:cs typeface="Trebuchet MS"/>
              </a:rPr>
              <a:t> </a:t>
            </a:r>
            <a:r>
              <a:rPr sz="1800" spc="-50" dirty="0">
                <a:solidFill>
                  <a:srgbClr val="616161"/>
                </a:solidFill>
                <a:latin typeface="Trebuchet MS"/>
                <a:cs typeface="Trebuchet MS"/>
              </a:rPr>
              <a:t>of</a:t>
            </a:r>
            <a:r>
              <a:rPr sz="1800" spc="-85" dirty="0">
                <a:solidFill>
                  <a:srgbClr val="616161"/>
                </a:solidFill>
                <a:latin typeface="Trebuchet MS"/>
                <a:cs typeface="Trebuchet MS"/>
              </a:rPr>
              <a:t> </a:t>
            </a:r>
            <a:r>
              <a:rPr sz="1800" spc="114" dirty="0">
                <a:solidFill>
                  <a:srgbClr val="616161"/>
                </a:solidFill>
                <a:latin typeface="Trebuchet MS"/>
                <a:cs typeface="Trebuchet MS"/>
              </a:rPr>
              <a:t>RAM</a:t>
            </a:r>
            <a:endParaRPr sz="1800" dirty="0">
              <a:latin typeface="Trebuchet MS"/>
              <a:cs typeface="Trebuchet MS"/>
            </a:endParaRPr>
          </a:p>
          <a:p>
            <a:pPr marL="469900" lvl="2" indent="-320675">
              <a:lnSpc>
                <a:spcPct val="100000"/>
              </a:lnSpc>
              <a:spcBef>
                <a:spcPts val="290"/>
              </a:spcBef>
              <a:buChar char="-"/>
              <a:tabLst>
                <a:tab pos="469265" algn="l"/>
                <a:tab pos="469900" algn="l"/>
              </a:tabLst>
            </a:pPr>
            <a:r>
              <a:rPr sz="2400" spc="-10" dirty="0">
                <a:solidFill>
                  <a:srgbClr val="616161"/>
                </a:solidFill>
                <a:latin typeface="Trebuchet MS"/>
                <a:cs typeface="Trebuchet MS"/>
              </a:rPr>
              <a:t>Alibaba</a:t>
            </a:r>
            <a:endParaRPr sz="2400" dirty="0">
              <a:latin typeface="Trebuchet MS"/>
              <a:cs typeface="Trebuchet MS"/>
            </a:endParaRPr>
          </a:p>
          <a:p>
            <a:pPr marL="927100" lvl="3" indent="-297180">
              <a:lnSpc>
                <a:spcPct val="100000"/>
              </a:lnSpc>
              <a:spcBef>
                <a:spcPts val="445"/>
              </a:spcBef>
              <a:buChar char="-"/>
              <a:tabLst>
                <a:tab pos="926465" algn="l"/>
                <a:tab pos="927100" algn="l"/>
              </a:tabLst>
            </a:pPr>
            <a:r>
              <a:rPr sz="1800" spc="-25" dirty="0">
                <a:solidFill>
                  <a:srgbClr val="616161"/>
                </a:solidFill>
                <a:latin typeface="Trebuchet MS"/>
                <a:cs typeface="Trebuchet MS"/>
              </a:rPr>
              <a:t>Feature</a:t>
            </a:r>
            <a:r>
              <a:rPr sz="1800" spc="-80" dirty="0">
                <a:solidFill>
                  <a:srgbClr val="616161"/>
                </a:solidFill>
                <a:latin typeface="Trebuchet MS"/>
                <a:cs typeface="Trebuchet MS"/>
              </a:rPr>
              <a:t> </a:t>
            </a:r>
            <a:r>
              <a:rPr sz="1800" spc="-55" dirty="0">
                <a:solidFill>
                  <a:srgbClr val="616161"/>
                </a:solidFill>
                <a:latin typeface="Trebuchet MS"/>
                <a:cs typeface="Trebuchet MS"/>
              </a:rPr>
              <a:t>extraction</a:t>
            </a:r>
            <a:r>
              <a:rPr sz="1800" spc="-80" dirty="0">
                <a:solidFill>
                  <a:srgbClr val="616161"/>
                </a:solidFill>
                <a:latin typeface="Trebuchet MS"/>
                <a:cs typeface="Trebuchet MS"/>
              </a:rPr>
              <a:t> </a:t>
            </a:r>
            <a:r>
              <a:rPr sz="1800" spc="35" dirty="0">
                <a:solidFill>
                  <a:srgbClr val="616161"/>
                </a:solidFill>
                <a:latin typeface="Trebuchet MS"/>
                <a:cs typeface="Trebuchet MS"/>
              </a:rPr>
              <a:t>on</a:t>
            </a:r>
            <a:r>
              <a:rPr sz="1800" spc="-75" dirty="0">
                <a:solidFill>
                  <a:srgbClr val="616161"/>
                </a:solidFill>
                <a:latin typeface="Trebuchet MS"/>
                <a:cs typeface="Trebuchet MS"/>
              </a:rPr>
              <a:t> </a:t>
            </a:r>
            <a:r>
              <a:rPr sz="1800" dirty="0">
                <a:solidFill>
                  <a:srgbClr val="616161"/>
                </a:solidFill>
                <a:latin typeface="Trebuchet MS"/>
                <a:cs typeface="Trebuchet MS"/>
              </a:rPr>
              <a:t>image</a:t>
            </a:r>
            <a:r>
              <a:rPr sz="1800" spc="-80" dirty="0">
                <a:solidFill>
                  <a:srgbClr val="616161"/>
                </a:solidFill>
                <a:latin typeface="Trebuchet MS"/>
                <a:cs typeface="Trebuchet MS"/>
              </a:rPr>
              <a:t> data, </a:t>
            </a:r>
            <a:r>
              <a:rPr sz="1800" spc="30" dirty="0">
                <a:solidFill>
                  <a:srgbClr val="616161"/>
                </a:solidFill>
                <a:latin typeface="Trebuchet MS"/>
                <a:cs typeface="Trebuchet MS"/>
              </a:rPr>
              <a:t>Aggregate</a:t>
            </a:r>
            <a:r>
              <a:rPr sz="1800" spc="-75" dirty="0">
                <a:solidFill>
                  <a:srgbClr val="616161"/>
                </a:solidFill>
                <a:latin typeface="Trebuchet MS"/>
                <a:cs typeface="Trebuchet MS"/>
              </a:rPr>
              <a:t> </a:t>
            </a:r>
            <a:r>
              <a:rPr sz="1800" spc="-40" dirty="0">
                <a:solidFill>
                  <a:srgbClr val="616161"/>
                </a:solidFill>
                <a:latin typeface="Trebuchet MS"/>
                <a:cs typeface="Trebuchet MS"/>
              </a:rPr>
              <a:t>data</a:t>
            </a:r>
            <a:r>
              <a:rPr sz="1800" spc="-80" dirty="0">
                <a:solidFill>
                  <a:srgbClr val="616161"/>
                </a:solidFill>
                <a:latin typeface="Trebuchet MS"/>
                <a:cs typeface="Trebuchet MS"/>
              </a:rPr>
              <a:t> </a:t>
            </a:r>
            <a:r>
              <a:rPr sz="1800" spc="35" dirty="0">
                <a:solidFill>
                  <a:srgbClr val="616161"/>
                </a:solidFill>
                <a:latin typeface="Trebuchet MS"/>
                <a:cs typeface="Trebuchet MS"/>
              </a:rPr>
              <a:t>on</a:t>
            </a:r>
            <a:r>
              <a:rPr sz="1800" spc="-75" dirty="0">
                <a:solidFill>
                  <a:srgbClr val="616161"/>
                </a:solidFill>
                <a:latin typeface="Trebuchet MS"/>
                <a:cs typeface="Trebuchet MS"/>
              </a:rPr>
              <a:t> </a:t>
            </a:r>
            <a:r>
              <a:rPr sz="1800" spc="-50" dirty="0">
                <a:solidFill>
                  <a:srgbClr val="616161"/>
                </a:solidFill>
                <a:latin typeface="Trebuchet MS"/>
                <a:cs typeface="Trebuchet MS"/>
              </a:rPr>
              <a:t>the</a:t>
            </a:r>
            <a:r>
              <a:rPr sz="1800" spc="-80" dirty="0">
                <a:solidFill>
                  <a:srgbClr val="616161"/>
                </a:solidFill>
                <a:latin typeface="Trebuchet MS"/>
                <a:cs typeface="Trebuchet MS"/>
              </a:rPr>
              <a:t> </a:t>
            </a:r>
            <a:r>
              <a:rPr sz="1800" spc="-65" dirty="0">
                <a:solidFill>
                  <a:srgbClr val="616161"/>
                </a:solidFill>
                <a:latin typeface="Trebuchet MS"/>
                <a:cs typeface="Trebuchet MS"/>
              </a:rPr>
              <a:t>platform</a:t>
            </a:r>
            <a:endParaRPr sz="1800" dirty="0">
              <a:latin typeface="Trebuchet MS"/>
              <a:cs typeface="Trebuchet MS"/>
            </a:endParaRPr>
          </a:p>
          <a:p>
            <a:pPr marL="927100" lvl="3" indent="-297180">
              <a:lnSpc>
                <a:spcPct val="100000"/>
              </a:lnSpc>
              <a:spcBef>
                <a:spcPts val="315"/>
              </a:spcBef>
              <a:buChar char="-"/>
              <a:tabLst>
                <a:tab pos="926465" algn="l"/>
                <a:tab pos="927100" algn="l"/>
              </a:tabLst>
            </a:pPr>
            <a:r>
              <a:rPr sz="1800" spc="-15" dirty="0">
                <a:solidFill>
                  <a:srgbClr val="616161"/>
                </a:solidFill>
                <a:latin typeface="Trebuchet MS"/>
                <a:cs typeface="Trebuchet MS"/>
              </a:rPr>
              <a:t>Millions</a:t>
            </a:r>
            <a:r>
              <a:rPr sz="1800" spc="-85" dirty="0">
                <a:solidFill>
                  <a:srgbClr val="616161"/>
                </a:solidFill>
                <a:latin typeface="Trebuchet MS"/>
                <a:cs typeface="Trebuchet MS"/>
              </a:rPr>
              <a:t> </a:t>
            </a:r>
            <a:r>
              <a:rPr sz="1800" spc="-50" dirty="0">
                <a:solidFill>
                  <a:srgbClr val="616161"/>
                </a:solidFill>
                <a:latin typeface="Trebuchet MS"/>
                <a:cs typeface="Trebuchet MS"/>
              </a:rPr>
              <a:t>of</a:t>
            </a:r>
            <a:r>
              <a:rPr sz="1800" spc="-80" dirty="0">
                <a:solidFill>
                  <a:srgbClr val="616161"/>
                </a:solidFill>
                <a:latin typeface="Trebuchet MS"/>
                <a:cs typeface="Trebuchet MS"/>
              </a:rPr>
              <a:t> </a:t>
            </a:r>
            <a:r>
              <a:rPr sz="1800" spc="-5" dirty="0">
                <a:solidFill>
                  <a:srgbClr val="616161"/>
                </a:solidFill>
                <a:latin typeface="Trebuchet MS"/>
                <a:cs typeface="Trebuchet MS"/>
              </a:rPr>
              <a:t>Merchant-User</a:t>
            </a:r>
            <a:r>
              <a:rPr sz="1800" spc="-80" dirty="0">
                <a:solidFill>
                  <a:srgbClr val="616161"/>
                </a:solidFill>
                <a:latin typeface="Trebuchet MS"/>
                <a:cs typeface="Trebuchet MS"/>
              </a:rPr>
              <a:t> </a:t>
            </a:r>
            <a:r>
              <a:rPr sz="1800" spc="-50" dirty="0">
                <a:solidFill>
                  <a:srgbClr val="616161"/>
                </a:solidFill>
                <a:latin typeface="Trebuchet MS"/>
                <a:cs typeface="Trebuchet MS"/>
              </a:rPr>
              <a:t>Interaction</a:t>
            </a:r>
            <a:r>
              <a:rPr sz="1800" spc="-80" dirty="0">
                <a:solidFill>
                  <a:srgbClr val="616161"/>
                </a:solidFill>
                <a:latin typeface="Trebuchet MS"/>
                <a:cs typeface="Trebuchet MS"/>
              </a:rPr>
              <a:t> </a:t>
            </a:r>
            <a:r>
              <a:rPr sz="1800" dirty="0">
                <a:solidFill>
                  <a:srgbClr val="616161"/>
                </a:solidFill>
                <a:latin typeface="Trebuchet MS"/>
                <a:cs typeface="Trebuchet MS"/>
              </a:rPr>
              <a:t>is</a:t>
            </a:r>
            <a:r>
              <a:rPr sz="1800" spc="-85" dirty="0">
                <a:solidFill>
                  <a:srgbClr val="616161"/>
                </a:solidFill>
                <a:latin typeface="Trebuchet MS"/>
                <a:cs typeface="Trebuchet MS"/>
              </a:rPr>
              <a:t> </a:t>
            </a:r>
            <a:r>
              <a:rPr sz="1800" spc="-10" dirty="0">
                <a:solidFill>
                  <a:srgbClr val="616161"/>
                </a:solidFill>
                <a:latin typeface="Trebuchet MS"/>
                <a:cs typeface="Trebuchet MS"/>
              </a:rPr>
              <a:t>represented</a:t>
            </a:r>
            <a:r>
              <a:rPr sz="1800" spc="-80" dirty="0">
                <a:solidFill>
                  <a:srgbClr val="616161"/>
                </a:solidFill>
                <a:latin typeface="Trebuchet MS"/>
                <a:cs typeface="Trebuchet MS"/>
              </a:rPr>
              <a:t> </a:t>
            </a:r>
            <a:r>
              <a:rPr sz="1800" spc="-50" dirty="0">
                <a:solidFill>
                  <a:srgbClr val="616161"/>
                </a:solidFill>
                <a:latin typeface="Trebuchet MS"/>
                <a:cs typeface="Trebuchet MS"/>
              </a:rPr>
              <a:t>in</a:t>
            </a:r>
            <a:r>
              <a:rPr sz="1800" spc="-80" dirty="0">
                <a:solidFill>
                  <a:srgbClr val="616161"/>
                </a:solidFill>
                <a:latin typeface="Trebuchet MS"/>
                <a:cs typeface="Trebuchet MS"/>
              </a:rPr>
              <a:t> </a:t>
            </a:r>
            <a:r>
              <a:rPr sz="1800" spc="-15" dirty="0">
                <a:solidFill>
                  <a:srgbClr val="616161"/>
                </a:solidFill>
                <a:latin typeface="Trebuchet MS"/>
                <a:cs typeface="Trebuchet MS"/>
              </a:rPr>
              <a:t>graphs.</a:t>
            </a:r>
            <a:endParaRPr sz="1800" dirty="0">
              <a:latin typeface="Trebuchet MS"/>
              <a:cs typeface="Trebuchet M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626995" cy="452120"/>
          </a:xfrm>
          <a:prstGeom prst="rect">
            <a:avLst/>
          </a:prstGeom>
        </p:spPr>
        <p:txBody>
          <a:bodyPr vert="horz" wrap="square" lIns="0" tIns="12700" rIns="0" bIns="0" rtlCol="0">
            <a:spAutoFit/>
          </a:bodyPr>
          <a:lstStyle/>
          <a:p>
            <a:pPr marL="12700">
              <a:lnSpc>
                <a:spcPct val="100000"/>
              </a:lnSpc>
              <a:spcBef>
                <a:spcPts val="100"/>
              </a:spcBef>
            </a:pPr>
            <a:r>
              <a:rPr sz="2800" spc="40" dirty="0">
                <a:solidFill>
                  <a:srgbClr val="202729"/>
                </a:solidFill>
              </a:rPr>
              <a:t>Spark</a:t>
            </a:r>
            <a:r>
              <a:rPr sz="2800" spc="-125" dirty="0">
                <a:solidFill>
                  <a:srgbClr val="202729"/>
                </a:solidFill>
              </a:rPr>
              <a:t> </a:t>
            </a:r>
            <a:r>
              <a:rPr sz="2800" spc="-80" dirty="0">
                <a:solidFill>
                  <a:srgbClr val="202729"/>
                </a:solidFill>
              </a:rPr>
              <a:t>in</a:t>
            </a:r>
            <a:r>
              <a:rPr sz="2800" spc="-125" dirty="0">
                <a:solidFill>
                  <a:srgbClr val="202729"/>
                </a:solidFill>
              </a:rPr>
              <a:t> </a:t>
            </a:r>
            <a:r>
              <a:rPr sz="2800" spc="-45" dirty="0">
                <a:solidFill>
                  <a:srgbClr val="202729"/>
                </a:solidFill>
              </a:rPr>
              <a:t>Industry</a:t>
            </a:r>
            <a:endParaRPr sz="2800"/>
          </a:p>
        </p:txBody>
      </p:sp>
      <p:sp>
        <p:nvSpPr>
          <p:cNvPr id="3" name="object 3"/>
          <p:cNvSpPr txBox="1"/>
          <p:nvPr/>
        </p:nvSpPr>
        <p:spPr>
          <a:xfrm>
            <a:off x="384725" y="1213308"/>
            <a:ext cx="7974330" cy="2606040"/>
          </a:xfrm>
          <a:prstGeom prst="rect">
            <a:avLst/>
          </a:prstGeom>
        </p:spPr>
        <p:txBody>
          <a:bodyPr vert="horz" wrap="square" lIns="0" tIns="12700" rIns="0" bIns="0" rtlCol="0">
            <a:spAutoFit/>
          </a:bodyPr>
          <a:lstStyle/>
          <a:p>
            <a:pPr marL="12700">
              <a:lnSpc>
                <a:spcPct val="100000"/>
              </a:lnSpc>
              <a:spcBef>
                <a:spcPts val="100"/>
              </a:spcBef>
            </a:pPr>
            <a:r>
              <a:rPr sz="2400" spc="-5" dirty="0">
                <a:solidFill>
                  <a:srgbClr val="616161"/>
                </a:solidFill>
                <a:latin typeface="Trebuchet MS"/>
                <a:cs typeface="Trebuchet MS"/>
              </a:rPr>
              <a:t>Finance</a:t>
            </a:r>
            <a:r>
              <a:rPr sz="2400" spc="-140" dirty="0">
                <a:solidFill>
                  <a:srgbClr val="616161"/>
                </a:solidFill>
                <a:latin typeface="Trebuchet MS"/>
                <a:cs typeface="Trebuchet MS"/>
              </a:rPr>
              <a:t> </a:t>
            </a:r>
            <a:r>
              <a:rPr sz="2400" spc="-35" dirty="0">
                <a:solidFill>
                  <a:srgbClr val="616161"/>
                </a:solidFill>
                <a:latin typeface="Trebuchet MS"/>
                <a:cs typeface="Trebuchet MS"/>
              </a:rPr>
              <a:t>Industry</a:t>
            </a:r>
            <a:endParaRPr sz="2400">
              <a:latin typeface="Trebuchet MS"/>
              <a:cs typeface="Trebuchet MS"/>
            </a:endParaRPr>
          </a:p>
          <a:p>
            <a:pPr marL="469900" indent="-297180">
              <a:lnSpc>
                <a:spcPct val="100000"/>
              </a:lnSpc>
              <a:spcBef>
                <a:spcPts val="2014"/>
              </a:spcBef>
              <a:buChar char="-"/>
              <a:tabLst>
                <a:tab pos="469265" algn="l"/>
                <a:tab pos="469900" algn="l"/>
              </a:tabLst>
            </a:pPr>
            <a:r>
              <a:rPr sz="1800" spc="-35" dirty="0">
                <a:solidFill>
                  <a:srgbClr val="616161"/>
                </a:solidFill>
                <a:latin typeface="Trebuchet MS"/>
                <a:cs typeface="Trebuchet MS"/>
              </a:rPr>
              <a:t>Real-Time</a:t>
            </a:r>
            <a:r>
              <a:rPr sz="1800" spc="-75" dirty="0">
                <a:solidFill>
                  <a:srgbClr val="616161"/>
                </a:solidFill>
                <a:latin typeface="Trebuchet MS"/>
                <a:cs typeface="Trebuchet MS"/>
              </a:rPr>
              <a:t> </a:t>
            </a:r>
            <a:r>
              <a:rPr sz="1800" spc="-5" dirty="0">
                <a:solidFill>
                  <a:srgbClr val="616161"/>
                </a:solidFill>
                <a:latin typeface="Trebuchet MS"/>
                <a:cs typeface="Trebuchet MS"/>
              </a:rPr>
              <a:t>Fraud</a:t>
            </a:r>
            <a:r>
              <a:rPr sz="1800" spc="-75" dirty="0">
                <a:solidFill>
                  <a:srgbClr val="616161"/>
                </a:solidFill>
                <a:latin typeface="Trebuchet MS"/>
                <a:cs typeface="Trebuchet MS"/>
              </a:rPr>
              <a:t> </a:t>
            </a:r>
            <a:r>
              <a:rPr sz="1800" spc="-25" dirty="0">
                <a:solidFill>
                  <a:srgbClr val="616161"/>
                </a:solidFill>
                <a:latin typeface="Trebuchet MS"/>
                <a:cs typeface="Trebuchet MS"/>
              </a:rPr>
              <a:t>Detection</a:t>
            </a:r>
            <a:r>
              <a:rPr sz="1800" spc="-75" dirty="0">
                <a:solidFill>
                  <a:srgbClr val="616161"/>
                </a:solidFill>
                <a:latin typeface="Trebuchet MS"/>
                <a:cs typeface="Trebuchet MS"/>
              </a:rPr>
              <a:t> </a:t>
            </a:r>
            <a:r>
              <a:rPr sz="1800" spc="-45" dirty="0">
                <a:solidFill>
                  <a:srgbClr val="616161"/>
                </a:solidFill>
                <a:latin typeface="Trebuchet MS"/>
                <a:cs typeface="Trebuchet MS"/>
              </a:rPr>
              <a:t>(stolen</a:t>
            </a:r>
            <a:r>
              <a:rPr sz="1800" spc="-75" dirty="0">
                <a:solidFill>
                  <a:srgbClr val="616161"/>
                </a:solidFill>
                <a:latin typeface="Trebuchet MS"/>
                <a:cs typeface="Trebuchet MS"/>
              </a:rPr>
              <a:t> </a:t>
            </a:r>
            <a:r>
              <a:rPr sz="1800" spc="-60" dirty="0">
                <a:solidFill>
                  <a:srgbClr val="616161"/>
                </a:solidFill>
                <a:latin typeface="Trebuchet MS"/>
                <a:cs typeface="Trebuchet MS"/>
              </a:rPr>
              <a:t>credit</a:t>
            </a:r>
            <a:r>
              <a:rPr sz="1800" spc="-75" dirty="0">
                <a:solidFill>
                  <a:srgbClr val="616161"/>
                </a:solidFill>
                <a:latin typeface="Trebuchet MS"/>
                <a:cs typeface="Trebuchet MS"/>
              </a:rPr>
              <a:t> </a:t>
            </a:r>
            <a:r>
              <a:rPr sz="1800" spc="-20" dirty="0">
                <a:solidFill>
                  <a:srgbClr val="616161"/>
                </a:solidFill>
                <a:latin typeface="Trebuchet MS"/>
                <a:cs typeface="Trebuchet MS"/>
              </a:rPr>
              <a:t>card</a:t>
            </a:r>
            <a:r>
              <a:rPr sz="1800" spc="-75" dirty="0">
                <a:solidFill>
                  <a:srgbClr val="616161"/>
                </a:solidFill>
                <a:latin typeface="Trebuchet MS"/>
                <a:cs typeface="Trebuchet MS"/>
              </a:rPr>
              <a:t> </a:t>
            </a:r>
            <a:r>
              <a:rPr sz="1800" spc="5" dirty="0">
                <a:solidFill>
                  <a:srgbClr val="616161"/>
                </a:solidFill>
                <a:latin typeface="Trebuchet MS"/>
                <a:cs typeface="Trebuchet MS"/>
              </a:rPr>
              <a:t>swipe</a:t>
            </a:r>
            <a:r>
              <a:rPr sz="1800" spc="-75" dirty="0">
                <a:solidFill>
                  <a:srgbClr val="616161"/>
                </a:solidFill>
                <a:latin typeface="Trebuchet MS"/>
                <a:cs typeface="Trebuchet MS"/>
              </a:rPr>
              <a:t> </a:t>
            </a:r>
            <a:r>
              <a:rPr sz="1800" spc="-25" dirty="0">
                <a:solidFill>
                  <a:srgbClr val="616161"/>
                </a:solidFill>
                <a:latin typeface="Trebuchet MS"/>
                <a:cs typeface="Trebuchet MS"/>
              </a:rPr>
              <a:t>or</a:t>
            </a:r>
            <a:r>
              <a:rPr sz="1800" spc="-75" dirty="0">
                <a:solidFill>
                  <a:srgbClr val="616161"/>
                </a:solidFill>
                <a:latin typeface="Trebuchet MS"/>
                <a:cs typeface="Trebuchet MS"/>
              </a:rPr>
              <a:t> </a:t>
            </a:r>
            <a:r>
              <a:rPr sz="1800" spc="-20" dirty="0">
                <a:solidFill>
                  <a:srgbClr val="616161"/>
                </a:solidFill>
                <a:latin typeface="Trebuchet MS"/>
                <a:cs typeface="Trebuchet MS"/>
              </a:rPr>
              <a:t>stolen</a:t>
            </a:r>
            <a:r>
              <a:rPr sz="1800" spc="-75" dirty="0">
                <a:solidFill>
                  <a:srgbClr val="616161"/>
                </a:solidFill>
                <a:latin typeface="Trebuchet MS"/>
                <a:cs typeface="Trebuchet MS"/>
              </a:rPr>
              <a:t> </a:t>
            </a:r>
            <a:r>
              <a:rPr sz="1800" spc="-20" dirty="0">
                <a:solidFill>
                  <a:srgbClr val="616161"/>
                </a:solidFill>
                <a:latin typeface="Trebuchet MS"/>
                <a:cs typeface="Trebuchet MS"/>
              </a:rPr>
              <a:t>card</a:t>
            </a:r>
            <a:r>
              <a:rPr sz="1800" spc="-75" dirty="0">
                <a:solidFill>
                  <a:srgbClr val="616161"/>
                </a:solidFill>
                <a:latin typeface="Trebuchet MS"/>
                <a:cs typeface="Trebuchet MS"/>
              </a:rPr>
              <a:t> </a:t>
            </a:r>
            <a:r>
              <a:rPr sz="1800" spc="-40" dirty="0">
                <a:solidFill>
                  <a:srgbClr val="616161"/>
                </a:solidFill>
                <a:latin typeface="Trebuchet MS"/>
                <a:cs typeface="Trebuchet MS"/>
              </a:rPr>
              <a:t>number)</a:t>
            </a:r>
            <a:endParaRPr sz="1800">
              <a:latin typeface="Trebuchet MS"/>
              <a:cs typeface="Trebuchet MS"/>
            </a:endParaRPr>
          </a:p>
          <a:p>
            <a:pPr marL="927100" lvl="1" indent="-281940">
              <a:lnSpc>
                <a:spcPct val="100000"/>
              </a:lnSpc>
              <a:spcBef>
                <a:spcPts val="334"/>
              </a:spcBef>
              <a:buChar char="-"/>
              <a:tabLst>
                <a:tab pos="926465" algn="l"/>
                <a:tab pos="927100" algn="l"/>
              </a:tabLst>
            </a:pPr>
            <a:r>
              <a:rPr sz="1400" spc="30" dirty="0">
                <a:solidFill>
                  <a:srgbClr val="616161"/>
                </a:solidFill>
                <a:latin typeface="Trebuchet MS"/>
                <a:cs typeface="Trebuchet MS"/>
              </a:rPr>
              <a:t>Check</a:t>
            </a:r>
            <a:r>
              <a:rPr sz="1400" spc="-65" dirty="0">
                <a:solidFill>
                  <a:srgbClr val="616161"/>
                </a:solidFill>
                <a:latin typeface="Trebuchet MS"/>
                <a:cs typeface="Trebuchet MS"/>
              </a:rPr>
              <a:t> </a:t>
            </a:r>
            <a:r>
              <a:rPr sz="1400" spc="-60" dirty="0">
                <a:solidFill>
                  <a:srgbClr val="616161"/>
                </a:solidFill>
                <a:latin typeface="Trebuchet MS"/>
                <a:cs typeface="Trebuchet MS"/>
              </a:rPr>
              <a:t>with</a:t>
            </a:r>
            <a:r>
              <a:rPr sz="1400" spc="-65" dirty="0">
                <a:solidFill>
                  <a:srgbClr val="616161"/>
                </a:solidFill>
                <a:latin typeface="Trebuchet MS"/>
                <a:cs typeface="Trebuchet MS"/>
              </a:rPr>
              <a:t> </a:t>
            </a:r>
            <a:r>
              <a:rPr sz="1400" dirty="0">
                <a:solidFill>
                  <a:srgbClr val="616161"/>
                </a:solidFill>
                <a:latin typeface="Trebuchet MS"/>
                <a:cs typeface="Trebuchet MS"/>
              </a:rPr>
              <a:t>previous</a:t>
            </a:r>
            <a:r>
              <a:rPr sz="1400" spc="-65" dirty="0">
                <a:solidFill>
                  <a:srgbClr val="616161"/>
                </a:solidFill>
                <a:latin typeface="Trebuchet MS"/>
                <a:cs typeface="Trebuchet MS"/>
              </a:rPr>
              <a:t> </a:t>
            </a:r>
            <a:r>
              <a:rPr sz="1400" spc="-35" dirty="0">
                <a:solidFill>
                  <a:srgbClr val="616161"/>
                </a:solidFill>
                <a:latin typeface="Trebuchet MS"/>
                <a:cs typeface="Trebuchet MS"/>
              </a:rPr>
              <a:t>fraud</a:t>
            </a:r>
            <a:r>
              <a:rPr sz="1400" spc="-65" dirty="0">
                <a:solidFill>
                  <a:srgbClr val="616161"/>
                </a:solidFill>
                <a:latin typeface="Trebuchet MS"/>
                <a:cs typeface="Trebuchet MS"/>
              </a:rPr>
              <a:t> </a:t>
            </a:r>
            <a:r>
              <a:rPr sz="1400" spc="-50" dirty="0">
                <a:solidFill>
                  <a:srgbClr val="616161"/>
                </a:solidFill>
                <a:latin typeface="Trebuchet MS"/>
                <a:cs typeface="Trebuchet MS"/>
              </a:rPr>
              <a:t>footprint</a:t>
            </a:r>
            <a:endParaRPr sz="1400">
              <a:latin typeface="Trebuchet MS"/>
              <a:cs typeface="Trebuchet MS"/>
            </a:endParaRPr>
          </a:p>
          <a:p>
            <a:pPr marL="927100" lvl="1" indent="-281940">
              <a:lnSpc>
                <a:spcPct val="100000"/>
              </a:lnSpc>
              <a:spcBef>
                <a:spcPts val="270"/>
              </a:spcBef>
              <a:buChar char="-"/>
              <a:tabLst>
                <a:tab pos="926465" algn="l"/>
                <a:tab pos="927100" algn="l"/>
              </a:tabLst>
            </a:pPr>
            <a:r>
              <a:rPr sz="1400" spc="5" dirty="0">
                <a:solidFill>
                  <a:srgbClr val="616161"/>
                </a:solidFill>
                <a:latin typeface="Trebuchet MS"/>
                <a:cs typeface="Trebuchet MS"/>
              </a:rPr>
              <a:t>Triggers</a:t>
            </a:r>
            <a:r>
              <a:rPr sz="1400" spc="-65" dirty="0">
                <a:solidFill>
                  <a:srgbClr val="616161"/>
                </a:solidFill>
                <a:latin typeface="Trebuchet MS"/>
                <a:cs typeface="Trebuchet MS"/>
              </a:rPr>
              <a:t> </a:t>
            </a:r>
            <a:r>
              <a:rPr sz="1400" spc="-50" dirty="0">
                <a:solidFill>
                  <a:srgbClr val="616161"/>
                </a:solidFill>
                <a:latin typeface="Trebuchet MS"/>
                <a:cs typeface="Trebuchet MS"/>
              </a:rPr>
              <a:t>call</a:t>
            </a:r>
            <a:r>
              <a:rPr sz="1400" spc="-65" dirty="0">
                <a:solidFill>
                  <a:srgbClr val="616161"/>
                </a:solidFill>
                <a:latin typeface="Trebuchet MS"/>
                <a:cs typeface="Trebuchet MS"/>
              </a:rPr>
              <a:t> </a:t>
            </a:r>
            <a:r>
              <a:rPr sz="1400" spc="-55" dirty="0">
                <a:solidFill>
                  <a:srgbClr val="616161"/>
                </a:solidFill>
                <a:latin typeface="Trebuchet MS"/>
                <a:cs typeface="Trebuchet MS"/>
              </a:rPr>
              <a:t>center,</a:t>
            </a:r>
            <a:r>
              <a:rPr sz="1400" spc="-65" dirty="0">
                <a:solidFill>
                  <a:srgbClr val="616161"/>
                </a:solidFill>
                <a:latin typeface="Trebuchet MS"/>
                <a:cs typeface="Trebuchet MS"/>
              </a:rPr>
              <a:t> </a:t>
            </a:r>
            <a:r>
              <a:rPr sz="1400" spc="-80" dirty="0">
                <a:solidFill>
                  <a:srgbClr val="616161"/>
                </a:solidFill>
                <a:latin typeface="Trebuchet MS"/>
                <a:cs typeface="Trebuchet MS"/>
              </a:rPr>
              <a:t>etc.</a:t>
            </a:r>
            <a:endParaRPr sz="1400">
              <a:latin typeface="Trebuchet MS"/>
              <a:cs typeface="Trebuchet MS"/>
            </a:endParaRPr>
          </a:p>
          <a:p>
            <a:pPr marL="927100" lvl="1" indent="-281940">
              <a:lnSpc>
                <a:spcPct val="100000"/>
              </a:lnSpc>
              <a:spcBef>
                <a:spcPts val="270"/>
              </a:spcBef>
              <a:buChar char="-"/>
              <a:tabLst>
                <a:tab pos="926465" algn="l"/>
                <a:tab pos="927100" algn="l"/>
              </a:tabLst>
            </a:pPr>
            <a:r>
              <a:rPr sz="1400" spc="-25" dirty="0">
                <a:solidFill>
                  <a:srgbClr val="616161"/>
                </a:solidFill>
                <a:latin typeface="Trebuchet MS"/>
                <a:cs typeface="Trebuchet MS"/>
              </a:rPr>
              <a:t>Validate</a:t>
            </a:r>
            <a:r>
              <a:rPr sz="1400" spc="-80" dirty="0">
                <a:solidFill>
                  <a:srgbClr val="616161"/>
                </a:solidFill>
                <a:latin typeface="Trebuchet MS"/>
                <a:cs typeface="Trebuchet MS"/>
              </a:rPr>
              <a:t> </a:t>
            </a:r>
            <a:r>
              <a:rPr sz="1400" spc="-5" dirty="0">
                <a:solidFill>
                  <a:srgbClr val="616161"/>
                </a:solidFill>
                <a:latin typeface="Trebuchet MS"/>
                <a:cs typeface="Trebuchet MS"/>
              </a:rPr>
              <a:t>incoming</a:t>
            </a:r>
            <a:r>
              <a:rPr sz="1400" spc="-80" dirty="0">
                <a:solidFill>
                  <a:srgbClr val="616161"/>
                </a:solidFill>
                <a:latin typeface="Trebuchet MS"/>
                <a:cs typeface="Trebuchet MS"/>
              </a:rPr>
              <a:t> </a:t>
            </a:r>
            <a:r>
              <a:rPr sz="1400" spc="-20" dirty="0">
                <a:solidFill>
                  <a:srgbClr val="616161"/>
                </a:solidFill>
                <a:latin typeface="Trebuchet MS"/>
                <a:cs typeface="Trebuchet MS"/>
              </a:rPr>
              <a:t>transactions</a:t>
            </a:r>
            <a:endParaRPr sz="1400">
              <a:latin typeface="Trebuchet MS"/>
              <a:cs typeface="Trebuchet MS"/>
            </a:endParaRPr>
          </a:p>
          <a:p>
            <a:pPr marL="469900" indent="-297180">
              <a:lnSpc>
                <a:spcPct val="100000"/>
              </a:lnSpc>
              <a:spcBef>
                <a:spcPts val="1230"/>
              </a:spcBef>
              <a:buChar char="-"/>
              <a:tabLst>
                <a:tab pos="469265" algn="l"/>
                <a:tab pos="469900" algn="l"/>
              </a:tabLst>
            </a:pPr>
            <a:r>
              <a:rPr sz="1800" spc="15" dirty="0">
                <a:solidFill>
                  <a:srgbClr val="616161"/>
                </a:solidFill>
                <a:latin typeface="Trebuchet MS"/>
                <a:cs typeface="Trebuchet MS"/>
              </a:rPr>
              <a:t>Risk-based</a:t>
            </a:r>
            <a:r>
              <a:rPr sz="1800" spc="-110" dirty="0">
                <a:solidFill>
                  <a:srgbClr val="616161"/>
                </a:solidFill>
                <a:latin typeface="Trebuchet MS"/>
                <a:cs typeface="Trebuchet MS"/>
              </a:rPr>
              <a:t> </a:t>
            </a:r>
            <a:r>
              <a:rPr sz="1800" spc="25" dirty="0">
                <a:solidFill>
                  <a:srgbClr val="616161"/>
                </a:solidFill>
                <a:latin typeface="Trebuchet MS"/>
                <a:cs typeface="Trebuchet MS"/>
              </a:rPr>
              <a:t>assessment</a:t>
            </a:r>
            <a:endParaRPr sz="1800">
              <a:latin typeface="Trebuchet MS"/>
              <a:cs typeface="Trebuchet MS"/>
            </a:endParaRPr>
          </a:p>
          <a:p>
            <a:pPr marL="927100" lvl="1" indent="-281940">
              <a:lnSpc>
                <a:spcPct val="100000"/>
              </a:lnSpc>
              <a:spcBef>
                <a:spcPts val="330"/>
              </a:spcBef>
              <a:buChar char="-"/>
              <a:tabLst>
                <a:tab pos="926465" algn="l"/>
                <a:tab pos="927100" algn="l"/>
              </a:tabLst>
            </a:pPr>
            <a:r>
              <a:rPr sz="1400" spc="-15" dirty="0">
                <a:solidFill>
                  <a:srgbClr val="616161"/>
                </a:solidFill>
                <a:latin typeface="Trebuchet MS"/>
                <a:cs typeface="Trebuchet MS"/>
              </a:rPr>
              <a:t>Collecting</a:t>
            </a:r>
            <a:r>
              <a:rPr sz="1400" spc="-80" dirty="0">
                <a:solidFill>
                  <a:srgbClr val="616161"/>
                </a:solidFill>
                <a:latin typeface="Trebuchet MS"/>
                <a:cs typeface="Trebuchet MS"/>
              </a:rPr>
              <a:t> </a:t>
            </a:r>
            <a:r>
              <a:rPr sz="1400" spc="10" dirty="0">
                <a:solidFill>
                  <a:srgbClr val="616161"/>
                </a:solidFill>
                <a:latin typeface="Trebuchet MS"/>
                <a:cs typeface="Trebuchet MS"/>
              </a:rPr>
              <a:t>and</a:t>
            </a:r>
            <a:r>
              <a:rPr sz="1400" spc="-80" dirty="0">
                <a:solidFill>
                  <a:srgbClr val="616161"/>
                </a:solidFill>
                <a:latin typeface="Trebuchet MS"/>
                <a:cs typeface="Trebuchet MS"/>
              </a:rPr>
              <a:t> </a:t>
            </a:r>
            <a:r>
              <a:rPr sz="1400" spc="-15" dirty="0">
                <a:solidFill>
                  <a:srgbClr val="616161"/>
                </a:solidFill>
                <a:latin typeface="Trebuchet MS"/>
                <a:cs typeface="Trebuchet MS"/>
              </a:rPr>
              <a:t>archiving</a:t>
            </a:r>
            <a:r>
              <a:rPr sz="1400" spc="-80" dirty="0">
                <a:solidFill>
                  <a:srgbClr val="616161"/>
                </a:solidFill>
                <a:latin typeface="Trebuchet MS"/>
                <a:cs typeface="Trebuchet MS"/>
              </a:rPr>
              <a:t> </a:t>
            </a:r>
            <a:r>
              <a:rPr sz="1400" spc="30" dirty="0">
                <a:solidFill>
                  <a:srgbClr val="616161"/>
                </a:solidFill>
                <a:latin typeface="Trebuchet MS"/>
                <a:cs typeface="Trebuchet MS"/>
              </a:rPr>
              <a:t>logs</a:t>
            </a:r>
            <a:endParaRPr sz="1400">
              <a:latin typeface="Trebuchet MS"/>
              <a:cs typeface="Trebuchet MS"/>
            </a:endParaRPr>
          </a:p>
          <a:p>
            <a:pPr marL="927100" lvl="1" indent="-281940">
              <a:lnSpc>
                <a:spcPct val="100000"/>
              </a:lnSpc>
              <a:spcBef>
                <a:spcPts val="270"/>
              </a:spcBef>
              <a:buChar char="-"/>
              <a:tabLst>
                <a:tab pos="926465" algn="l"/>
                <a:tab pos="927100" algn="l"/>
              </a:tabLst>
            </a:pPr>
            <a:r>
              <a:rPr sz="1400" spc="20" dirty="0">
                <a:solidFill>
                  <a:srgbClr val="616161"/>
                </a:solidFill>
                <a:latin typeface="Trebuchet MS"/>
                <a:cs typeface="Trebuchet MS"/>
              </a:rPr>
              <a:t>Spark</a:t>
            </a:r>
            <a:r>
              <a:rPr sz="1400" spc="-65" dirty="0">
                <a:solidFill>
                  <a:srgbClr val="616161"/>
                </a:solidFill>
                <a:latin typeface="Trebuchet MS"/>
                <a:cs typeface="Trebuchet MS"/>
              </a:rPr>
              <a:t> </a:t>
            </a:r>
            <a:r>
              <a:rPr sz="1400" dirty="0">
                <a:solidFill>
                  <a:srgbClr val="616161"/>
                </a:solidFill>
                <a:latin typeface="Trebuchet MS"/>
                <a:cs typeface="Trebuchet MS"/>
              </a:rPr>
              <a:t>can</a:t>
            </a:r>
            <a:r>
              <a:rPr sz="1400" spc="-60" dirty="0">
                <a:solidFill>
                  <a:srgbClr val="616161"/>
                </a:solidFill>
                <a:latin typeface="Trebuchet MS"/>
                <a:cs typeface="Trebuchet MS"/>
              </a:rPr>
              <a:t> </a:t>
            </a:r>
            <a:r>
              <a:rPr sz="1400" spc="-15" dirty="0">
                <a:solidFill>
                  <a:srgbClr val="616161"/>
                </a:solidFill>
                <a:latin typeface="Trebuchet MS"/>
                <a:cs typeface="Trebuchet MS"/>
              </a:rPr>
              <a:t>easily</a:t>
            </a:r>
            <a:r>
              <a:rPr sz="1400" spc="-60" dirty="0">
                <a:solidFill>
                  <a:srgbClr val="616161"/>
                </a:solidFill>
                <a:latin typeface="Trebuchet MS"/>
                <a:cs typeface="Trebuchet MS"/>
              </a:rPr>
              <a:t> </a:t>
            </a:r>
            <a:r>
              <a:rPr sz="1400" spc="20" dirty="0">
                <a:solidFill>
                  <a:srgbClr val="616161"/>
                </a:solidFill>
                <a:latin typeface="Trebuchet MS"/>
                <a:cs typeface="Trebuchet MS"/>
              </a:rPr>
              <a:t>be</a:t>
            </a:r>
            <a:r>
              <a:rPr sz="1400" spc="-60" dirty="0">
                <a:solidFill>
                  <a:srgbClr val="616161"/>
                </a:solidFill>
                <a:latin typeface="Trebuchet MS"/>
                <a:cs typeface="Trebuchet MS"/>
              </a:rPr>
              <a:t> </a:t>
            </a:r>
            <a:r>
              <a:rPr sz="1400" dirty="0">
                <a:solidFill>
                  <a:srgbClr val="616161"/>
                </a:solidFill>
                <a:latin typeface="Trebuchet MS"/>
                <a:cs typeface="Trebuchet MS"/>
              </a:rPr>
              <a:t>combined</a:t>
            </a:r>
            <a:r>
              <a:rPr sz="1400" spc="-65" dirty="0">
                <a:solidFill>
                  <a:srgbClr val="616161"/>
                </a:solidFill>
                <a:latin typeface="Trebuchet MS"/>
                <a:cs typeface="Trebuchet MS"/>
              </a:rPr>
              <a:t> </a:t>
            </a:r>
            <a:r>
              <a:rPr sz="1400" spc="-60" dirty="0">
                <a:solidFill>
                  <a:srgbClr val="616161"/>
                </a:solidFill>
                <a:latin typeface="Trebuchet MS"/>
                <a:cs typeface="Trebuchet MS"/>
              </a:rPr>
              <a:t>with </a:t>
            </a:r>
            <a:r>
              <a:rPr sz="1400" spc="-40" dirty="0">
                <a:solidFill>
                  <a:srgbClr val="616161"/>
                </a:solidFill>
                <a:latin typeface="Trebuchet MS"/>
                <a:cs typeface="Trebuchet MS"/>
              </a:rPr>
              <a:t>external</a:t>
            </a:r>
            <a:r>
              <a:rPr sz="1400" spc="-60" dirty="0">
                <a:solidFill>
                  <a:srgbClr val="616161"/>
                </a:solidFill>
                <a:latin typeface="Trebuchet MS"/>
                <a:cs typeface="Trebuchet MS"/>
              </a:rPr>
              <a:t> </a:t>
            </a:r>
            <a:r>
              <a:rPr sz="1400" spc="-30" dirty="0">
                <a:solidFill>
                  <a:srgbClr val="616161"/>
                </a:solidFill>
                <a:latin typeface="Trebuchet MS"/>
                <a:cs typeface="Trebuchet MS"/>
              </a:rPr>
              <a:t>data</a:t>
            </a:r>
            <a:r>
              <a:rPr sz="1400" spc="-60" dirty="0">
                <a:solidFill>
                  <a:srgbClr val="616161"/>
                </a:solidFill>
                <a:latin typeface="Trebuchet MS"/>
                <a:cs typeface="Trebuchet MS"/>
              </a:rPr>
              <a:t> </a:t>
            </a:r>
            <a:r>
              <a:rPr sz="1400" spc="10" dirty="0">
                <a:solidFill>
                  <a:srgbClr val="616161"/>
                </a:solidFill>
                <a:latin typeface="Trebuchet MS"/>
                <a:cs typeface="Trebuchet MS"/>
              </a:rPr>
              <a:t>source</a:t>
            </a:r>
            <a:r>
              <a:rPr sz="1400" spc="-60" dirty="0">
                <a:solidFill>
                  <a:srgbClr val="616161"/>
                </a:solidFill>
                <a:latin typeface="Trebuchet MS"/>
                <a:cs typeface="Trebuchet MS"/>
              </a:rPr>
              <a:t> </a:t>
            </a:r>
            <a:r>
              <a:rPr sz="1400" spc="10" dirty="0">
                <a:solidFill>
                  <a:srgbClr val="616161"/>
                </a:solidFill>
                <a:latin typeface="Trebuchet MS"/>
                <a:cs typeface="Trebuchet MS"/>
              </a:rPr>
              <a:t>and</a:t>
            </a:r>
            <a:r>
              <a:rPr sz="1400" spc="-65" dirty="0">
                <a:solidFill>
                  <a:srgbClr val="616161"/>
                </a:solidFill>
                <a:latin typeface="Trebuchet MS"/>
                <a:cs typeface="Trebuchet MS"/>
              </a:rPr>
              <a:t> </a:t>
            </a:r>
            <a:r>
              <a:rPr sz="1400" spc="-30" dirty="0">
                <a:solidFill>
                  <a:srgbClr val="616161"/>
                </a:solidFill>
                <a:latin typeface="Trebuchet MS"/>
                <a:cs typeface="Trebuchet MS"/>
              </a:rPr>
              <a:t>pipelines.</a:t>
            </a:r>
            <a:endParaRPr sz="1400">
              <a:latin typeface="Trebuchet MS"/>
              <a:cs typeface="Trebuchet M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5249" y="1081100"/>
            <a:ext cx="2459990" cy="2482850"/>
          </a:xfrm>
          <a:prstGeom prst="rect">
            <a:avLst/>
          </a:prstGeom>
        </p:spPr>
        <p:txBody>
          <a:bodyPr vert="horz" wrap="square" lIns="0" tIns="147955" rIns="0" bIns="0" rtlCol="0">
            <a:spAutoFit/>
          </a:bodyPr>
          <a:lstStyle/>
          <a:p>
            <a:pPr marL="379095" indent="-367030">
              <a:lnSpc>
                <a:spcPct val="100000"/>
              </a:lnSpc>
              <a:spcBef>
                <a:spcPts val="1165"/>
              </a:spcBef>
              <a:buFont typeface="Arial MT"/>
              <a:buChar char="●"/>
              <a:tabLst>
                <a:tab pos="379095" algn="l"/>
                <a:tab pos="379730" algn="l"/>
              </a:tabLst>
            </a:pPr>
            <a:r>
              <a:rPr sz="1800" spc="25" dirty="0">
                <a:solidFill>
                  <a:srgbClr val="616161"/>
                </a:solidFill>
                <a:latin typeface="Trebuchet MS"/>
                <a:cs typeface="Trebuchet MS"/>
              </a:rPr>
              <a:t>Spark</a:t>
            </a:r>
            <a:r>
              <a:rPr sz="1800" spc="-110" dirty="0">
                <a:solidFill>
                  <a:srgbClr val="616161"/>
                </a:solidFill>
                <a:latin typeface="Trebuchet MS"/>
                <a:cs typeface="Trebuchet MS"/>
              </a:rPr>
              <a:t> </a:t>
            </a:r>
            <a:r>
              <a:rPr sz="1800" spc="-5" dirty="0">
                <a:solidFill>
                  <a:srgbClr val="616161"/>
                </a:solidFill>
                <a:latin typeface="Trebuchet MS"/>
                <a:cs typeface="Trebuchet MS"/>
              </a:rPr>
              <a:t>Overview</a:t>
            </a:r>
            <a:endParaRPr sz="1800">
              <a:latin typeface="Trebuchet MS"/>
              <a:cs typeface="Trebuchet MS"/>
            </a:endParaRPr>
          </a:p>
          <a:p>
            <a:pPr marL="379095" indent="-367030">
              <a:lnSpc>
                <a:spcPct val="100000"/>
              </a:lnSpc>
              <a:spcBef>
                <a:spcPts val="1065"/>
              </a:spcBef>
              <a:buFont typeface="Arial MT"/>
              <a:buChar char="●"/>
              <a:tabLst>
                <a:tab pos="379095" algn="l"/>
                <a:tab pos="379730" algn="l"/>
              </a:tabLst>
            </a:pPr>
            <a:r>
              <a:rPr sz="1800" spc="25" dirty="0">
                <a:solidFill>
                  <a:srgbClr val="616161"/>
                </a:solidFill>
                <a:latin typeface="Trebuchet MS"/>
                <a:cs typeface="Trebuchet MS"/>
              </a:rPr>
              <a:t>Spark</a:t>
            </a:r>
            <a:r>
              <a:rPr sz="1800" spc="-120" dirty="0">
                <a:solidFill>
                  <a:srgbClr val="616161"/>
                </a:solidFill>
                <a:latin typeface="Trebuchet MS"/>
                <a:cs typeface="Trebuchet MS"/>
              </a:rPr>
              <a:t> </a:t>
            </a:r>
            <a:r>
              <a:rPr sz="1800" spc="30" dirty="0">
                <a:solidFill>
                  <a:srgbClr val="616161"/>
                </a:solidFill>
                <a:latin typeface="Trebuchet MS"/>
                <a:cs typeface="Trebuchet MS"/>
              </a:rPr>
              <a:t>Core</a:t>
            </a:r>
            <a:endParaRPr sz="1800">
              <a:latin typeface="Trebuchet MS"/>
              <a:cs typeface="Trebuchet MS"/>
            </a:endParaRPr>
          </a:p>
          <a:p>
            <a:pPr marL="379095" indent="-367030">
              <a:lnSpc>
                <a:spcPct val="100000"/>
              </a:lnSpc>
              <a:spcBef>
                <a:spcPts val="1065"/>
              </a:spcBef>
              <a:buFont typeface="Arial MT"/>
              <a:buChar char="●"/>
              <a:tabLst>
                <a:tab pos="379095" algn="l"/>
                <a:tab pos="379730" algn="l"/>
              </a:tabLst>
            </a:pPr>
            <a:r>
              <a:rPr sz="1800" spc="-25" dirty="0">
                <a:solidFill>
                  <a:srgbClr val="616161"/>
                </a:solidFill>
                <a:latin typeface="Trebuchet MS"/>
                <a:cs typeface="Trebuchet MS"/>
              </a:rPr>
              <a:t>Related</a:t>
            </a:r>
            <a:r>
              <a:rPr sz="1800" spc="-110" dirty="0">
                <a:solidFill>
                  <a:srgbClr val="616161"/>
                </a:solidFill>
                <a:latin typeface="Trebuchet MS"/>
                <a:cs typeface="Trebuchet MS"/>
              </a:rPr>
              <a:t> </a:t>
            </a:r>
            <a:r>
              <a:rPr sz="1800" spc="-15" dirty="0">
                <a:solidFill>
                  <a:srgbClr val="616161"/>
                </a:solidFill>
                <a:latin typeface="Trebuchet MS"/>
                <a:cs typeface="Trebuchet MS"/>
              </a:rPr>
              <a:t>Framework</a:t>
            </a:r>
            <a:endParaRPr sz="1800">
              <a:latin typeface="Trebuchet MS"/>
              <a:cs typeface="Trebuchet MS"/>
            </a:endParaRPr>
          </a:p>
          <a:p>
            <a:pPr marL="379095" indent="-367030">
              <a:lnSpc>
                <a:spcPct val="100000"/>
              </a:lnSpc>
              <a:spcBef>
                <a:spcPts val="1065"/>
              </a:spcBef>
              <a:buFont typeface="Arial MT"/>
              <a:buChar char="●"/>
              <a:tabLst>
                <a:tab pos="379095" algn="l"/>
                <a:tab pos="379730" algn="l"/>
              </a:tabLst>
            </a:pPr>
            <a:r>
              <a:rPr sz="1800" spc="25" dirty="0">
                <a:solidFill>
                  <a:srgbClr val="616161"/>
                </a:solidFill>
                <a:latin typeface="Trebuchet MS"/>
                <a:cs typeface="Trebuchet MS"/>
              </a:rPr>
              <a:t>Spark</a:t>
            </a:r>
            <a:r>
              <a:rPr sz="1800" spc="-80" dirty="0">
                <a:solidFill>
                  <a:srgbClr val="616161"/>
                </a:solidFill>
                <a:latin typeface="Trebuchet MS"/>
                <a:cs typeface="Trebuchet MS"/>
              </a:rPr>
              <a:t> </a:t>
            </a:r>
            <a:r>
              <a:rPr sz="1800" spc="-50" dirty="0">
                <a:solidFill>
                  <a:srgbClr val="616161"/>
                </a:solidFill>
                <a:latin typeface="Trebuchet MS"/>
                <a:cs typeface="Trebuchet MS"/>
              </a:rPr>
              <a:t>vs.</a:t>
            </a:r>
            <a:r>
              <a:rPr sz="1800" spc="-80" dirty="0">
                <a:solidFill>
                  <a:srgbClr val="616161"/>
                </a:solidFill>
                <a:latin typeface="Trebuchet MS"/>
                <a:cs typeface="Trebuchet MS"/>
              </a:rPr>
              <a:t> </a:t>
            </a:r>
            <a:r>
              <a:rPr sz="1800" spc="45" dirty="0">
                <a:solidFill>
                  <a:srgbClr val="616161"/>
                </a:solidFill>
                <a:latin typeface="Trebuchet MS"/>
                <a:cs typeface="Trebuchet MS"/>
              </a:rPr>
              <a:t>Hadoop</a:t>
            </a:r>
            <a:endParaRPr sz="1800">
              <a:latin typeface="Trebuchet MS"/>
              <a:cs typeface="Trebuchet MS"/>
            </a:endParaRPr>
          </a:p>
          <a:p>
            <a:pPr marL="379095" indent="-367030">
              <a:lnSpc>
                <a:spcPct val="100000"/>
              </a:lnSpc>
              <a:spcBef>
                <a:spcPts val="1065"/>
              </a:spcBef>
              <a:buFont typeface="Arial MT"/>
              <a:buChar char="●"/>
              <a:tabLst>
                <a:tab pos="379095" algn="l"/>
                <a:tab pos="379730" algn="l"/>
              </a:tabLst>
            </a:pPr>
            <a:r>
              <a:rPr sz="1800" spc="25" dirty="0">
                <a:solidFill>
                  <a:srgbClr val="616161"/>
                </a:solidFill>
                <a:latin typeface="Trebuchet MS"/>
                <a:cs typeface="Trebuchet MS"/>
              </a:rPr>
              <a:t>Spark</a:t>
            </a:r>
            <a:r>
              <a:rPr sz="1800" spc="-105" dirty="0">
                <a:solidFill>
                  <a:srgbClr val="616161"/>
                </a:solidFill>
                <a:latin typeface="Trebuchet MS"/>
                <a:cs typeface="Trebuchet MS"/>
              </a:rPr>
              <a:t> </a:t>
            </a:r>
            <a:r>
              <a:rPr sz="1800" spc="75" dirty="0">
                <a:solidFill>
                  <a:srgbClr val="616161"/>
                </a:solidFill>
                <a:latin typeface="Trebuchet MS"/>
                <a:cs typeface="Trebuchet MS"/>
              </a:rPr>
              <a:t>Use</a:t>
            </a:r>
            <a:r>
              <a:rPr sz="1800" spc="-100" dirty="0">
                <a:solidFill>
                  <a:srgbClr val="616161"/>
                </a:solidFill>
                <a:latin typeface="Trebuchet MS"/>
                <a:cs typeface="Trebuchet MS"/>
              </a:rPr>
              <a:t> </a:t>
            </a:r>
            <a:r>
              <a:rPr sz="1800" spc="75" dirty="0">
                <a:solidFill>
                  <a:srgbClr val="616161"/>
                </a:solidFill>
                <a:latin typeface="Trebuchet MS"/>
                <a:cs typeface="Trebuchet MS"/>
              </a:rPr>
              <a:t>Cases</a:t>
            </a:r>
            <a:endParaRPr sz="1800">
              <a:latin typeface="Trebuchet MS"/>
              <a:cs typeface="Trebuchet MS"/>
            </a:endParaRPr>
          </a:p>
          <a:p>
            <a:pPr marL="379095" indent="-367030">
              <a:lnSpc>
                <a:spcPct val="100000"/>
              </a:lnSpc>
              <a:spcBef>
                <a:spcPts val="1065"/>
              </a:spcBef>
              <a:buFont typeface="Arial"/>
              <a:buChar char="●"/>
              <a:tabLst>
                <a:tab pos="379095" algn="l"/>
                <a:tab pos="379730" algn="l"/>
              </a:tabLst>
            </a:pPr>
            <a:r>
              <a:rPr sz="1800" b="1" spc="5" dirty="0">
                <a:solidFill>
                  <a:srgbClr val="616161"/>
                </a:solidFill>
                <a:latin typeface="Trebuchet MS"/>
                <a:cs typeface="Trebuchet MS"/>
              </a:rPr>
              <a:t>Spark</a:t>
            </a:r>
            <a:r>
              <a:rPr sz="1800" b="1" spc="-135" dirty="0">
                <a:solidFill>
                  <a:srgbClr val="616161"/>
                </a:solidFill>
                <a:latin typeface="Trebuchet MS"/>
                <a:cs typeface="Trebuchet MS"/>
              </a:rPr>
              <a:t> </a:t>
            </a:r>
            <a:r>
              <a:rPr sz="1800" b="1" dirty="0">
                <a:solidFill>
                  <a:srgbClr val="616161"/>
                </a:solidFill>
                <a:latin typeface="Trebuchet MS"/>
                <a:cs typeface="Trebuchet MS"/>
              </a:rPr>
              <a:t>Programming</a:t>
            </a:r>
            <a:endParaRPr sz="1800">
              <a:latin typeface="Trebuchet MS"/>
              <a:cs typeface="Trebuchet MS"/>
            </a:endParaRPr>
          </a:p>
        </p:txBody>
      </p:sp>
      <p:sp>
        <p:nvSpPr>
          <p:cNvPr id="3" name="object 3"/>
          <p:cNvSpPr txBox="1">
            <a:spLocks noGrp="1"/>
          </p:cNvSpPr>
          <p:nvPr>
            <p:ph type="title"/>
          </p:nvPr>
        </p:nvSpPr>
        <p:spPr>
          <a:xfrm>
            <a:off x="384725" y="503825"/>
            <a:ext cx="1154430" cy="452120"/>
          </a:xfrm>
          <a:prstGeom prst="rect">
            <a:avLst/>
          </a:prstGeom>
        </p:spPr>
        <p:txBody>
          <a:bodyPr vert="horz" wrap="square" lIns="0" tIns="12700" rIns="0" bIns="0" rtlCol="0">
            <a:spAutoFit/>
          </a:bodyPr>
          <a:lstStyle/>
          <a:p>
            <a:pPr marL="12700">
              <a:lnSpc>
                <a:spcPct val="100000"/>
              </a:lnSpc>
              <a:spcBef>
                <a:spcPts val="100"/>
              </a:spcBef>
            </a:pPr>
            <a:r>
              <a:rPr sz="2800" spc="-50" dirty="0">
                <a:solidFill>
                  <a:srgbClr val="202729"/>
                </a:solidFill>
              </a:rPr>
              <a:t>Outline</a:t>
            </a:r>
            <a:endParaRPr sz="28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5431790" cy="452120"/>
          </a:xfrm>
          <a:prstGeom prst="rect">
            <a:avLst/>
          </a:prstGeom>
        </p:spPr>
        <p:txBody>
          <a:bodyPr vert="horz" wrap="square" lIns="0" tIns="12700" rIns="0" bIns="0" rtlCol="0">
            <a:spAutoFit/>
          </a:bodyPr>
          <a:lstStyle/>
          <a:p>
            <a:pPr marL="12700">
              <a:lnSpc>
                <a:spcPct val="100000"/>
              </a:lnSpc>
              <a:spcBef>
                <a:spcPts val="100"/>
              </a:spcBef>
            </a:pPr>
            <a:r>
              <a:rPr sz="2800" spc="-45" dirty="0">
                <a:solidFill>
                  <a:srgbClr val="202729"/>
                </a:solidFill>
              </a:rPr>
              <a:t>What</a:t>
            </a:r>
            <a:r>
              <a:rPr sz="2800" spc="-135" dirty="0">
                <a:solidFill>
                  <a:srgbClr val="202729"/>
                </a:solidFill>
              </a:rPr>
              <a:t> </a:t>
            </a:r>
            <a:r>
              <a:rPr sz="2800" spc="135" dirty="0">
                <a:solidFill>
                  <a:srgbClr val="202729"/>
                </a:solidFill>
              </a:rPr>
              <a:t>Does</a:t>
            </a:r>
            <a:r>
              <a:rPr sz="2800" spc="-130" dirty="0">
                <a:solidFill>
                  <a:srgbClr val="202729"/>
                </a:solidFill>
              </a:rPr>
              <a:t> </a:t>
            </a:r>
            <a:r>
              <a:rPr sz="2800" spc="40" dirty="0">
                <a:solidFill>
                  <a:srgbClr val="202729"/>
                </a:solidFill>
              </a:rPr>
              <a:t>Spark</a:t>
            </a:r>
            <a:r>
              <a:rPr sz="2800" spc="-135" dirty="0">
                <a:solidFill>
                  <a:srgbClr val="202729"/>
                </a:solidFill>
              </a:rPr>
              <a:t> </a:t>
            </a:r>
            <a:r>
              <a:rPr sz="2800" spc="100" dirty="0">
                <a:solidFill>
                  <a:srgbClr val="202729"/>
                </a:solidFill>
              </a:rPr>
              <a:t>Code</a:t>
            </a:r>
            <a:r>
              <a:rPr sz="2800" spc="-130" dirty="0">
                <a:solidFill>
                  <a:srgbClr val="202729"/>
                </a:solidFill>
              </a:rPr>
              <a:t> </a:t>
            </a:r>
            <a:r>
              <a:rPr sz="2800" spc="55" dirty="0">
                <a:solidFill>
                  <a:srgbClr val="202729"/>
                </a:solidFill>
              </a:rPr>
              <a:t>Look</a:t>
            </a:r>
            <a:r>
              <a:rPr sz="2800" spc="-135" dirty="0">
                <a:solidFill>
                  <a:srgbClr val="202729"/>
                </a:solidFill>
              </a:rPr>
              <a:t> </a:t>
            </a:r>
            <a:r>
              <a:rPr sz="2800" spc="35" dirty="0">
                <a:solidFill>
                  <a:srgbClr val="202729"/>
                </a:solidFill>
              </a:rPr>
              <a:t>Like?</a:t>
            </a:r>
            <a:endParaRPr sz="2800"/>
          </a:p>
        </p:txBody>
      </p:sp>
      <p:sp>
        <p:nvSpPr>
          <p:cNvPr id="3" name="object 3"/>
          <p:cNvSpPr txBox="1"/>
          <p:nvPr/>
        </p:nvSpPr>
        <p:spPr>
          <a:xfrm>
            <a:off x="731825" y="2087435"/>
            <a:ext cx="3054350" cy="1016000"/>
          </a:xfrm>
          <a:prstGeom prst="rect">
            <a:avLst/>
          </a:prstGeom>
        </p:spPr>
        <p:txBody>
          <a:bodyPr vert="horz" wrap="square" lIns="0" tIns="12700" rIns="0" bIns="0" rtlCol="0">
            <a:spAutoFit/>
          </a:bodyPr>
          <a:lstStyle/>
          <a:p>
            <a:pPr marL="402590" marR="5080" indent="-390525">
              <a:lnSpc>
                <a:spcPct val="116100"/>
              </a:lnSpc>
              <a:spcBef>
                <a:spcPts val="100"/>
              </a:spcBef>
            </a:pPr>
            <a:r>
              <a:rPr sz="1400" spc="-5" dirty="0">
                <a:latin typeface="Consolas"/>
                <a:cs typeface="Consolas"/>
              </a:rPr>
              <a:t>count </a:t>
            </a:r>
            <a:r>
              <a:rPr sz="1400" dirty="0">
                <a:solidFill>
                  <a:srgbClr val="666666"/>
                </a:solidFill>
                <a:latin typeface="Consolas"/>
                <a:cs typeface="Consolas"/>
              </a:rPr>
              <a:t>= </a:t>
            </a:r>
            <a:r>
              <a:rPr sz="1400" spc="-5" dirty="0">
                <a:solidFill>
                  <a:srgbClr val="378037"/>
                </a:solidFill>
                <a:latin typeface="Consolas"/>
                <a:cs typeface="Consolas"/>
              </a:rPr>
              <a:t>len</a:t>
            </a:r>
            <a:r>
              <a:rPr sz="1400" spc="-5" dirty="0">
                <a:solidFill>
                  <a:srgbClr val="888888"/>
                </a:solidFill>
                <a:latin typeface="Consolas"/>
                <a:cs typeface="Consolas"/>
              </a:rPr>
              <a:t>([</a:t>
            </a:r>
            <a:r>
              <a:rPr sz="1400" spc="-5" dirty="0">
                <a:latin typeface="Consolas"/>
                <a:cs typeface="Consolas"/>
              </a:rPr>
              <a:t>line </a:t>
            </a:r>
            <a:r>
              <a:rPr sz="1400" b="1" spc="-5" dirty="0">
                <a:solidFill>
                  <a:srgbClr val="2837B0"/>
                </a:solidFill>
                <a:latin typeface="Consolas"/>
                <a:cs typeface="Consolas"/>
              </a:rPr>
              <a:t>for </a:t>
            </a:r>
            <a:r>
              <a:rPr sz="1400" spc="-5" dirty="0">
                <a:latin typeface="Consolas"/>
                <a:cs typeface="Consolas"/>
              </a:rPr>
              <a:t>line </a:t>
            </a:r>
            <a:r>
              <a:rPr sz="1400" b="1" spc="-5" dirty="0">
                <a:solidFill>
                  <a:srgbClr val="A848A8"/>
                </a:solidFill>
                <a:latin typeface="Consolas"/>
                <a:cs typeface="Consolas"/>
              </a:rPr>
              <a:t>in </a:t>
            </a:r>
            <a:r>
              <a:rPr sz="1400" dirty="0">
                <a:latin typeface="Consolas"/>
                <a:cs typeface="Consolas"/>
              </a:rPr>
              <a:t>\ </a:t>
            </a:r>
            <a:r>
              <a:rPr sz="1400" spc="-755" dirty="0">
                <a:latin typeface="Consolas"/>
                <a:cs typeface="Consolas"/>
              </a:rPr>
              <a:t> </a:t>
            </a:r>
            <a:r>
              <a:rPr sz="1400" spc="-5" dirty="0">
                <a:solidFill>
                  <a:srgbClr val="378037"/>
                </a:solidFill>
                <a:latin typeface="Consolas"/>
                <a:cs typeface="Consolas"/>
              </a:rPr>
              <a:t>open</a:t>
            </a:r>
            <a:r>
              <a:rPr sz="1400" spc="-5" dirty="0">
                <a:solidFill>
                  <a:srgbClr val="888888"/>
                </a:solidFill>
                <a:latin typeface="Consolas"/>
                <a:cs typeface="Consolas"/>
              </a:rPr>
              <a:t>(</a:t>
            </a:r>
            <a:r>
              <a:rPr sz="1400" spc="-5" dirty="0">
                <a:solidFill>
                  <a:srgbClr val="B83737"/>
                </a:solidFill>
                <a:latin typeface="Consolas"/>
                <a:cs typeface="Consolas"/>
              </a:rPr>
              <a:t>'file.txt'</a:t>
            </a:r>
            <a:r>
              <a:rPr sz="1400" spc="-5" dirty="0">
                <a:solidFill>
                  <a:srgbClr val="888888"/>
                </a:solidFill>
                <a:latin typeface="Consolas"/>
                <a:cs typeface="Consolas"/>
              </a:rPr>
              <a:t>)</a:t>
            </a:r>
            <a:r>
              <a:rPr sz="1400" spc="-15" dirty="0">
                <a:solidFill>
                  <a:srgbClr val="888888"/>
                </a:solidFill>
                <a:latin typeface="Consolas"/>
                <a:cs typeface="Consolas"/>
              </a:rPr>
              <a:t> </a:t>
            </a:r>
            <a:r>
              <a:rPr sz="1400" dirty="0">
                <a:latin typeface="Consolas"/>
                <a:cs typeface="Consolas"/>
              </a:rPr>
              <a:t>\</a:t>
            </a:r>
            <a:endParaRPr sz="1400">
              <a:latin typeface="Consolas"/>
              <a:cs typeface="Consolas"/>
            </a:endParaRPr>
          </a:p>
          <a:p>
            <a:pPr marL="12700" marR="493395" indent="389890">
              <a:lnSpc>
                <a:spcPct val="116100"/>
              </a:lnSpc>
            </a:pPr>
            <a:r>
              <a:rPr sz="1400" b="1" spc="-5" dirty="0">
                <a:solidFill>
                  <a:srgbClr val="2837B0"/>
                </a:solidFill>
                <a:latin typeface="Consolas"/>
                <a:cs typeface="Consolas"/>
              </a:rPr>
              <a:t>if </a:t>
            </a:r>
            <a:r>
              <a:rPr sz="1400" spc="-5" dirty="0">
                <a:solidFill>
                  <a:srgbClr val="B83737"/>
                </a:solidFill>
                <a:latin typeface="Consolas"/>
                <a:cs typeface="Consolas"/>
              </a:rPr>
              <a:t>'pattern' </a:t>
            </a:r>
            <a:r>
              <a:rPr sz="1400" b="1" spc="-5" dirty="0">
                <a:solidFill>
                  <a:srgbClr val="A848A8"/>
                </a:solidFill>
                <a:latin typeface="Consolas"/>
                <a:cs typeface="Consolas"/>
              </a:rPr>
              <a:t>in </a:t>
            </a:r>
            <a:r>
              <a:rPr sz="1400" spc="-5" dirty="0">
                <a:latin typeface="Consolas"/>
                <a:cs typeface="Consolas"/>
              </a:rPr>
              <a:t>line</a:t>
            </a:r>
            <a:r>
              <a:rPr sz="1400" spc="-5" dirty="0">
                <a:solidFill>
                  <a:srgbClr val="888888"/>
                </a:solidFill>
                <a:latin typeface="Consolas"/>
                <a:cs typeface="Consolas"/>
              </a:rPr>
              <a:t>]) </a:t>
            </a:r>
            <a:r>
              <a:rPr sz="1400" spc="-755" dirty="0">
                <a:solidFill>
                  <a:srgbClr val="888888"/>
                </a:solidFill>
                <a:latin typeface="Consolas"/>
                <a:cs typeface="Consolas"/>
              </a:rPr>
              <a:t> </a:t>
            </a:r>
            <a:r>
              <a:rPr sz="1400" spc="-5" dirty="0">
                <a:solidFill>
                  <a:srgbClr val="378037"/>
                </a:solidFill>
                <a:latin typeface="Consolas"/>
                <a:cs typeface="Consolas"/>
              </a:rPr>
              <a:t>print</a:t>
            </a:r>
            <a:r>
              <a:rPr sz="1400" spc="-5" dirty="0">
                <a:solidFill>
                  <a:srgbClr val="888888"/>
                </a:solidFill>
                <a:latin typeface="Consolas"/>
                <a:cs typeface="Consolas"/>
              </a:rPr>
              <a:t>(</a:t>
            </a:r>
            <a:r>
              <a:rPr sz="1400" spc="-5" dirty="0">
                <a:latin typeface="Consolas"/>
                <a:cs typeface="Consolas"/>
              </a:rPr>
              <a:t>count</a:t>
            </a:r>
            <a:r>
              <a:rPr sz="1400" spc="-5" dirty="0">
                <a:solidFill>
                  <a:srgbClr val="888888"/>
                </a:solidFill>
                <a:latin typeface="Consolas"/>
                <a:cs typeface="Consolas"/>
              </a:rPr>
              <a:t>)</a:t>
            </a:r>
            <a:endParaRPr sz="1400">
              <a:latin typeface="Consolas"/>
              <a:cs typeface="Consolas"/>
            </a:endParaRPr>
          </a:p>
        </p:txBody>
      </p:sp>
      <p:sp>
        <p:nvSpPr>
          <p:cNvPr id="4" name="object 4"/>
          <p:cNvSpPr txBox="1"/>
          <p:nvPr/>
        </p:nvSpPr>
        <p:spPr>
          <a:xfrm>
            <a:off x="4457450" y="2087435"/>
            <a:ext cx="4031615" cy="1016000"/>
          </a:xfrm>
          <a:prstGeom prst="rect">
            <a:avLst/>
          </a:prstGeom>
        </p:spPr>
        <p:txBody>
          <a:bodyPr vert="horz" wrap="square" lIns="0" tIns="12700" rIns="0" bIns="0" rtlCol="0">
            <a:spAutoFit/>
          </a:bodyPr>
          <a:lstStyle/>
          <a:p>
            <a:pPr marL="12700" marR="5080">
              <a:lnSpc>
                <a:spcPct val="116100"/>
              </a:lnSpc>
              <a:spcBef>
                <a:spcPts val="100"/>
              </a:spcBef>
            </a:pPr>
            <a:r>
              <a:rPr sz="1400" spc="-5" dirty="0">
                <a:latin typeface="Consolas"/>
                <a:cs typeface="Consolas"/>
              </a:rPr>
              <a:t>file </a:t>
            </a:r>
            <a:r>
              <a:rPr sz="1400" dirty="0">
                <a:solidFill>
                  <a:srgbClr val="666666"/>
                </a:solidFill>
                <a:latin typeface="Consolas"/>
                <a:cs typeface="Consolas"/>
              </a:rPr>
              <a:t>= </a:t>
            </a:r>
            <a:r>
              <a:rPr sz="1400" spc="-5" dirty="0">
                <a:latin typeface="Consolas"/>
                <a:cs typeface="Consolas"/>
              </a:rPr>
              <a:t>sparkContext</a:t>
            </a:r>
            <a:r>
              <a:rPr sz="1400" spc="-5" dirty="0">
                <a:solidFill>
                  <a:srgbClr val="666666"/>
                </a:solidFill>
                <a:latin typeface="Consolas"/>
                <a:cs typeface="Consolas"/>
              </a:rPr>
              <a:t>.</a:t>
            </a:r>
            <a:r>
              <a:rPr sz="1400" spc="-5" dirty="0">
                <a:latin typeface="Consolas"/>
                <a:cs typeface="Consolas"/>
              </a:rPr>
              <a:t>textFile</a:t>
            </a:r>
            <a:r>
              <a:rPr sz="1400" spc="-5" dirty="0">
                <a:solidFill>
                  <a:srgbClr val="888888"/>
                </a:solidFill>
                <a:latin typeface="Consolas"/>
                <a:cs typeface="Consolas"/>
              </a:rPr>
              <a:t>(</a:t>
            </a:r>
            <a:r>
              <a:rPr sz="1400" spc="-5" dirty="0">
                <a:solidFill>
                  <a:srgbClr val="B83737"/>
                </a:solidFill>
                <a:latin typeface="Consolas"/>
                <a:cs typeface="Consolas"/>
              </a:rPr>
              <a:t>"file.txt"</a:t>
            </a:r>
            <a:r>
              <a:rPr sz="1400" spc="-5" dirty="0">
                <a:solidFill>
                  <a:srgbClr val="888888"/>
                </a:solidFill>
                <a:latin typeface="Consolas"/>
                <a:cs typeface="Consolas"/>
              </a:rPr>
              <a:t>) </a:t>
            </a:r>
            <a:r>
              <a:rPr sz="1400" dirty="0">
                <a:solidFill>
                  <a:srgbClr val="888888"/>
                </a:solidFill>
                <a:latin typeface="Consolas"/>
                <a:cs typeface="Consolas"/>
              </a:rPr>
              <a:t> </a:t>
            </a:r>
            <a:r>
              <a:rPr sz="1400" spc="-5" dirty="0">
                <a:latin typeface="Consolas"/>
                <a:cs typeface="Consolas"/>
              </a:rPr>
              <a:t>matcher </a:t>
            </a:r>
            <a:r>
              <a:rPr sz="1400" dirty="0">
                <a:solidFill>
                  <a:srgbClr val="666666"/>
                </a:solidFill>
                <a:latin typeface="Consolas"/>
                <a:cs typeface="Consolas"/>
              </a:rPr>
              <a:t>= </a:t>
            </a:r>
            <a:r>
              <a:rPr sz="1400" spc="-5" dirty="0">
                <a:latin typeface="Consolas"/>
                <a:cs typeface="Consolas"/>
              </a:rPr>
              <a:t>lambda x: x.contains(</a:t>
            </a:r>
            <a:r>
              <a:rPr sz="1400" spc="-5" dirty="0">
                <a:solidFill>
                  <a:srgbClr val="B83737"/>
                </a:solidFill>
                <a:latin typeface="Consolas"/>
                <a:cs typeface="Consolas"/>
              </a:rPr>
              <a:t>"pattern"</a:t>
            </a:r>
            <a:r>
              <a:rPr sz="1400" spc="-5" dirty="0">
                <a:solidFill>
                  <a:srgbClr val="888888"/>
                </a:solidFill>
                <a:latin typeface="Consolas"/>
                <a:cs typeface="Consolas"/>
              </a:rPr>
              <a:t>) </a:t>
            </a:r>
            <a:r>
              <a:rPr sz="1400" spc="-755" dirty="0">
                <a:solidFill>
                  <a:srgbClr val="888888"/>
                </a:solidFill>
                <a:latin typeface="Consolas"/>
                <a:cs typeface="Consolas"/>
              </a:rPr>
              <a:t> </a:t>
            </a:r>
            <a:r>
              <a:rPr sz="1400" spc="-5" dirty="0">
                <a:latin typeface="Consolas"/>
                <a:cs typeface="Consolas"/>
              </a:rPr>
              <a:t>count </a:t>
            </a:r>
            <a:r>
              <a:rPr sz="1400" dirty="0">
                <a:solidFill>
                  <a:srgbClr val="666666"/>
                </a:solidFill>
                <a:latin typeface="Consolas"/>
                <a:cs typeface="Consolas"/>
              </a:rPr>
              <a:t>= </a:t>
            </a:r>
            <a:r>
              <a:rPr sz="1400" spc="-5" dirty="0">
                <a:latin typeface="Consolas"/>
                <a:cs typeface="Consolas"/>
              </a:rPr>
              <a:t>file</a:t>
            </a:r>
            <a:r>
              <a:rPr sz="1400" spc="-5" dirty="0">
                <a:solidFill>
                  <a:srgbClr val="666666"/>
                </a:solidFill>
                <a:latin typeface="Consolas"/>
                <a:cs typeface="Consolas"/>
              </a:rPr>
              <a:t>.</a:t>
            </a:r>
            <a:r>
              <a:rPr sz="1400" spc="-5" dirty="0">
                <a:latin typeface="Consolas"/>
                <a:cs typeface="Consolas"/>
              </a:rPr>
              <a:t>filter</a:t>
            </a:r>
            <a:r>
              <a:rPr sz="1400" spc="-5" dirty="0">
                <a:solidFill>
                  <a:srgbClr val="888888"/>
                </a:solidFill>
                <a:latin typeface="Consolas"/>
                <a:cs typeface="Consolas"/>
              </a:rPr>
              <a:t>(</a:t>
            </a:r>
            <a:r>
              <a:rPr sz="1400" spc="-5" dirty="0">
                <a:latin typeface="Consolas"/>
                <a:cs typeface="Consolas"/>
              </a:rPr>
              <a:t>matcher</a:t>
            </a:r>
            <a:r>
              <a:rPr sz="1400" spc="-5" dirty="0">
                <a:solidFill>
                  <a:srgbClr val="888888"/>
                </a:solidFill>
                <a:latin typeface="Consolas"/>
                <a:cs typeface="Consolas"/>
              </a:rPr>
              <a:t>)</a:t>
            </a:r>
            <a:r>
              <a:rPr sz="1400" spc="-5" dirty="0">
                <a:solidFill>
                  <a:srgbClr val="666666"/>
                </a:solidFill>
                <a:latin typeface="Consolas"/>
                <a:cs typeface="Consolas"/>
              </a:rPr>
              <a:t>.</a:t>
            </a:r>
            <a:r>
              <a:rPr sz="1400" spc="-5" dirty="0">
                <a:latin typeface="Consolas"/>
                <a:cs typeface="Consolas"/>
              </a:rPr>
              <a:t>count</a:t>
            </a:r>
            <a:r>
              <a:rPr sz="1400" spc="-5" dirty="0">
                <a:solidFill>
                  <a:srgbClr val="888888"/>
                </a:solidFill>
                <a:latin typeface="Consolas"/>
                <a:cs typeface="Consolas"/>
              </a:rPr>
              <a:t>() </a:t>
            </a:r>
            <a:r>
              <a:rPr sz="1400" dirty="0">
                <a:solidFill>
                  <a:srgbClr val="888888"/>
                </a:solidFill>
                <a:latin typeface="Consolas"/>
                <a:cs typeface="Consolas"/>
              </a:rPr>
              <a:t> </a:t>
            </a:r>
            <a:r>
              <a:rPr sz="1400" spc="-5" dirty="0">
                <a:solidFill>
                  <a:srgbClr val="378037"/>
                </a:solidFill>
                <a:latin typeface="Consolas"/>
                <a:cs typeface="Consolas"/>
              </a:rPr>
              <a:t>print</a:t>
            </a:r>
            <a:r>
              <a:rPr sz="1400" spc="-5" dirty="0">
                <a:solidFill>
                  <a:srgbClr val="888888"/>
                </a:solidFill>
                <a:latin typeface="Consolas"/>
                <a:cs typeface="Consolas"/>
              </a:rPr>
              <a:t>(</a:t>
            </a:r>
            <a:r>
              <a:rPr sz="1400" spc="-5" dirty="0">
                <a:latin typeface="Consolas"/>
                <a:cs typeface="Consolas"/>
              </a:rPr>
              <a:t>count</a:t>
            </a:r>
            <a:r>
              <a:rPr sz="1400" spc="-5" dirty="0">
                <a:solidFill>
                  <a:srgbClr val="888888"/>
                </a:solidFill>
                <a:latin typeface="Consolas"/>
                <a:cs typeface="Consolas"/>
              </a:rPr>
              <a:t>)</a:t>
            </a:r>
            <a:endParaRPr sz="1400">
              <a:latin typeface="Consolas"/>
              <a:cs typeface="Consola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1358900" cy="452120"/>
          </a:xfrm>
          <a:prstGeom prst="rect">
            <a:avLst/>
          </a:prstGeom>
        </p:spPr>
        <p:txBody>
          <a:bodyPr vert="horz" wrap="square" lIns="0" tIns="12700" rIns="0" bIns="0" rtlCol="0">
            <a:spAutoFit/>
          </a:bodyPr>
          <a:lstStyle/>
          <a:p>
            <a:pPr marL="12700">
              <a:lnSpc>
                <a:spcPct val="100000"/>
              </a:lnSpc>
              <a:spcBef>
                <a:spcPts val="100"/>
              </a:spcBef>
            </a:pPr>
            <a:r>
              <a:rPr sz="2800" spc="-20" dirty="0">
                <a:solidFill>
                  <a:srgbClr val="202729"/>
                </a:solidFill>
              </a:rPr>
              <a:t>Example</a:t>
            </a:r>
            <a:endParaRPr sz="2800"/>
          </a:p>
        </p:txBody>
      </p:sp>
      <p:grpSp>
        <p:nvGrpSpPr>
          <p:cNvPr id="3" name="object 3"/>
          <p:cNvGrpSpPr/>
          <p:nvPr/>
        </p:nvGrpSpPr>
        <p:grpSpPr>
          <a:xfrm>
            <a:off x="3789267" y="792962"/>
            <a:ext cx="2240280" cy="1341755"/>
            <a:chOff x="3789267" y="792962"/>
            <a:chExt cx="2240280" cy="1341755"/>
          </a:xfrm>
        </p:grpSpPr>
        <p:sp>
          <p:nvSpPr>
            <p:cNvPr id="4" name="object 4"/>
            <p:cNvSpPr/>
            <p:nvPr/>
          </p:nvSpPr>
          <p:spPr>
            <a:xfrm>
              <a:off x="3831141" y="797724"/>
              <a:ext cx="2193925" cy="1310005"/>
            </a:xfrm>
            <a:custGeom>
              <a:avLst/>
              <a:gdLst/>
              <a:ahLst/>
              <a:cxnLst/>
              <a:rect l="l" t="t" r="r" b="b"/>
              <a:pathLst>
                <a:path w="2193925" h="1310005">
                  <a:moveTo>
                    <a:pt x="2193433" y="0"/>
                  </a:moveTo>
                  <a:lnTo>
                    <a:pt x="0" y="1309897"/>
                  </a:lnTo>
                </a:path>
              </a:pathLst>
            </a:custGeom>
            <a:ln w="9524">
              <a:solidFill>
                <a:srgbClr val="4BA173"/>
              </a:solidFill>
            </a:ln>
          </p:spPr>
          <p:txBody>
            <a:bodyPr wrap="square" lIns="0" tIns="0" rIns="0" bIns="0" rtlCol="0"/>
            <a:lstStyle/>
            <a:p>
              <a:endParaRPr/>
            </a:p>
          </p:txBody>
        </p:sp>
        <p:sp>
          <p:nvSpPr>
            <p:cNvPr id="5" name="object 5"/>
            <p:cNvSpPr/>
            <p:nvPr/>
          </p:nvSpPr>
          <p:spPr>
            <a:xfrm>
              <a:off x="3794030" y="2094115"/>
              <a:ext cx="45720" cy="36195"/>
            </a:xfrm>
            <a:custGeom>
              <a:avLst/>
              <a:gdLst/>
              <a:ahLst/>
              <a:cxnLst/>
              <a:rect l="l" t="t" r="r" b="b"/>
              <a:pathLst>
                <a:path w="45720" h="36194">
                  <a:moveTo>
                    <a:pt x="0" y="35669"/>
                  </a:moveTo>
                  <a:lnTo>
                    <a:pt x="29044" y="0"/>
                  </a:lnTo>
                  <a:lnTo>
                    <a:pt x="45177" y="27014"/>
                  </a:lnTo>
                  <a:lnTo>
                    <a:pt x="0" y="35669"/>
                  </a:lnTo>
                  <a:close/>
                </a:path>
              </a:pathLst>
            </a:custGeom>
            <a:solidFill>
              <a:srgbClr val="4BA173"/>
            </a:solidFill>
          </p:spPr>
          <p:txBody>
            <a:bodyPr wrap="square" lIns="0" tIns="0" rIns="0" bIns="0" rtlCol="0"/>
            <a:lstStyle/>
            <a:p>
              <a:endParaRPr/>
            </a:p>
          </p:txBody>
        </p:sp>
        <p:sp>
          <p:nvSpPr>
            <p:cNvPr id="6" name="object 6"/>
            <p:cNvSpPr/>
            <p:nvPr/>
          </p:nvSpPr>
          <p:spPr>
            <a:xfrm>
              <a:off x="3794030" y="2094115"/>
              <a:ext cx="45720" cy="36195"/>
            </a:xfrm>
            <a:custGeom>
              <a:avLst/>
              <a:gdLst/>
              <a:ahLst/>
              <a:cxnLst/>
              <a:rect l="l" t="t" r="r" b="b"/>
              <a:pathLst>
                <a:path w="45720" h="36194">
                  <a:moveTo>
                    <a:pt x="29044" y="0"/>
                  </a:moveTo>
                  <a:lnTo>
                    <a:pt x="0" y="35669"/>
                  </a:lnTo>
                  <a:lnTo>
                    <a:pt x="45177" y="27014"/>
                  </a:lnTo>
                  <a:lnTo>
                    <a:pt x="29044" y="0"/>
                  </a:lnTo>
                  <a:close/>
                </a:path>
              </a:pathLst>
            </a:custGeom>
            <a:ln w="9524">
              <a:solidFill>
                <a:srgbClr val="4BA173"/>
              </a:solidFill>
            </a:ln>
          </p:spPr>
          <p:txBody>
            <a:bodyPr wrap="square" lIns="0" tIns="0" rIns="0" bIns="0" rtlCol="0"/>
            <a:lstStyle/>
            <a:p>
              <a:endParaRPr/>
            </a:p>
          </p:txBody>
        </p:sp>
      </p:grpSp>
      <p:sp>
        <p:nvSpPr>
          <p:cNvPr id="7" name="object 7"/>
          <p:cNvSpPr txBox="1"/>
          <p:nvPr/>
        </p:nvSpPr>
        <p:spPr>
          <a:xfrm>
            <a:off x="6097600" y="630637"/>
            <a:ext cx="1749425" cy="238760"/>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MT"/>
                <a:cs typeface="Arial MT"/>
              </a:rPr>
              <a:t>Sentient</a:t>
            </a:r>
            <a:r>
              <a:rPr sz="1400" spc="-45" dirty="0">
                <a:latin typeface="Arial MT"/>
                <a:cs typeface="Arial MT"/>
              </a:rPr>
              <a:t> </a:t>
            </a:r>
            <a:r>
              <a:rPr sz="1400" spc="-5" dirty="0">
                <a:latin typeface="Arial MT"/>
                <a:cs typeface="Arial MT"/>
              </a:rPr>
              <a:t>Spark</a:t>
            </a:r>
            <a:r>
              <a:rPr sz="1400" spc="-45" dirty="0">
                <a:latin typeface="Arial MT"/>
                <a:cs typeface="Arial MT"/>
              </a:rPr>
              <a:t> </a:t>
            </a:r>
            <a:r>
              <a:rPr sz="1400" spc="-5" dirty="0">
                <a:latin typeface="Arial MT"/>
                <a:cs typeface="Arial MT"/>
              </a:rPr>
              <a:t>Object</a:t>
            </a:r>
            <a:endParaRPr sz="1400" dirty="0">
              <a:latin typeface="Arial MT"/>
              <a:cs typeface="Arial MT"/>
            </a:endParaRPr>
          </a:p>
        </p:txBody>
      </p:sp>
      <p:grpSp>
        <p:nvGrpSpPr>
          <p:cNvPr id="8" name="object 8"/>
          <p:cNvGrpSpPr/>
          <p:nvPr/>
        </p:nvGrpSpPr>
        <p:grpSpPr>
          <a:xfrm>
            <a:off x="6278868" y="1971687"/>
            <a:ext cx="513080" cy="461645"/>
            <a:chOff x="6278868" y="1971687"/>
            <a:chExt cx="513080" cy="461645"/>
          </a:xfrm>
        </p:grpSpPr>
        <p:sp>
          <p:nvSpPr>
            <p:cNvPr id="9" name="object 9"/>
            <p:cNvSpPr/>
            <p:nvPr/>
          </p:nvSpPr>
          <p:spPr>
            <a:xfrm>
              <a:off x="6315777" y="1976449"/>
              <a:ext cx="471170" cy="423545"/>
            </a:xfrm>
            <a:custGeom>
              <a:avLst/>
              <a:gdLst/>
              <a:ahLst/>
              <a:cxnLst/>
              <a:rect l="l" t="t" r="r" b="b"/>
              <a:pathLst>
                <a:path w="471170" h="423544">
                  <a:moveTo>
                    <a:pt x="470797" y="0"/>
                  </a:moveTo>
                  <a:lnTo>
                    <a:pt x="0" y="423194"/>
                  </a:lnTo>
                </a:path>
              </a:pathLst>
            </a:custGeom>
            <a:ln w="9524">
              <a:solidFill>
                <a:srgbClr val="4BA173"/>
              </a:solidFill>
            </a:ln>
          </p:spPr>
          <p:txBody>
            <a:bodyPr wrap="square" lIns="0" tIns="0" rIns="0" bIns="0" rtlCol="0"/>
            <a:lstStyle/>
            <a:p>
              <a:endParaRPr/>
            </a:p>
          </p:txBody>
        </p:sp>
        <p:sp>
          <p:nvSpPr>
            <p:cNvPr id="10" name="object 10"/>
            <p:cNvSpPr/>
            <p:nvPr/>
          </p:nvSpPr>
          <p:spPr>
            <a:xfrm>
              <a:off x="6283630" y="2387944"/>
              <a:ext cx="43180" cy="40640"/>
            </a:xfrm>
            <a:custGeom>
              <a:avLst/>
              <a:gdLst/>
              <a:ahLst/>
              <a:cxnLst/>
              <a:rect l="l" t="t" r="r" b="b"/>
              <a:pathLst>
                <a:path w="43179" h="40639">
                  <a:moveTo>
                    <a:pt x="0" y="40597"/>
                  </a:moveTo>
                  <a:lnTo>
                    <a:pt x="21629" y="0"/>
                  </a:lnTo>
                  <a:lnTo>
                    <a:pt x="42664" y="23401"/>
                  </a:lnTo>
                  <a:lnTo>
                    <a:pt x="0" y="40597"/>
                  </a:lnTo>
                  <a:close/>
                </a:path>
              </a:pathLst>
            </a:custGeom>
            <a:solidFill>
              <a:srgbClr val="4BA173"/>
            </a:solidFill>
          </p:spPr>
          <p:txBody>
            <a:bodyPr wrap="square" lIns="0" tIns="0" rIns="0" bIns="0" rtlCol="0"/>
            <a:lstStyle/>
            <a:p>
              <a:endParaRPr/>
            </a:p>
          </p:txBody>
        </p:sp>
        <p:sp>
          <p:nvSpPr>
            <p:cNvPr id="11" name="object 11"/>
            <p:cNvSpPr/>
            <p:nvPr/>
          </p:nvSpPr>
          <p:spPr>
            <a:xfrm>
              <a:off x="6283630" y="2387944"/>
              <a:ext cx="43180" cy="40640"/>
            </a:xfrm>
            <a:custGeom>
              <a:avLst/>
              <a:gdLst/>
              <a:ahLst/>
              <a:cxnLst/>
              <a:rect l="l" t="t" r="r" b="b"/>
              <a:pathLst>
                <a:path w="43179" h="40639">
                  <a:moveTo>
                    <a:pt x="21629" y="0"/>
                  </a:moveTo>
                  <a:lnTo>
                    <a:pt x="0" y="40597"/>
                  </a:lnTo>
                  <a:lnTo>
                    <a:pt x="42664" y="23401"/>
                  </a:lnTo>
                  <a:lnTo>
                    <a:pt x="21629" y="0"/>
                  </a:lnTo>
                  <a:close/>
                </a:path>
              </a:pathLst>
            </a:custGeom>
            <a:ln w="9524">
              <a:solidFill>
                <a:srgbClr val="4BA173"/>
              </a:solidFill>
            </a:ln>
          </p:spPr>
          <p:txBody>
            <a:bodyPr wrap="square" lIns="0" tIns="0" rIns="0" bIns="0" rtlCol="0"/>
            <a:lstStyle/>
            <a:p>
              <a:endParaRPr/>
            </a:p>
          </p:txBody>
        </p:sp>
      </p:grpSp>
      <p:sp>
        <p:nvSpPr>
          <p:cNvPr id="12" name="object 12"/>
          <p:cNvSpPr txBox="1"/>
          <p:nvPr/>
        </p:nvSpPr>
        <p:spPr>
          <a:xfrm>
            <a:off x="2247425" y="1709063"/>
            <a:ext cx="5912485" cy="1385570"/>
          </a:xfrm>
          <a:prstGeom prst="rect">
            <a:avLst/>
          </a:prstGeom>
        </p:spPr>
        <p:txBody>
          <a:bodyPr vert="horz" wrap="square" lIns="0" tIns="22860" rIns="0" bIns="0" rtlCol="0">
            <a:spAutoFit/>
          </a:bodyPr>
          <a:lstStyle/>
          <a:p>
            <a:pPr marL="4707890" marR="5080">
              <a:lnSpc>
                <a:spcPts val="1650"/>
              </a:lnSpc>
              <a:spcBef>
                <a:spcPts val="180"/>
              </a:spcBef>
            </a:pPr>
            <a:r>
              <a:rPr sz="1400" spc="-5" dirty="0">
                <a:latin typeface="Arial MT"/>
                <a:cs typeface="Arial MT"/>
              </a:rPr>
              <a:t>Transformation  Function</a:t>
            </a:r>
            <a:endParaRPr sz="1400" dirty="0">
              <a:latin typeface="Arial MT"/>
              <a:cs typeface="Arial MT"/>
            </a:endParaRPr>
          </a:p>
          <a:p>
            <a:pPr marL="12700">
              <a:lnSpc>
                <a:spcPts val="1480"/>
              </a:lnSpc>
            </a:pPr>
            <a:r>
              <a:rPr sz="1400" spc="-5" dirty="0">
                <a:latin typeface="Consolas"/>
                <a:cs typeface="Consolas"/>
              </a:rPr>
              <a:t>file</a:t>
            </a:r>
            <a:r>
              <a:rPr sz="1400" spc="-25" dirty="0">
                <a:latin typeface="Consolas"/>
                <a:cs typeface="Consolas"/>
              </a:rPr>
              <a:t> </a:t>
            </a:r>
            <a:r>
              <a:rPr sz="1400" dirty="0">
                <a:solidFill>
                  <a:srgbClr val="666666"/>
                </a:solidFill>
                <a:latin typeface="Consolas"/>
                <a:cs typeface="Consolas"/>
              </a:rPr>
              <a:t>=</a:t>
            </a:r>
            <a:r>
              <a:rPr sz="1400" spc="-30" dirty="0">
                <a:solidFill>
                  <a:srgbClr val="666666"/>
                </a:solidFill>
                <a:latin typeface="Consolas"/>
                <a:cs typeface="Consolas"/>
              </a:rPr>
              <a:t> </a:t>
            </a:r>
            <a:r>
              <a:rPr sz="1400" spc="-5" dirty="0">
                <a:latin typeface="Consolas"/>
                <a:cs typeface="Consolas"/>
              </a:rPr>
              <a:t>sparkContext</a:t>
            </a:r>
            <a:r>
              <a:rPr sz="1400" spc="-5" dirty="0">
                <a:solidFill>
                  <a:srgbClr val="666666"/>
                </a:solidFill>
                <a:latin typeface="Consolas"/>
                <a:cs typeface="Consolas"/>
              </a:rPr>
              <a:t>.</a:t>
            </a:r>
            <a:r>
              <a:rPr sz="1400" spc="-5" dirty="0">
                <a:latin typeface="Consolas"/>
                <a:cs typeface="Consolas"/>
              </a:rPr>
              <a:t>textFile</a:t>
            </a:r>
            <a:r>
              <a:rPr sz="1400" spc="-5" dirty="0">
                <a:solidFill>
                  <a:srgbClr val="888888"/>
                </a:solidFill>
                <a:latin typeface="Consolas"/>
                <a:cs typeface="Consolas"/>
              </a:rPr>
              <a:t>(</a:t>
            </a:r>
            <a:r>
              <a:rPr sz="1400" spc="-5" dirty="0">
                <a:solidFill>
                  <a:srgbClr val="B83737"/>
                </a:solidFill>
                <a:latin typeface="Consolas"/>
                <a:cs typeface="Consolas"/>
              </a:rPr>
              <a:t>"file.txt"</a:t>
            </a:r>
            <a:r>
              <a:rPr sz="1400" spc="-5" dirty="0">
                <a:solidFill>
                  <a:srgbClr val="888888"/>
                </a:solidFill>
                <a:latin typeface="Consolas"/>
                <a:cs typeface="Consolas"/>
              </a:rPr>
              <a:t>)</a:t>
            </a:r>
            <a:endParaRPr sz="1400" dirty="0">
              <a:latin typeface="Consolas"/>
              <a:cs typeface="Consolas"/>
            </a:endParaRPr>
          </a:p>
          <a:p>
            <a:pPr marL="12700" marR="1885950">
              <a:lnSpc>
                <a:spcPct val="116100"/>
              </a:lnSpc>
            </a:pPr>
            <a:r>
              <a:rPr sz="1400" spc="-5" dirty="0">
                <a:latin typeface="Consolas"/>
                <a:cs typeface="Consolas"/>
              </a:rPr>
              <a:t>matcher </a:t>
            </a:r>
            <a:r>
              <a:rPr sz="1400" dirty="0">
                <a:solidFill>
                  <a:srgbClr val="666666"/>
                </a:solidFill>
                <a:latin typeface="Consolas"/>
                <a:cs typeface="Consolas"/>
              </a:rPr>
              <a:t>= </a:t>
            </a:r>
            <a:r>
              <a:rPr sz="1400" spc="-5" dirty="0">
                <a:latin typeface="Consolas"/>
                <a:cs typeface="Consolas"/>
              </a:rPr>
              <a:t>lambda x: x.contains(</a:t>
            </a:r>
            <a:r>
              <a:rPr sz="1400" spc="-5" dirty="0">
                <a:solidFill>
                  <a:srgbClr val="B83737"/>
                </a:solidFill>
                <a:latin typeface="Consolas"/>
                <a:cs typeface="Consolas"/>
              </a:rPr>
              <a:t>"pattern"</a:t>
            </a:r>
            <a:r>
              <a:rPr sz="1400" spc="-5" dirty="0">
                <a:solidFill>
                  <a:srgbClr val="888888"/>
                </a:solidFill>
                <a:latin typeface="Consolas"/>
                <a:cs typeface="Consolas"/>
              </a:rPr>
              <a:t>) </a:t>
            </a:r>
            <a:r>
              <a:rPr sz="1400" spc="-755" dirty="0">
                <a:solidFill>
                  <a:srgbClr val="888888"/>
                </a:solidFill>
                <a:latin typeface="Consolas"/>
                <a:cs typeface="Consolas"/>
              </a:rPr>
              <a:t> </a:t>
            </a:r>
            <a:r>
              <a:rPr sz="1400" spc="-5" dirty="0">
                <a:latin typeface="Consolas"/>
                <a:cs typeface="Consolas"/>
              </a:rPr>
              <a:t>count </a:t>
            </a:r>
            <a:r>
              <a:rPr sz="1400" dirty="0">
                <a:solidFill>
                  <a:srgbClr val="666666"/>
                </a:solidFill>
                <a:latin typeface="Consolas"/>
                <a:cs typeface="Consolas"/>
              </a:rPr>
              <a:t>= </a:t>
            </a:r>
            <a:r>
              <a:rPr sz="1400" spc="-5" dirty="0">
                <a:latin typeface="Consolas"/>
                <a:cs typeface="Consolas"/>
              </a:rPr>
              <a:t>file</a:t>
            </a:r>
            <a:r>
              <a:rPr sz="1400" spc="-5" dirty="0">
                <a:solidFill>
                  <a:srgbClr val="666666"/>
                </a:solidFill>
                <a:latin typeface="Consolas"/>
                <a:cs typeface="Consolas"/>
              </a:rPr>
              <a:t>.</a:t>
            </a:r>
            <a:r>
              <a:rPr sz="1400" spc="-5" dirty="0">
                <a:latin typeface="Consolas"/>
                <a:cs typeface="Consolas"/>
              </a:rPr>
              <a:t>filter</a:t>
            </a:r>
            <a:r>
              <a:rPr sz="1400" spc="-5" dirty="0">
                <a:solidFill>
                  <a:srgbClr val="888888"/>
                </a:solidFill>
                <a:latin typeface="Consolas"/>
                <a:cs typeface="Consolas"/>
              </a:rPr>
              <a:t>(</a:t>
            </a:r>
            <a:r>
              <a:rPr sz="1400" spc="-5" dirty="0">
                <a:latin typeface="Consolas"/>
                <a:cs typeface="Consolas"/>
              </a:rPr>
              <a:t>matcher</a:t>
            </a:r>
            <a:r>
              <a:rPr sz="1400" spc="-5" dirty="0">
                <a:solidFill>
                  <a:srgbClr val="888888"/>
                </a:solidFill>
                <a:latin typeface="Consolas"/>
                <a:cs typeface="Consolas"/>
              </a:rPr>
              <a:t>)</a:t>
            </a:r>
            <a:r>
              <a:rPr sz="1400" spc="-5" dirty="0">
                <a:solidFill>
                  <a:srgbClr val="666666"/>
                </a:solidFill>
                <a:latin typeface="Consolas"/>
                <a:cs typeface="Consolas"/>
              </a:rPr>
              <a:t>.</a:t>
            </a:r>
            <a:r>
              <a:rPr sz="1400" spc="-5" dirty="0">
                <a:latin typeface="Consolas"/>
                <a:cs typeface="Consolas"/>
              </a:rPr>
              <a:t>count</a:t>
            </a:r>
            <a:r>
              <a:rPr sz="1400" spc="-5" dirty="0">
                <a:solidFill>
                  <a:srgbClr val="888888"/>
                </a:solidFill>
                <a:latin typeface="Consolas"/>
                <a:cs typeface="Consolas"/>
              </a:rPr>
              <a:t>() </a:t>
            </a:r>
            <a:r>
              <a:rPr sz="1400" dirty="0">
                <a:solidFill>
                  <a:srgbClr val="888888"/>
                </a:solidFill>
                <a:latin typeface="Consolas"/>
                <a:cs typeface="Consolas"/>
              </a:rPr>
              <a:t> </a:t>
            </a:r>
            <a:r>
              <a:rPr sz="1400" spc="-5" dirty="0">
                <a:solidFill>
                  <a:srgbClr val="378037"/>
                </a:solidFill>
                <a:latin typeface="Consolas"/>
                <a:cs typeface="Consolas"/>
              </a:rPr>
              <a:t>print</a:t>
            </a:r>
            <a:r>
              <a:rPr sz="1400" spc="-5" dirty="0">
                <a:solidFill>
                  <a:srgbClr val="888888"/>
                </a:solidFill>
                <a:latin typeface="Consolas"/>
                <a:cs typeface="Consolas"/>
              </a:rPr>
              <a:t>(</a:t>
            </a:r>
            <a:r>
              <a:rPr sz="1400" spc="-5" dirty="0">
                <a:latin typeface="Consolas"/>
                <a:cs typeface="Consolas"/>
              </a:rPr>
              <a:t>count</a:t>
            </a:r>
            <a:r>
              <a:rPr sz="1400" spc="-5" dirty="0">
                <a:solidFill>
                  <a:srgbClr val="888888"/>
                </a:solidFill>
                <a:latin typeface="Consolas"/>
                <a:cs typeface="Consolas"/>
              </a:rPr>
              <a:t>)</a:t>
            </a:r>
            <a:endParaRPr sz="1400" dirty="0">
              <a:latin typeface="Consolas"/>
              <a:cs typeface="Consolas"/>
            </a:endParaRPr>
          </a:p>
        </p:txBody>
      </p:sp>
      <p:grpSp>
        <p:nvGrpSpPr>
          <p:cNvPr id="13" name="object 13"/>
          <p:cNvGrpSpPr/>
          <p:nvPr/>
        </p:nvGrpSpPr>
        <p:grpSpPr>
          <a:xfrm>
            <a:off x="4006957" y="2860914"/>
            <a:ext cx="951230" cy="1370965"/>
            <a:chOff x="4006957" y="2860914"/>
            <a:chExt cx="951230" cy="1370965"/>
          </a:xfrm>
        </p:grpSpPr>
        <p:sp>
          <p:nvSpPr>
            <p:cNvPr id="14" name="object 14"/>
            <p:cNvSpPr/>
            <p:nvPr/>
          </p:nvSpPr>
          <p:spPr>
            <a:xfrm>
              <a:off x="4036307" y="2901229"/>
              <a:ext cx="916940" cy="1325880"/>
            </a:xfrm>
            <a:custGeom>
              <a:avLst/>
              <a:gdLst/>
              <a:ahLst/>
              <a:cxnLst/>
              <a:rect l="l" t="t" r="r" b="b"/>
              <a:pathLst>
                <a:path w="916939" h="1325879">
                  <a:moveTo>
                    <a:pt x="916692" y="1325495"/>
                  </a:moveTo>
                  <a:lnTo>
                    <a:pt x="0" y="0"/>
                  </a:lnTo>
                </a:path>
              </a:pathLst>
            </a:custGeom>
            <a:ln w="9524">
              <a:solidFill>
                <a:srgbClr val="4BA173"/>
              </a:solidFill>
            </a:ln>
          </p:spPr>
          <p:txBody>
            <a:bodyPr wrap="square" lIns="0" tIns="0" rIns="0" bIns="0" rtlCol="0"/>
            <a:lstStyle/>
            <a:p>
              <a:endParaRPr/>
            </a:p>
          </p:txBody>
        </p:sp>
        <p:sp>
          <p:nvSpPr>
            <p:cNvPr id="15" name="object 15"/>
            <p:cNvSpPr/>
            <p:nvPr/>
          </p:nvSpPr>
          <p:spPr>
            <a:xfrm>
              <a:off x="4011720" y="2865677"/>
              <a:ext cx="38100" cy="45085"/>
            </a:xfrm>
            <a:custGeom>
              <a:avLst/>
              <a:gdLst/>
              <a:ahLst/>
              <a:cxnLst/>
              <a:rect l="l" t="t" r="r" b="b"/>
              <a:pathLst>
                <a:path w="38100" h="45085">
                  <a:moveTo>
                    <a:pt x="11647" y="44500"/>
                  </a:moveTo>
                  <a:lnTo>
                    <a:pt x="0" y="0"/>
                  </a:lnTo>
                  <a:lnTo>
                    <a:pt x="37526" y="26602"/>
                  </a:lnTo>
                  <a:lnTo>
                    <a:pt x="11647" y="44500"/>
                  </a:lnTo>
                  <a:close/>
                </a:path>
              </a:pathLst>
            </a:custGeom>
            <a:solidFill>
              <a:srgbClr val="4BA173"/>
            </a:solidFill>
          </p:spPr>
          <p:txBody>
            <a:bodyPr wrap="square" lIns="0" tIns="0" rIns="0" bIns="0" rtlCol="0"/>
            <a:lstStyle/>
            <a:p>
              <a:endParaRPr/>
            </a:p>
          </p:txBody>
        </p:sp>
        <p:sp>
          <p:nvSpPr>
            <p:cNvPr id="16" name="object 16"/>
            <p:cNvSpPr/>
            <p:nvPr/>
          </p:nvSpPr>
          <p:spPr>
            <a:xfrm>
              <a:off x="4011720" y="2865677"/>
              <a:ext cx="38100" cy="45085"/>
            </a:xfrm>
            <a:custGeom>
              <a:avLst/>
              <a:gdLst/>
              <a:ahLst/>
              <a:cxnLst/>
              <a:rect l="l" t="t" r="r" b="b"/>
              <a:pathLst>
                <a:path w="38100" h="45085">
                  <a:moveTo>
                    <a:pt x="37526" y="26602"/>
                  </a:moveTo>
                  <a:lnTo>
                    <a:pt x="0" y="0"/>
                  </a:lnTo>
                  <a:lnTo>
                    <a:pt x="11647" y="44500"/>
                  </a:lnTo>
                  <a:lnTo>
                    <a:pt x="37526" y="26602"/>
                  </a:lnTo>
                  <a:close/>
                </a:path>
              </a:pathLst>
            </a:custGeom>
            <a:ln w="9524">
              <a:solidFill>
                <a:srgbClr val="4BA173"/>
              </a:solidFill>
            </a:ln>
          </p:spPr>
          <p:txBody>
            <a:bodyPr wrap="square" lIns="0" tIns="0" rIns="0" bIns="0" rtlCol="0"/>
            <a:lstStyle/>
            <a:p>
              <a:endParaRPr/>
            </a:p>
          </p:txBody>
        </p:sp>
      </p:grpSp>
      <p:grpSp>
        <p:nvGrpSpPr>
          <p:cNvPr id="17" name="object 17"/>
          <p:cNvGrpSpPr/>
          <p:nvPr/>
        </p:nvGrpSpPr>
        <p:grpSpPr>
          <a:xfrm>
            <a:off x="5477131" y="2877237"/>
            <a:ext cx="1647825" cy="1176020"/>
            <a:chOff x="5477131" y="2877237"/>
            <a:chExt cx="1647825" cy="1176020"/>
          </a:xfrm>
        </p:grpSpPr>
        <p:sp>
          <p:nvSpPr>
            <p:cNvPr id="18" name="object 18"/>
            <p:cNvSpPr/>
            <p:nvPr/>
          </p:nvSpPr>
          <p:spPr>
            <a:xfrm>
              <a:off x="5517107" y="2907068"/>
              <a:ext cx="1603375" cy="1141095"/>
            </a:xfrm>
            <a:custGeom>
              <a:avLst/>
              <a:gdLst/>
              <a:ahLst/>
              <a:cxnLst/>
              <a:rect l="l" t="t" r="r" b="b"/>
              <a:pathLst>
                <a:path w="1603375" h="1141095">
                  <a:moveTo>
                    <a:pt x="1602842" y="1141055"/>
                  </a:moveTo>
                  <a:lnTo>
                    <a:pt x="0" y="0"/>
                  </a:lnTo>
                </a:path>
              </a:pathLst>
            </a:custGeom>
            <a:ln w="9524">
              <a:solidFill>
                <a:srgbClr val="4BA173"/>
              </a:solidFill>
            </a:ln>
          </p:spPr>
          <p:txBody>
            <a:bodyPr wrap="square" lIns="0" tIns="0" rIns="0" bIns="0" rtlCol="0"/>
            <a:lstStyle/>
            <a:p>
              <a:endParaRPr/>
            </a:p>
          </p:txBody>
        </p:sp>
        <p:sp>
          <p:nvSpPr>
            <p:cNvPr id="19" name="object 19"/>
            <p:cNvSpPr/>
            <p:nvPr/>
          </p:nvSpPr>
          <p:spPr>
            <a:xfrm>
              <a:off x="5481893" y="2882000"/>
              <a:ext cx="44450" cy="38100"/>
            </a:xfrm>
            <a:custGeom>
              <a:avLst/>
              <a:gdLst/>
              <a:ahLst/>
              <a:cxnLst/>
              <a:rect l="l" t="t" r="r" b="b"/>
              <a:pathLst>
                <a:path w="44450" h="38100">
                  <a:moveTo>
                    <a:pt x="26089" y="37885"/>
                  </a:moveTo>
                  <a:lnTo>
                    <a:pt x="0" y="0"/>
                  </a:lnTo>
                  <a:lnTo>
                    <a:pt x="44337" y="12251"/>
                  </a:lnTo>
                  <a:lnTo>
                    <a:pt x="26089" y="37885"/>
                  </a:lnTo>
                  <a:close/>
                </a:path>
              </a:pathLst>
            </a:custGeom>
            <a:solidFill>
              <a:srgbClr val="4BA173"/>
            </a:solidFill>
          </p:spPr>
          <p:txBody>
            <a:bodyPr wrap="square" lIns="0" tIns="0" rIns="0" bIns="0" rtlCol="0"/>
            <a:lstStyle/>
            <a:p>
              <a:endParaRPr/>
            </a:p>
          </p:txBody>
        </p:sp>
        <p:sp>
          <p:nvSpPr>
            <p:cNvPr id="20" name="object 20"/>
            <p:cNvSpPr/>
            <p:nvPr/>
          </p:nvSpPr>
          <p:spPr>
            <a:xfrm>
              <a:off x="5481893" y="2882000"/>
              <a:ext cx="44450" cy="38100"/>
            </a:xfrm>
            <a:custGeom>
              <a:avLst/>
              <a:gdLst/>
              <a:ahLst/>
              <a:cxnLst/>
              <a:rect l="l" t="t" r="r" b="b"/>
              <a:pathLst>
                <a:path w="44450" h="38100">
                  <a:moveTo>
                    <a:pt x="44337" y="12251"/>
                  </a:moveTo>
                  <a:lnTo>
                    <a:pt x="0" y="0"/>
                  </a:lnTo>
                  <a:lnTo>
                    <a:pt x="26089" y="37885"/>
                  </a:lnTo>
                  <a:lnTo>
                    <a:pt x="44337" y="12251"/>
                  </a:lnTo>
                  <a:close/>
                </a:path>
              </a:pathLst>
            </a:custGeom>
            <a:ln w="9524">
              <a:solidFill>
                <a:srgbClr val="4BA173"/>
              </a:solidFill>
            </a:ln>
          </p:spPr>
          <p:txBody>
            <a:bodyPr wrap="square" lIns="0" tIns="0" rIns="0" bIns="0" rtlCol="0"/>
            <a:lstStyle/>
            <a:p>
              <a:endParaRPr/>
            </a:p>
          </p:txBody>
        </p:sp>
      </p:grpSp>
      <p:sp>
        <p:nvSpPr>
          <p:cNvPr id="21" name="object 21"/>
          <p:cNvSpPr txBox="1"/>
          <p:nvPr/>
        </p:nvSpPr>
        <p:spPr>
          <a:xfrm>
            <a:off x="4906974" y="4114038"/>
            <a:ext cx="2638425" cy="417830"/>
          </a:xfrm>
          <a:prstGeom prst="rect">
            <a:avLst/>
          </a:prstGeom>
        </p:spPr>
        <p:txBody>
          <a:bodyPr vert="horz" wrap="square" lIns="0" tIns="12700" rIns="0" bIns="0" rtlCol="0">
            <a:spAutoFit/>
          </a:bodyPr>
          <a:lstStyle/>
          <a:p>
            <a:pPr marL="2131695">
              <a:lnSpc>
                <a:spcPts val="1545"/>
              </a:lnSpc>
              <a:spcBef>
                <a:spcPts val="100"/>
              </a:spcBef>
            </a:pPr>
            <a:r>
              <a:rPr sz="1400" spc="-5" dirty="0">
                <a:latin typeface="Arial MT"/>
                <a:cs typeface="Arial MT"/>
              </a:rPr>
              <a:t>Action</a:t>
            </a:r>
            <a:endParaRPr sz="1400">
              <a:latin typeface="Arial MT"/>
              <a:cs typeface="Arial MT"/>
            </a:endParaRPr>
          </a:p>
          <a:p>
            <a:pPr marL="12700">
              <a:lnSpc>
                <a:spcPts val="1545"/>
              </a:lnSpc>
            </a:pPr>
            <a:r>
              <a:rPr sz="1400" spc="-5" dirty="0">
                <a:latin typeface="Arial MT"/>
                <a:cs typeface="Arial MT"/>
              </a:rPr>
              <a:t>Transformation</a:t>
            </a:r>
            <a:endParaRPr sz="1400">
              <a:latin typeface="Arial MT"/>
              <a:cs typeface="Arial M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3322320" cy="452120"/>
          </a:xfrm>
          <a:prstGeom prst="rect">
            <a:avLst/>
          </a:prstGeom>
        </p:spPr>
        <p:txBody>
          <a:bodyPr vert="horz" wrap="square" lIns="0" tIns="12700" rIns="0" bIns="0" rtlCol="0">
            <a:spAutoFit/>
          </a:bodyPr>
          <a:lstStyle/>
          <a:p>
            <a:pPr marL="12700">
              <a:lnSpc>
                <a:spcPct val="100000"/>
              </a:lnSpc>
              <a:spcBef>
                <a:spcPts val="100"/>
              </a:spcBef>
            </a:pPr>
            <a:r>
              <a:rPr sz="2800" spc="15" dirty="0">
                <a:solidFill>
                  <a:srgbClr val="202729"/>
                </a:solidFill>
              </a:rPr>
              <a:t>Word</a:t>
            </a:r>
            <a:r>
              <a:rPr sz="2800" spc="-150" dirty="0">
                <a:solidFill>
                  <a:srgbClr val="202729"/>
                </a:solidFill>
              </a:rPr>
              <a:t> </a:t>
            </a:r>
            <a:r>
              <a:rPr sz="2800" spc="10" dirty="0">
                <a:solidFill>
                  <a:srgbClr val="202729"/>
                </a:solidFill>
              </a:rPr>
              <a:t>Count</a:t>
            </a:r>
            <a:r>
              <a:rPr sz="2800" spc="-150" dirty="0">
                <a:solidFill>
                  <a:srgbClr val="202729"/>
                </a:solidFill>
              </a:rPr>
              <a:t> </a:t>
            </a:r>
            <a:r>
              <a:rPr sz="2800" spc="-20" dirty="0">
                <a:solidFill>
                  <a:srgbClr val="202729"/>
                </a:solidFill>
              </a:rPr>
              <a:t>Example</a:t>
            </a:r>
            <a:endParaRPr sz="2800"/>
          </a:p>
        </p:txBody>
      </p:sp>
      <p:sp>
        <p:nvSpPr>
          <p:cNvPr id="3" name="object 3"/>
          <p:cNvSpPr txBox="1"/>
          <p:nvPr/>
        </p:nvSpPr>
        <p:spPr>
          <a:xfrm>
            <a:off x="937025" y="1142548"/>
            <a:ext cx="5884545" cy="3587750"/>
          </a:xfrm>
          <a:prstGeom prst="rect">
            <a:avLst/>
          </a:prstGeom>
        </p:spPr>
        <p:txBody>
          <a:bodyPr vert="horz" wrap="square" lIns="0" tIns="123189" rIns="0" bIns="0" rtlCol="0">
            <a:spAutoFit/>
          </a:bodyPr>
          <a:lstStyle/>
          <a:p>
            <a:pPr marL="12700">
              <a:lnSpc>
                <a:spcPct val="100000"/>
              </a:lnSpc>
              <a:spcBef>
                <a:spcPts val="969"/>
              </a:spcBef>
            </a:pPr>
            <a:r>
              <a:rPr sz="1400" dirty="0">
                <a:solidFill>
                  <a:srgbClr val="919191"/>
                </a:solidFill>
                <a:latin typeface="Consolas"/>
                <a:cs typeface="Consolas"/>
              </a:rPr>
              <a:t>#</a:t>
            </a:r>
            <a:r>
              <a:rPr sz="1400" spc="-45" dirty="0">
                <a:solidFill>
                  <a:srgbClr val="919191"/>
                </a:solidFill>
                <a:latin typeface="Consolas"/>
                <a:cs typeface="Consolas"/>
              </a:rPr>
              <a:t> </a:t>
            </a:r>
            <a:r>
              <a:rPr sz="1400" spc="-5" dirty="0">
                <a:solidFill>
                  <a:srgbClr val="919191"/>
                </a:solidFill>
                <a:latin typeface="Consolas"/>
                <a:cs typeface="Consolas"/>
              </a:rPr>
              <a:t>Load</a:t>
            </a:r>
            <a:r>
              <a:rPr sz="1400" spc="-40" dirty="0">
                <a:solidFill>
                  <a:srgbClr val="919191"/>
                </a:solidFill>
                <a:latin typeface="Consolas"/>
                <a:cs typeface="Consolas"/>
              </a:rPr>
              <a:t> </a:t>
            </a:r>
            <a:r>
              <a:rPr sz="1400" spc="-5" dirty="0">
                <a:solidFill>
                  <a:srgbClr val="919191"/>
                </a:solidFill>
                <a:latin typeface="Consolas"/>
                <a:cs typeface="Consolas"/>
              </a:rPr>
              <a:t>data</a:t>
            </a:r>
            <a:endParaRPr sz="1400">
              <a:latin typeface="Consolas"/>
              <a:cs typeface="Consolas"/>
            </a:endParaRPr>
          </a:p>
          <a:p>
            <a:pPr marL="12700">
              <a:lnSpc>
                <a:spcPct val="100000"/>
              </a:lnSpc>
              <a:spcBef>
                <a:spcPts val="869"/>
              </a:spcBef>
            </a:pPr>
            <a:r>
              <a:rPr sz="1400" spc="-5" dirty="0">
                <a:latin typeface="Consolas"/>
                <a:cs typeface="Consolas"/>
              </a:rPr>
              <a:t>textData</a:t>
            </a:r>
            <a:r>
              <a:rPr sz="1400" spc="-20" dirty="0">
                <a:latin typeface="Consolas"/>
                <a:cs typeface="Consolas"/>
              </a:rPr>
              <a:t> </a:t>
            </a:r>
            <a:r>
              <a:rPr sz="1400" dirty="0">
                <a:solidFill>
                  <a:srgbClr val="FF5500"/>
                </a:solidFill>
                <a:latin typeface="Consolas"/>
                <a:cs typeface="Consolas"/>
              </a:rPr>
              <a:t>=</a:t>
            </a:r>
            <a:r>
              <a:rPr sz="1400" spc="-25" dirty="0">
                <a:solidFill>
                  <a:srgbClr val="FF5500"/>
                </a:solidFill>
                <a:latin typeface="Consolas"/>
                <a:cs typeface="Consolas"/>
              </a:rPr>
              <a:t> </a:t>
            </a:r>
            <a:r>
              <a:rPr sz="1400" spc="-5" dirty="0">
                <a:latin typeface="Consolas"/>
                <a:cs typeface="Consolas"/>
              </a:rPr>
              <a:t>sparkContext.textFile(</a:t>
            </a:r>
            <a:r>
              <a:rPr sz="1400" spc="-5" dirty="0">
                <a:solidFill>
                  <a:srgbClr val="00A33E"/>
                </a:solidFill>
                <a:latin typeface="Consolas"/>
                <a:cs typeface="Consolas"/>
              </a:rPr>
              <a:t>"input.txt"</a:t>
            </a:r>
            <a:r>
              <a:rPr sz="1400" spc="-5" dirty="0">
                <a:latin typeface="Consolas"/>
                <a:cs typeface="Consolas"/>
              </a:rPr>
              <a:t>)</a:t>
            </a:r>
            <a:endParaRPr sz="1400">
              <a:latin typeface="Consolas"/>
              <a:cs typeface="Consolas"/>
            </a:endParaRPr>
          </a:p>
          <a:p>
            <a:pPr>
              <a:lnSpc>
                <a:spcPct val="100000"/>
              </a:lnSpc>
            </a:pPr>
            <a:endParaRPr sz="1400">
              <a:latin typeface="Consolas"/>
              <a:cs typeface="Consolas"/>
            </a:endParaRPr>
          </a:p>
          <a:p>
            <a:pPr>
              <a:lnSpc>
                <a:spcPct val="100000"/>
              </a:lnSpc>
              <a:spcBef>
                <a:spcPts val="20"/>
              </a:spcBef>
            </a:pPr>
            <a:endParaRPr sz="1500">
              <a:latin typeface="Consolas"/>
              <a:cs typeface="Consolas"/>
            </a:endParaRPr>
          </a:p>
          <a:p>
            <a:pPr marL="12700">
              <a:lnSpc>
                <a:spcPct val="100000"/>
              </a:lnSpc>
              <a:spcBef>
                <a:spcPts val="5"/>
              </a:spcBef>
            </a:pPr>
            <a:r>
              <a:rPr sz="1400" dirty="0">
                <a:solidFill>
                  <a:srgbClr val="919191"/>
                </a:solidFill>
                <a:latin typeface="Consolas"/>
                <a:cs typeface="Consolas"/>
              </a:rPr>
              <a:t>#</a:t>
            </a:r>
            <a:r>
              <a:rPr sz="1400" spc="-30" dirty="0">
                <a:solidFill>
                  <a:srgbClr val="919191"/>
                </a:solidFill>
                <a:latin typeface="Consolas"/>
                <a:cs typeface="Consolas"/>
              </a:rPr>
              <a:t> </a:t>
            </a:r>
            <a:r>
              <a:rPr sz="1400" spc="-5" dirty="0">
                <a:solidFill>
                  <a:srgbClr val="919191"/>
                </a:solidFill>
                <a:latin typeface="Consolas"/>
                <a:cs typeface="Consolas"/>
              </a:rPr>
              <a:t>Split</a:t>
            </a:r>
            <a:r>
              <a:rPr sz="1400" spc="-30" dirty="0">
                <a:solidFill>
                  <a:srgbClr val="919191"/>
                </a:solidFill>
                <a:latin typeface="Consolas"/>
                <a:cs typeface="Consolas"/>
              </a:rPr>
              <a:t> </a:t>
            </a:r>
            <a:r>
              <a:rPr sz="1400" spc="-5" dirty="0">
                <a:solidFill>
                  <a:srgbClr val="919191"/>
                </a:solidFill>
                <a:latin typeface="Consolas"/>
                <a:cs typeface="Consolas"/>
              </a:rPr>
              <a:t>into</a:t>
            </a:r>
            <a:r>
              <a:rPr sz="1400" spc="-30" dirty="0">
                <a:solidFill>
                  <a:srgbClr val="919191"/>
                </a:solidFill>
                <a:latin typeface="Consolas"/>
                <a:cs typeface="Consolas"/>
              </a:rPr>
              <a:t> </a:t>
            </a:r>
            <a:r>
              <a:rPr sz="1400" spc="-5" dirty="0">
                <a:solidFill>
                  <a:srgbClr val="919191"/>
                </a:solidFill>
                <a:latin typeface="Consolas"/>
                <a:cs typeface="Consolas"/>
              </a:rPr>
              <a:t>words</a:t>
            </a:r>
            <a:endParaRPr sz="1400">
              <a:latin typeface="Consolas"/>
              <a:cs typeface="Consolas"/>
            </a:endParaRPr>
          </a:p>
          <a:p>
            <a:pPr marL="12700">
              <a:lnSpc>
                <a:spcPct val="100000"/>
              </a:lnSpc>
              <a:spcBef>
                <a:spcPts val="870"/>
              </a:spcBef>
            </a:pPr>
            <a:r>
              <a:rPr sz="1400" spc="-5" dirty="0">
                <a:latin typeface="Consolas"/>
                <a:cs typeface="Consolas"/>
              </a:rPr>
              <a:t>WORD_RE</a:t>
            </a:r>
            <a:r>
              <a:rPr sz="1400" spc="-20" dirty="0">
                <a:latin typeface="Consolas"/>
                <a:cs typeface="Consolas"/>
              </a:rPr>
              <a:t> </a:t>
            </a:r>
            <a:r>
              <a:rPr sz="1400" dirty="0">
                <a:solidFill>
                  <a:srgbClr val="FF5500"/>
                </a:solidFill>
                <a:latin typeface="Consolas"/>
                <a:cs typeface="Consolas"/>
              </a:rPr>
              <a:t>=</a:t>
            </a:r>
            <a:r>
              <a:rPr sz="1400" spc="-35" dirty="0">
                <a:solidFill>
                  <a:srgbClr val="FF5500"/>
                </a:solidFill>
                <a:latin typeface="Consolas"/>
                <a:cs typeface="Consolas"/>
              </a:rPr>
              <a:t> </a:t>
            </a:r>
            <a:r>
              <a:rPr sz="1400" spc="-5" dirty="0">
                <a:latin typeface="Consolas"/>
                <a:cs typeface="Consolas"/>
              </a:rPr>
              <a:t>re.compile(</a:t>
            </a:r>
            <a:r>
              <a:rPr sz="1400" spc="-5" dirty="0">
                <a:solidFill>
                  <a:srgbClr val="FF5500"/>
                </a:solidFill>
                <a:latin typeface="Consolas"/>
                <a:cs typeface="Consolas"/>
              </a:rPr>
              <a:t>r</a:t>
            </a:r>
            <a:r>
              <a:rPr sz="1400" spc="-5" dirty="0">
                <a:solidFill>
                  <a:srgbClr val="00A33E"/>
                </a:solidFill>
                <a:latin typeface="Consolas"/>
                <a:cs typeface="Consolas"/>
              </a:rPr>
              <a:t>"[\w']</a:t>
            </a:r>
            <a:r>
              <a:rPr sz="1400" spc="-5" dirty="0">
                <a:solidFill>
                  <a:srgbClr val="FF5500"/>
                </a:solidFill>
                <a:latin typeface="Consolas"/>
                <a:cs typeface="Consolas"/>
              </a:rPr>
              <a:t>+</a:t>
            </a:r>
            <a:r>
              <a:rPr sz="1400" spc="-5" dirty="0">
                <a:solidFill>
                  <a:srgbClr val="00A33E"/>
                </a:solidFill>
                <a:latin typeface="Consolas"/>
                <a:cs typeface="Consolas"/>
              </a:rPr>
              <a:t>"</a:t>
            </a:r>
            <a:r>
              <a:rPr sz="1400" spc="-5" dirty="0">
                <a:latin typeface="Consolas"/>
                <a:cs typeface="Consolas"/>
              </a:rPr>
              <a:t>)</a:t>
            </a:r>
            <a:endParaRPr sz="1400">
              <a:latin typeface="Consolas"/>
              <a:cs typeface="Consolas"/>
            </a:endParaRPr>
          </a:p>
          <a:p>
            <a:pPr marL="12700">
              <a:lnSpc>
                <a:spcPct val="100000"/>
              </a:lnSpc>
              <a:spcBef>
                <a:spcPts val="870"/>
              </a:spcBef>
            </a:pPr>
            <a:r>
              <a:rPr sz="1400" spc="-5" dirty="0">
                <a:latin typeface="Consolas"/>
                <a:cs typeface="Consolas"/>
              </a:rPr>
              <a:t>words</a:t>
            </a:r>
            <a:r>
              <a:rPr sz="1400" spc="-15" dirty="0">
                <a:latin typeface="Consolas"/>
                <a:cs typeface="Consolas"/>
              </a:rPr>
              <a:t> </a:t>
            </a:r>
            <a:r>
              <a:rPr sz="1400" dirty="0">
                <a:solidFill>
                  <a:srgbClr val="FF5500"/>
                </a:solidFill>
                <a:latin typeface="Consolas"/>
                <a:cs typeface="Consolas"/>
              </a:rPr>
              <a:t>=</a:t>
            </a:r>
            <a:r>
              <a:rPr sz="1400" spc="-20" dirty="0">
                <a:solidFill>
                  <a:srgbClr val="FF5500"/>
                </a:solidFill>
                <a:latin typeface="Consolas"/>
                <a:cs typeface="Consolas"/>
              </a:rPr>
              <a:t> </a:t>
            </a:r>
            <a:r>
              <a:rPr sz="1400" spc="-5" dirty="0">
                <a:latin typeface="Consolas"/>
                <a:cs typeface="Consolas"/>
              </a:rPr>
              <a:t>textData.flatMap(</a:t>
            </a:r>
            <a:r>
              <a:rPr sz="1400" spc="-5" dirty="0">
                <a:solidFill>
                  <a:srgbClr val="FF5500"/>
                </a:solidFill>
                <a:latin typeface="Consolas"/>
                <a:cs typeface="Consolas"/>
              </a:rPr>
              <a:t>lambda</a:t>
            </a:r>
            <a:r>
              <a:rPr sz="1400" spc="-15" dirty="0">
                <a:solidFill>
                  <a:srgbClr val="FF5500"/>
                </a:solidFill>
                <a:latin typeface="Consolas"/>
                <a:cs typeface="Consolas"/>
              </a:rPr>
              <a:t> </a:t>
            </a:r>
            <a:r>
              <a:rPr sz="1400" spc="-5" dirty="0">
                <a:latin typeface="Consolas"/>
                <a:cs typeface="Consolas"/>
              </a:rPr>
              <a:t>line:</a:t>
            </a:r>
            <a:r>
              <a:rPr sz="1400" spc="-20" dirty="0">
                <a:latin typeface="Consolas"/>
                <a:cs typeface="Consolas"/>
              </a:rPr>
              <a:t> </a:t>
            </a:r>
            <a:r>
              <a:rPr sz="1400" spc="-5" dirty="0">
                <a:latin typeface="Consolas"/>
                <a:cs typeface="Consolas"/>
              </a:rPr>
              <a:t>WORD_RE.findall(line))</a:t>
            </a:r>
            <a:endParaRPr sz="1400">
              <a:latin typeface="Consolas"/>
              <a:cs typeface="Consolas"/>
            </a:endParaRPr>
          </a:p>
          <a:p>
            <a:pPr>
              <a:lnSpc>
                <a:spcPct val="100000"/>
              </a:lnSpc>
            </a:pPr>
            <a:endParaRPr sz="1400">
              <a:latin typeface="Consolas"/>
              <a:cs typeface="Consolas"/>
            </a:endParaRPr>
          </a:p>
          <a:p>
            <a:pPr>
              <a:lnSpc>
                <a:spcPct val="100000"/>
              </a:lnSpc>
              <a:spcBef>
                <a:spcPts val="20"/>
              </a:spcBef>
            </a:pPr>
            <a:endParaRPr sz="1500">
              <a:latin typeface="Consolas"/>
              <a:cs typeface="Consolas"/>
            </a:endParaRPr>
          </a:p>
          <a:p>
            <a:pPr marL="12700">
              <a:lnSpc>
                <a:spcPct val="100000"/>
              </a:lnSpc>
            </a:pPr>
            <a:r>
              <a:rPr sz="1400" dirty="0">
                <a:solidFill>
                  <a:srgbClr val="919191"/>
                </a:solidFill>
                <a:latin typeface="Consolas"/>
                <a:cs typeface="Consolas"/>
              </a:rPr>
              <a:t>#</a:t>
            </a:r>
            <a:r>
              <a:rPr sz="1400" spc="-25" dirty="0">
                <a:solidFill>
                  <a:srgbClr val="919191"/>
                </a:solidFill>
                <a:latin typeface="Consolas"/>
                <a:cs typeface="Consolas"/>
              </a:rPr>
              <a:t> </a:t>
            </a:r>
            <a:r>
              <a:rPr sz="1400" spc="-5" dirty="0">
                <a:solidFill>
                  <a:srgbClr val="919191"/>
                </a:solidFill>
                <a:latin typeface="Consolas"/>
                <a:cs typeface="Consolas"/>
              </a:rPr>
              <a:t>Get</a:t>
            </a:r>
            <a:r>
              <a:rPr sz="1400" spc="-25" dirty="0">
                <a:solidFill>
                  <a:srgbClr val="919191"/>
                </a:solidFill>
                <a:latin typeface="Consolas"/>
                <a:cs typeface="Consolas"/>
              </a:rPr>
              <a:t> </a:t>
            </a:r>
            <a:r>
              <a:rPr sz="1400" spc="-5" dirty="0">
                <a:solidFill>
                  <a:srgbClr val="919191"/>
                </a:solidFill>
                <a:latin typeface="Consolas"/>
                <a:cs typeface="Consolas"/>
              </a:rPr>
              <a:t>count</a:t>
            </a:r>
            <a:r>
              <a:rPr sz="1400" spc="-25" dirty="0">
                <a:solidFill>
                  <a:srgbClr val="919191"/>
                </a:solidFill>
                <a:latin typeface="Consolas"/>
                <a:cs typeface="Consolas"/>
              </a:rPr>
              <a:t> </a:t>
            </a:r>
            <a:r>
              <a:rPr sz="1400" spc="-5" dirty="0">
                <a:solidFill>
                  <a:srgbClr val="919191"/>
                </a:solidFill>
                <a:latin typeface="Consolas"/>
                <a:cs typeface="Consolas"/>
              </a:rPr>
              <a:t>by</a:t>
            </a:r>
            <a:r>
              <a:rPr sz="1400" spc="-20" dirty="0">
                <a:solidFill>
                  <a:srgbClr val="919191"/>
                </a:solidFill>
                <a:latin typeface="Consolas"/>
                <a:cs typeface="Consolas"/>
              </a:rPr>
              <a:t> </a:t>
            </a:r>
            <a:r>
              <a:rPr sz="1400" spc="-5" dirty="0">
                <a:solidFill>
                  <a:srgbClr val="919191"/>
                </a:solidFill>
                <a:latin typeface="Consolas"/>
                <a:cs typeface="Consolas"/>
              </a:rPr>
              <a:t>word</a:t>
            </a:r>
            <a:endParaRPr sz="1400">
              <a:latin typeface="Consolas"/>
              <a:cs typeface="Consolas"/>
            </a:endParaRPr>
          </a:p>
          <a:p>
            <a:pPr marL="12700">
              <a:lnSpc>
                <a:spcPct val="100000"/>
              </a:lnSpc>
              <a:spcBef>
                <a:spcPts val="869"/>
              </a:spcBef>
            </a:pPr>
            <a:r>
              <a:rPr sz="1400" spc="-5" dirty="0">
                <a:latin typeface="Consolas"/>
                <a:cs typeface="Consolas"/>
              </a:rPr>
              <a:t>counts</a:t>
            </a:r>
            <a:r>
              <a:rPr sz="1400" spc="-10" dirty="0">
                <a:latin typeface="Consolas"/>
                <a:cs typeface="Consolas"/>
              </a:rPr>
              <a:t> </a:t>
            </a:r>
            <a:r>
              <a:rPr sz="1400" dirty="0">
                <a:solidFill>
                  <a:srgbClr val="FF5500"/>
                </a:solidFill>
                <a:latin typeface="Consolas"/>
                <a:cs typeface="Consolas"/>
              </a:rPr>
              <a:t>=</a:t>
            </a:r>
            <a:r>
              <a:rPr sz="1400" spc="-15" dirty="0">
                <a:solidFill>
                  <a:srgbClr val="FF5500"/>
                </a:solidFill>
                <a:latin typeface="Consolas"/>
                <a:cs typeface="Consolas"/>
              </a:rPr>
              <a:t> </a:t>
            </a:r>
            <a:r>
              <a:rPr sz="1400" spc="-5" dirty="0">
                <a:latin typeface="Consolas"/>
                <a:cs typeface="Consolas"/>
              </a:rPr>
              <a:t>words.map(</a:t>
            </a:r>
            <a:r>
              <a:rPr sz="1400" spc="-5" dirty="0">
                <a:solidFill>
                  <a:srgbClr val="FF5500"/>
                </a:solidFill>
                <a:latin typeface="Consolas"/>
                <a:cs typeface="Consolas"/>
              </a:rPr>
              <a:t>lambda</a:t>
            </a:r>
            <a:r>
              <a:rPr sz="1400" spc="-15" dirty="0">
                <a:solidFill>
                  <a:srgbClr val="FF5500"/>
                </a:solidFill>
                <a:latin typeface="Consolas"/>
                <a:cs typeface="Consolas"/>
              </a:rPr>
              <a:t> </a:t>
            </a:r>
            <a:r>
              <a:rPr sz="1400" spc="-5" dirty="0">
                <a:latin typeface="Consolas"/>
                <a:cs typeface="Consolas"/>
              </a:rPr>
              <a:t>w:</a:t>
            </a:r>
            <a:r>
              <a:rPr sz="1400" spc="-15" dirty="0">
                <a:latin typeface="Consolas"/>
                <a:cs typeface="Consolas"/>
              </a:rPr>
              <a:t> </a:t>
            </a:r>
            <a:r>
              <a:rPr sz="1400" spc="-5" dirty="0">
                <a:latin typeface="Consolas"/>
                <a:cs typeface="Consolas"/>
              </a:rPr>
              <a:t>(w,</a:t>
            </a:r>
            <a:r>
              <a:rPr sz="1400" spc="-20" dirty="0">
                <a:latin typeface="Consolas"/>
                <a:cs typeface="Consolas"/>
              </a:rPr>
              <a:t> </a:t>
            </a:r>
            <a:r>
              <a:rPr sz="1400" spc="-5" dirty="0">
                <a:latin typeface="Consolas"/>
                <a:cs typeface="Consolas"/>
              </a:rPr>
              <a:t>1)).countByKey()</a:t>
            </a:r>
            <a:endParaRPr sz="1400">
              <a:latin typeface="Consolas"/>
              <a:cs typeface="Consolas"/>
            </a:endParaRPr>
          </a:p>
          <a:p>
            <a:pPr>
              <a:lnSpc>
                <a:spcPct val="100000"/>
              </a:lnSpc>
            </a:pPr>
            <a:endParaRPr sz="1400">
              <a:latin typeface="Consolas"/>
              <a:cs typeface="Consolas"/>
            </a:endParaRPr>
          </a:p>
          <a:p>
            <a:pPr>
              <a:lnSpc>
                <a:spcPct val="100000"/>
              </a:lnSpc>
              <a:spcBef>
                <a:spcPts val="25"/>
              </a:spcBef>
            </a:pPr>
            <a:endParaRPr sz="1500">
              <a:latin typeface="Consolas"/>
              <a:cs typeface="Consolas"/>
            </a:endParaRPr>
          </a:p>
          <a:p>
            <a:pPr marL="12700">
              <a:lnSpc>
                <a:spcPct val="100000"/>
              </a:lnSpc>
            </a:pPr>
            <a:r>
              <a:rPr sz="1400" spc="-5" dirty="0">
                <a:solidFill>
                  <a:srgbClr val="FF5500"/>
                </a:solidFill>
                <a:latin typeface="Consolas"/>
                <a:cs typeface="Consolas"/>
              </a:rPr>
              <a:t>print</a:t>
            </a:r>
            <a:r>
              <a:rPr sz="1400" spc="-5" dirty="0">
                <a:latin typeface="Consolas"/>
                <a:cs typeface="Consolas"/>
              </a:rPr>
              <a:t>(counts.collect())</a:t>
            </a:r>
            <a:endParaRPr sz="1400">
              <a:latin typeface="Consolas"/>
              <a:cs typeface="Consola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2099310" cy="452120"/>
          </a:xfrm>
          <a:prstGeom prst="rect">
            <a:avLst/>
          </a:prstGeom>
        </p:spPr>
        <p:txBody>
          <a:bodyPr vert="horz" wrap="square" lIns="0" tIns="12700" rIns="0" bIns="0" rtlCol="0">
            <a:spAutoFit/>
          </a:bodyPr>
          <a:lstStyle/>
          <a:p>
            <a:pPr marL="12700">
              <a:lnSpc>
                <a:spcPct val="100000"/>
              </a:lnSpc>
              <a:spcBef>
                <a:spcPts val="100"/>
              </a:spcBef>
            </a:pPr>
            <a:r>
              <a:rPr sz="2800" spc="-20" dirty="0">
                <a:solidFill>
                  <a:srgbClr val="202729"/>
                </a:solidFill>
              </a:rPr>
              <a:t>Join</a:t>
            </a:r>
            <a:r>
              <a:rPr sz="2800" spc="-170" dirty="0">
                <a:solidFill>
                  <a:srgbClr val="202729"/>
                </a:solidFill>
              </a:rPr>
              <a:t> </a:t>
            </a:r>
            <a:r>
              <a:rPr sz="2800" spc="-20" dirty="0">
                <a:solidFill>
                  <a:srgbClr val="202729"/>
                </a:solidFill>
              </a:rPr>
              <a:t>Example</a:t>
            </a:r>
            <a:endParaRPr sz="2800"/>
          </a:p>
        </p:txBody>
      </p:sp>
      <p:sp>
        <p:nvSpPr>
          <p:cNvPr id="3" name="object 3"/>
          <p:cNvSpPr txBox="1"/>
          <p:nvPr/>
        </p:nvSpPr>
        <p:spPr>
          <a:xfrm>
            <a:off x="937025" y="1790247"/>
            <a:ext cx="6180455" cy="2292350"/>
          </a:xfrm>
          <a:prstGeom prst="rect">
            <a:avLst/>
          </a:prstGeom>
        </p:spPr>
        <p:txBody>
          <a:bodyPr vert="horz" wrap="square" lIns="0" tIns="123189" rIns="0" bIns="0" rtlCol="0">
            <a:spAutoFit/>
          </a:bodyPr>
          <a:lstStyle/>
          <a:p>
            <a:pPr marL="12700">
              <a:lnSpc>
                <a:spcPct val="100000"/>
              </a:lnSpc>
              <a:spcBef>
                <a:spcPts val="969"/>
              </a:spcBef>
            </a:pPr>
            <a:r>
              <a:rPr sz="1400" spc="-5" dirty="0">
                <a:latin typeface="Consolas"/>
                <a:cs typeface="Consolas"/>
              </a:rPr>
              <a:t>favColors</a:t>
            </a:r>
            <a:r>
              <a:rPr sz="1400" dirty="0">
                <a:latin typeface="Consolas"/>
                <a:cs typeface="Consolas"/>
              </a:rPr>
              <a:t> </a:t>
            </a:r>
            <a:r>
              <a:rPr sz="1400" dirty="0">
                <a:solidFill>
                  <a:srgbClr val="FF5500"/>
                </a:solidFill>
                <a:latin typeface="Consolas"/>
                <a:cs typeface="Consolas"/>
              </a:rPr>
              <a:t>=</a:t>
            </a:r>
            <a:r>
              <a:rPr sz="1400" spc="-10" dirty="0">
                <a:solidFill>
                  <a:srgbClr val="FF5500"/>
                </a:solidFill>
                <a:latin typeface="Consolas"/>
                <a:cs typeface="Consolas"/>
              </a:rPr>
              <a:t> </a:t>
            </a:r>
            <a:r>
              <a:rPr sz="1400" spc="-5" dirty="0">
                <a:latin typeface="Consolas"/>
                <a:cs typeface="Consolas"/>
              </a:rPr>
              <a:t>sc.parallelize([(</a:t>
            </a:r>
            <a:r>
              <a:rPr sz="1400" spc="-5" dirty="0">
                <a:solidFill>
                  <a:srgbClr val="00A33E"/>
                </a:solidFill>
                <a:latin typeface="Consolas"/>
                <a:cs typeface="Consolas"/>
              </a:rPr>
              <a:t>'bob'</a:t>
            </a:r>
            <a:r>
              <a:rPr sz="1400" spc="-5" dirty="0">
                <a:latin typeface="Consolas"/>
                <a:cs typeface="Consolas"/>
              </a:rPr>
              <a:t>,</a:t>
            </a:r>
            <a:r>
              <a:rPr sz="1400" spc="-15" dirty="0">
                <a:latin typeface="Consolas"/>
                <a:cs typeface="Consolas"/>
              </a:rPr>
              <a:t> </a:t>
            </a:r>
            <a:r>
              <a:rPr sz="1400" spc="-5" dirty="0">
                <a:solidFill>
                  <a:srgbClr val="00A33E"/>
                </a:solidFill>
                <a:latin typeface="Consolas"/>
                <a:cs typeface="Consolas"/>
              </a:rPr>
              <a:t>'red'</a:t>
            </a:r>
            <a:r>
              <a:rPr sz="1400" spc="-5" dirty="0">
                <a:latin typeface="Consolas"/>
                <a:cs typeface="Consolas"/>
              </a:rPr>
              <a:t>),</a:t>
            </a:r>
            <a:r>
              <a:rPr sz="1400" spc="-10" dirty="0">
                <a:latin typeface="Consolas"/>
                <a:cs typeface="Consolas"/>
              </a:rPr>
              <a:t> </a:t>
            </a:r>
            <a:r>
              <a:rPr sz="1400" spc="-5" dirty="0">
                <a:latin typeface="Consolas"/>
                <a:cs typeface="Consolas"/>
              </a:rPr>
              <a:t>(</a:t>
            </a:r>
            <a:r>
              <a:rPr sz="1400" spc="-5" dirty="0">
                <a:solidFill>
                  <a:srgbClr val="00A33E"/>
                </a:solidFill>
                <a:latin typeface="Consolas"/>
                <a:cs typeface="Consolas"/>
              </a:rPr>
              <a:t>'alice'</a:t>
            </a:r>
            <a:r>
              <a:rPr sz="1400" spc="-5" dirty="0">
                <a:latin typeface="Consolas"/>
                <a:cs typeface="Consolas"/>
              </a:rPr>
              <a:t>,</a:t>
            </a:r>
            <a:r>
              <a:rPr sz="1400" spc="-15" dirty="0">
                <a:latin typeface="Consolas"/>
                <a:cs typeface="Consolas"/>
              </a:rPr>
              <a:t> </a:t>
            </a:r>
            <a:r>
              <a:rPr sz="1400" spc="-5" dirty="0">
                <a:solidFill>
                  <a:srgbClr val="00A33E"/>
                </a:solidFill>
                <a:latin typeface="Consolas"/>
                <a:cs typeface="Consolas"/>
              </a:rPr>
              <a:t>'blue'</a:t>
            </a:r>
            <a:r>
              <a:rPr sz="1400" spc="-5" dirty="0">
                <a:latin typeface="Consolas"/>
                <a:cs typeface="Consolas"/>
              </a:rPr>
              <a:t>)])</a:t>
            </a:r>
            <a:endParaRPr sz="1400">
              <a:latin typeface="Consolas"/>
              <a:cs typeface="Consolas"/>
            </a:endParaRPr>
          </a:p>
          <a:p>
            <a:pPr marL="12700">
              <a:lnSpc>
                <a:spcPct val="100000"/>
              </a:lnSpc>
              <a:spcBef>
                <a:spcPts val="869"/>
              </a:spcBef>
            </a:pPr>
            <a:r>
              <a:rPr sz="1400" spc="-5" dirty="0">
                <a:latin typeface="Consolas"/>
                <a:cs typeface="Consolas"/>
              </a:rPr>
              <a:t>favNumbers</a:t>
            </a:r>
            <a:r>
              <a:rPr sz="1400" spc="5" dirty="0">
                <a:latin typeface="Consolas"/>
                <a:cs typeface="Consolas"/>
              </a:rPr>
              <a:t> </a:t>
            </a:r>
            <a:r>
              <a:rPr sz="1400" dirty="0">
                <a:solidFill>
                  <a:srgbClr val="FF5500"/>
                </a:solidFill>
                <a:latin typeface="Consolas"/>
                <a:cs typeface="Consolas"/>
              </a:rPr>
              <a:t>=</a:t>
            </a:r>
            <a:r>
              <a:rPr sz="1400" spc="-15" dirty="0">
                <a:solidFill>
                  <a:srgbClr val="FF5500"/>
                </a:solidFill>
                <a:latin typeface="Consolas"/>
                <a:cs typeface="Consolas"/>
              </a:rPr>
              <a:t> </a:t>
            </a:r>
            <a:r>
              <a:rPr sz="1400" spc="-5" dirty="0">
                <a:latin typeface="Consolas"/>
                <a:cs typeface="Consolas"/>
              </a:rPr>
              <a:t>sc.parallelize([(</a:t>
            </a:r>
            <a:r>
              <a:rPr sz="1400" spc="-5" dirty="0">
                <a:solidFill>
                  <a:srgbClr val="00A33E"/>
                </a:solidFill>
                <a:latin typeface="Consolas"/>
                <a:cs typeface="Consolas"/>
              </a:rPr>
              <a:t>'bob'</a:t>
            </a:r>
            <a:r>
              <a:rPr sz="1400" spc="-5" dirty="0">
                <a:latin typeface="Consolas"/>
                <a:cs typeface="Consolas"/>
              </a:rPr>
              <a:t>,</a:t>
            </a:r>
            <a:r>
              <a:rPr sz="1400" spc="-10" dirty="0">
                <a:latin typeface="Consolas"/>
                <a:cs typeface="Consolas"/>
              </a:rPr>
              <a:t> </a:t>
            </a:r>
            <a:r>
              <a:rPr sz="1400" spc="-5" dirty="0">
                <a:latin typeface="Consolas"/>
                <a:cs typeface="Consolas"/>
              </a:rPr>
              <a:t>1),</a:t>
            </a:r>
            <a:r>
              <a:rPr sz="1400" spc="-15" dirty="0">
                <a:latin typeface="Consolas"/>
                <a:cs typeface="Consolas"/>
              </a:rPr>
              <a:t> </a:t>
            </a:r>
            <a:r>
              <a:rPr sz="1400" spc="-5" dirty="0">
                <a:latin typeface="Consolas"/>
                <a:cs typeface="Consolas"/>
              </a:rPr>
              <a:t>(</a:t>
            </a:r>
            <a:r>
              <a:rPr sz="1400" spc="-5" dirty="0">
                <a:solidFill>
                  <a:srgbClr val="00A33E"/>
                </a:solidFill>
                <a:latin typeface="Consolas"/>
                <a:cs typeface="Consolas"/>
              </a:rPr>
              <a:t>'alice'</a:t>
            </a:r>
            <a:r>
              <a:rPr sz="1400" spc="-5" dirty="0">
                <a:latin typeface="Consolas"/>
                <a:cs typeface="Consolas"/>
              </a:rPr>
              <a:t>,</a:t>
            </a:r>
            <a:r>
              <a:rPr sz="1400" spc="-15" dirty="0">
                <a:latin typeface="Consolas"/>
                <a:cs typeface="Consolas"/>
              </a:rPr>
              <a:t> </a:t>
            </a:r>
            <a:r>
              <a:rPr sz="1400" spc="-5" dirty="0">
                <a:latin typeface="Consolas"/>
                <a:cs typeface="Consolas"/>
              </a:rPr>
              <a:t>2)])</a:t>
            </a:r>
            <a:endParaRPr sz="1400">
              <a:latin typeface="Consolas"/>
              <a:cs typeface="Consolas"/>
            </a:endParaRPr>
          </a:p>
          <a:p>
            <a:pPr>
              <a:lnSpc>
                <a:spcPct val="100000"/>
              </a:lnSpc>
            </a:pPr>
            <a:endParaRPr sz="1400">
              <a:latin typeface="Consolas"/>
              <a:cs typeface="Consolas"/>
            </a:endParaRPr>
          </a:p>
          <a:p>
            <a:pPr marL="12700" marR="2742565">
              <a:lnSpc>
                <a:spcPct val="151800"/>
              </a:lnSpc>
              <a:spcBef>
                <a:spcPts val="910"/>
              </a:spcBef>
            </a:pPr>
            <a:r>
              <a:rPr sz="1400" spc="-5" dirty="0">
                <a:latin typeface="Consolas"/>
                <a:cs typeface="Consolas"/>
              </a:rPr>
              <a:t>joined </a:t>
            </a:r>
            <a:r>
              <a:rPr sz="1400" dirty="0">
                <a:solidFill>
                  <a:srgbClr val="FF5500"/>
                </a:solidFill>
                <a:latin typeface="Consolas"/>
                <a:cs typeface="Consolas"/>
              </a:rPr>
              <a:t>= </a:t>
            </a:r>
            <a:r>
              <a:rPr sz="1400" spc="-5" dirty="0">
                <a:latin typeface="Consolas"/>
                <a:cs typeface="Consolas"/>
              </a:rPr>
              <a:t>favColors.join(favNumbers) </a:t>
            </a:r>
            <a:r>
              <a:rPr sz="1400" spc="-755" dirty="0">
                <a:latin typeface="Consolas"/>
                <a:cs typeface="Consolas"/>
              </a:rPr>
              <a:t> </a:t>
            </a:r>
            <a:r>
              <a:rPr sz="1400" spc="-5" dirty="0">
                <a:latin typeface="Consolas"/>
                <a:cs typeface="Consolas"/>
              </a:rPr>
              <a:t>joined.collect()</a:t>
            </a:r>
            <a:endParaRPr sz="1400">
              <a:latin typeface="Consolas"/>
              <a:cs typeface="Consolas"/>
            </a:endParaRPr>
          </a:p>
          <a:p>
            <a:pPr>
              <a:lnSpc>
                <a:spcPct val="100000"/>
              </a:lnSpc>
            </a:pPr>
            <a:endParaRPr sz="1400">
              <a:latin typeface="Consolas"/>
              <a:cs typeface="Consolas"/>
            </a:endParaRPr>
          </a:p>
          <a:p>
            <a:pPr>
              <a:lnSpc>
                <a:spcPct val="100000"/>
              </a:lnSpc>
              <a:spcBef>
                <a:spcPts val="20"/>
              </a:spcBef>
            </a:pPr>
            <a:endParaRPr sz="1500">
              <a:latin typeface="Consolas"/>
              <a:cs typeface="Consolas"/>
            </a:endParaRPr>
          </a:p>
          <a:p>
            <a:pPr marL="12700">
              <a:lnSpc>
                <a:spcPct val="100000"/>
              </a:lnSpc>
              <a:spcBef>
                <a:spcPts val="5"/>
              </a:spcBef>
            </a:pPr>
            <a:r>
              <a:rPr sz="1400" dirty="0">
                <a:solidFill>
                  <a:srgbClr val="919191"/>
                </a:solidFill>
                <a:latin typeface="Consolas"/>
                <a:cs typeface="Consolas"/>
              </a:rPr>
              <a:t>#</a:t>
            </a:r>
            <a:r>
              <a:rPr sz="1400" spc="-20" dirty="0">
                <a:solidFill>
                  <a:srgbClr val="919191"/>
                </a:solidFill>
                <a:latin typeface="Consolas"/>
                <a:cs typeface="Consolas"/>
              </a:rPr>
              <a:t> </a:t>
            </a:r>
            <a:r>
              <a:rPr sz="1400" spc="-5" dirty="0">
                <a:solidFill>
                  <a:srgbClr val="919191"/>
                </a:solidFill>
                <a:latin typeface="Consolas"/>
                <a:cs typeface="Consolas"/>
              </a:rPr>
              <a:t>[('bob',</a:t>
            </a:r>
            <a:r>
              <a:rPr sz="1400" spc="-15" dirty="0">
                <a:solidFill>
                  <a:srgbClr val="919191"/>
                </a:solidFill>
                <a:latin typeface="Consolas"/>
                <a:cs typeface="Consolas"/>
              </a:rPr>
              <a:t> </a:t>
            </a:r>
            <a:r>
              <a:rPr sz="1400" spc="-5" dirty="0">
                <a:solidFill>
                  <a:srgbClr val="919191"/>
                </a:solidFill>
                <a:latin typeface="Consolas"/>
                <a:cs typeface="Consolas"/>
              </a:rPr>
              <a:t>('red',</a:t>
            </a:r>
            <a:r>
              <a:rPr sz="1400" spc="-15" dirty="0">
                <a:solidFill>
                  <a:srgbClr val="919191"/>
                </a:solidFill>
                <a:latin typeface="Consolas"/>
                <a:cs typeface="Consolas"/>
              </a:rPr>
              <a:t> </a:t>
            </a:r>
            <a:r>
              <a:rPr sz="1400" spc="-5" dirty="0">
                <a:solidFill>
                  <a:srgbClr val="919191"/>
                </a:solidFill>
                <a:latin typeface="Consolas"/>
                <a:cs typeface="Consolas"/>
              </a:rPr>
              <a:t>1)),</a:t>
            </a:r>
            <a:r>
              <a:rPr sz="1400" spc="-20" dirty="0">
                <a:solidFill>
                  <a:srgbClr val="919191"/>
                </a:solidFill>
                <a:latin typeface="Consolas"/>
                <a:cs typeface="Consolas"/>
              </a:rPr>
              <a:t> </a:t>
            </a:r>
            <a:r>
              <a:rPr sz="1400" spc="-5" dirty="0">
                <a:solidFill>
                  <a:srgbClr val="919191"/>
                </a:solidFill>
                <a:latin typeface="Consolas"/>
                <a:cs typeface="Consolas"/>
              </a:rPr>
              <a:t>('alice',</a:t>
            </a:r>
            <a:r>
              <a:rPr sz="1400" spc="-15" dirty="0">
                <a:solidFill>
                  <a:srgbClr val="919191"/>
                </a:solidFill>
                <a:latin typeface="Consolas"/>
                <a:cs typeface="Consolas"/>
              </a:rPr>
              <a:t> </a:t>
            </a:r>
            <a:r>
              <a:rPr sz="1400" spc="-5" dirty="0">
                <a:solidFill>
                  <a:srgbClr val="919191"/>
                </a:solidFill>
                <a:latin typeface="Consolas"/>
                <a:cs typeface="Consolas"/>
              </a:rPr>
              <a:t>('blue',</a:t>
            </a:r>
            <a:r>
              <a:rPr sz="1400" spc="-15" dirty="0">
                <a:solidFill>
                  <a:srgbClr val="919191"/>
                </a:solidFill>
                <a:latin typeface="Consolas"/>
                <a:cs typeface="Consolas"/>
              </a:rPr>
              <a:t> </a:t>
            </a:r>
            <a:r>
              <a:rPr sz="1400" spc="-5" dirty="0">
                <a:solidFill>
                  <a:srgbClr val="919191"/>
                </a:solidFill>
                <a:latin typeface="Consolas"/>
                <a:cs typeface="Consolas"/>
              </a:rPr>
              <a:t>2))]</a:t>
            </a:r>
            <a:endParaRPr sz="1400">
              <a:latin typeface="Consolas"/>
              <a:cs typeface="Consola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4725" y="503825"/>
            <a:ext cx="3630295" cy="452120"/>
          </a:xfrm>
          <a:prstGeom prst="rect">
            <a:avLst/>
          </a:prstGeom>
        </p:spPr>
        <p:txBody>
          <a:bodyPr vert="horz" wrap="square" lIns="0" tIns="12700" rIns="0" bIns="0" rtlCol="0">
            <a:spAutoFit/>
          </a:bodyPr>
          <a:lstStyle/>
          <a:p>
            <a:pPr marL="12700">
              <a:lnSpc>
                <a:spcPct val="100000"/>
              </a:lnSpc>
              <a:spcBef>
                <a:spcPts val="100"/>
              </a:spcBef>
            </a:pPr>
            <a:r>
              <a:rPr sz="2800" spc="45" dirty="0">
                <a:solidFill>
                  <a:srgbClr val="202729"/>
                </a:solidFill>
              </a:rPr>
              <a:t>ReduceByKey</a:t>
            </a:r>
            <a:r>
              <a:rPr sz="2800" spc="-175" dirty="0">
                <a:solidFill>
                  <a:srgbClr val="202729"/>
                </a:solidFill>
              </a:rPr>
              <a:t> </a:t>
            </a:r>
            <a:r>
              <a:rPr sz="2800" spc="-20" dirty="0">
                <a:solidFill>
                  <a:srgbClr val="202729"/>
                </a:solidFill>
              </a:rPr>
              <a:t>Example</a:t>
            </a:r>
            <a:endParaRPr sz="2800"/>
          </a:p>
        </p:txBody>
      </p:sp>
      <p:sp>
        <p:nvSpPr>
          <p:cNvPr id="3" name="object 3"/>
          <p:cNvSpPr txBox="1"/>
          <p:nvPr/>
        </p:nvSpPr>
        <p:spPr>
          <a:xfrm>
            <a:off x="937025" y="1991162"/>
            <a:ext cx="7061200" cy="1835150"/>
          </a:xfrm>
          <a:prstGeom prst="rect">
            <a:avLst/>
          </a:prstGeom>
        </p:spPr>
        <p:txBody>
          <a:bodyPr vert="horz" wrap="square" lIns="0" tIns="12700" rIns="0" bIns="0" rtlCol="0">
            <a:spAutoFit/>
          </a:bodyPr>
          <a:lstStyle/>
          <a:p>
            <a:pPr marL="12700" marR="5080">
              <a:lnSpc>
                <a:spcPct val="148400"/>
              </a:lnSpc>
              <a:spcBef>
                <a:spcPts val="100"/>
              </a:spcBef>
            </a:pPr>
            <a:r>
              <a:rPr sz="1600" spc="-5" dirty="0">
                <a:latin typeface="Consolas"/>
                <a:cs typeface="Consolas"/>
              </a:rPr>
              <a:t>nums </a:t>
            </a:r>
            <a:r>
              <a:rPr sz="1600" dirty="0">
                <a:solidFill>
                  <a:srgbClr val="FF5500"/>
                </a:solidFill>
                <a:latin typeface="Consolas"/>
                <a:cs typeface="Consolas"/>
              </a:rPr>
              <a:t>= </a:t>
            </a:r>
            <a:r>
              <a:rPr sz="1600" spc="-5" dirty="0">
                <a:latin typeface="Consolas"/>
                <a:cs typeface="Consolas"/>
              </a:rPr>
              <a:t>sc.parallelize([(</a:t>
            </a:r>
            <a:r>
              <a:rPr sz="1600" spc="-5" dirty="0">
                <a:solidFill>
                  <a:srgbClr val="00A33E"/>
                </a:solidFill>
                <a:latin typeface="Consolas"/>
                <a:cs typeface="Consolas"/>
              </a:rPr>
              <a:t>'a'</a:t>
            </a:r>
            <a:r>
              <a:rPr sz="1600" spc="-5" dirty="0">
                <a:latin typeface="Consolas"/>
                <a:cs typeface="Consolas"/>
              </a:rPr>
              <a:t>, 1), </a:t>
            </a:r>
            <a:r>
              <a:rPr sz="1600" dirty="0">
                <a:latin typeface="Consolas"/>
                <a:cs typeface="Consolas"/>
              </a:rPr>
              <a:t>(</a:t>
            </a:r>
            <a:r>
              <a:rPr sz="1600" dirty="0">
                <a:solidFill>
                  <a:srgbClr val="00A33E"/>
                </a:solidFill>
                <a:latin typeface="Consolas"/>
                <a:cs typeface="Consolas"/>
              </a:rPr>
              <a:t>'b'</a:t>
            </a:r>
            <a:r>
              <a:rPr sz="1600" dirty="0">
                <a:latin typeface="Consolas"/>
                <a:cs typeface="Consolas"/>
              </a:rPr>
              <a:t>, </a:t>
            </a:r>
            <a:r>
              <a:rPr sz="1600" spc="-5" dirty="0">
                <a:latin typeface="Consolas"/>
                <a:cs typeface="Consolas"/>
              </a:rPr>
              <a:t>2), </a:t>
            </a:r>
            <a:r>
              <a:rPr sz="1600" dirty="0">
                <a:latin typeface="Consolas"/>
                <a:cs typeface="Consolas"/>
              </a:rPr>
              <a:t>(</a:t>
            </a:r>
            <a:r>
              <a:rPr sz="1600" dirty="0">
                <a:solidFill>
                  <a:srgbClr val="00A33E"/>
                </a:solidFill>
                <a:latin typeface="Consolas"/>
                <a:cs typeface="Consolas"/>
              </a:rPr>
              <a:t>'a'</a:t>
            </a:r>
            <a:r>
              <a:rPr sz="1600" dirty="0">
                <a:latin typeface="Consolas"/>
                <a:cs typeface="Consolas"/>
              </a:rPr>
              <a:t>, </a:t>
            </a:r>
            <a:r>
              <a:rPr sz="1600" spc="-5" dirty="0">
                <a:latin typeface="Consolas"/>
                <a:cs typeface="Consolas"/>
              </a:rPr>
              <a:t>3), </a:t>
            </a:r>
            <a:r>
              <a:rPr sz="1600" dirty="0">
                <a:latin typeface="Consolas"/>
                <a:cs typeface="Consolas"/>
              </a:rPr>
              <a:t>(</a:t>
            </a:r>
            <a:r>
              <a:rPr sz="1600" dirty="0">
                <a:solidFill>
                  <a:srgbClr val="00A33E"/>
                </a:solidFill>
                <a:latin typeface="Consolas"/>
                <a:cs typeface="Consolas"/>
              </a:rPr>
              <a:t>'b'</a:t>
            </a:r>
            <a:r>
              <a:rPr sz="1600" dirty="0">
                <a:latin typeface="Consolas"/>
                <a:cs typeface="Consolas"/>
              </a:rPr>
              <a:t>, </a:t>
            </a:r>
            <a:r>
              <a:rPr sz="1600" spc="-5" dirty="0">
                <a:latin typeface="Consolas"/>
                <a:cs typeface="Consolas"/>
              </a:rPr>
              <a:t>4)]) </a:t>
            </a:r>
            <a:r>
              <a:rPr sz="1600" spc="-865" dirty="0">
                <a:latin typeface="Consolas"/>
                <a:cs typeface="Consolas"/>
              </a:rPr>
              <a:t> </a:t>
            </a:r>
            <a:r>
              <a:rPr sz="1600" spc="-5" dirty="0">
                <a:latin typeface="Consolas"/>
                <a:cs typeface="Consolas"/>
              </a:rPr>
              <a:t>reduced</a:t>
            </a:r>
            <a:r>
              <a:rPr sz="1600" spc="5" dirty="0">
                <a:latin typeface="Consolas"/>
                <a:cs typeface="Consolas"/>
              </a:rPr>
              <a:t> </a:t>
            </a:r>
            <a:r>
              <a:rPr sz="1600" dirty="0">
                <a:solidFill>
                  <a:srgbClr val="FF5500"/>
                </a:solidFill>
                <a:latin typeface="Consolas"/>
                <a:cs typeface="Consolas"/>
              </a:rPr>
              <a:t>=</a:t>
            </a:r>
            <a:r>
              <a:rPr sz="1600" spc="-10" dirty="0">
                <a:solidFill>
                  <a:srgbClr val="FF5500"/>
                </a:solidFill>
                <a:latin typeface="Consolas"/>
                <a:cs typeface="Consolas"/>
              </a:rPr>
              <a:t> </a:t>
            </a:r>
            <a:r>
              <a:rPr sz="1600" spc="-5" dirty="0">
                <a:latin typeface="Consolas"/>
                <a:cs typeface="Consolas"/>
              </a:rPr>
              <a:t>nums.reduceByKey(</a:t>
            </a:r>
            <a:r>
              <a:rPr sz="1600" spc="-5" dirty="0">
                <a:solidFill>
                  <a:srgbClr val="FF5500"/>
                </a:solidFill>
                <a:latin typeface="Consolas"/>
                <a:cs typeface="Consolas"/>
              </a:rPr>
              <a:t>lambda</a:t>
            </a:r>
            <a:r>
              <a:rPr sz="1600" dirty="0">
                <a:solidFill>
                  <a:srgbClr val="FF5500"/>
                </a:solidFill>
                <a:latin typeface="Consolas"/>
                <a:cs typeface="Consolas"/>
              </a:rPr>
              <a:t> </a:t>
            </a:r>
            <a:r>
              <a:rPr sz="1600" spc="-5" dirty="0">
                <a:latin typeface="Consolas"/>
                <a:cs typeface="Consolas"/>
              </a:rPr>
              <a:t>v1,</a:t>
            </a:r>
            <a:r>
              <a:rPr sz="1600" spc="-10" dirty="0">
                <a:latin typeface="Consolas"/>
                <a:cs typeface="Consolas"/>
              </a:rPr>
              <a:t> </a:t>
            </a:r>
            <a:r>
              <a:rPr sz="1600" spc="-5" dirty="0">
                <a:latin typeface="Consolas"/>
                <a:cs typeface="Consolas"/>
              </a:rPr>
              <a:t>v2: v1</a:t>
            </a:r>
            <a:r>
              <a:rPr sz="1600" spc="10" dirty="0">
                <a:latin typeface="Consolas"/>
                <a:cs typeface="Consolas"/>
              </a:rPr>
              <a:t> </a:t>
            </a:r>
            <a:r>
              <a:rPr sz="1600" dirty="0">
                <a:solidFill>
                  <a:srgbClr val="FF5500"/>
                </a:solidFill>
                <a:latin typeface="Consolas"/>
                <a:cs typeface="Consolas"/>
              </a:rPr>
              <a:t>+</a:t>
            </a:r>
            <a:r>
              <a:rPr sz="1600" spc="-5" dirty="0">
                <a:solidFill>
                  <a:srgbClr val="FF5500"/>
                </a:solidFill>
                <a:latin typeface="Consolas"/>
                <a:cs typeface="Consolas"/>
              </a:rPr>
              <a:t> </a:t>
            </a:r>
            <a:r>
              <a:rPr sz="1600" spc="-5" dirty="0">
                <a:latin typeface="Consolas"/>
                <a:cs typeface="Consolas"/>
              </a:rPr>
              <a:t>v2) </a:t>
            </a:r>
            <a:r>
              <a:rPr sz="1600" dirty="0">
                <a:latin typeface="Consolas"/>
                <a:cs typeface="Consolas"/>
              </a:rPr>
              <a:t> </a:t>
            </a:r>
            <a:r>
              <a:rPr sz="1600" spc="-5" dirty="0">
                <a:latin typeface="Consolas"/>
                <a:cs typeface="Consolas"/>
              </a:rPr>
              <a:t>reduced.collect()</a:t>
            </a:r>
            <a:endParaRPr sz="1600">
              <a:latin typeface="Consolas"/>
              <a:cs typeface="Consolas"/>
            </a:endParaRPr>
          </a:p>
          <a:p>
            <a:pPr>
              <a:lnSpc>
                <a:spcPct val="100000"/>
              </a:lnSpc>
            </a:pPr>
            <a:endParaRPr sz="1600">
              <a:latin typeface="Consolas"/>
              <a:cs typeface="Consolas"/>
            </a:endParaRPr>
          </a:p>
          <a:p>
            <a:pPr>
              <a:lnSpc>
                <a:spcPct val="100000"/>
              </a:lnSpc>
              <a:spcBef>
                <a:spcPts val="30"/>
              </a:spcBef>
            </a:pPr>
            <a:endParaRPr sz="1600">
              <a:latin typeface="Consolas"/>
              <a:cs typeface="Consolas"/>
            </a:endParaRPr>
          </a:p>
          <a:p>
            <a:pPr marL="12700">
              <a:lnSpc>
                <a:spcPct val="100000"/>
              </a:lnSpc>
            </a:pPr>
            <a:r>
              <a:rPr sz="1600" dirty="0">
                <a:solidFill>
                  <a:srgbClr val="919191"/>
                </a:solidFill>
                <a:latin typeface="Consolas"/>
                <a:cs typeface="Consolas"/>
              </a:rPr>
              <a:t>#</a:t>
            </a:r>
            <a:r>
              <a:rPr sz="1600" spc="-25" dirty="0">
                <a:solidFill>
                  <a:srgbClr val="919191"/>
                </a:solidFill>
                <a:latin typeface="Consolas"/>
                <a:cs typeface="Consolas"/>
              </a:rPr>
              <a:t> </a:t>
            </a:r>
            <a:r>
              <a:rPr sz="1600" spc="-5" dirty="0">
                <a:solidFill>
                  <a:srgbClr val="919191"/>
                </a:solidFill>
                <a:latin typeface="Consolas"/>
                <a:cs typeface="Consolas"/>
              </a:rPr>
              <a:t>[('b',</a:t>
            </a:r>
            <a:r>
              <a:rPr sz="1600" spc="-25" dirty="0">
                <a:solidFill>
                  <a:srgbClr val="919191"/>
                </a:solidFill>
                <a:latin typeface="Consolas"/>
                <a:cs typeface="Consolas"/>
              </a:rPr>
              <a:t> </a:t>
            </a:r>
            <a:r>
              <a:rPr sz="1600" spc="-5" dirty="0">
                <a:solidFill>
                  <a:srgbClr val="919191"/>
                </a:solidFill>
                <a:latin typeface="Consolas"/>
                <a:cs typeface="Consolas"/>
              </a:rPr>
              <a:t>6),</a:t>
            </a:r>
            <a:r>
              <a:rPr sz="1600" spc="-25" dirty="0">
                <a:solidFill>
                  <a:srgbClr val="919191"/>
                </a:solidFill>
                <a:latin typeface="Consolas"/>
                <a:cs typeface="Consolas"/>
              </a:rPr>
              <a:t> </a:t>
            </a:r>
            <a:r>
              <a:rPr sz="1600" spc="-5" dirty="0">
                <a:solidFill>
                  <a:srgbClr val="919191"/>
                </a:solidFill>
                <a:latin typeface="Consolas"/>
                <a:cs typeface="Consolas"/>
              </a:rPr>
              <a:t>('a',</a:t>
            </a:r>
            <a:r>
              <a:rPr sz="1600" spc="-20" dirty="0">
                <a:solidFill>
                  <a:srgbClr val="919191"/>
                </a:solidFill>
                <a:latin typeface="Consolas"/>
                <a:cs typeface="Consolas"/>
              </a:rPr>
              <a:t> </a:t>
            </a:r>
            <a:r>
              <a:rPr sz="1600" spc="-5" dirty="0">
                <a:solidFill>
                  <a:srgbClr val="919191"/>
                </a:solidFill>
                <a:latin typeface="Consolas"/>
                <a:cs typeface="Consolas"/>
              </a:rPr>
              <a:t>4)]</a:t>
            </a:r>
            <a:endParaRPr sz="1600">
              <a:latin typeface="Consolas"/>
              <a:cs typeface="Consola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540</TotalTime>
  <Words>4031</Words>
  <Application>Microsoft Office PowerPoint</Application>
  <PresentationFormat>On-screen Show (16:9)</PresentationFormat>
  <Paragraphs>453</Paragraphs>
  <Slides>65</Slides>
  <Notes>24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65</vt:i4>
      </vt:variant>
    </vt:vector>
  </HeadingPairs>
  <TitlesOfParts>
    <vt:vector size="80" baseType="lpstr">
      <vt:lpstr>-apple-system</vt:lpstr>
      <vt:lpstr>Arial</vt:lpstr>
      <vt:lpstr>Arial MT</vt:lpstr>
      <vt:lpstr>Calibri</vt:lpstr>
      <vt:lpstr>Consolas</vt:lpstr>
      <vt:lpstr>DM Sans</vt:lpstr>
      <vt:lpstr>Georgia</vt:lpstr>
      <vt:lpstr>inherit</vt:lpstr>
      <vt:lpstr>PT Serif</vt:lpstr>
      <vt:lpstr>Roboto</vt:lpstr>
      <vt:lpstr>source-serif-pro</vt:lpstr>
      <vt:lpstr>Times New Roman</vt:lpstr>
      <vt:lpstr>Trebuchet MS</vt:lpstr>
      <vt:lpstr>Verdana</vt:lpstr>
      <vt:lpstr>Office Theme</vt:lpstr>
      <vt:lpstr>Spark</vt:lpstr>
      <vt:lpstr>Learning objectives</vt:lpstr>
      <vt:lpstr>Outline</vt:lpstr>
      <vt:lpstr>Is it big</vt:lpstr>
      <vt:lpstr>PowerPoint Presentation</vt:lpstr>
      <vt:lpstr>Is it big</vt:lpstr>
      <vt:lpstr>PowerPoint Presentation</vt:lpstr>
      <vt:lpstr>Motivations / History</vt:lpstr>
      <vt:lpstr>Apache Spark</vt:lpstr>
      <vt:lpstr>Computational Framework</vt:lpstr>
      <vt:lpstr>Computational Framework</vt:lpstr>
      <vt:lpstr>Spark submit</vt:lpstr>
      <vt:lpstr>Spark UI</vt:lpstr>
      <vt:lpstr>Architecture</vt:lpstr>
      <vt:lpstr>PowerPoint Presentation</vt:lpstr>
      <vt:lpstr>Architecture</vt:lpstr>
      <vt:lpstr>Executor Allocation</vt:lpstr>
      <vt:lpstr>Dynamic Executor Allocation</vt:lpstr>
      <vt:lpstr>Resilient Distributed Dataset (RDD)</vt:lpstr>
      <vt:lpstr>Resilient Distributed Dataset (RDD)</vt:lpstr>
      <vt:lpstr>Example with RDD</vt:lpstr>
      <vt:lpstr>PowerPoint Presentation</vt:lpstr>
      <vt:lpstr>RDD transformations and actions</vt:lpstr>
      <vt:lpstr>Spark Application Components</vt:lpstr>
      <vt:lpstr>The Spark Flow</vt:lpstr>
      <vt:lpstr>Monitoring Spark: Executors and tasks</vt:lpstr>
      <vt:lpstr>Executors and tasks</vt:lpstr>
      <vt:lpstr>PowerPoint Presentation</vt:lpstr>
      <vt:lpstr>RDD Operations</vt:lpstr>
      <vt:lpstr>Lazy evaluation in Spark</vt:lpstr>
      <vt:lpstr>DAGScheduler</vt:lpstr>
      <vt:lpstr>DAGScheduler - Directed Acyclic Graph Scheduler</vt:lpstr>
      <vt:lpstr>PowerPoint Presentation</vt:lpstr>
      <vt:lpstr>Storage for Spark</vt:lpstr>
      <vt:lpstr>RDD Operations - Cache</vt:lpstr>
      <vt:lpstr>Example – Without Cache</vt:lpstr>
      <vt:lpstr>Example – With Cache</vt:lpstr>
      <vt:lpstr>Resource managers for Spark</vt:lpstr>
      <vt:lpstr>Resource managers for Spark</vt:lpstr>
      <vt:lpstr>Spark deployment modes - Local mode</vt:lpstr>
      <vt:lpstr>Spark deployment modes - Cluster mode  </vt:lpstr>
      <vt:lpstr>Deployment modes submit commands</vt:lpstr>
      <vt:lpstr>Much more flexibility than Hadoop</vt:lpstr>
      <vt:lpstr>Related Frameworks</vt:lpstr>
      <vt:lpstr>Related Frameworks</vt:lpstr>
      <vt:lpstr>Catalyst Optimizer in Spark SQL</vt:lpstr>
      <vt:lpstr>Catalyst Optimizer in Spark SQL</vt:lpstr>
      <vt:lpstr>PowerPoint Presentation</vt:lpstr>
      <vt:lpstr>Outline</vt:lpstr>
      <vt:lpstr>PowerPoint Presentation</vt:lpstr>
      <vt:lpstr>Hadoop vs. Spark</vt:lpstr>
      <vt:lpstr>Hadoop + Spark</vt:lpstr>
      <vt:lpstr>PowerPoint Presentation</vt:lpstr>
      <vt:lpstr>PowerPoint Presentation</vt:lpstr>
      <vt:lpstr>PowerPoint Presentation</vt:lpstr>
      <vt:lpstr>Outline</vt:lpstr>
      <vt:lpstr>When to use Spark</vt:lpstr>
      <vt:lpstr>Spark in Industry</vt:lpstr>
      <vt:lpstr>Spark in Industry</vt:lpstr>
      <vt:lpstr>Outline</vt:lpstr>
      <vt:lpstr>What Does Spark Code Look Like?</vt:lpstr>
      <vt:lpstr>Example</vt:lpstr>
      <vt:lpstr>Word Count Example</vt:lpstr>
      <vt:lpstr>Join Example</vt:lpstr>
      <vt:lpstr>ReduceByKey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Trang Nguyen Thuy</cp:lastModifiedBy>
  <cp:revision>18</cp:revision>
  <dcterms:created xsi:type="dcterms:W3CDTF">2024-11-10T15:53:35Z</dcterms:created>
  <dcterms:modified xsi:type="dcterms:W3CDTF">2025-02-15T10:14:13Z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