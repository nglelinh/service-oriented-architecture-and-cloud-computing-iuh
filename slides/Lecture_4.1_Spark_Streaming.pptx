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256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45" d="100"/>
          <a:sy n="145" d="100"/>
        </p:scale>
        <p:origin x="624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EA8195-F2D9-4AC0-A1FB-F0174C643B56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E04F29-6B9C-4EE3-BAF6-4B172D8F8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047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https://github.com/InterruptSpeed/streaming-lab</a:t>
            </a:r>
          </a:p>
          <a:p>
            <a:r>
              <a:rPr lang="en-US" dirty="0"/>
              <a:t>https://github.com/stream-processing-with-spark/notebooks</a:t>
            </a:r>
          </a:p>
          <a:p>
            <a:r>
              <a:rPr lang="en-US"/>
              <a:t>https://github.com/ibm-watson-data-lab/spark.samples/tree/master/streaming-twitter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04F29-6B9C-4EE3-BAF6-4B172D8F8D8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7523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61616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5045700"/>
            <a:ext cx="9144000" cy="98425"/>
          </a:xfrm>
          <a:custGeom>
            <a:avLst/>
            <a:gdLst/>
            <a:ahLst/>
            <a:cxnLst/>
            <a:rect l="l" t="t" r="r" b="b"/>
            <a:pathLst>
              <a:path w="9144000" h="98425">
                <a:moveTo>
                  <a:pt x="9143999" y="97799"/>
                </a:moveTo>
                <a:lnTo>
                  <a:pt x="0" y="9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7799"/>
                </a:lnTo>
                <a:close/>
              </a:path>
            </a:pathLst>
          </a:custGeom>
          <a:solidFill>
            <a:srgbClr val="63D19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34883" y="1163216"/>
            <a:ext cx="3474232" cy="14903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5249" y="1176350"/>
            <a:ext cx="6652259" cy="1597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61616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2027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2998149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3999" y="0"/>
                </a:lnTo>
              </a:path>
            </a:pathLst>
          </a:custGeom>
          <a:ln w="19049">
            <a:solidFill>
              <a:srgbClr val="63D19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090" algn="ctr">
              <a:lnSpc>
                <a:spcPct val="100000"/>
              </a:lnSpc>
              <a:spcBef>
                <a:spcPts val="100"/>
              </a:spcBef>
            </a:pPr>
            <a:r>
              <a:rPr lang="en-US" spc="434" dirty="0"/>
              <a:t>Spark</a:t>
            </a:r>
            <a:endParaRPr spc="355" dirty="0"/>
          </a:p>
          <a:p>
            <a:pPr marL="85090" algn="ctr">
              <a:lnSpc>
                <a:spcPct val="100000"/>
              </a:lnSpc>
              <a:spcBef>
                <a:spcPts val="15"/>
              </a:spcBef>
            </a:pPr>
            <a:r>
              <a:rPr spc="-25" dirty="0"/>
              <a:t>Streaming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5249" y="1081100"/>
            <a:ext cx="3453129" cy="1663700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165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Streaming</a:t>
            </a:r>
            <a:r>
              <a:rPr sz="1800" spc="-10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616161"/>
                </a:solidFill>
                <a:latin typeface="Trebuchet MS"/>
                <a:cs typeface="Trebuchet MS"/>
              </a:rPr>
              <a:t>Overview</a:t>
            </a:r>
            <a:endParaRPr sz="1800">
              <a:latin typeface="Trebuchet MS"/>
              <a:cs typeface="Trebuchet MS"/>
            </a:endParaRPr>
          </a:p>
          <a:p>
            <a:pPr marL="379095" indent="-367030">
              <a:lnSpc>
                <a:spcPct val="100000"/>
              </a:lnSpc>
              <a:spcBef>
                <a:spcPts val="1065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25" dirty="0">
                <a:solidFill>
                  <a:srgbClr val="616161"/>
                </a:solidFill>
                <a:latin typeface="Trebuchet MS"/>
                <a:cs typeface="Trebuchet MS"/>
              </a:rPr>
              <a:t>Spark</a:t>
            </a:r>
            <a:r>
              <a:rPr sz="1800" spc="-12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Streaming</a:t>
            </a:r>
            <a:endParaRPr sz="1800">
              <a:latin typeface="Trebuchet MS"/>
              <a:cs typeface="Trebuchet MS"/>
            </a:endParaRPr>
          </a:p>
          <a:p>
            <a:pPr marL="379095" indent="-367030">
              <a:lnSpc>
                <a:spcPct val="100000"/>
              </a:lnSpc>
              <a:spcBef>
                <a:spcPts val="1065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25" dirty="0">
                <a:solidFill>
                  <a:srgbClr val="616161"/>
                </a:solidFill>
                <a:latin typeface="Trebuchet MS"/>
                <a:cs typeface="Trebuchet MS"/>
              </a:rPr>
              <a:t>Spark</a:t>
            </a:r>
            <a:r>
              <a:rPr sz="1800" spc="-10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Streaming</a:t>
            </a:r>
            <a:r>
              <a:rPr sz="1800" spc="-9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616161"/>
                </a:solidFill>
                <a:latin typeface="Trebuchet MS"/>
                <a:cs typeface="Trebuchet MS"/>
              </a:rPr>
              <a:t>Programming</a:t>
            </a:r>
            <a:endParaRPr sz="1800">
              <a:latin typeface="Trebuchet MS"/>
              <a:cs typeface="Trebuchet MS"/>
            </a:endParaRPr>
          </a:p>
          <a:p>
            <a:pPr marL="379095" indent="-367030">
              <a:lnSpc>
                <a:spcPct val="100000"/>
              </a:lnSpc>
              <a:spcBef>
                <a:spcPts val="1065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-40" dirty="0">
                <a:solidFill>
                  <a:srgbClr val="616161"/>
                </a:solidFill>
                <a:latin typeface="Trebuchet MS"/>
                <a:cs typeface="Trebuchet MS"/>
              </a:rPr>
              <a:t>Final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Project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5" dirty="0">
                <a:solidFill>
                  <a:srgbClr val="616161"/>
                </a:solidFill>
                <a:latin typeface="Trebuchet MS"/>
                <a:cs typeface="Trebuchet MS"/>
              </a:rPr>
              <a:t>Announcement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115443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solidFill>
                  <a:srgbClr val="202729"/>
                </a:solidFill>
              </a:rPr>
              <a:t>Outline</a:t>
            </a:r>
            <a:endParaRPr sz="2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161099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5" dirty="0">
                <a:solidFill>
                  <a:srgbClr val="202729"/>
                </a:solidFill>
              </a:rPr>
              <a:t>Streaming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475249" y="1170207"/>
            <a:ext cx="8107680" cy="307911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459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-130" dirty="0">
                <a:solidFill>
                  <a:srgbClr val="616161"/>
                </a:solidFill>
                <a:latin typeface="Verdana"/>
                <a:cs typeface="Verdana"/>
              </a:rPr>
              <a:t>Wh</a:t>
            </a:r>
            <a:r>
              <a:rPr sz="1800" spc="-95" dirty="0">
                <a:solidFill>
                  <a:srgbClr val="616161"/>
                </a:solidFill>
                <a:latin typeface="Verdana"/>
                <a:cs typeface="Verdana"/>
              </a:rPr>
              <a:t>y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616161"/>
                </a:solidFill>
                <a:latin typeface="Verdana"/>
                <a:cs typeface="Verdana"/>
              </a:rPr>
              <a:t>streaming?</a:t>
            </a:r>
            <a:endParaRPr sz="1800">
              <a:latin typeface="Verdana"/>
              <a:cs typeface="Verdana"/>
            </a:endParaRPr>
          </a:p>
          <a:p>
            <a:pPr marL="836294" lvl="1" indent="-351790">
              <a:lnSpc>
                <a:spcPct val="100000"/>
              </a:lnSpc>
              <a:spcBef>
                <a:spcPts val="325"/>
              </a:spcBef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600" spc="-80" dirty="0">
                <a:solidFill>
                  <a:srgbClr val="616161"/>
                </a:solidFill>
                <a:latin typeface="Verdana"/>
                <a:cs typeface="Verdana"/>
              </a:rPr>
              <a:t>Lot</a:t>
            </a:r>
            <a:r>
              <a:rPr sz="1600" spc="-75" dirty="0">
                <a:solidFill>
                  <a:srgbClr val="616161"/>
                </a:solidFill>
                <a:latin typeface="Verdana"/>
                <a:cs typeface="Verdana"/>
              </a:rPr>
              <a:t>s</a:t>
            </a:r>
            <a:r>
              <a:rPr sz="1600" spc="-17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600" spc="-55" dirty="0">
                <a:solidFill>
                  <a:srgbClr val="616161"/>
                </a:solidFill>
                <a:latin typeface="Verdana"/>
                <a:cs typeface="Verdana"/>
              </a:rPr>
              <a:t>o</a:t>
            </a:r>
            <a:r>
              <a:rPr sz="1600" spc="-30" dirty="0">
                <a:solidFill>
                  <a:srgbClr val="616161"/>
                </a:solidFill>
                <a:latin typeface="Verdana"/>
                <a:cs typeface="Verdana"/>
              </a:rPr>
              <a:t>f</a:t>
            </a:r>
            <a:r>
              <a:rPr sz="1600" spc="-17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600" spc="-90" dirty="0">
                <a:solidFill>
                  <a:srgbClr val="616161"/>
                </a:solidFill>
                <a:latin typeface="Verdana"/>
                <a:cs typeface="Verdana"/>
              </a:rPr>
              <a:t>dat</a:t>
            </a:r>
            <a:r>
              <a:rPr sz="1600" spc="-95" dirty="0">
                <a:solidFill>
                  <a:srgbClr val="616161"/>
                </a:solidFill>
                <a:latin typeface="Verdana"/>
                <a:cs typeface="Verdana"/>
              </a:rPr>
              <a:t>a</a:t>
            </a:r>
            <a:r>
              <a:rPr sz="1600" spc="-17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600" spc="-50" dirty="0">
                <a:solidFill>
                  <a:srgbClr val="616161"/>
                </a:solidFill>
                <a:latin typeface="Verdana"/>
                <a:cs typeface="Verdana"/>
              </a:rPr>
              <a:t>i</a:t>
            </a:r>
            <a:r>
              <a:rPr sz="1600" spc="-85" dirty="0">
                <a:solidFill>
                  <a:srgbClr val="616161"/>
                </a:solidFill>
                <a:latin typeface="Verdana"/>
                <a:cs typeface="Verdana"/>
              </a:rPr>
              <a:t>s</a:t>
            </a:r>
            <a:r>
              <a:rPr sz="1600" spc="-17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600" spc="-80" dirty="0">
                <a:solidFill>
                  <a:srgbClr val="616161"/>
                </a:solidFill>
                <a:latin typeface="Verdana"/>
                <a:cs typeface="Verdana"/>
              </a:rPr>
              <a:t>no</a:t>
            </a:r>
            <a:r>
              <a:rPr sz="1600" spc="-50" dirty="0">
                <a:solidFill>
                  <a:srgbClr val="616161"/>
                </a:solidFill>
                <a:latin typeface="Verdana"/>
                <a:cs typeface="Verdana"/>
              </a:rPr>
              <a:t>t</a:t>
            </a:r>
            <a:r>
              <a:rPr sz="1600" spc="-16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600" spc="-100" dirty="0">
                <a:solidFill>
                  <a:srgbClr val="616161"/>
                </a:solidFill>
                <a:latin typeface="Verdana"/>
                <a:cs typeface="Verdana"/>
              </a:rPr>
              <a:t>fixed</a:t>
            </a:r>
            <a:r>
              <a:rPr sz="1600" spc="-70" dirty="0">
                <a:solidFill>
                  <a:srgbClr val="616161"/>
                </a:solidFill>
                <a:latin typeface="Verdana"/>
                <a:cs typeface="Verdana"/>
              </a:rPr>
              <a:t>,</a:t>
            </a:r>
            <a:r>
              <a:rPr sz="1600" spc="-17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600" spc="-45" dirty="0">
                <a:solidFill>
                  <a:srgbClr val="616161"/>
                </a:solidFill>
                <a:latin typeface="Verdana"/>
                <a:cs typeface="Verdana"/>
              </a:rPr>
              <a:t>i</a:t>
            </a:r>
            <a:r>
              <a:rPr sz="1600" spc="-90" dirty="0">
                <a:solidFill>
                  <a:srgbClr val="616161"/>
                </a:solidFill>
                <a:latin typeface="Verdana"/>
                <a:cs typeface="Verdana"/>
              </a:rPr>
              <a:t>n</a:t>
            </a:r>
            <a:r>
              <a:rPr sz="1600" spc="-17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600" spc="-85" dirty="0">
                <a:solidFill>
                  <a:srgbClr val="616161"/>
                </a:solidFill>
                <a:latin typeface="Verdana"/>
                <a:cs typeface="Verdana"/>
              </a:rPr>
              <a:t>practice</a:t>
            </a:r>
            <a:endParaRPr sz="1600">
              <a:latin typeface="Verdana"/>
              <a:cs typeface="Verdana"/>
            </a:endParaRPr>
          </a:p>
          <a:p>
            <a:pPr marL="836294" lvl="1" indent="-351790">
              <a:lnSpc>
                <a:spcPct val="100000"/>
              </a:lnSpc>
              <a:spcBef>
                <a:spcPts val="930"/>
              </a:spcBef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600" spc="-55" dirty="0">
                <a:solidFill>
                  <a:srgbClr val="616161"/>
                </a:solidFill>
                <a:latin typeface="Verdana"/>
                <a:cs typeface="Verdana"/>
              </a:rPr>
              <a:t>We</a:t>
            </a:r>
            <a:r>
              <a:rPr sz="1600" spc="-17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600" spc="-125" dirty="0">
                <a:solidFill>
                  <a:srgbClr val="616161"/>
                </a:solidFill>
                <a:latin typeface="Verdana"/>
                <a:cs typeface="Verdana"/>
              </a:rPr>
              <a:t>have</a:t>
            </a:r>
            <a:r>
              <a:rPr sz="1600" spc="-16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600" spc="-80" dirty="0">
                <a:solidFill>
                  <a:srgbClr val="616161"/>
                </a:solidFill>
                <a:latin typeface="Verdana"/>
                <a:cs typeface="Verdana"/>
              </a:rPr>
              <a:t>new</a:t>
            </a:r>
            <a:r>
              <a:rPr sz="1600" spc="-16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600" spc="-90" dirty="0">
                <a:solidFill>
                  <a:srgbClr val="616161"/>
                </a:solidFill>
                <a:latin typeface="Verdana"/>
                <a:cs typeface="Verdana"/>
              </a:rPr>
              <a:t>data</a:t>
            </a:r>
            <a:r>
              <a:rPr sz="1600" spc="-17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600" spc="-85" dirty="0">
                <a:solidFill>
                  <a:srgbClr val="616161"/>
                </a:solidFill>
                <a:latin typeface="Verdana"/>
                <a:cs typeface="Verdana"/>
              </a:rPr>
              <a:t>coming</a:t>
            </a:r>
            <a:r>
              <a:rPr sz="1600" spc="-16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600" spc="-70" dirty="0">
                <a:solidFill>
                  <a:srgbClr val="616161"/>
                </a:solidFill>
                <a:latin typeface="Verdana"/>
                <a:cs typeface="Verdana"/>
              </a:rPr>
              <a:t>in</a:t>
            </a:r>
            <a:r>
              <a:rPr sz="1600" spc="-16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600" spc="-35" dirty="0">
                <a:solidFill>
                  <a:srgbClr val="616161"/>
                </a:solidFill>
                <a:latin typeface="Verdana"/>
                <a:cs typeface="Verdana"/>
              </a:rPr>
              <a:t>all</a:t>
            </a:r>
            <a:r>
              <a:rPr sz="1600" spc="-16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600" spc="-110" dirty="0">
                <a:solidFill>
                  <a:srgbClr val="616161"/>
                </a:solidFill>
                <a:latin typeface="Verdana"/>
                <a:cs typeface="Verdana"/>
              </a:rPr>
              <a:t>the</a:t>
            </a:r>
            <a:r>
              <a:rPr sz="1600" spc="-16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600" spc="-145" dirty="0">
                <a:solidFill>
                  <a:srgbClr val="616161"/>
                </a:solidFill>
                <a:latin typeface="Verdana"/>
                <a:cs typeface="Verdana"/>
              </a:rPr>
              <a:t>time;</a:t>
            </a:r>
            <a:r>
              <a:rPr sz="1600" spc="-16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600" spc="-65" dirty="0">
                <a:solidFill>
                  <a:srgbClr val="616161"/>
                </a:solidFill>
                <a:latin typeface="Verdana"/>
                <a:cs typeface="Verdana"/>
              </a:rPr>
              <a:t>it</a:t>
            </a:r>
            <a:r>
              <a:rPr sz="1600" spc="-17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600" spc="-125" dirty="0">
                <a:solidFill>
                  <a:srgbClr val="616161"/>
                </a:solidFill>
                <a:latin typeface="Verdana"/>
                <a:cs typeface="Verdana"/>
              </a:rPr>
              <a:t>makes</a:t>
            </a:r>
            <a:r>
              <a:rPr sz="1600" spc="-16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600" spc="-95" dirty="0">
                <a:solidFill>
                  <a:srgbClr val="616161"/>
                </a:solidFill>
                <a:latin typeface="Verdana"/>
                <a:cs typeface="Verdana"/>
              </a:rPr>
              <a:t>sense</a:t>
            </a:r>
            <a:r>
              <a:rPr sz="1600" spc="-16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600" spc="-60" dirty="0">
                <a:solidFill>
                  <a:srgbClr val="616161"/>
                </a:solidFill>
                <a:latin typeface="Verdana"/>
                <a:cs typeface="Verdana"/>
              </a:rPr>
              <a:t>to</a:t>
            </a:r>
            <a:r>
              <a:rPr sz="1600" spc="-17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600" spc="-80" dirty="0">
                <a:solidFill>
                  <a:srgbClr val="616161"/>
                </a:solidFill>
                <a:latin typeface="Verdana"/>
                <a:cs typeface="Verdana"/>
              </a:rPr>
              <a:t>respond</a:t>
            </a:r>
            <a:r>
              <a:rPr sz="1600" spc="-16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600" spc="-70" dirty="0">
                <a:solidFill>
                  <a:srgbClr val="616161"/>
                </a:solidFill>
                <a:latin typeface="Verdana"/>
                <a:cs typeface="Verdana"/>
              </a:rPr>
              <a:t>in</a:t>
            </a:r>
            <a:r>
              <a:rPr sz="1600" spc="-16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600" spc="-75" dirty="0">
                <a:solidFill>
                  <a:srgbClr val="616161"/>
                </a:solidFill>
                <a:latin typeface="Verdana"/>
                <a:cs typeface="Verdana"/>
              </a:rPr>
              <a:t>real</a:t>
            </a:r>
            <a:r>
              <a:rPr sz="1600" spc="-16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600" spc="-100" dirty="0">
                <a:solidFill>
                  <a:srgbClr val="616161"/>
                </a:solidFill>
                <a:latin typeface="Verdana"/>
                <a:cs typeface="Verdana"/>
              </a:rPr>
              <a:t>time</a:t>
            </a:r>
            <a:endParaRPr sz="16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Clr>
                <a:srgbClr val="616161"/>
              </a:buClr>
              <a:buFont typeface="Arial MT"/>
              <a:buChar char="○"/>
            </a:pPr>
            <a:endParaRPr sz="2850">
              <a:latin typeface="Verdana"/>
              <a:cs typeface="Verdana"/>
            </a:endParaRPr>
          </a:p>
          <a:p>
            <a:pPr marL="379095" indent="-367030">
              <a:lnSpc>
                <a:spcPct val="100000"/>
              </a:lnSpc>
              <a:spcBef>
                <a:spcPts val="5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-114" dirty="0">
                <a:solidFill>
                  <a:srgbClr val="616161"/>
                </a:solidFill>
                <a:latin typeface="Verdana"/>
                <a:cs typeface="Verdana"/>
              </a:rPr>
              <a:t>Wha</a:t>
            </a:r>
            <a:r>
              <a:rPr sz="1800" spc="-60" dirty="0">
                <a:solidFill>
                  <a:srgbClr val="616161"/>
                </a:solidFill>
                <a:latin typeface="Verdana"/>
                <a:cs typeface="Verdana"/>
              </a:rPr>
              <a:t>t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616161"/>
                </a:solidFill>
                <a:latin typeface="Verdana"/>
                <a:cs typeface="Verdana"/>
              </a:rPr>
              <a:t>i</a:t>
            </a:r>
            <a:r>
              <a:rPr sz="1800" spc="-95" dirty="0">
                <a:solidFill>
                  <a:srgbClr val="616161"/>
                </a:solidFill>
                <a:latin typeface="Verdana"/>
                <a:cs typeface="Verdana"/>
              </a:rPr>
              <a:t>s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616161"/>
                </a:solidFill>
                <a:latin typeface="Verdana"/>
                <a:cs typeface="Verdana"/>
              </a:rPr>
              <a:t>streaming?</a:t>
            </a:r>
            <a:endParaRPr sz="1800">
              <a:latin typeface="Verdana"/>
              <a:cs typeface="Verdana"/>
            </a:endParaRPr>
          </a:p>
          <a:p>
            <a:pPr marL="836294" lvl="1" indent="-351790">
              <a:lnSpc>
                <a:spcPct val="100000"/>
              </a:lnSpc>
              <a:spcBef>
                <a:spcPts val="320"/>
              </a:spcBef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600" spc="-75" dirty="0">
                <a:solidFill>
                  <a:srgbClr val="616161"/>
                </a:solidFill>
                <a:latin typeface="Verdana"/>
                <a:cs typeface="Verdana"/>
              </a:rPr>
              <a:t>Clients</a:t>
            </a:r>
            <a:r>
              <a:rPr sz="1600" spc="-16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600" spc="-114" dirty="0">
                <a:solidFill>
                  <a:srgbClr val="616161"/>
                </a:solidFill>
                <a:latin typeface="Verdana"/>
                <a:cs typeface="Verdana"/>
              </a:rPr>
              <a:t>push</a:t>
            </a:r>
            <a:r>
              <a:rPr sz="1600" spc="-16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600" spc="-105" dirty="0">
                <a:solidFill>
                  <a:srgbClr val="616161"/>
                </a:solidFill>
                <a:latin typeface="Verdana"/>
                <a:cs typeface="Verdana"/>
              </a:rPr>
              <a:t>“events”</a:t>
            </a:r>
            <a:r>
              <a:rPr sz="1600" spc="-16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600" spc="-70" dirty="0">
                <a:solidFill>
                  <a:srgbClr val="616161"/>
                </a:solidFill>
                <a:latin typeface="Verdana"/>
                <a:cs typeface="Verdana"/>
              </a:rPr>
              <a:t>in</a:t>
            </a:r>
            <a:r>
              <a:rPr sz="1600" spc="-16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600" spc="-75" dirty="0">
                <a:solidFill>
                  <a:srgbClr val="616161"/>
                </a:solidFill>
                <a:latin typeface="Verdana"/>
                <a:cs typeface="Verdana"/>
              </a:rPr>
              <a:t>real</a:t>
            </a:r>
            <a:r>
              <a:rPr sz="1600" spc="-16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600" spc="-100" dirty="0">
                <a:solidFill>
                  <a:srgbClr val="616161"/>
                </a:solidFill>
                <a:latin typeface="Verdana"/>
                <a:cs typeface="Verdana"/>
              </a:rPr>
              <a:t>time</a:t>
            </a:r>
            <a:r>
              <a:rPr sz="1600" spc="-16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600" spc="-60" dirty="0">
                <a:solidFill>
                  <a:srgbClr val="616161"/>
                </a:solidFill>
                <a:latin typeface="Verdana"/>
                <a:cs typeface="Verdana"/>
              </a:rPr>
              <a:t>to</a:t>
            </a:r>
            <a:r>
              <a:rPr sz="1600" spc="-16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600" spc="-100" dirty="0">
                <a:solidFill>
                  <a:srgbClr val="616161"/>
                </a:solidFill>
                <a:latin typeface="Verdana"/>
                <a:cs typeface="Verdana"/>
              </a:rPr>
              <a:t>an</a:t>
            </a:r>
            <a:r>
              <a:rPr sz="1600" spc="-15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600" spc="-85" dirty="0">
                <a:solidFill>
                  <a:srgbClr val="616161"/>
                </a:solidFill>
                <a:latin typeface="Verdana"/>
                <a:cs typeface="Verdana"/>
              </a:rPr>
              <a:t>interface</a:t>
            </a:r>
            <a:r>
              <a:rPr sz="1600" spc="-16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600" spc="-85" dirty="0">
                <a:solidFill>
                  <a:srgbClr val="616161"/>
                </a:solidFill>
                <a:latin typeface="Verdana"/>
                <a:cs typeface="Verdana"/>
              </a:rPr>
              <a:t>with</a:t>
            </a:r>
            <a:r>
              <a:rPr sz="1600" spc="-16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600" spc="-100" dirty="0">
                <a:solidFill>
                  <a:srgbClr val="616161"/>
                </a:solidFill>
                <a:latin typeface="Verdana"/>
                <a:cs typeface="Verdana"/>
              </a:rPr>
              <a:t>our</a:t>
            </a:r>
            <a:r>
              <a:rPr sz="1600" spc="-16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600" spc="-100" dirty="0">
                <a:solidFill>
                  <a:srgbClr val="616161"/>
                </a:solidFill>
                <a:latin typeface="Verdana"/>
                <a:cs typeface="Verdana"/>
              </a:rPr>
              <a:t>streaming</a:t>
            </a:r>
            <a:r>
              <a:rPr sz="1600" spc="-16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600" spc="-120" dirty="0">
                <a:solidFill>
                  <a:srgbClr val="616161"/>
                </a:solidFill>
                <a:latin typeface="Verdana"/>
                <a:cs typeface="Verdana"/>
              </a:rPr>
              <a:t>system</a:t>
            </a:r>
            <a:endParaRPr sz="1600">
              <a:latin typeface="Verdana"/>
              <a:cs typeface="Verdana"/>
            </a:endParaRPr>
          </a:p>
          <a:p>
            <a:pPr marL="836294" lvl="1" indent="-351790">
              <a:lnSpc>
                <a:spcPct val="100000"/>
              </a:lnSpc>
              <a:spcBef>
                <a:spcPts val="930"/>
              </a:spcBef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600" spc="-125" dirty="0">
                <a:solidFill>
                  <a:srgbClr val="616161"/>
                </a:solidFill>
                <a:latin typeface="Verdana"/>
                <a:cs typeface="Verdana"/>
              </a:rPr>
              <a:t>The</a:t>
            </a:r>
            <a:r>
              <a:rPr sz="1600" spc="-16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600" spc="-100" dirty="0">
                <a:solidFill>
                  <a:srgbClr val="616161"/>
                </a:solidFill>
                <a:latin typeface="Verdana"/>
                <a:cs typeface="Verdana"/>
              </a:rPr>
              <a:t>streaming</a:t>
            </a:r>
            <a:r>
              <a:rPr sz="1600" spc="-16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600" spc="-114" dirty="0">
                <a:solidFill>
                  <a:srgbClr val="616161"/>
                </a:solidFill>
                <a:latin typeface="Verdana"/>
                <a:cs typeface="Verdana"/>
              </a:rPr>
              <a:t>system</a:t>
            </a:r>
            <a:r>
              <a:rPr sz="1600" spc="-16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600" spc="-85" dirty="0">
                <a:solidFill>
                  <a:srgbClr val="616161"/>
                </a:solidFill>
                <a:latin typeface="Verdana"/>
                <a:cs typeface="Verdana"/>
              </a:rPr>
              <a:t>distributes</a:t>
            </a:r>
            <a:r>
              <a:rPr sz="1600" spc="-16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600" spc="-90" dirty="0">
                <a:solidFill>
                  <a:srgbClr val="616161"/>
                </a:solidFill>
                <a:latin typeface="Verdana"/>
                <a:cs typeface="Verdana"/>
              </a:rPr>
              <a:t>input</a:t>
            </a:r>
            <a:r>
              <a:rPr sz="1600" spc="-16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600" spc="-90" dirty="0">
                <a:solidFill>
                  <a:srgbClr val="616161"/>
                </a:solidFill>
                <a:latin typeface="Verdana"/>
                <a:cs typeface="Verdana"/>
              </a:rPr>
              <a:t>across</a:t>
            </a:r>
            <a:r>
              <a:rPr sz="1600" spc="-15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600" spc="-110" dirty="0">
                <a:solidFill>
                  <a:srgbClr val="616161"/>
                </a:solidFill>
                <a:latin typeface="Verdana"/>
                <a:cs typeface="Verdana"/>
              </a:rPr>
              <a:t>the</a:t>
            </a:r>
            <a:r>
              <a:rPr sz="1600" spc="-16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600" spc="-90" dirty="0">
                <a:solidFill>
                  <a:srgbClr val="616161"/>
                </a:solidFill>
                <a:latin typeface="Verdana"/>
                <a:cs typeface="Verdana"/>
              </a:rPr>
              <a:t>cluster</a:t>
            </a:r>
            <a:r>
              <a:rPr sz="1600" spc="-16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600" spc="-110" dirty="0">
                <a:solidFill>
                  <a:srgbClr val="616161"/>
                </a:solidFill>
                <a:latin typeface="Verdana"/>
                <a:cs typeface="Verdana"/>
              </a:rPr>
              <a:t>(like</a:t>
            </a:r>
            <a:r>
              <a:rPr sz="1600" spc="-16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600" spc="-95" dirty="0">
                <a:solidFill>
                  <a:srgbClr val="616161"/>
                </a:solidFill>
                <a:latin typeface="Verdana"/>
                <a:cs typeface="Verdana"/>
              </a:rPr>
              <a:t>batch</a:t>
            </a:r>
            <a:r>
              <a:rPr sz="1600" spc="-15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600" spc="-95" dirty="0">
                <a:solidFill>
                  <a:srgbClr val="616161"/>
                </a:solidFill>
                <a:latin typeface="Verdana"/>
                <a:cs typeface="Verdana"/>
              </a:rPr>
              <a:t>processing)</a:t>
            </a:r>
            <a:endParaRPr sz="1600">
              <a:latin typeface="Verdana"/>
              <a:cs typeface="Verdana"/>
            </a:endParaRPr>
          </a:p>
          <a:p>
            <a:pPr marL="836294" marR="287020" lvl="1" indent="-351790">
              <a:lnSpc>
                <a:spcPct val="148400"/>
              </a:lnSpc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600" spc="-114" dirty="0">
                <a:solidFill>
                  <a:srgbClr val="616161"/>
                </a:solidFill>
                <a:latin typeface="Verdana"/>
                <a:cs typeface="Verdana"/>
              </a:rPr>
              <a:t>Some</a:t>
            </a:r>
            <a:r>
              <a:rPr sz="1600" spc="-16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600" spc="-90" dirty="0">
                <a:solidFill>
                  <a:srgbClr val="616161"/>
                </a:solidFill>
                <a:latin typeface="Verdana"/>
                <a:cs typeface="Verdana"/>
              </a:rPr>
              <a:t>resultant</a:t>
            </a:r>
            <a:r>
              <a:rPr sz="1600" spc="-16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600" spc="-90" dirty="0">
                <a:solidFill>
                  <a:srgbClr val="616161"/>
                </a:solidFill>
                <a:latin typeface="Verdana"/>
                <a:cs typeface="Verdana"/>
              </a:rPr>
              <a:t>data</a:t>
            </a:r>
            <a:r>
              <a:rPr sz="1600" spc="-16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600" spc="-70" dirty="0">
                <a:solidFill>
                  <a:srgbClr val="616161"/>
                </a:solidFill>
                <a:latin typeface="Verdana"/>
                <a:cs typeface="Verdana"/>
              </a:rPr>
              <a:t>is</a:t>
            </a:r>
            <a:r>
              <a:rPr sz="1600" spc="-17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600" spc="-100" dirty="0">
                <a:solidFill>
                  <a:srgbClr val="616161"/>
                </a:solidFill>
                <a:latin typeface="Verdana"/>
                <a:cs typeface="Verdana"/>
              </a:rPr>
              <a:t>generated,</a:t>
            </a:r>
            <a:r>
              <a:rPr sz="1600" spc="-16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600" spc="-100" dirty="0">
                <a:solidFill>
                  <a:srgbClr val="616161"/>
                </a:solidFill>
                <a:latin typeface="Verdana"/>
                <a:cs typeface="Verdana"/>
              </a:rPr>
              <a:t>which</a:t>
            </a:r>
            <a:r>
              <a:rPr sz="1600" spc="-16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600" spc="-95" dirty="0">
                <a:solidFill>
                  <a:srgbClr val="616161"/>
                </a:solidFill>
                <a:latin typeface="Verdana"/>
                <a:cs typeface="Verdana"/>
              </a:rPr>
              <a:t>can</a:t>
            </a:r>
            <a:r>
              <a:rPr sz="1600" spc="-16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600" spc="-75" dirty="0">
                <a:solidFill>
                  <a:srgbClr val="616161"/>
                </a:solidFill>
                <a:latin typeface="Verdana"/>
                <a:cs typeface="Verdana"/>
              </a:rPr>
              <a:t>be</a:t>
            </a:r>
            <a:r>
              <a:rPr sz="1600" spc="-16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600" spc="-100" dirty="0">
                <a:solidFill>
                  <a:srgbClr val="616161"/>
                </a:solidFill>
                <a:latin typeface="Verdana"/>
                <a:cs typeface="Verdana"/>
              </a:rPr>
              <a:t>saved</a:t>
            </a:r>
            <a:r>
              <a:rPr sz="1600" spc="-16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600" spc="-70" dirty="0">
                <a:solidFill>
                  <a:srgbClr val="616161"/>
                </a:solidFill>
                <a:latin typeface="Verdana"/>
                <a:cs typeface="Verdana"/>
              </a:rPr>
              <a:t>or</a:t>
            </a:r>
            <a:r>
              <a:rPr sz="1600" spc="-17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600" spc="-100" dirty="0">
                <a:solidFill>
                  <a:srgbClr val="616161"/>
                </a:solidFill>
                <a:latin typeface="Verdana"/>
                <a:cs typeface="Verdana"/>
              </a:rPr>
              <a:t>streamed</a:t>
            </a:r>
            <a:r>
              <a:rPr sz="1600" spc="-17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600" spc="-95" dirty="0">
                <a:solidFill>
                  <a:srgbClr val="616161"/>
                </a:solidFill>
                <a:latin typeface="Verdana"/>
                <a:cs typeface="Verdana"/>
              </a:rPr>
              <a:t>out</a:t>
            </a:r>
            <a:r>
              <a:rPr sz="1600" spc="-16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600" spc="-40" dirty="0">
                <a:solidFill>
                  <a:srgbClr val="616161"/>
                </a:solidFill>
                <a:latin typeface="Verdana"/>
                <a:cs typeface="Verdana"/>
              </a:rPr>
              <a:t>of</a:t>
            </a:r>
            <a:r>
              <a:rPr sz="1600" spc="-17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600" spc="-110" dirty="0">
                <a:solidFill>
                  <a:srgbClr val="616161"/>
                </a:solidFill>
                <a:latin typeface="Verdana"/>
                <a:cs typeface="Verdana"/>
              </a:rPr>
              <a:t>the </a:t>
            </a:r>
            <a:r>
              <a:rPr sz="1600" spc="-5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600" spc="-120" dirty="0">
                <a:solidFill>
                  <a:srgbClr val="616161"/>
                </a:solidFill>
                <a:latin typeface="Verdana"/>
                <a:cs typeface="Verdana"/>
              </a:rPr>
              <a:t>system</a:t>
            </a:r>
            <a:endParaRPr sz="16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615823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0" dirty="0">
                <a:solidFill>
                  <a:srgbClr val="202729"/>
                </a:solidFill>
              </a:rPr>
              <a:t>Batch</a:t>
            </a:r>
            <a:r>
              <a:rPr sz="2800" spc="-120" dirty="0">
                <a:solidFill>
                  <a:srgbClr val="202729"/>
                </a:solidFill>
              </a:rPr>
              <a:t> </a:t>
            </a:r>
            <a:r>
              <a:rPr sz="2800" spc="40" dirty="0">
                <a:solidFill>
                  <a:srgbClr val="202729"/>
                </a:solidFill>
              </a:rPr>
              <a:t>Processing</a:t>
            </a:r>
            <a:r>
              <a:rPr sz="2800" spc="-114" dirty="0">
                <a:solidFill>
                  <a:srgbClr val="202729"/>
                </a:solidFill>
              </a:rPr>
              <a:t> </a:t>
            </a:r>
            <a:r>
              <a:rPr sz="2800" spc="80" dirty="0">
                <a:solidFill>
                  <a:srgbClr val="202729"/>
                </a:solidFill>
              </a:rPr>
              <a:t>vs</a:t>
            </a:r>
            <a:r>
              <a:rPr sz="2800" spc="-120" dirty="0">
                <a:solidFill>
                  <a:srgbClr val="202729"/>
                </a:solidFill>
              </a:rPr>
              <a:t> </a:t>
            </a:r>
            <a:r>
              <a:rPr sz="2800" spc="-30" dirty="0">
                <a:solidFill>
                  <a:srgbClr val="202729"/>
                </a:solidFill>
              </a:rPr>
              <a:t>Stream</a:t>
            </a:r>
            <a:r>
              <a:rPr sz="2800" spc="-114" dirty="0">
                <a:solidFill>
                  <a:srgbClr val="202729"/>
                </a:solidFill>
              </a:rPr>
              <a:t> </a:t>
            </a:r>
            <a:r>
              <a:rPr sz="2800" spc="40" dirty="0">
                <a:solidFill>
                  <a:srgbClr val="202729"/>
                </a:solidFill>
              </a:rPr>
              <a:t>Processing</a:t>
            </a:r>
            <a:endParaRPr sz="28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37112" y="1531862"/>
          <a:ext cx="8195945" cy="298094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55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841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566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05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14"/>
                        </a:spcBef>
                      </a:pPr>
                      <a:r>
                        <a:rPr sz="1800" spc="-5" dirty="0">
                          <a:latin typeface="Verdana"/>
                          <a:cs typeface="Verdana"/>
                        </a:rPr>
                        <a:t>Batc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h</a:t>
                      </a:r>
                      <a:r>
                        <a:rPr sz="1800" spc="-19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Processing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217804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14"/>
                        </a:spcBef>
                      </a:pPr>
                      <a:r>
                        <a:rPr sz="1800" spc="-5" dirty="0">
                          <a:latin typeface="Verdana"/>
                          <a:cs typeface="Verdana"/>
                        </a:rPr>
                        <a:t>Strea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m</a:t>
                      </a:r>
                      <a:r>
                        <a:rPr sz="1800" spc="-18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Processing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217804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05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spc="-5" dirty="0">
                          <a:latin typeface="Verdana"/>
                          <a:cs typeface="Verdana"/>
                        </a:rPr>
                        <a:t>Dat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a</a:t>
                      </a:r>
                      <a:r>
                        <a:rPr sz="1400" spc="-1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latin typeface="Verdana"/>
                          <a:cs typeface="Verdana"/>
                        </a:rPr>
                        <a:t>Size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508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9285" marR="622935" indent="28575">
                        <a:lnSpc>
                          <a:spcPts val="1650"/>
                        </a:lnSpc>
                        <a:spcBef>
                          <a:spcPts val="1250"/>
                        </a:spcBef>
                      </a:pPr>
                      <a:r>
                        <a:rPr sz="1400" spc="-5" dirty="0">
                          <a:latin typeface="Verdana"/>
                          <a:cs typeface="Verdana"/>
                        </a:rPr>
                        <a:t>Larg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e</a:t>
                      </a:r>
                      <a:r>
                        <a:rPr sz="1400" spc="-1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latin typeface="Verdana"/>
                          <a:cs typeface="Verdana"/>
                        </a:rPr>
                        <a:t>batche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s</a:t>
                      </a:r>
                      <a:r>
                        <a:rPr sz="1400" spc="-1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latin typeface="Verdana"/>
                          <a:cs typeface="Verdana"/>
                        </a:rPr>
                        <a:t>o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f</a:t>
                      </a:r>
                      <a:r>
                        <a:rPr sz="1400" spc="-1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latin typeface="Verdana"/>
                          <a:cs typeface="Verdana"/>
                        </a:rPr>
                        <a:t>data;  Mos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t</a:t>
                      </a:r>
                      <a:r>
                        <a:rPr sz="1400" spc="-1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latin typeface="Verdana"/>
                          <a:cs typeface="Verdana"/>
                        </a:rPr>
                        <a:t>dat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a</a:t>
                      </a:r>
                      <a:r>
                        <a:rPr sz="1400" spc="-1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latin typeface="Verdana"/>
                          <a:cs typeface="Verdana"/>
                        </a:rPr>
                        <a:t>i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n</a:t>
                      </a:r>
                      <a:r>
                        <a:rPr sz="1400" spc="-1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a</a:t>
                      </a:r>
                      <a:r>
                        <a:rPr sz="1400" spc="-1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latin typeface="Verdana"/>
                          <a:cs typeface="Verdana"/>
                        </a:rPr>
                        <a:t>dat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a</a:t>
                      </a:r>
                      <a:r>
                        <a:rPr sz="1400" spc="-1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latin typeface="Verdana"/>
                          <a:cs typeface="Verdana"/>
                        </a:rPr>
                        <a:t>set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5875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spc="-5" dirty="0">
                          <a:latin typeface="Verdana"/>
                          <a:cs typeface="Verdana"/>
                        </a:rPr>
                        <a:t>“A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n</a:t>
                      </a:r>
                      <a:r>
                        <a:rPr sz="1400" spc="-1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event”;</a:t>
                      </a:r>
                      <a:r>
                        <a:rPr sz="1400" spc="-1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latin typeface="Verdana"/>
                          <a:cs typeface="Verdana"/>
                        </a:rPr>
                        <a:t>Micro-batche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s</a:t>
                      </a:r>
                      <a:r>
                        <a:rPr sz="1400" spc="-1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latin typeface="Verdana"/>
                          <a:cs typeface="Verdana"/>
                        </a:rPr>
                        <a:t>o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f</a:t>
                      </a:r>
                      <a:r>
                        <a:rPr sz="1400" spc="-1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latin typeface="Verdana"/>
                          <a:cs typeface="Verdana"/>
                        </a:rPr>
                        <a:t>records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508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05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spc="-5" dirty="0">
                          <a:latin typeface="Verdana"/>
                          <a:cs typeface="Verdana"/>
                        </a:rPr>
                        <a:t>Nomina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l</a:t>
                      </a:r>
                      <a:r>
                        <a:rPr sz="1400" spc="-1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latin typeface="Verdana"/>
                          <a:cs typeface="Verdana"/>
                        </a:rPr>
                        <a:t>Latency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508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spc="-5" dirty="0">
                          <a:latin typeface="Verdana"/>
                          <a:cs typeface="Verdana"/>
                        </a:rPr>
                        <a:t>Minute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s</a:t>
                      </a:r>
                      <a:r>
                        <a:rPr sz="1400" spc="-1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latin typeface="Verdana"/>
                          <a:cs typeface="Verdana"/>
                        </a:rPr>
                        <a:t>t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o</a:t>
                      </a:r>
                      <a:r>
                        <a:rPr sz="1400" spc="-1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latin typeface="Verdana"/>
                          <a:cs typeface="Verdana"/>
                        </a:rPr>
                        <a:t>Hours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508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spc="-5" dirty="0">
                          <a:latin typeface="Verdana"/>
                          <a:cs typeface="Verdana"/>
                        </a:rPr>
                        <a:t>I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n</a:t>
                      </a:r>
                      <a:r>
                        <a:rPr sz="1400" spc="-1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latin typeface="Verdana"/>
                          <a:cs typeface="Verdana"/>
                        </a:rPr>
                        <a:t>th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e</a:t>
                      </a:r>
                      <a:r>
                        <a:rPr sz="1400" spc="-1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latin typeface="Verdana"/>
                          <a:cs typeface="Verdana"/>
                        </a:rPr>
                        <a:t>orde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r</a:t>
                      </a:r>
                      <a:r>
                        <a:rPr sz="1400" spc="-1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latin typeface="Verdana"/>
                          <a:cs typeface="Verdana"/>
                        </a:rPr>
                        <a:t>o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f</a:t>
                      </a:r>
                      <a:r>
                        <a:rPr sz="1400" spc="-1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latin typeface="Verdana"/>
                          <a:cs typeface="Verdana"/>
                        </a:rPr>
                        <a:t>milliseconds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508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05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spc="-75" dirty="0">
                          <a:latin typeface="Verdana"/>
                          <a:cs typeface="Verdana"/>
                        </a:rPr>
                        <a:t>Analysis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508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spc="-5" dirty="0">
                          <a:latin typeface="Verdana"/>
                          <a:cs typeface="Verdana"/>
                        </a:rPr>
                        <a:t>Comple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1400" spc="-1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latin typeface="Verdana"/>
                          <a:cs typeface="Verdana"/>
                        </a:rPr>
                        <a:t>Algorithm/Analytics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508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84630" marR="271780" indent="-1207770">
                        <a:lnSpc>
                          <a:spcPts val="1650"/>
                        </a:lnSpc>
                        <a:spcBef>
                          <a:spcPts val="1250"/>
                        </a:spcBef>
                      </a:pPr>
                      <a:r>
                        <a:rPr sz="1400" spc="-5" dirty="0">
                          <a:latin typeface="Verdana"/>
                          <a:cs typeface="Verdana"/>
                        </a:rPr>
                        <a:t>Simpl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e</a:t>
                      </a:r>
                      <a:r>
                        <a:rPr sz="1400" spc="-1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latin typeface="Verdana"/>
                          <a:cs typeface="Verdana"/>
                        </a:rPr>
                        <a:t>functions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1400" spc="-1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latin typeface="Verdana"/>
                          <a:cs typeface="Verdana"/>
                        </a:rPr>
                        <a:t>aggregation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1400" spc="-1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latin typeface="Verdana"/>
                          <a:cs typeface="Verdana"/>
                        </a:rPr>
                        <a:t>rolling  </a:t>
                      </a:r>
                      <a:r>
                        <a:rPr sz="1400" spc="-90" dirty="0">
                          <a:latin typeface="Verdana"/>
                          <a:cs typeface="Verdana"/>
                        </a:rPr>
                        <a:t>metrics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5875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466661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40" dirty="0">
                <a:solidFill>
                  <a:srgbClr val="202729"/>
                </a:solidFill>
              </a:rPr>
              <a:t>Application</a:t>
            </a:r>
            <a:r>
              <a:rPr sz="2800" spc="-125" dirty="0">
                <a:solidFill>
                  <a:srgbClr val="202729"/>
                </a:solidFill>
              </a:rPr>
              <a:t> </a:t>
            </a:r>
            <a:r>
              <a:rPr sz="2800" spc="-75" dirty="0">
                <a:solidFill>
                  <a:srgbClr val="202729"/>
                </a:solidFill>
              </a:rPr>
              <a:t>of</a:t>
            </a:r>
            <a:r>
              <a:rPr sz="2800" spc="-125" dirty="0">
                <a:solidFill>
                  <a:srgbClr val="202729"/>
                </a:solidFill>
              </a:rPr>
              <a:t> </a:t>
            </a:r>
            <a:r>
              <a:rPr sz="2800" spc="-15" dirty="0">
                <a:solidFill>
                  <a:srgbClr val="202729"/>
                </a:solidFill>
              </a:rPr>
              <a:t>Streaming</a:t>
            </a:r>
            <a:r>
              <a:rPr sz="2800" spc="-125" dirty="0">
                <a:solidFill>
                  <a:srgbClr val="202729"/>
                </a:solidFill>
              </a:rPr>
              <a:t> </a:t>
            </a:r>
            <a:r>
              <a:rPr sz="2800" spc="-10" dirty="0">
                <a:solidFill>
                  <a:srgbClr val="202729"/>
                </a:solidFill>
              </a:rPr>
              <a:t>Data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475249" y="1176350"/>
            <a:ext cx="6539230" cy="2225675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414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-114" dirty="0">
                <a:solidFill>
                  <a:srgbClr val="616161"/>
                </a:solidFill>
                <a:latin typeface="Verdana"/>
                <a:cs typeface="Verdana"/>
              </a:rPr>
              <a:t>Real-Tim</a:t>
            </a:r>
            <a:r>
              <a:rPr sz="1800" spc="-120" dirty="0">
                <a:solidFill>
                  <a:srgbClr val="616161"/>
                </a:solidFill>
                <a:latin typeface="Verdana"/>
                <a:cs typeface="Verdana"/>
              </a:rPr>
              <a:t>e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616161"/>
                </a:solidFill>
                <a:latin typeface="Verdana"/>
                <a:cs typeface="Verdana"/>
              </a:rPr>
              <a:t>Machine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616161"/>
                </a:solidFill>
                <a:latin typeface="Verdana"/>
                <a:cs typeface="Verdana"/>
              </a:rPr>
              <a:t>Learning</a:t>
            </a:r>
            <a:endParaRPr sz="1800">
              <a:latin typeface="Verdana"/>
              <a:cs typeface="Verdana"/>
            </a:endParaRPr>
          </a:p>
          <a:p>
            <a:pPr marL="836294" lvl="1" indent="-367030">
              <a:lnSpc>
                <a:spcPct val="100000"/>
              </a:lnSpc>
              <a:spcBef>
                <a:spcPts val="315"/>
              </a:spcBef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800" spc="-160" dirty="0">
                <a:solidFill>
                  <a:srgbClr val="616161"/>
                </a:solidFill>
                <a:latin typeface="Verdana"/>
                <a:cs typeface="Verdana"/>
              </a:rPr>
              <a:t>e.g.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616161"/>
                </a:solidFill>
                <a:latin typeface="Verdana"/>
                <a:cs typeface="Verdana"/>
              </a:rPr>
              <a:t>Twitter’s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616161"/>
                </a:solidFill>
                <a:latin typeface="Verdana"/>
                <a:cs typeface="Verdana"/>
              </a:rPr>
              <a:t>“trending”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616161"/>
                </a:solidFill>
                <a:latin typeface="Verdana"/>
                <a:cs typeface="Verdana"/>
              </a:rPr>
              <a:t>topics,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616161"/>
                </a:solidFill>
                <a:latin typeface="Verdana"/>
                <a:cs typeface="Verdana"/>
              </a:rPr>
              <a:t>disaster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616161"/>
                </a:solidFill>
                <a:latin typeface="Verdana"/>
                <a:cs typeface="Verdana"/>
              </a:rPr>
              <a:t>monitoring,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30" dirty="0">
                <a:solidFill>
                  <a:srgbClr val="616161"/>
                </a:solidFill>
                <a:latin typeface="Verdana"/>
                <a:cs typeface="Verdana"/>
              </a:rPr>
              <a:t>etc.</a:t>
            </a:r>
            <a:endParaRPr sz="18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55"/>
              </a:spcBef>
              <a:buClr>
                <a:srgbClr val="616161"/>
              </a:buClr>
              <a:buFont typeface="Arial MT"/>
              <a:buChar char="○"/>
            </a:pPr>
            <a:endParaRPr sz="2250">
              <a:latin typeface="Verdana"/>
              <a:cs typeface="Verdana"/>
            </a:endParaRPr>
          </a:p>
          <a:p>
            <a:pPr marL="379095" indent="-367030">
              <a:lnSpc>
                <a:spcPct val="100000"/>
              </a:lnSpc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-110" dirty="0">
                <a:solidFill>
                  <a:srgbClr val="616161"/>
                </a:solidFill>
                <a:latin typeface="Verdana"/>
                <a:cs typeface="Verdana"/>
              </a:rPr>
              <a:t>Trackin</a:t>
            </a:r>
            <a:r>
              <a:rPr sz="1800" spc="-125" dirty="0">
                <a:solidFill>
                  <a:srgbClr val="616161"/>
                </a:solidFill>
                <a:latin typeface="Verdana"/>
                <a:cs typeface="Verdana"/>
              </a:rPr>
              <a:t>g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14" dirty="0">
                <a:solidFill>
                  <a:srgbClr val="616161"/>
                </a:solidFill>
                <a:latin typeface="Verdana"/>
                <a:cs typeface="Verdana"/>
              </a:rPr>
              <a:t>change</a:t>
            </a:r>
            <a:r>
              <a:rPr sz="1800" spc="-95" dirty="0">
                <a:solidFill>
                  <a:srgbClr val="616161"/>
                </a:solidFill>
                <a:latin typeface="Verdana"/>
                <a:cs typeface="Verdana"/>
              </a:rPr>
              <a:t>s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Verdana"/>
                <a:cs typeface="Verdana"/>
              </a:rPr>
              <a:t>i</a:t>
            </a:r>
            <a:r>
              <a:rPr sz="1800" spc="-100" dirty="0">
                <a:solidFill>
                  <a:srgbClr val="616161"/>
                </a:solidFill>
                <a:latin typeface="Verdana"/>
                <a:cs typeface="Verdana"/>
              </a:rPr>
              <a:t>n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14" dirty="0">
                <a:solidFill>
                  <a:srgbClr val="616161"/>
                </a:solidFill>
                <a:latin typeface="Verdana"/>
                <a:cs typeface="Verdana"/>
              </a:rPr>
              <a:t>th</a:t>
            </a:r>
            <a:r>
              <a:rPr sz="1800" spc="-130" dirty="0">
                <a:solidFill>
                  <a:srgbClr val="616161"/>
                </a:solidFill>
                <a:latin typeface="Verdana"/>
                <a:cs typeface="Verdana"/>
              </a:rPr>
              <a:t>e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90" dirty="0">
                <a:solidFill>
                  <a:srgbClr val="616161"/>
                </a:solidFill>
                <a:latin typeface="Verdana"/>
                <a:cs typeface="Verdana"/>
              </a:rPr>
              <a:t>financ</a:t>
            </a:r>
            <a:r>
              <a:rPr sz="1800" spc="-100" dirty="0">
                <a:solidFill>
                  <a:srgbClr val="616161"/>
                </a:solidFill>
                <a:latin typeface="Verdana"/>
                <a:cs typeface="Verdana"/>
              </a:rPr>
              <a:t>e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30" dirty="0">
                <a:solidFill>
                  <a:srgbClr val="616161"/>
                </a:solidFill>
                <a:latin typeface="Verdana"/>
                <a:cs typeface="Verdana"/>
              </a:rPr>
              <a:t>market</a:t>
            </a:r>
            <a:r>
              <a:rPr sz="1800" spc="-110" dirty="0">
                <a:solidFill>
                  <a:srgbClr val="616161"/>
                </a:solidFill>
                <a:latin typeface="Verdana"/>
                <a:cs typeface="Verdana"/>
              </a:rPr>
              <a:t>s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Verdana"/>
                <a:cs typeface="Verdana"/>
              </a:rPr>
              <a:t>i</a:t>
            </a:r>
            <a:r>
              <a:rPr sz="1800" spc="-100" dirty="0">
                <a:solidFill>
                  <a:srgbClr val="616161"/>
                </a:solidFill>
                <a:latin typeface="Verdana"/>
                <a:cs typeface="Verdana"/>
              </a:rPr>
              <a:t>n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14" dirty="0">
                <a:solidFill>
                  <a:srgbClr val="616161"/>
                </a:solidFill>
                <a:latin typeface="Verdana"/>
                <a:cs typeface="Verdana"/>
              </a:rPr>
              <a:t>real-time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616161"/>
              </a:buClr>
              <a:buFont typeface="Arial MT"/>
              <a:buChar char="●"/>
            </a:pPr>
            <a:endParaRPr sz="2250">
              <a:latin typeface="Verdana"/>
              <a:cs typeface="Verdana"/>
            </a:endParaRPr>
          </a:p>
          <a:p>
            <a:pPr marL="379095" indent="-367030">
              <a:lnSpc>
                <a:spcPct val="100000"/>
              </a:lnSpc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-90" dirty="0">
                <a:solidFill>
                  <a:srgbClr val="616161"/>
                </a:solidFill>
                <a:latin typeface="Verdana"/>
                <a:cs typeface="Verdana"/>
              </a:rPr>
              <a:t>Processing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616161"/>
                </a:solidFill>
                <a:latin typeface="Verdana"/>
                <a:cs typeface="Verdana"/>
              </a:rPr>
              <a:t>sensor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616161"/>
                </a:solidFill>
                <a:latin typeface="Verdana"/>
                <a:cs typeface="Verdana"/>
              </a:rPr>
              <a:t>data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616161"/>
                </a:solidFill>
                <a:latin typeface="Verdana"/>
                <a:cs typeface="Verdana"/>
              </a:rPr>
              <a:t>in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85" dirty="0">
                <a:solidFill>
                  <a:srgbClr val="616161"/>
                </a:solidFill>
                <a:latin typeface="Verdana"/>
                <a:cs typeface="Verdana"/>
              </a:rPr>
              <a:t>large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90" dirty="0">
                <a:solidFill>
                  <a:srgbClr val="616161"/>
                </a:solidFill>
                <a:latin typeface="Verdana"/>
                <a:cs typeface="Verdana"/>
              </a:rPr>
              <a:t>industrial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616161"/>
                </a:solidFill>
                <a:latin typeface="Verdana"/>
                <a:cs typeface="Verdana"/>
              </a:rPr>
              <a:t>settings</a:t>
            </a:r>
            <a:endParaRPr sz="1800">
              <a:latin typeface="Verdana"/>
              <a:cs typeface="Verdana"/>
            </a:endParaRPr>
          </a:p>
          <a:p>
            <a:pPr marL="836294" lvl="1" indent="-367030">
              <a:lnSpc>
                <a:spcPct val="100000"/>
              </a:lnSpc>
              <a:spcBef>
                <a:spcPts val="315"/>
              </a:spcBef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800" spc="-100" dirty="0">
                <a:solidFill>
                  <a:srgbClr val="616161"/>
                </a:solidFill>
                <a:latin typeface="Verdana"/>
                <a:cs typeface="Verdana"/>
              </a:rPr>
              <a:t>(Als</a:t>
            </a:r>
            <a:r>
              <a:rPr sz="1800" spc="-120" dirty="0">
                <a:solidFill>
                  <a:srgbClr val="616161"/>
                </a:solidFill>
                <a:latin typeface="Verdana"/>
                <a:cs typeface="Verdana"/>
              </a:rPr>
              <a:t>o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616161"/>
                </a:solidFill>
                <a:latin typeface="Verdana"/>
                <a:cs typeface="Verdana"/>
              </a:rPr>
              <a:t>scientifi</a:t>
            </a:r>
            <a:r>
              <a:rPr sz="1800" spc="-90" dirty="0">
                <a:solidFill>
                  <a:srgbClr val="616161"/>
                </a:solidFill>
                <a:latin typeface="Verdana"/>
                <a:cs typeface="Verdana"/>
              </a:rPr>
              <a:t>c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14" dirty="0">
                <a:solidFill>
                  <a:srgbClr val="616161"/>
                </a:solidFill>
                <a:latin typeface="Verdana"/>
                <a:cs typeface="Verdana"/>
              </a:rPr>
              <a:t>settings)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24892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30" dirty="0">
                <a:solidFill>
                  <a:srgbClr val="202729"/>
                </a:solidFill>
              </a:rPr>
              <a:t>Stream</a:t>
            </a:r>
            <a:r>
              <a:rPr sz="2800" spc="-125" dirty="0">
                <a:solidFill>
                  <a:srgbClr val="202729"/>
                </a:solidFill>
              </a:rPr>
              <a:t> </a:t>
            </a:r>
            <a:r>
              <a:rPr sz="2800" spc="65" dirty="0">
                <a:solidFill>
                  <a:srgbClr val="202729"/>
                </a:solidFill>
              </a:rPr>
              <a:t>Sources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429224" y="1213308"/>
            <a:ext cx="5908040" cy="2591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4815" indent="-412750">
              <a:lnSpc>
                <a:spcPct val="100000"/>
              </a:lnSpc>
              <a:spcBef>
                <a:spcPts val="100"/>
              </a:spcBef>
              <a:buFont typeface="Arial MT"/>
              <a:buChar char="●"/>
              <a:tabLst>
                <a:tab pos="424815" algn="l"/>
                <a:tab pos="425450" algn="l"/>
              </a:tabLst>
            </a:pPr>
            <a:r>
              <a:rPr sz="2400" spc="-80" dirty="0">
                <a:solidFill>
                  <a:srgbClr val="616161"/>
                </a:solidFill>
                <a:latin typeface="Verdana"/>
                <a:cs typeface="Verdana"/>
              </a:rPr>
              <a:t>Fil</a:t>
            </a:r>
            <a:r>
              <a:rPr sz="2400" spc="-120" dirty="0">
                <a:solidFill>
                  <a:srgbClr val="616161"/>
                </a:solidFill>
                <a:latin typeface="Verdana"/>
                <a:cs typeface="Verdana"/>
              </a:rPr>
              <a:t>e</a:t>
            </a:r>
            <a:r>
              <a:rPr sz="2400" spc="-25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2400" spc="-185" dirty="0">
                <a:solidFill>
                  <a:srgbClr val="616161"/>
                </a:solidFill>
                <a:latin typeface="Verdana"/>
                <a:cs typeface="Verdana"/>
              </a:rPr>
              <a:t>System</a:t>
            </a:r>
            <a:endParaRPr sz="2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616161"/>
              </a:buClr>
              <a:buFont typeface="Arial MT"/>
              <a:buChar char="●"/>
            </a:pPr>
            <a:endParaRPr sz="2350">
              <a:latin typeface="Verdana"/>
              <a:cs typeface="Verdana"/>
            </a:endParaRPr>
          </a:p>
          <a:p>
            <a:pPr marL="424815" indent="-412750">
              <a:lnSpc>
                <a:spcPct val="100000"/>
              </a:lnSpc>
              <a:buFont typeface="Arial MT"/>
              <a:buChar char="●"/>
              <a:tabLst>
                <a:tab pos="424815" algn="l"/>
                <a:tab pos="425450" algn="l"/>
              </a:tabLst>
            </a:pPr>
            <a:r>
              <a:rPr sz="2400" spc="-175" dirty="0">
                <a:solidFill>
                  <a:srgbClr val="616161"/>
                </a:solidFill>
                <a:latin typeface="Verdana"/>
                <a:cs typeface="Verdana"/>
              </a:rPr>
              <a:t>Interne</a:t>
            </a:r>
            <a:r>
              <a:rPr sz="2400" spc="-125" dirty="0">
                <a:solidFill>
                  <a:srgbClr val="616161"/>
                </a:solidFill>
                <a:latin typeface="Verdana"/>
                <a:cs typeface="Verdana"/>
              </a:rPr>
              <a:t>t</a:t>
            </a:r>
            <a:r>
              <a:rPr sz="2400" spc="-25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2400" spc="-75" dirty="0">
                <a:solidFill>
                  <a:srgbClr val="616161"/>
                </a:solidFill>
                <a:latin typeface="Verdana"/>
                <a:cs typeface="Verdana"/>
              </a:rPr>
              <a:t>o</a:t>
            </a:r>
            <a:r>
              <a:rPr sz="2400" spc="-40" dirty="0">
                <a:solidFill>
                  <a:srgbClr val="616161"/>
                </a:solidFill>
                <a:latin typeface="Verdana"/>
                <a:cs typeface="Verdana"/>
              </a:rPr>
              <a:t>f</a:t>
            </a:r>
            <a:r>
              <a:rPr sz="2400" spc="-25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2400" spc="-145" dirty="0">
                <a:solidFill>
                  <a:srgbClr val="616161"/>
                </a:solidFill>
                <a:latin typeface="Verdana"/>
                <a:cs typeface="Verdana"/>
              </a:rPr>
              <a:t>Things</a:t>
            </a:r>
            <a:endParaRPr sz="2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616161"/>
              </a:buClr>
              <a:buFont typeface="Arial MT"/>
              <a:buChar char="●"/>
            </a:pPr>
            <a:endParaRPr sz="2350">
              <a:latin typeface="Verdana"/>
              <a:cs typeface="Verdana"/>
            </a:endParaRPr>
          </a:p>
          <a:p>
            <a:pPr marL="424815" indent="-412750">
              <a:lnSpc>
                <a:spcPct val="100000"/>
              </a:lnSpc>
              <a:buFont typeface="Arial MT"/>
              <a:buChar char="●"/>
              <a:tabLst>
                <a:tab pos="424815" algn="l"/>
                <a:tab pos="425450" algn="l"/>
              </a:tabLst>
            </a:pPr>
            <a:r>
              <a:rPr sz="2400" spc="-114" dirty="0">
                <a:solidFill>
                  <a:srgbClr val="616161"/>
                </a:solidFill>
                <a:latin typeface="Verdana"/>
                <a:cs typeface="Verdana"/>
              </a:rPr>
              <a:t>Networ</a:t>
            </a:r>
            <a:r>
              <a:rPr sz="2400" spc="-110" dirty="0">
                <a:solidFill>
                  <a:srgbClr val="616161"/>
                </a:solidFill>
                <a:latin typeface="Verdana"/>
                <a:cs typeface="Verdana"/>
              </a:rPr>
              <a:t>k</a:t>
            </a:r>
            <a:r>
              <a:rPr sz="2400" spc="-25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2400" spc="-120" dirty="0">
                <a:solidFill>
                  <a:srgbClr val="616161"/>
                </a:solidFill>
                <a:latin typeface="Verdana"/>
                <a:cs typeface="Verdana"/>
              </a:rPr>
              <a:t>Traffic</a:t>
            </a:r>
            <a:endParaRPr sz="2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616161"/>
              </a:buClr>
              <a:buFont typeface="Arial MT"/>
              <a:buChar char="●"/>
            </a:pPr>
            <a:endParaRPr sz="2350">
              <a:latin typeface="Verdana"/>
              <a:cs typeface="Verdana"/>
            </a:endParaRPr>
          </a:p>
          <a:p>
            <a:pPr marL="424815" indent="-412750">
              <a:lnSpc>
                <a:spcPct val="100000"/>
              </a:lnSpc>
              <a:buFont typeface="Arial MT"/>
              <a:buChar char="●"/>
              <a:tabLst>
                <a:tab pos="424815" algn="l"/>
                <a:tab pos="425450" algn="l"/>
              </a:tabLst>
            </a:pPr>
            <a:r>
              <a:rPr sz="2400" spc="-135" dirty="0">
                <a:solidFill>
                  <a:srgbClr val="616161"/>
                </a:solidFill>
                <a:latin typeface="Verdana"/>
                <a:cs typeface="Verdana"/>
              </a:rPr>
              <a:t>Embedde</a:t>
            </a:r>
            <a:r>
              <a:rPr sz="2400" spc="-120" dirty="0">
                <a:solidFill>
                  <a:srgbClr val="616161"/>
                </a:solidFill>
                <a:latin typeface="Verdana"/>
                <a:cs typeface="Verdana"/>
              </a:rPr>
              <a:t>d</a:t>
            </a:r>
            <a:r>
              <a:rPr sz="2400" spc="-25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2400" spc="-130" dirty="0">
                <a:solidFill>
                  <a:srgbClr val="616161"/>
                </a:solidFill>
                <a:latin typeface="Verdana"/>
                <a:cs typeface="Verdana"/>
              </a:rPr>
              <a:t>device</a:t>
            </a:r>
            <a:r>
              <a:rPr sz="2400" spc="-125" dirty="0">
                <a:solidFill>
                  <a:srgbClr val="616161"/>
                </a:solidFill>
                <a:latin typeface="Verdana"/>
                <a:cs typeface="Verdana"/>
              </a:rPr>
              <a:t>s</a:t>
            </a:r>
            <a:r>
              <a:rPr sz="2400" spc="-25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2400" spc="-95" dirty="0">
                <a:solidFill>
                  <a:srgbClr val="616161"/>
                </a:solidFill>
                <a:latin typeface="Verdana"/>
                <a:cs typeface="Verdana"/>
              </a:rPr>
              <a:t>on</a:t>
            </a:r>
            <a:r>
              <a:rPr sz="2400" spc="-25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2400" spc="-155" dirty="0">
                <a:solidFill>
                  <a:srgbClr val="616161"/>
                </a:solidFill>
                <a:latin typeface="Verdana"/>
                <a:cs typeface="Verdana"/>
              </a:rPr>
              <a:t>a</a:t>
            </a:r>
            <a:r>
              <a:rPr sz="2400" spc="-25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2400" spc="-100" dirty="0">
                <a:solidFill>
                  <a:srgbClr val="616161"/>
                </a:solidFill>
                <a:latin typeface="Verdana"/>
                <a:cs typeface="Verdana"/>
              </a:rPr>
              <a:t>radi</a:t>
            </a:r>
            <a:r>
              <a:rPr sz="2400" spc="-120" dirty="0">
                <a:solidFill>
                  <a:srgbClr val="616161"/>
                </a:solidFill>
                <a:latin typeface="Verdana"/>
                <a:cs typeface="Verdana"/>
              </a:rPr>
              <a:t>o</a:t>
            </a:r>
            <a:r>
              <a:rPr sz="2400" spc="-25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2400" spc="-145" dirty="0">
                <a:solidFill>
                  <a:srgbClr val="616161"/>
                </a:solidFill>
                <a:latin typeface="Verdana"/>
                <a:cs typeface="Verdana"/>
              </a:rPr>
              <a:t>frequency</a:t>
            </a:r>
            <a:endParaRPr sz="2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63912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50" dirty="0">
                <a:solidFill>
                  <a:srgbClr val="202729"/>
                </a:solidFill>
              </a:rPr>
              <a:t>Apache</a:t>
            </a:r>
            <a:r>
              <a:rPr sz="2800" spc="-125" dirty="0">
                <a:solidFill>
                  <a:srgbClr val="202729"/>
                </a:solidFill>
              </a:rPr>
              <a:t> </a:t>
            </a:r>
            <a:r>
              <a:rPr sz="2800" spc="-25" dirty="0">
                <a:solidFill>
                  <a:srgbClr val="202729"/>
                </a:solidFill>
              </a:rPr>
              <a:t>Storm</a:t>
            </a:r>
            <a:r>
              <a:rPr sz="2800" spc="-125" dirty="0">
                <a:solidFill>
                  <a:srgbClr val="202729"/>
                </a:solidFill>
              </a:rPr>
              <a:t> </a:t>
            </a:r>
            <a:r>
              <a:rPr sz="2800" spc="-190" dirty="0">
                <a:solidFill>
                  <a:srgbClr val="202729"/>
                </a:solidFill>
              </a:rPr>
              <a:t>-</a:t>
            </a:r>
            <a:r>
              <a:rPr sz="2800" spc="-125" dirty="0">
                <a:solidFill>
                  <a:srgbClr val="202729"/>
                </a:solidFill>
              </a:rPr>
              <a:t> </a:t>
            </a:r>
            <a:r>
              <a:rPr sz="2800" spc="190" dirty="0">
                <a:solidFill>
                  <a:srgbClr val="202729"/>
                </a:solidFill>
              </a:rPr>
              <a:t>A</a:t>
            </a:r>
            <a:r>
              <a:rPr sz="2800" spc="-125" dirty="0">
                <a:solidFill>
                  <a:srgbClr val="202729"/>
                </a:solidFill>
              </a:rPr>
              <a:t> </a:t>
            </a:r>
            <a:r>
              <a:rPr sz="2800" spc="-20" dirty="0">
                <a:solidFill>
                  <a:srgbClr val="202729"/>
                </a:solidFill>
              </a:rPr>
              <a:t>pure</a:t>
            </a:r>
            <a:r>
              <a:rPr sz="2800" spc="-125" dirty="0">
                <a:solidFill>
                  <a:srgbClr val="202729"/>
                </a:solidFill>
              </a:rPr>
              <a:t> </a:t>
            </a:r>
            <a:r>
              <a:rPr sz="2800" spc="-30" dirty="0">
                <a:solidFill>
                  <a:srgbClr val="202729"/>
                </a:solidFill>
              </a:rPr>
              <a:t>streaming</a:t>
            </a:r>
            <a:r>
              <a:rPr sz="2800" spc="-125" dirty="0">
                <a:solidFill>
                  <a:srgbClr val="202729"/>
                </a:solidFill>
              </a:rPr>
              <a:t> </a:t>
            </a:r>
            <a:r>
              <a:rPr sz="2800" dirty="0">
                <a:solidFill>
                  <a:srgbClr val="202729"/>
                </a:solidFill>
              </a:rPr>
              <a:t>system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475249" y="1216355"/>
            <a:ext cx="7545070" cy="1871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-105" dirty="0">
                <a:solidFill>
                  <a:srgbClr val="616161"/>
                </a:solidFill>
                <a:latin typeface="Verdana"/>
                <a:cs typeface="Verdana"/>
              </a:rPr>
              <a:t>Purpose-buil</a:t>
            </a:r>
            <a:r>
              <a:rPr sz="1800" spc="-75" dirty="0">
                <a:solidFill>
                  <a:srgbClr val="616161"/>
                </a:solidFill>
                <a:latin typeface="Verdana"/>
                <a:cs typeface="Verdana"/>
              </a:rPr>
              <a:t>t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616161"/>
                </a:solidFill>
                <a:latin typeface="Verdana"/>
                <a:cs typeface="Verdana"/>
              </a:rPr>
              <a:t>fo</a:t>
            </a:r>
            <a:r>
              <a:rPr sz="1800" spc="-60" dirty="0">
                <a:solidFill>
                  <a:srgbClr val="616161"/>
                </a:solidFill>
                <a:latin typeface="Verdana"/>
                <a:cs typeface="Verdana"/>
              </a:rPr>
              <a:t>r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14" dirty="0">
                <a:solidFill>
                  <a:srgbClr val="616161"/>
                </a:solidFill>
                <a:latin typeface="Verdana"/>
                <a:cs typeface="Verdana"/>
              </a:rPr>
              <a:t>real-tim</a:t>
            </a:r>
            <a:r>
              <a:rPr sz="1800" spc="-130" dirty="0">
                <a:solidFill>
                  <a:srgbClr val="616161"/>
                </a:solidFill>
                <a:latin typeface="Verdana"/>
                <a:cs typeface="Verdana"/>
              </a:rPr>
              <a:t>e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10" dirty="0">
                <a:solidFill>
                  <a:srgbClr val="616161"/>
                </a:solidFill>
                <a:latin typeface="Verdana"/>
                <a:cs typeface="Verdana"/>
              </a:rPr>
              <a:t>strea</a:t>
            </a:r>
            <a:r>
              <a:rPr sz="1800" spc="-200" dirty="0">
                <a:solidFill>
                  <a:srgbClr val="616161"/>
                </a:solidFill>
                <a:latin typeface="Verdana"/>
                <a:cs typeface="Verdana"/>
              </a:rPr>
              <a:t>m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616161"/>
                </a:solidFill>
                <a:latin typeface="Verdana"/>
                <a:cs typeface="Verdana"/>
              </a:rPr>
              <a:t>computation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616161"/>
              </a:buClr>
              <a:buFont typeface="Arial MT"/>
              <a:buChar char="●"/>
            </a:pPr>
            <a:endParaRPr sz="2250">
              <a:latin typeface="Verdana"/>
              <a:cs typeface="Verdana"/>
            </a:endParaRPr>
          </a:p>
          <a:p>
            <a:pPr marL="379095" indent="-367030">
              <a:lnSpc>
                <a:spcPct val="100000"/>
              </a:lnSpc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-130" dirty="0">
                <a:solidFill>
                  <a:srgbClr val="616161"/>
                </a:solidFill>
                <a:latin typeface="Verdana"/>
                <a:cs typeface="Verdana"/>
              </a:rPr>
              <a:t>Three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616161"/>
                </a:solidFill>
                <a:latin typeface="Verdana"/>
                <a:cs typeface="Verdana"/>
              </a:rPr>
              <a:t>main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25" dirty="0">
                <a:solidFill>
                  <a:srgbClr val="616161"/>
                </a:solidFill>
                <a:latin typeface="Verdana"/>
                <a:cs typeface="Verdana"/>
              </a:rPr>
              <a:t>concepts:</a:t>
            </a:r>
            <a:endParaRPr sz="1800">
              <a:latin typeface="Verdana"/>
              <a:cs typeface="Verdana"/>
            </a:endParaRPr>
          </a:p>
          <a:p>
            <a:pPr marL="836294" lvl="1" indent="-367030">
              <a:lnSpc>
                <a:spcPct val="100000"/>
              </a:lnSpc>
              <a:spcBef>
                <a:spcPts val="315"/>
              </a:spcBef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800" spc="-160" dirty="0">
                <a:solidFill>
                  <a:srgbClr val="616161"/>
                </a:solidFill>
                <a:latin typeface="Verdana"/>
                <a:cs typeface="Verdana"/>
              </a:rPr>
              <a:t>“Stream”: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616161"/>
                </a:solidFill>
                <a:latin typeface="Verdana"/>
                <a:cs typeface="Verdana"/>
              </a:rPr>
              <a:t>An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616161"/>
                </a:solidFill>
                <a:latin typeface="Verdana"/>
                <a:cs typeface="Verdana"/>
              </a:rPr>
              <a:t>unbounded</a:t>
            </a:r>
            <a:r>
              <a:rPr sz="1800" spc="-18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10" dirty="0">
                <a:solidFill>
                  <a:srgbClr val="616161"/>
                </a:solidFill>
                <a:latin typeface="Verdana"/>
                <a:cs typeface="Verdana"/>
              </a:rPr>
              <a:t>sequence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45" dirty="0">
                <a:solidFill>
                  <a:srgbClr val="616161"/>
                </a:solidFill>
                <a:latin typeface="Verdana"/>
                <a:cs typeface="Verdana"/>
              </a:rPr>
              <a:t>of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616161"/>
                </a:solidFill>
                <a:latin typeface="Verdana"/>
                <a:cs typeface="Verdana"/>
              </a:rPr>
              <a:t>tuples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616161"/>
                </a:solidFill>
                <a:latin typeface="Verdana"/>
                <a:cs typeface="Verdana"/>
              </a:rPr>
              <a:t>(like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10" dirty="0">
                <a:solidFill>
                  <a:srgbClr val="616161"/>
                </a:solidFill>
                <a:latin typeface="Verdana"/>
                <a:cs typeface="Verdana"/>
              </a:rPr>
              <a:t>an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616161"/>
                </a:solidFill>
                <a:latin typeface="Verdana"/>
                <a:cs typeface="Verdana"/>
              </a:rPr>
              <a:t>infinite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30" dirty="0">
                <a:solidFill>
                  <a:srgbClr val="616161"/>
                </a:solidFill>
                <a:latin typeface="Verdana"/>
                <a:cs typeface="Verdana"/>
              </a:rPr>
              <a:t>RDD)</a:t>
            </a:r>
            <a:endParaRPr sz="1800">
              <a:latin typeface="Verdana"/>
              <a:cs typeface="Verdana"/>
            </a:endParaRPr>
          </a:p>
          <a:p>
            <a:pPr marL="836294" lvl="1" indent="-367030">
              <a:lnSpc>
                <a:spcPct val="100000"/>
              </a:lnSpc>
              <a:spcBef>
                <a:spcPts val="315"/>
              </a:spcBef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800" spc="-150" dirty="0">
                <a:solidFill>
                  <a:srgbClr val="616161"/>
                </a:solidFill>
                <a:latin typeface="Verdana"/>
                <a:cs typeface="Verdana"/>
              </a:rPr>
              <a:t>“Spout”</a:t>
            </a:r>
            <a:r>
              <a:rPr sz="1800" spc="-120" dirty="0">
                <a:solidFill>
                  <a:srgbClr val="616161"/>
                </a:solidFill>
                <a:latin typeface="Verdana"/>
                <a:cs typeface="Verdana"/>
              </a:rPr>
              <a:t>: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90" dirty="0">
                <a:solidFill>
                  <a:srgbClr val="616161"/>
                </a:solidFill>
                <a:latin typeface="Verdana"/>
                <a:cs typeface="Verdana"/>
              </a:rPr>
              <a:t>A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5" dirty="0">
                <a:solidFill>
                  <a:srgbClr val="616161"/>
                </a:solidFill>
                <a:latin typeface="Verdana"/>
                <a:cs typeface="Verdana"/>
              </a:rPr>
              <a:t>sourc</a:t>
            </a:r>
            <a:r>
              <a:rPr sz="1800" spc="-110" dirty="0">
                <a:solidFill>
                  <a:srgbClr val="616161"/>
                </a:solidFill>
                <a:latin typeface="Verdana"/>
                <a:cs typeface="Verdana"/>
              </a:rPr>
              <a:t>e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60" dirty="0">
                <a:solidFill>
                  <a:srgbClr val="616161"/>
                </a:solidFill>
                <a:latin typeface="Verdana"/>
                <a:cs typeface="Verdana"/>
              </a:rPr>
              <a:t>o</a:t>
            </a:r>
            <a:r>
              <a:rPr sz="1800" spc="-30" dirty="0">
                <a:solidFill>
                  <a:srgbClr val="616161"/>
                </a:solidFill>
                <a:latin typeface="Verdana"/>
                <a:cs typeface="Verdana"/>
              </a:rPr>
              <a:t>f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616161"/>
                </a:solidFill>
                <a:latin typeface="Verdana"/>
                <a:cs typeface="Verdana"/>
              </a:rPr>
              <a:t>tuples</a:t>
            </a:r>
            <a:endParaRPr sz="1800">
              <a:latin typeface="Verdana"/>
              <a:cs typeface="Verdana"/>
            </a:endParaRPr>
          </a:p>
          <a:p>
            <a:pPr marL="836294" lvl="1" indent="-367030">
              <a:lnSpc>
                <a:spcPct val="100000"/>
              </a:lnSpc>
              <a:spcBef>
                <a:spcPts val="315"/>
              </a:spcBef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800" spc="-125" dirty="0">
                <a:solidFill>
                  <a:srgbClr val="616161"/>
                </a:solidFill>
                <a:latin typeface="Verdana"/>
                <a:cs typeface="Verdana"/>
              </a:rPr>
              <a:t>“Bolt”: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90" dirty="0">
                <a:solidFill>
                  <a:srgbClr val="616161"/>
                </a:solidFill>
                <a:latin typeface="Verdana"/>
                <a:cs typeface="Verdana"/>
              </a:rPr>
              <a:t>A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616161"/>
                </a:solidFill>
                <a:latin typeface="Verdana"/>
                <a:cs typeface="Verdana"/>
              </a:rPr>
              <a:t>transformation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85" dirty="0">
                <a:solidFill>
                  <a:srgbClr val="616161"/>
                </a:solidFill>
                <a:latin typeface="Verdana"/>
                <a:cs typeface="Verdana"/>
              </a:rPr>
              <a:t>operation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616161"/>
                </a:solidFill>
                <a:latin typeface="Verdana"/>
                <a:cs typeface="Verdana"/>
              </a:rPr>
              <a:t>on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616161"/>
                </a:solidFill>
                <a:latin typeface="Verdana"/>
                <a:cs typeface="Verdana"/>
              </a:rPr>
              <a:t>a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25" dirty="0">
                <a:solidFill>
                  <a:srgbClr val="616161"/>
                </a:solidFill>
                <a:latin typeface="Verdana"/>
                <a:cs typeface="Verdana"/>
              </a:rPr>
              <a:t>stream</a:t>
            </a:r>
            <a:endParaRPr sz="18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82650" y="3706400"/>
            <a:ext cx="4061349" cy="127414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63912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50" dirty="0">
                <a:solidFill>
                  <a:srgbClr val="202729"/>
                </a:solidFill>
              </a:rPr>
              <a:t>Apache</a:t>
            </a:r>
            <a:r>
              <a:rPr sz="2800" spc="-125" dirty="0">
                <a:solidFill>
                  <a:srgbClr val="202729"/>
                </a:solidFill>
              </a:rPr>
              <a:t> </a:t>
            </a:r>
            <a:r>
              <a:rPr sz="2800" spc="-25" dirty="0">
                <a:solidFill>
                  <a:srgbClr val="202729"/>
                </a:solidFill>
              </a:rPr>
              <a:t>Storm</a:t>
            </a:r>
            <a:r>
              <a:rPr sz="2800" spc="-125" dirty="0">
                <a:solidFill>
                  <a:srgbClr val="202729"/>
                </a:solidFill>
              </a:rPr>
              <a:t> </a:t>
            </a:r>
            <a:r>
              <a:rPr sz="2800" spc="-190" dirty="0">
                <a:solidFill>
                  <a:srgbClr val="202729"/>
                </a:solidFill>
              </a:rPr>
              <a:t>-</a:t>
            </a:r>
            <a:r>
              <a:rPr sz="2800" spc="-125" dirty="0">
                <a:solidFill>
                  <a:srgbClr val="202729"/>
                </a:solidFill>
              </a:rPr>
              <a:t> </a:t>
            </a:r>
            <a:r>
              <a:rPr sz="2800" spc="190" dirty="0">
                <a:solidFill>
                  <a:srgbClr val="202729"/>
                </a:solidFill>
              </a:rPr>
              <a:t>A</a:t>
            </a:r>
            <a:r>
              <a:rPr sz="2800" spc="-125" dirty="0">
                <a:solidFill>
                  <a:srgbClr val="202729"/>
                </a:solidFill>
              </a:rPr>
              <a:t> </a:t>
            </a:r>
            <a:r>
              <a:rPr sz="2800" spc="-20" dirty="0">
                <a:solidFill>
                  <a:srgbClr val="202729"/>
                </a:solidFill>
              </a:rPr>
              <a:t>pure</a:t>
            </a:r>
            <a:r>
              <a:rPr sz="2800" spc="-125" dirty="0">
                <a:solidFill>
                  <a:srgbClr val="202729"/>
                </a:solidFill>
              </a:rPr>
              <a:t> </a:t>
            </a:r>
            <a:r>
              <a:rPr sz="2800" spc="-30" dirty="0">
                <a:solidFill>
                  <a:srgbClr val="202729"/>
                </a:solidFill>
              </a:rPr>
              <a:t>streaming</a:t>
            </a:r>
            <a:r>
              <a:rPr sz="2800" spc="-125" dirty="0">
                <a:solidFill>
                  <a:srgbClr val="202729"/>
                </a:solidFill>
              </a:rPr>
              <a:t> </a:t>
            </a:r>
            <a:r>
              <a:rPr sz="2800" dirty="0">
                <a:solidFill>
                  <a:srgbClr val="202729"/>
                </a:solidFill>
              </a:rPr>
              <a:t>system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475249" y="1216355"/>
            <a:ext cx="52393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-130" dirty="0">
                <a:solidFill>
                  <a:srgbClr val="616161"/>
                </a:solidFill>
                <a:latin typeface="Verdana"/>
                <a:cs typeface="Verdana"/>
              </a:rPr>
              <a:t>Spouts</a:t>
            </a:r>
            <a:r>
              <a:rPr sz="1800" spc="-80" dirty="0">
                <a:solidFill>
                  <a:srgbClr val="616161"/>
                </a:solidFill>
                <a:latin typeface="Verdana"/>
                <a:cs typeface="Verdana"/>
              </a:rPr>
              <a:t>,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616161"/>
                </a:solidFill>
                <a:latin typeface="Verdana"/>
                <a:cs typeface="Verdana"/>
              </a:rPr>
              <a:t>Bolts</a:t>
            </a:r>
            <a:r>
              <a:rPr sz="1800" spc="-70" dirty="0">
                <a:solidFill>
                  <a:srgbClr val="616161"/>
                </a:solidFill>
                <a:latin typeface="Verdana"/>
                <a:cs typeface="Verdana"/>
              </a:rPr>
              <a:t>,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616161"/>
                </a:solidFill>
                <a:latin typeface="Verdana"/>
                <a:cs typeface="Verdana"/>
              </a:rPr>
              <a:t>an</a:t>
            </a:r>
            <a:r>
              <a:rPr sz="1800" spc="-95" dirty="0">
                <a:solidFill>
                  <a:srgbClr val="616161"/>
                </a:solidFill>
                <a:latin typeface="Verdana"/>
                <a:cs typeface="Verdana"/>
              </a:rPr>
              <a:t>d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35" dirty="0">
                <a:solidFill>
                  <a:srgbClr val="616161"/>
                </a:solidFill>
                <a:latin typeface="Verdana"/>
                <a:cs typeface="Verdana"/>
              </a:rPr>
              <a:t>Stream</a:t>
            </a:r>
            <a:r>
              <a:rPr sz="1800" spc="-110" dirty="0">
                <a:solidFill>
                  <a:srgbClr val="616161"/>
                </a:solidFill>
                <a:latin typeface="Verdana"/>
                <a:cs typeface="Verdana"/>
              </a:rPr>
              <a:t>s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616161"/>
                </a:solidFill>
                <a:latin typeface="Verdana"/>
                <a:cs typeface="Verdana"/>
              </a:rPr>
              <a:t>defin</a:t>
            </a:r>
            <a:r>
              <a:rPr sz="1800" spc="-90" dirty="0">
                <a:solidFill>
                  <a:srgbClr val="616161"/>
                </a:solidFill>
                <a:latin typeface="Verdana"/>
                <a:cs typeface="Verdana"/>
              </a:rPr>
              <a:t>e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616161"/>
                </a:solidFill>
                <a:latin typeface="Verdana"/>
                <a:cs typeface="Verdana"/>
              </a:rPr>
              <a:t>a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85" dirty="0">
                <a:solidFill>
                  <a:srgbClr val="616161"/>
                </a:solidFill>
                <a:latin typeface="Verdana"/>
                <a:cs typeface="Verdana"/>
              </a:rPr>
              <a:t>“Topology”</a:t>
            </a:r>
            <a:endParaRPr sz="18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32949" y="4192775"/>
            <a:ext cx="2511049" cy="78777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01124" y="2185774"/>
            <a:ext cx="918844" cy="445770"/>
          </a:xfrm>
          <a:prstGeom prst="rect">
            <a:avLst/>
          </a:prstGeom>
          <a:solidFill>
            <a:srgbClr val="63D197"/>
          </a:solidFill>
          <a:ln w="9524">
            <a:solidFill>
              <a:srgbClr val="4BA173"/>
            </a:solidFill>
          </a:ln>
        </p:spPr>
        <p:txBody>
          <a:bodyPr vert="horz" wrap="square" lIns="0" tIns="110489" rIns="0" bIns="0" rtlCol="0">
            <a:spAutoFit/>
          </a:bodyPr>
          <a:lstStyle/>
          <a:p>
            <a:pPr marL="226695">
              <a:lnSpc>
                <a:spcPct val="100000"/>
              </a:lnSpc>
              <a:spcBef>
                <a:spcPts val="869"/>
              </a:spcBef>
            </a:pPr>
            <a:r>
              <a:rPr sz="1400" spc="-5" dirty="0">
                <a:latin typeface="Arial MT"/>
                <a:cs typeface="Arial MT"/>
              </a:rPr>
              <a:t>Spout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1124" y="3500525"/>
            <a:ext cx="918844" cy="445770"/>
          </a:xfrm>
          <a:prstGeom prst="rect">
            <a:avLst/>
          </a:prstGeom>
          <a:solidFill>
            <a:srgbClr val="63D197"/>
          </a:solidFill>
          <a:ln w="9524">
            <a:solidFill>
              <a:srgbClr val="4BA173"/>
            </a:solidFill>
          </a:ln>
        </p:spPr>
        <p:txBody>
          <a:bodyPr vert="horz" wrap="square" lIns="0" tIns="110489" rIns="0" bIns="0" rtlCol="0">
            <a:spAutoFit/>
          </a:bodyPr>
          <a:lstStyle/>
          <a:p>
            <a:pPr marL="226695">
              <a:lnSpc>
                <a:spcPct val="100000"/>
              </a:lnSpc>
              <a:spcBef>
                <a:spcPts val="869"/>
              </a:spcBef>
            </a:pPr>
            <a:r>
              <a:rPr sz="1400" spc="-5" dirty="0">
                <a:latin typeface="Arial MT"/>
                <a:cs typeface="Arial MT"/>
              </a:rPr>
              <a:t>Spout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86575" y="1844724"/>
            <a:ext cx="918844" cy="445770"/>
          </a:xfrm>
          <a:prstGeom prst="rect">
            <a:avLst/>
          </a:prstGeom>
          <a:solidFill>
            <a:srgbClr val="63D197"/>
          </a:solidFill>
          <a:ln w="9524">
            <a:solidFill>
              <a:srgbClr val="4BA173"/>
            </a:solidFill>
          </a:ln>
        </p:spPr>
        <p:txBody>
          <a:bodyPr vert="horz" wrap="square" lIns="0" tIns="110489" rIns="0" bIns="0" rtlCol="0">
            <a:spAutoFit/>
          </a:bodyPr>
          <a:lstStyle/>
          <a:p>
            <a:pPr marL="306070">
              <a:lnSpc>
                <a:spcPct val="100000"/>
              </a:lnSpc>
              <a:spcBef>
                <a:spcPts val="869"/>
              </a:spcBef>
            </a:pPr>
            <a:r>
              <a:rPr sz="1400" spc="-5" dirty="0">
                <a:latin typeface="Arial MT"/>
                <a:cs typeface="Arial MT"/>
              </a:rPr>
              <a:t>Bolt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58000" y="3500525"/>
            <a:ext cx="918844" cy="445770"/>
          </a:xfrm>
          <a:prstGeom prst="rect">
            <a:avLst/>
          </a:prstGeom>
          <a:solidFill>
            <a:srgbClr val="63D197"/>
          </a:solidFill>
          <a:ln w="9524">
            <a:solidFill>
              <a:srgbClr val="4BA173"/>
            </a:solidFill>
          </a:ln>
        </p:spPr>
        <p:txBody>
          <a:bodyPr vert="horz" wrap="square" lIns="0" tIns="110489" rIns="0" bIns="0" rtlCol="0">
            <a:spAutoFit/>
          </a:bodyPr>
          <a:lstStyle/>
          <a:p>
            <a:pPr marL="306070">
              <a:lnSpc>
                <a:spcPct val="100000"/>
              </a:lnSpc>
              <a:spcBef>
                <a:spcPts val="869"/>
              </a:spcBef>
            </a:pPr>
            <a:r>
              <a:rPr sz="1400" spc="-5" dirty="0">
                <a:latin typeface="Arial MT"/>
                <a:cs typeface="Arial MT"/>
              </a:rPr>
              <a:t>Bolt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65499" y="2478149"/>
            <a:ext cx="918844" cy="445770"/>
          </a:xfrm>
          <a:prstGeom prst="rect">
            <a:avLst/>
          </a:prstGeom>
          <a:solidFill>
            <a:srgbClr val="63D197"/>
          </a:solidFill>
          <a:ln w="9524">
            <a:solidFill>
              <a:srgbClr val="4BA173"/>
            </a:solidFill>
          </a:ln>
        </p:spPr>
        <p:txBody>
          <a:bodyPr vert="horz" wrap="square" lIns="0" tIns="110489" rIns="0" bIns="0" rtlCol="0">
            <a:spAutoFit/>
          </a:bodyPr>
          <a:lstStyle/>
          <a:p>
            <a:pPr marL="306070">
              <a:lnSpc>
                <a:spcPct val="100000"/>
              </a:lnSpc>
              <a:spcBef>
                <a:spcPts val="869"/>
              </a:spcBef>
            </a:pPr>
            <a:r>
              <a:rPr sz="1400" spc="-5" dirty="0">
                <a:latin typeface="Arial MT"/>
                <a:cs typeface="Arial MT"/>
              </a:rPr>
              <a:t>Bolt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386575" y="2523300"/>
            <a:ext cx="918844" cy="445770"/>
          </a:xfrm>
          <a:custGeom>
            <a:avLst/>
            <a:gdLst/>
            <a:ahLst/>
            <a:cxnLst/>
            <a:rect l="l" t="t" r="r" b="b"/>
            <a:pathLst>
              <a:path w="918845" h="445769">
                <a:moveTo>
                  <a:pt x="918599" y="445499"/>
                </a:moveTo>
                <a:lnTo>
                  <a:pt x="0" y="445499"/>
                </a:lnTo>
                <a:lnTo>
                  <a:pt x="0" y="0"/>
                </a:lnTo>
                <a:lnTo>
                  <a:pt x="918599" y="0"/>
                </a:lnTo>
                <a:lnTo>
                  <a:pt x="918599" y="445499"/>
                </a:lnTo>
                <a:close/>
              </a:path>
            </a:pathLst>
          </a:custGeom>
          <a:solidFill>
            <a:srgbClr val="63D19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386575" y="2523300"/>
            <a:ext cx="918844" cy="445770"/>
          </a:xfrm>
          <a:prstGeom prst="rect">
            <a:avLst/>
          </a:prstGeom>
          <a:ln w="9524">
            <a:solidFill>
              <a:srgbClr val="4BA173"/>
            </a:solidFill>
          </a:ln>
        </p:spPr>
        <p:txBody>
          <a:bodyPr vert="horz" wrap="square" lIns="0" tIns="110489" rIns="0" bIns="0" rtlCol="0">
            <a:spAutoFit/>
          </a:bodyPr>
          <a:lstStyle/>
          <a:p>
            <a:pPr marL="306070">
              <a:lnSpc>
                <a:spcPct val="100000"/>
              </a:lnSpc>
              <a:spcBef>
                <a:spcPts val="869"/>
              </a:spcBef>
            </a:pPr>
            <a:r>
              <a:rPr sz="1400" spc="-5" dirty="0">
                <a:latin typeface="Arial MT"/>
                <a:cs typeface="Arial MT"/>
              </a:rPr>
              <a:t>Bolt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419724" y="3702779"/>
            <a:ext cx="929640" cy="41275"/>
            <a:chOff x="1419724" y="3702779"/>
            <a:chExt cx="929640" cy="41275"/>
          </a:xfrm>
        </p:grpSpPr>
        <p:sp>
          <p:nvSpPr>
            <p:cNvPr id="13" name="object 13"/>
            <p:cNvSpPr/>
            <p:nvPr/>
          </p:nvSpPr>
          <p:spPr>
            <a:xfrm>
              <a:off x="1419724" y="3723275"/>
              <a:ext cx="881380" cy="0"/>
            </a:xfrm>
            <a:custGeom>
              <a:avLst/>
              <a:gdLst/>
              <a:ahLst/>
              <a:cxnLst/>
              <a:rect l="l" t="t" r="r" b="b"/>
              <a:pathLst>
                <a:path w="881380">
                  <a:moveTo>
                    <a:pt x="0" y="0"/>
                  </a:moveTo>
                  <a:lnTo>
                    <a:pt x="881249" y="0"/>
                  </a:lnTo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300974" y="37075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4BA1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300974" y="37075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1414962" y="2062712"/>
            <a:ext cx="2945765" cy="1665605"/>
            <a:chOff x="1414962" y="2062712"/>
            <a:chExt cx="2945765" cy="1665605"/>
          </a:xfrm>
        </p:grpSpPr>
        <p:sp>
          <p:nvSpPr>
            <p:cNvPr id="17" name="object 17"/>
            <p:cNvSpPr/>
            <p:nvPr/>
          </p:nvSpPr>
          <p:spPr>
            <a:xfrm>
              <a:off x="1419724" y="2086437"/>
              <a:ext cx="913130" cy="322580"/>
            </a:xfrm>
            <a:custGeom>
              <a:avLst/>
              <a:gdLst/>
              <a:ahLst/>
              <a:cxnLst/>
              <a:rect l="l" t="t" r="r" b="b"/>
              <a:pathLst>
                <a:path w="913130" h="322580">
                  <a:moveTo>
                    <a:pt x="0" y="322087"/>
                  </a:moveTo>
                  <a:lnTo>
                    <a:pt x="913005" y="0"/>
                  </a:lnTo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327496" y="2071601"/>
              <a:ext cx="46355" cy="29845"/>
            </a:xfrm>
            <a:custGeom>
              <a:avLst/>
              <a:gdLst/>
              <a:ahLst/>
              <a:cxnLst/>
              <a:rect l="l" t="t" r="r" b="b"/>
              <a:pathLst>
                <a:path w="46355" h="29844">
                  <a:moveTo>
                    <a:pt x="10467" y="29673"/>
                  </a:moveTo>
                  <a:lnTo>
                    <a:pt x="0" y="0"/>
                  </a:lnTo>
                  <a:lnTo>
                    <a:pt x="45997" y="456"/>
                  </a:lnTo>
                  <a:lnTo>
                    <a:pt x="10467" y="29673"/>
                  </a:lnTo>
                  <a:close/>
                </a:path>
              </a:pathLst>
            </a:custGeom>
            <a:solidFill>
              <a:srgbClr val="4BA1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327496" y="2071601"/>
              <a:ext cx="46355" cy="29845"/>
            </a:xfrm>
            <a:custGeom>
              <a:avLst/>
              <a:gdLst/>
              <a:ahLst/>
              <a:cxnLst/>
              <a:rect l="l" t="t" r="r" b="b"/>
              <a:pathLst>
                <a:path w="46355" h="29844">
                  <a:moveTo>
                    <a:pt x="10467" y="29673"/>
                  </a:moveTo>
                  <a:lnTo>
                    <a:pt x="45997" y="456"/>
                  </a:lnTo>
                  <a:lnTo>
                    <a:pt x="0" y="0"/>
                  </a:lnTo>
                  <a:lnTo>
                    <a:pt x="10467" y="29673"/>
                  </a:lnTo>
                  <a:close/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419724" y="2408524"/>
              <a:ext cx="913130" cy="318770"/>
            </a:xfrm>
            <a:custGeom>
              <a:avLst/>
              <a:gdLst/>
              <a:ahLst/>
              <a:cxnLst/>
              <a:rect l="l" t="t" r="r" b="b"/>
              <a:pathLst>
                <a:path w="913130" h="318769">
                  <a:moveTo>
                    <a:pt x="0" y="0"/>
                  </a:moveTo>
                  <a:lnTo>
                    <a:pt x="912942" y="318665"/>
                  </a:lnTo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327482" y="2712337"/>
              <a:ext cx="46355" cy="29845"/>
            </a:xfrm>
            <a:custGeom>
              <a:avLst/>
              <a:gdLst/>
              <a:ahLst/>
              <a:cxnLst/>
              <a:rect l="l" t="t" r="r" b="b"/>
              <a:pathLst>
                <a:path w="46355" h="29844">
                  <a:moveTo>
                    <a:pt x="0" y="29707"/>
                  </a:moveTo>
                  <a:lnTo>
                    <a:pt x="10369" y="0"/>
                  </a:lnTo>
                  <a:lnTo>
                    <a:pt x="45995" y="29099"/>
                  </a:lnTo>
                  <a:lnTo>
                    <a:pt x="0" y="29707"/>
                  </a:lnTo>
                  <a:close/>
                </a:path>
              </a:pathLst>
            </a:custGeom>
            <a:solidFill>
              <a:srgbClr val="4BA1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327482" y="2712337"/>
              <a:ext cx="46355" cy="29845"/>
            </a:xfrm>
            <a:custGeom>
              <a:avLst/>
              <a:gdLst/>
              <a:ahLst/>
              <a:cxnLst/>
              <a:rect l="l" t="t" r="r" b="b"/>
              <a:pathLst>
                <a:path w="46355" h="29844">
                  <a:moveTo>
                    <a:pt x="0" y="29707"/>
                  </a:moveTo>
                  <a:lnTo>
                    <a:pt x="45995" y="29099"/>
                  </a:lnTo>
                  <a:lnTo>
                    <a:pt x="10369" y="0"/>
                  </a:lnTo>
                  <a:lnTo>
                    <a:pt x="0" y="29707"/>
                  </a:lnTo>
                  <a:close/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305175" y="2703473"/>
              <a:ext cx="1003300" cy="43180"/>
            </a:xfrm>
            <a:custGeom>
              <a:avLst/>
              <a:gdLst/>
              <a:ahLst/>
              <a:cxnLst/>
              <a:rect l="l" t="t" r="r" b="b"/>
              <a:pathLst>
                <a:path w="1003300" h="43180">
                  <a:moveTo>
                    <a:pt x="0" y="42576"/>
                  </a:moveTo>
                  <a:lnTo>
                    <a:pt x="1003101" y="0"/>
                  </a:lnTo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307609" y="2687754"/>
              <a:ext cx="44450" cy="31750"/>
            </a:xfrm>
            <a:custGeom>
              <a:avLst/>
              <a:gdLst/>
              <a:ahLst/>
              <a:cxnLst/>
              <a:rect l="l" t="t" r="r" b="b"/>
              <a:pathLst>
                <a:path w="44450" h="31750">
                  <a:moveTo>
                    <a:pt x="1334" y="31437"/>
                  </a:moveTo>
                  <a:lnTo>
                    <a:pt x="0" y="0"/>
                  </a:lnTo>
                  <a:lnTo>
                    <a:pt x="43853" y="13885"/>
                  </a:lnTo>
                  <a:lnTo>
                    <a:pt x="1334" y="31437"/>
                  </a:lnTo>
                  <a:close/>
                </a:path>
              </a:pathLst>
            </a:custGeom>
            <a:solidFill>
              <a:srgbClr val="4BA1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307609" y="2687754"/>
              <a:ext cx="44450" cy="31750"/>
            </a:xfrm>
            <a:custGeom>
              <a:avLst/>
              <a:gdLst/>
              <a:ahLst/>
              <a:cxnLst/>
              <a:rect l="l" t="t" r="r" b="b"/>
              <a:pathLst>
                <a:path w="44450" h="31750">
                  <a:moveTo>
                    <a:pt x="1334" y="31437"/>
                  </a:moveTo>
                  <a:lnTo>
                    <a:pt x="43853" y="13885"/>
                  </a:lnTo>
                  <a:lnTo>
                    <a:pt x="0" y="0"/>
                  </a:lnTo>
                  <a:lnTo>
                    <a:pt x="1334" y="31437"/>
                  </a:lnTo>
                  <a:close/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276600" y="2739991"/>
              <a:ext cx="1047750" cy="983615"/>
            </a:xfrm>
            <a:custGeom>
              <a:avLst/>
              <a:gdLst/>
              <a:ahLst/>
              <a:cxnLst/>
              <a:rect l="l" t="t" r="r" b="b"/>
              <a:pathLst>
                <a:path w="1047750" h="983614">
                  <a:moveTo>
                    <a:pt x="0" y="983282"/>
                  </a:moveTo>
                  <a:lnTo>
                    <a:pt x="1047334" y="0"/>
                  </a:lnTo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313166" y="2710405"/>
              <a:ext cx="42545" cy="41275"/>
            </a:xfrm>
            <a:custGeom>
              <a:avLst/>
              <a:gdLst/>
              <a:ahLst/>
              <a:cxnLst/>
              <a:rect l="l" t="t" r="r" b="b"/>
              <a:pathLst>
                <a:path w="42545" h="41275">
                  <a:moveTo>
                    <a:pt x="21536" y="41056"/>
                  </a:moveTo>
                  <a:lnTo>
                    <a:pt x="0" y="18116"/>
                  </a:lnTo>
                  <a:lnTo>
                    <a:pt x="42281" y="0"/>
                  </a:lnTo>
                  <a:lnTo>
                    <a:pt x="21536" y="41056"/>
                  </a:lnTo>
                  <a:close/>
                </a:path>
              </a:pathLst>
            </a:custGeom>
            <a:solidFill>
              <a:srgbClr val="4BA1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313166" y="2710405"/>
              <a:ext cx="42545" cy="41275"/>
            </a:xfrm>
            <a:custGeom>
              <a:avLst/>
              <a:gdLst/>
              <a:ahLst/>
              <a:cxnLst/>
              <a:rect l="l" t="t" r="r" b="b"/>
              <a:pathLst>
                <a:path w="42545" h="41275">
                  <a:moveTo>
                    <a:pt x="21536" y="41056"/>
                  </a:moveTo>
                  <a:lnTo>
                    <a:pt x="42281" y="0"/>
                  </a:lnTo>
                  <a:lnTo>
                    <a:pt x="0" y="18116"/>
                  </a:lnTo>
                  <a:lnTo>
                    <a:pt x="21536" y="41056"/>
                  </a:lnTo>
                  <a:close/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305175" y="2067474"/>
              <a:ext cx="1011555" cy="604520"/>
            </a:xfrm>
            <a:custGeom>
              <a:avLst/>
              <a:gdLst/>
              <a:ahLst/>
              <a:cxnLst/>
              <a:rect l="l" t="t" r="r" b="b"/>
              <a:pathLst>
                <a:path w="1011554" h="604519">
                  <a:moveTo>
                    <a:pt x="0" y="0"/>
                  </a:moveTo>
                  <a:lnTo>
                    <a:pt x="1011136" y="603992"/>
                  </a:lnTo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308243" y="2657961"/>
              <a:ext cx="45720" cy="36195"/>
            </a:xfrm>
            <a:custGeom>
              <a:avLst/>
              <a:gdLst/>
              <a:ahLst/>
              <a:cxnLst/>
              <a:rect l="l" t="t" r="r" b="b"/>
              <a:pathLst>
                <a:path w="45720" h="36194">
                  <a:moveTo>
                    <a:pt x="45176" y="35673"/>
                  </a:moveTo>
                  <a:lnTo>
                    <a:pt x="0" y="27013"/>
                  </a:lnTo>
                  <a:lnTo>
                    <a:pt x="16135" y="0"/>
                  </a:lnTo>
                  <a:lnTo>
                    <a:pt x="45176" y="35673"/>
                  </a:lnTo>
                  <a:close/>
                </a:path>
              </a:pathLst>
            </a:custGeom>
            <a:solidFill>
              <a:srgbClr val="4BA1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308243" y="2657961"/>
              <a:ext cx="45720" cy="36195"/>
            </a:xfrm>
            <a:custGeom>
              <a:avLst/>
              <a:gdLst/>
              <a:ahLst/>
              <a:cxnLst/>
              <a:rect l="l" t="t" r="r" b="b"/>
              <a:pathLst>
                <a:path w="45720" h="36194">
                  <a:moveTo>
                    <a:pt x="0" y="27013"/>
                  </a:moveTo>
                  <a:lnTo>
                    <a:pt x="45176" y="35673"/>
                  </a:lnTo>
                  <a:lnTo>
                    <a:pt x="16135" y="0"/>
                  </a:lnTo>
                  <a:lnTo>
                    <a:pt x="0" y="27013"/>
                  </a:lnTo>
                  <a:close/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2" name="object 32"/>
          <p:cNvGrpSpPr/>
          <p:nvPr/>
        </p:nvGrpSpPr>
        <p:grpSpPr>
          <a:xfrm>
            <a:off x="6339662" y="2358637"/>
            <a:ext cx="1069975" cy="684530"/>
            <a:chOff x="6339662" y="2358637"/>
            <a:chExt cx="1069975" cy="684530"/>
          </a:xfrm>
        </p:grpSpPr>
        <p:sp>
          <p:nvSpPr>
            <p:cNvPr id="33" name="object 33"/>
            <p:cNvSpPr/>
            <p:nvPr/>
          </p:nvSpPr>
          <p:spPr>
            <a:xfrm>
              <a:off x="6344425" y="2447774"/>
              <a:ext cx="1060450" cy="591185"/>
            </a:xfrm>
            <a:custGeom>
              <a:avLst/>
              <a:gdLst/>
              <a:ahLst/>
              <a:cxnLst/>
              <a:rect l="l" t="t" r="r" b="b"/>
              <a:pathLst>
                <a:path w="1060450" h="591185">
                  <a:moveTo>
                    <a:pt x="530099" y="590624"/>
                  </a:moveTo>
                  <a:lnTo>
                    <a:pt x="451765" y="589710"/>
                  </a:lnTo>
                  <a:lnTo>
                    <a:pt x="376999" y="587052"/>
                  </a:lnTo>
                  <a:lnTo>
                    <a:pt x="306623" y="582782"/>
                  </a:lnTo>
                  <a:lnTo>
                    <a:pt x="241454" y="577031"/>
                  </a:lnTo>
                  <a:lnTo>
                    <a:pt x="182315" y="569929"/>
                  </a:lnTo>
                  <a:lnTo>
                    <a:pt x="130024" y="561606"/>
                  </a:lnTo>
                  <a:lnTo>
                    <a:pt x="85402" y="552193"/>
                  </a:lnTo>
                  <a:lnTo>
                    <a:pt x="22443" y="530618"/>
                  </a:lnTo>
                  <a:lnTo>
                    <a:pt x="0" y="506249"/>
                  </a:lnTo>
                  <a:lnTo>
                    <a:pt x="0" y="0"/>
                  </a:lnTo>
                  <a:lnTo>
                    <a:pt x="5747" y="12468"/>
                  </a:lnTo>
                  <a:lnTo>
                    <a:pt x="22443" y="24368"/>
                  </a:lnTo>
                  <a:lnTo>
                    <a:pt x="85402" y="45943"/>
                  </a:lnTo>
                  <a:lnTo>
                    <a:pt x="130024" y="55356"/>
                  </a:lnTo>
                  <a:lnTo>
                    <a:pt x="182315" y="63679"/>
                  </a:lnTo>
                  <a:lnTo>
                    <a:pt x="241454" y="70781"/>
                  </a:lnTo>
                  <a:lnTo>
                    <a:pt x="306623" y="76532"/>
                  </a:lnTo>
                  <a:lnTo>
                    <a:pt x="376999" y="80802"/>
                  </a:lnTo>
                  <a:lnTo>
                    <a:pt x="451765" y="83460"/>
                  </a:lnTo>
                  <a:lnTo>
                    <a:pt x="530099" y="84374"/>
                  </a:lnTo>
                  <a:lnTo>
                    <a:pt x="608434" y="83460"/>
                  </a:lnTo>
                  <a:lnTo>
                    <a:pt x="683200" y="80802"/>
                  </a:lnTo>
                  <a:lnTo>
                    <a:pt x="753576" y="76532"/>
                  </a:lnTo>
                  <a:lnTo>
                    <a:pt x="818745" y="70781"/>
                  </a:lnTo>
                  <a:lnTo>
                    <a:pt x="877884" y="63679"/>
                  </a:lnTo>
                  <a:lnTo>
                    <a:pt x="930175" y="55356"/>
                  </a:lnTo>
                  <a:lnTo>
                    <a:pt x="974797" y="45943"/>
                  </a:lnTo>
                  <a:lnTo>
                    <a:pt x="1037756" y="24368"/>
                  </a:lnTo>
                  <a:lnTo>
                    <a:pt x="1060199" y="0"/>
                  </a:lnTo>
                  <a:lnTo>
                    <a:pt x="1060199" y="506249"/>
                  </a:lnTo>
                  <a:lnTo>
                    <a:pt x="1010931" y="541820"/>
                  </a:lnTo>
                  <a:lnTo>
                    <a:pt x="930175" y="561606"/>
                  </a:lnTo>
                  <a:lnTo>
                    <a:pt x="877884" y="569929"/>
                  </a:lnTo>
                  <a:lnTo>
                    <a:pt x="818745" y="577031"/>
                  </a:lnTo>
                  <a:lnTo>
                    <a:pt x="753576" y="582782"/>
                  </a:lnTo>
                  <a:lnTo>
                    <a:pt x="683200" y="587052"/>
                  </a:lnTo>
                  <a:lnTo>
                    <a:pt x="608434" y="589710"/>
                  </a:lnTo>
                  <a:lnTo>
                    <a:pt x="530099" y="590624"/>
                  </a:lnTo>
                  <a:close/>
                </a:path>
              </a:pathLst>
            </a:custGeom>
            <a:solidFill>
              <a:srgbClr val="63D1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344425" y="2363399"/>
              <a:ext cx="1060450" cy="168910"/>
            </a:xfrm>
            <a:custGeom>
              <a:avLst/>
              <a:gdLst/>
              <a:ahLst/>
              <a:cxnLst/>
              <a:rect l="l" t="t" r="r" b="b"/>
              <a:pathLst>
                <a:path w="1060450" h="168910">
                  <a:moveTo>
                    <a:pt x="530099" y="168749"/>
                  </a:moveTo>
                  <a:lnTo>
                    <a:pt x="451765" y="167835"/>
                  </a:lnTo>
                  <a:lnTo>
                    <a:pt x="376999" y="165177"/>
                  </a:lnTo>
                  <a:lnTo>
                    <a:pt x="306623" y="160907"/>
                  </a:lnTo>
                  <a:lnTo>
                    <a:pt x="241454" y="155156"/>
                  </a:lnTo>
                  <a:lnTo>
                    <a:pt x="182315" y="148054"/>
                  </a:lnTo>
                  <a:lnTo>
                    <a:pt x="130024" y="139731"/>
                  </a:lnTo>
                  <a:lnTo>
                    <a:pt x="85402" y="130318"/>
                  </a:lnTo>
                  <a:lnTo>
                    <a:pt x="22443" y="108743"/>
                  </a:lnTo>
                  <a:lnTo>
                    <a:pt x="0" y="84374"/>
                  </a:lnTo>
                  <a:lnTo>
                    <a:pt x="5747" y="71906"/>
                  </a:lnTo>
                  <a:lnTo>
                    <a:pt x="49268" y="48804"/>
                  </a:lnTo>
                  <a:lnTo>
                    <a:pt x="130024" y="29018"/>
                  </a:lnTo>
                  <a:lnTo>
                    <a:pt x="182315" y="20695"/>
                  </a:lnTo>
                  <a:lnTo>
                    <a:pt x="241454" y="13593"/>
                  </a:lnTo>
                  <a:lnTo>
                    <a:pt x="306623" y="7842"/>
                  </a:lnTo>
                  <a:lnTo>
                    <a:pt x="376999" y="3572"/>
                  </a:lnTo>
                  <a:lnTo>
                    <a:pt x="451765" y="914"/>
                  </a:lnTo>
                  <a:lnTo>
                    <a:pt x="530099" y="0"/>
                  </a:lnTo>
                  <a:lnTo>
                    <a:pt x="608434" y="914"/>
                  </a:lnTo>
                  <a:lnTo>
                    <a:pt x="683200" y="3572"/>
                  </a:lnTo>
                  <a:lnTo>
                    <a:pt x="753576" y="7842"/>
                  </a:lnTo>
                  <a:lnTo>
                    <a:pt x="818745" y="13593"/>
                  </a:lnTo>
                  <a:lnTo>
                    <a:pt x="877884" y="20695"/>
                  </a:lnTo>
                  <a:lnTo>
                    <a:pt x="930175" y="29018"/>
                  </a:lnTo>
                  <a:lnTo>
                    <a:pt x="974797" y="38431"/>
                  </a:lnTo>
                  <a:lnTo>
                    <a:pt x="1037756" y="60006"/>
                  </a:lnTo>
                  <a:lnTo>
                    <a:pt x="1060199" y="84374"/>
                  </a:lnTo>
                  <a:lnTo>
                    <a:pt x="1054452" y="96843"/>
                  </a:lnTo>
                  <a:lnTo>
                    <a:pt x="1010931" y="119945"/>
                  </a:lnTo>
                  <a:lnTo>
                    <a:pt x="930175" y="139731"/>
                  </a:lnTo>
                  <a:lnTo>
                    <a:pt x="877884" y="148054"/>
                  </a:lnTo>
                  <a:lnTo>
                    <a:pt x="818745" y="155156"/>
                  </a:lnTo>
                  <a:lnTo>
                    <a:pt x="753576" y="160907"/>
                  </a:lnTo>
                  <a:lnTo>
                    <a:pt x="683200" y="165177"/>
                  </a:lnTo>
                  <a:lnTo>
                    <a:pt x="608434" y="167835"/>
                  </a:lnTo>
                  <a:lnTo>
                    <a:pt x="530099" y="168749"/>
                  </a:lnTo>
                  <a:close/>
                </a:path>
              </a:pathLst>
            </a:custGeom>
            <a:solidFill>
              <a:srgbClr val="A1E4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344425" y="2363399"/>
              <a:ext cx="1060450" cy="675005"/>
            </a:xfrm>
            <a:custGeom>
              <a:avLst/>
              <a:gdLst/>
              <a:ahLst/>
              <a:cxnLst/>
              <a:rect l="l" t="t" r="r" b="b"/>
              <a:pathLst>
                <a:path w="1060450" h="675005">
                  <a:moveTo>
                    <a:pt x="1060199" y="84374"/>
                  </a:moveTo>
                  <a:lnTo>
                    <a:pt x="1054452" y="96843"/>
                  </a:lnTo>
                  <a:lnTo>
                    <a:pt x="1037756" y="108743"/>
                  </a:lnTo>
                  <a:lnTo>
                    <a:pt x="974797" y="130318"/>
                  </a:lnTo>
                  <a:lnTo>
                    <a:pt x="930175" y="139731"/>
                  </a:lnTo>
                  <a:lnTo>
                    <a:pt x="877884" y="148054"/>
                  </a:lnTo>
                  <a:lnTo>
                    <a:pt x="818745" y="155156"/>
                  </a:lnTo>
                  <a:lnTo>
                    <a:pt x="753576" y="160907"/>
                  </a:lnTo>
                  <a:lnTo>
                    <a:pt x="683200" y="165177"/>
                  </a:lnTo>
                  <a:lnTo>
                    <a:pt x="608434" y="167835"/>
                  </a:lnTo>
                  <a:lnTo>
                    <a:pt x="530099" y="168749"/>
                  </a:lnTo>
                  <a:lnTo>
                    <a:pt x="451765" y="167835"/>
                  </a:lnTo>
                  <a:lnTo>
                    <a:pt x="376999" y="165177"/>
                  </a:lnTo>
                  <a:lnTo>
                    <a:pt x="306623" y="160907"/>
                  </a:lnTo>
                  <a:lnTo>
                    <a:pt x="241454" y="155156"/>
                  </a:lnTo>
                  <a:lnTo>
                    <a:pt x="182315" y="148054"/>
                  </a:lnTo>
                  <a:lnTo>
                    <a:pt x="130024" y="139731"/>
                  </a:lnTo>
                  <a:lnTo>
                    <a:pt x="85402" y="130318"/>
                  </a:lnTo>
                  <a:lnTo>
                    <a:pt x="22443" y="108743"/>
                  </a:lnTo>
                  <a:lnTo>
                    <a:pt x="0" y="84374"/>
                  </a:lnTo>
                  <a:lnTo>
                    <a:pt x="49268" y="48804"/>
                  </a:lnTo>
                  <a:lnTo>
                    <a:pt x="130024" y="29018"/>
                  </a:lnTo>
                  <a:lnTo>
                    <a:pt x="182315" y="20695"/>
                  </a:lnTo>
                  <a:lnTo>
                    <a:pt x="241454" y="13593"/>
                  </a:lnTo>
                  <a:lnTo>
                    <a:pt x="306623" y="7842"/>
                  </a:lnTo>
                  <a:lnTo>
                    <a:pt x="376999" y="3572"/>
                  </a:lnTo>
                  <a:lnTo>
                    <a:pt x="451765" y="914"/>
                  </a:lnTo>
                  <a:lnTo>
                    <a:pt x="530099" y="0"/>
                  </a:lnTo>
                  <a:lnTo>
                    <a:pt x="608434" y="914"/>
                  </a:lnTo>
                  <a:lnTo>
                    <a:pt x="683200" y="3572"/>
                  </a:lnTo>
                  <a:lnTo>
                    <a:pt x="753576" y="7842"/>
                  </a:lnTo>
                  <a:lnTo>
                    <a:pt x="818745" y="13593"/>
                  </a:lnTo>
                  <a:lnTo>
                    <a:pt x="877884" y="20695"/>
                  </a:lnTo>
                  <a:lnTo>
                    <a:pt x="930175" y="29018"/>
                  </a:lnTo>
                  <a:lnTo>
                    <a:pt x="974797" y="38431"/>
                  </a:lnTo>
                  <a:lnTo>
                    <a:pt x="1037756" y="60006"/>
                  </a:lnTo>
                  <a:lnTo>
                    <a:pt x="1060199" y="84374"/>
                  </a:lnTo>
                  <a:lnTo>
                    <a:pt x="1060199" y="590624"/>
                  </a:lnTo>
                  <a:lnTo>
                    <a:pt x="1010931" y="626195"/>
                  </a:lnTo>
                  <a:lnTo>
                    <a:pt x="930175" y="645981"/>
                  </a:lnTo>
                  <a:lnTo>
                    <a:pt x="877884" y="654304"/>
                  </a:lnTo>
                  <a:lnTo>
                    <a:pt x="818745" y="661406"/>
                  </a:lnTo>
                  <a:lnTo>
                    <a:pt x="753576" y="667157"/>
                  </a:lnTo>
                  <a:lnTo>
                    <a:pt x="683200" y="671427"/>
                  </a:lnTo>
                  <a:lnTo>
                    <a:pt x="608434" y="674085"/>
                  </a:lnTo>
                  <a:lnTo>
                    <a:pt x="530099" y="674999"/>
                  </a:lnTo>
                  <a:lnTo>
                    <a:pt x="451765" y="674085"/>
                  </a:lnTo>
                  <a:lnTo>
                    <a:pt x="376999" y="671427"/>
                  </a:lnTo>
                  <a:lnTo>
                    <a:pt x="306623" y="667157"/>
                  </a:lnTo>
                  <a:lnTo>
                    <a:pt x="241454" y="661406"/>
                  </a:lnTo>
                  <a:lnTo>
                    <a:pt x="182315" y="654304"/>
                  </a:lnTo>
                  <a:lnTo>
                    <a:pt x="130024" y="645981"/>
                  </a:lnTo>
                  <a:lnTo>
                    <a:pt x="85402" y="636568"/>
                  </a:lnTo>
                  <a:lnTo>
                    <a:pt x="22443" y="614993"/>
                  </a:lnTo>
                  <a:lnTo>
                    <a:pt x="0" y="590624"/>
                  </a:lnTo>
                  <a:lnTo>
                    <a:pt x="0" y="84374"/>
                  </a:lnTo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6595100" y="2618500"/>
            <a:ext cx="5588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MT"/>
                <a:cs typeface="Arial MT"/>
              </a:rPr>
              <a:t>Output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5284099" y="2680404"/>
            <a:ext cx="1051560" cy="41275"/>
            <a:chOff x="5284099" y="2680404"/>
            <a:chExt cx="1051560" cy="41275"/>
          </a:xfrm>
        </p:grpSpPr>
        <p:sp>
          <p:nvSpPr>
            <p:cNvPr id="38" name="object 38"/>
            <p:cNvSpPr/>
            <p:nvPr/>
          </p:nvSpPr>
          <p:spPr>
            <a:xfrm>
              <a:off x="5284099" y="2700900"/>
              <a:ext cx="1003300" cy="0"/>
            </a:xfrm>
            <a:custGeom>
              <a:avLst/>
              <a:gdLst/>
              <a:ahLst/>
              <a:cxnLst/>
              <a:rect l="l" t="t" r="r" b="b"/>
              <a:pathLst>
                <a:path w="1003300">
                  <a:moveTo>
                    <a:pt x="0" y="0"/>
                  </a:moveTo>
                  <a:lnTo>
                    <a:pt x="1003049" y="0"/>
                  </a:lnTo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287149" y="26851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4BA1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287149" y="26851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1583650" y="1941328"/>
            <a:ext cx="5162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Stream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583625" y="2661479"/>
            <a:ext cx="5162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Stream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569337" y="3790204"/>
            <a:ext cx="5162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Stream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223583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50" dirty="0">
                <a:solidFill>
                  <a:srgbClr val="202729"/>
                </a:solidFill>
              </a:rPr>
              <a:t>Apache</a:t>
            </a:r>
            <a:r>
              <a:rPr sz="2800" spc="-210" dirty="0">
                <a:solidFill>
                  <a:srgbClr val="202729"/>
                </a:solidFill>
              </a:rPr>
              <a:t> </a:t>
            </a:r>
            <a:r>
              <a:rPr sz="2800" spc="-25" dirty="0">
                <a:solidFill>
                  <a:srgbClr val="202729"/>
                </a:solidFill>
              </a:rPr>
              <a:t>Storm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475249" y="1216355"/>
            <a:ext cx="7452359" cy="2556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-80" dirty="0">
                <a:solidFill>
                  <a:srgbClr val="616161"/>
                </a:solidFill>
                <a:latin typeface="Verdana"/>
                <a:cs typeface="Verdana"/>
              </a:rPr>
              <a:t>Powerful</a:t>
            </a:r>
            <a:r>
              <a:rPr sz="1800" spc="-17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5" dirty="0">
                <a:solidFill>
                  <a:srgbClr val="616161"/>
                </a:solidFill>
                <a:latin typeface="Verdana"/>
                <a:cs typeface="Verdana"/>
              </a:rPr>
              <a:t>language-agnostic</a:t>
            </a:r>
            <a:r>
              <a:rPr sz="1800" spc="-17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85" dirty="0">
                <a:solidFill>
                  <a:srgbClr val="616161"/>
                </a:solidFill>
                <a:latin typeface="Verdana"/>
                <a:cs typeface="Verdana"/>
              </a:rPr>
              <a:t>tool/framework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buClr>
                <a:srgbClr val="616161"/>
              </a:buClr>
              <a:buFont typeface="Arial MT"/>
              <a:buChar char="●"/>
            </a:pPr>
            <a:endParaRPr sz="1800">
              <a:latin typeface="Verdana"/>
              <a:cs typeface="Verdana"/>
            </a:endParaRPr>
          </a:p>
          <a:p>
            <a:pPr marL="379095" indent="-367030">
              <a:lnSpc>
                <a:spcPct val="100000"/>
              </a:lnSpc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-100" dirty="0">
                <a:solidFill>
                  <a:srgbClr val="616161"/>
                </a:solidFill>
                <a:latin typeface="Verdana"/>
                <a:cs typeface="Verdana"/>
              </a:rPr>
              <a:t>Open-source</a:t>
            </a:r>
            <a:r>
              <a:rPr sz="1800" spc="-105" dirty="0">
                <a:solidFill>
                  <a:srgbClr val="616161"/>
                </a:solidFill>
                <a:latin typeface="Verdana"/>
                <a:cs typeface="Verdana"/>
              </a:rPr>
              <a:t>d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616161"/>
                </a:solidFill>
                <a:latin typeface="Verdana"/>
                <a:cs typeface="Verdana"/>
              </a:rPr>
              <a:t>b</a:t>
            </a:r>
            <a:r>
              <a:rPr sz="1800" spc="-110" dirty="0">
                <a:solidFill>
                  <a:srgbClr val="616161"/>
                </a:solidFill>
                <a:latin typeface="Verdana"/>
                <a:cs typeface="Verdana"/>
              </a:rPr>
              <a:t>y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616161"/>
                </a:solidFill>
                <a:latin typeface="Verdana"/>
                <a:cs typeface="Verdana"/>
              </a:rPr>
              <a:t>Twitter</a:t>
            </a:r>
            <a:endParaRPr sz="1800">
              <a:latin typeface="Verdana"/>
              <a:cs typeface="Verdana"/>
            </a:endParaRPr>
          </a:p>
          <a:p>
            <a:pPr marL="836294" lvl="1" indent="-351790">
              <a:lnSpc>
                <a:spcPct val="100000"/>
              </a:lnSpc>
              <a:spcBef>
                <a:spcPts val="325"/>
              </a:spcBef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600" spc="-75" dirty="0">
                <a:solidFill>
                  <a:srgbClr val="616161"/>
                </a:solidFill>
                <a:latin typeface="Verdana"/>
                <a:cs typeface="Verdana"/>
              </a:rPr>
              <a:t>Used</a:t>
            </a:r>
            <a:r>
              <a:rPr sz="1600" spc="-16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600" spc="-60" dirty="0">
                <a:solidFill>
                  <a:srgbClr val="616161"/>
                </a:solidFill>
                <a:latin typeface="Verdana"/>
                <a:cs typeface="Verdana"/>
              </a:rPr>
              <a:t>to</a:t>
            </a:r>
            <a:r>
              <a:rPr sz="1600" spc="-16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600" spc="-75" dirty="0">
                <a:solidFill>
                  <a:srgbClr val="616161"/>
                </a:solidFill>
                <a:latin typeface="Verdana"/>
                <a:cs typeface="Verdana"/>
              </a:rPr>
              <a:t>power</a:t>
            </a:r>
            <a:r>
              <a:rPr sz="1600" spc="-16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600" spc="-85" dirty="0">
                <a:solidFill>
                  <a:srgbClr val="616161"/>
                </a:solidFill>
                <a:latin typeface="Verdana"/>
                <a:cs typeface="Verdana"/>
              </a:rPr>
              <a:t>Twitter’s</a:t>
            </a:r>
            <a:r>
              <a:rPr sz="1600" spc="-16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600" spc="-105" dirty="0">
                <a:solidFill>
                  <a:srgbClr val="616161"/>
                </a:solidFill>
                <a:latin typeface="Verdana"/>
                <a:cs typeface="Verdana"/>
              </a:rPr>
              <a:t>real-time</a:t>
            </a:r>
            <a:r>
              <a:rPr sz="1600" spc="-15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600" spc="-85" dirty="0">
                <a:solidFill>
                  <a:srgbClr val="616161"/>
                </a:solidFill>
                <a:latin typeface="Verdana"/>
                <a:cs typeface="Verdana"/>
              </a:rPr>
              <a:t>tweet</a:t>
            </a:r>
            <a:r>
              <a:rPr sz="1600" spc="-16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600" spc="-85" dirty="0">
                <a:solidFill>
                  <a:srgbClr val="616161"/>
                </a:solidFill>
                <a:latin typeface="Verdana"/>
                <a:cs typeface="Verdana"/>
              </a:rPr>
              <a:t>analytics</a:t>
            </a:r>
            <a:endParaRPr sz="1600">
              <a:latin typeface="Verdana"/>
              <a:cs typeface="Verdana"/>
            </a:endParaRPr>
          </a:p>
          <a:p>
            <a:pPr marL="836294" lvl="1" indent="-351790">
              <a:lnSpc>
                <a:spcPct val="100000"/>
              </a:lnSpc>
              <a:spcBef>
                <a:spcPts val="254"/>
              </a:spcBef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600" spc="-40" dirty="0">
                <a:solidFill>
                  <a:srgbClr val="616161"/>
                </a:solidFill>
                <a:latin typeface="Verdana"/>
                <a:cs typeface="Verdana"/>
              </a:rPr>
              <a:t>Now</a:t>
            </a:r>
            <a:r>
              <a:rPr sz="1600" spc="-16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600" spc="-90" dirty="0">
                <a:solidFill>
                  <a:srgbClr val="616161"/>
                </a:solidFill>
                <a:latin typeface="Verdana"/>
                <a:cs typeface="Verdana"/>
              </a:rPr>
              <a:t>Twitte</a:t>
            </a:r>
            <a:r>
              <a:rPr sz="1600" spc="-70" dirty="0">
                <a:solidFill>
                  <a:srgbClr val="616161"/>
                </a:solidFill>
                <a:latin typeface="Verdana"/>
                <a:cs typeface="Verdana"/>
              </a:rPr>
              <a:t>r</a:t>
            </a:r>
            <a:r>
              <a:rPr sz="1600" spc="-17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600" spc="-114" dirty="0">
                <a:solidFill>
                  <a:srgbClr val="616161"/>
                </a:solidFill>
                <a:latin typeface="Verdana"/>
                <a:cs typeface="Verdana"/>
              </a:rPr>
              <a:t>use</a:t>
            </a:r>
            <a:r>
              <a:rPr sz="1600" spc="-100" dirty="0">
                <a:solidFill>
                  <a:srgbClr val="616161"/>
                </a:solidFill>
                <a:latin typeface="Verdana"/>
                <a:cs typeface="Verdana"/>
              </a:rPr>
              <a:t>s</a:t>
            </a:r>
            <a:r>
              <a:rPr sz="1600" spc="-16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600" spc="-75" dirty="0">
                <a:solidFill>
                  <a:srgbClr val="616161"/>
                </a:solidFill>
                <a:latin typeface="Verdana"/>
                <a:cs typeface="Verdana"/>
              </a:rPr>
              <a:t>Heron</a:t>
            </a:r>
            <a:endParaRPr sz="16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Clr>
                <a:srgbClr val="616161"/>
              </a:buClr>
              <a:buFont typeface="Arial MT"/>
              <a:buChar char="○"/>
            </a:pPr>
            <a:endParaRPr sz="1950">
              <a:latin typeface="Verdana"/>
              <a:cs typeface="Verdana"/>
            </a:endParaRPr>
          </a:p>
          <a:p>
            <a:pPr marL="379095" indent="-367030">
              <a:lnSpc>
                <a:spcPct val="100000"/>
              </a:lnSpc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-80" dirty="0">
                <a:solidFill>
                  <a:srgbClr val="616161"/>
                </a:solidFill>
                <a:latin typeface="Verdana"/>
                <a:cs typeface="Verdana"/>
              </a:rPr>
              <a:t>Handle</a:t>
            </a:r>
            <a:r>
              <a:rPr sz="1800" spc="-70" dirty="0">
                <a:solidFill>
                  <a:srgbClr val="616161"/>
                </a:solidFill>
                <a:latin typeface="Verdana"/>
                <a:cs typeface="Verdana"/>
              </a:rPr>
              <a:t>s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90" dirty="0">
                <a:solidFill>
                  <a:srgbClr val="616161"/>
                </a:solidFill>
                <a:latin typeface="Verdana"/>
                <a:cs typeface="Verdana"/>
              </a:rPr>
              <a:t>faul</a:t>
            </a:r>
            <a:r>
              <a:rPr sz="1800" spc="-75" dirty="0">
                <a:solidFill>
                  <a:srgbClr val="616161"/>
                </a:solidFill>
                <a:latin typeface="Verdana"/>
                <a:cs typeface="Verdana"/>
              </a:rPr>
              <a:t>t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90" dirty="0">
                <a:solidFill>
                  <a:srgbClr val="616161"/>
                </a:solidFill>
                <a:latin typeface="Verdana"/>
                <a:cs typeface="Verdana"/>
              </a:rPr>
              <a:t>tolerance</a:t>
            </a:r>
            <a:endParaRPr sz="1800">
              <a:latin typeface="Verdana"/>
              <a:cs typeface="Verdana"/>
            </a:endParaRPr>
          </a:p>
          <a:p>
            <a:pPr marL="836294" lvl="1" indent="-351790">
              <a:lnSpc>
                <a:spcPct val="100000"/>
              </a:lnSpc>
              <a:spcBef>
                <a:spcPts val="325"/>
              </a:spcBef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600" spc="-100" dirty="0">
                <a:solidFill>
                  <a:srgbClr val="616161"/>
                </a:solidFill>
                <a:latin typeface="Verdana"/>
                <a:cs typeface="Verdana"/>
              </a:rPr>
              <a:t>Keeps</a:t>
            </a:r>
            <a:r>
              <a:rPr sz="1600" spc="-17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600" spc="-105" dirty="0">
                <a:solidFill>
                  <a:srgbClr val="616161"/>
                </a:solidFill>
                <a:latin typeface="Verdana"/>
                <a:cs typeface="Verdana"/>
              </a:rPr>
              <a:t>track</a:t>
            </a:r>
            <a:r>
              <a:rPr sz="1600" spc="-16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600" spc="-40" dirty="0">
                <a:solidFill>
                  <a:srgbClr val="616161"/>
                </a:solidFill>
                <a:latin typeface="Verdana"/>
                <a:cs typeface="Verdana"/>
              </a:rPr>
              <a:t>of</a:t>
            </a:r>
            <a:r>
              <a:rPr sz="1600" spc="-16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600" spc="-100" dirty="0">
                <a:solidFill>
                  <a:srgbClr val="616161"/>
                </a:solidFill>
                <a:latin typeface="Verdana"/>
                <a:cs typeface="Verdana"/>
              </a:rPr>
              <a:t>which</a:t>
            </a:r>
            <a:r>
              <a:rPr sz="1600" spc="-16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600" spc="-85" dirty="0">
                <a:solidFill>
                  <a:srgbClr val="616161"/>
                </a:solidFill>
                <a:latin typeface="Verdana"/>
                <a:cs typeface="Verdana"/>
              </a:rPr>
              <a:t>tuples</a:t>
            </a:r>
            <a:r>
              <a:rPr sz="1600" spc="-16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600" spc="-125" dirty="0">
                <a:solidFill>
                  <a:srgbClr val="616161"/>
                </a:solidFill>
                <a:latin typeface="Verdana"/>
                <a:cs typeface="Verdana"/>
              </a:rPr>
              <a:t>have</a:t>
            </a:r>
            <a:r>
              <a:rPr sz="1600" spc="-16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600" spc="-85" dirty="0">
                <a:solidFill>
                  <a:srgbClr val="616161"/>
                </a:solidFill>
                <a:latin typeface="Verdana"/>
                <a:cs typeface="Verdana"/>
              </a:rPr>
              <a:t>been</a:t>
            </a:r>
            <a:r>
              <a:rPr sz="1600" spc="-16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600" spc="-75" dirty="0">
                <a:solidFill>
                  <a:srgbClr val="616161"/>
                </a:solidFill>
                <a:latin typeface="Verdana"/>
                <a:cs typeface="Verdana"/>
              </a:rPr>
              <a:t>fully</a:t>
            </a:r>
            <a:r>
              <a:rPr sz="1600" spc="-17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600" spc="-80" dirty="0">
                <a:solidFill>
                  <a:srgbClr val="616161"/>
                </a:solidFill>
                <a:latin typeface="Verdana"/>
                <a:cs typeface="Verdana"/>
              </a:rPr>
              <a:t>processed</a:t>
            </a:r>
            <a:endParaRPr sz="1600">
              <a:latin typeface="Verdana"/>
              <a:cs typeface="Verdana"/>
            </a:endParaRPr>
          </a:p>
          <a:p>
            <a:pPr marL="836294" lvl="1" indent="-351790">
              <a:lnSpc>
                <a:spcPct val="100000"/>
              </a:lnSpc>
              <a:spcBef>
                <a:spcPts val="254"/>
              </a:spcBef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600" spc="-150" dirty="0">
                <a:solidFill>
                  <a:srgbClr val="616161"/>
                </a:solidFill>
                <a:latin typeface="Verdana"/>
                <a:cs typeface="Verdana"/>
              </a:rPr>
              <a:t>If</a:t>
            </a:r>
            <a:r>
              <a:rPr sz="1600" spc="-17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600" spc="-105" dirty="0">
                <a:solidFill>
                  <a:srgbClr val="616161"/>
                </a:solidFill>
                <a:latin typeface="Verdana"/>
                <a:cs typeface="Verdana"/>
              </a:rPr>
              <a:t>a</a:t>
            </a:r>
            <a:r>
              <a:rPr sz="1600" spc="-16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600" spc="-75" dirty="0">
                <a:solidFill>
                  <a:srgbClr val="616161"/>
                </a:solidFill>
                <a:latin typeface="Verdana"/>
                <a:cs typeface="Verdana"/>
              </a:rPr>
              <a:t>“Bolt”</a:t>
            </a:r>
            <a:r>
              <a:rPr sz="1600" spc="-16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600" spc="-80" dirty="0">
                <a:solidFill>
                  <a:srgbClr val="616161"/>
                </a:solidFill>
                <a:latin typeface="Verdana"/>
                <a:cs typeface="Verdana"/>
              </a:rPr>
              <a:t>fails,</a:t>
            </a:r>
            <a:r>
              <a:rPr sz="1600" spc="-16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600" spc="-90" dirty="0">
                <a:solidFill>
                  <a:srgbClr val="616161"/>
                </a:solidFill>
                <a:latin typeface="Verdana"/>
                <a:cs typeface="Verdana"/>
              </a:rPr>
              <a:t>unprocessed</a:t>
            </a:r>
            <a:r>
              <a:rPr sz="1600" spc="-16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600" spc="15" dirty="0">
                <a:solidFill>
                  <a:srgbClr val="616161"/>
                </a:solidFill>
                <a:latin typeface="Verdana"/>
                <a:cs typeface="Verdana"/>
              </a:rPr>
              <a:t>/</a:t>
            </a:r>
            <a:r>
              <a:rPr sz="1600" spc="-16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600" spc="-75" dirty="0">
                <a:solidFill>
                  <a:srgbClr val="616161"/>
                </a:solidFill>
                <a:latin typeface="Verdana"/>
                <a:cs typeface="Verdana"/>
              </a:rPr>
              <a:t>partially</a:t>
            </a:r>
            <a:r>
              <a:rPr sz="1600" spc="-16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600" spc="-80" dirty="0">
                <a:solidFill>
                  <a:srgbClr val="616161"/>
                </a:solidFill>
                <a:latin typeface="Verdana"/>
                <a:cs typeface="Verdana"/>
              </a:rPr>
              <a:t>processed</a:t>
            </a:r>
            <a:r>
              <a:rPr sz="1600" spc="-16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600" spc="-85" dirty="0">
                <a:solidFill>
                  <a:srgbClr val="616161"/>
                </a:solidFill>
                <a:latin typeface="Verdana"/>
                <a:cs typeface="Verdana"/>
              </a:rPr>
              <a:t>tuples</a:t>
            </a:r>
            <a:r>
              <a:rPr sz="1600" spc="-17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600" spc="-105" dirty="0">
                <a:solidFill>
                  <a:srgbClr val="616161"/>
                </a:solidFill>
                <a:latin typeface="Verdana"/>
                <a:cs typeface="Verdana"/>
              </a:rPr>
              <a:t>are</a:t>
            </a:r>
            <a:r>
              <a:rPr sz="1600" spc="-16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600" spc="-85" dirty="0">
                <a:solidFill>
                  <a:srgbClr val="616161"/>
                </a:solidFill>
                <a:latin typeface="Verdana"/>
                <a:cs typeface="Verdana"/>
              </a:rPr>
              <a:t>reprocessed</a:t>
            </a:r>
            <a:endParaRPr sz="16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5249" y="1081100"/>
            <a:ext cx="3453129" cy="1663700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165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Streaming</a:t>
            </a:r>
            <a:r>
              <a:rPr sz="1800" spc="-10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616161"/>
                </a:solidFill>
                <a:latin typeface="Trebuchet MS"/>
                <a:cs typeface="Trebuchet MS"/>
              </a:rPr>
              <a:t>Overview</a:t>
            </a:r>
            <a:endParaRPr sz="1800">
              <a:latin typeface="Trebuchet MS"/>
              <a:cs typeface="Trebuchet MS"/>
            </a:endParaRPr>
          </a:p>
          <a:p>
            <a:pPr marL="379095" indent="-367030">
              <a:lnSpc>
                <a:spcPct val="100000"/>
              </a:lnSpc>
              <a:spcBef>
                <a:spcPts val="1065"/>
              </a:spcBef>
              <a:buFont typeface="Arial"/>
              <a:buChar char="●"/>
              <a:tabLst>
                <a:tab pos="379095" algn="l"/>
                <a:tab pos="379730" algn="l"/>
              </a:tabLst>
            </a:pPr>
            <a:r>
              <a:rPr sz="1800" b="1" spc="5" dirty="0">
                <a:solidFill>
                  <a:srgbClr val="616161"/>
                </a:solidFill>
                <a:latin typeface="Trebuchet MS"/>
                <a:cs typeface="Trebuchet MS"/>
              </a:rPr>
              <a:t>Spark</a:t>
            </a:r>
            <a:r>
              <a:rPr sz="1800" b="1" spc="-11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616161"/>
                </a:solidFill>
                <a:latin typeface="Trebuchet MS"/>
                <a:cs typeface="Trebuchet MS"/>
              </a:rPr>
              <a:t>Streaming</a:t>
            </a:r>
            <a:endParaRPr sz="1800">
              <a:latin typeface="Trebuchet MS"/>
              <a:cs typeface="Trebuchet MS"/>
            </a:endParaRPr>
          </a:p>
          <a:p>
            <a:pPr marL="379095" indent="-367030">
              <a:lnSpc>
                <a:spcPct val="100000"/>
              </a:lnSpc>
              <a:spcBef>
                <a:spcPts val="1065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25" dirty="0">
                <a:solidFill>
                  <a:srgbClr val="616161"/>
                </a:solidFill>
                <a:latin typeface="Trebuchet MS"/>
                <a:cs typeface="Trebuchet MS"/>
              </a:rPr>
              <a:t>Spark</a:t>
            </a:r>
            <a:r>
              <a:rPr sz="1800" spc="-10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Streaming</a:t>
            </a:r>
            <a:r>
              <a:rPr sz="1800" spc="-9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616161"/>
                </a:solidFill>
                <a:latin typeface="Trebuchet MS"/>
                <a:cs typeface="Trebuchet MS"/>
              </a:rPr>
              <a:t>Programming</a:t>
            </a:r>
            <a:endParaRPr sz="1800">
              <a:latin typeface="Trebuchet MS"/>
              <a:cs typeface="Trebuchet MS"/>
            </a:endParaRPr>
          </a:p>
          <a:p>
            <a:pPr marL="379095" indent="-367030">
              <a:lnSpc>
                <a:spcPct val="100000"/>
              </a:lnSpc>
              <a:spcBef>
                <a:spcPts val="1065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-40" dirty="0">
                <a:solidFill>
                  <a:srgbClr val="616161"/>
                </a:solidFill>
                <a:latin typeface="Trebuchet MS"/>
                <a:cs typeface="Trebuchet MS"/>
              </a:rPr>
              <a:t>Final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Project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5" dirty="0">
                <a:solidFill>
                  <a:srgbClr val="616161"/>
                </a:solidFill>
                <a:latin typeface="Trebuchet MS"/>
                <a:cs typeface="Trebuchet MS"/>
              </a:rPr>
              <a:t>Announcement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115443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solidFill>
                  <a:srgbClr val="202729"/>
                </a:solidFill>
              </a:rPr>
              <a:t>Outline</a:t>
            </a:r>
            <a:endParaRPr sz="2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260223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40" dirty="0">
                <a:solidFill>
                  <a:srgbClr val="202729"/>
                </a:solidFill>
              </a:rPr>
              <a:t>Spark</a:t>
            </a:r>
            <a:r>
              <a:rPr sz="2800" spc="-200" dirty="0">
                <a:solidFill>
                  <a:srgbClr val="202729"/>
                </a:solidFill>
              </a:rPr>
              <a:t> </a:t>
            </a:r>
            <a:r>
              <a:rPr sz="2800" spc="-15" dirty="0">
                <a:solidFill>
                  <a:srgbClr val="202729"/>
                </a:solidFill>
              </a:rPr>
              <a:t>Streaming</a:t>
            </a:r>
            <a:endParaRPr sz="2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175" y="863101"/>
            <a:ext cx="9098824" cy="341729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58940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40" dirty="0">
                <a:solidFill>
                  <a:srgbClr val="202729"/>
                </a:solidFill>
              </a:rPr>
              <a:t>Spark</a:t>
            </a:r>
            <a:r>
              <a:rPr sz="2800" spc="-125" dirty="0">
                <a:solidFill>
                  <a:srgbClr val="202729"/>
                </a:solidFill>
              </a:rPr>
              <a:t> </a:t>
            </a:r>
            <a:r>
              <a:rPr sz="2800" spc="80" dirty="0">
                <a:solidFill>
                  <a:srgbClr val="202729"/>
                </a:solidFill>
              </a:rPr>
              <a:t>Looks</a:t>
            </a:r>
            <a:r>
              <a:rPr sz="2800" spc="-125" dirty="0">
                <a:solidFill>
                  <a:srgbClr val="202729"/>
                </a:solidFill>
              </a:rPr>
              <a:t> </a:t>
            </a:r>
            <a:r>
              <a:rPr sz="2800" dirty="0">
                <a:solidFill>
                  <a:srgbClr val="202729"/>
                </a:solidFill>
              </a:rPr>
              <a:t>a</a:t>
            </a:r>
            <a:r>
              <a:rPr sz="2800" spc="-125" dirty="0">
                <a:solidFill>
                  <a:srgbClr val="202729"/>
                </a:solidFill>
              </a:rPr>
              <a:t> </a:t>
            </a:r>
            <a:r>
              <a:rPr sz="2800" spc="-130" dirty="0">
                <a:solidFill>
                  <a:srgbClr val="202729"/>
                </a:solidFill>
              </a:rPr>
              <a:t>lot</a:t>
            </a:r>
            <a:r>
              <a:rPr sz="2800" spc="-125" dirty="0">
                <a:solidFill>
                  <a:srgbClr val="202729"/>
                </a:solidFill>
              </a:rPr>
              <a:t> </a:t>
            </a:r>
            <a:r>
              <a:rPr sz="2800" spc="-75" dirty="0">
                <a:solidFill>
                  <a:srgbClr val="202729"/>
                </a:solidFill>
              </a:rPr>
              <a:t>like</a:t>
            </a:r>
            <a:r>
              <a:rPr sz="2800" spc="-125" dirty="0">
                <a:solidFill>
                  <a:srgbClr val="202729"/>
                </a:solidFill>
              </a:rPr>
              <a:t> </a:t>
            </a:r>
            <a:r>
              <a:rPr sz="2800" spc="50" dirty="0">
                <a:solidFill>
                  <a:srgbClr val="202729"/>
                </a:solidFill>
              </a:rPr>
              <a:t>Apache</a:t>
            </a:r>
            <a:r>
              <a:rPr sz="2800" spc="-125" dirty="0">
                <a:solidFill>
                  <a:srgbClr val="202729"/>
                </a:solidFill>
              </a:rPr>
              <a:t> </a:t>
            </a:r>
            <a:r>
              <a:rPr sz="2800" spc="-160" dirty="0">
                <a:solidFill>
                  <a:srgbClr val="202729"/>
                </a:solidFill>
              </a:rPr>
              <a:t>Storm...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501124" y="2185774"/>
            <a:ext cx="918844" cy="445770"/>
          </a:xfrm>
          <a:prstGeom prst="rect">
            <a:avLst/>
          </a:prstGeom>
          <a:solidFill>
            <a:srgbClr val="63D197"/>
          </a:solidFill>
          <a:ln w="9524">
            <a:solidFill>
              <a:srgbClr val="4BA173"/>
            </a:solidFill>
          </a:ln>
        </p:spPr>
        <p:txBody>
          <a:bodyPr vert="horz" wrap="square" lIns="0" tIns="110489" rIns="0" bIns="0" rtlCol="0">
            <a:spAutoFit/>
          </a:bodyPr>
          <a:lstStyle/>
          <a:p>
            <a:pPr marL="226695">
              <a:lnSpc>
                <a:spcPct val="100000"/>
              </a:lnSpc>
              <a:spcBef>
                <a:spcPts val="869"/>
              </a:spcBef>
            </a:pPr>
            <a:r>
              <a:rPr sz="1400" spc="-5" dirty="0">
                <a:latin typeface="Arial MT"/>
                <a:cs typeface="Arial MT"/>
              </a:rPr>
              <a:t>Spout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1124" y="3500525"/>
            <a:ext cx="918844" cy="445770"/>
          </a:xfrm>
          <a:prstGeom prst="rect">
            <a:avLst/>
          </a:prstGeom>
          <a:solidFill>
            <a:srgbClr val="63D197"/>
          </a:solidFill>
          <a:ln w="9524">
            <a:solidFill>
              <a:srgbClr val="4BA173"/>
            </a:solidFill>
          </a:ln>
        </p:spPr>
        <p:txBody>
          <a:bodyPr vert="horz" wrap="square" lIns="0" tIns="110489" rIns="0" bIns="0" rtlCol="0">
            <a:spAutoFit/>
          </a:bodyPr>
          <a:lstStyle/>
          <a:p>
            <a:pPr marL="226695">
              <a:lnSpc>
                <a:spcPct val="100000"/>
              </a:lnSpc>
              <a:spcBef>
                <a:spcPts val="869"/>
              </a:spcBef>
            </a:pPr>
            <a:r>
              <a:rPr sz="1400" spc="-5" dirty="0">
                <a:latin typeface="Arial MT"/>
                <a:cs typeface="Arial MT"/>
              </a:rPr>
              <a:t>Spout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86575" y="1844724"/>
            <a:ext cx="918844" cy="445770"/>
          </a:xfrm>
          <a:prstGeom prst="rect">
            <a:avLst/>
          </a:prstGeom>
          <a:solidFill>
            <a:srgbClr val="63D197"/>
          </a:solidFill>
          <a:ln w="9524">
            <a:solidFill>
              <a:srgbClr val="4BA173"/>
            </a:solidFill>
          </a:ln>
        </p:spPr>
        <p:txBody>
          <a:bodyPr vert="horz" wrap="square" lIns="0" tIns="110489" rIns="0" bIns="0" rtlCol="0">
            <a:spAutoFit/>
          </a:bodyPr>
          <a:lstStyle/>
          <a:p>
            <a:pPr marL="306070">
              <a:lnSpc>
                <a:spcPct val="100000"/>
              </a:lnSpc>
              <a:spcBef>
                <a:spcPts val="869"/>
              </a:spcBef>
            </a:pPr>
            <a:r>
              <a:rPr sz="1400" spc="-5" dirty="0">
                <a:latin typeface="Arial MT"/>
                <a:cs typeface="Arial MT"/>
              </a:rPr>
              <a:t>Bolt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58000" y="3500525"/>
            <a:ext cx="918844" cy="445770"/>
          </a:xfrm>
          <a:prstGeom prst="rect">
            <a:avLst/>
          </a:prstGeom>
          <a:solidFill>
            <a:srgbClr val="63D197"/>
          </a:solidFill>
          <a:ln w="9524">
            <a:solidFill>
              <a:srgbClr val="4BA173"/>
            </a:solidFill>
          </a:ln>
        </p:spPr>
        <p:txBody>
          <a:bodyPr vert="horz" wrap="square" lIns="0" tIns="110489" rIns="0" bIns="0" rtlCol="0">
            <a:spAutoFit/>
          </a:bodyPr>
          <a:lstStyle/>
          <a:p>
            <a:pPr marL="306070">
              <a:lnSpc>
                <a:spcPct val="100000"/>
              </a:lnSpc>
              <a:spcBef>
                <a:spcPts val="869"/>
              </a:spcBef>
            </a:pPr>
            <a:r>
              <a:rPr sz="1400" spc="-5" dirty="0">
                <a:latin typeface="Arial MT"/>
                <a:cs typeface="Arial MT"/>
              </a:rPr>
              <a:t>Bolt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65499" y="2478149"/>
            <a:ext cx="918844" cy="445770"/>
          </a:xfrm>
          <a:prstGeom prst="rect">
            <a:avLst/>
          </a:prstGeom>
          <a:solidFill>
            <a:srgbClr val="63D197"/>
          </a:solidFill>
          <a:ln w="9524">
            <a:solidFill>
              <a:srgbClr val="4BA173"/>
            </a:solidFill>
          </a:ln>
        </p:spPr>
        <p:txBody>
          <a:bodyPr vert="horz" wrap="square" lIns="0" tIns="110489" rIns="0" bIns="0" rtlCol="0">
            <a:spAutoFit/>
          </a:bodyPr>
          <a:lstStyle/>
          <a:p>
            <a:pPr marL="306070">
              <a:lnSpc>
                <a:spcPct val="100000"/>
              </a:lnSpc>
              <a:spcBef>
                <a:spcPts val="869"/>
              </a:spcBef>
            </a:pPr>
            <a:r>
              <a:rPr sz="1400" spc="-5" dirty="0">
                <a:latin typeface="Arial MT"/>
                <a:cs typeface="Arial MT"/>
              </a:rPr>
              <a:t>Bolt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386575" y="2523300"/>
            <a:ext cx="918844" cy="445770"/>
          </a:xfrm>
          <a:custGeom>
            <a:avLst/>
            <a:gdLst/>
            <a:ahLst/>
            <a:cxnLst/>
            <a:rect l="l" t="t" r="r" b="b"/>
            <a:pathLst>
              <a:path w="918845" h="445769">
                <a:moveTo>
                  <a:pt x="918599" y="445499"/>
                </a:moveTo>
                <a:lnTo>
                  <a:pt x="0" y="445499"/>
                </a:lnTo>
                <a:lnTo>
                  <a:pt x="0" y="0"/>
                </a:lnTo>
                <a:lnTo>
                  <a:pt x="918599" y="0"/>
                </a:lnTo>
                <a:lnTo>
                  <a:pt x="918599" y="445499"/>
                </a:lnTo>
                <a:close/>
              </a:path>
            </a:pathLst>
          </a:custGeom>
          <a:solidFill>
            <a:srgbClr val="63D19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386575" y="2523300"/>
            <a:ext cx="918844" cy="445770"/>
          </a:xfrm>
          <a:prstGeom prst="rect">
            <a:avLst/>
          </a:prstGeom>
          <a:ln w="9524">
            <a:solidFill>
              <a:srgbClr val="4BA173"/>
            </a:solidFill>
          </a:ln>
        </p:spPr>
        <p:txBody>
          <a:bodyPr vert="horz" wrap="square" lIns="0" tIns="110489" rIns="0" bIns="0" rtlCol="0">
            <a:spAutoFit/>
          </a:bodyPr>
          <a:lstStyle/>
          <a:p>
            <a:pPr marL="306070">
              <a:lnSpc>
                <a:spcPct val="100000"/>
              </a:lnSpc>
              <a:spcBef>
                <a:spcPts val="869"/>
              </a:spcBef>
            </a:pPr>
            <a:r>
              <a:rPr sz="1400" spc="-5" dirty="0">
                <a:latin typeface="Arial MT"/>
                <a:cs typeface="Arial MT"/>
              </a:rPr>
              <a:t>Bolt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419724" y="3702779"/>
            <a:ext cx="929640" cy="41275"/>
            <a:chOff x="1419724" y="3702779"/>
            <a:chExt cx="929640" cy="41275"/>
          </a:xfrm>
        </p:grpSpPr>
        <p:sp>
          <p:nvSpPr>
            <p:cNvPr id="11" name="object 11"/>
            <p:cNvSpPr/>
            <p:nvPr/>
          </p:nvSpPr>
          <p:spPr>
            <a:xfrm>
              <a:off x="1419724" y="3723275"/>
              <a:ext cx="881380" cy="0"/>
            </a:xfrm>
            <a:custGeom>
              <a:avLst/>
              <a:gdLst/>
              <a:ahLst/>
              <a:cxnLst/>
              <a:rect l="l" t="t" r="r" b="b"/>
              <a:pathLst>
                <a:path w="881380">
                  <a:moveTo>
                    <a:pt x="0" y="0"/>
                  </a:moveTo>
                  <a:lnTo>
                    <a:pt x="881249" y="0"/>
                  </a:lnTo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300974" y="37075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4BA1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300974" y="37075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1414962" y="2062712"/>
            <a:ext cx="2945765" cy="1665605"/>
            <a:chOff x="1414962" y="2062712"/>
            <a:chExt cx="2945765" cy="1665605"/>
          </a:xfrm>
        </p:grpSpPr>
        <p:sp>
          <p:nvSpPr>
            <p:cNvPr id="15" name="object 15"/>
            <p:cNvSpPr/>
            <p:nvPr/>
          </p:nvSpPr>
          <p:spPr>
            <a:xfrm>
              <a:off x="1419724" y="2086437"/>
              <a:ext cx="913130" cy="322580"/>
            </a:xfrm>
            <a:custGeom>
              <a:avLst/>
              <a:gdLst/>
              <a:ahLst/>
              <a:cxnLst/>
              <a:rect l="l" t="t" r="r" b="b"/>
              <a:pathLst>
                <a:path w="913130" h="322580">
                  <a:moveTo>
                    <a:pt x="0" y="322087"/>
                  </a:moveTo>
                  <a:lnTo>
                    <a:pt x="913005" y="0"/>
                  </a:lnTo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327496" y="2071601"/>
              <a:ext cx="46355" cy="29845"/>
            </a:xfrm>
            <a:custGeom>
              <a:avLst/>
              <a:gdLst/>
              <a:ahLst/>
              <a:cxnLst/>
              <a:rect l="l" t="t" r="r" b="b"/>
              <a:pathLst>
                <a:path w="46355" h="29844">
                  <a:moveTo>
                    <a:pt x="10467" y="29673"/>
                  </a:moveTo>
                  <a:lnTo>
                    <a:pt x="0" y="0"/>
                  </a:lnTo>
                  <a:lnTo>
                    <a:pt x="45997" y="456"/>
                  </a:lnTo>
                  <a:lnTo>
                    <a:pt x="10467" y="29673"/>
                  </a:lnTo>
                  <a:close/>
                </a:path>
              </a:pathLst>
            </a:custGeom>
            <a:solidFill>
              <a:srgbClr val="4BA1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327496" y="2071601"/>
              <a:ext cx="46355" cy="29845"/>
            </a:xfrm>
            <a:custGeom>
              <a:avLst/>
              <a:gdLst/>
              <a:ahLst/>
              <a:cxnLst/>
              <a:rect l="l" t="t" r="r" b="b"/>
              <a:pathLst>
                <a:path w="46355" h="29844">
                  <a:moveTo>
                    <a:pt x="10467" y="29673"/>
                  </a:moveTo>
                  <a:lnTo>
                    <a:pt x="45997" y="456"/>
                  </a:lnTo>
                  <a:lnTo>
                    <a:pt x="0" y="0"/>
                  </a:lnTo>
                  <a:lnTo>
                    <a:pt x="10467" y="29673"/>
                  </a:lnTo>
                  <a:close/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419724" y="2408524"/>
              <a:ext cx="913130" cy="318770"/>
            </a:xfrm>
            <a:custGeom>
              <a:avLst/>
              <a:gdLst/>
              <a:ahLst/>
              <a:cxnLst/>
              <a:rect l="l" t="t" r="r" b="b"/>
              <a:pathLst>
                <a:path w="913130" h="318769">
                  <a:moveTo>
                    <a:pt x="0" y="0"/>
                  </a:moveTo>
                  <a:lnTo>
                    <a:pt x="912942" y="318665"/>
                  </a:lnTo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327482" y="2712337"/>
              <a:ext cx="46355" cy="29845"/>
            </a:xfrm>
            <a:custGeom>
              <a:avLst/>
              <a:gdLst/>
              <a:ahLst/>
              <a:cxnLst/>
              <a:rect l="l" t="t" r="r" b="b"/>
              <a:pathLst>
                <a:path w="46355" h="29844">
                  <a:moveTo>
                    <a:pt x="0" y="29707"/>
                  </a:moveTo>
                  <a:lnTo>
                    <a:pt x="10369" y="0"/>
                  </a:lnTo>
                  <a:lnTo>
                    <a:pt x="45995" y="29099"/>
                  </a:lnTo>
                  <a:lnTo>
                    <a:pt x="0" y="29707"/>
                  </a:lnTo>
                  <a:close/>
                </a:path>
              </a:pathLst>
            </a:custGeom>
            <a:solidFill>
              <a:srgbClr val="4BA1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327482" y="2712337"/>
              <a:ext cx="46355" cy="29845"/>
            </a:xfrm>
            <a:custGeom>
              <a:avLst/>
              <a:gdLst/>
              <a:ahLst/>
              <a:cxnLst/>
              <a:rect l="l" t="t" r="r" b="b"/>
              <a:pathLst>
                <a:path w="46355" h="29844">
                  <a:moveTo>
                    <a:pt x="0" y="29707"/>
                  </a:moveTo>
                  <a:lnTo>
                    <a:pt x="45995" y="29099"/>
                  </a:lnTo>
                  <a:lnTo>
                    <a:pt x="10369" y="0"/>
                  </a:lnTo>
                  <a:lnTo>
                    <a:pt x="0" y="29707"/>
                  </a:lnTo>
                  <a:close/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305175" y="2703473"/>
              <a:ext cx="1003300" cy="43180"/>
            </a:xfrm>
            <a:custGeom>
              <a:avLst/>
              <a:gdLst/>
              <a:ahLst/>
              <a:cxnLst/>
              <a:rect l="l" t="t" r="r" b="b"/>
              <a:pathLst>
                <a:path w="1003300" h="43180">
                  <a:moveTo>
                    <a:pt x="0" y="42576"/>
                  </a:moveTo>
                  <a:lnTo>
                    <a:pt x="1003101" y="0"/>
                  </a:lnTo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307609" y="2687754"/>
              <a:ext cx="44450" cy="31750"/>
            </a:xfrm>
            <a:custGeom>
              <a:avLst/>
              <a:gdLst/>
              <a:ahLst/>
              <a:cxnLst/>
              <a:rect l="l" t="t" r="r" b="b"/>
              <a:pathLst>
                <a:path w="44450" h="31750">
                  <a:moveTo>
                    <a:pt x="1334" y="31437"/>
                  </a:moveTo>
                  <a:lnTo>
                    <a:pt x="0" y="0"/>
                  </a:lnTo>
                  <a:lnTo>
                    <a:pt x="43853" y="13885"/>
                  </a:lnTo>
                  <a:lnTo>
                    <a:pt x="1334" y="31437"/>
                  </a:lnTo>
                  <a:close/>
                </a:path>
              </a:pathLst>
            </a:custGeom>
            <a:solidFill>
              <a:srgbClr val="4BA1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307609" y="2687754"/>
              <a:ext cx="44450" cy="31750"/>
            </a:xfrm>
            <a:custGeom>
              <a:avLst/>
              <a:gdLst/>
              <a:ahLst/>
              <a:cxnLst/>
              <a:rect l="l" t="t" r="r" b="b"/>
              <a:pathLst>
                <a:path w="44450" h="31750">
                  <a:moveTo>
                    <a:pt x="1334" y="31437"/>
                  </a:moveTo>
                  <a:lnTo>
                    <a:pt x="43853" y="13885"/>
                  </a:lnTo>
                  <a:lnTo>
                    <a:pt x="0" y="0"/>
                  </a:lnTo>
                  <a:lnTo>
                    <a:pt x="1334" y="31437"/>
                  </a:lnTo>
                  <a:close/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276600" y="2739991"/>
              <a:ext cx="1047750" cy="983615"/>
            </a:xfrm>
            <a:custGeom>
              <a:avLst/>
              <a:gdLst/>
              <a:ahLst/>
              <a:cxnLst/>
              <a:rect l="l" t="t" r="r" b="b"/>
              <a:pathLst>
                <a:path w="1047750" h="983614">
                  <a:moveTo>
                    <a:pt x="0" y="983282"/>
                  </a:moveTo>
                  <a:lnTo>
                    <a:pt x="1047334" y="0"/>
                  </a:lnTo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313166" y="2710405"/>
              <a:ext cx="42545" cy="41275"/>
            </a:xfrm>
            <a:custGeom>
              <a:avLst/>
              <a:gdLst/>
              <a:ahLst/>
              <a:cxnLst/>
              <a:rect l="l" t="t" r="r" b="b"/>
              <a:pathLst>
                <a:path w="42545" h="41275">
                  <a:moveTo>
                    <a:pt x="21536" y="41056"/>
                  </a:moveTo>
                  <a:lnTo>
                    <a:pt x="0" y="18116"/>
                  </a:lnTo>
                  <a:lnTo>
                    <a:pt x="42281" y="0"/>
                  </a:lnTo>
                  <a:lnTo>
                    <a:pt x="21536" y="41056"/>
                  </a:lnTo>
                  <a:close/>
                </a:path>
              </a:pathLst>
            </a:custGeom>
            <a:solidFill>
              <a:srgbClr val="4BA1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313166" y="2710405"/>
              <a:ext cx="42545" cy="41275"/>
            </a:xfrm>
            <a:custGeom>
              <a:avLst/>
              <a:gdLst/>
              <a:ahLst/>
              <a:cxnLst/>
              <a:rect l="l" t="t" r="r" b="b"/>
              <a:pathLst>
                <a:path w="42545" h="41275">
                  <a:moveTo>
                    <a:pt x="21536" y="41056"/>
                  </a:moveTo>
                  <a:lnTo>
                    <a:pt x="42281" y="0"/>
                  </a:lnTo>
                  <a:lnTo>
                    <a:pt x="0" y="18116"/>
                  </a:lnTo>
                  <a:lnTo>
                    <a:pt x="21536" y="41056"/>
                  </a:lnTo>
                  <a:close/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305175" y="2067474"/>
              <a:ext cx="1011555" cy="604520"/>
            </a:xfrm>
            <a:custGeom>
              <a:avLst/>
              <a:gdLst/>
              <a:ahLst/>
              <a:cxnLst/>
              <a:rect l="l" t="t" r="r" b="b"/>
              <a:pathLst>
                <a:path w="1011554" h="604519">
                  <a:moveTo>
                    <a:pt x="0" y="0"/>
                  </a:moveTo>
                  <a:lnTo>
                    <a:pt x="1011136" y="603992"/>
                  </a:lnTo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308243" y="2657961"/>
              <a:ext cx="45720" cy="36195"/>
            </a:xfrm>
            <a:custGeom>
              <a:avLst/>
              <a:gdLst/>
              <a:ahLst/>
              <a:cxnLst/>
              <a:rect l="l" t="t" r="r" b="b"/>
              <a:pathLst>
                <a:path w="45720" h="36194">
                  <a:moveTo>
                    <a:pt x="45176" y="35673"/>
                  </a:moveTo>
                  <a:lnTo>
                    <a:pt x="0" y="27013"/>
                  </a:lnTo>
                  <a:lnTo>
                    <a:pt x="16135" y="0"/>
                  </a:lnTo>
                  <a:lnTo>
                    <a:pt x="45176" y="35673"/>
                  </a:lnTo>
                  <a:close/>
                </a:path>
              </a:pathLst>
            </a:custGeom>
            <a:solidFill>
              <a:srgbClr val="4BA1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308243" y="2657961"/>
              <a:ext cx="45720" cy="36195"/>
            </a:xfrm>
            <a:custGeom>
              <a:avLst/>
              <a:gdLst/>
              <a:ahLst/>
              <a:cxnLst/>
              <a:rect l="l" t="t" r="r" b="b"/>
              <a:pathLst>
                <a:path w="45720" h="36194">
                  <a:moveTo>
                    <a:pt x="0" y="27013"/>
                  </a:moveTo>
                  <a:lnTo>
                    <a:pt x="45176" y="35673"/>
                  </a:lnTo>
                  <a:lnTo>
                    <a:pt x="16135" y="0"/>
                  </a:lnTo>
                  <a:lnTo>
                    <a:pt x="0" y="27013"/>
                  </a:lnTo>
                  <a:close/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" name="object 30"/>
          <p:cNvGrpSpPr/>
          <p:nvPr/>
        </p:nvGrpSpPr>
        <p:grpSpPr>
          <a:xfrm>
            <a:off x="6339662" y="2358637"/>
            <a:ext cx="1069975" cy="684530"/>
            <a:chOff x="6339662" y="2358637"/>
            <a:chExt cx="1069975" cy="684530"/>
          </a:xfrm>
        </p:grpSpPr>
        <p:sp>
          <p:nvSpPr>
            <p:cNvPr id="31" name="object 31"/>
            <p:cNvSpPr/>
            <p:nvPr/>
          </p:nvSpPr>
          <p:spPr>
            <a:xfrm>
              <a:off x="6344425" y="2447774"/>
              <a:ext cx="1060450" cy="591185"/>
            </a:xfrm>
            <a:custGeom>
              <a:avLst/>
              <a:gdLst/>
              <a:ahLst/>
              <a:cxnLst/>
              <a:rect l="l" t="t" r="r" b="b"/>
              <a:pathLst>
                <a:path w="1060450" h="591185">
                  <a:moveTo>
                    <a:pt x="530099" y="590624"/>
                  </a:moveTo>
                  <a:lnTo>
                    <a:pt x="451765" y="589710"/>
                  </a:lnTo>
                  <a:lnTo>
                    <a:pt x="376999" y="587052"/>
                  </a:lnTo>
                  <a:lnTo>
                    <a:pt x="306623" y="582782"/>
                  </a:lnTo>
                  <a:lnTo>
                    <a:pt x="241454" y="577031"/>
                  </a:lnTo>
                  <a:lnTo>
                    <a:pt x="182315" y="569929"/>
                  </a:lnTo>
                  <a:lnTo>
                    <a:pt x="130024" y="561606"/>
                  </a:lnTo>
                  <a:lnTo>
                    <a:pt x="85402" y="552193"/>
                  </a:lnTo>
                  <a:lnTo>
                    <a:pt x="22443" y="530618"/>
                  </a:lnTo>
                  <a:lnTo>
                    <a:pt x="0" y="506249"/>
                  </a:lnTo>
                  <a:lnTo>
                    <a:pt x="0" y="0"/>
                  </a:lnTo>
                  <a:lnTo>
                    <a:pt x="5747" y="12468"/>
                  </a:lnTo>
                  <a:lnTo>
                    <a:pt x="22443" y="24368"/>
                  </a:lnTo>
                  <a:lnTo>
                    <a:pt x="85402" y="45943"/>
                  </a:lnTo>
                  <a:lnTo>
                    <a:pt x="130024" y="55356"/>
                  </a:lnTo>
                  <a:lnTo>
                    <a:pt x="182315" y="63679"/>
                  </a:lnTo>
                  <a:lnTo>
                    <a:pt x="241454" y="70781"/>
                  </a:lnTo>
                  <a:lnTo>
                    <a:pt x="306623" y="76532"/>
                  </a:lnTo>
                  <a:lnTo>
                    <a:pt x="376999" y="80802"/>
                  </a:lnTo>
                  <a:lnTo>
                    <a:pt x="451765" y="83460"/>
                  </a:lnTo>
                  <a:lnTo>
                    <a:pt x="530099" y="84374"/>
                  </a:lnTo>
                  <a:lnTo>
                    <a:pt x="608434" y="83460"/>
                  </a:lnTo>
                  <a:lnTo>
                    <a:pt x="683200" y="80802"/>
                  </a:lnTo>
                  <a:lnTo>
                    <a:pt x="753576" y="76532"/>
                  </a:lnTo>
                  <a:lnTo>
                    <a:pt x="818745" y="70781"/>
                  </a:lnTo>
                  <a:lnTo>
                    <a:pt x="877884" y="63679"/>
                  </a:lnTo>
                  <a:lnTo>
                    <a:pt x="930175" y="55356"/>
                  </a:lnTo>
                  <a:lnTo>
                    <a:pt x="974797" y="45943"/>
                  </a:lnTo>
                  <a:lnTo>
                    <a:pt x="1037756" y="24368"/>
                  </a:lnTo>
                  <a:lnTo>
                    <a:pt x="1060199" y="0"/>
                  </a:lnTo>
                  <a:lnTo>
                    <a:pt x="1060199" y="506249"/>
                  </a:lnTo>
                  <a:lnTo>
                    <a:pt x="1010931" y="541820"/>
                  </a:lnTo>
                  <a:lnTo>
                    <a:pt x="930175" y="561606"/>
                  </a:lnTo>
                  <a:lnTo>
                    <a:pt x="877884" y="569929"/>
                  </a:lnTo>
                  <a:lnTo>
                    <a:pt x="818745" y="577031"/>
                  </a:lnTo>
                  <a:lnTo>
                    <a:pt x="753576" y="582782"/>
                  </a:lnTo>
                  <a:lnTo>
                    <a:pt x="683200" y="587052"/>
                  </a:lnTo>
                  <a:lnTo>
                    <a:pt x="608434" y="589710"/>
                  </a:lnTo>
                  <a:lnTo>
                    <a:pt x="530099" y="590624"/>
                  </a:lnTo>
                  <a:close/>
                </a:path>
              </a:pathLst>
            </a:custGeom>
            <a:solidFill>
              <a:srgbClr val="63D1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344425" y="2363399"/>
              <a:ext cx="1060450" cy="168910"/>
            </a:xfrm>
            <a:custGeom>
              <a:avLst/>
              <a:gdLst/>
              <a:ahLst/>
              <a:cxnLst/>
              <a:rect l="l" t="t" r="r" b="b"/>
              <a:pathLst>
                <a:path w="1060450" h="168910">
                  <a:moveTo>
                    <a:pt x="530099" y="168749"/>
                  </a:moveTo>
                  <a:lnTo>
                    <a:pt x="451765" y="167835"/>
                  </a:lnTo>
                  <a:lnTo>
                    <a:pt x="376999" y="165177"/>
                  </a:lnTo>
                  <a:lnTo>
                    <a:pt x="306623" y="160907"/>
                  </a:lnTo>
                  <a:lnTo>
                    <a:pt x="241454" y="155156"/>
                  </a:lnTo>
                  <a:lnTo>
                    <a:pt x="182315" y="148054"/>
                  </a:lnTo>
                  <a:lnTo>
                    <a:pt x="130024" y="139731"/>
                  </a:lnTo>
                  <a:lnTo>
                    <a:pt x="85402" y="130318"/>
                  </a:lnTo>
                  <a:lnTo>
                    <a:pt x="22443" y="108743"/>
                  </a:lnTo>
                  <a:lnTo>
                    <a:pt x="0" y="84374"/>
                  </a:lnTo>
                  <a:lnTo>
                    <a:pt x="5747" y="71906"/>
                  </a:lnTo>
                  <a:lnTo>
                    <a:pt x="49268" y="48804"/>
                  </a:lnTo>
                  <a:lnTo>
                    <a:pt x="130024" y="29018"/>
                  </a:lnTo>
                  <a:lnTo>
                    <a:pt x="182315" y="20695"/>
                  </a:lnTo>
                  <a:lnTo>
                    <a:pt x="241454" y="13593"/>
                  </a:lnTo>
                  <a:lnTo>
                    <a:pt x="306623" y="7842"/>
                  </a:lnTo>
                  <a:lnTo>
                    <a:pt x="376999" y="3572"/>
                  </a:lnTo>
                  <a:lnTo>
                    <a:pt x="451765" y="914"/>
                  </a:lnTo>
                  <a:lnTo>
                    <a:pt x="530099" y="0"/>
                  </a:lnTo>
                  <a:lnTo>
                    <a:pt x="608434" y="914"/>
                  </a:lnTo>
                  <a:lnTo>
                    <a:pt x="683200" y="3572"/>
                  </a:lnTo>
                  <a:lnTo>
                    <a:pt x="753576" y="7842"/>
                  </a:lnTo>
                  <a:lnTo>
                    <a:pt x="818745" y="13593"/>
                  </a:lnTo>
                  <a:lnTo>
                    <a:pt x="877884" y="20695"/>
                  </a:lnTo>
                  <a:lnTo>
                    <a:pt x="930175" y="29018"/>
                  </a:lnTo>
                  <a:lnTo>
                    <a:pt x="974797" y="38431"/>
                  </a:lnTo>
                  <a:lnTo>
                    <a:pt x="1037756" y="60006"/>
                  </a:lnTo>
                  <a:lnTo>
                    <a:pt x="1060199" y="84374"/>
                  </a:lnTo>
                  <a:lnTo>
                    <a:pt x="1054452" y="96843"/>
                  </a:lnTo>
                  <a:lnTo>
                    <a:pt x="1010931" y="119945"/>
                  </a:lnTo>
                  <a:lnTo>
                    <a:pt x="930175" y="139731"/>
                  </a:lnTo>
                  <a:lnTo>
                    <a:pt x="877884" y="148054"/>
                  </a:lnTo>
                  <a:lnTo>
                    <a:pt x="818745" y="155156"/>
                  </a:lnTo>
                  <a:lnTo>
                    <a:pt x="753576" y="160907"/>
                  </a:lnTo>
                  <a:lnTo>
                    <a:pt x="683200" y="165177"/>
                  </a:lnTo>
                  <a:lnTo>
                    <a:pt x="608434" y="167835"/>
                  </a:lnTo>
                  <a:lnTo>
                    <a:pt x="530099" y="168749"/>
                  </a:lnTo>
                  <a:close/>
                </a:path>
              </a:pathLst>
            </a:custGeom>
            <a:solidFill>
              <a:srgbClr val="A1E4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344425" y="2363399"/>
              <a:ext cx="1060450" cy="675005"/>
            </a:xfrm>
            <a:custGeom>
              <a:avLst/>
              <a:gdLst/>
              <a:ahLst/>
              <a:cxnLst/>
              <a:rect l="l" t="t" r="r" b="b"/>
              <a:pathLst>
                <a:path w="1060450" h="675005">
                  <a:moveTo>
                    <a:pt x="1060199" y="84374"/>
                  </a:moveTo>
                  <a:lnTo>
                    <a:pt x="1054452" y="96843"/>
                  </a:lnTo>
                  <a:lnTo>
                    <a:pt x="1037756" y="108743"/>
                  </a:lnTo>
                  <a:lnTo>
                    <a:pt x="974797" y="130318"/>
                  </a:lnTo>
                  <a:lnTo>
                    <a:pt x="930175" y="139731"/>
                  </a:lnTo>
                  <a:lnTo>
                    <a:pt x="877884" y="148054"/>
                  </a:lnTo>
                  <a:lnTo>
                    <a:pt x="818745" y="155156"/>
                  </a:lnTo>
                  <a:lnTo>
                    <a:pt x="753576" y="160907"/>
                  </a:lnTo>
                  <a:lnTo>
                    <a:pt x="683200" y="165177"/>
                  </a:lnTo>
                  <a:lnTo>
                    <a:pt x="608434" y="167835"/>
                  </a:lnTo>
                  <a:lnTo>
                    <a:pt x="530099" y="168749"/>
                  </a:lnTo>
                  <a:lnTo>
                    <a:pt x="451765" y="167835"/>
                  </a:lnTo>
                  <a:lnTo>
                    <a:pt x="376999" y="165177"/>
                  </a:lnTo>
                  <a:lnTo>
                    <a:pt x="306623" y="160907"/>
                  </a:lnTo>
                  <a:lnTo>
                    <a:pt x="241454" y="155156"/>
                  </a:lnTo>
                  <a:lnTo>
                    <a:pt x="182315" y="148054"/>
                  </a:lnTo>
                  <a:lnTo>
                    <a:pt x="130024" y="139731"/>
                  </a:lnTo>
                  <a:lnTo>
                    <a:pt x="85402" y="130318"/>
                  </a:lnTo>
                  <a:lnTo>
                    <a:pt x="22443" y="108743"/>
                  </a:lnTo>
                  <a:lnTo>
                    <a:pt x="0" y="84374"/>
                  </a:lnTo>
                  <a:lnTo>
                    <a:pt x="49268" y="48804"/>
                  </a:lnTo>
                  <a:lnTo>
                    <a:pt x="130024" y="29018"/>
                  </a:lnTo>
                  <a:lnTo>
                    <a:pt x="182315" y="20695"/>
                  </a:lnTo>
                  <a:lnTo>
                    <a:pt x="241454" y="13593"/>
                  </a:lnTo>
                  <a:lnTo>
                    <a:pt x="306623" y="7842"/>
                  </a:lnTo>
                  <a:lnTo>
                    <a:pt x="376999" y="3572"/>
                  </a:lnTo>
                  <a:lnTo>
                    <a:pt x="451765" y="914"/>
                  </a:lnTo>
                  <a:lnTo>
                    <a:pt x="530099" y="0"/>
                  </a:lnTo>
                  <a:lnTo>
                    <a:pt x="608434" y="914"/>
                  </a:lnTo>
                  <a:lnTo>
                    <a:pt x="683200" y="3572"/>
                  </a:lnTo>
                  <a:lnTo>
                    <a:pt x="753576" y="7842"/>
                  </a:lnTo>
                  <a:lnTo>
                    <a:pt x="818745" y="13593"/>
                  </a:lnTo>
                  <a:lnTo>
                    <a:pt x="877884" y="20695"/>
                  </a:lnTo>
                  <a:lnTo>
                    <a:pt x="930175" y="29018"/>
                  </a:lnTo>
                  <a:lnTo>
                    <a:pt x="974797" y="38431"/>
                  </a:lnTo>
                  <a:lnTo>
                    <a:pt x="1037756" y="60006"/>
                  </a:lnTo>
                  <a:lnTo>
                    <a:pt x="1060199" y="84374"/>
                  </a:lnTo>
                  <a:lnTo>
                    <a:pt x="1060199" y="590624"/>
                  </a:lnTo>
                  <a:lnTo>
                    <a:pt x="1010931" y="626195"/>
                  </a:lnTo>
                  <a:lnTo>
                    <a:pt x="930175" y="645981"/>
                  </a:lnTo>
                  <a:lnTo>
                    <a:pt x="877884" y="654304"/>
                  </a:lnTo>
                  <a:lnTo>
                    <a:pt x="818745" y="661406"/>
                  </a:lnTo>
                  <a:lnTo>
                    <a:pt x="753576" y="667157"/>
                  </a:lnTo>
                  <a:lnTo>
                    <a:pt x="683200" y="671427"/>
                  </a:lnTo>
                  <a:lnTo>
                    <a:pt x="608434" y="674085"/>
                  </a:lnTo>
                  <a:lnTo>
                    <a:pt x="530099" y="674999"/>
                  </a:lnTo>
                  <a:lnTo>
                    <a:pt x="451765" y="674085"/>
                  </a:lnTo>
                  <a:lnTo>
                    <a:pt x="376999" y="671427"/>
                  </a:lnTo>
                  <a:lnTo>
                    <a:pt x="306623" y="667157"/>
                  </a:lnTo>
                  <a:lnTo>
                    <a:pt x="241454" y="661406"/>
                  </a:lnTo>
                  <a:lnTo>
                    <a:pt x="182315" y="654304"/>
                  </a:lnTo>
                  <a:lnTo>
                    <a:pt x="130024" y="645981"/>
                  </a:lnTo>
                  <a:lnTo>
                    <a:pt x="85402" y="636568"/>
                  </a:lnTo>
                  <a:lnTo>
                    <a:pt x="22443" y="614993"/>
                  </a:lnTo>
                  <a:lnTo>
                    <a:pt x="0" y="590624"/>
                  </a:lnTo>
                  <a:lnTo>
                    <a:pt x="0" y="84374"/>
                  </a:lnTo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6595100" y="2618500"/>
            <a:ext cx="5588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MT"/>
                <a:cs typeface="Arial MT"/>
              </a:rPr>
              <a:t>Output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5284099" y="2680404"/>
            <a:ext cx="1051560" cy="41275"/>
            <a:chOff x="5284099" y="2680404"/>
            <a:chExt cx="1051560" cy="41275"/>
          </a:xfrm>
        </p:grpSpPr>
        <p:sp>
          <p:nvSpPr>
            <p:cNvPr id="36" name="object 36"/>
            <p:cNvSpPr/>
            <p:nvPr/>
          </p:nvSpPr>
          <p:spPr>
            <a:xfrm>
              <a:off x="5284099" y="2700900"/>
              <a:ext cx="1003300" cy="0"/>
            </a:xfrm>
            <a:custGeom>
              <a:avLst/>
              <a:gdLst/>
              <a:ahLst/>
              <a:cxnLst/>
              <a:rect l="l" t="t" r="r" b="b"/>
              <a:pathLst>
                <a:path w="1003300">
                  <a:moveTo>
                    <a:pt x="0" y="0"/>
                  </a:moveTo>
                  <a:lnTo>
                    <a:pt x="1003049" y="0"/>
                  </a:lnTo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287149" y="26851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4BA1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287149" y="26851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1646000" y="2007585"/>
            <a:ext cx="35242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5" dirty="0">
                <a:latin typeface="Arial MT"/>
                <a:cs typeface="Arial MT"/>
              </a:rPr>
              <a:t>Stream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646000" y="2600736"/>
            <a:ext cx="35242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5" dirty="0">
                <a:latin typeface="Arial MT"/>
                <a:cs typeface="Arial MT"/>
              </a:rPr>
              <a:t>Stream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646000" y="3722635"/>
            <a:ext cx="35242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5" dirty="0">
                <a:latin typeface="Arial MT"/>
                <a:cs typeface="Arial MT"/>
              </a:rPr>
              <a:t>Stream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91550" y="1244346"/>
            <a:ext cx="130937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solidFill>
                  <a:srgbClr val="666666"/>
                </a:solidFill>
                <a:latin typeface="Arial MT"/>
                <a:cs typeface="Arial MT"/>
              </a:rPr>
              <a:t>Apache</a:t>
            </a:r>
            <a:r>
              <a:rPr sz="1600" spc="-80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666666"/>
                </a:solidFill>
                <a:latin typeface="Arial MT"/>
                <a:cs typeface="Arial MT"/>
              </a:rPr>
              <a:t>Storm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58940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40" dirty="0">
                <a:solidFill>
                  <a:srgbClr val="202729"/>
                </a:solidFill>
              </a:rPr>
              <a:t>Spark</a:t>
            </a:r>
            <a:r>
              <a:rPr sz="2800" spc="-125" dirty="0">
                <a:solidFill>
                  <a:srgbClr val="202729"/>
                </a:solidFill>
              </a:rPr>
              <a:t> </a:t>
            </a:r>
            <a:r>
              <a:rPr sz="2800" spc="80" dirty="0">
                <a:solidFill>
                  <a:srgbClr val="202729"/>
                </a:solidFill>
              </a:rPr>
              <a:t>Looks</a:t>
            </a:r>
            <a:r>
              <a:rPr sz="2800" spc="-125" dirty="0">
                <a:solidFill>
                  <a:srgbClr val="202729"/>
                </a:solidFill>
              </a:rPr>
              <a:t> </a:t>
            </a:r>
            <a:r>
              <a:rPr sz="2800" dirty="0">
                <a:solidFill>
                  <a:srgbClr val="202729"/>
                </a:solidFill>
              </a:rPr>
              <a:t>a</a:t>
            </a:r>
            <a:r>
              <a:rPr sz="2800" spc="-125" dirty="0">
                <a:solidFill>
                  <a:srgbClr val="202729"/>
                </a:solidFill>
              </a:rPr>
              <a:t> </a:t>
            </a:r>
            <a:r>
              <a:rPr sz="2800" spc="-130" dirty="0">
                <a:solidFill>
                  <a:srgbClr val="202729"/>
                </a:solidFill>
              </a:rPr>
              <a:t>lot</a:t>
            </a:r>
            <a:r>
              <a:rPr sz="2800" spc="-125" dirty="0">
                <a:solidFill>
                  <a:srgbClr val="202729"/>
                </a:solidFill>
              </a:rPr>
              <a:t> </a:t>
            </a:r>
            <a:r>
              <a:rPr sz="2800" spc="-75" dirty="0">
                <a:solidFill>
                  <a:srgbClr val="202729"/>
                </a:solidFill>
              </a:rPr>
              <a:t>like</a:t>
            </a:r>
            <a:r>
              <a:rPr sz="2800" spc="-125" dirty="0">
                <a:solidFill>
                  <a:srgbClr val="202729"/>
                </a:solidFill>
              </a:rPr>
              <a:t> </a:t>
            </a:r>
            <a:r>
              <a:rPr sz="2800" spc="50" dirty="0">
                <a:solidFill>
                  <a:srgbClr val="202729"/>
                </a:solidFill>
              </a:rPr>
              <a:t>Apache</a:t>
            </a:r>
            <a:r>
              <a:rPr sz="2800" spc="-125" dirty="0">
                <a:solidFill>
                  <a:srgbClr val="202729"/>
                </a:solidFill>
              </a:rPr>
              <a:t> </a:t>
            </a:r>
            <a:r>
              <a:rPr sz="2800" spc="-160" dirty="0">
                <a:solidFill>
                  <a:srgbClr val="202729"/>
                </a:solidFill>
              </a:rPr>
              <a:t>Storm...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452875" y="2185774"/>
            <a:ext cx="967105" cy="445770"/>
          </a:xfrm>
          <a:prstGeom prst="rect">
            <a:avLst/>
          </a:prstGeom>
          <a:solidFill>
            <a:srgbClr val="63D197"/>
          </a:solidFill>
          <a:ln w="9524">
            <a:solidFill>
              <a:srgbClr val="4BA173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L="117475" marR="111760" indent="177165">
              <a:lnSpc>
                <a:spcPts val="1650"/>
              </a:lnSpc>
              <a:spcBef>
                <a:spcPts val="125"/>
              </a:spcBef>
            </a:pPr>
            <a:r>
              <a:rPr sz="1400" spc="-5" dirty="0">
                <a:latin typeface="Arial MT"/>
                <a:cs typeface="Arial MT"/>
              </a:rPr>
              <a:t>Data 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Sourc</a:t>
            </a:r>
            <a:r>
              <a:rPr sz="1400" dirty="0">
                <a:latin typeface="Arial MT"/>
                <a:cs typeface="Arial MT"/>
              </a:rPr>
              <a:t>e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86575" y="1844724"/>
            <a:ext cx="918844" cy="445770"/>
          </a:xfrm>
          <a:prstGeom prst="rect">
            <a:avLst/>
          </a:prstGeom>
          <a:solidFill>
            <a:srgbClr val="63D197"/>
          </a:solidFill>
          <a:ln w="9524">
            <a:solidFill>
              <a:srgbClr val="4BA173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1050">
              <a:latin typeface="Times New Roman"/>
              <a:cs typeface="Times New Roman"/>
            </a:endParaRPr>
          </a:p>
          <a:p>
            <a:pPr marL="117475">
              <a:lnSpc>
                <a:spcPct val="100000"/>
              </a:lnSpc>
            </a:pPr>
            <a:r>
              <a:rPr sz="800" spc="-5" dirty="0">
                <a:latin typeface="Arial MT"/>
                <a:cs typeface="Arial MT"/>
              </a:rPr>
              <a:t>Transformation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58000" y="3500525"/>
            <a:ext cx="918844" cy="445770"/>
          </a:xfrm>
          <a:prstGeom prst="rect">
            <a:avLst/>
          </a:prstGeom>
          <a:solidFill>
            <a:srgbClr val="63D197"/>
          </a:solidFill>
          <a:ln w="9524">
            <a:solidFill>
              <a:srgbClr val="4BA173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1050">
              <a:latin typeface="Times New Roman"/>
              <a:cs typeface="Times New Roman"/>
            </a:endParaRPr>
          </a:p>
          <a:p>
            <a:pPr marL="117475">
              <a:lnSpc>
                <a:spcPct val="100000"/>
              </a:lnSpc>
            </a:pPr>
            <a:r>
              <a:rPr sz="800" spc="-5" dirty="0">
                <a:latin typeface="Arial MT"/>
                <a:cs typeface="Arial MT"/>
              </a:rPr>
              <a:t>Transformation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65499" y="2478149"/>
            <a:ext cx="918844" cy="445770"/>
          </a:xfrm>
          <a:prstGeom prst="rect">
            <a:avLst/>
          </a:prstGeom>
          <a:solidFill>
            <a:srgbClr val="63D197"/>
          </a:solidFill>
          <a:ln w="9524">
            <a:solidFill>
              <a:srgbClr val="4BA173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1050">
              <a:latin typeface="Times New Roman"/>
              <a:cs typeface="Times New Roman"/>
            </a:endParaRPr>
          </a:p>
          <a:p>
            <a:pPr marL="117475">
              <a:lnSpc>
                <a:spcPct val="100000"/>
              </a:lnSpc>
            </a:pPr>
            <a:r>
              <a:rPr sz="800" spc="-5" dirty="0">
                <a:latin typeface="Arial MT"/>
                <a:cs typeface="Arial MT"/>
              </a:rPr>
              <a:t>Transformation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386575" y="2523300"/>
            <a:ext cx="918844" cy="445770"/>
          </a:xfrm>
          <a:custGeom>
            <a:avLst/>
            <a:gdLst/>
            <a:ahLst/>
            <a:cxnLst/>
            <a:rect l="l" t="t" r="r" b="b"/>
            <a:pathLst>
              <a:path w="918845" h="445769">
                <a:moveTo>
                  <a:pt x="918599" y="445499"/>
                </a:moveTo>
                <a:lnTo>
                  <a:pt x="0" y="445499"/>
                </a:lnTo>
                <a:lnTo>
                  <a:pt x="0" y="0"/>
                </a:lnTo>
                <a:lnTo>
                  <a:pt x="918599" y="0"/>
                </a:lnTo>
                <a:lnTo>
                  <a:pt x="918599" y="445499"/>
                </a:lnTo>
                <a:close/>
              </a:path>
            </a:pathLst>
          </a:custGeom>
          <a:solidFill>
            <a:srgbClr val="63D19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386575" y="2523300"/>
            <a:ext cx="918844" cy="445770"/>
          </a:xfrm>
          <a:prstGeom prst="rect">
            <a:avLst/>
          </a:prstGeom>
          <a:ln w="9524">
            <a:solidFill>
              <a:srgbClr val="4BA173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1050">
              <a:latin typeface="Times New Roman"/>
              <a:cs typeface="Times New Roman"/>
            </a:endParaRPr>
          </a:p>
          <a:p>
            <a:pPr marL="117475">
              <a:lnSpc>
                <a:spcPct val="100000"/>
              </a:lnSpc>
            </a:pPr>
            <a:r>
              <a:rPr sz="800" spc="-5" dirty="0">
                <a:latin typeface="Arial MT"/>
                <a:cs typeface="Arial MT"/>
              </a:rPr>
              <a:t>Transformation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419599" y="3702779"/>
            <a:ext cx="929640" cy="41275"/>
            <a:chOff x="1419599" y="3702779"/>
            <a:chExt cx="929640" cy="41275"/>
          </a:xfrm>
        </p:grpSpPr>
        <p:sp>
          <p:nvSpPr>
            <p:cNvPr id="10" name="object 10"/>
            <p:cNvSpPr/>
            <p:nvPr/>
          </p:nvSpPr>
          <p:spPr>
            <a:xfrm>
              <a:off x="1419599" y="3723275"/>
              <a:ext cx="881380" cy="0"/>
            </a:xfrm>
            <a:custGeom>
              <a:avLst/>
              <a:gdLst/>
              <a:ahLst/>
              <a:cxnLst/>
              <a:rect l="l" t="t" r="r" b="b"/>
              <a:pathLst>
                <a:path w="881380">
                  <a:moveTo>
                    <a:pt x="0" y="0"/>
                  </a:moveTo>
                  <a:lnTo>
                    <a:pt x="881249" y="0"/>
                  </a:lnTo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300849" y="37075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4BA1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300849" y="37075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1415012" y="2062712"/>
            <a:ext cx="2945765" cy="1665605"/>
            <a:chOff x="1415012" y="2062712"/>
            <a:chExt cx="2945765" cy="1665605"/>
          </a:xfrm>
        </p:grpSpPr>
        <p:sp>
          <p:nvSpPr>
            <p:cNvPr id="14" name="object 14"/>
            <p:cNvSpPr/>
            <p:nvPr/>
          </p:nvSpPr>
          <p:spPr>
            <a:xfrm>
              <a:off x="1419774" y="2086437"/>
              <a:ext cx="913130" cy="322580"/>
            </a:xfrm>
            <a:custGeom>
              <a:avLst/>
              <a:gdLst/>
              <a:ahLst/>
              <a:cxnLst/>
              <a:rect l="l" t="t" r="r" b="b"/>
              <a:pathLst>
                <a:path w="913130" h="322580">
                  <a:moveTo>
                    <a:pt x="0" y="322087"/>
                  </a:moveTo>
                  <a:lnTo>
                    <a:pt x="913005" y="0"/>
                  </a:lnTo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327546" y="2071601"/>
              <a:ext cx="46355" cy="29845"/>
            </a:xfrm>
            <a:custGeom>
              <a:avLst/>
              <a:gdLst/>
              <a:ahLst/>
              <a:cxnLst/>
              <a:rect l="l" t="t" r="r" b="b"/>
              <a:pathLst>
                <a:path w="46355" h="29844">
                  <a:moveTo>
                    <a:pt x="10467" y="29673"/>
                  </a:moveTo>
                  <a:lnTo>
                    <a:pt x="0" y="0"/>
                  </a:lnTo>
                  <a:lnTo>
                    <a:pt x="45997" y="456"/>
                  </a:lnTo>
                  <a:lnTo>
                    <a:pt x="10467" y="29673"/>
                  </a:lnTo>
                  <a:close/>
                </a:path>
              </a:pathLst>
            </a:custGeom>
            <a:solidFill>
              <a:srgbClr val="4BA1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327546" y="2071601"/>
              <a:ext cx="46355" cy="29845"/>
            </a:xfrm>
            <a:custGeom>
              <a:avLst/>
              <a:gdLst/>
              <a:ahLst/>
              <a:cxnLst/>
              <a:rect l="l" t="t" r="r" b="b"/>
              <a:pathLst>
                <a:path w="46355" h="29844">
                  <a:moveTo>
                    <a:pt x="10467" y="29673"/>
                  </a:moveTo>
                  <a:lnTo>
                    <a:pt x="45997" y="456"/>
                  </a:lnTo>
                  <a:lnTo>
                    <a:pt x="0" y="0"/>
                  </a:lnTo>
                  <a:lnTo>
                    <a:pt x="10467" y="29673"/>
                  </a:lnTo>
                  <a:close/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419774" y="2408524"/>
              <a:ext cx="913130" cy="318770"/>
            </a:xfrm>
            <a:custGeom>
              <a:avLst/>
              <a:gdLst/>
              <a:ahLst/>
              <a:cxnLst/>
              <a:rect l="l" t="t" r="r" b="b"/>
              <a:pathLst>
                <a:path w="913130" h="318769">
                  <a:moveTo>
                    <a:pt x="0" y="0"/>
                  </a:moveTo>
                  <a:lnTo>
                    <a:pt x="912942" y="318665"/>
                  </a:lnTo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327532" y="2712337"/>
              <a:ext cx="46355" cy="29845"/>
            </a:xfrm>
            <a:custGeom>
              <a:avLst/>
              <a:gdLst/>
              <a:ahLst/>
              <a:cxnLst/>
              <a:rect l="l" t="t" r="r" b="b"/>
              <a:pathLst>
                <a:path w="46355" h="29844">
                  <a:moveTo>
                    <a:pt x="0" y="29707"/>
                  </a:moveTo>
                  <a:lnTo>
                    <a:pt x="10369" y="0"/>
                  </a:lnTo>
                  <a:lnTo>
                    <a:pt x="45995" y="29099"/>
                  </a:lnTo>
                  <a:lnTo>
                    <a:pt x="0" y="29707"/>
                  </a:lnTo>
                  <a:close/>
                </a:path>
              </a:pathLst>
            </a:custGeom>
            <a:solidFill>
              <a:srgbClr val="4BA1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327532" y="2712337"/>
              <a:ext cx="46355" cy="29845"/>
            </a:xfrm>
            <a:custGeom>
              <a:avLst/>
              <a:gdLst/>
              <a:ahLst/>
              <a:cxnLst/>
              <a:rect l="l" t="t" r="r" b="b"/>
              <a:pathLst>
                <a:path w="46355" h="29844">
                  <a:moveTo>
                    <a:pt x="0" y="29707"/>
                  </a:moveTo>
                  <a:lnTo>
                    <a:pt x="45995" y="29099"/>
                  </a:lnTo>
                  <a:lnTo>
                    <a:pt x="10369" y="0"/>
                  </a:lnTo>
                  <a:lnTo>
                    <a:pt x="0" y="29707"/>
                  </a:lnTo>
                  <a:close/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305175" y="2703473"/>
              <a:ext cx="1003300" cy="43180"/>
            </a:xfrm>
            <a:custGeom>
              <a:avLst/>
              <a:gdLst/>
              <a:ahLst/>
              <a:cxnLst/>
              <a:rect l="l" t="t" r="r" b="b"/>
              <a:pathLst>
                <a:path w="1003300" h="43180">
                  <a:moveTo>
                    <a:pt x="0" y="42576"/>
                  </a:moveTo>
                  <a:lnTo>
                    <a:pt x="1003101" y="0"/>
                  </a:lnTo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307609" y="2687754"/>
              <a:ext cx="44450" cy="31750"/>
            </a:xfrm>
            <a:custGeom>
              <a:avLst/>
              <a:gdLst/>
              <a:ahLst/>
              <a:cxnLst/>
              <a:rect l="l" t="t" r="r" b="b"/>
              <a:pathLst>
                <a:path w="44450" h="31750">
                  <a:moveTo>
                    <a:pt x="1334" y="31437"/>
                  </a:moveTo>
                  <a:lnTo>
                    <a:pt x="0" y="0"/>
                  </a:lnTo>
                  <a:lnTo>
                    <a:pt x="43853" y="13885"/>
                  </a:lnTo>
                  <a:lnTo>
                    <a:pt x="1334" y="31437"/>
                  </a:lnTo>
                  <a:close/>
                </a:path>
              </a:pathLst>
            </a:custGeom>
            <a:solidFill>
              <a:srgbClr val="4BA1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307609" y="2687754"/>
              <a:ext cx="44450" cy="31750"/>
            </a:xfrm>
            <a:custGeom>
              <a:avLst/>
              <a:gdLst/>
              <a:ahLst/>
              <a:cxnLst/>
              <a:rect l="l" t="t" r="r" b="b"/>
              <a:pathLst>
                <a:path w="44450" h="31750">
                  <a:moveTo>
                    <a:pt x="1334" y="31437"/>
                  </a:moveTo>
                  <a:lnTo>
                    <a:pt x="43853" y="13885"/>
                  </a:lnTo>
                  <a:lnTo>
                    <a:pt x="0" y="0"/>
                  </a:lnTo>
                  <a:lnTo>
                    <a:pt x="1334" y="31437"/>
                  </a:lnTo>
                  <a:close/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276600" y="2739991"/>
              <a:ext cx="1047750" cy="983615"/>
            </a:xfrm>
            <a:custGeom>
              <a:avLst/>
              <a:gdLst/>
              <a:ahLst/>
              <a:cxnLst/>
              <a:rect l="l" t="t" r="r" b="b"/>
              <a:pathLst>
                <a:path w="1047750" h="983614">
                  <a:moveTo>
                    <a:pt x="0" y="983282"/>
                  </a:moveTo>
                  <a:lnTo>
                    <a:pt x="1047334" y="0"/>
                  </a:lnTo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313166" y="2710405"/>
              <a:ext cx="42545" cy="41275"/>
            </a:xfrm>
            <a:custGeom>
              <a:avLst/>
              <a:gdLst/>
              <a:ahLst/>
              <a:cxnLst/>
              <a:rect l="l" t="t" r="r" b="b"/>
              <a:pathLst>
                <a:path w="42545" h="41275">
                  <a:moveTo>
                    <a:pt x="21536" y="41056"/>
                  </a:moveTo>
                  <a:lnTo>
                    <a:pt x="0" y="18116"/>
                  </a:lnTo>
                  <a:lnTo>
                    <a:pt x="42281" y="0"/>
                  </a:lnTo>
                  <a:lnTo>
                    <a:pt x="21536" y="41056"/>
                  </a:lnTo>
                  <a:close/>
                </a:path>
              </a:pathLst>
            </a:custGeom>
            <a:solidFill>
              <a:srgbClr val="4BA1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313166" y="2710405"/>
              <a:ext cx="42545" cy="41275"/>
            </a:xfrm>
            <a:custGeom>
              <a:avLst/>
              <a:gdLst/>
              <a:ahLst/>
              <a:cxnLst/>
              <a:rect l="l" t="t" r="r" b="b"/>
              <a:pathLst>
                <a:path w="42545" h="41275">
                  <a:moveTo>
                    <a:pt x="21536" y="41056"/>
                  </a:moveTo>
                  <a:lnTo>
                    <a:pt x="42281" y="0"/>
                  </a:lnTo>
                  <a:lnTo>
                    <a:pt x="0" y="18116"/>
                  </a:lnTo>
                  <a:lnTo>
                    <a:pt x="21536" y="41056"/>
                  </a:lnTo>
                  <a:close/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305175" y="2067474"/>
              <a:ext cx="1011555" cy="604520"/>
            </a:xfrm>
            <a:custGeom>
              <a:avLst/>
              <a:gdLst/>
              <a:ahLst/>
              <a:cxnLst/>
              <a:rect l="l" t="t" r="r" b="b"/>
              <a:pathLst>
                <a:path w="1011554" h="604519">
                  <a:moveTo>
                    <a:pt x="0" y="0"/>
                  </a:moveTo>
                  <a:lnTo>
                    <a:pt x="1011136" y="603992"/>
                  </a:lnTo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308243" y="2657961"/>
              <a:ext cx="45720" cy="36195"/>
            </a:xfrm>
            <a:custGeom>
              <a:avLst/>
              <a:gdLst/>
              <a:ahLst/>
              <a:cxnLst/>
              <a:rect l="l" t="t" r="r" b="b"/>
              <a:pathLst>
                <a:path w="45720" h="36194">
                  <a:moveTo>
                    <a:pt x="45176" y="35673"/>
                  </a:moveTo>
                  <a:lnTo>
                    <a:pt x="0" y="27013"/>
                  </a:lnTo>
                  <a:lnTo>
                    <a:pt x="16135" y="0"/>
                  </a:lnTo>
                  <a:lnTo>
                    <a:pt x="45176" y="35673"/>
                  </a:lnTo>
                  <a:close/>
                </a:path>
              </a:pathLst>
            </a:custGeom>
            <a:solidFill>
              <a:srgbClr val="4BA1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308243" y="2657961"/>
              <a:ext cx="45720" cy="36195"/>
            </a:xfrm>
            <a:custGeom>
              <a:avLst/>
              <a:gdLst/>
              <a:ahLst/>
              <a:cxnLst/>
              <a:rect l="l" t="t" r="r" b="b"/>
              <a:pathLst>
                <a:path w="45720" h="36194">
                  <a:moveTo>
                    <a:pt x="0" y="27013"/>
                  </a:moveTo>
                  <a:lnTo>
                    <a:pt x="45176" y="35673"/>
                  </a:lnTo>
                  <a:lnTo>
                    <a:pt x="16135" y="0"/>
                  </a:lnTo>
                  <a:lnTo>
                    <a:pt x="0" y="27013"/>
                  </a:lnTo>
                  <a:close/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6339662" y="2358637"/>
            <a:ext cx="1069975" cy="684530"/>
            <a:chOff x="6339662" y="2358637"/>
            <a:chExt cx="1069975" cy="684530"/>
          </a:xfrm>
        </p:grpSpPr>
        <p:sp>
          <p:nvSpPr>
            <p:cNvPr id="30" name="object 30"/>
            <p:cNvSpPr/>
            <p:nvPr/>
          </p:nvSpPr>
          <p:spPr>
            <a:xfrm>
              <a:off x="6344425" y="2447774"/>
              <a:ext cx="1060450" cy="591185"/>
            </a:xfrm>
            <a:custGeom>
              <a:avLst/>
              <a:gdLst/>
              <a:ahLst/>
              <a:cxnLst/>
              <a:rect l="l" t="t" r="r" b="b"/>
              <a:pathLst>
                <a:path w="1060450" h="591185">
                  <a:moveTo>
                    <a:pt x="530099" y="590624"/>
                  </a:moveTo>
                  <a:lnTo>
                    <a:pt x="451765" y="589710"/>
                  </a:lnTo>
                  <a:lnTo>
                    <a:pt x="376999" y="587052"/>
                  </a:lnTo>
                  <a:lnTo>
                    <a:pt x="306623" y="582782"/>
                  </a:lnTo>
                  <a:lnTo>
                    <a:pt x="241454" y="577031"/>
                  </a:lnTo>
                  <a:lnTo>
                    <a:pt x="182315" y="569929"/>
                  </a:lnTo>
                  <a:lnTo>
                    <a:pt x="130024" y="561606"/>
                  </a:lnTo>
                  <a:lnTo>
                    <a:pt x="85402" y="552193"/>
                  </a:lnTo>
                  <a:lnTo>
                    <a:pt x="22443" y="530618"/>
                  </a:lnTo>
                  <a:lnTo>
                    <a:pt x="0" y="506249"/>
                  </a:lnTo>
                  <a:lnTo>
                    <a:pt x="0" y="0"/>
                  </a:lnTo>
                  <a:lnTo>
                    <a:pt x="5747" y="12468"/>
                  </a:lnTo>
                  <a:lnTo>
                    <a:pt x="22443" y="24368"/>
                  </a:lnTo>
                  <a:lnTo>
                    <a:pt x="85402" y="45943"/>
                  </a:lnTo>
                  <a:lnTo>
                    <a:pt x="130024" y="55356"/>
                  </a:lnTo>
                  <a:lnTo>
                    <a:pt x="182315" y="63679"/>
                  </a:lnTo>
                  <a:lnTo>
                    <a:pt x="241454" y="70781"/>
                  </a:lnTo>
                  <a:lnTo>
                    <a:pt x="306623" y="76532"/>
                  </a:lnTo>
                  <a:lnTo>
                    <a:pt x="376999" y="80802"/>
                  </a:lnTo>
                  <a:lnTo>
                    <a:pt x="451765" y="83460"/>
                  </a:lnTo>
                  <a:lnTo>
                    <a:pt x="530099" y="84374"/>
                  </a:lnTo>
                  <a:lnTo>
                    <a:pt x="608434" y="83460"/>
                  </a:lnTo>
                  <a:lnTo>
                    <a:pt x="683200" y="80802"/>
                  </a:lnTo>
                  <a:lnTo>
                    <a:pt x="753576" y="76532"/>
                  </a:lnTo>
                  <a:lnTo>
                    <a:pt x="818745" y="70781"/>
                  </a:lnTo>
                  <a:lnTo>
                    <a:pt x="877884" y="63679"/>
                  </a:lnTo>
                  <a:lnTo>
                    <a:pt x="930175" y="55356"/>
                  </a:lnTo>
                  <a:lnTo>
                    <a:pt x="974797" y="45943"/>
                  </a:lnTo>
                  <a:lnTo>
                    <a:pt x="1037756" y="24368"/>
                  </a:lnTo>
                  <a:lnTo>
                    <a:pt x="1060199" y="0"/>
                  </a:lnTo>
                  <a:lnTo>
                    <a:pt x="1060199" y="506249"/>
                  </a:lnTo>
                  <a:lnTo>
                    <a:pt x="1010931" y="541820"/>
                  </a:lnTo>
                  <a:lnTo>
                    <a:pt x="930175" y="561606"/>
                  </a:lnTo>
                  <a:lnTo>
                    <a:pt x="877884" y="569929"/>
                  </a:lnTo>
                  <a:lnTo>
                    <a:pt x="818745" y="577031"/>
                  </a:lnTo>
                  <a:lnTo>
                    <a:pt x="753576" y="582782"/>
                  </a:lnTo>
                  <a:lnTo>
                    <a:pt x="683200" y="587052"/>
                  </a:lnTo>
                  <a:lnTo>
                    <a:pt x="608434" y="589710"/>
                  </a:lnTo>
                  <a:lnTo>
                    <a:pt x="530099" y="590624"/>
                  </a:lnTo>
                  <a:close/>
                </a:path>
              </a:pathLst>
            </a:custGeom>
            <a:solidFill>
              <a:srgbClr val="63D1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344425" y="2363399"/>
              <a:ext cx="1060450" cy="168910"/>
            </a:xfrm>
            <a:custGeom>
              <a:avLst/>
              <a:gdLst/>
              <a:ahLst/>
              <a:cxnLst/>
              <a:rect l="l" t="t" r="r" b="b"/>
              <a:pathLst>
                <a:path w="1060450" h="168910">
                  <a:moveTo>
                    <a:pt x="530099" y="168749"/>
                  </a:moveTo>
                  <a:lnTo>
                    <a:pt x="451765" y="167835"/>
                  </a:lnTo>
                  <a:lnTo>
                    <a:pt x="376999" y="165177"/>
                  </a:lnTo>
                  <a:lnTo>
                    <a:pt x="306623" y="160907"/>
                  </a:lnTo>
                  <a:lnTo>
                    <a:pt x="241454" y="155156"/>
                  </a:lnTo>
                  <a:lnTo>
                    <a:pt x="182315" y="148054"/>
                  </a:lnTo>
                  <a:lnTo>
                    <a:pt x="130024" y="139731"/>
                  </a:lnTo>
                  <a:lnTo>
                    <a:pt x="85402" y="130318"/>
                  </a:lnTo>
                  <a:lnTo>
                    <a:pt x="22443" y="108743"/>
                  </a:lnTo>
                  <a:lnTo>
                    <a:pt x="0" y="84374"/>
                  </a:lnTo>
                  <a:lnTo>
                    <a:pt x="5747" y="71906"/>
                  </a:lnTo>
                  <a:lnTo>
                    <a:pt x="49268" y="48804"/>
                  </a:lnTo>
                  <a:lnTo>
                    <a:pt x="130024" y="29018"/>
                  </a:lnTo>
                  <a:lnTo>
                    <a:pt x="182315" y="20695"/>
                  </a:lnTo>
                  <a:lnTo>
                    <a:pt x="241454" y="13593"/>
                  </a:lnTo>
                  <a:lnTo>
                    <a:pt x="306623" y="7842"/>
                  </a:lnTo>
                  <a:lnTo>
                    <a:pt x="376999" y="3572"/>
                  </a:lnTo>
                  <a:lnTo>
                    <a:pt x="451765" y="914"/>
                  </a:lnTo>
                  <a:lnTo>
                    <a:pt x="530099" y="0"/>
                  </a:lnTo>
                  <a:lnTo>
                    <a:pt x="608434" y="914"/>
                  </a:lnTo>
                  <a:lnTo>
                    <a:pt x="683200" y="3572"/>
                  </a:lnTo>
                  <a:lnTo>
                    <a:pt x="753576" y="7842"/>
                  </a:lnTo>
                  <a:lnTo>
                    <a:pt x="818745" y="13593"/>
                  </a:lnTo>
                  <a:lnTo>
                    <a:pt x="877884" y="20695"/>
                  </a:lnTo>
                  <a:lnTo>
                    <a:pt x="930175" y="29018"/>
                  </a:lnTo>
                  <a:lnTo>
                    <a:pt x="974797" y="38431"/>
                  </a:lnTo>
                  <a:lnTo>
                    <a:pt x="1037756" y="60006"/>
                  </a:lnTo>
                  <a:lnTo>
                    <a:pt x="1060199" y="84374"/>
                  </a:lnTo>
                  <a:lnTo>
                    <a:pt x="1054452" y="96843"/>
                  </a:lnTo>
                  <a:lnTo>
                    <a:pt x="1010931" y="119945"/>
                  </a:lnTo>
                  <a:lnTo>
                    <a:pt x="930175" y="139731"/>
                  </a:lnTo>
                  <a:lnTo>
                    <a:pt x="877884" y="148054"/>
                  </a:lnTo>
                  <a:lnTo>
                    <a:pt x="818745" y="155156"/>
                  </a:lnTo>
                  <a:lnTo>
                    <a:pt x="753576" y="160907"/>
                  </a:lnTo>
                  <a:lnTo>
                    <a:pt x="683200" y="165177"/>
                  </a:lnTo>
                  <a:lnTo>
                    <a:pt x="608434" y="167835"/>
                  </a:lnTo>
                  <a:lnTo>
                    <a:pt x="530099" y="168749"/>
                  </a:lnTo>
                  <a:close/>
                </a:path>
              </a:pathLst>
            </a:custGeom>
            <a:solidFill>
              <a:srgbClr val="A1E4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344425" y="2363399"/>
              <a:ext cx="1060450" cy="675005"/>
            </a:xfrm>
            <a:custGeom>
              <a:avLst/>
              <a:gdLst/>
              <a:ahLst/>
              <a:cxnLst/>
              <a:rect l="l" t="t" r="r" b="b"/>
              <a:pathLst>
                <a:path w="1060450" h="675005">
                  <a:moveTo>
                    <a:pt x="1060199" y="84374"/>
                  </a:moveTo>
                  <a:lnTo>
                    <a:pt x="1054452" y="96843"/>
                  </a:lnTo>
                  <a:lnTo>
                    <a:pt x="1037756" y="108743"/>
                  </a:lnTo>
                  <a:lnTo>
                    <a:pt x="974797" y="130318"/>
                  </a:lnTo>
                  <a:lnTo>
                    <a:pt x="930175" y="139731"/>
                  </a:lnTo>
                  <a:lnTo>
                    <a:pt x="877884" y="148054"/>
                  </a:lnTo>
                  <a:lnTo>
                    <a:pt x="818745" y="155156"/>
                  </a:lnTo>
                  <a:lnTo>
                    <a:pt x="753576" y="160907"/>
                  </a:lnTo>
                  <a:lnTo>
                    <a:pt x="683200" y="165177"/>
                  </a:lnTo>
                  <a:lnTo>
                    <a:pt x="608434" y="167835"/>
                  </a:lnTo>
                  <a:lnTo>
                    <a:pt x="530099" y="168749"/>
                  </a:lnTo>
                  <a:lnTo>
                    <a:pt x="451765" y="167835"/>
                  </a:lnTo>
                  <a:lnTo>
                    <a:pt x="376999" y="165177"/>
                  </a:lnTo>
                  <a:lnTo>
                    <a:pt x="306623" y="160907"/>
                  </a:lnTo>
                  <a:lnTo>
                    <a:pt x="241454" y="155156"/>
                  </a:lnTo>
                  <a:lnTo>
                    <a:pt x="182315" y="148054"/>
                  </a:lnTo>
                  <a:lnTo>
                    <a:pt x="130024" y="139731"/>
                  </a:lnTo>
                  <a:lnTo>
                    <a:pt x="85402" y="130318"/>
                  </a:lnTo>
                  <a:lnTo>
                    <a:pt x="22443" y="108743"/>
                  </a:lnTo>
                  <a:lnTo>
                    <a:pt x="0" y="84374"/>
                  </a:lnTo>
                  <a:lnTo>
                    <a:pt x="49268" y="48804"/>
                  </a:lnTo>
                  <a:lnTo>
                    <a:pt x="130024" y="29018"/>
                  </a:lnTo>
                  <a:lnTo>
                    <a:pt x="182315" y="20695"/>
                  </a:lnTo>
                  <a:lnTo>
                    <a:pt x="241454" y="13593"/>
                  </a:lnTo>
                  <a:lnTo>
                    <a:pt x="306623" y="7842"/>
                  </a:lnTo>
                  <a:lnTo>
                    <a:pt x="376999" y="3572"/>
                  </a:lnTo>
                  <a:lnTo>
                    <a:pt x="451765" y="914"/>
                  </a:lnTo>
                  <a:lnTo>
                    <a:pt x="530099" y="0"/>
                  </a:lnTo>
                  <a:lnTo>
                    <a:pt x="608434" y="914"/>
                  </a:lnTo>
                  <a:lnTo>
                    <a:pt x="683200" y="3572"/>
                  </a:lnTo>
                  <a:lnTo>
                    <a:pt x="753576" y="7842"/>
                  </a:lnTo>
                  <a:lnTo>
                    <a:pt x="818745" y="13593"/>
                  </a:lnTo>
                  <a:lnTo>
                    <a:pt x="877884" y="20695"/>
                  </a:lnTo>
                  <a:lnTo>
                    <a:pt x="930175" y="29018"/>
                  </a:lnTo>
                  <a:lnTo>
                    <a:pt x="974797" y="38431"/>
                  </a:lnTo>
                  <a:lnTo>
                    <a:pt x="1037756" y="60006"/>
                  </a:lnTo>
                  <a:lnTo>
                    <a:pt x="1060199" y="84374"/>
                  </a:lnTo>
                  <a:lnTo>
                    <a:pt x="1060199" y="590624"/>
                  </a:lnTo>
                  <a:lnTo>
                    <a:pt x="1010931" y="626195"/>
                  </a:lnTo>
                  <a:lnTo>
                    <a:pt x="930175" y="645981"/>
                  </a:lnTo>
                  <a:lnTo>
                    <a:pt x="877884" y="654304"/>
                  </a:lnTo>
                  <a:lnTo>
                    <a:pt x="818745" y="661406"/>
                  </a:lnTo>
                  <a:lnTo>
                    <a:pt x="753576" y="667157"/>
                  </a:lnTo>
                  <a:lnTo>
                    <a:pt x="683200" y="671427"/>
                  </a:lnTo>
                  <a:lnTo>
                    <a:pt x="608434" y="674085"/>
                  </a:lnTo>
                  <a:lnTo>
                    <a:pt x="530099" y="674999"/>
                  </a:lnTo>
                  <a:lnTo>
                    <a:pt x="451765" y="674085"/>
                  </a:lnTo>
                  <a:lnTo>
                    <a:pt x="376999" y="671427"/>
                  </a:lnTo>
                  <a:lnTo>
                    <a:pt x="306623" y="667157"/>
                  </a:lnTo>
                  <a:lnTo>
                    <a:pt x="241454" y="661406"/>
                  </a:lnTo>
                  <a:lnTo>
                    <a:pt x="182315" y="654304"/>
                  </a:lnTo>
                  <a:lnTo>
                    <a:pt x="130024" y="645981"/>
                  </a:lnTo>
                  <a:lnTo>
                    <a:pt x="85402" y="636568"/>
                  </a:lnTo>
                  <a:lnTo>
                    <a:pt x="22443" y="614993"/>
                  </a:lnTo>
                  <a:lnTo>
                    <a:pt x="0" y="590624"/>
                  </a:lnTo>
                  <a:lnTo>
                    <a:pt x="0" y="84374"/>
                  </a:lnTo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6595100" y="2618500"/>
            <a:ext cx="5588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MT"/>
                <a:cs typeface="Arial MT"/>
              </a:rPr>
              <a:t>Output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5284099" y="2680404"/>
            <a:ext cx="1051560" cy="41275"/>
            <a:chOff x="5284099" y="2680404"/>
            <a:chExt cx="1051560" cy="41275"/>
          </a:xfrm>
        </p:grpSpPr>
        <p:sp>
          <p:nvSpPr>
            <p:cNvPr id="35" name="object 35"/>
            <p:cNvSpPr/>
            <p:nvPr/>
          </p:nvSpPr>
          <p:spPr>
            <a:xfrm>
              <a:off x="5284099" y="2700900"/>
              <a:ext cx="1003300" cy="0"/>
            </a:xfrm>
            <a:custGeom>
              <a:avLst/>
              <a:gdLst/>
              <a:ahLst/>
              <a:cxnLst/>
              <a:rect l="l" t="t" r="r" b="b"/>
              <a:pathLst>
                <a:path w="1003300">
                  <a:moveTo>
                    <a:pt x="0" y="0"/>
                  </a:moveTo>
                  <a:lnTo>
                    <a:pt x="1003049" y="0"/>
                  </a:lnTo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287149" y="26851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4BA1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287149" y="26851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1646000" y="2007585"/>
            <a:ext cx="24574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5" dirty="0">
                <a:latin typeface="Arial MT"/>
                <a:cs typeface="Arial MT"/>
              </a:rPr>
              <a:t>RDD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646000" y="2600736"/>
            <a:ext cx="24574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5" dirty="0">
                <a:latin typeface="Arial MT"/>
                <a:cs typeface="Arial MT"/>
              </a:rPr>
              <a:t>RDD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646000" y="3722635"/>
            <a:ext cx="24574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5" dirty="0">
                <a:latin typeface="Arial MT"/>
                <a:cs typeface="Arial MT"/>
              </a:rPr>
              <a:t>RDD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591674" y="2477485"/>
            <a:ext cx="30734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5" dirty="0">
                <a:latin typeface="Arial MT"/>
                <a:cs typeface="Arial MT"/>
              </a:rPr>
              <a:t>Action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52875" y="3500525"/>
            <a:ext cx="967105" cy="445770"/>
          </a:xfrm>
          <a:prstGeom prst="rect">
            <a:avLst/>
          </a:prstGeom>
          <a:solidFill>
            <a:srgbClr val="63D197"/>
          </a:solidFill>
          <a:ln w="9524">
            <a:solidFill>
              <a:srgbClr val="4BA173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L="117475" marR="111760" indent="177165">
              <a:lnSpc>
                <a:spcPts val="1650"/>
              </a:lnSpc>
              <a:spcBef>
                <a:spcPts val="125"/>
              </a:spcBef>
            </a:pPr>
            <a:r>
              <a:rPr sz="1400" spc="-5" dirty="0">
                <a:latin typeface="Arial MT"/>
                <a:cs typeface="Arial MT"/>
              </a:rPr>
              <a:t>Data 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Sourc</a:t>
            </a:r>
            <a:r>
              <a:rPr sz="1400" dirty="0">
                <a:latin typeface="Arial MT"/>
                <a:cs typeface="Arial MT"/>
              </a:rPr>
              <a:t>e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B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91550" y="1244346"/>
            <a:ext cx="153479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solidFill>
                  <a:srgbClr val="666666"/>
                </a:solidFill>
                <a:latin typeface="Arial MT"/>
                <a:cs typeface="Arial MT"/>
              </a:rPr>
              <a:t>Spark</a:t>
            </a:r>
            <a:r>
              <a:rPr sz="1600" spc="-80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666666"/>
                </a:solidFill>
                <a:latin typeface="Arial MT"/>
                <a:cs typeface="Arial MT"/>
              </a:rPr>
              <a:t>Streaming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478980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75" dirty="0">
                <a:solidFill>
                  <a:srgbClr val="202729"/>
                </a:solidFill>
              </a:rPr>
              <a:t>How</a:t>
            </a:r>
            <a:r>
              <a:rPr sz="2800" spc="-150" dirty="0">
                <a:solidFill>
                  <a:srgbClr val="202729"/>
                </a:solidFill>
              </a:rPr>
              <a:t> </a:t>
            </a:r>
            <a:r>
              <a:rPr sz="2800" spc="40" dirty="0">
                <a:solidFill>
                  <a:srgbClr val="202729"/>
                </a:solidFill>
              </a:rPr>
              <a:t>Spark</a:t>
            </a:r>
            <a:r>
              <a:rPr sz="2800" spc="-145" dirty="0">
                <a:solidFill>
                  <a:srgbClr val="202729"/>
                </a:solidFill>
              </a:rPr>
              <a:t> </a:t>
            </a:r>
            <a:r>
              <a:rPr sz="2800" spc="35" dirty="0">
                <a:solidFill>
                  <a:srgbClr val="202729"/>
                </a:solidFill>
              </a:rPr>
              <a:t>Handles</a:t>
            </a:r>
            <a:r>
              <a:rPr sz="2800" spc="-145" dirty="0">
                <a:solidFill>
                  <a:srgbClr val="202729"/>
                </a:solidFill>
              </a:rPr>
              <a:t> </a:t>
            </a:r>
            <a:r>
              <a:rPr sz="2800" spc="-15" dirty="0">
                <a:solidFill>
                  <a:srgbClr val="202729"/>
                </a:solidFill>
              </a:rPr>
              <a:t>Streaming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475249" y="1216355"/>
            <a:ext cx="8122284" cy="8521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-125" dirty="0">
                <a:solidFill>
                  <a:srgbClr val="616161"/>
                </a:solidFill>
                <a:latin typeface="Verdana"/>
                <a:cs typeface="Verdana"/>
              </a:rPr>
              <a:t>Spark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616161"/>
                </a:solidFill>
                <a:latin typeface="Verdana"/>
                <a:cs typeface="Verdana"/>
              </a:rPr>
              <a:t>Core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30" dirty="0">
                <a:solidFill>
                  <a:srgbClr val="616161"/>
                </a:solidFill>
                <a:latin typeface="Verdana"/>
                <a:cs typeface="Verdana"/>
              </a:rPr>
              <a:t>has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616161"/>
                </a:solidFill>
                <a:latin typeface="Verdana"/>
                <a:cs typeface="Verdana"/>
              </a:rPr>
              <a:t>a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616161"/>
                </a:solidFill>
                <a:latin typeface="Verdana"/>
                <a:cs typeface="Verdana"/>
              </a:rPr>
              <a:t>robust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616161"/>
                </a:solidFill>
                <a:latin typeface="Verdana"/>
                <a:cs typeface="Verdana"/>
              </a:rPr>
              <a:t>way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70" dirty="0">
                <a:solidFill>
                  <a:srgbClr val="616161"/>
                </a:solidFill>
                <a:latin typeface="Verdana"/>
                <a:cs typeface="Verdana"/>
              </a:rPr>
              <a:t>for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616161"/>
                </a:solidFill>
                <a:latin typeface="Verdana"/>
                <a:cs typeface="Verdana"/>
              </a:rPr>
              <a:t>creating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616161"/>
                </a:solidFill>
                <a:latin typeface="Verdana"/>
                <a:cs typeface="Verdana"/>
              </a:rPr>
              <a:t>computation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10" dirty="0">
                <a:solidFill>
                  <a:srgbClr val="616161"/>
                </a:solidFill>
                <a:latin typeface="Verdana"/>
                <a:cs typeface="Verdana"/>
              </a:rPr>
              <a:t>graphs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616161"/>
                </a:solidFill>
                <a:latin typeface="Verdana"/>
                <a:cs typeface="Verdana"/>
              </a:rPr>
              <a:t>on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5" dirty="0">
                <a:solidFill>
                  <a:srgbClr val="616161"/>
                </a:solidFill>
                <a:latin typeface="Verdana"/>
                <a:cs typeface="Verdana"/>
              </a:rPr>
              <a:t>batch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616161"/>
                </a:solidFill>
                <a:latin typeface="Verdana"/>
                <a:cs typeface="Verdana"/>
              </a:rPr>
              <a:t>data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buClr>
                <a:srgbClr val="616161"/>
              </a:buClr>
              <a:buFont typeface="Arial MT"/>
              <a:buChar char="●"/>
            </a:pPr>
            <a:endParaRPr sz="1800">
              <a:latin typeface="Verdana"/>
              <a:cs typeface="Verdana"/>
            </a:endParaRPr>
          </a:p>
          <a:p>
            <a:pPr marL="379095" indent="-367030">
              <a:lnSpc>
                <a:spcPct val="100000"/>
              </a:lnSpc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-50" dirty="0">
                <a:solidFill>
                  <a:srgbClr val="616161"/>
                </a:solidFill>
                <a:latin typeface="Verdana"/>
                <a:cs typeface="Verdana"/>
              </a:rPr>
              <a:t>Ho</a:t>
            </a:r>
            <a:r>
              <a:rPr sz="1800" spc="-55" dirty="0">
                <a:solidFill>
                  <a:srgbClr val="616161"/>
                </a:solidFill>
                <a:latin typeface="Verdana"/>
                <a:cs typeface="Verdana"/>
              </a:rPr>
              <a:t>w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5" dirty="0">
                <a:solidFill>
                  <a:srgbClr val="616161"/>
                </a:solidFill>
                <a:latin typeface="Verdana"/>
                <a:cs typeface="Verdana"/>
              </a:rPr>
              <a:t>ca</a:t>
            </a:r>
            <a:r>
              <a:rPr sz="1800" spc="-110" dirty="0">
                <a:solidFill>
                  <a:srgbClr val="616161"/>
                </a:solidFill>
                <a:latin typeface="Verdana"/>
                <a:cs typeface="Verdana"/>
              </a:rPr>
              <a:t>n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616161"/>
                </a:solidFill>
                <a:latin typeface="Verdana"/>
                <a:cs typeface="Verdana"/>
              </a:rPr>
              <a:t>w</a:t>
            </a:r>
            <a:r>
              <a:rPr sz="1800" spc="-70" dirty="0">
                <a:solidFill>
                  <a:srgbClr val="616161"/>
                </a:solidFill>
                <a:latin typeface="Verdana"/>
                <a:cs typeface="Verdana"/>
              </a:rPr>
              <a:t>e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616161"/>
                </a:solidFill>
                <a:latin typeface="Verdana"/>
                <a:cs typeface="Verdana"/>
              </a:rPr>
              <a:t>exten</a:t>
            </a:r>
            <a:r>
              <a:rPr sz="1800" spc="-105" dirty="0">
                <a:solidFill>
                  <a:srgbClr val="616161"/>
                </a:solidFill>
                <a:latin typeface="Verdana"/>
                <a:cs typeface="Verdana"/>
              </a:rPr>
              <a:t>d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616161"/>
                </a:solidFill>
                <a:latin typeface="Verdana"/>
                <a:cs typeface="Verdana"/>
              </a:rPr>
              <a:t>thi</a:t>
            </a:r>
            <a:r>
              <a:rPr sz="1800" spc="-114" dirty="0">
                <a:solidFill>
                  <a:srgbClr val="616161"/>
                </a:solidFill>
                <a:latin typeface="Verdana"/>
                <a:cs typeface="Verdana"/>
              </a:rPr>
              <a:t>s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616161"/>
                </a:solidFill>
                <a:latin typeface="Verdana"/>
                <a:cs typeface="Verdana"/>
              </a:rPr>
              <a:t>t</a:t>
            </a:r>
            <a:r>
              <a:rPr sz="1800" spc="-75" dirty="0">
                <a:solidFill>
                  <a:srgbClr val="616161"/>
                </a:solidFill>
                <a:latin typeface="Verdana"/>
                <a:cs typeface="Verdana"/>
              </a:rPr>
              <a:t>o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10" dirty="0">
                <a:solidFill>
                  <a:srgbClr val="616161"/>
                </a:solidFill>
                <a:latin typeface="Verdana"/>
                <a:cs typeface="Verdana"/>
              </a:rPr>
              <a:t>streamin</a:t>
            </a:r>
            <a:r>
              <a:rPr sz="1800" spc="-114" dirty="0">
                <a:solidFill>
                  <a:srgbClr val="616161"/>
                </a:solidFill>
                <a:latin typeface="Verdana"/>
                <a:cs typeface="Verdana"/>
              </a:rPr>
              <a:t>g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25" dirty="0">
                <a:solidFill>
                  <a:srgbClr val="616161"/>
                </a:solidFill>
                <a:latin typeface="Verdana"/>
                <a:cs typeface="Verdana"/>
              </a:rPr>
              <a:t>data?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478980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75" dirty="0">
                <a:solidFill>
                  <a:srgbClr val="202729"/>
                </a:solidFill>
              </a:rPr>
              <a:t>How</a:t>
            </a:r>
            <a:r>
              <a:rPr sz="2800" spc="-150" dirty="0">
                <a:solidFill>
                  <a:srgbClr val="202729"/>
                </a:solidFill>
              </a:rPr>
              <a:t> </a:t>
            </a:r>
            <a:r>
              <a:rPr sz="2800" spc="40" dirty="0">
                <a:solidFill>
                  <a:srgbClr val="202729"/>
                </a:solidFill>
              </a:rPr>
              <a:t>Spark</a:t>
            </a:r>
            <a:r>
              <a:rPr sz="2800" spc="-145" dirty="0">
                <a:solidFill>
                  <a:srgbClr val="202729"/>
                </a:solidFill>
              </a:rPr>
              <a:t> </a:t>
            </a:r>
            <a:r>
              <a:rPr sz="2800" spc="35" dirty="0">
                <a:solidFill>
                  <a:srgbClr val="202729"/>
                </a:solidFill>
              </a:rPr>
              <a:t>Handles</a:t>
            </a:r>
            <a:r>
              <a:rPr sz="2800" spc="-145" dirty="0">
                <a:solidFill>
                  <a:srgbClr val="202729"/>
                </a:solidFill>
              </a:rPr>
              <a:t> </a:t>
            </a:r>
            <a:r>
              <a:rPr sz="2800" spc="-15" dirty="0">
                <a:solidFill>
                  <a:srgbClr val="202729"/>
                </a:solidFill>
              </a:rPr>
              <a:t>Streaming</a:t>
            </a:r>
            <a:endParaRPr sz="2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875" y="1496281"/>
            <a:ext cx="9043124" cy="204053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478980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75" dirty="0">
                <a:solidFill>
                  <a:srgbClr val="202729"/>
                </a:solidFill>
              </a:rPr>
              <a:t>How</a:t>
            </a:r>
            <a:r>
              <a:rPr sz="2800" spc="-150" dirty="0">
                <a:solidFill>
                  <a:srgbClr val="202729"/>
                </a:solidFill>
              </a:rPr>
              <a:t> </a:t>
            </a:r>
            <a:r>
              <a:rPr sz="2800" spc="40" dirty="0">
                <a:solidFill>
                  <a:srgbClr val="202729"/>
                </a:solidFill>
              </a:rPr>
              <a:t>Spark</a:t>
            </a:r>
            <a:r>
              <a:rPr sz="2800" spc="-145" dirty="0">
                <a:solidFill>
                  <a:srgbClr val="202729"/>
                </a:solidFill>
              </a:rPr>
              <a:t> </a:t>
            </a:r>
            <a:r>
              <a:rPr sz="2800" spc="35" dirty="0">
                <a:solidFill>
                  <a:srgbClr val="202729"/>
                </a:solidFill>
              </a:rPr>
              <a:t>Handles</a:t>
            </a:r>
            <a:r>
              <a:rPr sz="2800" spc="-145" dirty="0">
                <a:solidFill>
                  <a:srgbClr val="202729"/>
                </a:solidFill>
              </a:rPr>
              <a:t> </a:t>
            </a:r>
            <a:r>
              <a:rPr sz="2800" spc="-15" dirty="0">
                <a:solidFill>
                  <a:srgbClr val="202729"/>
                </a:solidFill>
              </a:rPr>
              <a:t>Streaming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452875" y="2185774"/>
            <a:ext cx="967105" cy="445770"/>
          </a:xfrm>
          <a:prstGeom prst="rect">
            <a:avLst/>
          </a:prstGeom>
          <a:solidFill>
            <a:srgbClr val="63D197"/>
          </a:solidFill>
          <a:ln w="9524">
            <a:solidFill>
              <a:srgbClr val="4BA173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L="201930" marR="191135" indent="-5080">
              <a:lnSpc>
                <a:spcPts val="1650"/>
              </a:lnSpc>
              <a:spcBef>
                <a:spcPts val="125"/>
              </a:spcBef>
            </a:pPr>
            <a:r>
              <a:rPr sz="1400" spc="-5" dirty="0">
                <a:latin typeface="Arial MT"/>
                <a:cs typeface="Arial MT"/>
              </a:rPr>
              <a:t>Stream  Source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86575" y="1844724"/>
            <a:ext cx="918844" cy="445770"/>
          </a:xfrm>
          <a:prstGeom prst="rect">
            <a:avLst/>
          </a:prstGeom>
          <a:solidFill>
            <a:srgbClr val="63D197"/>
          </a:solidFill>
          <a:ln w="9524">
            <a:solidFill>
              <a:srgbClr val="4BA173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1050">
              <a:latin typeface="Times New Roman"/>
              <a:cs typeface="Times New Roman"/>
            </a:endParaRPr>
          </a:p>
          <a:p>
            <a:pPr marL="117475">
              <a:lnSpc>
                <a:spcPct val="100000"/>
              </a:lnSpc>
            </a:pPr>
            <a:r>
              <a:rPr sz="800" spc="-5" dirty="0">
                <a:latin typeface="Arial MT"/>
                <a:cs typeface="Arial MT"/>
              </a:rPr>
              <a:t>Transformation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58000" y="3500525"/>
            <a:ext cx="918844" cy="445770"/>
          </a:xfrm>
          <a:prstGeom prst="rect">
            <a:avLst/>
          </a:prstGeom>
          <a:solidFill>
            <a:srgbClr val="63D197"/>
          </a:solidFill>
          <a:ln w="9524">
            <a:solidFill>
              <a:srgbClr val="4BA173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1050">
              <a:latin typeface="Times New Roman"/>
              <a:cs typeface="Times New Roman"/>
            </a:endParaRPr>
          </a:p>
          <a:p>
            <a:pPr marL="117475">
              <a:lnSpc>
                <a:spcPct val="100000"/>
              </a:lnSpc>
            </a:pPr>
            <a:r>
              <a:rPr sz="800" spc="-5" dirty="0">
                <a:latin typeface="Arial MT"/>
                <a:cs typeface="Arial MT"/>
              </a:rPr>
              <a:t>Transformation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65499" y="2478149"/>
            <a:ext cx="918844" cy="445770"/>
          </a:xfrm>
          <a:prstGeom prst="rect">
            <a:avLst/>
          </a:prstGeom>
          <a:solidFill>
            <a:srgbClr val="63D197"/>
          </a:solidFill>
          <a:ln w="9524">
            <a:solidFill>
              <a:srgbClr val="4BA173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1050">
              <a:latin typeface="Times New Roman"/>
              <a:cs typeface="Times New Roman"/>
            </a:endParaRPr>
          </a:p>
          <a:p>
            <a:pPr marL="117475">
              <a:lnSpc>
                <a:spcPct val="100000"/>
              </a:lnSpc>
            </a:pPr>
            <a:r>
              <a:rPr sz="800" spc="-5" dirty="0">
                <a:latin typeface="Arial MT"/>
                <a:cs typeface="Arial MT"/>
              </a:rPr>
              <a:t>Transformation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386575" y="2523300"/>
            <a:ext cx="918844" cy="445770"/>
          </a:xfrm>
          <a:custGeom>
            <a:avLst/>
            <a:gdLst/>
            <a:ahLst/>
            <a:cxnLst/>
            <a:rect l="l" t="t" r="r" b="b"/>
            <a:pathLst>
              <a:path w="918845" h="445769">
                <a:moveTo>
                  <a:pt x="918599" y="445499"/>
                </a:moveTo>
                <a:lnTo>
                  <a:pt x="0" y="445499"/>
                </a:lnTo>
                <a:lnTo>
                  <a:pt x="0" y="0"/>
                </a:lnTo>
                <a:lnTo>
                  <a:pt x="918599" y="0"/>
                </a:lnTo>
                <a:lnTo>
                  <a:pt x="918599" y="445499"/>
                </a:lnTo>
                <a:close/>
              </a:path>
            </a:pathLst>
          </a:custGeom>
          <a:solidFill>
            <a:srgbClr val="63D19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386575" y="2523300"/>
            <a:ext cx="918844" cy="445770"/>
          </a:xfrm>
          <a:prstGeom prst="rect">
            <a:avLst/>
          </a:prstGeom>
          <a:ln w="9524">
            <a:solidFill>
              <a:srgbClr val="4BA173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1050">
              <a:latin typeface="Times New Roman"/>
              <a:cs typeface="Times New Roman"/>
            </a:endParaRPr>
          </a:p>
          <a:p>
            <a:pPr marL="117475">
              <a:lnSpc>
                <a:spcPct val="100000"/>
              </a:lnSpc>
            </a:pPr>
            <a:r>
              <a:rPr sz="800" spc="-5" dirty="0">
                <a:latin typeface="Arial MT"/>
                <a:cs typeface="Arial MT"/>
              </a:rPr>
              <a:t>Transformation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419599" y="3702779"/>
            <a:ext cx="929640" cy="41275"/>
            <a:chOff x="1419599" y="3702779"/>
            <a:chExt cx="929640" cy="41275"/>
          </a:xfrm>
        </p:grpSpPr>
        <p:sp>
          <p:nvSpPr>
            <p:cNvPr id="10" name="object 10"/>
            <p:cNvSpPr/>
            <p:nvPr/>
          </p:nvSpPr>
          <p:spPr>
            <a:xfrm>
              <a:off x="1419599" y="3723275"/>
              <a:ext cx="881380" cy="0"/>
            </a:xfrm>
            <a:custGeom>
              <a:avLst/>
              <a:gdLst/>
              <a:ahLst/>
              <a:cxnLst/>
              <a:rect l="l" t="t" r="r" b="b"/>
              <a:pathLst>
                <a:path w="881380">
                  <a:moveTo>
                    <a:pt x="0" y="0"/>
                  </a:moveTo>
                  <a:lnTo>
                    <a:pt x="881249" y="0"/>
                  </a:lnTo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300849" y="37075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4BA1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300849" y="37075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1415012" y="2062712"/>
            <a:ext cx="2945765" cy="1665605"/>
            <a:chOff x="1415012" y="2062712"/>
            <a:chExt cx="2945765" cy="1665605"/>
          </a:xfrm>
        </p:grpSpPr>
        <p:sp>
          <p:nvSpPr>
            <p:cNvPr id="14" name="object 14"/>
            <p:cNvSpPr/>
            <p:nvPr/>
          </p:nvSpPr>
          <p:spPr>
            <a:xfrm>
              <a:off x="1419774" y="2086437"/>
              <a:ext cx="913130" cy="322580"/>
            </a:xfrm>
            <a:custGeom>
              <a:avLst/>
              <a:gdLst/>
              <a:ahLst/>
              <a:cxnLst/>
              <a:rect l="l" t="t" r="r" b="b"/>
              <a:pathLst>
                <a:path w="913130" h="322580">
                  <a:moveTo>
                    <a:pt x="0" y="322087"/>
                  </a:moveTo>
                  <a:lnTo>
                    <a:pt x="913005" y="0"/>
                  </a:lnTo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327546" y="2071601"/>
              <a:ext cx="46355" cy="29845"/>
            </a:xfrm>
            <a:custGeom>
              <a:avLst/>
              <a:gdLst/>
              <a:ahLst/>
              <a:cxnLst/>
              <a:rect l="l" t="t" r="r" b="b"/>
              <a:pathLst>
                <a:path w="46355" h="29844">
                  <a:moveTo>
                    <a:pt x="10467" y="29673"/>
                  </a:moveTo>
                  <a:lnTo>
                    <a:pt x="0" y="0"/>
                  </a:lnTo>
                  <a:lnTo>
                    <a:pt x="45997" y="456"/>
                  </a:lnTo>
                  <a:lnTo>
                    <a:pt x="10467" y="29673"/>
                  </a:lnTo>
                  <a:close/>
                </a:path>
              </a:pathLst>
            </a:custGeom>
            <a:solidFill>
              <a:srgbClr val="4BA1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327546" y="2071601"/>
              <a:ext cx="46355" cy="29845"/>
            </a:xfrm>
            <a:custGeom>
              <a:avLst/>
              <a:gdLst/>
              <a:ahLst/>
              <a:cxnLst/>
              <a:rect l="l" t="t" r="r" b="b"/>
              <a:pathLst>
                <a:path w="46355" h="29844">
                  <a:moveTo>
                    <a:pt x="10467" y="29673"/>
                  </a:moveTo>
                  <a:lnTo>
                    <a:pt x="45997" y="456"/>
                  </a:lnTo>
                  <a:lnTo>
                    <a:pt x="0" y="0"/>
                  </a:lnTo>
                  <a:lnTo>
                    <a:pt x="10467" y="29673"/>
                  </a:lnTo>
                  <a:close/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419774" y="2408524"/>
              <a:ext cx="913130" cy="318770"/>
            </a:xfrm>
            <a:custGeom>
              <a:avLst/>
              <a:gdLst/>
              <a:ahLst/>
              <a:cxnLst/>
              <a:rect l="l" t="t" r="r" b="b"/>
              <a:pathLst>
                <a:path w="913130" h="318769">
                  <a:moveTo>
                    <a:pt x="0" y="0"/>
                  </a:moveTo>
                  <a:lnTo>
                    <a:pt x="912942" y="318665"/>
                  </a:lnTo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327532" y="2712337"/>
              <a:ext cx="46355" cy="29845"/>
            </a:xfrm>
            <a:custGeom>
              <a:avLst/>
              <a:gdLst/>
              <a:ahLst/>
              <a:cxnLst/>
              <a:rect l="l" t="t" r="r" b="b"/>
              <a:pathLst>
                <a:path w="46355" h="29844">
                  <a:moveTo>
                    <a:pt x="0" y="29707"/>
                  </a:moveTo>
                  <a:lnTo>
                    <a:pt x="10369" y="0"/>
                  </a:lnTo>
                  <a:lnTo>
                    <a:pt x="45995" y="29099"/>
                  </a:lnTo>
                  <a:lnTo>
                    <a:pt x="0" y="29707"/>
                  </a:lnTo>
                  <a:close/>
                </a:path>
              </a:pathLst>
            </a:custGeom>
            <a:solidFill>
              <a:srgbClr val="4BA1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327532" y="2712337"/>
              <a:ext cx="46355" cy="29845"/>
            </a:xfrm>
            <a:custGeom>
              <a:avLst/>
              <a:gdLst/>
              <a:ahLst/>
              <a:cxnLst/>
              <a:rect l="l" t="t" r="r" b="b"/>
              <a:pathLst>
                <a:path w="46355" h="29844">
                  <a:moveTo>
                    <a:pt x="0" y="29707"/>
                  </a:moveTo>
                  <a:lnTo>
                    <a:pt x="45995" y="29099"/>
                  </a:lnTo>
                  <a:lnTo>
                    <a:pt x="10369" y="0"/>
                  </a:lnTo>
                  <a:lnTo>
                    <a:pt x="0" y="29707"/>
                  </a:lnTo>
                  <a:close/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305175" y="2703473"/>
              <a:ext cx="1003300" cy="43180"/>
            </a:xfrm>
            <a:custGeom>
              <a:avLst/>
              <a:gdLst/>
              <a:ahLst/>
              <a:cxnLst/>
              <a:rect l="l" t="t" r="r" b="b"/>
              <a:pathLst>
                <a:path w="1003300" h="43180">
                  <a:moveTo>
                    <a:pt x="0" y="42576"/>
                  </a:moveTo>
                  <a:lnTo>
                    <a:pt x="1003101" y="0"/>
                  </a:lnTo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307609" y="2687754"/>
              <a:ext cx="44450" cy="31750"/>
            </a:xfrm>
            <a:custGeom>
              <a:avLst/>
              <a:gdLst/>
              <a:ahLst/>
              <a:cxnLst/>
              <a:rect l="l" t="t" r="r" b="b"/>
              <a:pathLst>
                <a:path w="44450" h="31750">
                  <a:moveTo>
                    <a:pt x="1334" y="31437"/>
                  </a:moveTo>
                  <a:lnTo>
                    <a:pt x="0" y="0"/>
                  </a:lnTo>
                  <a:lnTo>
                    <a:pt x="43853" y="13885"/>
                  </a:lnTo>
                  <a:lnTo>
                    <a:pt x="1334" y="31437"/>
                  </a:lnTo>
                  <a:close/>
                </a:path>
              </a:pathLst>
            </a:custGeom>
            <a:solidFill>
              <a:srgbClr val="4BA1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307609" y="2687754"/>
              <a:ext cx="44450" cy="31750"/>
            </a:xfrm>
            <a:custGeom>
              <a:avLst/>
              <a:gdLst/>
              <a:ahLst/>
              <a:cxnLst/>
              <a:rect l="l" t="t" r="r" b="b"/>
              <a:pathLst>
                <a:path w="44450" h="31750">
                  <a:moveTo>
                    <a:pt x="1334" y="31437"/>
                  </a:moveTo>
                  <a:lnTo>
                    <a:pt x="43853" y="13885"/>
                  </a:lnTo>
                  <a:lnTo>
                    <a:pt x="0" y="0"/>
                  </a:lnTo>
                  <a:lnTo>
                    <a:pt x="1334" y="31437"/>
                  </a:lnTo>
                  <a:close/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276600" y="2739991"/>
              <a:ext cx="1047750" cy="983615"/>
            </a:xfrm>
            <a:custGeom>
              <a:avLst/>
              <a:gdLst/>
              <a:ahLst/>
              <a:cxnLst/>
              <a:rect l="l" t="t" r="r" b="b"/>
              <a:pathLst>
                <a:path w="1047750" h="983614">
                  <a:moveTo>
                    <a:pt x="0" y="983282"/>
                  </a:moveTo>
                  <a:lnTo>
                    <a:pt x="1047334" y="0"/>
                  </a:lnTo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313166" y="2710405"/>
              <a:ext cx="42545" cy="41275"/>
            </a:xfrm>
            <a:custGeom>
              <a:avLst/>
              <a:gdLst/>
              <a:ahLst/>
              <a:cxnLst/>
              <a:rect l="l" t="t" r="r" b="b"/>
              <a:pathLst>
                <a:path w="42545" h="41275">
                  <a:moveTo>
                    <a:pt x="21536" y="41056"/>
                  </a:moveTo>
                  <a:lnTo>
                    <a:pt x="0" y="18116"/>
                  </a:lnTo>
                  <a:lnTo>
                    <a:pt x="42281" y="0"/>
                  </a:lnTo>
                  <a:lnTo>
                    <a:pt x="21536" y="41056"/>
                  </a:lnTo>
                  <a:close/>
                </a:path>
              </a:pathLst>
            </a:custGeom>
            <a:solidFill>
              <a:srgbClr val="4BA1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313166" y="2710405"/>
              <a:ext cx="42545" cy="41275"/>
            </a:xfrm>
            <a:custGeom>
              <a:avLst/>
              <a:gdLst/>
              <a:ahLst/>
              <a:cxnLst/>
              <a:rect l="l" t="t" r="r" b="b"/>
              <a:pathLst>
                <a:path w="42545" h="41275">
                  <a:moveTo>
                    <a:pt x="21536" y="41056"/>
                  </a:moveTo>
                  <a:lnTo>
                    <a:pt x="42281" y="0"/>
                  </a:lnTo>
                  <a:lnTo>
                    <a:pt x="0" y="18116"/>
                  </a:lnTo>
                  <a:lnTo>
                    <a:pt x="21536" y="41056"/>
                  </a:lnTo>
                  <a:close/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305175" y="2067474"/>
              <a:ext cx="1011555" cy="604520"/>
            </a:xfrm>
            <a:custGeom>
              <a:avLst/>
              <a:gdLst/>
              <a:ahLst/>
              <a:cxnLst/>
              <a:rect l="l" t="t" r="r" b="b"/>
              <a:pathLst>
                <a:path w="1011554" h="604519">
                  <a:moveTo>
                    <a:pt x="0" y="0"/>
                  </a:moveTo>
                  <a:lnTo>
                    <a:pt x="1011136" y="603992"/>
                  </a:lnTo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308243" y="2657961"/>
              <a:ext cx="45720" cy="36195"/>
            </a:xfrm>
            <a:custGeom>
              <a:avLst/>
              <a:gdLst/>
              <a:ahLst/>
              <a:cxnLst/>
              <a:rect l="l" t="t" r="r" b="b"/>
              <a:pathLst>
                <a:path w="45720" h="36194">
                  <a:moveTo>
                    <a:pt x="45176" y="35673"/>
                  </a:moveTo>
                  <a:lnTo>
                    <a:pt x="0" y="27013"/>
                  </a:lnTo>
                  <a:lnTo>
                    <a:pt x="16135" y="0"/>
                  </a:lnTo>
                  <a:lnTo>
                    <a:pt x="45176" y="35673"/>
                  </a:lnTo>
                  <a:close/>
                </a:path>
              </a:pathLst>
            </a:custGeom>
            <a:solidFill>
              <a:srgbClr val="4BA1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308243" y="2657961"/>
              <a:ext cx="45720" cy="36195"/>
            </a:xfrm>
            <a:custGeom>
              <a:avLst/>
              <a:gdLst/>
              <a:ahLst/>
              <a:cxnLst/>
              <a:rect l="l" t="t" r="r" b="b"/>
              <a:pathLst>
                <a:path w="45720" h="36194">
                  <a:moveTo>
                    <a:pt x="0" y="27013"/>
                  </a:moveTo>
                  <a:lnTo>
                    <a:pt x="45176" y="35673"/>
                  </a:lnTo>
                  <a:lnTo>
                    <a:pt x="16135" y="0"/>
                  </a:lnTo>
                  <a:lnTo>
                    <a:pt x="0" y="27013"/>
                  </a:lnTo>
                  <a:close/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6339662" y="2358637"/>
            <a:ext cx="1069975" cy="684530"/>
            <a:chOff x="6339662" y="2358637"/>
            <a:chExt cx="1069975" cy="684530"/>
          </a:xfrm>
        </p:grpSpPr>
        <p:sp>
          <p:nvSpPr>
            <p:cNvPr id="30" name="object 30"/>
            <p:cNvSpPr/>
            <p:nvPr/>
          </p:nvSpPr>
          <p:spPr>
            <a:xfrm>
              <a:off x="6344425" y="2447774"/>
              <a:ext cx="1060450" cy="591185"/>
            </a:xfrm>
            <a:custGeom>
              <a:avLst/>
              <a:gdLst/>
              <a:ahLst/>
              <a:cxnLst/>
              <a:rect l="l" t="t" r="r" b="b"/>
              <a:pathLst>
                <a:path w="1060450" h="591185">
                  <a:moveTo>
                    <a:pt x="530099" y="590624"/>
                  </a:moveTo>
                  <a:lnTo>
                    <a:pt x="451765" y="589710"/>
                  </a:lnTo>
                  <a:lnTo>
                    <a:pt x="376999" y="587052"/>
                  </a:lnTo>
                  <a:lnTo>
                    <a:pt x="306623" y="582782"/>
                  </a:lnTo>
                  <a:lnTo>
                    <a:pt x="241454" y="577031"/>
                  </a:lnTo>
                  <a:lnTo>
                    <a:pt x="182315" y="569929"/>
                  </a:lnTo>
                  <a:lnTo>
                    <a:pt x="130024" y="561606"/>
                  </a:lnTo>
                  <a:lnTo>
                    <a:pt x="85402" y="552193"/>
                  </a:lnTo>
                  <a:lnTo>
                    <a:pt x="22443" y="530618"/>
                  </a:lnTo>
                  <a:lnTo>
                    <a:pt x="0" y="506249"/>
                  </a:lnTo>
                  <a:lnTo>
                    <a:pt x="0" y="0"/>
                  </a:lnTo>
                  <a:lnTo>
                    <a:pt x="5747" y="12468"/>
                  </a:lnTo>
                  <a:lnTo>
                    <a:pt x="22443" y="24368"/>
                  </a:lnTo>
                  <a:lnTo>
                    <a:pt x="85402" y="45943"/>
                  </a:lnTo>
                  <a:lnTo>
                    <a:pt x="130024" y="55356"/>
                  </a:lnTo>
                  <a:lnTo>
                    <a:pt x="182315" y="63679"/>
                  </a:lnTo>
                  <a:lnTo>
                    <a:pt x="241454" y="70781"/>
                  </a:lnTo>
                  <a:lnTo>
                    <a:pt x="306623" y="76532"/>
                  </a:lnTo>
                  <a:lnTo>
                    <a:pt x="376999" y="80802"/>
                  </a:lnTo>
                  <a:lnTo>
                    <a:pt x="451765" y="83460"/>
                  </a:lnTo>
                  <a:lnTo>
                    <a:pt x="530099" y="84374"/>
                  </a:lnTo>
                  <a:lnTo>
                    <a:pt x="608434" y="83460"/>
                  </a:lnTo>
                  <a:lnTo>
                    <a:pt x="683200" y="80802"/>
                  </a:lnTo>
                  <a:lnTo>
                    <a:pt x="753576" y="76532"/>
                  </a:lnTo>
                  <a:lnTo>
                    <a:pt x="818745" y="70781"/>
                  </a:lnTo>
                  <a:lnTo>
                    <a:pt x="877884" y="63679"/>
                  </a:lnTo>
                  <a:lnTo>
                    <a:pt x="930175" y="55356"/>
                  </a:lnTo>
                  <a:lnTo>
                    <a:pt x="974797" y="45943"/>
                  </a:lnTo>
                  <a:lnTo>
                    <a:pt x="1037756" y="24368"/>
                  </a:lnTo>
                  <a:lnTo>
                    <a:pt x="1060199" y="0"/>
                  </a:lnTo>
                  <a:lnTo>
                    <a:pt x="1060199" y="506249"/>
                  </a:lnTo>
                  <a:lnTo>
                    <a:pt x="1010931" y="541820"/>
                  </a:lnTo>
                  <a:lnTo>
                    <a:pt x="930175" y="561606"/>
                  </a:lnTo>
                  <a:lnTo>
                    <a:pt x="877884" y="569929"/>
                  </a:lnTo>
                  <a:lnTo>
                    <a:pt x="818745" y="577031"/>
                  </a:lnTo>
                  <a:lnTo>
                    <a:pt x="753576" y="582782"/>
                  </a:lnTo>
                  <a:lnTo>
                    <a:pt x="683200" y="587052"/>
                  </a:lnTo>
                  <a:lnTo>
                    <a:pt x="608434" y="589710"/>
                  </a:lnTo>
                  <a:lnTo>
                    <a:pt x="530099" y="590624"/>
                  </a:lnTo>
                  <a:close/>
                </a:path>
              </a:pathLst>
            </a:custGeom>
            <a:solidFill>
              <a:srgbClr val="63D1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344425" y="2363399"/>
              <a:ext cx="1060450" cy="168910"/>
            </a:xfrm>
            <a:custGeom>
              <a:avLst/>
              <a:gdLst/>
              <a:ahLst/>
              <a:cxnLst/>
              <a:rect l="l" t="t" r="r" b="b"/>
              <a:pathLst>
                <a:path w="1060450" h="168910">
                  <a:moveTo>
                    <a:pt x="530099" y="168749"/>
                  </a:moveTo>
                  <a:lnTo>
                    <a:pt x="451765" y="167835"/>
                  </a:lnTo>
                  <a:lnTo>
                    <a:pt x="376999" y="165177"/>
                  </a:lnTo>
                  <a:lnTo>
                    <a:pt x="306623" y="160907"/>
                  </a:lnTo>
                  <a:lnTo>
                    <a:pt x="241454" y="155156"/>
                  </a:lnTo>
                  <a:lnTo>
                    <a:pt x="182315" y="148054"/>
                  </a:lnTo>
                  <a:lnTo>
                    <a:pt x="130024" y="139731"/>
                  </a:lnTo>
                  <a:lnTo>
                    <a:pt x="85402" y="130318"/>
                  </a:lnTo>
                  <a:lnTo>
                    <a:pt x="22443" y="108743"/>
                  </a:lnTo>
                  <a:lnTo>
                    <a:pt x="0" y="84374"/>
                  </a:lnTo>
                  <a:lnTo>
                    <a:pt x="5747" y="71906"/>
                  </a:lnTo>
                  <a:lnTo>
                    <a:pt x="49268" y="48804"/>
                  </a:lnTo>
                  <a:lnTo>
                    <a:pt x="130024" y="29018"/>
                  </a:lnTo>
                  <a:lnTo>
                    <a:pt x="182315" y="20695"/>
                  </a:lnTo>
                  <a:lnTo>
                    <a:pt x="241454" y="13593"/>
                  </a:lnTo>
                  <a:lnTo>
                    <a:pt x="306623" y="7842"/>
                  </a:lnTo>
                  <a:lnTo>
                    <a:pt x="376999" y="3572"/>
                  </a:lnTo>
                  <a:lnTo>
                    <a:pt x="451765" y="914"/>
                  </a:lnTo>
                  <a:lnTo>
                    <a:pt x="530099" y="0"/>
                  </a:lnTo>
                  <a:lnTo>
                    <a:pt x="608434" y="914"/>
                  </a:lnTo>
                  <a:lnTo>
                    <a:pt x="683200" y="3572"/>
                  </a:lnTo>
                  <a:lnTo>
                    <a:pt x="753576" y="7842"/>
                  </a:lnTo>
                  <a:lnTo>
                    <a:pt x="818745" y="13593"/>
                  </a:lnTo>
                  <a:lnTo>
                    <a:pt x="877884" y="20695"/>
                  </a:lnTo>
                  <a:lnTo>
                    <a:pt x="930175" y="29018"/>
                  </a:lnTo>
                  <a:lnTo>
                    <a:pt x="974797" y="38431"/>
                  </a:lnTo>
                  <a:lnTo>
                    <a:pt x="1037756" y="60006"/>
                  </a:lnTo>
                  <a:lnTo>
                    <a:pt x="1060199" y="84374"/>
                  </a:lnTo>
                  <a:lnTo>
                    <a:pt x="1054452" y="96843"/>
                  </a:lnTo>
                  <a:lnTo>
                    <a:pt x="1010931" y="119945"/>
                  </a:lnTo>
                  <a:lnTo>
                    <a:pt x="930175" y="139731"/>
                  </a:lnTo>
                  <a:lnTo>
                    <a:pt x="877884" y="148054"/>
                  </a:lnTo>
                  <a:lnTo>
                    <a:pt x="818745" y="155156"/>
                  </a:lnTo>
                  <a:lnTo>
                    <a:pt x="753576" y="160907"/>
                  </a:lnTo>
                  <a:lnTo>
                    <a:pt x="683200" y="165177"/>
                  </a:lnTo>
                  <a:lnTo>
                    <a:pt x="608434" y="167835"/>
                  </a:lnTo>
                  <a:lnTo>
                    <a:pt x="530099" y="168749"/>
                  </a:lnTo>
                  <a:close/>
                </a:path>
              </a:pathLst>
            </a:custGeom>
            <a:solidFill>
              <a:srgbClr val="A1E4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344425" y="2363399"/>
              <a:ext cx="1060450" cy="675005"/>
            </a:xfrm>
            <a:custGeom>
              <a:avLst/>
              <a:gdLst/>
              <a:ahLst/>
              <a:cxnLst/>
              <a:rect l="l" t="t" r="r" b="b"/>
              <a:pathLst>
                <a:path w="1060450" h="675005">
                  <a:moveTo>
                    <a:pt x="1060199" y="84374"/>
                  </a:moveTo>
                  <a:lnTo>
                    <a:pt x="1054452" y="96843"/>
                  </a:lnTo>
                  <a:lnTo>
                    <a:pt x="1037756" y="108743"/>
                  </a:lnTo>
                  <a:lnTo>
                    <a:pt x="974797" y="130318"/>
                  </a:lnTo>
                  <a:lnTo>
                    <a:pt x="930175" y="139731"/>
                  </a:lnTo>
                  <a:lnTo>
                    <a:pt x="877884" y="148054"/>
                  </a:lnTo>
                  <a:lnTo>
                    <a:pt x="818745" y="155156"/>
                  </a:lnTo>
                  <a:lnTo>
                    <a:pt x="753576" y="160907"/>
                  </a:lnTo>
                  <a:lnTo>
                    <a:pt x="683200" y="165177"/>
                  </a:lnTo>
                  <a:lnTo>
                    <a:pt x="608434" y="167835"/>
                  </a:lnTo>
                  <a:lnTo>
                    <a:pt x="530099" y="168749"/>
                  </a:lnTo>
                  <a:lnTo>
                    <a:pt x="451765" y="167835"/>
                  </a:lnTo>
                  <a:lnTo>
                    <a:pt x="376999" y="165177"/>
                  </a:lnTo>
                  <a:lnTo>
                    <a:pt x="306623" y="160907"/>
                  </a:lnTo>
                  <a:lnTo>
                    <a:pt x="241454" y="155156"/>
                  </a:lnTo>
                  <a:lnTo>
                    <a:pt x="182315" y="148054"/>
                  </a:lnTo>
                  <a:lnTo>
                    <a:pt x="130024" y="139731"/>
                  </a:lnTo>
                  <a:lnTo>
                    <a:pt x="85402" y="130318"/>
                  </a:lnTo>
                  <a:lnTo>
                    <a:pt x="22443" y="108743"/>
                  </a:lnTo>
                  <a:lnTo>
                    <a:pt x="0" y="84374"/>
                  </a:lnTo>
                  <a:lnTo>
                    <a:pt x="49268" y="48804"/>
                  </a:lnTo>
                  <a:lnTo>
                    <a:pt x="130024" y="29018"/>
                  </a:lnTo>
                  <a:lnTo>
                    <a:pt x="182315" y="20695"/>
                  </a:lnTo>
                  <a:lnTo>
                    <a:pt x="241454" y="13593"/>
                  </a:lnTo>
                  <a:lnTo>
                    <a:pt x="306623" y="7842"/>
                  </a:lnTo>
                  <a:lnTo>
                    <a:pt x="376999" y="3572"/>
                  </a:lnTo>
                  <a:lnTo>
                    <a:pt x="451765" y="914"/>
                  </a:lnTo>
                  <a:lnTo>
                    <a:pt x="530099" y="0"/>
                  </a:lnTo>
                  <a:lnTo>
                    <a:pt x="608434" y="914"/>
                  </a:lnTo>
                  <a:lnTo>
                    <a:pt x="683200" y="3572"/>
                  </a:lnTo>
                  <a:lnTo>
                    <a:pt x="753576" y="7842"/>
                  </a:lnTo>
                  <a:lnTo>
                    <a:pt x="818745" y="13593"/>
                  </a:lnTo>
                  <a:lnTo>
                    <a:pt x="877884" y="20695"/>
                  </a:lnTo>
                  <a:lnTo>
                    <a:pt x="930175" y="29018"/>
                  </a:lnTo>
                  <a:lnTo>
                    <a:pt x="974797" y="38431"/>
                  </a:lnTo>
                  <a:lnTo>
                    <a:pt x="1037756" y="60006"/>
                  </a:lnTo>
                  <a:lnTo>
                    <a:pt x="1060199" y="84374"/>
                  </a:lnTo>
                  <a:lnTo>
                    <a:pt x="1060199" y="590624"/>
                  </a:lnTo>
                  <a:lnTo>
                    <a:pt x="1010931" y="626195"/>
                  </a:lnTo>
                  <a:lnTo>
                    <a:pt x="930175" y="645981"/>
                  </a:lnTo>
                  <a:lnTo>
                    <a:pt x="877884" y="654304"/>
                  </a:lnTo>
                  <a:lnTo>
                    <a:pt x="818745" y="661406"/>
                  </a:lnTo>
                  <a:lnTo>
                    <a:pt x="753576" y="667157"/>
                  </a:lnTo>
                  <a:lnTo>
                    <a:pt x="683200" y="671427"/>
                  </a:lnTo>
                  <a:lnTo>
                    <a:pt x="608434" y="674085"/>
                  </a:lnTo>
                  <a:lnTo>
                    <a:pt x="530099" y="674999"/>
                  </a:lnTo>
                  <a:lnTo>
                    <a:pt x="451765" y="674085"/>
                  </a:lnTo>
                  <a:lnTo>
                    <a:pt x="376999" y="671427"/>
                  </a:lnTo>
                  <a:lnTo>
                    <a:pt x="306623" y="667157"/>
                  </a:lnTo>
                  <a:lnTo>
                    <a:pt x="241454" y="661406"/>
                  </a:lnTo>
                  <a:lnTo>
                    <a:pt x="182315" y="654304"/>
                  </a:lnTo>
                  <a:lnTo>
                    <a:pt x="130024" y="645981"/>
                  </a:lnTo>
                  <a:lnTo>
                    <a:pt x="85402" y="636568"/>
                  </a:lnTo>
                  <a:lnTo>
                    <a:pt x="22443" y="614993"/>
                  </a:lnTo>
                  <a:lnTo>
                    <a:pt x="0" y="590624"/>
                  </a:lnTo>
                  <a:lnTo>
                    <a:pt x="0" y="84374"/>
                  </a:lnTo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6595100" y="2618500"/>
            <a:ext cx="5588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MT"/>
                <a:cs typeface="Arial MT"/>
              </a:rPr>
              <a:t>Output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5284099" y="2680404"/>
            <a:ext cx="1051560" cy="41275"/>
            <a:chOff x="5284099" y="2680404"/>
            <a:chExt cx="1051560" cy="41275"/>
          </a:xfrm>
        </p:grpSpPr>
        <p:sp>
          <p:nvSpPr>
            <p:cNvPr id="35" name="object 35"/>
            <p:cNvSpPr/>
            <p:nvPr/>
          </p:nvSpPr>
          <p:spPr>
            <a:xfrm>
              <a:off x="5284099" y="2700900"/>
              <a:ext cx="1003300" cy="0"/>
            </a:xfrm>
            <a:custGeom>
              <a:avLst/>
              <a:gdLst/>
              <a:ahLst/>
              <a:cxnLst/>
              <a:rect l="l" t="t" r="r" b="b"/>
              <a:pathLst>
                <a:path w="1003300">
                  <a:moveTo>
                    <a:pt x="0" y="0"/>
                  </a:moveTo>
                  <a:lnTo>
                    <a:pt x="1003049" y="0"/>
                  </a:lnTo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287149" y="26851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4BA1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287149" y="26851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1646000" y="2007585"/>
            <a:ext cx="42672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5" dirty="0">
                <a:latin typeface="Arial MT"/>
                <a:cs typeface="Arial MT"/>
              </a:rPr>
              <a:t>DStream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646000" y="2600736"/>
            <a:ext cx="42672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5" dirty="0">
                <a:latin typeface="Arial MT"/>
                <a:cs typeface="Arial MT"/>
              </a:rPr>
              <a:t>DStream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646000" y="3722635"/>
            <a:ext cx="42672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5" dirty="0">
                <a:latin typeface="Arial MT"/>
                <a:cs typeface="Arial MT"/>
              </a:rPr>
              <a:t>DStream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591674" y="2477485"/>
            <a:ext cx="30734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5" dirty="0">
                <a:latin typeface="Arial MT"/>
                <a:cs typeface="Arial MT"/>
              </a:rPr>
              <a:t>Action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52875" y="3500525"/>
            <a:ext cx="967105" cy="445770"/>
          </a:xfrm>
          <a:prstGeom prst="rect">
            <a:avLst/>
          </a:prstGeom>
          <a:solidFill>
            <a:srgbClr val="63D197"/>
          </a:solidFill>
          <a:ln w="9524">
            <a:solidFill>
              <a:srgbClr val="4BA173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L="201930" marR="191135" indent="-5080">
              <a:lnSpc>
                <a:spcPts val="1650"/>
              </a:lnSpc>
              <a:spcBef>
                <a:spcPts val="125"/>
              </a:spcBef>
            </a:pPr>
            <a:r>
              <a:rPr sz="1400" spc="-5" dirty="0">
                <a:latin typeface="Arial MT"/>
                <a:cs typeface="Arial MT"/>
              </a:rPr>
              <a:t>Stream  Source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478980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75" dirty="0">
                <a:solidFill>
                  <a:srgbClr val="202729"/>
                </a:solidFill>
              </a:rPr>
              <a:t>How</a:t>
            </a:r>
            <a:r>
              <a:rPr sz="2800" spc="-150" dirty="0">
                <a:solidFill>
                  <a:srgbClr val="202729"/>
                </a:solidFill>
              </a:rPr>
              <a:t> </a:t>
            </a:r>
            <a:r>
              <a:rPr sz="2800" spc="40" dirty="0">
                <a:solidFill>
                  <a:srgbClr val="202729"/>
                </a:solidFill>
              </a:rPr>
              <a:t>Spark</a:t>
            </a:r>
            <a:r>
              <a:rPr sz="2800" spc="-145" dirty="0">
                <a:solidFill>
                  <a:srgbClr val="202729"/>
                </a:solidFill>
              </a:rPr>
              <a:t> </a:t>
            </a:r>
            <a:r>
              <a:rPr sz="2800" spc="35" dirty="0">
                <a:solidFill>
                  <a:srgbClr val="202729"/>
                </a:solidFill>
              </a:rPr>
              <a:t>Handles</a:t>
            </a:r>
            <a:r>
              <a:rPr sz="2800" spc="-145" dirty="0">
                <a:solidFill>
                  <a:srgbClr val="202729"/>
                </a:solidFill>
              </a:rPr>
              <a:t> </a:t>
            </a:r>
            <a:r>
              <a:rPr sz="2800" spc="-15" dirty="0">
                <a:solidFill>
                  <a:srgbClr val="202729"/>
                </a:solidFill>
              </a:rPr>
              <a:t>Streaming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452875" y="2185774"/>
            <a:ext cx="967105" cy="445770"/>
          </a:xfrm>
          <a:prstGeom prst="rect">
            <a:avLst/>
          </a:prstGeom>
          <a:solidFill>
            <a:srgbClr val="63D197"/>
          </a:solidFill>
          <a:ln w="9524">
            <a:solidFill>
              <a:srgbClr val="4BA173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L="201930" marR="191135" indent="-5080">
              <a:lnSpc>
                <a:spcPts val="1650"/>
              </a:lnSpc>
              <a:spcBef>
                <a:spcPts val="125"/>
              </a:spcBef>
            </a:pPr>
            <a:r>
              <a:rPr sz="1400" spc="-5" dirty="0">
                <a:latin typeface="Arial MT"/>
                <a:cs typeface="Arial MT"/>
              </a:rPr>
              <a:t>Stream  Source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86575" y="1844724"/>
            <a:ext cx="918844" cy="445770"/>
          </a:xfrm>
          <a:prstGeom prst="rect">
            <a:avLst/>
          </a:prstGeom>
          <a:solidFill>
            <a:srgbClr val="63D197"/>
          </a:solidFill>
          <a:ln w="9524">
            <a:solidFill>
              <a:srgbClr val="4BA173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1050">
              <a:latin typeface="Times New Roman"/>
              <a:cs typeface="Times New Roman"/>
            </a:endParaRPr>
          </a:p>
          <a:p>
            <a:pPr marL="117475">
              <a:lnSpc>
                <a:spcPct val="100000"/>
              </a:lnSpc>
            </a:pPr>
            <a:r>
              <a:rPr sz="800" spc="-5" dirty="0">
                <a:latin typeface="Arial MT"/>
                <a:cs typeface="Arial MT"/>
              </a:rPr>
              <a:t>Transformation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58000" y="3500525"/>
            <a:ext cx="918844" cy="445770"/>
          </a:xfrm>
          <a:prstGeom prst="rect">
            <a:avLst/>
          </a:prstGeom>
          <a:solidFill>
            <a:srgbClr val="63D197"/>
          </a:solidFill>
          <a:ln w="9524">
            <a:solidFill>
              <a:srgbClr val="4BA173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1050">
              <a:latin typeface="Times New Roman"/>
              <a:cs typeface="Times New Roman"/>
            </a:endParaRPr>
          </a:p>
          <a:p>
            <a:pPr marL="117475">
              <a:lnSpc>
                <a:spcPct val="100000"/>
              </a:lnSpc>
            </a:pPr>
            <a:r>
              <a:rPr sz="800" spc="-5" dirty="0">
                <a:latin typeface="Arial MT"/>
                <a:cs typeface="Arial MT"/>
              </a:rPr>
              <a:t>Transformation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65499" y="2478149"/>
            <a:ext cx="918844" cy="445770"/>
          </a:xfrm>
          <a:prstGeom prst="rect">
            <a:avLst/>
          </a:prstGeom>
          <a:solidFill>
            <a:srgbClr val="63D197"/>
          </a:solidFill>
          <a:ln w="9524">
            <a:solidFill>
              <a:srgbClr val="4BA173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1050">
              <a:latin typeface="Times New Roman"/>
              <a:cs typeface="Times New Roman"/>
            </a:endParaRPr>
          </a:p>
          <a:p>
            <a:pPr marL="117475">
              <a:lnSpc>
                <a:spcPct val="100000"/>
              </a:lnSpc>
            </a:pPr>
            <a:r>
              <a:rPr sz="800" spc="-5" dirty="0">
                <a:latin typeface="Arial MT"/>
                <a:cs typeface="Arial MT"/>
              </a:rPr>
              <a:t>Transformation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386575" y="2523300"/>
            <a:ext cx="918844" cy="445770"/>
          </a:xfrm>
          <a:custGeom>
            <a:avLst/>
            <a:gdLst/>
            <a:ahLst/>
            <a:cxnLst/>
            <a:rect l="l" t="t" r="r" b="b"/>
            <a:pathLst>
              <a:path w="918845" h="445769">
                <a:moveTo>
                  <a:pt x="918599" y="445499"/>
                </a:moveTo>
                <a:lnTo>
                  <a:pt x="0" y="445499"/>
                </a:lnTo>
                <a:lnTo>
                  <a:pt x="0" y="0"/>
                </a:lnTo>
                <a:lnTo>
                  <a:pt x="918599" y="0"/>
                </a:lnTo>
                <a:lnTo>
                  <a:pt x="918599" y="445499"/>
                </a:lnTo>
                <a:close/>
              </a:path>
            </a:pathLst>
          </a:custGeom>
          <a:solidFill>
            <a:srgbClr val="63D19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386575" y="2523300"/>
            <a:ext cx="918844" cy="445770"/>
          </a:xfrm>
          <a:prstGeom prst="rect">
            <a:avLst/>
          </a:prstGeom>
          <a:ln w="9524">
            <a:solidFill>
              <a:srgbClr val="4BA173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1050">
              <a:latin typeface="Times New Roman"/>
              <a:cs typeface="Times New Roman"/>
            </a:endParaRPr>
          </a:p>
          <a:p>
            <a:pPr marL="117475">
              <a:lnSpc>
                <a:spcPct val="100000"/>
              </a:lnSpc>
            </a:pPr>
            <a:r>
              <a:rPr sz="800" spc="-5" dirty="0">
                <a:latin typeface="Arial MT"/>
                <a:cs typeface="Arial MT"/>
              </a:rPr>
              <a:t>Transformation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419599" y="3702779"/>
            <a:ext cx="929640" cy="41275"/>
            <a:chOff x="1419599" y="3702779"/>
            <a:chExt cx="929640" cy="41275"/>
          </a:xfrm>
        </p:grpSpPr>
        <p:sp>
          <p:nvSpPr>
            <p:cNvPr id="10" name="object 10"/>
            <p:cNvSpPr/>
            <p:nvPr/>
          </p:nvSpPr>
          <p:spPr>
            <a:xfrm>
              <a:off x="1419599" y="3723275"/>
              <a:ext cx="881380" cy="0"/>
            </a:xfrm>
            <a:custGeom>
              <a:avLst/>
              <a:gdLst/>
              <a:ahLst/>
              <a:cxnLst/>
              <a:rect l="l" t="t" r="r" b="b"/>
              <a:pathLst>
                <a:path w="881380">
                  <a:moveTo>
                    <a:pt x="0" y="0"/>
                  </a:moveTo>
                  <a:lnTo>
                    <a:pt x="881249" y="0"/>
                  </a:lnTo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300849" y="37075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4BA1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300849" y="37075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1415012" y="1888112"/>
            <a:ext cx="2945765" cy="1840230"/>
            <a:chOff x="1415012" y="1888112"/>
            <a:chExt cx="2945765" cy="1840230"/>
          </a:xfrm>
        </p:grpSpPr>
        <p:sp>
          <p:nvSpPr>
            <p:cNvPr id="14" name="object 14"/>
            <p:cNvSpPr/>
            <p:nvPr/>
          </p:nvSpPr>
          <p:spPr>
            <a:xfrm>
              <a:off x="1419774" y="2086437"/>
              <a:ext cx="913130" cy="322580"/>
            </a:xfrm>
            <a:custGeom>
              <a:avLst/>
              <a:gdLst/>
              <a:ahLst/>
              <a:cxnLst/>
              <a:rect l="l" t="t" r="r" b="b"/>
              <a:pathLst>
                <a:path w="913130" h="322580">
                  <a:moveTo>
                    <a:pt x="0" y="322087"/>
                  </a:moveTo>
                  <a:lnTo>
                    <a:pt x="913005" y="0"/>
                  </a:lnTo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327546" y="2071601"/>
              <a:ext cx="46355" cy="29845"/>
            </a:xfrm>
            <a:custGeom>
              <a:avLst/>
              <a:gdLst/>
              <a:ahLst/>
              <a:cxnLst/>
              <a:rect l="l" t="t" r="r" b="b"/>
              <a:pathLst>
                <a:path w="46355" h="29844">
                  <a:moveTo>
                    <a:pt x="10467" y="29673"/>
                  </a:moveTo>
                  <a:lnTo>
                    <a:pt x="0" y="0"/>
                  </a:lnTo>
                  <a:lnTo>
                    <a:pt x="45997" y="456"/>
                  </a:lnTo>
                  <a:lnTo>
                    <a:pt x="10467" y="29673"/>
                  </a:lnTo>
                  <a:close/>
                </a:path>
              </a:pathLst>
            </a:custGeom>
            <a:solidFill>
              <a:srgbClr val="4BA1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327546" y="2071601"/>
              <a:ext cx="46355" cy="29845"/>
            </a:xfrm>
            <a:custGeom>
              <a:avLst/>
              <a:gdLst/>
              <a:ahLst/>
              <a:cxnLst/>
              <a:rect l="l" t="t" r="r" b="b"/>
              <a:pathLst>
                <a:path w="46355" h="29844">
                  <a:moveTo>
                    <a:pt x="10467" y="29673"/>
                  </a:moveTo>
                  <a:lnTo>
                    <a:pt x="45997" y="456"/>
                  </a:lnTo>
                  <a:lnTo>
                    <a:pt x="0" y="0"/>
                  </a:lnTo>
                  <a:lnTo>
                    <a:pt x="10467" y="29673"/>
                  </a:lnTo>
                  <a:close/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419774" y="2408524"/>
              <a:ext cx="913130" cy="318770"/>
            </a:xfrm>
            <a:custGeom>
              <a:avLst/>
              <a:gdLst/>
              <a:ahLst/>
              <a:cxnLst/>
              <a:rect l="l" t="t" r="r" b="b"/>
              <a:pathLst>
                <a:path w="913130" h="318769">
                  <a:moveTo>
                    <a:pt x="0" y="0"/>
                  </a:moveTo>
                  <a:lnTo>
                    <a:pt x="912942" y="318665"/>
                  </a:lnTo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327532" y="2712337"/>
              <a:ext cx="46355" cy="29845"/>
            </a:xfrm>
            <a:custGeom>
              <a:avLst/>
              <a:gdLst/>
              <a:ahLst/>
              <a:cxnLst/>
              <a:rect l="l" t="t" r="r" b="b"/>
              <a:pathLst>
                <a:path w="46355" h="29844">
                  <a:moveTo>
                    <a:pt x="0" y="29707"/>
                  </a:moveTo>
                  <a:lnTo>
                    <a:pt x="10369" y="0"/>
                  </a:lnTo>
                  <a:lnTo>
                    <a:pt x="45995" y="29099"/>
                  </a:lnTo>
                  <a:lnTo>
                    <a:pt x="0" y="29707"/>
                  </a:lnTo>
                  <a:close/>
                </a:path>
              </a:pathLst>
            </a:custGeom>
            <a:solidFill>
              <a:srgbClr val="4BA1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327532" y="2712337"/>
              <a:ext cx="46355" cy="29845"/>
            </a:xfrm>
            <a:custGeom>
              <a:avLst/>
              <a:gdLst/>
              <a:ahLst/>
              <a:cxnLst/>
              <a:rect l="l" t="t" r="r" b="b"/>
              <a:pathLst>
                <a:path w="46355" h="29844">
                  <a:moveTo>
                    <a:pt x="0" y="29707"/>
                  </a:moveTo>
                  <a:lnTo>
                    <a:pt x="45995" y="29099"/>
                  </a:lnTo>
                  <a:lnTo>
                    <a:pt x="10369" y="0"/>
                  </a:lnTo>
                  <a:lnTo>
                    <a:pt x="0" y="29707"/>
                  </a:lnTo>
                  <a:close/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305175" y="2703473"/>
              <a:ext cx="1003300" cy="43180"/>
            </a:xfrm>
            <a:custGeom>
              <a:avLst/>
              <a:gdLst/>
              <a:ahLst/>
              <a:cxnLst/>
              <a:rect l="l" t="t" r="r" b="b"/>
              <a:pathLst>
                <a:path w="1003300" h="43180">
                  <a:moveTo>
                    <a:pt x="0" y="42576"/>
                  </a:moveTo>
                  <a:lnTo>
                    <a:pt x="1003101" y="0"/>
                  </a:lnTo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307609" y="2687754"/>
              <a:ext cx="44450" cy="31750"/>
            </a:xfrm>
            <a:custGeom>
              <a:avLst/>
              <a:gdLst/>
              <a:ahLst/>
              <a:cxnLst/>
              <a:rect l="l" t="t" r="r" b="b"/>
              <a:pathLst>
                <a:path w="44450" h="31750">
                  <a:moveTo>
                    <a:pt x="1334" y="31437"/>
                  </a:moveTo>
                  <a:lnTo>
                    <a:pt x="0" y="0"/>
                  </a:lnTo>
                  <a:lnTo>
                    <a:pt x="43853" y="13885"/>
                  </a:lnTo>
                  <a:lnTo>
                    <a:pt x="1334" y="31437"/>
                  </a:lnTo>
                  <a:close/>
                </a:path>
              </a:pathLst>
            </a:custGeom>
            <a:solidFill>
              <a:srgbClr val="4BA1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307609" y="2687754"/>
              <a:ext cx="44450" cy="31750"/>
            </a:xfrm>
            <a:custGeom>
              <a:avLst/>
              <a:gdLst/>
              <a:ahLst/>
              <a:cxnLst/>
              <a:rect l="l" t="t" r="r" b="b"/>
              <a:pathLst>
                <a:path w="44450" h="31750">
                  <a:moveTo>
                    <a:pt x="1334" y="31437"/>
                  </a:moveTo>
                  <a:lnTo>
                    <a:pt x="43853" y="13885"/>
                  </a:lnTo>
                  <a:lnTo>
                    <a:pt x="0" y="0"/>
                  </a:lnTo>
                  <a:lnTo>
                    <a:pt x="1334" y="31437"/>
                  </a:lnTo>
                  <a:close/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276600" y="2739991"/>
              <a:ext cx="1047750" cy="983615"/>
            </a:xfrm>
            <a:custGeom>
              <a:avLst/>
              <a:gdLst/>
              <a:ahLst/>
              <a:cxnLst/>
              <a:rect l="l" t="t" r="r" b="b"/>
              <a:pathLst>
                <a:path w="1047750" h="983614">
                  <a:moveTo>
                    <a:pt x="0" y="983282"/>
                  </a:moveTo>
                  <a:lnTo>
                    <a:pt x="1047334" y="0"/>
                  </a:lnTo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313166" y="2710405"/>
              <a:ext cx="42545" cy="41275"/>
            </a:xfrm>
            <a:custGeom>
              <a:avLst/>
              <a:gdLst/>
              <a:ahLst/>
              <a:cxnLst/>
              <a:rect l="l" t="t" r="r" b="b"/>
              <a:pathLst>
                <a:path w="42545" h="41275">
                  <a:moveTo>
                    <a:pt x="21536" y="41056"/>
                  </a:moveTo>
                  <a:lnTo>
                    <a:pt x="0" y="18116"/>
                  </a:lnTo>
                  <a:lnTo>
                    <a:pt x="42281" y="0"/>
                  </a:lnTo>
                  <a:lnTo>
                    <a:pt x="21536" y="41056"/>
                  </a:lnTo>
                  <a:close/>
                </a:path>
              </a:pathLst>
            </a:custGeom>
            <a:solidFill>
              <a:srgbClr val="4BA1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313166" y="2710405"/>
              <a:ext cx="42545" cy="41275"/>
            </a:xfrm>
            <a:custGeom>
              <a:avLst/>
              <a:gdLst/>
              <a:ahLst/>
              <a:cxnLst/>
              <a:rect l="l" t="t" r="r" b="b"/>
              <a:pathLst>
                <a:path w="42545" h="41275">
                  <a:moveTo>
                    <a:pt x="21536" y="41056"/>
                  </a:moveTo>
                  <a:lnTo>
                    <a:pt x="42281" y="0"/>
                  </a:lnTo>
                  <a:lnTo>
                    <a:pt x="0" y="18116"/>
                  </a:lnTo>
                  <a:lnTo>
                    <a:pt x="21536" y="41056"/>
                  </a:lnTo>
                  <a:close/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305175" y="2067474"/>
              <a:ext cx="1011555" cy="604520"/>
            </a:xfrm>
            <a:custGeom>
              <a:avLst/>
              <a:gdLst/>
              <a:ahLst/>
              <a:cxnLst/>
              <a:rect l="l" t="t" r="r" b="b"/>
              <a:pathLst>
                <a:path w="1011554" h="604519">
                  <a:moveTo>
                    <a:pt x="0" y="0"/>
                  </a:moveTo>
                  <a:lnTo>
                    <a:pt x="1011136" y="603992"/>
                  </a:lnTo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308243" y="2657961"/>
              <a:ext cx="45720" cy="36195"/>
            </a:xfrm>
            <a:custGeom>
              <a:avLst/>
              <a:gdLst/>
              <a:ahLst/>
              <a:cxnLst/>
              <a:rect l="l" t="t" r="r" b="b"/>
              <a:pathLst>
                <a:path w="45720" h="36194">
                  <a:moveTo>
                    <a:pt x="45176" y="35673"/>
                  </a:moveTo>
                  <a:lnTo>
                    <a:pt x="0" y="27013"/>
                  </a:lnTo>
                  <a:lnTo>
                    <a:pt x="16135" y="0"/>
                  </a:lnTo>
                  <a:lnTo>
                    <a:pt x="45176" y="35673"/>
                  </a:lnTo>
                  <a:close/>
                </a:path>
              </a:pathLst>
            </a:custGeom>
            <a:solidFill>
              <a:srgbClr val="4BA1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308243" y="2657961"/>
              <a:ext cx="45720" cy="36195"/>
            </a:xfrm>
            <a:custGeom>
              <a:avLst/>
              <a:gdLst/>
              <a:ahLst/>
              <a:cxnLst/>
              <a:rect l="l" t="t" r="r" b="b"/>
              <a:pathLst>
                <a:path w="45720" h="36194">
                  <a:moveTo>
                    <a:pt x="0" y="27013"/>
                  </a:moveTo>
                  <a:lnTo>
                    <a:pt x="45176" y="35673"/>
                  </a:lnTo>
                  <a:lnTo>
                    <a:pt x="16135" y="0"/>
                  </a:lnTo>
                  <a:lnTo>
                    <a:pt x="0" y="27013"/>
                  </a:lnTo>
                  <a:close/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615764" y="1892874"/>
              <a:ext cx="575310" cy="349250"/>
            </a:xfrm>
            <a:custGeom>
              <a:avLst/>
              <a:gdLst/>
              <a:ahLst/>
              <a:cxnLst/>
              <a:rect l="l" t="t" r="r" b="b"/>
              <a:pathLst>
                <a:path w="575310" h="349250">
                  <a:moveTo>
                    <a:pt x="57899" y="349199"/>
                  </a:moveTo>
                  <a:lnTo>
                    <a:pt x="0" y="198899"/>
                  </a:lnTo>
                  <a:lnTo>
                    <a:pt x="516899" y="0"/>
                  </a:lnTo>
                  <a:lnTo>
                    <a:pt x="574799" y="150299"/>
                  </a:lnTo>
                  <a:lnTo>
                    <a:pt x="57899" y="349199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615764" y="1892874"/>
              <a:ext cx="575310" cy="349250"/>
            </a:xfrm>
            <a:custGeom>
              <a:avLst/>
              <a:gdLst/>
              <a:ahLst/>
              <a:cxnLst/>
              <a:rect l="l" t="t" r="r" b="b"/>
              <a:pathLst>
                <a:path w="575310" h="349250">
                  <a:moveTo>
                    <a:pt x="0" y="198899"/>
                  </a:moveTo>
                  <a:lnTo>
                    <a:pt x="516899" y="0"/>
                  </a:lnTo>
                  <a:lnTo>
                    <a:pt x="574799" y="150299"/>
                  </a:lnTo>
                  <a:lnTo>
                    <a:pt x="57899" y="349199"/>
                  </a:lnTo>
                  <a:lnTo>
                    <a:pt x="0" y="198899"/>
                  </a:lnTo>
                  <a:close/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1" name="object 31"/>
          <p:cNvGrpSpPr/>
          <p:nvPr/>
        </p:nvGrpSpPr>
        <p:grpSpPr>
          <a:xfrm>
            <a:off x="6339662" y="2358637"/>
            <a:ext cx="1069975" cy="684530"/>
            <a:chOff x="6339662" y="2358637"/>
            <a:chExt cx="1069975" cy="684530"/>
          </a:xfrm>
        </p:grpSpPr>
        <p:sp>
          <p:nvSpPr>
            <p:cNvPr id="32" name="object 32"/>
            <p:cNvSpPr/>
            <p:nvPr/>
          </p:nvSpPr>
          <p:spPr>
            <a:xfrm>
              <a:off x="6344425" y="2447774"/>
              <a:ext cx="1060450" cy="591185"/>
            </a:xfrm>
            <a:custGeom>
              <a:avLst/>
              <a:gdLst/>
              <a:ahLst/>
              <a:cxnLst/>
              <a:rect l="l" t="t" r="r" b="b"/>
              <a:pathLst>
                <a:path w="1060450" h="591185">
                  <a:moveTo>
                    <a:pt x="530099" y="590624"/>
                  </a:moveTo>
                  <a:lnTo>
                    <a:pt x="451765" y="589710"/>
                  </a:lnTo>
                  <a:lnTo>
                    <a:pt x="376999" y="587052"/>
                  </a:lnTo>
                  <a:lnTo>
                    <a:pt x="306623" y="582782"/>
                  </a:lnTo>
                  <a:lnTo>
                    <a:pt x="241454" y="577031"/>
                  </a:lnTo>
                  <a:lnTo>
                    <a:pt x="182315" y="569929"/>
                  </a:lnTo>
                  <a:lnTo>
                    <a:pt x="130024" y="561606"/>
                  </a:lnTo>
                  <a:lnTo>
                    <a:pt x="85402" y="552193"/>
                  </a:lnTo>
                  <a:lnTo>
                    <a:pt x="22443" y="530618"/>
                  </a:lnTo>
                  <a:lnTo>
                    <a:pt x="0" y="506249"/>
                  </a:lnTo>
                  <a:lnTo>
                    <a:pt x="0" y="0"/>
                  </a:lnTo>
                  <a:lnTo>
                    <a:pt x="5747" y="12468"/>
                  </a:lnTo>
                  <a:lnTo>
                    <a:pt x="22443" y="24368"/>
                  </a:lnTo>
                  <a:lnTo>
                    <a:pt x="85402" y="45943"/>
                  </a:lnTo>
                  <a:lnTo>
                    <a:pt x="130024" y="55356"/>
                  </a:lnTo>
                  <a:lnTo>
                    <a:pt x="182315" y="63679"/>
                  </a:lnTo>
                  <a:lnTo>
                    <a:pt x="241454" y="70781"/>
                  </a:lnTo>
                  <a:lnTo>
                    <a:pt x="306623" y="76532"/>
                  </a:lnTo>
                  <a:lnTo>
                    <a:pt x="376999" y="80802"/>
                  </a:lnTo>
                  <a:lnTo>
                    <a:pt x="451765" y="83460"/>
                  </a:lnTo>
                  <a:lnTo>
                    <a:pt x="530099" y="84374"/>
                  </a:lnTo>
                  <a:lnTo>
                    <a:pt x="608434" y="83460"/>
                  </a:lnTo>
                  <a:lnTo>
                    <a:pt x="683200" y="80802"/>
                  </a:lnTo>
                  <a:lnTo>
                    <a:pt x="753576" y="76532"/>
                  </a:lnTo>
                  <a:lnTo>
                    <a:pt x="818745" y="70781"/>
                  </a:lnTo>
                  <a:lnTo>
                    <a:pt x="877884" y="63679"/>
                  </a:lnTo>
                  <a:lnTo>
                    <a:pt x="930175" y="55356"/>
                  </a:lnTo>
                  <a:lnTo>
                    <a:pt x="974797" y="45943"/>
                  </a:lnTo>
                  <a:lnTo>
                    <a:pt x="1037756" y="24368"/>
                  </a:lnTo>
                  <a:lnTo>
                    <a:pt x="1060199" y="0"/>
                  </a:lnTo>
                  <a:lnTo>
                    <a:pt x="1060199" y="506249"/>
                  </a:lnTo>
                  <a:lnTo>
                    <a:pt x="1010931" y="541820"/>
                  </a:lnTo>
                  <a:lnTo>
                    <a:pt x="930175" y="561606"/>
                  </a:lnTo>
                  <a:lnTo>
                    <a:pt x="877884" y="569929"/>
                  </a:lnTo>
                  <a:lnTo>
                    <a:pt x="818745" y="577031"/>
                  </a:lnTo>
                  <a:lnTo>
                    <a:pt x="753576" y="582782"/>
                  </a:lnTo>
                  <a:lnTo>
                    <a:pt x="683200" y="587052"/>
                  </a:lnTo>
                  <a:lnTo>
                    <a:pt x="608434" y="589710"/>
                  </a:lnTo>
                  <a:lnTo>
                    <a:pt x="530099" y="590624"/>
                  </a:lnTo>
                  <a:close/>
                </a:path>
              </a:pathLst>
            </a:custGeom>
            <a:solidFill>
              <a:srgbClr val="63D1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344425" y="2363399"/>
              <a:ext cx="1060450" cy="168910"/>
            </a:xfrm>
            <a:custGeom>
              <a:avLst/>
              <a:gdLst/>
              <a:ahLst/>
              <a:cxnLst/>
              <a:rect l="l" t="t" r="r" b="b"/>
              <a:pathLst>
                <a:path w="1060450" h="168910">
                  <a:moveTo>
                    <a:pt x="530099" y="168749"/>
                  </a:moveTo>
                  <a:lnTo>
                    <a:pt x="451765" y="167835"/>
                  </a:lnTo>
                  <a:lnTo>
                    <a:pt x="376999" y="165177"/>
                  </a:lnTo>
                  <a:lnTo>
                    <a:pt x="306623" y="160907"/>
                  </a:lnTo>
                  <a:lnTo>
                    <a:pt x="241454" y="155156"/>
                  </a:lnTo>
                  <a:lnTo>
                    <a:pt x="182315" y="148054"/>
                  </a:lnTo>
                  <a:lnTo>
                    <a:pt x="130024" y="139731"/>
                  </a:lnTo>
                  <a:lnTo>
                    <a:pt x="85402" y="130318"/>
                  </a:lnTo>
                  <a:lnTo>
                    <a:pt x="22443" y="108743"/>
                  </a:lnTo>
                  <a:lnTo>
                    <a:pt x="0" y="84374"/>
                  </a:lnTo>
                  <a:lnTo>
                    <a:pt x="5747" y="71906"/>
                  </a:lnTo>
                  <a:lnTo>
                    <a:pt x="49268" y="48804"/>
                  </a:lnTo>
                  <a:lnTo>
                    <a:pt x="130024" y="29018"/>
                  </a:lnTo>
                  <a:lnTo>
                    <a:pt x="182315" y="20695"/>
                  </a:lnTo>
                  <a:lnTo>
                    <a:pt x="241454" y="13593"/>
                  </a:lnTo>
                  <a:lnTo>
                    <a:pt x="306623" y="7842"/>
                  </a:lnTo>
                  <a:lnTo>
                    <a:pt x="376999" y="3572"/>
                  </a:lnTo>
                  <a:lnTo>
                    <a:pt x="451765" y="914"/>
                  </a:lnTo>
                  <a:lnTo>
                    <a:pt x="530099" y="0"/>
                  </a:lnTo>
                  <a:lnTo>
                    <a:pt x="608434" y="914"/>
                  </a:lnTo>
                  <a:lnTo>
                    <a:pt x="683200" y="3572"/>
                  </a:lnTo>
                  <a:lnTo>
                    <a:pt x="753576" y="7842"/>
                  </a:lnTo>
                  <a:lnTo>
                    <a:pt x="818745" y="13593"/>
                  </a:lnTo>
                  <a:lnTo>
                    <a:pt x="877884" y="20695"/>
                  </a:lnTo>
                  <a:lnTo>
                    <a:pt x="930175" y="29018"/>
                  </a:lnTo>
                  <a:lnTo>
                    <a:pt x="974797" y="38431"/>
                  </a:lnTo>
                  <a:lnTo>
                    <a:pt x="1037756" y="60006"/>
                  </a:lnTo>
                  <a:lnTo>
                    <a:pt x="1060199" y="84374"/>
                  </a:lnTo>
                  <a:lnTo>
                    <a:pt x="1054452" y="96843"/>
                  </a:lnTo>
                  <a:lnTo>
                    <a:pt x="1010931" y="119945"/>
                  </a:lnTo>
                  <a:lnTo>
                    <a:pt x="930175" y="139731"/>
                  </a:lnTo>
                  <a:lnTo>
                    <a:pt x="877884" y="148054"/>
                  </a:lnTo>
                  <a:lnTo>
                    <a:pt x="818745" y="155156"/>
                  </a:lnTo>
                  <a:lnTo>
                    <a:pt x="753576" y="160907"/>
                  </a:lnTo>
                  <a:lnTo>
                    <a:pt x="683200" y="165177"/>
                  </a:lnTo>
                  <a:lnTo>
                    <a:pt x="608434" y="167835"/>
                  </a:lnTo>
                  <a:lnTo>
                    <a:pt x="530099" y="168749"/>
                  </a:lnTo>
                  <a:close/>
                </a:path>
              </a:pathLst>
            </a:custGeom>
            <a:solidFill>
              <a:srgbClr val="A1E4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344425" y="2363399"/>
              <a:ext cx="1060450" cy="675005"/>
            </a:xfrm>
            <a:custGeom>
              <a:avLst/>
              <a:gdLst/>
              <a:ahLst/>
              <a:cxnLst/>
              <a:rect l="l" t="t" r="r" b="b"/>
              <a:pathLst>
                <a:path w="1060450" h="675005">
                  <a:moveTo>
                    <a:pt x="1060199" y="84374"/>
                  </a:moveTo>
                  <a:lnTo>
                    <a:pt x="1054452" y="96843"/>
                  </a:lnTo>
                  <a:lnTo>
                    <a:pt x="1037756" y="108743"/>
                  </a:lnTo>
                  <a:lnTo>
                    <a:pt x="974797" y="130318"/>
                  </a:lnTo>
                  <a:lnTo>
                    <a:pt x="930175" y="139731"/>
                  </a:lnTo>
                  <a:lnTo>
                    <a:pt x="877884" y="148054"/>
                  </a:lnTo>
                  <a:lnTo>
                    <a:pt x="818745" y="155156"/>
                  </a:lnTo>
                  <a:lnTo>
                    <a:pt x="753576" y="160907"/>
                  </a:lnTo>
                  <a:lnTo>
                    <a:pt x="683200" y="165177"/>
                  </a:lnTo>
                  <a:lnTo>
                    <a:pt x="608434" y="167835"/>
                  </a:lnTo>
                  <a:lnTo>
                    <a:pt x="530099" y="168749"/>
                  </a:lnTo>
                  <a:lnTo>
                    <a:pt x="451765" y="167835"/>
                  </a:lnTo>
                  <a:lnTo>
                    <a:pt x="376999" y="165177"/>
                  </a:lnTo>
                  <a:lnTo>
                    <a:pt x="306623" y="160907"/>
                  </a:lnTo>
                  <a:lnTo>
                    <a:pt x="241454" y="155156"/>
                  </a:lnTo>
                  <a:lnTo>
                    <a:pt x="182315" y="148054"/>
                  </a:lnTo>
                  <a:lnTo>
                    <a:pt x="130024" y="139731"/>
                  </a:lnTo>
                  <a:lnTo>
                    <a:pt x="85402" y="130318"/>
                  </a:lnTo>
                  <a:lnTo>
                    <a:pt x="22443" y="108743"/>
                  </a:lnTo>
                  <a:lnTo>
                    <a:pt x="0" y="84374"/>
                  </a:lnTo>
                  <a:lnTo>
                    <a:pt x="49268" y="48804"/>
                  </a:lnTo>
                  <a:lnTo>
                    <a:pt x="130024" y="29018"/>
                  </a:lnTo>
                  <a:lnTo>
                    <a:pt x="182315" y="20695"/>
                  </a:lnTo>
                  <a:lnTo>
                    <a:pt x="241454" y="13593"/>
                  </a:lnTo>
                  <a:lnTo>
                    <a:pt x="306623" y="7842"/>
                  </a:lnTo>
                  <a:lnTo>
                    <a:pt x="376999" y="3572"/>
                  </a:lnTo>
                  <a:lnTo>
                    <a:pt x="451765" y="914"/>
                  </a:lnTo>
                  <a:lnTo>
                    <a:pt x="530099" y="0"/>
                  </a:lnTo>
                  <a:lnTo>
                    <a:pt x="608434" y="914"/>
                  </a:lnTo>
                  <a:lnTo>
                    <a:pt x="683200" y="3572"/>
                  </a:lnTo>
                  <a:lnTo>
                    <a:pt x="753576" y="7842"/>
                  </a:lnTo>
                  <a:lnTo>
                    <a:pt x="818745" y="13593"/>
                  </a:lnTo>
                  <a:lnTo>
                    <a:pt x="877884" y="20695"/>
                  </a:lnTo>
                  <a:lnTo>
                    <a:pt x="930175" y="29018"/>
                  </a:lnTo>
                  <a:lnTo>
                    <a:pt x="974797" y="38431"/>
                  </a:lnTo>
                  <a:lnTo>
                    <a:pt x="1037756" y="60006"/>
                  </a:lnTo>
                  <a:lnTo>
                    <a:pt x="1060199" y="84374"/>
                  </a:lnTo>
                  <a:lnTo>
                    <a:pt x="1060199" y="590624"/>
                  </a:lnTo>
                  <a:lnTo>
                    <a:pt x="1010931" y="626195"/>
                  </a:lnTo>
                  <a:lnTo>
                    <a:pt x="930175" y="645981"/>
                  </a:lnTo>
                  <a:lnTo>
                    <a:pt x="877884" y="654304"/>
                  </a:lnTo>
                  <a:lnTo>
                    <a:pt x="818745" y="661406"/>
                  </a:lnTo>
                  <a:lnTo>
                    <a:pt x="753576" y="667157"/>
                  </a:lnTo>
                  <a:lnTo>
                    <a:pt x="683200" y="671427"/>
                  </a:lnTo>
                  <a:lnTo>
                    <a:pt x="608434" y="674085"/>
                  </a:lnTo>
                  <a:lnTo>
                    <a:pt x="530099" y="674999"/>
                  </a:lnTo>
                  <a:lnTo>
                    <a:pt x="451765" y="674085"/>
                  </a:lnTo>
                  <a:lnTo>
                    <a:pt x="376999" y="671427"/>
                  </a:lnTo>
                  <a:lnTo>
                    <a:pt x="306623" y="667157"/>
                  </a:lnTo>
                  <a:lnTo>
                    <a:pt x="241454" y="661406"/>
                  </a:lnTo>
                  <a:lnTo>
                    <a:pt x="182315" y="654304"/>
                  </a:lnTo>
                  <a:lnTo>
                    <a:pt x="130024" y="645981"/>
                  </a:lnTo>
                  <a:lnTo>
                    <a:pt x="85402" y="636568"/>
                  </a:lnTo>
                  <a:lnTo>
                    <a:pt x="22443" y="614993"/>
                  </a:lnTo>
                  <a:lnTo>
                    <a:pt x="0" y="590624"/>
                  </a:lnTo>
                  <a:lnTo>
                    <a:pt x="0" y="84374"/>
                  </a:lnTo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6595100" y="2618500"/>
            <a:ext cx="5588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MT"/>
                <a:cs typeface="Arial MT"/>
              </a:rPr>
              <a:t>Output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284099" y="2680404"/>
            <a:ext cx="1051560" cy="41275"/>
            <a:chOff x="5284099" y="2680404"/>
            <a:chExt cx="1051560" cy="41275"/>
          </a:xfrm>
        </p:grpSpPr>
        <p:sp>
          <p:nvSpPr>
            <p:cNvPr id="37" name="object 37"/>
            <p:cNvSpPr/>
            <p:nvPr/>
          </p:nvSpPr>
          <p:spPr>
            <a:xfrm>
              <a:off x="5284099" y="2700900"/>
              <a:ext cx="1003300" cy="0"/>
            </a:xfrm>
            <a:custGeom>
              <a:avLst/>
              <a:gdLst/>
              <a:ahLst/>
              <a:cxnLst/>
              <a:rect l="l" t="t" r="r" b="b"/>
              <a:pathLst>
                <a:path w="1003300">
                  <a:moveTo>
                    <a:pt x="0" y="0"/>
                  </a:moveTo>
                  <a:lnTo>
                    <a:pt x="1003049" y="0"/>
                  </a:lnTo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287149" y="26851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4BA1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287149" y="26851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1492950" y="1425336"/>
            <a:ext cx="42672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5" dirty="0">
                <a:latin typeface="Arial MT"/>
                <a:cs typeface="Arial MT"/>
              </a:rPr>
              <a:t>DStream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646000" y="3074011"/>
            <a:ext cx="42672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5" dirty="0">
                <a:latin typeface="Arial MT"/>
                <a:cs typeface="Arial MT"/>
              </a:rPr>
              <a:t>DStream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652525" y="4252760"/>
            <a:ext cx="42672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5" dirty="0">
                <a:latin typeface="Arial MT"/>
                <a:cs typeface="Arial MT"/>
              </a:rPr>
              <a:t>DStream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591674" y="2477485"/>
            <a:ext cx="30734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5" dirty="0">
                <a:latin typeface="Arial MT"/>
                <a:cs typeface="Arial MT"/>
              </a:rPr>
              <a:t>Action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52875" y="3500525"/>
            <a:ext cx="967105" cy="445770"/>
          </a:xfrm>
          <a:prstGeom prst="rect">
            <a:avLst/>
          </a:prstGeom>
          <a:solidFill>
            <a:srgbClr val="63D197"/>
          </a:solidFill>
          <a:ln w="9524">
            <a:solidFill>
              <a:srgbClr val="4BA173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L="201930" marR="191135" indent="-5080">
              <a:lnSpc>
                <a:spcPts val="1650"/>
              </a:lnSpc>
              <a:spcBef>
                <a:spcPts val="125"/>
              </a:spcBef>
            </a:pPr>
            <a:r>
              <a:rPr sz="1400" spc="-5" dirty="0">
                <a:latin typeface="Arial MT"/>
                <a:cs typeface="Arial MT"/>
              </a:rPr>
              <a:t>Stream  Source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5" name="object 45"/>
          <p:cNvSpPr txBox="1"/>
          <p:nvPr/>
        </p:nvSpPr>
        <p:spPr>
          <a:xfrm rot="20340000">
            <a:off x="1726118" y="2028569"/>
            <a:ext cx="353744" cy="76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00"/>
              </a:lnSpc>
            </a:pPr>
            <a:r>
              <a:rPr sz="600" spc="-5" dirty="0">
                <a:latin typeface="Arial MT"/>
                <a:cs typeface="Arial MT"/>
              </a:rPr>
              <a:t>RD</a:t>
            </a:r>
            <a:r>
              <a:rPr sz="600" dirty="0">
                <a:latin typeface="Arial MT"/>
                <a:cs typeface="Arial MT"/>
              </a:rPr>
              <a:t>D</a:t>
            </a:r>
            <a:r>
              <a:rPr sz="600" spc="-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(t=1)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1673841" y="2529984"/>
            <a:ext cx="584835" cy="353695"/>
            <a:chOff x="1673841" y="2529984"/>
            <a:chExt cx="584835" cy="353695"/>
          </a:xfrm>
        </p:grpSpPr>
        <p:sp>
          <p:nvSpPr>
            <p:cNvPr id="47" name="object 47"/>
            <p:cNvSpPr/>
            <p:nvPr/>
          </p:nvSpPr>
          <p:spPr>
            <a:xfrm>
              <a:off x="1678604" y="2534746"/>
              <a:ext cx="575310" cy="344170"/>
            </a:xfrm>
            <a:custGeom>
              <a:avLst/>
              <a:gdLst/>
              <a:ahLst/>
              <a:cxnLst/>
              <a:rect l="l" t="t" r="r" b="b"/>
              <a:pathLst>
                <a:path w="575310" h="344169">
                  <a:moveTo>
                    <a:pt x="518999" y="344099"/>
                  </a:moveTo>
                  <a:lnTo>
                    <a:pt x="0" y="150899"/>
                  </a:lnTo>
                  <a:lnTo>
                    <a:pt x="56099" y="0"/>
                  </a:lnTo>
                  <a:lnTo>
                    <a:pt x="575099" y="193199"/>
                  </a:lnTo>
                  <a:lnTo>
                    <a:pt x="518999" y="344099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678604" y="2534746"/>
              <a:ext cx="575310" cy="344170"/>
            </a:xfrm>
            <a:custGeom>
              <a:avLst/>
              <a:gdLst/>
              <a:ahLst/>
              <a:cxnLst/>
              <a:rect l="l" t="t" r="r" b="b"/>
              <a:pathLst>
                <a:path w="575310" h="344169">
                  <a:moveTo>
                    <a:pt x="56099" y="0"/>
                  </a:moveTo>
                  <a:lnTo>
                    <a:pt x="575099" y="193199"/>
                  </a:lnTo>
                  <a:lnTo>
                    <a:pt x="518999" y="344099"/>
                  </a:lnTo>
                  <a:lnTo>
                    <a:pt x="0" y="150899"/>
                  </a:lnTo>
                  <a:lnTo>
                    <a:pt x="56099" y="0"/>
                  </a:lnTo>
                  <a:close/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 rot="1200000">
            <a:off x="1789507" y="2667837"/>
            <a:ext cx="354364" cy="76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00"/>
              </a:lnSpc>
            </a:pPr>
            <a:r>
              <a:rPr sz="600" spc="-5" dirty="0">
                <a:latin typeface="Arial MT"/>
                <a:cs typeface="Arial MT"/>
              </a:rPr>
              <a:t>RD</a:t>
            </a:r>
            <a:r>
              <a:rPr sz="600" dirty="0">
                <a:latin typeface="Arial MT"/>
                <a:cs typeface="Arial MT"/>
              </a:rPr>
              <a:t>D</a:t>
            </a:r>
            <a:r>
              <a:rPr sz="600" spc="-1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(t=1)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1607232" y="3809946"/>
            <a:ext cx="563880" cy="171450"/>
            <a:chOff x="1607232" y="3809946"/>
            <a:chExt cx="563880" cy="171450"/>
          </a:xfrm>
        </p:grpSpPr>
        <p:sp>
          <p:nvSpPr>
            <p:cNvPr id="51" name="object 51"/>
            <p:cNvSpPr/>
            <p:nvPr/>
          </p:nvSpPr>
          <p:spPr>
            <a:xfrm>
              <a:off x="1611994" y="3814708"/>
              <a:ext cx="554355" cy="161925"/>
            </a:xfrm>
            <a:custGeom>
              <a:avLst/>
              <a:gdLst/>
              <a:ahLst/>
              <a:cxnLst/>
              <a:rect l="l" t="t" r="r" b="b"/>
              <a:pathLst>
                <a:path w="554355" h="161925">
                  <a:moveTo>
                    <a:pt x="553800" y="161399"/>
                  </a:moveTo>
                  <a:lnTo>
                    <a:pt x="0" y="161099"/>
                  </a:lnTo>
                  <a:lnTo>
                    <a:pt x="0" y="0"/>
                  </a:lnTo>
                  <a:lnTo>
                    <a:pt x="553800" y="299"/>
                  </a:lnTo>
                  <a:lnTo>
                    <a:pt x="553800" y="161399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611994" y="3814708"/>
              <a:ext cx="554355" cy="161925"/>
            </a:xfrm>
            <a:custGeom>
              <a:avLst/>
              <a:gdLst/>
              <a:ahLst/>
              <a:cxnLst/>
              <a:rect l="l" t="t" r="r" b="b"/>
              <a:pathLst>
                <a:path w="554355" h="161925">
                  <a:moveTo>
                    <a:pt x="0" y="0"/>
                  </a:moveTo>
                  <a:lnTo>
                    <a:pt x="553800" y="299"/>
                  </a:lnTo>
                  <a:lnTo>
                    <a:pt x="553800" y="161399"/>
                  </a:lnTo>
                  <a:lnTo>
                    <a:pt x="0" y="1610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1703665" y="3831942"/>
            <a:ext cx="37084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" dirty="0">
                <a:latin typeface="Arial MT"/>
                <a:cs typeface="Arial MT"/>
              </a:rPr>
              <a:t>RD</a:t>
            </a:r>
            <a:r>
              <a:rPr sz="600" dirty="0">
                <a:latin typeface="Arial MT"/>
                <a:cs typeface="Arial MT"/>
              </a:rPr>
              <a:t>D</a:t>
            </a:r>
            <a:r>
              <a:rPr sz="600" spc="-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(t=1)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478980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75" dirty="0">
                <a:solidFill>
                  <a:srgbClr val="202729"/>
                </a:solidFill>
              </a:rPr>
              <a:t>How</a:t>
            </a:r>
            <a:r>
              <a:rPr sz="2800" spc="-150" dirty="0">
                <a:solidFill>
                  <a:srgbClr val="202729"/>
                </a:solidFill>
              </a:rPr>
              <a:t> </a:t>
            </a:r>
            <a:r>
              <a:rPr sz="2800" spc="40" dirty="0">
                <a:solidFill>
                  <a:srgbClr val="202729"/>
                </a:solidFill>
              </a:rPr>
              <a:t>Spark</a:t>
            </a:r>
            <a:r>
              <a:rPr sz="2800" spc="-145" dirty="0">
                <a:solidFill>
                  <a:srgbClr val="202729"/>
                </a:solidFill>
              </a:rPr>
              <a:t> </a:t>
            </a:r>
            <a:r>
              <a:rPr sz="2800" spc="35" dirty="0">
                <a:solidFill>
                  <a:srgbClr val="202729"/>
                </a:solidFill>
              </a:rPr>
              <a:t>Handles</a:t>
            </a:r>
            <a:r>
              <a:rPr sz="2800" spc="-145" dirty="0">
                <a:solidFill>
                  <a:srgbClr val="202729"/>
                </a:solidFill>
              </a:rPr>
              <a:t> </a:t>
            </a:r>
            <a:r>
              <a:rPr sz="2800" spc="-15" dirty="0">
                <a:solidFill>
                  <a:srgbClr val="202729"/>
                </a:solidFill>
              </a:rPr>
              <a:t>Streaming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452875" y="2185774"/>
            <a:ext cx="967105" cy="445770"/>
          </a:xfrm>
          <a:prstGeom prst="rect">
            <a:avLst/>
          </a:prstGeom>
          <a:solidFill>
            <a:srgbClr val="63D197"/>
          </a:solidFill>
          <a:ln w="9524">
            <a:solidFill>
              <a:srgbClr val="4BA173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L="201930" marR="191135" indent="-5080">
              <a:lnSpc>
                <a:spcPts val="1650"/>
              </a:lnSpc>
              <a:spcBef>
                <a:spcPts val="125"/>
              </a:spcBef>
            </a:pPr>
            <a:r>
              <a:rPr sz="1400" spc="-5" dirty="0">
                <a:latin typeface="Arial MT"/>
                <a:cs typeface="Arial MT"/>
              </a:rPr>
              <a:t>Stream  Source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86575" y="1844724"/>
            <a:ext cx="918844" cy="445770"/>
          </a:xfrm>
          <a:prstGeom prst="rect">
            <a:avLst/>
          </a:prstGeom>
          <a:solidFill>
            <a:srgbClr val="63D197"/>
          </a:solidFill>
          <a:ln w="9524">
            <a:solidFill>
              <a:srgbClr val="4BA173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1050">
              <a:latin typeface="Times New Roman"/>
              <a:cs typeface="Times New Roman"/>
            </a:endParaRPr>
          </a:p>
          <a:p>
            <a:pPr marL="117475">
              <a:lnSpc>
                <a:spcPct val="100000"/>
              </a:lnSpc>
            </a:pPr>
            <a:r>
              <a:rPr sz="800" spc="-5" dirty="0">
                <a:latin typeface="Arial MT"/>
                <a:cs typeface="Arial MT"/>
              </a:rPr>
              <a:t>Transformation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58000" y="3500525"/>
            <a:ext cx="918844" cy="445770"/>
          </a:xfrm>
          <a:prstGeom prst="rect">
            <a:avLst/>
          </a:prstGeom>
          <a:solidFill>
            <a:srgbClr val="63D197"/>
          </a:solidFill>
          <a:ln w="9524">
            <a:solidFill>
              <a:srgbClr val="4BA173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1050">
              <a:latin typeface="Times New Roman"/>
              <a:cs typeface="Times New Roman"/>
            </a:endParaRPr>
          </a:p>
          <a:p>
            <a:pPr marL="117475">
              <a:lnSpc>
                <a:spcPct val="100000"/>
              </a:lnSpc>
            </a:pPr>
            <a:r>
              <a:rPr sz="800" spc="-5" dirty="0">
                <a:latin typeface="Arial MT"/>
                <a:cs typeface="Arial MT"/>
              </a:rPr>
              <a:t>Transformation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65499" y="2478149"/>
            <a:ext cx="918844" cy="445770"/>
          </a:xfrm>
          <a:prstGeom prst="rect">
            <a:avLst/>
          </a:prstGeom>
          <a:solidFill>
            <a:srgbClr val="63D197"/>
          </a:solidFill>
          <a:ln w="9524">
            <a:solidFill>
              <a:srgbClr val="4BA173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1050">
              <a:latin typeface="Times New Roman"/>
              <a:cs typeface="Times New Roman"/>
            </a:endParaRPr>
          </a:p>
          <a:p>
            <a:pPr marL="117475">
              <a:lnSpc>
                <a:spcPct val="100000"/>
              </a:lnSpc>
            </a:pPr>
            <a:r>
              <a:rPr sz="800" spc="-5" dirty="0">
                <a:latin typeface="Arial MT"/>
                <a:cs typeface="Arial MT"/>
              </a:rPr>
              <a:t>Transformation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386575" y="2523300"/>
            <a:ext cx="918844" cy="445770"/>
          </a:xfrm>
          <a:custGeom>
            <a:avLst/>
            <a:gdLst/>
            <a:ahLst/>
            <a:cxnLst/>
            <a:rect l="l" t="t" r="r" b="b"/>
            <a:pathLst>
              <a:path w="918845" h="445769">
                <a:moveTo>
                  <a:pt x="918599" y="445499"/>
                </a:moveTo>
                <a:lnTo>
                  <a:pt x="0" y="445499"/>
                </a:lnTo>
                <a:lnTo>
                  <a:pt x="0" y="0"/>
                </a:lnTo>
                <a:lnTo>
                  <a:pt x="918599" y="0"/>
                </a:lnTo>
                <a:lnTo>
                  <a:pt x="918599" y="445499"/>
                </a:lnTo>
                <a:close/>
              </a:path>
            </a:pathLst>
          </a:custGeom>
          <a:solidFill>
            <a:srgbClr val="63D19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386575" y="2523300"/>
            <a:ext cx="918844" cy="445770"/>
          </a:xfrm>
          <a:prstGeom prst="rect">
            <a:avLst/>
          </a:prstGeom>
          <a:ln w="9524">
            <a:solidFill>
              <a:srgbClr val="4BA173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1050">
              <a:latin typeface="Times New Roman"/>
              <a:cs typeface="Times New Roman"/>
            </a:endParaRPr>
          </a:p>
          <a:p>
            <a:pPr marL="117475">
              <a:lnSpc>
                <a:spcPct val="100000"/>
              </a:lnSpc>
            </a:pPr>
            <a:r>
              <a:rPr sz="800" spc="-5" dirty="0">
                <a:latin typeface="Arial MT"/>
                <a:cs typeface="Arial MT"/>
              </a:rPr>
              <a:t>Transformation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419599" y="3702779"/>
            <a:ext cx="929640" cy="41275"/>
            <a:chOff x="1419599" y="3702779"/>
            <a:chExt cx="929640" cy="41275"/>
          </a:xfrm>
        </p:grpSpPr>
        <p:sp>
          <p:nvSpPr>
            <p:cNvPr id="10" name="object 10"/>
            <p:cNvSpPr/>
            <p:nvPr/>
          </p:nvSpPr>
          <p:spPr>
            <a:xfrm>
              <a:off x="1419599" y="3723275"/>
              <a:ext cx="881380" cy="0"/>
            </a:xfrm>
            <a:custGeom>
              <a:avLst/>
              <a:gdLst/>
              <a:ahLst/>
              <a:cxnLst/>
              <a:rect l="l" t="t" r="r" b="b"/>
              <a:pathLst>
                <a:path w="881380">
                  <a:moveTo>
                    <a:pt x="0" y="0"/>
                  </a:moveTo>
                  <a:lnTo>
                    <a:pt x="881249" y="0"/>
                  </a:lnTo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300849" y="37075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4BA1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300849" y="37075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1415012" y="1888112"/>
            <a:ext cx="2945765" cy="1840230"/>
            <a:chOff x="1415012" y="1888112"/>
            <a:chExt cx="2945765" cy="1840230"/>
          </a:xfrm>
        </p:grpSpPr>
        <p:sp>
          <p:nvSpPr>
            <p:cNvPr id="14" name="object 14"/>
            <p:cNvSpPr/>
            <p:nvPr/>
          </p:nvSpPr>
          <p:spPr>
            <a:xfrm>
              <a:off x="1419774" y="2086437"/>
              <a:ext cx="913130" cy="322580"/>
            </a:xfrm>
            <a:custGeom>
              <a:avLst/>
              <a:gdLst/>
              <a:ahLst/>
              <a:cxnLst/>
              <a:rect l="l" t="t" r="r" b="b"/>
              <a:pathLst>
                <a:path w="913130" h="322580">
                  <a:moveTo>
                    <a:pt x="0" y="322087"/>
                  </a:moveTo>
                  <a:lnTo>
                    <a:pt x="913005" y="0"/>
                  </a:lnTo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327546" y="2071601"/>
              <a:ext cx="46355" cy="29845"/>
            </a:xfrm>
            <a:custGeom>
              <a:avLst/>
              <a:gdLst/>
              <a:ahLst/>
              <a:cxnLst/>
              <a:rect l="l" t="t" r="r" b="b"/>
              <a:pathLst>
                <a:path w="46355" h="29844">
                  <a:moveTo>
                    <a:pt x="10467" y="29673"/>
                  </a:moveTo>
                  <a:lnTo>
                    <a:pt x="0" y="0"/>
                  </a:lnTo>
                  <a:lnTo>
                    <a:pt x="45997" y="456"/>
                  </a:lnTo>
                  <a:lnTo>
                    <a:pt x="10467" y="29673"/>
                  </a:lnTo>
                  <a:close/>
                </a:path>
              </a:pathLst>
            </a:custGeom>
            <a:solidFill>
              <a:srgbClr val="4BA1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327546" y="2071601"/>
              <a:ext cx="46355" cy="29845"/>
            </a:xfrm>
            <a:custGeom>
              <a:avLst/>
              <a:gdLst/>
              <a:ahLst/>
              <a:cxnLst/>
              <a:rect l="l" t="t" r="r" b="b"/>
              <a:pathLst>
                <a:path w="46355" h="29844">
                  <a:moveTo>
                    <a:pt x="10467" y="29673"/>
                  </a:moveTo>
                  <a:lnTo>
                    <a:pt x="45997" y="456"/>
                  </a:lnTo>
                  <a:lnTo>
                    <a:pt x="0" y="0"/>
                  </a:lnTo>
                  <a:lnTo>
                    <a:pt x="10467" y="29673"/>
                  </a:lnTo>
                  <a:close/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419774" y="2408524"/>
              <a:ext cx="913130" cy="318770"/>
            </a:xfrm>
            <a:custGeom>
              <a:avLst/>
              <a:gdLst/>
              <a:ahLst/>
              <a:cxnLst/>
              <a:rect l="l" t="t" r="r" b="b"/>
              <a:pathLst>
                <a:path w="913130" h="318769">
                  <a:moveTo>
                    <a:pt x="0" y="0"/>
                  </a:moveTo>
                  <a:lnTo>
                    <a:pt x="912942" y="318665"/>
                  </a:lnTo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327532" y="2712337"/>
              <a:ext cx="46355" cy="29845"/>
            </a:xfrm>
            <a:custGeom>
              <a:avLst/>
              <a:gdLst/>
              <a:ahLst/>
              <a:cxnLst/>
              <a:rect l="l" t="t" r="r" b="b"/>
              <a:pathLst>
                <a:path w="46355" h="29844">
                  <a:moveTo>
                    <a:pt x="0" y="29707"/>
                  </a:moveTo>
                  <a:lnTo>
                    <a:pt x="10369" y="0"/>
                  </a:lnTo>
                  <a:lnTo>
                    <a:pt x="45995" y="29099"/>
                  </a:lnTo>
                  <a:lnTo>
                    <a:pt x="0" y="29707"/>
                  </a:lnTo>
                  <a:close/>
                </a:path>
              </a:pathLst>
            </a:custGeom>
            <a:solidFill>
              <a:srgbClr val="4BA1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327532" y="2712337"/>
              <a:ext cx="46355" cy="29845"/>
            </a:xfrm>
            <a:custGeom>
              <a:avLst/>
              <a:gdLst/>
              <a:ahLst/>
              <a:cxnLst/>
              <a:rect l="l" t="t" r="r" b="b"/>
              <a:pathLst>
                <a:path w="46355" h="29844">
                  <a:moveTo>
                    <a:pt x="0" y="29707"/>
                  </a:moveTo>
                  <a:lnTo>
                    <a:pt x="45995" y="29099"/>
                  </a:lnTo>
                  <a:lnTo>
                    <a:pt x="10369" y="0"/>
                  </a:lnTo>
                  <a:lnTo>
                    <a:pt x="0" y="29707"/>
                  </a:lnTo>
                  <a:close/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305175" y="2703473"/>
              <a:ext cx="1003300" cy="43180"/>
            </a:xfrm>
            <a:custGeom>
              <a:avLst/>
              <a:gdLst/>
              <a:ahLst/>
              <a:cxnLst/>
              <a:rect l="l" t="t" r="r" b="b"/>
              <a:pathLst>
                <a:path w="1003300" h="43180">
                  <a:moveTo>
                    <a:pt x="0" y="42576"/>
                  </a:moveTo>
                  <a:lnTo>
                    <a:pt x="1003101" y="0"/>
                  </a:lnTo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307609" y="2687754"/>
              <a:ext cx="44450" cy="31750"/>
            </a:xfrm>
            <a:custGeom>
              <a:avLst/>
              <a:gdLst/>
              <a:ahLst/>
              <a:cxnLst/>
              <a:rect l="l" t="t" r="r" b="b"/>
              <a:pathLst>
                <a:path w="44450" h="31750">
                  <a:moveTo>
                    <a:pt x="1334" y="31437"/>
                  </a:moveTo>
                  <a:lnTo>
                    <a:pt x="0" y="0"/>
                  </a:lnTo>
                  <a:lnTo>
                    <a:pt x="43853" y="13885"/>
                  </a:lnTo>
                  <a:lnTo>
                    <a:pt x="1334" y="31437"/>
                  </a:lnTo>
                  <a:close/>
                </a:path>
              </a:pathLst>
            </a:custGeom>
            <a:solidFill>
              <a:srgbClr val="4BA1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307609" y="2687754"/>
              <a:ext cx="44450" cy="31750"/>
            </a:xfrm>
            <a:custGeom>
              <a:avLst/>
              <a:gdLst/>
              <a:ahLst/>
              <a:cxnLst/>
              <a:rect l="l" t="t" r="r" b="b"/>
              <a:pathLst>
                <a:path w="44450" h="31750">
                  <a:moveTo>
                    <a:pt x="1334" y="31437"/>
                  </a:moveTo>
                  <a:lnTo>
                    <a:pt x="43853" y="13885"/>
                  </a:lnTo>
                  <a:lnTo>
                    <a:pt x="0" y="0"/>
                  </a:lnTo>
                  <a:lnTo>
                    <a:pt x="1334" y="31437"/>
                  </a:lnTo>
                  <a:close/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276600" y="2739991"/>
              <a:ext cx="1047750" cy="983615"/>
            </a:xfrm>
            <a:custGeom>
              <a:avLst/>
              <a:gdLst/>
              <a:ahLst/>
              <a:cxnLst/>
              <a:rect l="l" t="t" r="r" b="b"/>
              <a:pathLst>
                <a:path w="1047750" h="983614">
                  <a:moveTo>
                    <a:pt x="0" y="983282"/>
                  </a:moveTo>
                  <a:lnTo>
                    <a:pt x="1047334" y="0"/>
                  </a:lnTo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313166" y="2710405"/>
              <a:ext cx="42545" cy="41275"/>
            </a:xfrm>
            <a:custGeom>
              <a:avLst/>
              <a:gdLst/>
              <a:ahLst/>
              <a:cxnLst/>
              <a:rect l="l" t="t" r="r" b="b"/>
              <a:pathLst>
                <a:path w="42545" h="41275">
                  <a:moveTo>
                    <a:pt x="21536" y="41056"/>
                  </a:moveTo>
                  <a:lnTo>
                    <a:pt x="0" y="18116"/>
                  </a:lnTo>
                  <a:lnTo>
                    <a:pt x="42281" y="0"/>
                  </a:lnTo>
                  <a:lnTo>
                    <a:pt x="21536" y="41056"/>
                  </a:lnTo>
                  <a:close/>
                </a:path>
              </a:pathLst>
            </a:custGeom>
            <a:solidFill>
              <a:srgbClr val="4BA1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313166" y="2710405"/>
              <a:ext cx="42545" cy="41275"/>
            </a:xfrm>
            <a:custGeom>
              <a:avLst/>
              <a:gdLst/>
              <a:ahLst/>
              <a:cxnLst/>
              <a:rect l="l" t="t" r="r" b="b"/>
              <a:pathLst>
                <a:path w="42545" h="41275">
                  <a:moveTo>
                    <a:pt x="21536" y="41056"/>
                  </a:moveTo>
                  <a:lnTo>
                    <a:pt x="42281" y="0"/>
                  </a:lnTo>
                  <a:lnTo>
                    <a:pt x="0" y="18116"/>
                  </a:lnTo>
                  <a:lnTo>
                    <a:pt x="21536" y="41056"/>
                  </a:lnTo>
                  <a:close/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305175" y="2067474"/>
              <a:ext cx="1011555" cy="604520"/>
            </a:xfrm>
            <a:custGeom>
              <a:avLst/>
              <a:gdLst/>
              <a:ahLst/>
              <a:cxnLst/>
              <a:rect l="l" t="t" r="r" b="b"/>
              <a:pathLst>
                <a:path w="1011554" h="604519">
                  <a:moveTo>
                    <a:pt x="0" y="0"/>
                  </a:moveTo>
                  <a:lnTo>
                    <a:pt x="1011136" y="603992"/>
                  </a:lnTo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308243" y="2657961"/>
              <a:ext cx="45720" cy="36195"/>
            </a:xfrm>
            <a:custGeom>
              <a:avLst/>
              <a:gdLst/>
              <a:ahLst/>
              <a:cxnLst/>
              <a:rect l="l" t="t" r="r" b="b"/>
              <a:pathLst>
                <a:path w="45720" h="36194">
                  <a:moveTo>
                    <a:pt x="45176" y="35673"/>
                  </a:moveTo>
                  <a:lnTo>
                    <a:pt x="0" y="27013"/>
                  </a:lnTo>
                  <a:lnTo>
                    <a:pt x="16135" y="0"/>
                  </a:lnTo>
                  <a:lnTo>
                    <a:pt x="45176" y="35673"/>
                  </a:lnTo>
                  <a:close/>
                </a:path>
              </a:pathLst>
            </a:custGeom>
            <a:solidFill>
              <a:srgbClr val="4BA1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308243" y="2657961"/>
              <a:ext cx="45720" cy="36195"/>
            </a:xfrm>
            <a:custGeom>
              <a:avLst/>
              <a:gdLst/>
              <a:ahLst/>
              <a:cxnLst/>
              <a:rect l="l" t="t" r="r" b="b"/>
              <a:pathLst>
                <a:path w="45720" h="36194">
                  <a:moveTo>
                    <a:pt x="0" y="27013"/>
                  </a:moveTo>
                  <a:lnTo>
                    <a:pt x="45176" y="35673"/>
                  </a:lnTo>
                  <a:lnTo>
                    <a:pt x="16135" y="0"/>
                  </a:lnTo>
                  <a:lnTo>
                    <a:pt x="0" y="27013"/>
                  </a:lnTo>
                  <a:close/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615764" y="1892874"/>
              <a:ext cx="575310" cy="349250"/>
            </a:xfrm>
            <a:custGeom>
              <a:avLst/>
              <a:gdLst/>
              <a:ahLst/>
              <a:cxnLst/>
              <a:rect l="l" t="t" r="r" b="b"/>
              <a:pathLst>
                <a:path w="575310" h="349250">
                  <a:moveTo>
                    <a:pt x="57899" y="349199"/>
                  </a:moveTo>
                  <a:lnTo>
                    <a:pt x="0" y="198899"/>
                  </a:lnTo>
                  <a:lnTo>
                    <a:pt x="516899" y="0"/>
                  </a:lnTo>
                  <a:lnTo>
                    <a:pt x="574799" y="150299"/>
                  </a:lnTo>
                  <a:lnTo>
                    <a:pt x="57899" y="3491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615764" y="1892874"/>
              <a:ext cx="575310" cy="349250"/>
            </a:xfrm>
            <a:custGeom>
              <a:avLst/>
              <a:gdLst/>
              <a:ahLst/>
              <a:cxnLst/>
              <a:rect l="l" t="t" r="r" b="b"/>
              <a:pathLst>
                <a:path w="575310" h="349250">
                  <a:moveTo>
                    <a:pt x="0" y="198899"/>
                  </a:moveTo>
                  <a:lnTo>
                    <a:pt x="516899" y="0"/>
                  </a:lnTo>
                  <a:lnTo>
                    <a:pt x="574799" y="150299"/>
                  </a:lnTo>
                  <a:lnTo>
                    <a:pt x="57899" y="349199"/>
                  </a:lnTo>
                  <a:lnTo>
                    <a:pt x="0" y="198899"/>
                  </a:lnTo>
                  <a:close/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1" name="object 31"/>
          <p:cNvGrpSpPr/>
          <p:nvPr/>
        </p:nvGrpSpPr>
        <p:grpSpPr>
          <a:xfrm>
            <a:off x="6339662" y="2358637"/>
            <a:ext cx="1069975" cy="684530"/>
            <a:chOff x="6339662" y="2358637"/>
            <a:chExt cx="1069975" cy="684530"/>
          </a:xfrm>
        </p:grpSpPr>
        <p:sp>
          <p:nvSpPr>
            <p:cNvPr id="32" name="object 32"/>
            <p:cNvSpPr/>
            <p:nvPr/>
          </p:nvSpPr>
          <p:spPr>
            <a:xfrm>
              <a:off x="6344425" y="2447774"/>
              <a:ext cx="1060450" cy="591185"/>
            </a:xfrm>
            <a:custGeom>
              <a:avLst/>
              <a:gdLst/>
              <a:ahLst/>
              <a:cxnLst/>
              <a:rect l="l" t="t" r="r" b="b"/>
              <a:pathLst>
                <a:path w="1060450" h="591185">
                  <a:moveTo>
                    <a:pt x="530099" y="590624"/>
                  </a:moveTo>
                  <a:lnTo>
                    <a:pt x="451765" y="589710"/>
                  </a:lnTo>
                  <a:lnTo>
                    <a:pt x="376999" y="587052"/>
                  </a:lnTo>
                  <a:lnTo>
                    <a:pt x="306623" y="582782"/>
                  </a:lnTo>
                  <a:lnTo>
                    <a:pt x="241454" y="577031"/>
                  </a:lnTo>
                  <a:lnTo>
                    <a:pt x="182315" y="569929"/>
                  </a:lnTo>
                  <a:lnTo>
                    <a:pt x="130024" y="561606"/>
                  </a:lnTo>
                  <a:lnTo>
                    <a:pt x="85402" y="552193"/>
                  </a:lnTo>
                  <a:lnTo>
                    <a:pt x="22443" y="530618"/>
                  </a:lnTo>
                  <a:lnTo>
                    <a:pt x="0" y="506249"/>
                  </a:lnTo>
                  <a:lnTo>
                    <a:pt x="0" y="0"/>
                  </a:lnTo>
                  <a:lnTo>
                    <a:pt x="5747" y="12468"/>
                  </a:lnTo>
                  <a:lnTo>
                    <a:pt x="22443" y="24368"/>
                  </a:lnTo>
                  <a:lnTo>
                    <a:pt x="85402" y="45943"/>
                  </a:lnTo>
                  <a:lnTo>
                    <a:pt x="130024" y="55356"/>
                  </a:lnTo>
                  <a:lnTo>
                    <a:pt x="182315" y="63679"/>
                  </a:lnTo>
                  <a:lnTo>
                    <a:pt x="241454" y="70781"/>
                  </a:lnTo>
                  <a:lnTo>
                    <a:pt x="306623" y="76532"/>
                  </a:lnTo>
                  <a:lnTo>
                    <a:pt x="376999" y="80802"/>
                  </a:lnTo>
                  <a:lnTo>
                    <a:pt x="451765" y="83460"/>
                  </a:lnTo>
                  <a:lnTo>
                    <a:pt x="530099" y="84374"/>
                  </a:lnTo>
                  <a:lnTo>
                    <a:pt x="608434" y="83460"/>
                  </a:lnTo>
                  <a:lnTo>
                    <a:pt x="683200" y="80802"/>
                  </a:lnTo>
                  <a:lnTo>
                    <a:pt x="753576" y="76532"/>
                  </a:lnTo>
                  <a:lnTo>
                    <a:pt x="818745" y="70781"/>
                  </a:lnTo>
                  <a:lnTo>
                    <a:pt x="877884" y="63679"/>
                  </a:lnTo>
                  <a:lnTo>
                    <a:pt x="930175" y="55356"/>
                  </a:lnTo>
                  <a:lnTo>
                    <a:pt x="974797" y="45943"/>
                  </a:lnTo>
                  <a:lnTo>
                    <a:pt x="1037756" y="24368"/>
                  </a:lnTo>
                  <a:lnTo>
                    <a:pt x="1060199" y="0"/>
                  </a:lnTo>
                  <a:lnTo>
                    <a:pt x="1060199" y="506249"/>
                  </a:lnTo>
                  <a:lnTo>
                    <a:pt x="1010931" y="541820"/>
                  </a:lnTo>
                  <a:lnTo>
                    <a:pt x="930175" y="561606"/>
                  </a:lnTo>
                  <a:lnTo>
                    <a:pt x="877884" y="569929"/>
                  </a:lnTo>
                  <a:lnTo>
                    <a:pt x="818745" y="577031"/>
                  </a:lnTo>
                  <a:lnTo>
                    <a:pt x="753576" y="582782"/>
                  </a:lnTo>
                  <a:lnTo>
                    <a:pt x="683200" y="587052"/>
                  </a:lnTo>
                  <a:lnTo>
                    <a:pt x="608434" y="589710"/>
                  </a:lnTo>
                  <a:lnTo>
                    <a:pt x="530099" y="590624"/>
                  </a:lnTo>
                  <a:close/>
                </a:path>
              </a:pathLst>
            </a:custGeom>
            <a:solidFill>
              <a:srgbClr val="63D1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344425" y="2363399"/>
              <a:ext cx="1060450" cy="168910"/>
            </a:xfrm>
            <a:custGeom>
              <a:avLst/>
              <a:gdLst/>
              <a:ahLst/>
              <a:cxnLst/>
              <a:rect l="l" t="t" r="r" b="b"/>
              <a:pathLst>
                <a:path w="1060450" h="168910">
                  <a:moveTo>
                    <a:pt x="530099" y="168749"/>
                  </a:moveTo>
                  <a:lnTo>
                    <a:pt x="451765" y="167835"/>
                  </a:lnTo>
                  <a:lnTo>
                    <a:pt x="376999" y="165177"/>
                  </a:lnTo>
                  <a:lnTo>
                    <a:pt x="306623" y="160907"/>
                  </a:lnTo>
                  <a:lnTo>
                    <a:pt x="241454" y="155156"/>
                  </a:lnTo>
                  <a:lnTo>
                    <a:pt x="182315" y="148054"/>
                  </a:lnTo>
                  <a:lnTo>
                    <a:pt x="130024" y="139731"/>
                  </a:lnTo>
                  <a:lnTo>
                    <a:pt x="85402" y="130318"/>
                  </a:lnTo>
                  <a:lnTo>
                    <a:pt x="22443" y="108743"/>
                  </a:lnTo>
                  <a:lnTo>
                    <a:pt x="0" y="84374"/>
                  </a:lnTo>
                  <a:lnTo>
                    <a:pt x="5747" y="71906"/>
                  </a:lnTo>
                  <a:lnTo>
                    <a:pt x="49268" y="48804"/>
                  </a:lnTo>
                  <a:lnTo>
                    <a:pt x="130024" y="29018"/>
                  </a:lnTo>
                  <a:lnTo>
                    <a:pt x="182315" y="20695"/>
                  </a:lnTo>
                  <a:lnTo>
                    <a:pt x="241454" y="13593"/>
                  </a:lnTo>
                  <a:lnTo>
                    <a:pt x="306623" y="7842"/>
                  </a:lnTo>
                  <a:lnTo>
                    <a:pt x="376999" y="3572"/>
                  </a:lnTo>
                  <a:lnTo>
                    <a:pt x="451765" y="914"/>
                  </a:lnTo>
                  <a:lnTo>
                    <a:pt x="530099" y="0"/>
                  </a:lnTo>
                  <a:lnTo>
                    <a:pt x="608434" y="914"/>
                  </a:lnTo>
                  <a:lnTo>
                    <a:pt x="683200" y="3572"/>
                  </a:lnTo>
                  <a:lnTo>
                    <a:pt x="753576" y="7842"/>
                  </a:lnTo>
                  <a:lnTo>
                    <a:pt x="818745" y="13593"/>
                  </a:lnTo>
                  <a:lnTo>
                    <a:pt x="877884" y="20695"/>
                  </a:lnTo>
                  <a:lnTo>
                    <a:pt x="930175" y="29018"/>
                  </a:lnTo>
                  <a:lnTo>
                    <a:pt x="974797" y="38431"/>
                  </a:lnTo>
                  <a:lnTo>
                    <a:pt x="1037756" y="60006"/>
                  </a:lnTo>
                  <a:lnTo>
                    <a:pt x="1060199" y="84374"/>
                  </a:lnTo>
                  <a:lnTo>
                    <a:pt x="1054452" y="96843"/>
                  </a:lnTo>
                  <a:lnTo>
                    <a:pt x="1010931" y="119945"/>
                  </a:lnTo>
                  <a:lnTo>
                    <a:pt x="930175" y="139731"/>
                  </a:lnTo>
                  <a:lnTo>
                    <a:pt x="877884" y="148054"/>
                  </a:lnTo>
                  <a:lnTo>
                    <a:pt x="818745" y="155156"/>
                  </a:lnTo>
                  <a:lnTo>
                    <a:pt x="753576" y="160907"/>
                  </a:lnTo>
                  <a:lnTo>
                    <a:pt x="683200" y="165177"/>
                  </a:lnTo>
                  <a:lnTo>
                    <a:pt x="608434" y="167835"/>
                  </a:lnTo>
                  <a:lnTo>
                    <a:pt x="530099" y="168749"/>
                  </a:lnTo>
                  <a:close/>
                </a:path>
              </a:pathLst>
            </a:custGeom>
            <a:solidFill>
              <a:srgbClr val="A1E4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344425" y="2363399"/>
              <a:ext cx="1060450" cy="675005"/>
            </a:xfrm>
            <a:custGeom>
              <a:avLst/>
              <a:gdLst/>
              <a:ahLst/>
              <a:cxnLst/>
              <a:rect l="l" t="t" r="r" b="b"/>
              <a:pathLst>
                <a:path w="1060450" h="675005">
                  <a:moveTo>
                    <a:pt x="1060199" y="84374"/>
                  </a:moveTo>
                  <a:lnTo>
                    <a:pt x="1054452" y="96843"/>
                  </a:lnTo>
                  <a:lnTo>
                    <a:pt x="1037756" y="108743"/>
                  </a:lnTo>
                  <a:lnTo>
                    <a:pt x="974797" y="130318"/>
                  </a:lnTo>
                  <a:lnTo>
                    <a:pt x="930175" y="139731"/>
                  </a:lnTo>
                  <a:lnTo>
                    <a:pt x="877884" y="148054"/>
                  </a:lnTo>
                  <a:lnTo>
                    <a:pt x="818745" y="155156"/>
                  </a:lnTo>
                  <a:lnTo>
                    <a:pt x="753576" y="160907"/>
                  </a:lnTo>
                  <a:lnTo>
                    <a:pt x="683200" y="165177"/>
                  </a:lnTo>
                  <a:lnTo>
                    <a:pt x="608434" y="167835"/>
                  </a:lnTo>
                  <a:lnTo>
                    <a:pt x="530099" y="168749"/>
                  </a:lnTo>
                  <a:lnTo>
                    <a:pt x="451765" y="167835"/>
                  </a:lnTo>
                  <a:lnTo>
                    <a:pt x="376999" y="165177"/>
                  </a:lnTo>
                  <a:lnTo>
                    <a:pt x="306623" y="160907"/>
                  </a:lnTo>
                  <a:lnTo>
                    <a:pt x="241454" y="155156"/>
                  </a:lnTo>
                  <a:lnTo>
                    <a:pt x="182315" y="148054"/>
                  </a:lnTo>
                  <a:lnTo>
                    <a:pt x="130024" y="139731"/>
                  </a:lnTo>
                  <a:lnTo>
                    <a:pt x="85402" y="130318"/>
                  </a:lnTo>
                  <a:lnTo>
                    <a:pt x="22443" y="108743"/>
                  </a:lnTo>
                  <a:lnTo>
                    <a:pt x="0" y="84374"/>
                  </a:lnTo>
                  <a:lnTo>
                    <a:pt x="49268" y="48804"/>
                  </a:lnTo>
                  <a:lnTo>
                    <a:pt x="130024" y="29018"/>
                  </a:lnTo>
                  <a:lnTo>
                    <a:pt x="182315" y="20695"/>
                  </a:lnTo>
                  <a:lnTo>
                    <a:pt x="241454" y="13593"/>
                  </a:lnTo>
                  <a:lnTo>
                    <a:pt x="306623" y="7842"/>
                  </a:lnTo>
                  <a:lnTo>
                    <a:pt x="376999" y="3572"/>
                  </a:lnTo>
                  <a:lnTo>
                    <a:pt x="451765" y="914"/>
                  </a:lnTo>
                  <a:lnTo>
                    <a:pt x="530099" y="0"/>
                  </a:lnTo>
                  <a:lnTo>
                    <a:pt x="608434" y="914"/>
                  </a:lnTo>
                  <a:lnTo>
                    <a:pt x="683200" y="3572"/>
                  </a:lnTo>
                  <a:lnTo>
                    <a:pt x="753576" y="7842"/>
                  </a:lnTo>
                  <a:lnTo>
                    <a:pt x="818745" y="13593"/>
                  </a:lnTo>
                  <a:lnTo>
                    <a:pt x="877884" y="20695"/>
                  </a:lnTo>
                  <a:lnTo>
                    <a:pt x="930175" y="29018"/>
                  </a:lnTo>
                  <a:lnTo>
                    <a:pt x="974797" y="38431"/>
                  </a:lnTo>
                  <a:lnTo>
                    <a:pt x="1037756" y="60006"/>
                  </a:lnTo>
                  <a:lnTo>
                    <a:pt x="1060199" y="84374"/>
                  </a:lnTo>
                  <a:lnTo>
                    <a:pt x="1060199" y="590624"/>
                  </a:lnTo>
                  <a:lnTo>
                    <a:pt x="1010931" y="626195"/>
                  </a:lnTo>
                  <a:lnTo>
                    <a:pt x="930175" y="645981"/>
                  </a:lnTo>
                  <a:lnTo>
                    <a:pt x="877884" y="654304"/>
                  </a:lnTo>
                  <a:lnTo>
                    <a:pt x="818745" y="661406"/>
                  </a:lnTo>
                  <a:lnTo>
                    <a:pt x="753576" y="667157"/>
                  </a:lnTo>
                  <a:lnTo>
                    <a:pt x="683200" y="671427"/>
                  </a:lnTo>
                  <a:lnTo>
                    <a:pt x="608434" y="674085"/>
                  </a:lnTo>
                  <a:lnTo>
                    <a:pt x="530099" y="674999"/>
                  </a:lnTo>
                  <a:lnTo>
                    <a:pt x="451765" y="674085"/>
                  </a:lnTo>
                  <a:lnTo>
                    <a:pt x="376999" y="671427"/>
                  </a:lnTo>
                  <a:lnTo>
                    <a:pt x="306623" y="667157"/>
                  </a:lnTo>
                  <a:lnTo>
                    <a:pt x="241454" y="661406"/>
                  </a:lnTo>
                  <a:lnTo>
                    <a:pt x="182315" y="654304"/>
                  </a:lnTo>
                  <a:lnTo>
                    <a:pt x="130024" y="645981"/>
                  </a:lnTo>
                  <a:lnTo>
                    <a:pt x="85402" y="636568"/>
                  </a:lnTo>
                  <a:lnTo>
                    <a:pt x="22443" y="614993"/>
                  </a:lnTo>
                  <a:lnTo>
                    <a:pt x="0" y="590624"/>
                  </a:lnTo>
                  <a:lnTo>
                    <a:pt x="0" y="84374"/>
                  </a:lnTo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6595100" y="2618500"/>
            <a:ext cx="5588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MT"/>
                <a:cs typeface="Arial MT"/>
              </a:rPr>
              <a:t>Output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284099" y="2680404"/>
            <a:ext cx="1051560" cy="41275"/>
            <a:chOff x="5284099" y="2680404"/>
            <a:chExt cx="1051560" cy="41275"/>
          </a:xfrm>
        </p:grpSpPr>
        <p:sp>
          <p:nvSpPr>
            <p:cNvPr id="37" name="object 37"/>
            <p:cNvSpPr/>
            <p:nvPr/>
          </p:nvSpPr>
          <p:spPr>
            <a:xfrm>
              <a:off x="5284099" y="2700900"/>
              <a:ext cx="1003300" cy="0"/>
            </a:xfrm>
            <a:custGeom>
              <a:avLst/>
              <a:gdLst/>
              <a:ahLst/>
              <a:cxnLst/>
              <a:rect l="l" t="t" r="r" b="b"/>
              <a:pathLst>
                <a:path w="1003300">
                  <a:moveTo>
                    <a:pt x="0" y="0"/>
                  </a:moveTo>
                  <a:lnTo>
                    <a:pt x="1003049" y="0"/>
                  </a:lnTo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287149" y="26851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4BA1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287149" y="26851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1492950" y="1425336"/>
            <a:ext cx="42672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5" dirty="0">
                <a:latin typeface="Arial MT"/>
                <a:cs typeface="Arial MT"/>
              </a:rPr>
              <a:t>DStream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646000" y="3074011"/>
            <a:ext cx="42672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5" dirty="0">
                <a:latin typeface="Arial MT"/>
                <a:cs typeface="Arial MT"/>
              </a:rPr>
              <a:t>DStream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652525" y="4252760"/>
            <a:ext cx="42672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5" dirty="0">
                <a:latin typeface="Arial MT"/>
                <a:cs typeface="Arial MT"/>
              </a:rPr>
              <a:t>DStream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591674" y="2477485"/>
            <a:ext cx="30734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5" dirty="0">
                <a:latin typeface="Arial MT"/>
                <a:cs typeface="Arial MT"/>
              </a:rPr>
              <a:t>Action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52875" y="3500525"/>
            <a:ext cx="967105" cy="445770"/>
          </a:xfrm>
          <a:prstGeom prst="rect">
            <a:avLst/>
          </a:prstGeom>
          <a:solidFill>
            <a:srgbClr val="63D197"/>
          </a:solidFill>
          <a:ln w="9524">
            <a:solidFill>
              <a:srgbClr val="4BA173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L="201930" marR="191135" indent="-5080">
              <a:lnSpc>
                <a:spcPts val="1650"/>
              </a:lnSpc>
              <a:spcBef>
                <a:spcPts val="125"/>
              </a:spcBef>
            </a:pPr>
            <a:r>
              <a:rPr sz="1400" spc="-5" dirty="0">
                <a:latin typeface="Arial MT"/>
                <a:cs typeface="Arial MT"/>
              </a:rPr>
              <a:t>Stream  Source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5" name="object 45"/>
          <p:cNvSpPr txBox="1"/>
          <p:nvPr/>
        </p:nvSpPr>
        <p:spPr>
          <a:xfrm rot="20340000">
            <a:off x="1726118" y="2028569"/>
            <a:ext cx="353744" cy="76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00"/>
              </a:lnSpc>
            </a:pPr>
            <a:r>
              <a:rPr sz="600" spc="-5" dirty="0">
                <a:latin typeface="Arial MT"/>
                <a:cs typeface="Arial MT"/>
              </a:rPr>
              <a:t>RD</a:t>
            </a:r>
            <a:r>
              <a:rPr sz="600" dirty="0">
                <a:latin typeface="Arial MT"/>
                <a:cs typeface="Arial MT"/>
              </a:rPr>
              <a:t>D</a:t>
            </a:r>
            <a:r>
              <a:rPr sz="600" spc="-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(t=2)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1673841" y="2529984"/>
            <a:ext cx="584835" cy="353695"/>
            <a:chOff x="1673841" y="2529984"/>
            <a:chExt cx="584835" cy="353695"/>
          </a:xfrm>
        </p:grpSpPr>
        <p:sp>
          <p:nvSpPr>
            <p:cNvPr id="47" name="object 47"/>
            <p:cNvSpPr/>
            <p:nvPr/>
          </p:nvSpPr>
          <p:spPr>
            <a:xfrm>
              <a:off x="1678604" y="2534746"/>
              <a:ext cx="575310" cy="344170"/>
            </a:xfrm>
            <a:custGeom>
              <a:avLst/>
              <a:gdLst/>
              <a:ahLst/>
              <a:cxnLst/>
              <a:rect l="l" t="t" r="r" b="b"/>
              <a:pathLst>
                <a:path w="575310" h="344169">
                  <a:moveTo>
                    <a:pt x="518999" y="344099"/>
                  </a:moveTo>
                  <a:lnTo>
                    <a:pt x="0" y="150899"/>
                  </a:lnTo>
                  <a:lnTo>
                    <a:pt x="56099" y="0"/>
                  </a:lnTo>
                  <a:lnTo>
                    <a:pt x="575099" y="193199"/>
                  </a:lnTo>
                  <a:lnTo>
                    <a:pt x="518999" y="3440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678604" y="2534746"/>
              <a:ext cx="575310" cy="344170"/>
            </a:xfrm>
            <a:custGeom>
              <a:avLst/>
              <a:gdLst/>
              <a:ahLst/>
              <a:cxnLst/>
              <a:rect l="l" t="t" r="r" b="b"/>
              <a:pathLst>
                <a:path w="575310" h="344169">
                  <a:moveTo>
                    <a:pt x="56099" y="0"/>
                  </a:moveTo>
                  <a:lnTo>
                    <a:pt x="575099" y="193199"/>
                  </a:lnTo>
                  <a:lnTo>
                    <a:pt x="518999" y="344099"/>
                  </a:lnTo>
                  <a:lnTo>
                    <a:pt x="0" y="150899"/>
                  </a:lnTo>
                  <a:lnTo>
                    <a:pt x="56099" y="0"/>
                  </a:lnTo>
                  <a:close/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 rot="1200000">
            <a:off x="1789507" y="2667837"/>
            <a:ext cx="354364" cy="76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00"/>
              </a:lnSpc>
            </a:pPr>
            <a:r>
              <a:rPr sz="600" spc="-5" dirty="0">
                <a:latin typeface="Arial MT"/>
                <a:cs typeface="Arial MT"/>
              </a:rPr>
              <a:t>RD</a:t>
            </a:r>
            <a:r>
              <a:rPr sz="600" dirty="0">
                <a:latin typeface="Arial MT"/>
                <a:cs typeface="Arial MT"/>
              </a:rPr>
              <a:t>D</a:t>
            </a:r>
            <a:r>
              <a:rPr sz="600" spc="-1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(t=2)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1607232" y="3809946"/>
            <a:ext cx="563880" cy="171450"/>
            <a:chOff x="1607232" y="3809946"/>
            <a:chExt cx="563880" cy="171450"/>
          </a:xfrm>
        </p:grpSpPr>
        <p:sp>
          <p:nvSpPr>
            <p:cNvPr id="51" name="object 51"/>
            <p:cNvSpPr/>
            <p:nvPr/>
          </p:nvSpPr>
          <p:spPr>
            <a:xfrm>
              <a:off x="1611994" y="3814708"/>
              <a:ext cx="554355" cy="161925"/>
            </a:xfrm>
            <a:custGeom>
              <a:avLst/>
              <a:gdLst/>
              <a:ahLst/>
              <a:cxnLst/>
              <a:rect l="l" t="t" r="r" b="b"/>
              <a:pathLst>
                <a:path w="554355" h="161925">
                  <a:moveTo>
                    <a:pt x="553800" y="161399"/>
                  </a:moveTo>
                  <a:lnTo>
                    <a:pt x="0" y="161099"/>
                  </a:lnTo>
                  <a:lnTo>
                    <a:pt x="0" y="0"/>
                  </a:lnTo>
                  <a:lnTo>
                    <a:pt x="553800" y="299"/>
                  </a:lnTo>
                  <a:lnTo>
                    <a:pt x="553800" y="1613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611994" y="3814708"/>
              <a:ext cx="554355" cy="161925"/>
            </a:xfrm>
            <a:custGeom>
              <a:avLst/>
              <a:gdLst/>
              <a:ahLst/>
              <a:cxnLst/>
              <a:rect l="l" t="t" r="r" b="b"/>
              <a:pathLst>
                <a:path w="554355" h="161925">
                  <a:moveTo>
                    <a:pt x="0" y="0"/>
                  </a:moveTo>
                  <a:lnTo>
                    <a:pt x="553800" y="299"/>
                  </a:lnTo>
                  <a:lnTo>
                    <a:pt x="553800" y="161399"/>
                  </a:lnTo>
                  <a:lnTo>
                    <a:pt x="0" y="1610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1703665" y="3831942"/>
            <a:ext cx="37084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" dirty="0">
                <a:latin typeface="Arial MT"/>
                <a:cs typeface="Arial MT"/>
              </a:rPr>
              <a:t>RD</a:t>
            </a:r>
            <a:r>
              <a:rPr sz="600" dirty="0">
                <a:latin typeface="Arial MT"/>
                <a:cs typeface="Arial MT"/>
              </a:rPr>
              <a:t>D</a:t>
            </a:r>
            <a:r>
              <a:rPr sz="600" spc="-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(t=2)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3433288" y="2771660"/>
            <a:ext cx="563880" cy="171450"/>
            <a:chOff x="3433288" y="2771660"/>
            <a:chExt cx="563880" cy="171450"/>
          </a:xfrm>
        </p:grpSpPr>
        <p:sp>
          <p:nvSpPr>
            <p:cNvPr id="55" name="object 55"/>
            <p:cNvSpPr/>
            <p:nvPr/>
          </p:nvSpPr>
          <p:spPr>
            <a:xfrm>
              <a:off x="3438050" y="2776422"/>
              <a:ext cx="554355" cy="161925"/>
            </a:xfrm>
            <a:custGeom>
              <a:avLst/>
              <a:gdLst/>
              <a:ahLst/>
              <a:cxnLst/>
              <a:rect l="l" t="t" r="r" b="b"/>
              <a:pathLst>
                <a:path w="554354" h="161925">
                  <a:moveTo>
                    <a:pt x="553799" y="161399"/>
                  </a:moveTo>
                  <a:lnTo>
                    <a:pt x="0" y="160799"/>
                  </a:lnTo>
                  <a:lnTo>
                    <a:pt x="0" y="0"/>
                  </a:lnTo>
                  <a:lnTo>
                    <a:pt x="553799" y="599"/>
                  </a:lnTo>
                  <a:lnTo>
                    <a:pt x="553799" y="161399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438050" y="2776422"/>
              <a:ext cx="554355" cy="161925"/>
            </a:xfrm>
            <a:custGeom>
              <a:avLst/>
              <a:gdLst/>
              <a:ahLst/>
              <a:cxnLst/>
              <a:rect l="l" t="t" r="r" b="b"/>
              <a:pathLst>
                <a:path w="554354" h="161925">
                  <a:moveTo>
                    <a:pt x="0" y="0"/>
                  </a:moveTo>
                  <a:lnTo>
                    <a:pt x="553799" y="599"/>
                  </a:lnTo>
                  <a:lnTo>
                    <a:pt x="553799" y="161399"/>
                  </a:lnTo>
                  <a:lnTo>
                    <a:pt x="0" y="1607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3529722" y="2793764"/>
            <a:ext cx="37084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" dirty="0">
                <a:latin typeface="Arial MT"/>
                <a:cs typeface="Arial MT"/>
              </a:rPr>
              <a:t>RD</a:t>
            </a:r>
            <a:r>
              <a:rPr sz="600" dirty="0">
                <a:latin typeface="Arial MT"/>
                <a:cs typeface="Arial MT"/>
              </a:rPr>
              <a:t>D</a:t>
            </a:r>
            <a:r>
              <a:rPr sz="600" spc="-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(t=1)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3659061" y="2123889"/>
            <a:ext cx="564515" cy="440055"/>
            <a:chOff x="3659061" y="2123889"/>
            <a:chExt cx="564515" cy="440055"/>
          </a:xfrm>
        </p:grpSpPr>
        <p:sp>
          <p:nvSpPr>
            <p:cNvPr id="59" name="object 59"/>
            <p:cNvSpPr/>
            <p:nvPr/>
          </p:nvSpPr>
          <p:spPr>
            <a:xfrm>
              <a:off x="3663823" y="2128652"/>
              <a:ext cx="554990" cy="430530"/>
            </a:xfrm>
            <a:custGeom>
              <a:avLst/>
              <a:gdLst/>
              <a:ahLst/>
              <a:cxnLst/>
              <a:rect l="l" t="t" r="r" b="b"/>
              <a:pathLst>
                <a:path w="554989" h="430530">
                  <a:moveTo>
                    <a:pt x="469499" y="430199"/>
                  </a:moveTo>
                  <a:lnTo>
                    <a:pt x="0" y="136499"/>
                  </a:lnTo>
                  <a:lnTo>
                    <a:pt x="85199" y="0"/>
                  </a:lnTo>
                  <a:lnTo>
                    <a:pt x="554699" y="293699"/>
                  </a:lnTo>
                  <a:lnTo>
                    <a:pt x="469499" y="430199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3663823" y="2128652"/>
              <a:ext cx="554990" cy="430530"/>
            </a:xfrm>
            <a:custGeom>
              <a:avLst/>
              <a:gdLst/>
              <a:ahLst/>
              <a:cxnLst/>
              <a:rect l="l" t="t" r="r" b="b"/>
              <a:pathLst>
                <a:path w="554989" h="430530">
                  <a:moveTo>
                    <a:pt x="85199" y="0"/>
                  </a:moveTo>
                  <a:lnTo>
                    <a:pt x="554699" y="293699"/>
                  </a:lnTo>
                  <a:lnTo>
                    <a:pt x="469499" y="430199"/>
                  </a:lnTo>
                  <a:lnTo>
                    <a:pt x="0" y="136499"/>
                  </a:lnTo>
                  <a:lnTo>
                    <a:pt x="85199" y="0"/>
                  </a:lnTo>
                  <a:close/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 txBox="1"/>
          <p:nvPr/>
        </p:nvSpPr>
        <p:spPr>
          <a:xfrm rot="1920000">
            <a:off x="3764953" y="2304859"/>
            <a:ext cx="353744" cy="76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00"/>
              </a:lnSpc>
            </a:pPr>
            <a:r>
              <a:rPr sz="600" spc="-5" dirty="0">
                <a:latin typeface="Arial MT"/>
                <a:cs typeface="Arial MT"/>
              </a:rPr>
              <a:t>RD</a:t>
            </a:r>
            <a:r>
              <a:rPr sz="600" dirty="0">
                <a:latin typeface="Arial MT"/>
                <a:cs typeface="Arial MT"/>
              </a:rPr>
              <a:t>D</a:t>
            </a:r>
            <a:r>
              <a:rPr sz="600" spc="-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(t=1)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3568024" y="3150633"/>
            <a:ext cx="534670" cy="492759"/>
            <a:chOff x="3568024" y="3150633"/>
            <a:chExt cx="534670" cy="492759"/>
          </a:xfrm>
        </p:grpSpPr>
        <p:sp>
          <p:nvSpPr>
            <p:cNvPr id="63" name="object 63"/>
            <p:cNvSpPr/>
            <p:nvPr/>
          </p:nvSpPr>
          <p:spPr>
            <a:xfrm>
              <a:off x="3572786" y="3155395"/>
              <a:ext cx="525145" cy="483234"/>
            </a:xfrm>
            <a:custGeom>
              <a:avLst/>
              <a:gdLst/>
              <a:ahLst/>
              <a:cxnLst/>
              <a:rect l="l" t="t" r="r" b="b"/>
              <a:pathLst>
                <a:path w="525145" h="483235">
                  <a:moveTo>
                    <a:pt x="104699" y="482700"/>
                  </a:moveTo>
                  <a:lnTo>
                    <a:pt x="0" y="360600"/>
                  </a:lnTo>
                  <a:lnTo>
                    <a:pt x="420299" y="0"/>
                  </a:lnTo>
                  <a:lnTo>
                    <a:pt x="524999" y="122100"/>
                  </a:lnTo>
                  <a:lnTo>
                    <a:pt x="104699" y="482700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3572786" y="3155395"/>
              <a:ext cx="525145" cy="483234"/>
            </a:xfrm>
            <a:custGeom>
              <a:avLst/>
              <a:gdLst/>
              <a:ahLst/>
              <a:cxnLst/>
              <a:rect l="l" t="t" r="r" b="b"/>
              <a:pathLst>
                <a:path w="525145" h="483235">
                  <a:moveTo>
                    <a:pt x="0" y="360600"/>
                  </a:moveTo>
                  <a:lnTo>
                    <a:pt x="420299" y="0"/>
                  </a:lnTo>
                  <a:lnTo>
                    <a:pt x="524999" y="122100"/>
                  </a:lnTo>
                  <a:lnTo>
                    <a:pt x="104699" y="482700"/>
                  </a:lnTo>
                  <a:lnTo>
                    <a:pt x="0" y="360600"/>
                  </a:lnTo>
                  <a:close/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5" name="object 65"/>
          <p:cNvSpPr txBox="1"/>
          <p:nvPr/>
        </p:nvSpPr>
        <p:spPr>
          <a:xfrm rot="19200000">
            <a:off x="3657606" y="3358016"/>
            <a:ext cx="354364" cy="76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00"/>
              </a:lnSpc>
            </a:pPr>
            <a:r>
              <a:rPr sz="600" spc="-5" dirty="0">
                <a:latin typeface="Arial MT"/>
                <a:cs typeface="Arial MT"/>
              </a:rPr>
              <a:t>RD</a:t>
            </a:r>
            <a:r>
              <a:rPr sz="600" dirty="0">
                <a:latin typeface="Arial MT"/>
                <a:cs typeface="Arial MT"/>
              </a:rPr>
              <a:t>D</a:t>
            </a:r>
            <a:r>
              <a:rPr sz="600" spc="-1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(t=1)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478980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75" dirty="0">
                <a:solidFill>
                  <a:srgbClr val="202729"/>
                </a:solidFill>
              </a:rPr>
              <a:t>How</a:t>
            </a:r>
            <a:r>
              <a:rPr sz="2800" spc="-150" dirty="0">
                <a:solidFill>
                  <a:srgbClr val="202729"/>
                </a:solidFill>
              </a:rPr>
              <a:t> </a:t>
            </a:r>
            <a:r>
              <a:rPr sz="2800" spc="40" dirty="0">
                <a:solidFill>
                  <a:srgbClr val="202729"/>
                </a:solidFill>
              </a:rPr>
              <a:t>Spark</a:t>
            </a:r>
            <a:r>
              <a:rPr sz="2800" spc="-145" dirty="0">
                <a:solidFill>
                  <a:srgbClr val="202729"/>
                </a:solidFill>
              </a:rPr>
              <a:t> </a:t>
            </a:r>
            <a:r>
              <a:rPr sz="2800" spc="35" dirty="0">
                <a:solidFill>
                  <a:srgbClr val="202729"/>
                </a:solidFill>
              </a:rPr>
              <a:t>Handles</a:t>
            </a:r>
            <a:r>
              <a:rPr sz="2800" spc="-145" dirty="0">
                <a:solidFill>
                  <a:srgbClr val="202729"/>
                </a:solidFill>
              </a:rPr>
              <a:t> </a:t>
            </a:r>
            <a:r>
              <a:rPr sz="2800" spc="-15" dirty="0">
                <a:solidFill>
                  <a:srgbClr val="202729"/>
                </a:solidFill>
              </a:rPr>
              <a:t>Streaming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452875" y="2185774"/>
            <a:ext cx="967105" cy="445770"/>
          </a:xfrm>
          <a:prstGeom prst="rect">
            <a:avLst/>
          </a:prstGeom>
          <a:solidFill>
            <a:srgbClr val="63D197"/>
          </a:solidFill>
          <a:ln w="9524">
            <a:solidFill>
              <a:srgbClr val="4BA173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L="201930" marR="191135" indent="-5080">
              <a:lnSpc>
                <a:spcPts val="1650"/>
              </a:lnSpc>
              <a:spcBef>
                <a:spcPts val="125"/>
              </a:spcBef>
            </a:pPr>
            <a:r>
              <a:rPr sz="1400" spc="-5" dirty="0">
                <a:latin typeface="Arial MT"/>
                <a:cs typeface="Arial MT"/>
              </a:rPr>
              <a:t>Stream  Source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86575" y="1844724"/>
            <a:ext cx="918844" cy="445770"/>
          </a:xfrm>
          <a:prstGeom prst="rect">
            <a:avLst/>
          </a:prstGeom>
          <a:solidFill>
            <a:srgbClr val="63D197"/>
          </a:solidFill>
          <a:ln w="9524">
            <a:solidFill>
              <a:srgbClr val="4BA173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1050">
              <a:latin typeface="Times New Roman"/>
              <a:cs typeface="Times New Roman"/>
            </a:endParaRPr>
          </a:p>
          <a:p>
            <a:pPr marL="117475">
              <a:lnSpc>
                <a:spcPct val="100000"/>
              </a:lnSpc>
            </a:pPr>
            <a:r>
              <a:rPr sz="800" spc="-5" dirty="0">
                <a:latin typeface="Arial MT"/>
                <a:cs typeface="Arial MT"/>
              </a:rPr>
              <a:t>Transformation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58000" y="3500525"/>
            <a:ext cx="918844" cy="445770"/>
          </a:xfrm>
          <a:prstGeom prst="rect">
            <a:avLst/>
          </a:prstGeom>
          <a:solidFill>
            <a:srgbClr val="63D197"/>
          </a:solidFill>
          <a:ln w="9524">
            <a:solidFill>
              <a:srgbClr val="4BA173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1050">
              <a:latin typeface="Times New Roman"/>
              <a:cs typeface="Times New Roman"/>
            </a:endParaRPr>
          </a:p>
          <a:p>
            <a:pPr marL="117475">
              <a:lnSpc>
                <a:spcPct val="100000"/>
              </a:lnSpc>
            </a:pPr>
            <a:r>
              <a:rPr sz="800" spc="-5" dirty="0">
                <a:latin typeface="Arial MT"/>
                <a:cs typeface="Arial MT"/>
              </a:rPr>
              <a:t>Transformation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65499" y="2478149"/>
            <a:ext cx="918844" cy="445770"/>
          </a:xfrm>
          <a:prstGeom prst="rect">
            <a:avLst/>
          </a:prstGeom>
          <a:solidFill>
            <a:srgbClr val="63D197"/>
          </a:solidFill>
          <a:ln w="9524">
            <a:solidFill>
              <a:srgbClr val="4BA173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1050">
              <a:latin typeface="Times New Roman"/>
              <a:cs typeface="Times New Roman"/>
            </a:endParaRPr>
          </a:p>
          <a:p>
            <a:pPr marL="117475">
              <a:lnSpc>
                <a:spcPct val="100000"/>
              </a:lnSpc>
            </a:pPr>
            <a:r>
              <a:rPr sz="800" spc="-5" dirty="0">
                <a:latin typeface="Arial MT"/>
                <a:cs typeface="Arial MT"/>
              </a:rPr>
              <a:t>Transformation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386575" y="2523300"/>
            <a:ext cx="918844" cy="445770"/>
          </a:xfrm>
          <a:custGeom>
            <a:avLst/>
            <a:gdLst/>
            <a:ahLst/>
            <a:cxnLst/>
            <a:rect l="l" t="t" r="r" b="b"/>
            <a:pathLst>
              <a:path w="918845" h="445769">
                <a:moveTo>
                  <a:pt x="918599" y="445499"/>
                </a:moveTo>
                <a:lnTo>
                  <a:pt x="0" y="445499"/>
                </a:lnTo>
                <a:lnTo>
                  <a:pt x="0" y="0"/>
                </a:lnTo>
                <a:lnTo>
                  <a:pt x="918599" y="0"/>
                </a:lnTo>
                <a:lnTo>
                  <a:pt x="918599" y="445499"/>
                </a:lnTo>
                <a:close/>
              </a:path>
            </a:pathLst>
          </a:custGeom>
          <a:solidFill>
            <a:srgbClr val="63D19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386575" y="2523300"/>
            <a:ext cx="918844" cy="445770"/>
          </a:xfrm>
          <a:prstGeom prst="rect">
            <a:avLst/>
          </a:prstGeom>
          <a:ln w="9524">
            <a:solidFill>
              <a:srgbClr val="4BA173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1050">
              <a:latin typeface="Times New Roman"/>
              <a:cs typeface="Times New Roman"/>
            </a:endParaRPr>
          </a:p>
          <a:p>
            <a:pPr marL="117475">
              <a:lnSpc>
                <a:spcPct val="100000"/>
              </a:lnSpc>
            </a:pPr>
            <a:r>
              <a:rPr sz="800" spc="-5" dirty="0">
                <a:latin typeface="Arial MT"/>
                <a:cs typeface="Arial MT"/>
              </a:rPr>
              <a:t>Transformation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419599" y="3702779"/>
            <a:ext cx="929640" cy="41275"/>
            <a:chOff x="1419599" y="3702779"/>
            <a:chExt cx="929640" cy="41275"/>
          </a:xfrm>
        </p:grpSpPr>
        <p:sp>
          <p:nvSpPr>
            <p:cNvPr id="10" name="object 10"/>
            <p:cNvSpPr/>
            <p:nvPr/>
          </p:nvSpPr>
          <p:spPr>
            <a:xfrm>
              <a:off x="1419599" y="3723275"/>
              <a:ext cx="881380" cy="0"/>
            </a:xfrm>
            <a:custGeom>
              <a:avLst/>
              <a:gdLst/>
              <a:ahLst/>
              <a:cxnLst/>
              <a:rect l="l" t="t" r="r" b="b"/>
              <a:pathLst>
                <a:path w="881380">
                  <a:moveTo>
                    <a:pt x="0" y="0"/>
                  </a:moveTo>
                  <a:lnTo>
                    <a:pt x="881249" y="0"/>
                  </a:lnTo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300849" y="37075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4BA1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300849" y="37075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1415012" y="1888112"/>
            <a:ext cx="2945765" cy="1840230"/>
            <a:chOff x="1415012" y="1888112"/>
            <a:chExt cx="2945765" cy="1840230"/>
          </a:xfrm>
        </p:grpSpPr>
        <p:sp>
          <p:nvSpPr>
            <p:cNvPr id="14" name="object 14"/>
            <p:cNvSpPr/>
            <p:nvPr/>
          </p:nvSpPr>
          <p:spPr>
            <a:xfrm>
              <a:off x="1419774" y="2086437"/>
              <a:ext cx="913130" cy="322580"/>
            </a:xfrm>
            <a:custGeom>
              <a:avLst/>
              <a:gdLst/>
              <a:ahLst/>
              <a:cxnLst/>
              <a:rect l="l" t="t" r="r" b="b"/>
              <a:pathLst>
                <a:path w="913130" h="322580">
                  <a:moveTo>
                    <a:pt x="0" y="322087"/>
                  </a:moveTo>
                  <a:lnTo>
                    <a:pt x="913005" y="0"/>
                  </a:lnTo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327546" y="2071601"/>
              <a:ext cx="46355" cy="29845"/>
            </a:xfrm>
            <a:custGeom>
              <a:avLst/>
              <a:gdLst/>
              <a:ahLst/>
              <a:cxnLst/>
              <a:rect l="l" t="t" r="r" b="b"/>
              <a:pathLst>
                <a:path w="46355" h="29844">
                  <a:moveTo>
                    <a:pt x="10467" y="29673"/>
                  </a:moveTo>
                  <a:lnTo>
                    <a:pt x="0" y="0"/>
                  </a:lnTo>
                  <a:lnTo>
                    <a:pt x="45997" y="456"/>
                  </a:lnTo>
                  <a:lnTo>
                    <a:pt x="10467" y="29673"/>
                  </a:lnTo>
                  <a:close/>
                </a:path>
              </a:pathLst>
            </a:custGeom>
            <a:solidFill>
              <a:srgbClr val="4BA1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327546" y="2071601"/>
              <a:ext cx="46355" cy="29845"/>
            </a:xfrm>
            <a:custGeom>
              <a:avLst/>
              <a:gdLst/>
              <a:ahLst/>
              <a:cxnLst/>
              <a:rect l="l" t="t" r="r" b="b"/>
              <a:pathLst>
                <a:path w="46355" h="29844">
                  <a:moveTo>
                    <a:pt x="10467" y="29673"/>
                  </a:moveTo>
                  <a:lnTo>
                    <a:pt x="45997" y="456"/>
                  </a:lnTo>
                  <a:lnTo>
                    <a:pt x="0" y="0"/>
                  </a:lnTo>
                  <a:lnTo>
                    <a:pt x="10467" y="29673"/>
                  </a:lnTo>
                  <a:close/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419774" y="2408524"/>
              <a:ext cx="913130" cy="318770"/>
            </a:xfrm>
            <a:custGeom>
              <a:avLst/>
              <a:gdLst/>
              <a:ahLst/>
              <a:cxnLst/>
              <a:rect l="l" t="t" r="r" b="b"/>
              <a:pathLst>
                <a:path w="913130" h="318769">
                  <a:moveTo>
                    <a:pt x="0" y="0"/>
                  </a:moveTo>
                  <a:lnTo>
                    <a:pt x="912942" y="318665"/>
                  </a:lnTo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327532" y="2712337"/>
              <a:ext cx="46355" cy="29845"/>
            </a:xfrm>
            <a:custGeom>
              <a:avLst/>
              <a:gdLst/>
              <a:ahLst/>
              <a:cxnLst/>
              <a:rect l="l" t="t" r="r" b="b"/>
              <a:pathLst>
                <a:path w="46355" h="29844">
                  <a:moveTo>
                    <a:pt x="0" y="29707"/>
                  </a:moveTo>
                  <a:lnTo>
                    <a:pt x="10369" y="0"/>
                  </a:lnTo>
                  <a:lnTo>
                    <a:pt x="45995" y="29099"/>
                  </a:lnTo>
                  <a:lnTo>
                    <a:pt x="0" y="29707"/>
                  </a:lnTo>
                  <a:close/>
                </a:path>
              </a:pathLst>
            </a:custGeom>
            <a:solidFill>
              <a:srgbClr val="4BA1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327532" y="2712337"/>
              <a:ext cx="46355" cy="29845"/>
            </a:xfrm>
            <a:custGeom>
              <a:avLst/>
              <a:gdLst/>
              <a:ahLst/>
              <a:cxnLst/>
              <a:rect l="l" t="t" r="r" b="b"/>
              <a:pathLst>
                <a:path w="46355" h="29844">
                  <a:moveTo>
                    <a:pt x="0" y="29707"/>
                  </a:moveTo>
                  <a:lnTo>
                    <a:pt x="45995" y="29099"/>
                  </a:lnTo>
                  <a:lnTo>
                    <a:pt x="10369" y="0"/>
                  </a:lnTo>
                  <a:lnTo>
                    <a:pt x="0" y="29707"/>
                  </a:lnTo>
                  <a:close/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305175" y="2703473"/>
              <a:ext cx="1003300" cy="43180"/>
            </a:xfrm>
            <a:custGeom>
              <a:avLst/>
              <a:gdLst/>
              <a:ahLst/>
              <a:cxnLst/>
              <a:rect l="l" t="t" r="r" b="b"/>
              <a:pathLst>
                <a:path w="1003300" h="43180">
                  <a:moveTo>
                    <a:pt x="0" y="42576"/>
                  </a:moveTo>
                  <a:lnTo>
                    <a:pt x="1003101" y="0"/>
                  </a:lnTo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307609" y="2687754"/>
              <a:ext cx="44450" cy="31750"/>
            </a:xfrm>
            <a:custGeom>
              <a:avLst/>
              <a:gdLst/>
              <a:ahLst/>
              <a:cxnLst/>
              <a:rect l="l" t="t" r="r" b="b"/>
              <a:pathLst>
                <a:path w="44450" h="31750">
                  <a:moveTo>
                    <a:pt x="1334" y="31437"/>
                  </a:moveTo>
                  <a:lnTo>
                    <a:pt x="0" y="0"/>
                  </a:lnTo>
                  <a:lnTo>
                    <a:pt x="43853" y="13885"/>
                  </a:lnTo>
                  <a:lnTo>
                    <a:pt x="1334" y="31437"/>
                  </a:lnTo>
                  <a:close/>
                </a:path>
              </a:pathLst>
            </a:custGeom>
            <a:solidFill>
              <a:srgbClr val="4BA1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307609" y="2687754"/>
              <a:ext cx="44450" cy="31750"/>
            </a:xfrm>
            <a:custGeom>
              <a:avLst/>
              <a:gdLst/>
              <a:ahLst/>
              <a:cxnLst/>
              <a:rect l="l" t="t" r="r" b="b"/>
              <a:pathLst>
                <a:path w="44450" h="31750">
                  <a:moveTo>
                    <a:pt x="1334" y="31437"/>
                  </a:moveTo>
                  <a:lnTo>
                    <a:pt x="43853" y="13885"/>
                  </a:lnTo>
                  <a:lnTo>
                    <a:pt x="0" y="0"/>
                  </a:lnTo>
                  <a:lnTo>
                    <a:pt x="1334" y="31437"/>
                  </a:lnTo>
                  <a:close/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276600" y="2739991"/>
              <a:ext cx="1047750" cy="983615"/>
            </a:xfrm>
            <a:custGeom>
              <a:avLst/>
              <a:gdLst/>
              <a:ahLst/>
              <a:cxnLst/>
              <a:rect l="l" t="t" r="r" b="b"/>
              <a:pathLst>
                <a:path w="1047750" h="983614">
                  <a:moveTo>
                    <a:pt x="0" y="983282"/>
                  </a:moveTo>
                  <a:lnTo>
                    <a:pt x="1047334" y="0"/>
                  </a:lnTo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313166" y="2710405"/>
              <a:ext cx="42545" cy="41275"/>
            </a:xfrm>
            <a:custGeom>
              <a:avLst/>
              <a:gdLst/>
              <a:ahLst/>
              <a:cxnLst/>
              <a:rect l="l" t="t" r="r" b="b"/>
              <a:pathLst>
                <a:path w="42545" h="41275">
                  <a:moveTo>
                    <a:pt x="21536" y="41056"/>
                  </a:moveTo>
                  <a:lnTo>
                    <a:pt x="0" y="18116"/>
                  </a:lnTo>
                  <a:lnTo>
                    <a:pt x="42281" y="0"/>
                  </a:lnTo>
                  <a:lnTo>
                    <a:pt x="21536" y="41056"/>
                  </a:lnTo>
                  <a:close/>
                </a:path>
              </a:pathLst>
            </a:custGeom>
            <a:solidFill>
              <a:srgbClr val="4BA1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313166" y="2710405"/>
              <a:ext cx="42545" cy="41275"/>
            </a:xfrm>
            <a:custGeom>
              <a:avLst/>
              <a:gdLst/>
              <a:ahLst/>
              <a:cxnLst/>
              <a:rect l="l" t="t" r="r" b="b"/>
              <a:pathLst>
                <a:path w="42545" h="41275">
                  <a:moveTo>
                    <a:pt x="21536" y="41056"/>
                  </a:moveTo>
                  <a:lnTo>
                    <a:pt x="42281" y="0"/>
                  </a:lnTo>
                  <a:lnTo>
                    <a:pt x="0" y="18116"/>
                  </a:lnTo>
                  <a:lnTo>
                    <a:pt x="21536" y="41056"/>
                  </a:lnTo>
                  <a:close/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305175" y="2067474"/>
              <a:ext cx="1011555" cy="604520"/>
            </a:xfrm>
            <a:custGeom>
              <a:avLst/>
              <a:gdLst/>
              <a:ahLst/>
              <a:cxnLst/>
              <a:rect l="l" t="t" r="r" b="b"/>
              <a:pathLst>
                <a:path w="1011554" h="604519">
                  <a:moveTo>
                    <a:pt x="0" y="0"/>
                  </a:moveTo>
                  <a:lnTo>
                    <a:pt x="1011136" y="603992"/>
                  </a:lnTo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308243" y="2657961"/>
              <a:ext cx="45720" cy="36195"/>
            </a:xfrm>
            <a:custGeom>
              <a:avLst/>
              <a:gdLst/>
              <a:ahLst/>
              <a:cxnLst/>
              <a:rect l="l" t="t" r="r" b="b"/>
              <a:pathLst>
                <a:path w="45720" h="36194">
                  <a:moveTo>
                    <a:pt x="45176" y="35673"/>
                  </a:moveTo>
                  <a:lnTo>
                    <a:pt x="0" y="27013"/>
                  </a:lnTo>
                  <a:lnTo>
                    <a:pt x="16135" y="0"/>
                  </a:lnTo>
                  <a:lnTo>
                    <a:pt x="45176" y="35673"/>
                  </a:lnTo>
                  <a:close/>
                </a:path>
              </a:pathLst>
            </a:custGeom>
            <a:solidFill>
              <a:srgbClr val="4BA1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308243" y="2657961"/>
              <a:ext cx="45720" cy="36195"/>
            </a:xfrm>
            <a:custGeom>
              <a:avLst/>
              <a:gdLst/>
              <a:ahLst/>
              <a:cxnLst/>
              <a:rect l="l" t="t" r="r" b="b"/>
              <a:pathLst>
                <a:path w="45720" h="36194">
                  <a:moveTo>
                    <a:pt x="0" y="27013"/>
                  </a:moveTo>
                  <a:lnTo>
                    <a:pt x="45176" y="35673"/>
                  </a:lnTo>
                  <a:lnTo>
                    <a:pt x="16135" y="0"/>
                  </a:lnTo>
                  <a:lnTo>
                    <a:pt x="0" y="27013"/>
                  </a:lnTo>
                  <a:close/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615764" y="1892874"/>
              <a:ext cx="575310" cy="349250"/>
            </a:xfrm>
            <a:custGeom>
              <a:avLst/>
              <a:gdLst/>
              <a:ahLst/>
              <a:cxnLst/>
              <a:rect l="l" t="t" r="r" b="b"/>
              <a:pathLst>
                <a:path w="575310" h="349250">
                  <a:moveTo>
                    <a:pt x="57899" y="349199"/>
                  </a:moveTo>
                  <a:lnTo>
                    <a:pt x="0" y="198899"/>
                  </a:lnTo>
                  <a:lnTo>
                    <a:pt x="516899" y="0"/>
                  </a:lnTo>
                  <a:lnTo>
                    <a:pt x="574799" y="150299"/>
                  </a:lnTo>
                  <a:lnTo>
                    <a:pt x="57899" y="349199"/>
                  </a:lnTo>
                  <a:close/>
                </a:path>
              </a:pathLst>
            </a:custGeom>
            <a:solidFill>
              <a:srgbClr val="E0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615764" y="1892874"/>
              <a:ext cx="575310" cy="349250"/>
            </a:xfrm>
            <a:custGeom>
              <a:avLst/>
              <a:gdLst/>
              <a:ahLst/>
              <a:cxnLst/>
              <a:rect l="l" t="t" r="r" b="b"/>
              <a:pathLst>
                <a:path w="575310" h="349250">
                  <a:moveTo>
                    <a:pt x="0" y="198899"/>
                  </a:moveTo>
                  <a:lnTo>
                    <a:pt x="516899" y="0"/>
                  </a:lnTo>
                  <a:lnTo>
                    <a:pt x="574799" y="150299"/>
                  </a:lnTo>
                  <a:lnTo>
                    <a:pt x="57899" y="349199"/>
                  </a:lnTo>
                  <a:lnTo>
                    <a:pt x="0" y="198899"/>
                  </a:lnTo>
                  <a:close/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1" name="object 31"/>
          <p:cNvGrpSpPr/>
          <p:nvPr/>
        </p:nvGrpSpPr>
        <p:grpSpPr>
          <a:xfrm>
            <a:off x="6339662" y="2358637"/>
            <a:ext cx="1069975" cy="684530"/>
            <a:chOff x="6339662" y="2358637"/>
            <a:chExt cx="1069975" cy="684530"/>
          </a:xfrm>
        </p:grpSpPr>
        <p:sp>
          <p:nvSpPr>
            <p:cNvPr id="32" name="object 32"/>
            <p:cNvSpPr/>
            <p:nvPr/>
          </p:nvSpPr>
          <p:spPr>
            <a:xfrm>
              <a:off x="6344425" y="2447774"/>
              <a:ext cx="1060450" cy="591185"/>
            </a:xfrm>
            <a:custGeom>
              <a:avLst/>
              <a:gdLst/>
              <a:ahLst/>
              <a:cxnLst/>
              <a:rect l="l" t="t" r="r" b="b"/>
              <a:pathLst>
                <a:path w="1060450" h="591185">
                  <a:moveTo>
                    <a:pt x="530099" y="590624"/>
                  </a:moveTo>
                  <a:lnTo>
                    <a:pt x="451765" y="589710"/>
                  </a:lnTo>
                  <a:lnTo>
                    <a:pt x="376999" y="587052"/>
                  </a:lnTo>
                  <a:lnTo>
                    <a:pt x="306623" y="582782"/>
                  </a:lnTo>
                  <a:lnTo>
                    <a:pt x="241454" y="577031"/>
                  </a:lnTo>
                  <a:lnTo>
                    <a:pt x="182315" y="569929"/>
                  </a:lnTo>
                  <a:lnTo>
                    <a:pt x="130024" y="561606"/>
                  </a:lnTo>
                  <a:lnTo>
                    <a:pt x="85402" y="552193"/>
                  </a:lnTo>
                  <a:lnTo>
                    <a:pt x="22443" y="530618"/>
                  </a:lnTo>
                  <a:lnTo>
                    <a:pt x="0" y="506249"/>
                  </a:lnTo>
                  <a:lnTo>
                    <a:pt x="0" y="0"/>
                  </a:lnTo>
                  <a:lnTo>
                    <a:pt x="5747" y="12468"/>
                  </a:lnTo>
                  <a:lnTo>
                    <a:pt x="22443" y="24368"/>
                  </a:lnTo>
                  <a:lnTo>
                    <a:pt x="85402" y="45943"/>
                  </a:lnTo>
                  <a:lnTo>
                    <a:pt x="130024" y="55356"/>
                  </a:lnTo>
                  <a:lnTo>
                    <a:pt x="182315" y="63679"/>
                  </a:lnTo>
                  <a:lnTo>
                    <a:pt x="241454" y="70781"/>
                  </a:lnTo>
                  <a:lnTo>
                    <a:pt x="306623" y="76532"/>
                  </a:lnTo>
                  <a:lnTo>
                    <a:pt x="376999" y="80802"/>
                  </a:lnTo>
                  <a:lnTo>
                    <a:pt x="451765" y="83460"/>
                  </a:lnTo>
                  <a:lnTo>
                    <a:pt x="530099" y="84374"/>
                  </a:lnTo>
                  <a:lnTo>
                    <a:pt x="608434" y="83460"/>
                  </a:lnTo>
                  <a:lnTo>
                    <a:pt x="683200" y="80802"/>
                  </a:lnTo>
                  <a:lnTo>
                    <a:pt x="753576" y="76532"/>
                  </a:lnTo>
                  <a:lnTo>
                    <a:pt x="818745" y="70781"/>
                  </a:lnTo>
                  <a:lnTo>
                    <a:pt x="877884" y="63679"/>
                  </a:lnTo>
                  <a:lnTo>
                    <a:pt x="930175" y="55356"/>
                  </a:lnTo>
                  <a:lnTo>
                    <a:pt x="974797" y="45943"/>
                  </a:lnTo>
                  <a:lnTo>
                    <a:pt x="1037756" y="24368"/>
                  </a:lnTo>
                  <a:lnTo>
                    <a:pt x="1060199" y="0"/>
                  </a:lnTo>
                  <a:lnTo>
                    <a:pt x="1060199" y="506249"/>
                  </a:lnTo>
                  <a:lnTo>
                    <a:pt x="1010931" y="541820"/>
                  </a:lnTo>
                  <a:lnTo>
                    <a:pt x="930175" y="561606"/>
                  </a:lnTo>
                  <a:lnTo>
                    <a:pt x="877884" y="569929"/>
                  </a:lnTo>
                  <a:lnTo>
                    <a:pt x="818745" y="577031"/>
                  </a:lnTo>
                  <a:lnTo>
                    <a:pt x="753576" y="582782"/>
                  </a:lnTo>
                  <a:lnTo>
                    <a:pt x="683200" y="587052"/>
                  </a:lnTo>
                  <a:lnTo>
                    <a:pt x="608434" y="589710"/>
                  </a:lnTo>
                  <a:lnTo>
                    <a:pt x="530099" y="590624"/>
                  </a:lnTo>
                  <a:close/>
                </a:path>
              </a:pathLst>
            </a:custGeom>
            <a:solidFill>
              <a:srgbClr val="63D1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344425" y="2363399"/>
              <a:ext cx="1060450" cy="168910"/>
            </a:xfrm>
            <a:custGeom>
              <a:avLst/>
              <a:gdLst/>
              <a:ahLst/>
              <a:cxnLst/>
              <a:rect l="l" t="t" r="r" b="b"/>
              <a:pathLst>
                <a:path w="1060450" h="168910">
                  <a:moveTo>
                    <a:pt x="530099" y="168749"/>
                  </a:moveTo>
                  <a:lnTo>
                    <a:pt x="451765" y="167835"/>
                  </a:lnTo>
                  <a:lnTo>
                    <a:pt x="376999" y="165177"/>
                  </a:lnTo>
                  <a:lnTo>
                    <a:pt x="306623" y="160907"/>
                  </a:lnTo>
                  <a:lnTo>
                    <a:pt x="241454" y="155156"/>
                  </a:lnTo>
                  <a:lnTo>
                    <a:pt x="182315" y="148054"/>
                  </a:lnTo>
                  <a:lnTo>
                    <a:pt x="130024" y="139731"/>
                  </a:lnTo>
                  <a:lnTo>
                    <a:pt x="85402" y="130318"/>
                  </a:lnTo>
                  <a:lnTo>
                    <a:pt x="22443" y="108743"/>
                  </a:lnTo>
                  <a:lnTo>
                    <a:pt x="0" y="84374"/>
                  </a:lnTo>
                  <a:lnTo>
                    <a:pt x="5747" y="71906"/>
                  </a:lnTo>
                  <a:lnTo>
                    <a:pt x="49268" y="48804"/>
                  </a:lnTo>
                  <a:lnTo>
                    <a:pt x="130024" y="29018"/>
                  </a:lnTo>
                  <a:lnTo>
                    <a:pt x="182315" y="20695"/>
                  </a:lnTo>
                  <a:lnTo>
                    <a:pt x="241454" y="13593"/>
                  </a:lnTo>
                  <a:lnTo>
                    <a:pt x="306623" y="7842"/>
                  </a:lnTo>
                  <a:lnTo>
                    <a:pt x="376999" y="3572"/>
                  </a:lnTo>
                  <a:lnTo>
                    <a:pt x="451765" y="914"/>
                  </a:lnTo>
                  <a:lnTo>
                    <a:pt x="530099" y="0"/>
                  </a:lnTo>
                  <a:lnTo>
                    <a:pt x="608434" y="914"/>
                  </a:lnTo>
                  <a:lnTo>
                    <a:pt x="683200" y="3572"/>
                  </a:lnTo>
                  <a:lnTo>
                    <a:pt x="753576" y="7842"/>
                  </a:lnTo>
                  <a:lnTo>
                    <a:pt x="818745" y="13593"/>
                  </a:lnTo>
                  <a:lnTo>
                    <a:pt x="877884" y="20695"/>
                  </a:lnTo>
                  <a:lnTo>
                    <a:pt x="930175" y="29018"/>
                  </a:lnTo>
                  <a:lnTo>
                    <a:pt x="974797" y="38431"/>
                  </a:lnTo>
                  <a:lnTo>
                    <a:pt x="1037756" y="60006"/>
                  </a:lnTo>
                  <a:lnTo>
                    <a:pt x="1060199" y="84374"/>
                  </a:lnTo>
                  <a:lnTo>
                    <a:pt x="1054452" y="96843"/>
                  </a:lnTo>
                  <a:lnTo>
                    <a:pt x="1010931" y="119945"/>
                  </a:lnTo>
                  <a:lnTo>
                    <a:pt x="930175" y="139731"/>
                  </a:lnTo>
                  <a:lnTo>
                    <a:pt x="877884" y="148054"/>
                  </a:lnTo>
                  <a:lnTo>
                    <a:pt x="818745" y="155156"/>
                  </a:lnTo>
                  <a:lnTo>
                    <a:pt x="753576" y="160907"/>
                  </a:lnTo>
                  <a:lnTo>
                    <a:pt x="683200" y="165177"/>
                  </a:lnTo>
                  <a:lnTo>
                    <a:pt x="608434" y="167835"/>
                  </a:lnTo>
                  <a:lnTo>
                    <a:pt x="530099" y="168749"/>
                  </a:lnTo>
                  <a:close/>
                </a:path>
              </a:pathLst>
            </a:custGeom>
            <a:solidFill>
              <a:srgbClr val="A1E4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344425" y="2363399"/>
              <a:ext cx="1060450" cy="675005"/>
            </a:xfrm>
            <a:custGeom>
              <a:avLst/>
              <a:gdLst/>
              <a:ahLst/>
              <a:cxnLst/>
              <a:rect l="l" t="t" r="r" b="b"/>
              <a:pathLst>
                <a:path w="1060450" h="675005">
                  <a:moveTo>
                    <a:pt x="1060199" y="84374"/>
                  </a:moveTo>
                  <a:lnTo>
                    <a:pt x="1054452" y="96843"/>
                  </a:lnTo>
                  <a:lnTo>
                    <a:pt x="1037756" y="108743"/>
                  </a:lnTo>
                  <a:lnTo>
                    <a:pt x="974797" y="130318"/>
                  </a:lnTo>
                  <a:lnTo>
                    <a:pt x="930175" y="139731"/>
                  </a:lnTo>
                  <a:lnTo>
                    <a:pt x="877884" y="148054"/>
                  </a:lnTo>
                  <a:lnTo>
                    <a:pt x="818745" y="155156"/>
                  </a:lnTo>
                  <a:lnTo>
                    <a:pt x="753576" y="160907"/>
                  </a:lnTo>
                  <a:lnTo>
                    <a:pt x="683200" y="165177"/>
                  </a:lnTo>
                  <a:lnTo>
                    <a:pt x="608434" y="167835"/>
                  </a:lnTo>
                  <a:lnTo>
                    <a:pt x="530099" y="168749"/>
                  </a:lnTo>
                  <a:lnTo>
                    <a:pt x="451765" y="167835"/>
                  </a:lnTo>
                  <a:lnTo>
                    <a:pt x="376999" y="165177"/>
                  </a:lnTo>
                  <a:lnTo>
                    <a:pt x="306623" y="160907"/>
                  </a:lnTo>
                  <a:lnTo>
                    <a:pt x="241454" y="155156"/>
                  </a:lnTo>
                  <a:lnTo>
                    <a:pt x="182315" y="148054"/>
                  </a:lnTo>
                  <a:lnTo>
                    <a:pt x="130024" y="139731"/>
                  </a:lnTo>
                  <a:lnTo>
                    <a:pt x="85402" y="130318"/>
                  </a:lnTo>
                  <a:lnTo>
                    <a:pt x="22443" y="108743"/>
                  </a:lnTo>
                  <a:lnTo>
                    <a:pt x="0" y="84374"/>
                  </a:lnTo>
                  <a:lnTo>
                    <a:pt x="49268" y="48804"/>
                  </a:lnTo>
                  <a:lnTo>
                    <a:pt x="130024" y="29018"/>
                  </a:lnTo>
                  <a:lnTo>
                    <a:pt x="182315" y="20695"/>
                  </a:lnTo>
                  <a:lnTo>
                    <a:pt x="241454" y="13593"/>
                  </a:lnTo>
                  <a:lnTo>
                    <a:pt x="306623" y="7842"/>
                  </a:lnTo>
                  <a:lnTo>
                    <a:pt x="376999" y="3572"/>
                  </a:lnTo>
                  <a:lnTo>
                    <a:pt x="451765" y="914"/>
                  </a:lnTo>
                  <a:lnTo>
                    <a:pt x="530099" y="0"/>
                  </a:lnTo>
                  <a:lnTo>
                    <a:pt x="608434" y="914"/>
                  </a:lnTo>
                  <a:lnTo>
                    <a:pt x="683200" y="3572"/>
                  </a:lnTo>
                  <a:lnTo>
                    <a:pt x="753576" y="7842"/>
                  </a:lnTo>
                  <a:lnTo>
                    <a:pt x="818745" y="13593"/>
                  </a:lnTo>
                  <a:lnTo>
                    <a:pt x="877884" y="20695"/>
                  </a:lnTo>
                  <a:lnTo>
                    <a:pt x="930175" y="29018"/>
                  </a:lnTo>
                  <a:lnTo>
                    <a:pt x="974797" y="38431"/>
                  </a:lnTo>
                  <a:lnTo>
                    <a:pt x="1037756" y="60006"/>
                  </a:lnTo>
                  <a:lnTo>
                    <a:pt x="1060199" y="84374"/>
                  </a:lnTo>
                  <a:lnTo>
                    <a:pt x="1060199" y="590624"/>
                  </a:lnTo>
                  <a:lnTo>
                    <a:pt x="1010931" y="626195"/>
                  </a:lnTo>
                  <a:lnTo>
                    <a:pt x="930175" y="645981"/>
                  </a:lnTo>
                  <a:lnTo>
                    <a:pt x="877884" y="654304"/>
                  </a:lnTo>
                  <a:lnTo>
                    <a:pt x="818745" y="661406"/>
                  </a:lnTo>
                  <a:lnTo>
                    <a:pt x="753576" y="667157"/>
                  </a:lnTo>
                  <a:lnTo>
                    <a:pt x="683200" y="671427"/>
                  </a:lnTo>
                  <a:lnTo>
                    <a:pt x="608434" y="674085"/>
                  </a:lnTo>
                  <a:lnTo>
                    <a:pt x="530099" y="674999"/>
                  </a:lnTo>
                  <a:lnTo>
                    <a:pt x="451765" y="674085"/>
                  </a:lnTo>
                  <a:lnTo>
                    <a:pt x="376999" y="671427"/>
                  </a:lnTo>
                  <a:lnTo>
                    <a:pt x="306623" y="667157"/>
                  </a:lnTo>
                  <a:lnTo>
                    <a:pt x="241454" y="661406"/>
                  </a:lnTo>
                  <a:lnTo>
                    <a:pt x="182315" y="654304"/>
                  </a:lnTo>
                  <a:lnTo>
                    <a:pt x="130024" y="645981"/>
                  </a:lnTo>
                  <a:lnTo>
                    <a:pt x="85402" y="636568"/>
                  </a:lnTo>
                  <a:lnTo>
                    <a:pt x="22443" y="614993"/>
                  </a:lnTo>
                  <a:lnTo>
                    <a:pt x="0" y="590624"/>
                  </a:lnTo>
                  <a:lnTo>
                    <a:pt x="0" y="84374"/>
                  </a:lnTo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6595100" y="2618500"/>
            <a:ext cx="5588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MT"/>
                <a:cs typeface="Arial MT"/>
              </a:rPr>
              <a:t>Output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284099" y="2680404"/>
            <a:ext cx="1051560" cy="262255"/>
            <a:chOff x="5284099" y="2680404"/>
            <a:chExt cx="1051560" cy="262255"/>
          </a:xfrm>
        </p:grpSpPr>
        <p:sp>
          <p:nvSpPr>
            <p:cNvPr id="37" name="object 37"/>
            <p:cNvSpPr/>
            <p:nvPr/>
          </p:nvSpPr>
          <p:spPr>
            <a:xfrm>
              <a:off x="5284099" y="2700900"/>
              <a:ext cx="1003300" cy="0"/>
            </a:xfrm>
            <a:custGeom>
              <a:avLst/>
              <a:gdLst/>
              <a:ahLst/>
              <a:cxnLst/>
              <a:rect l="l" t="t" r="r" b="b"/>
              <a:pathLst>
                <a:path w="1003300">
                  <a:moveTo>
                    <a:pt x="0" y="0"/>
                  </a:moveTo>
                  <a:lnTo>
                    <a:pt x="1003049" y="0"/>
                  </a:lnTo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287149" y="26851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4BA1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287149" y="26851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479960" y="2776413"/>
              <a:ext cx="554355" cy="161925"/>
            </a:xfrm>
            <a:custGeom>
              <a:avLst/>
              <a:gdLst/>
              <a:ahLst/>
              <a:cxnLst/>
              <a:rect l="l" t="t" r="r" b="b"/>
              <a:pathLst>
                <a:path w="554354" h="161925">
                  <a:moveTo>
                    <a:pt x="553799" y="161399"/>
                  </a:moveTo>
                  <a:lnTo>
                    <a:pt x="0" y="160799"/>
                  </a:lnTo>
                  <a:lnTo>
                    <a:pt x="0" y="0"/>
                  </a:lnTo>
                  <a:lnTo>
                    <a:pt x="553799" y="599"/>
                  </a:lnTo>
                  <a:lnTo>
                    <a:pt x="553799" y="161399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479960" y="2776413"/>
              <a:ext cx="554355" cy="161925"/>
            </a:xfrm>
            <a:custGeom>
              <a:avLst/>
              <a:gdLst/>
              <a:ahLst/>
              <a:cxnLst/>
              <a:rect l="l" t="t" r="r" b="b"/>
              <a:pathLst>
                <a:path w="554354" h="161925">
                  <a:moveTo>
                    <a:pt x="0" y="0"/>
                  </a:moveTo>
                  <a:lnTo>
                    <a:pt x="553799" y="599"/>
                  </a:lnTo>
                  <a:lnTo>
                    <a:pt x="553799" y="161399"/>
                  </a:lnTo>
                  <a:lnTo>
                    <a:pt x="0" y="1607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1492950" y="1425336"/>
            <a:ext cx="42672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5" dirty="0">
                <a:latin typeface="Arial MT"/>
                <a:cs typeface="Arial MT"/>
              </a:rPr>
              <a:t>DStream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646000" y="3074011"/>
            <a:ext cx="42672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5" dirty="0">
                <a:latin typeface="Arial MT"/>
                <a:cs typeface="Arial MT"/>
              </a:rPr>
              <a:t>DStream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652525" y="4252760"/>
            <a:ext cx="42672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5" dirty="0">
                <a:latin typeface="Arial MT"/>
                <a:cs typeface="Arial MT"/>
              </a:rPr>
              <a:t>DStream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591674" y="2477485"/>
            <a:ext cx="30734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5" dirty="0">
                <a:latin typeface="Arial MT"/>
                <a:cs typeface="Arial MT"/>
              </a:rPr>
              <a:t>Action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52875" y="3500525"/>
            <a:ext cx="967105" cy="445770"/>
          </a:xfrm>
          <a:prstGeom prst="rect">
            <a:avLst/>
          </a:prstGeom>
          <a:solidFill>
            <a:srgbClr val="63D197"/>
          </a:solidFill>
          <a:ln w="9524">
            <a:solidFill>
              <a:srgbClr val="4BA173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L="201930" marR="191135" indent="-5080">
              <a:lnSpc>
                <a:spcPts val="1650"/>
              </a:lnSpc>
              <a:spcBef>
                <a:spcPts val="125"/>
              </a:spcBef>
            </a:pPr>
            <a:r>
              <a:rPr sz="1400" spc="-5" dirty="0">
                <a:latin typeface="Arial MT"/>
                <a:cs typeface="Arial MT"/>
              </a:rPr>
              <a:t>Stream  Source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7" name="object 47"/>
          <p:cNvSpPr txBox="1"/>
          <p:nvPr/>
        </p:nvSpPr>
        <p:spPr>
          <a:xfrm rot="20340000">
            <a:off x="1726118" y="2028569"/>
            <a:ext cx="353744" cy="76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00"/>
              </a:lnSpc>
            </a:pPr>
            <a:r>
              <a:rPr sz="600" spc="-5" dirty="0">
                <a:latin typeface="Arial MT"/>
                <a:cs typeface="Arial MT"/>
              </a:rPr>
              <a:t>RD</a:t>
            </a:r>
            <a:r>
              <a:rPr sz="600" dirty="0">
                <a:latin typeface="Arial MT"/>
                <a:cs typeface="Arial MT"/>
              </a:rPr>
              <a:t>D</a:t>
            </a:r>
            <a:r>
              <a:rPr sz="600" spc="-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(t=3)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1673841" y="2529984"/>
            <a:ext cx="584835" cy="353695"/>
            <a:chOff x="1673841" y="2529984"/>
            <a:chExt cx="584835" cy="353695"/>
          </a:xfrm>
        </p:grpSpPr>
        <p:sp>
          <p:nvSpPr>
            <p:cNvPr id="49" name="object 49"/>
            <p:cNvSpPr/>
            <p:nvPr/>
          </p:nvSpPr>
          <p:spPr>
            <a:xfrm>
              <a:off x="1678604" y="2534746"/>
              <a:ext cx="575310" cy="344170"/>
            </a:xfrm>
            <a:custGeom>
              <a:avLst/>
              <a:gdLst/>
              <a:ahLst/>
              <a:cxnLst/>
              <a:rect l="l" t="t" r="r" b="b"/>
              <a:pathLst>
                <a:path w="575310" h="344169">
                  <a:moveTo>
                    <a:pt x="518999" y="344099"/>
                  </a:moveTo>
                  <a:lnTo>
                    <a:pt x="0" y="150899"/>
                  </a:lnTo>
                  <a:lnTo>
                    <a:pt x="56099" y="0"/>
                  </a:lnTo>
                  <a:lnTo>
                    <a:pt x="575099" y="193199"/>
                  </a:lnTo>
                  <a:lnTo>
                    <a:pt x="518999" y="344099"/>
                  </a:lnTo>
                  <a:close/>
                </a:path>
              </a:pathLst>
            </a:custGeom>
            <a:solidFill>
              <a:srgbClr val="E0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678604" y="2534746"/>
              <a:ext cx="575310" cy="344170"/>
            </a:xfrm>
            <a:custGeom>
              <a:avLst/>
              <a:gdLst/>
              <a:ahLst/>
              <a:cxnLst/>
              <a:rect l="l" t="t" r="r" b="b"/>
              <a:pathLst>
                <a:path w="575310" h="344169">
                  <a:moveTo>
                    <a:pt x="56099" y="0"/>
                  </a:moveTo>
                  <a:lnTo>
                    <a:pt x="575099" y="193199"/>
                  </a:lnTo>
                  <a:lnTo>
                    <a:pt x="518999" y="344099"/>
                  </a:lnTo>
                  <a:lnTo>
                    <a:pt x="0" y="150899"/>
                  </a:lnTo>
                  <a:lnTo>
                    <a:pt x="56099" y="0"/>
                  </a:lnTo>
                  <a:close/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 rot="1200000">
            <a:off x="1789507" y="2667837"/>
            <a:ext cx="354364" cy="76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00"/>
              </a:lnSpc>
            </a:pPr>
            <a:r>
              <a:rPr sz="600" spc="-5" dirty="0">
                <a:latin typeface="Arial MT"/>
                <a:cs typeface="Arial MT"/>
              </a:rPr>
              <a:t>RD</a:t>
            </a:r>
            <a:r>
              <a:rPr sz="600" dirty="0">
                <a:latin typeface="Arial MT"/>
                <a:cs typeface="Arial MT"/>
              </a:rPr>
              <a:t>D</a:t>
            </a:r>
            <a:r>
              <a:rPr sz="600" spc="-1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(t=3)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1607232" y="3809946"/>
            <a:ext cx="563880" cy="171450"/>
            <a:chOff x="1607232" y="3809946"/>
            <a:chExt cx="563880" cy="171450"/>
          </a:xfrm>
        </p:grpSpPr>
        <p:sp>
          <p:nvSpPr>
            <p:cNvPr id="53" name="object 53"/>
            <p:cNvSpPr/>
            <p:nvPr/>
          </p:nvSpPr>
          <p:spPr>
            <a:xfrm>
              <a:off x="1611994" y="3814708"/>
              <a:ext cx="554355" cy="161925"/>
            </a:xfrm>
            <a:custGeom>
              <a:avLst/>
              <a:gdLst/>
              <a:ahLst/>
              <a:cxnLst/>
              <a:rect l="l" t="t" r="r" b="b"/>
              <a:pathLst>
                <a:path w="554355" h="161925">
                  <a:moveTo>
                    <a:pt x="553800" y="161399"/>
                  </a:moveTo>
                  <a:lnTo>
                    <a:pt x="0" y="161099"/>
                  </a:lnTo>
                  <a:lnTo>
                    <a:pt x="0" y="0"/>
                  </a:lnTo>
                  <a:lnTo>
                    <a:pt x="553800" y="299"/>
                  </a:lnTo>
                  <a:lnTo>
                    <a:pt x="553800" y="161399"/>
                  </a:lnTo>
                  <a:close/>
                </a:path>
              </a:pathLst>
            </a:custGeom>
            <a:solidFill>
              <a:srgbClr val="E0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611994" y="3814708"/>
              <a:ext cx="554355" cy="161925"/>
            </a:xfrm>
            <a:custGeom>
              <a:avLst/>
              <a:gdLst/>
              <a:ahLst/>
              <a:cxnLst/>
              <a:rect l="l" t="t" r="r" b="b"/>
              <a:pathLst>
                <a:path w="554355" h="161925">
                  <a:moveTo>
                    <a:pt x="0" y="0"/>
                  </a:moveTo>
                  <a:lnTo>
                    <a:pt x="553800" y="299"/>
                  </a:lnTo>
                  <a:lnTo>
                    <a:pt x="553800" y="161399"/>
                  </a:lnTo>
                  <a:lnTo>
                    <a:pt x="0" y="1610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1703665" y="3831942"/>
            <a:ext cx="37084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" dirty="0">
                <a:latin typeface="Arial MT"/>
                <a:cs typeface="Arial MT"/>
              </a:rPr>
              <a:t>RD</a:t>
            </a:r>
            <a:r>
              <a:rPr sz="600" dirty="0">
                <a:latin typeface="Arial MT"/>
                <a:cs typeface="Arial MT"/>
              </a:rPr>
              <a:t>D</a:t>
            </a:r>
            <a:r>
              <a:rPr sz="600" spc="-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(t=3)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3433288" y="2771660"/>
            <a:ext cx="563880" cy="171450"/>
            <a:chOff x="3433288" y="2771660"/>
            <a:chExt cx="563880" cy="171450"/>
          </a:xfrm>
        </p:grpSpPr>
        <p:sp>
          <p:nvSpPr>
            <p:cNvPr id="57" name="object 57"/>
            <p:cNvSpPr/>
            <p:nvPr/>
          </p:nvSpPr>
          <p:spPr>
            <a:xfrm>
              <a:off x="3438050" y="2776422"/>
              <a:ext cx="554355" cy="161925"/>
            </a:xfrm>
            <a:custGeom>
              <a:avLst/>
              <a:gdLst/>
              <a:ahLst/>
              <a:cxnLst/>
              <a:rect l="l" t="t" r="r" b="b"/>
              <a:pathLst>
                <a:path w="554354" h="161925">
                  <a:moveTo>
                    <a:pt x="553799" y="161399"/>
                  </a:moveTo>
                  <a:lnTo>
                    <a:pt x="0" y="160799"/>
                  </a:lnTo>
                  <a:lnTo>
                    <a:pt x="0" y="0"/>
                  </a:lnTo>
                  <a:lnTo>
                    <a:pt x="553799" y="599"/>
                  </a:lnTo>
                  <a:lnTo>
                    <a:pt x="553799" y="1613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438050" y="2776422"/>
              <a:ext cx="554355" cy="161925"/>
            </a:xfrm>
            <a:custGeom>
              <a:avLst/>
              <a:gdLst/>
              <a:ahLst/>
              <a:cxnLst/>
              <a:rect l="l" t="t" r="r" b="b"/>
              <a:pathLst>
                <a:path w="554354" h="161925">
                  <a:moveTo>
                    <a:pt x="0" y="0"/>
                  </a:moveTo>
                  <a:lnTo>
                    <a:pt x="553799" y="599"/>
                  </a:lnTo>
                  <a:lnTo>
                    <a:pt x="553799" y="161399"/>
                  </a:lnTo>
                  <a:lnTo>
                    <a:pt x="0" y="1607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3529722" y="2793764"/>
            <a:ext cx="37084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" dirty="0">
                <a:latin typeface="Arial MT"/>
                <a:cs typeface="Arial MT"/>
              </a:rPr>
              <a:t>RD</a:t>
            </a:r>
            <a:r>
              <a:rPr sz="600" dirty="0">
                <a:latin typeface="Arial MT"/>
                <a:cs typeface="Arial MT"/>
              </a:rPr>
              <a:t>D</a:t>
            </a:r>
            <a:r>
              <a:rPr sz="600" spc="-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(t=2)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3659061" y="2123889"/>
            <a:ext cx="564515" cy="440055"/>
            <a:chOff x="3659061" y="2123889"/>
            <a:chExt cx="564515" cy="440055"/>
          </a:xfrm>
        </p:grpSpPr>
        <p:sp>
          <p:nvSpPr>
            <p:cNvPr id="61" name="object 61"/>
            <p:cNvSpPr/>
            <p:nvPr/>
          </p:nvSpPr>
          <p:spPr>
            <a:xfrm>
              <a:off x="3663823" y="2128652"/>
              <a:ext cx="554990" cy="430530"/>
            </a:xfrm>
            <a:custGeom>
              <a:avLst/>
              <a:gdLst/>
              <a:ahLst/>
              <a:cxnLst/>
              <a:rect l="l" t="t" r="r" b="b"/>
              <a:pathLst>
                <a:path w="554989" h="430530">
                  <a:moveTo>
                    <a:pt x="469499" y="430199"/>
                  </a:moveTo>
                  <a:lnTo>
                    <a:pt x="0" y="136499"/>
                  </a:lnTo>
                  <a:lnTo>
                    <a:pt x="85199" y="0"/>
                  </a:lnTo>
                  <a:lnTo>
                    <a:pt x="554699" y="293699"/>
                  </a:lnTo>
                  <a:lnTo>
                    <a:pt x="469499" y="4301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3663823" y="2128652"/>
              <a:ext cx="554990" cy="430530"/>
            </a:xfrm>
            <a:custGeom>
              <a:avLst/>
              <a:gdLst/>
              <a:ahLst/>
              <a:cxnLst/>
              <a:rect l="l" t="t" r="r" b="b"/>
              <a:pathLst>
                <a:path w="554989" h="430530">
                  <a:moveTo>
                    <a:pt x="85199" y="0"/>
                  </a:moveTo>
                  <a:lnTo>
                    <a:pt x="554699" y="293699"/>
                  </a:lnTo>
                  <a:lnTo>
                    <a:pt x="469499" y="430199"/>
                  </a:lnTo>
                  <a:lnTo>
                    <a:pt x="0" y="136499"/>
                  </a:lnTo>
                  <a:lnTo>
                    <a:pt x="85199" y="0"/>
                  </a:lnTo>
                  <a:close/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 txBox="1"/>
          <p:nvPr/>
        </p:nvSpPr>
        <p:spPr>
          <a:xfrm rot="1920000">
            <a:off x="3764953" y="2304859"/>
            <a:ext cx="353744" cy="76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00"/>
              </a:lnSpc>
            </a:pPr>
            <a:r>
              <a:rPr sz="600" spc="-5" dirty="0">
                <a:latin typeface="Arial MT"/>
                <a:cs typeface="Arial MT"/>
              </a:rPr>
              <a:t>RD</a:t>
            </a:r>
            <a:r>
              <a:rPr sz="600" dirty="0">
                <a:latin typeface="Arial MT"/>
                <a:cs typeface="Arial MT"/>
              </a:rPr>
              <a:t>D</a:t>
            </a:r>
            <a:r>
              <a:rPr sz="600" spc="-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(t=2)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3568024" y="3150633"/>
            <a:ext cx="534670" cy="492759"/>
            <a:chOff x="3568024" y="3150633"/>
            <a:chExt cx="534670" cy="492759"/>
          </a:xfrm>
        </p:grpSpPr>
        <p:sp>
          <p:nvSpPr>
            <p:cNvPr id="65" name="object 65"/>
            <p:cNvSpPr/>
            <p:nvPr/>
          </p:nvSpPr>
          <p:spPr>
            <a:xfrm>
              <a:off x="3572786" y="3155395"/>
              <a:ext cx="525145" cy="483234"/>
            </a:xfrm>
            <a:custGeom>
              <a:avLst/>
              <a:gdLst/>
              <a:ahLst/>
              <a:cxnLst/>
              <a:rect l="l" t="t" r="r" b="b"/>
              <a:pathLst>
                <a:path w="525145" h="483235">
                  <a:moveTo>
                    <a:pt x="104699" y="482700"/>
                  </a:moveTo>
                  <a:lnTo>
                    <a:pt x="0" y="360600"/>
                  </a:lnTo>
                  <a:lnTo>
                    <a:pt x="420299" y="0"/>
                  </a:lnTo>
                  <a:lnTo>
                    <a:pt x="524999" y="122100"/>
                  </a:lnTo>
                  <a:lnTo>
                    <a:pt x="104699" y="48270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3572786" y="3155395"/>
              <a:ext cx="525145" cy="483234"/>
            </a:xfrm>
            <a:custGeom>
              <a:avLst/>
              <a:gdLst/>
              <a:ahLst/>
              <a:cxnLst/>
              <a:rect l="l" t="t" r="r" b="b"/>
              <a:pathLst>
                <a:path w="525145" h="483235">
                  <a:moveTo>
                    <a:pt x="0" y="360600"/>
                  </a:moveTo>
                  <a:lnTo>
                    <a:pt x="420299" y="0"/>
                  </a:lnTo>
                  <a:lnTo>
                    <a:pt x="524999" y="122100"/>
                  </a:lnTo>
                  <a:lnTo>
                    <a:pt x="104699" y="482700"/>
                  </a:lnTo>
                  <a:lnTo>
                    <a:pt x="0" y="360600"/>
                  </a:lnTo>
                  <a:close/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7" name="object 67"/>
          <p:cNvSpPr txBox="1"/>
          <p:nvPr/>
        </p:nvSpPr>
        <p:spPr>
          <a:xfrm rot="19200000">
            <a:off x="3657606" y="3358016"/>
            <a:ext cx="354364" cy="76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00"/>
              </a:lnSpc>
            </a:pPr>
            <a:r>
              <a:rPr sz="600" spc="-5" dirty="0">
                <a:latin typeface="Arial MT"/>
                <a:cs typeface="Arial MT"/>
              </a:rPr>
              <a:t>RD</a:t>
            </a:r>
            <a:r>
              <a:rPr sz="600" dirty="0">
                <a:latin typeface="Arial MT"/>
                <a:cs typeface="Arial MT"/>
              </a:rPr>
              <a:t>D</a:t>
            </a:r>
            <a:r>
              <a:rPr sz="600" spc="-1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(t=2)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5571632" y="2793754"/>
            <a:ext cx="37084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" dirty="0">
                <a:latin typeface="Arial MT"/>
                <a:cs typeface="Arial MT"/>
              </a:rPr>
              <a:t>RD</a:t>
            </a:r>
            <a:r>
              <a:rPr sz="600" dirty="0">
                <a:latin typeface="Arial MT"/>
                <a:cs typeface="Arial MT"/>
              </a:rPr>
              <a:t>D</a:t>
            </a:r>
            <a:r>
              <a:rPr sz="600" spc="-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(t=1)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5249" y="1162308"/>
            <a:ext cx="5945505" cy="297180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-125" dirty="0">
                <a:solidFill>
                  <a:srgbClr val="616161"/>
                </a:solidFill>
                <a:latin typeface="Verdana"/>
                <a:cs typeface="Verdana"/>
              </a:rPr>
              <a:t>DStream</a:t>
            </a:r>
            <a:endParaRPr sz="1800">
              <a:latin typeface="Verdana"/>
              <a:cs typeface="Verdana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400" spc="-75" dirty="0">
                <a:solidFill>
                  <a:srgbClr val="616161"/>
                </a:solidFill>
                <a:latin typeface="Verdana"/>
                <a:cs typeface="Verdana"/>
              </a:rPr>
              <a:t>“Discretized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105" dirty="0">
                <a:solidFill>
                  <a:srgbClr val="616161"/>
                </a:solidFill>
                <a:latin typeface="Verdana"/>
                <a:cs typeface="Verdana"/>
              </a:rPr>
              <a:t>Stream”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85" dirty="0">
                <a:solidFill>
                  <a:srgbClr val="616161"/>
                </a:solidFill>
                <a:latin typeface="Verdana"/>
                <a:cs typeface="Verdana"/>
              </a:rPr>
              <a:t>which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80" dirty="0">
                <a:solidFill>
                  <a:srgbClr val="616161"/>
                </a:solidFill>
                <a:latin typeface="Verdana"/>
                <a:cs typeface="Verdana"/>
              </a:rPr>
              <a:t>represents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90" dirty="0">
                <a:solidFill>
                  <a:srgbClr val="616161"/>
                </a:solidFill>
                <a:latin typeface="Verdana"/>
                <a:cs typeface="Verdana"/>
              </a:rPr>
              <a:t>an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60" dirty="0">
                <a:solidFill>
                  <a:srgbClr val="616161"/>
                </a:solidFill>
                <a:latin typeface="Verdana"/>
                <a:cs typeface="Verdana"/>
              </a:rPr>
              <a:t>infinite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100" dirty="0">
                <a:solidFill>
                  <a:srgbClr val="616161"/>
                </a:solidFill>
                <a:latin typeface="Verdana"/>
                <a:cs typeface="Verdana"/>
              </a:rPr>
              <a:t>stream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35" dirty="0">
                <a:solidFill>
                  <a:srgbClr val="616161"/>
                </a:solidFill>
                <a:latin typeface="Verdana"/>
                <a:cs typeface="Verdana"/>
              </a:rPr>
              <a:t>of</a:t>
            </a:r>
            <a:r>
              <a:rPr sz="1400" spc="-14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80" dirty="0">
                <a:solidFill>
                  <a:srgbClr val="616161"/>
                </a:solidFill>
                <a:latin typeface="Verdana"/>
                <a:cs typeface="Verdana"/>
              </a:rPr>
              <a:t>data</a:t>
            </a:r>
            <a:endParaRPr sz="1400">
              <a:latin typeface="Verdana"/>
              <a:cs typeface="Verdana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400" spc="-155" dirty="0">
                <a:solidFill>
                  <a:srgbClr val="616161"/>
                </a:solidFill>
                <a:latin typeface="Verdana"/>
                <a:cs typeface="Verdana"/>
              </a:rPr>
              <a:t>In</a:t>
            </a:r>
            <a:r>
              <a:rPr sz="1400" spc="-15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90" dirty="0">
                <a:solidFill>
                  <a:srgbClr val="616161"/>
                </a:solidFill>
                <a:latin typeface="Verdana"/>
                <a:cs typeface="Verdana"/>
              </a:rPr>
              <a:t>actuality,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60" dirty="0">
                <a:solidFill>
                  <a:srgbClr val="616161"/>
                </a:solidFill>
                <a:latin typeface="Verdana"/>
                <a:cs typeface="Verdana"/>
              </a:rPr>
              <a:t>it’s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95" dirty="0">
                <a:solidFill>
                  <a:srgbClr val="616161"/>
                </a:solidFill>
                <a:latin typeface="Verdana"/>
                <a:cs typeface="Verdana"/>
              </a:rPr>
              <a:t>a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105" dirty="0">
                <a:solidFill>
                  <a:srgbClr val="616161"/>
                </a:solidFill>
                <a:latin typeface="Verdana"/>
                <a:cs typeface="Verdana"/>
              </a:rPr>
              <a:t>(endless)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85" dirty="0">
                <a:solidFill>
                  <a:srgbClr val="616161"/>
                </a:solidFill>
                <a:latin typeface="Verdana"/>
                <a:cs typeface="Verdana"/>
              </a:rPr>
              <a:t>sequence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35" dirty="0">
                <a:solidFill>
                  <a:srgbClr val="616161"/>
                </a:solidFill>
                <a:latin typeface="Verdana"/>
                <a:cs typeface="Verdana"/>
              </a:rPr>
              <a:t>of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65" dirty="0">
                <a:solidFill>
                  <a:srgbClr val="616161"/>
                </a:solidFill>
                <a:latin typeface="Verdana"/>
                <a:cs typeface="Verdana"/>
              </a:rPr>
              <a:t>RDDs</a:t>
            </a:r>
            <a:endParaRPr sz="14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Clr>
                <a:srgbClr val="616161"/>
              </a:buClr>
              <a:buFont typeface="Arial MT"/>
              <a:buChar char="○"/>
            </a:pPr>
            <a:endParaRPr sz="1800">
              <a:latin typeface="Verdana"/>
              <a:cs typeface="Verdana"/>
            </a:endParaRPr>
          </a:p>
          <a:p>
            <a:pPr marL="379095" indent="-367030">
              <a:lnSpc>
                <a:spcPct val="100000"/>
              </a:lnSpc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-125" dirty="0">
                <a:solidFill>
                  <a:srgbClr val="616161"/>
                </a:solidFill>
                <a:latin typeface="Verdana"/>
                <a:cs typeface="Verdana"/>
              </a:rPr>
              <a:t>Spark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14" dirty="0">
                <a:solidFill>
                  <a:srgbClr val="616161"/>
                </a:solidFill>
                <a:latin typeface="Verdana"/>
                <a:cs typeface="Verdana"/>
              </a:rPr>
              <a:t>Streamin</a:t>
            </a:r>
            <a:r>
              <a:rPr sz="1800" spc="-120" dirty="0">
                <a:solidFill>
                  <a:srgbClr val="616161"/>
                </a:solidFill>
                <a:latin typeface="Verdana"/>
                <a:cs typeface="Verdana"/>
              </a:rPr>
              <a:t>g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616161"/>
                </a:solidFill>
                <a:latin typeface="Verdana"/>
                <a:cs typeface="Verdana"/>
              </a:rPr>
              <a:t>Context</a:t>
            </a:r>
            <a:endParaRPr sz="1800">
              <a:latin typeface="Verdana"/>
              <a:cs typeface="Verdana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400" spc="-80" dirty="0">
                <a:solidFill>
                  <a:srgbClr val="616161"/>
                </a:solidFill>
                <a:latin typeface="Verdana"/>
                <a:cs typeface="Verdana"/>
              </a:rPr>
              <a:t>Simila</a:t>
            </a:r>
            <a:r>
              <a:rPr sz="1400" spc="-65" dirty="0">
                <a:solidFill>
                  <a:srgbClr val="616161"/>
                </a:solidFill>
                <a:latin typeface="Verdana"/>
                <a:cs typeface="Verdana"/>
              </a:rPr>
              <a:t>r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45" dirty="0">
                <a:solidFill>
                  <a:srgbClr val="616161"/>
                </a:solidFill>
                <a:latin typeface="Verdana"/>
                <a:cs typeface="Verdana"/>
              </a:rPr>
              <a:t>t</a:t>
            </a:r>
            <a:r>
              <a:rPr sz="1400" spc="-60" dirty="0">
                <a:solidFill>
                  <a:srgbClr val="616161"/>
                </a:solidFill>
                <a:latin typeface="Verdana"/>
                <a:cs typeface="Verdana"/>
              </a:rPr>
              <a:t>o</a:t>
            </a:r>
            <a:r>
              <a:rPr sz="1400" spc="-15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90" dirty="0">
                <a:solidFill>
                  <a:srgbClr val="616161"/>
                </a:solidFill>
                <a:latin typeface="Verdana"/>
                <a:cs typeface="Verdana"/>
              </a:rPr>
              <a:t>th</a:t>
            </a:r>
            <a:r>
              <a:rPr sz="1400" spc="-100" dirty="0">
                <a:solidFill>
                  <a:srgbClr val="616161"/>
                </a:solidFill>
                <a:latin typeface="Verdana"/>
                <a:cs typeface="Verdana"/>
              </a:rPr>
              <a:t>e</a:t>
            </a:r>
            <a:r>
              <a:rPr sz="1400" spc="-15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100" dirty="0">
                <a:solidFill>
                  <a:srgbClr val="616161"/>
                </a:solidFill>
                <a:latin typeface="Verdana"/>
                <a:cs typeface="Verdana"/>
              </a:rPr>
              <a:t>Spar</a:t>
            </a:r>
            <a:r>
              <a:rPr sz="1400" spc="-95" dirty="0">
                <a:solidFill>
                  <a:srgbClr val="616161"/>
                </a:solidFill>
                <a:latin typeface="Verdana"/>
                <a:cs typeface="Verdana"/>
              </a:rPr>
              <a:t>k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95" dirty="0">
                <a:solidFill>
                  <a:srgbClr val="616161"/>
                </a:solidFill>
                <a:latin typeface="Verdana"/>
                <a:cs typeface="Verdana"/>
              </a:rPr>
              <a:t>Context</a:t>
            </a:r>
            <a:r>
              <a:rPr sz="1400" spc="-60" dirty="0">
                <a:solidFill>
                  <a:srgbClr val="616161"/>
                </a:solidFill>
                <a:latin typeface="Verdana"/>
                <a:cs typeface="Verdana"/>
              </a:rPr>
              <a:t>,</a:t>
            </a:r>
            <a:r>
              <a:rPr sz="1400" spc="-15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75" dirty="0">
                <a:solidFill>
                  <a:srgbClr val="616161"/>
                </a:solidFill>
                <a:latin typeface="Verdana"/>
                <a:cs typeface="Verdana"/>
              </a:rPr>
              <a:t>except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50" dirty="0">
                <a:solidFill>
                  <a:srgbClr val="616161"/>
                </a:solidFill>
                <a:latin typeface="Verdana"/>
                <a:cs typeface="Verdana"/>
              </a:rPr>
              <a:t>i</a:t>
            </a:r>
            <a:r>
              <a:rPr sz="1400" spc="-60" dirty="0">
                <a:solidFill>
                  <a:srgbClr val="616161"/>
                </a:solidFill>
                <a:latin typeface="Verdana"/>
                <a:cs typeface="Verdana"/>
              </a:rPr>
              <a:t>t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80" dirty="0">
                <a:solidFill>
                  <a:srgbClr val="616161"/>
                </a:solidFill>
                <a:latin typeface="Verdana"/>
                <a:cs typeface="Verdana"/>
              </a:rPr>
              <a:t>handle</a:t>
            </a:r>
            <a:r>
              <a:rPr sz="1400" spc="-70" dirty="0">
                <a:solidFill>
                  <a:srgbClr val="616161"/>
                </a:solidFill>
                <a:latin typeface="Verdana"/>
                <a:cs typeface="Verdana"/>
              </a:rPr>
              <a:t>s</a:t>
            </a:r>
            <a:r>
              <a:rPr sz="1400" spc="-15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95" dirty="0">
                <a:solidFill>
                  <a:srgbClr val="616161"/>
                </a:solidFill>
                <a:latin typeface="Verdana"/>
                <a:cs typeface="Verdana"/>
              </a:rPr>
              <a:t>DStreams</a:t>
            </a:r>
            <a:endParaRPr sz="1400">
              <a:latin typeface="Verdana"/>
              <a:cs typeface="Verdana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400" spc="-80" dirty="0">
                <a:solidFill>
                  <a:srgbClr val="616161"/>
                </a:solidFill>
                <a:latin typeface="Verdana"/>
                <a:cs typeface="Verdana"/>
              </a:rPr>
              <a:t>Ha</a:t>
            </a:r>
            <a:r>
              <a:rPr sz="1400" spc="-60" dirty="0">
                <a:solidFill>
                  <a:srgbClr val="616161"/>
                </a:solidFill>
                <a:latin typeface="Verdana"/>
                <a:cs typeface="Verdana"/>
              </a:rPr>
              <a:t>s</a:t>
            </a:r>
            <a:r>
              <a:rPr sz="1400" spc="-15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95" dirty="0">
                <a:solidFill>
                  <a:srgbClr val="616161"/>
                </a:solidFill>
                <a:latin typeface="Verdana"/>
                <a:cs typeface="Verdana"/>
              </a:rPr>
              <a:t>a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85" dirty="0">
                <a:solidFill>
                  <a:srgbClr val="616161"/>
                </a:solidFill>
                <a:latin typeface="Verdana"/>
                <a:cs typeface="Verdana"/>
              </a:rPr>
              <a:t>user-define</a:t>
            </a:r>
            <a:r>
              <a:rPr sz="1400" spc="-95" dirty="0">
                <a:solidFill>
                  <a:srgbClr val="616161"/>
                </a:solidFill>
                <a:latin typeface="Verdana"/>
                <a:cs typeface="Verdana"/>
              </a:rPr>
              <a:t>d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85" dirty="0">
                <a:solidFill>
                  <a:srgbClr val="616161"/>
                </a:solidFill>
                <a:latin typeface="Verdana"/>
                <a:cs typeface="Verdana"/>
              </a:rPr>
              <a:t>batc</a:t>
            </a:r>
            <a:r>
              <a:rPr sz="1400" spc="-90" dirty="0">
                <a:solidFill>
                  <a:srgbClr val="616161"/>
                </a:solidFill>
                <a:latin typeface="Verdana"/>
                <a:cs typeface="Verdana"/>
              </a:rPr>
              <a:t>h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75" dirty="0">
                <a:solidFill>
                  <a:srgbClr val="616161"/>
                </a:solidFill>
                <a:latin typeface="Verdana"/>
                <a:cs typeface="Verdana"/>
              </a:rPr>
              <a:t>interval</a:t>
            </a:r>
            <a:endParaRPr sz="1400">
              <a:latin typeface="Verdana"/>
              <a:cs typeface="Verdana"/>
            </a:endParaRPr>
          </a:p>
          <a:p>
            <a:pPr marL="1293495" lvl="2" indent="-336550">
              <a:lnSpc>
                <a:spcPct val="100000"/>
              </a:lnSpc>
              <a:spcBef>
                <a:spcPts val="270"/>
              </a:spcBef>
              <a:buFont typeface="Arial MT"/>
              <a:buChar char="■"/>
              <a:tabLst>
                <a:tab pos="1293495" algn="l"/>
                <a:tab pos="1294130" algn="l"/>
              </a:tabLst>
            </a:pPr>
            <a:r>
              <a:rPr sz="1400" spc="-70" dirty="0">
                <a:solidFill>
                  <a:srgbClr val="616161"/>
                </a:solidFill>
                <a:latin typeface="Verdana"/>
                <a:cs typeface="Verdana"/>
              </a:rPr>
              <a:t>Define</a:t>
            </a:r>
            <a:r>
              <a:rPr sz="1400" spc="-60" dirty="0">
                <a:solidFill>
                  <a:srgbClr val="616161"/>
                </a:solidFill>
                <a:latin typeface="Verdana"/>
                <a:cs typeface="Verdana"/>
              </a:rPr>
              <a:t>s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90" dirty="0">
                <a:solidFill>
                  <a:srgbClr val="616161"/>
                </a:solidFill>
                <a:latin typeface="Verdana"/>
                <a:cs typeface="Verdana"/>
              </a:rPr>
              <a:t>th</a:t>
            </a:r>
            <a:r>
              <a:rPr sz="1400" spc="-100" dirty="0">
                <a:solidFill>
                  <a:srgbClr val="616161"/>
                </a:solidFill>
                <a:latin typeface="Verdana"/>
                <a:cs typeface="Verdana"/>
              </a:rPr>
              <a:t>e</a:t>
            </a:r>
            <a:r>
              <a:rPr sz="1400" spc="-15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50" dirty="0">
                <a:solidFill>
                  <a:srgbClr val="616161"/>
                </a:solidFill>
                <a:latin typeface="Verdana"/>
                <a:cs typeface="Verdana"/>
              </a:rPr>
              <a:t>windo</a:t>
            </a:r>
            <a:r>
              <a:rPr sz="1400" spc="-65" dirty="0">
                <a:solidFill>
                  <a:srgbClr val="616161"/>
                </a:solidFill>
                <a:latin typeface="Verdana"/>
                <a:cs typeface="Verdana"/>
              </a:rPr>
              <a:t>w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75" dirty="0">
                <a:solidFill>
                  <a:srgbClr val="616161"/>
                </a:solidFill>
                <a:latin typeface="Verdana"/>
                <a:cs typeface="Verdana"/>
              </a:rPr>
              <a:t>siz</a:t>
            </a:r>
            <a:r>
              <a:rPr sz="1400" spc="-95" dirty="0">
                <a:solidFill>
                  <a:srgbClr val="616161"/>
                </a:solidFill>
                <a:latin typeface="Verdana"/>
                <a:cs typeface="Verdana"/>
              </a:rPr>
              <a:t>e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60" dirty="0">
                <a:solidFill>
                  <a:srgbClr val="616161"/>
                </a:solidFill>
                <a:latin typeface="Verdana"/>
                <a:cs typeface="Verdana"/>
              </a:rPr>
              <a:t>fo</a:t>
            </a:r>
            <a:r>
              <a:rPr sz="1400" spc="-50" dirty="0">
                <a:solidFill>
                  <a:srgbClr val="616161"/>
                </a:solidFill>
                <a:latin typeface="Verdana"/>
                <a:cs typeface="Verdana"/>
              </a:rPr>
              <a:t>r</a:t>
            </a:r>
            <a:r>
              <a:rPr sz="1400" spc="-15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65" dirty="0">
                <a:solidFill>
                  <a:srgbClr val="616161"/>
                </a:solidFill>
                <a:latin typeface="Verdana"/>
                <a:cs typeface="Verdana"/>
              </a:rPr>
              <a:t>RDDs</a:t>
            </a:r>
            <a:endParaRPr sz="1400">
              <a:latin typeface="Verdana"/>
              <a:cs typeface="Verdana"/>
            </a:endParaRPr>
          </a:p>
          <a:p>
            <a:pPr lvl="2">
              <a:lnSpc>
                <a:spcPct val="100000"/>
              </a:lnSpc>
              <a:spcBef>
                <a:spcPts val="20"/>
              </a:spcBef>
              <a:buClr>
                <a:srgbClr val="616161"/>
              </a:buClr>
              <a:buFont typeface="Arial MT"/>
              <a:buChar char="■"/>
            </a:pPr>
            <a:endParaRPr sz="1800">
              <a:latin typeface="Verdana"/>
              <a:cs typeface="Verdana"/>
            </a:endParaRPr>
          </a:p>
          <a:p>
            <a:pPr marL="379095" indent="-367030">
              <a:lnSpc>
                <a:spcPct val="100000"/>
              </a:lnSpc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-140" dirty="0">
                <a:solidFill>
                  <a:srgbClr val="616161"/>
                </a:solidFill>
                <a:latin typeface="Verdana"/>
                <a:cs typeface="Verdana"/>
              </a:rPr>
              <a:t>Jo</a:t>
            </a:r>
            <a:r>
              <a:rPr sz="1800" spc="-160" dirty="0">
                <a:solidFill>
                  <a:srgbClr val="616161"/>
                </a:solidFill>
                <a:latin typeface="Verdana"/>
                <a:cs typeface="Verdana"/>
              </a:rPr>
              <a:t>b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90" dirty="0">
                <a:solidFill>
                  <a:srgbClr val="616161"/>
                </a:solidFill>
                <a:latin typeface="Verdana"/>
                <a:cs typeface="Verdana"/>
              </a:rPr>
              <a:t>Processing</a:t>
            </a:r>
            <a:endParaRPr sz="1800">
              <a:latin typeface="Verdana"/>
              <a:cs typeface="Verdana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400" spc="-90" dirty="0">
                <a:solidFill>
                  <a:srgbClr val="616161"/>
                </a:solidFill>
                <a:latin typeface="Verdana"/>
                <a:cs typeface="Verdana"/>
              </a:rPr>
              <a:t>Execute</a:t>
            </a:r>
            <a:r>
              <a:rPr sz="1400" spc="-95" dirty="0">
                <a:solidFill>
                  <a:srgbClr val="616161"/>
                </a:solidFill>
                <a:latin typeface="Verdana"/>
                <a:cs typeface="Verdana"/>
              </a:rPr>
              <a:t>d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40" dirty="0">
                <a:solidFill>
                  <a:srgbClr val="616161"/>
                </a:solidFill>
                <a:latin typeface="Verdana"/>
                <a:cs typeface="Verdana"/>
              </a:rPr>
              <a:t>i</a:t>
            </a:r>
            <a:r>
              <a:rPr sz="1400" spc="-80" dirty="0">
                <a:solidFill>
                  <a:srgbClr val="616161"/>
                </a:solidFill>
                <a:latin typeface="Verdana"/>
                <a:cs typeface="Verdana"/>
              </a:rPr>
              <a:t>n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70" dirty="0">
                <a:solidFill>
                  <a:srgbClr val="616161"/>
                </a:solidFill>
                <a:latin typeface="Verdana"/>
                <a:cs typeface="Verdana"/>
              </a:rPr>
              <a:t>multiples</a:t>
            </a:r>
            <a:r>
              <a:rPr sz="1400" spc="-15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50" dirty="0">
                <a:solidFill>
                  <a:srgbClr val="616161"/>
                </a:solidFill>
                <a:latin typeface="Verdana"/>
                <a:cs typeface="Verdana"/>
              </a:rPr>
              <a:t>o</a:t>
            </a:r>
            <a:r>
              <a:rPr sz="1400" spc="-25" dirty="0">
                <a:solidFill>
                  <a:srgbClr val="616161"/>
                </a:solidFill>
                <a:latin typeface="Verdana"/>
                <a:cs typeface="Verdana"/>
              </a:rPr>
              <a:t>f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90" dirty="0">
                <a:solidFill>
                  <a:srgbClr val="616161"/>
                </a:solidFill>
                <a:latin typeface="Verdana"/>
                <a:cs typeface="Verdana"/>
              </a:rPr>
              <a:t>th</a:t>
            </a:r>
            <a:r>
              <a:rPr sz="1400" spc="-100" dirty="0">
                <a:solidFill>
                  <a:srgbClr val="616161"/>
                </a:solidFill>
                <a:latin typeface="Verdana"/>
                <a:cs typeface="Verdana"/>
              </a:rPr>
              <a:t>e</a:t>
            </a:r>
            <a:r>
              <a:rPr sz="1400" spc="-15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85" dirty="0">
                <a:solidFill>
                  <a:srgbClr val="616161"/>
                </a:solidFill>
                <a:latin typeface="Verdana"/>
                <a:cs typeface="Verdana"/>
              </a:rPr>
              <a:t>batc</a:t>
            </a:r>
            <a:r>
              <a:rPr sz="1400" spc="-90" dirty="0">
                <a:solidFill>
                  <a:srgbClr val="616161"/>
                </a:solidFill>
                <a:latin typeface="Verdana"/>
                <a:cs typeface="Verdana"/>
              </a:rPr>
              <a:t>h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75" dirty="0">
                <a:solidFill>
                  <a:srgbClr val="616161"/>
                </a:solidFill>
                <a:latin typeface="Verdana"/>
                <a:cs typeface="Verdana"/>
              </a:rPr>
              <a:t>interval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478980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75" dirty="0">
                <a:solidFill>
                  <a:srgbClr val="202729"/>
                </a:solidFill>
              </a:rPr>
              <a:t>How</a:t>
            </a:r>
            <a:r>
              <a:rPr sz="2800" spc="-150" dirty="0">
                <a:solidFill>
                  <a:srgbClr val="202729"/>
                </a:solidFill>
              </a:rPr>
              <a:t> </a:t>
            </a:r>
            <a:r>
              <a:rPr sz="2800" spc="40" dirty="0">
                <a:solidFill>
                  <a:srgbClr val="202729"/>
                </a:solidFill>
              </a:rPr>
              <a:t>Spark</a:t>
            </a:r>
            <a:r>
              <a:rPr sz="2800" spc="-145" dirty="0">
                <a:solidFill>
                  <a:srgbClr val="202729"/>
                </a:solidFill>
              </a:rPr>
              <a:t> </a:t>
            </a:r>
            <a:r>
              <a:rPr sz="2800" spc="35" dirty="0">
                <a:solidFill>
                  <a:srgbClr val="202729"/>
                </a:solidFill>
              </a:rPr>
              <a:t>Handles</a:t>
            </a:r>
            <a:r>
              <a:rPr sz="2800" spc="-145" dirty="0">
                <a:solidFill>
                  <a:srgbClr val="202729"/>
                </a:solidFill>
              </a:rPr>
              <a:t> </a:t>
            </a:r>
            <a:r>
              <a:rPr sz="2800" spc="-15" dirty="0">
                <a:solidFill>
                  <a:srgbClr val="202729"/>
                </a:solidFill>
              </a:rPr>
              <a:t>Streaming</a:t>
            </a:r>
            <a:endParaRPr sz="28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414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pc="-100" dirty="0"/>
              <a:t>Built-i</a:t>
            </a:r>
            <a:r>
              <a:rPr spc="-135" dirty="0"/>
              <a:t>n</a:t>
            </a:r>
            <a:r>
              <a:rPr spc="-190" dirty="0"/>
              <a:t> </a:t>
            </a:r>
            <a:r>
              <a:rPr spc="-105" dirty="0"/>
              <a:t>Dat</a:t>
            </a:r>
            <a:r>
              <a:rPr spc="-100" dirty="0"/>
              <a:t>a</a:t>
            </a:r>
            <a:r>
              <a:rPr spc="-190" dirty="0"/>
              <a:t> </a:t>
            </a:r>
            <a:r>
              <a:rPr spc="-114" dirty="0"/>
              <a:t>Sources</a:t>
            </a:r>
          </a:p>
          <a:p>
            <a:pPr marL="836294" lvl="1" indent="-367030">
              <a:lnSpc>
                <a:spcPct val="100000"/>
              </a:lnSpc>
              <a:spcBef>
                <a:spcPts val="315"/>
              </a:spcBef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800" spc="-65" dirty="0">
                <a:solidFill>
                  <a:srgbClr val="616161"/>
                </a:solidFill>
                <a:latin typeface="Verdana"/>
                <a:cs typeface="Verdana"/>
              </a:rPr>
              <a:t>Fil</a:t>
            </a:r>
            <a:r>
              <a:rPr sz="1800" spc="-90" dirty="0">
                <a:solidFill>
                  <a:srgbClr val="616161"/>
                </a:solidFill>
                <a:latin typeface="Verdana"/>
                <a:cs typeface="Verdana"/>
              </a:rPr>
              <a:t>e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616161"/>
                </a:solidFill>
                <a:latin typeface="Verdana"/>
                <a:cs typeface="Verdana"/>
              </a:rPr>
              <a:t>Strea</a:t>
            </a:r>
            <a:r>
              <a:rPr sz="1800" spc="-204" dirty="0">
                <a:solidFill>
                  <a:srgbClr val="616161"/>
                </a:solidFill>
                <a:latin typeface="Verdana"/>
                <a:cs typeface="Verdana"/>
              </a:rPr>
              <a:t>m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229" dirty="0">
                <a:solidFill>
                  <a:srgbClr val="616161"/>
                </a:solidFill>
                <a:latin typeface="Verdana"/>
                <a:cs typeface="Verdana"/>
              </a:rPr>
              <a:t>-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85" dirty="0">
                <a:solidFill>
                  <a:srgbClr val="616161"/>
                </a:solidFill>
                <a:latin typeface="Verdana"/>
                <a:cs typeface="Verdana"/>
              </a:rPr>
              <a:t>Load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85" dirty="0">
                <a:solidFill>
                  <a:srgbClr val="616161"/>
                </a:solidFill>
                <a:latin typeface="Verdana"/>
                <a:cs typeface="Verdana"/>
              </a:rPr>
              <a:t>ne</a:t>
            </a:r>
            <a:r>
              <a:rPr sz="1800" spc="-105" dirty="0">
                <a:solidFill>
                  <a:srgbClr val="616161"/>
                </a:solidFill>
                <a:latin typeface="Verdana"/>
                <a:cs typeface="Verdana"/>
              </a:rPr>
              <a:t>w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60" dirty="0">
                <a:solidFill>
                  <a:srgbClr val="616161"/>
                </a:solidFill>
                <a:latin typeface="Verdana"/>
                <a:cs typeface="Verdana"/>
              </a:rPr>
              <a:t>file</a:t>
            </a:r>
            <a:r>
              <a:rPr sz="1800" spc="-75" dirty="0">
                <a:solidFill>
                  <a:srgbClr val="616161"/>
                </a:solidFill>
                <a:latin typeface="Verdana"/>
                <a:cs typeface="Verdana"/>
              </a:rPr>
              <a:t>s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Verdana"/>
                <a:cs typeface="Verdana"/>
              </a:rPr>
              <a:t>i</a:t>
            </a:r>
            <a:r>
              <a:rPr sz="1800" spc="-100" dirty="0">
                <a:solidFill>
                  <a:srgbClr val="616161"/>
                </a:solidFill>
                <a:latin typeface="Verdana"/>
                <a:cs typeface="Verdana"/>
              </a:rPr>
              <a:t>n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616161"/>
                </a:solidFill>
                <a:latin typeface="Verdana"/>
                <a:cs typeface="Verdana"/>
              </a:rPr>
              <a:t>a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616161"/>
                </a:solidFill>
                <a:latin typeface="Verdana"/>
                <a:cs typeface="Verdana"/>
              </a:rPr>
              <a:t>give</a:t>
            </a:r>
            <a:r>
              <a:rPr sz="1800" spc="-114" dirty="0">
                <a:solidFill>
                  <a:srgbClr val="616161"/>
                </a:solidFill>
                <a:latin typeface="Verdana"/>
                <a:cs typeface="Verdana"/>
              </a:rPr>
              <a:t>n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616161"/>
                </a:solidFill>
                <a:latin typeface="Verdana"/>
                <a:cs typeface="Verdana"/>
              </a:rPr>
              <a:t>directory</a:t>
            </a:r>
            <a:endParaRPr sz="1800">
              <a:latin typeface="Verdana"/>
              <a:cs typeface="Verdana"/>
            </a:endParaRPr>
          </a:p>
          <a:p>
            <a:pPr marL="836294" lvl="1" indent="-367030">
              <a:lnSpc>
                <a:spcPct val="100000"/>
              </a:lnSpc>
              <a:spcBef>
                <a:spcPts val="315"/>
              </a:spcBef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800" spc="-110" dirty="0">
                <a:solidFill>
                  <a:srgbClr val="616161"/>
                </a:solidFill>
                <a:latin typeface="Verdana"/>
                <a:cs typeface="Verdana"/>
              </a:rPr>
              <a:t>Socket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35" dirty="0">
                <a:solidFill>
                  <a:srgbClr val="616161"/>
                </a:solidFill>
                <a:latin typeface="Verdana"/>
                <a:cs typeface="Verdana"/>
              </a:rPr>
              <a:t>Stream</a:t>
            </a:r>
            <a:r>
              <a:rPr sz="1800" spc="-18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229" dirty="0">
                <a:solidFill>
                  <a:srgbClr val="616161"/>
                </a:solidFill>
                <a:latin typeface="Verdana"/>
                <a:cs typeface="Verdana"/>
              </a:rPr>
              <a:t>-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616161"/>
                </a:solidFill>
                <a:latin typeface="Verdana"/>
                <a:cs typeface="Verdana"/>
              </a:rPr>
              <a:t>Listen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616161"/>
                </a:solidFill>
                <a:latin typeface="Verdana"/>
                <a:cs typeface="Verdana"/>
              </a:rPr>
              <a:t>on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616161"/>
                </a:solidFill>
                <a:latin typeface="Verdana"/>
                <a:cs typeface="Verdana"/>
              </a:rPr>
              <a:t>a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14" dirty="0">
                <a:solidFill>
                  <a:srgbClr val="616161"/>
                </a:solidFill>
                <a:latin typeface="Verdana"/>
                <a:cs typeface="Verdana"/>
              </a:rPr>
              <a:t>TCP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85" dirty="0">
                <a:solidFill>
                  <a:srgbClr val="616161"/>
                </a:solidFill>
                <a:latin typeface="Verdana"/>
                <a:cs typeface="Verdana"/>
              </a:rPr>
              <a:t>connection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70" dirty="0">
                <a:solidFill>
                  <a:srgbClr val="616161"/>
                </a:solidFill>
                <a:latin typeface="Verdana"/>
                <a:cs typeface="Verdana"/>
              </a:rPr>
              <a:t>for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90" dirty="0">
                <a:solidFill>
                  <a:srgbClr val="616161"/>
                </a:solidFill>
                <a:latin typeface="Verdana"/>
                <a:cs typeface="Verdana"/>
              </a:rPr>
              <a:t>new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616161"/>
                </a:solidFill>
                <a:latin typeface="Verdana"/>
                <a:cs typeface="Verdana"/>
              </a:rPr>
              <a:t>data</a:t>
            </a:r>
            <a:endParaRPr sz="18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55"/>
              </a:spcBef>
              <a:buClr>
                <a:srgbClr val="616161"/>
              </a:buClr>
              <a:buFont typeface="Arial MT"/>
              <a:buChar char="○"/>
            </a:pPr>
            <a:endParaRPr sz="2250"/>
          </a:p>
          <a:p>
            <a:pPr marL="379095" indent="-367030">
              <a:lnSpc>
                <a:spcPct val="100000"/>
              </a:lnSpc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pc="-75" dirty="0"/>
              <a:t>Additiona</a:t>
            </a:r>
            <a:r>
              <a:rPr spc="-35" dirty="0"/>
              <a:t>l</a:t>
            </a:r>
            <a:r>
              <a:rPr spc="-190" dirty="0"/>
              <a:t> </a:t>
            </a:r>
            <a:r>
              <a:rPr spc="-100" dirty="0"/>
              <a:t>Supporte</a:t>
            </a:r>
            <a:r>
              <a:rPr spc="-105" dirty="0"/>
              <a:t>d</a:t>
            </a:r>
            <a:r>
              <a:rPr spc="-185" dirty="0"/>
              <a:t> </a:t>
            </a:r>
            <a:r>
              <a:rPr spc="-120" dirty="0"/>
              <a:t>Strea</a:t>
            </a:r>
            <a:r>
              <a:rPr spc="-204" dirty="0"/>
              <a:t>m</a:t>
            </a:r>
            <a:r>
              <a:rPr spc="-185" dirty="0"/>
              <a:t> </a:t>
            </a:r>
            <a:r>
              <a:rPr spc="-114" dirty="0"/>
              <a:t>Sources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32449" y="2747976"/>
            <a:ext cx="1112520" cy="968375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414"/>
              </a:spcBef>
              <a:buFont typeface="Arial MT"/>
              <a:buChar char="○"/>
              <a:tabLst>
                <a:tab pos="379095" algn="l"/>
                <a:tab pos="379730" algn="l"/>
              </a:tabLst>
            </a:pPr>
            <a:r>
              <a:rPr sz="1800" spc="-125" dirty="0">
                <a:solidFill>
                  <a:srgbClr val="616161"/>
                </a:solidFill>
                <a:latin typeface="Verdana"/>
                <a:cs typeface="Verdana"/>
              </a:rPr>
              <a:t>Kafka</a:t>
            </a:r>
            <a:endParaRPr sz="1800">
              <a:latin typeface="Verdana"/>
              <a:cs typeface="Verdana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Font typeface="Arial MT"/>
              <a:buChar char="○"/>
              <a:tabLst>
                <a:tab pos="379095" algn="l"/>
                <a:tab pos="379730" algn="l"/>
              </a:tabLst>
            </a:pPr>
            <a:r>
              <a:rPr sz="1800" spc="-125" dirty="0">
                <a:solidFill>
                  <a:srgbClr val="616161"/>
                </a:solidFill>
                <a:latin typeface="Verdana"/>
                <a:cs typeface="Verdana"/>
              </a:rPr>
              <a:t>Flume</a:t>
            </a:r>
            <a:endParaRPr sz="1800">
              <a:latin typeface="Verdana"/>
              <a:cs typeface="Verdana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Font typeface="Arial MT"/>
              <a:buChar char="○"/>
              <a:tabLst>
                <a:tab pos="379095" algn="l"/>
                <a:tab pos="379730" algn="l"/>
              </a:tabLst>
            </a:pPr>
            <a:r>
              <a:rPr sz="1800" spc="-100" dirty="0">
                <a:solidFill>
                  <a:srgbClr val="616161"/>
                </a:solidFill>
                <a:latin typeface="Verdana"/>
                <a:cs typeface="Verdana"/>
              </a:rPr>
              <a:t>Kinesis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13525" y="2747976"/>
            <a:ext cx="3634740" cy="968375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4"/>
              </a:spcBef>
            </a:pPr>
            <a:r>
              <a:rPr sz="1800" spc="-155" dirty="0">
                <a:solidFill>
                  <a:srgbClr val="616161"/>
                </a:solidFill>
                <a:latin typeface="Verdana"/>
                <a:cs typeface="Verdana"/>
              </a:rPr>
              <a:t>(Apache)</a:t>
            </a:r>
            <a:endParaRPr sz="1800">
              <a:latin typeface="Verdana"/>
              <a:cs typeface="Verdana"/>
            </a:endParaRPr>
          </a:p>
          <a:p>
            <a:pPr marL="12700" marR="5080">
              <a:lnSpc>
                <a:spcPct val="114599"/>
              </a:lnSpc>
            </a:pPr>
            <a:r>
              <a:rPr sz="1800" spc="-155" dirty="0">
                <a:solidFill>
                  <a:srgbClr val="616161"/>
                </a:solidFill>
                <a:latin typeface="Verdana"/>
                <a:cs typeface="Verdana"/>
              </a:rPr>
              <a:t>(Apache</a:t>
            </a:r>
            <a:r>
              <a:rPr sz="1800" spc="-95" dirty="0">
                <a:solidFill>
                  <a:srgbClr val="616161"/>
                </a:solidFill>
                <a:latin typeface="Verdana"/>
                <a:cs typeface="Verdana"/>
              </a:rPr>
              <a:t>,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Verdana"/>
                <a:cs typeface="Verdana"/>
              </a:rPr>
              <a:t>i</a:t>
            </a:r>
            <a:r>
              <a:rPr sz="1800" spc="-100" dirty="0">
                <a:solidFill>
                  <a:srgbClr val="616161"/>
                </a:solidFill>
                <a:latin typeface="Verdana"/>
                <a:cs typeface="Verdana"/>
              </a:rPr>
              <a:t>n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14" dirty="0">
                <a:solidFill>
                  <a:srgbClr val="616161"/>
                </a:solidFill>
                <a:latin typeface="Verdana"/>
                <a:cs typeface="Verdana"/>
              </a:rPr>
              <a:t>th</a:t>
            </a:r>
            <a:r>
              <a:rPr sz="1800" spc="-130" dirty="0">
                <a:solidFill>
                  <a:srgbClr val="616161"/>
                </a:solidFill>
                <a:latin typeface="Verdana"/>
                <a:cs typeface="Verdana"/>
              </a:rPr>
              <a:t>e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65" dirty="0">
                <a:solidFill>
                  <a:srgbClr val="616161"/>
                </a:solidFill>
                <a:latin typeface="Verdana"/>
                <a:cs typeface="Verdana"/>
              </a:rPr>
              <a:t>Hadoo</a:t>
            </a:r>
            <a:r>
              <a:rPr sz="1800" spc="-60" dirty="0">
                <a:solidFill>
                  <a:srgbClr val="616161"/>
                </a:solidFill>
                <a:latin typeface="Verdana"/>
                <a:cs typeface="Verdana"/>
              </a:rPr>
              <a:t>p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616161"/>
                </a:solidFill>
                <a:latin typeface="Verdana"/>
                <a:cs typeface="Verdana"/>
              </a:rPr>
              <a:t>ecosystem)  </a:t>
            </a:r>
            <a:r>
              <a:rPr sz="1800" spc="-170" dirty="0">
                <a:solidFill>
                  <a:srgbClr val="616161"/>
                </a:solidFill>
                <a:latin typeface="Verdana"/>
                <a:cs typeface="Verdana"/>
              </a:rPr>
              <a:t>(AWS)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348043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40" dirty="0">
                <a:solidFill>
                  <a:srgbClr val="202729"/>
                </a:solidFill>
              </a:rPr>
              <a:t>Spark</a:t>
            </a:r>
            <a:r>
              <a:rPr sz="2800" spc="-165" dirty="0">
                <a:solidFill>
                  <a:srgbClr val="202729"/>
                </a:solidFill>
              </a:rPr>
              <a:t> </a:t>
            </a:r>
            <a:r>
              <a:rPr sz="2800" spc="-30" dirty="0">
                <a:solidFill>
                  <a:srgbClr val="202729"/>
                </a:solidFill>
              </a:rPr>
              <a:t>Stream</a:t>
            </a:r>
            <a:r>
              <a:rPr sz="2800" spc="-160" dirty="0">
                <a:solidFill>
                  <a:srgbClr val="202729"/>
                </a:solidFill>
              </a:rPr>
              <a:t> </a:t>
            </a:r>
            <a:r>
              <a:rPr sz="2800" spc="65" dirty="0">
                <a:solidFill>
                  <a:srgbClr val="202729"/>
                </a:solidFill>
              </a:rPr>
              <a:t>Sources</a:t>
            </a:r>
            <a:endParaRPr sz="28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5249" y="1081100"/>
            <a:ext cx="3584575" cy="1663700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165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Streaming</a:t>
            </a:r>
            <a:r>
              <a:rPr sz="1800" spc="-10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616161"/>
                </a:solidFill>
                <a:latin typeface="Trebuchet MS"/>
                <a:cs typeface="Trebuchet MS"/>
              </a:rPr>
              <a:t>Overview</a:t>
            </a:r>
            <a:endParaRPr sz="1800">
              <a:latin typeface="Trebuchet MS"/>
              <a:cs typeface="Trebuchet MS"/>
            </a:endParaRPr>
          </a:p>
          <a:p>
            <a:pPr marL="379095" indent="-367030">
              <a:lnSpc>
                <a:spcPct val="100000"/>
              </a:lnSpc>
              <a:spcBef>
                <a:spcPts val="1065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25" dirty="0">
                <a:solidFill>
                  <a:srgbClr val="616161"/>
                </a:solidFill>
                <a:latin typeface="Trebuchet MS"/>
                <a:cs typeface="Trebuchet MS"/>
              </a:rPr>
              <a:t>Spark</a:t>
            </a:r>
            <a:r>
              <a:rPr sz="1800" spc="-12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Streaming</a:t>
            </a:r>
            <a:endParaRPr sz="1800">
              <a:latin typeface="Trebuchet MS"/>
              <a:cs typeface="Trebuchet MS"/>
            </a:endParaRPr>
          </a:p>
          <a:p>
            <a:pPr marL="379095" indent="-367030">
              <a:lnSpc>
                <a:spcPct val="100000"/>
              </a:lnSpc>
              <a:spcBef>
                <a:spcPts val="1065"/>
              </a:spcBef>
              <a:buFont typeface="Arial"/>
              <a:buChar char="●"/>
              <a:tabLst>
                <a:tab pos="379095" algn="l"/>
                <a:tab pos="379730" algn="l"/>
              </a:tabLst>
            </a:pPr>
            <a:r>
              <a:rPr sz="1800" b="1" spc="5" dirty="0">
                <a:solidFill>
                  <a:srgbClr val="616161"/>
                </a:solidFill>
                <a:latin typeface="Trebuchet MS"/>
                <a:cs typeface="Trebuchet MS"/>
              </a:rPr>
              <a:t>Spark</a:t>
            </a:r>
            <a:r>
              <a:rPr sz="1800" b="1" spc="-10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616161"/>
                </a:solidFill>
                <a:latin typeface="Trebuchet MS"/>
                <a:cs typeface="Trebuchet MS"/>
              </a:rPr>
              <a:t>Streaming</a:t>
            </a:r>
            <a:r>
              <a:rPr sz="1800" b="1" spc="-9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616161"/>
                </a:solidFill>
                <a:latin typeface="Trebuchet MS"/>
                <a:cs typeface="Trebuchet MS"/>
              </a:rPr>
              <a:t>Programming</a:t>
            </a:r>
            <a:endParaRPr sz="1800">
              <a:latin typeface="Trebuchet MS"/>
              <a:cs typeface="Trebuchet MS"/>
            </a:endParaRPr>
          </a:p>
          <a:p>
            <a:pPr marL="379095" indent="-367030">
              <a:lnSpc>
                <a:spcPct val="100000"/>
              </a:lnSpc>
              <a:spcBef>
                <a:spcPts val="1065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-40" dirty="0">
                <a:solidFill>
                  <a:srgbClr val="616161"/>
                </a:solidFill>
                <a:latin typeface="Trebuchet MS"/>
                <a:cs typeface="Trebuchet MS"/>
              </a:rPr>
              <a:t>Final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Project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5" dirty="0">
                <a:solidFill>
                  <a:srgbClr val="616161"/>
                </a:solidFill>
                <a:latin typeface="Trebuchet MS"/>
                <a:cs typeface="Trebuchet MS"/>
              </a:rPr>
              <a:t>Announcement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115443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solidFill>
                  <a:srgbClr val="202729"/>
                </a:solidFill>
              </a:rPr>
              <a:t>Outline</a:t>
            </a:r>
            <a:endParaRPr sz="28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5249" y="1162308"/>
            <a:ext cx="5320665" cy="191452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-105" dirty="0">
                <a:solidFill>
                  <a:srgbClr val="616161"/>
                </a:solidFill>
                <a:latin typeface="Verdana"/>
                <a:cs typeface="Verdana"/>
              </a:rPr>
              <a:t>Transformations</a:t>
            </a:r>
            <a:endParaRPr sz="1800">
              <a:latin typeface="Verdana"/>
              <a:cs typeface="Verdana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400" spc="-65" dirty="0">
                <a:solidFill>
                  <a:srgbClr val="616161"/>
                </a:solidFill>
                <a:latin typeface="Verdana"/>
                <a:cs typeface="Verdana"/>
              </a:rPr>
              <a:t>Operation</a:t>
            </a:r>
            <a:r>
              <a:rPr sz="1400" spc="-60" dirty="0">
                <a:solidFill>
                  <a:srgbClr val="616161"/>
                </a:solidFill>
                <a:latin typeface="Verdana"/>
                <a:cs typeface="Verdana"/>
              </a:rPr>
              <a:t>s</a:t>
            </a:r>
            <a:r>
              <a:rPr sz="1400" spc="-15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60" dirty="0">
                <a:solidFill>
                  <a:srgbClr val="616161"/>
                </a:solidFill>
                <a:latin typeface="Verdana"/>
                <a:cs typeface="Verdana"/>
              </a:rPr>
              <a:t>o</a:t>
            </a:r>
            <a:r>
              <a:rPr sz="1400" spc="-55" dirty="0">
                <a:solidFill>
                  <a:srgbClr val="616161"/>
                </a:solidFill>
                <a:latin typeface="Verdana"/>
                <a:cs typeface="Verdana"/>
              </a:rPr>
              <a:t>n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100" dirty="0">
                <a:solidFill>
                  <a:srgbClr val="616161"/>
                </a:solidFill>
                <a:latin typeface="Verdana"/>
                <a:cs typeface="Verdana"/>
              </a:rPr>
              <a:t>DStream</a:t>
            </a:r>
            <a:r>
              <a:rPr sz="1400" spc="-80" dirty="0">
                <a:solidFill>
                  <a:srgbClr val="616161"/>
                </a:solidFill>
                <a:latin typeface="Verdana"/>
                <a:cs typeface="Verdana"/>
              </a:rPr>
              <a:t>s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120" dirty="0">
                <a:solidFill>
                  <a:srgbClr val="616161"/>
                </a:solidFill>
                <a:latin typeface="Verdana"/>
                <a:cs typeface="Verdana"/>
              </a:rPr>
              <a:t>(mostly</a:t>
            </a:r>
            <a:r>
              <a:rPr sz="1400" spc="-95" dirty="0">
                <a:solidFill>
                  <a:srgbClr val="616161"/>
                </a:solidFill>
                <a:latin typeface="Verdana"/>
                <a:cs typeface="Verdana"/>
              </a:rPr>
              <a:t>)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65" dirty="0">
                <a:solidFill>
                  <a:srgbClr val="616161"/>
                </a:solidFill>
                <a:latin typeface="Verdana"/>
                <a:cs typeface="Verdana"/>
              </a:rPr>
              <a:t>identica</a:t>
            </a:r>
            <a:r>
              <a:rPr sz="1400" spc="-35" dirty="0">
                <a:solidFill>
                  <a:srgbClr val="616161"/>
                </a:solidFill>
                <a:latin typeface="Verdana"/>
                <a:cs typeface="Verdana"/>
              </a:rPr>
              <a:t>l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45" dirty="0">
                <a:solidFill>
                  <a:srgbClr val="616161"/>
                </a:solidFill>
                <a:latin typeface="Verdana"/>
                <a:cs typeface="Verdana"/>
              </a:rPr>
              <a:t>t</a:t>
            </a:r>
            <a:r>
              <a:rPr sz="1400" spc="-60" dirty="0">
                <a:solidFill>
                  <a:srgbClr val="616161"/>
                </a:solidFill>
                <a:latin typeface="Verdana"/>
                <a:cs typeface="Verdana"/>
              </a:rPr>
              <a:t>o</a:t>
            </a:r>
            <a:r>
              <a:rPr sz="1400" spc="-15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65" dirty="0">
                <a:solidFill>
                  <a:srgbClr val="616161"/>
                </a:solidFill>
                <a:latin typeface="Verdana"/>
                <a:cs typeface="Verdana"/>
              </a:rPr>
              <a:t>RDDs</a:t>
            </a:r>
            <a:endParaRPr sz="1400">
              <a:latin typeface="Verdana"/>
              <a:cs typeface="Verdana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400" spc="-105" dirty="0">
                <a:solidFill>
                  <a:srgbClr val="616161"/>
                </a:solidFill>
                <a:latin typeface="Verdana"/>
                <a:cs typeface="Verdana"/>
              </a:rPr>
              <a:t>Functions</a:t>
            </a:r>
            <a:r>
              <a:rPr sz="1400" spc="-85" dirty="0">
                <a:solidFill>
                  <a:srgbClr val="616161"/>
                </a:solidFill>
                <a:latin typeface="Verdana"/>
                <a:cs typeface="Verdana"/>
              </a:rPr>
              <a:t>: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75" dirty="0">
                <a:solidFill>
                  <a:srgbClr val="616161"/>
                </a:solidFill>
                <a:latin typeface="Verdana"/>
                <a:cs typeface="Verdana"/>
              </a:rPr>
              <a:t>Map</a:t>
            </a:r>
            <a:r>
              <a:rPr sz="1400" spc="-40" dirty="0">
                <a:solidFill>
                  <a:srgbClr val="616161"/>
                </a:solidFill>
                <a:latin typeface="Verdana"/>
                <a:cs typeface="Verdana"/>
              </a:rPr>
              <a:t>,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85" dirty="0">
                <a:solidFill>
                  <a:srgbClr val="616161"/>
                </a:solidFill>
                <a:latin typeface="Verdana"/>
                <a:cs typeface="Verdana"/>
              </a:rPr>
              <a:t>Filter</a:t>
            </a:r>
            <a:r>
              <a:rPr sz="1400" spc="-65" dirty="0">
                <a:solidFill>
                  <a:srgbClr val="616161"/>
                </a:solidFill>
                <a:latin typeface="Verdana"/>
                <a:cs typeface="Verdana"/>
              </a:rPr>
              <a:t>,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125" dirty="0">
                <a:solidFill>
                  <a:srgbClr val="616161"/>
                </a:solidFill>
                <a:latin typeface="Verdana"/>
                <a:cs typeface="Verdana"/>
              </a:rPr>
              <a:t>Join</a:t>
            </a:r>
            <a:r>
              <a:rPr sz="1400" spc="-90" dirty="0">
                <a:solidFill>
                  <a:srgbClr val="616161"/>
                </a:solidFill>
                <a:latin typeface="Verdana"/>
                <a:cs typeface="Verdana"/>
              </a:rPr>
              <a:t>,</a:t>
            </a:r>
            <a:r>
              <a:rPr sz="1400" spc="-15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100" dirty="0">
                <a:solidFill>
                  <a:srgbClr val="616161"/>
                </a:solidFill>
                <a:latin typeface="Verdana"/>
                <a:cs typeface="Verdana"/>
              </a:rPr>
              <a:t>etc.</a:t>
            </a:r>
            <a:endParaRPr sz="14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Clr>
                <a:srgbClr val="616161"/>
              </a:buClr>
              <a:buFont typeface="Arial MT"/>
              <a:buChar char="○"/>
            </a:pPr>
            <a:endParaRPr sz="1800">
              <a:latin typeface="Verdana"/>
              <a:cs typeface="Verdana"/>
            </a:endParaRPr>
          </a:p>
          <a:p>
            <a:pPr marL="379095" indent="-367030">
              <a:lnSpc>
                <a:spcPct val="100000"/>
              </a:lnSpc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-65" dirty="0">
                <a:solidFill>
                  <a:srgbClr val="616161"/>
                </a:solidFill>
                <a:latin typeface="Verdana"/>
                <a:cs typeface="Verdana"/>
              </a:rPr>
              <a:t>Windowe</a:t>
            </a:r>
            <a:r>
              <a:rPr sz="1800" spc="-60" dirty="0">
                <a:solidFill>
                  <a:srgbClr val="616161"/>
                </a:solidFill>
                <a:latin typeface="Verdana"/>
                <a:cs typeface="Verdana"/>
              </a:rPr>
              <a:t>d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616161"/>
                </a:solidFill>
                <a:latin typeface="Verdana"/>
                <a:cs typeface="Verdana"/>
              </a:rPr>
              <a:t>Operations</a:t>
            </a:r>
            <a:endParaRPr sz="1800">
              <a:latin typeface="Verdana"/>
              <a:cs typeface="Verdana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400" spc="-55" dirty="0">
                <a:solidFill>
                  <a:srgbClr val="616161"/>
                </a:solidFill>
                <a:latin typeface="Verdana"/>
                <a:cs typeface="Verdana"/>
              </a:rPr>
              <a:t>Applied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80" dirty="0">
                <a:solidFill>
                  <a:srgbClr val="616161"/>
                </a:solidFill>
                <a:latin typeface="Verdana"/>
                <a:cs typeface="Verdana"/>
              </a:rPr>
              <a:t>transformation</a:t>
            </a:r>
            <a:r>
              <a:rPr sz="1400" spc="-14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60" dirty="0">
                <a:solidFill>
                  <a:srgbClr val="616161"/>
                </a:solidFill>
                <a:latin typeface="Verdana"/>
                <a:cs typeface="Verdana"/>
              </a:rPr>
              <a:t>on</a:t>
            </a:r>
            <a:r>
              <a:rPr sz="1400" spc="-14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95" dirty="0">
                <a:solidFill>
                  <a:srgbClr val="616161"/>
                </a:solidFill>
                <a:latin typeface="Verdana"/>
                <a:cs typeface="Verdana"/>
              </a:rPr>
              <a:t>a</a:t>
            </a:r>
            <a:r>
              <a:rPr sz="1400" spc="-13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90" dirty="0">
                <a:solidFill>
                  <a:srgbClr val="616161"/>
                </a:solidFill>
                <a:latin typeface="Verdana"/>
                <a:cs typeface="Verdana"/>
              </a:rPr>
              <a:t>time-based</a:t>
            </a:r>
            <a:r>
              <a:rPr sz="1400" spc="-14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55" dirty="0">
                <a:solidFill>
                  <a:srgbClr val="616161"/>
                </a:solidFill>
                <a:latin typeface="Verdana"/>
                <a:cs typeface="Verdana"/>
              </a:rPr>
              <a:t>window</a:t>
            </a:r>
            <a:r>
              <a:rPr sz="1400" spc="-14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35" dirty="0">
                <a:solidFill>
                  <a:srgbClr val="616161"/>
                </a:solidFill>
                <a:latin typeface="Verdana"/>
                <a:cs typeface="Verdana"/>
              </a:rPr>
              <a:t>of</a:t>
            </a:r>
            <a:r>
              <a:rPr sz="1400" spc="-13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80" dirty="0">
                <a:solidFill>
                  <a:srgbClr val="616161"/>
                </a:solidFill>
                <a:latin typeface="Verdana"/>
                <a:cs typeface="Verdana"/>
              </a:rPr>
              <a:t>data</a:t>
            </a:r>
            <a:endParaRPr sz="1400">
              <a:latin typeface="Verdana"/>
              <a:cs typeface="Verdana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400" spc="-100" dirty="0">
                <a:solidFill>
                  <a:srgbClr val="616161"/>
                </a:solidFill>
                <a:latin typeface="Verdana"/>
                <a:cs typeface="Verdana"/>
              </a:rPr>
              <a:t>Functions: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80" dirty="0">
                <a:solidFill>
                  <a:srgbClr val="616161"/>
                </a:solidFill>
                <a:latin typeface="Verdana"/>
                <a:cs typeface="Verdana"/>
              </a:rPr>
              <a:t>CountByWindow,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80" dirty="0">
                <a:solidFill>
                  <a:srgbClr val="616161"/>
                </a:solidFill>
                <a:latin typeface="Verdana"/>
                <a:cs typeface="Verdana"/>
              </a:rPr>
              <a:t>ReduceByWindow,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100" dirty="0">
                <a:solidFill>
                  <a:srgbClr val="616161"/>
                </a:solidFill>
                <a:latin typeface="Verdana"/>
                <a:cs typeface="Verdana"/>
              </a:rPr>
              <a:t>etc.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478663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40" dirty="0">
                <a:solidFill>
                  <a:srgbClr val="202729"/>
                </a:solidFill>
              </a:rPr>
              <a:t>Spark</a:t>
            </a:r>
            <a:r>
              <a:rPr sz="2800" spc="-150" dirty="0">
                <a:solidFill>
                  <a:srgbClr val="202729"/>
                </a:solidFill>
              </a:rPr>
              <a:t> </a:t>
            </a:r>
            <a:r>
              <a:rPr sz="2800" spc="-15" dirty="0">
                <a:solidFill>
                  <a:srgbClr val="202729"/>
                </a:solidFill>
              </a:rPr>
              <a:t>Streaming</a:t>
            </a:r>
            <a:r>
              <a:rPr sz="2800" spc="-145" dirty="0">
                <a:solidFill>
                  <a:srgbClr val="202729"/>
                </a:solidFill>
              </a:rPr>
              <a:t> </a:t>
            </a:r>
            <a:r>
              <a:rPr sz="2800" spc="-5" dirty="0">
                <a:solidFill>
                  <a:srgbClr val="202729"/>
                </a:solidFill>
              </a:rPr>
              <a:t>Programming</a:t>
            </a:r>
            <a:endParaRPr sz="28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9125" y="3178675"/>
            <a:ext cx="4565750" cy="178349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5249" y="1162308"/>
            <a:ext cx="5899785" cy="265747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-105" dirty="0">
                <a:solidFill>
                  <a:srgbClr val="616161"/>
                </a:solidFill>
                <a:latin typeface="Verdana"/>
                <a:cs typeface="Verdana"/>
              </a:rPr>
              <a:t>Statefu</a:t>
            </a:r>
            <a:r>
              <a:rPr sz="1800" spc="-55" dirty="0">
                <a:solidFill>
                  <a:srgbClr val="616161"/>
                </a:solidFill>
                <a:latin typeface="Verdana"/>
                <a:cs typeface="Verdana"/>
              </a:rPr>
              <a:t>l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616161"/>
                </a:solidFill>
                <a:latin typeface="Verdana"/>
                <a:cs typeface="Verdana"/>
              </a:rPr>
              <a:t>Operations</a:t>
            </a:r>
            <a:endParaRPr sz="1800">
              <a:latin typeface="Verdana"/>
              <a:cs typeface="Verdana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400" spc="-80" dirty="0">
                <a:solidFill>
                  <a:srgbClr val="616161"/>
                </a:solidFill>
                <a:latin typeface="Verdana"/>
                <a:cs typeface="Verdana"/>
              </a:rPr>
              <a:t>So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100" dirty="0">
                <a:solidFill>
                  <a:srgbClr val="616161"/>
                </a:solidFill>
                <a:latin typeface="Verdana"/>
                <a:cs typeface="Verdana"/>
              </a:rPr>
              <a:t>far,</a:t>
            </a:r>
            <a:r>
              <a:rPr sz="1400" spc="-15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70" dirty="0">
                <a:solidFill>
                  <a:srgbClr val="616161"/>
                </a:solidFill>
                <a:latin typeface="Verdana"/>
                <a:cs typeface="Verdana"/>
              </a:rPr>
              <a:t>we’re</a:t>
            </a:r>
            <a:r>
              <a:rPr sz="1400" spc="-14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65" dirty="0">
                <a:solidFill>
                  <a:srgbClr val="616161"/>
                </a:solidFill>
                <a:latin typeface="Verdana"/>
                <a:cs typeface="Verdana"/>
              </a:rPr>
              <a:t>limited</a:t>
            </a:r>
            <a:r>
              <a:rPr sz="1400" spc="-15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50" dirty="0">
                <a:solidFill>
                  <a:srgbClr val="616161"/>
                </a:solidFill>
                <a:latin typeface="Verdana"/>
                <a:cs typeface="Verdana"/>
              </a:rPr>
              <a:t>to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80" dirty="0">
                <a:solidFill>
                  <a:srgbClr val="616161"/>
                </a:solidFill>
                <a:latin typeface="Verdana"/>
                <a:cs typeface="Verdana"/>
              </a:rPr>
              <a:t>“seeing”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80" dirty="0">
                <a:solidFill>
                  <a:srgbClr val="616161"/>
                </a:solidFill>
                <a:latin typeface="Verdana"/>
                <a:cs typeface="Verdana"/>
              </a:rPr>
              <a:t>data</a:t>
            </a:r>
            <a:r>
              <a:rPr sz="1400" spc="-14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70" dirty="0">
                <a:solidFill>
                  <a:srgbClr val="616161"/>
                </a:solidFill>
                <a:latin typeface="Verdana"/>
                <a:cs typeface="Verdana"/>
              </a:rPr>
              <a:t>within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90" dirty="0">
                <a:solidFill>
                  <a:srgbClr val="616161"/>
                </a:solidFill>
                <a:latin typeface="Verdana"/>
                <a:cs typeface="Verdana"/>
              </a:rPr>
              <a:t>our</a:t>
            </a:r>
            <a:r>
              <a:rPr sz="1400" spc="-14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90" dirty="0">
                <a:solidFill>
                  <a:srgbClr val="616161"/>
                </a:solidFill>
                <a:latin typeface="Verdana"/>
                <a:cs typeface="Verdana"/>
              </a:rPr>
              <a:t>current</a:t>
            </a:r>
            <a:r>
              <a:rPr sz="1400" spc="-15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55" dirty="0">
                <a:solidFill>
                  <a:srgbClr val="616161"/>
                </a:solidFill>
                <a:latin typeface="Verdana"/>
                <a:cs typeface="Verdana"/>
              </a:rPr>
              <a:t>window</a:t>
            </a:r>
            <a:endParaRPr sz="1400">
              <a:latin typeface="Verdana"/>
              <a:cs typeface="Verdana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400" spc="-90" dirty="0">
                <a:solidFill>
                  <a:srgbClr val="616161"/>
                </a:solidFill>
                <a:latin typeface="Verdana"/>
                <a:cs typeface="Verdana"/>
              </a:rPr>
              <a:t>Wha</a:t>
            </a:r>
            <a:r>
              <a:rPr sz="1400" spc="-45" dirty="0">
                <a:solidFill>
                  <a:srgbClr val="616161"/>
                </a:solidFill>
                <a:latin typeface="Verdana"/>
                <a:cs typeface="Verdana"/>
              </a:rPr>
              <a:t>t</a:t>
            </a:r>
            <a:r>
              <a:rPr sz="1400" spc="-15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40" dirty="0">
                <a:solidFill>
                  <a:srgbClr val="616161"/>
                </a:solidFill>
                <a:latin typeface="Verdana"/>
                <a:cs typeface="Verdana"/>
              </a:rPr>
              <a:t>if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80" dirty="0">
                <a:solidFill>
                  <a:srgbClr val="616161"/>
                </a:solidFill>
                <a:latin typeface="Verdana"/>
                <a:cs typeface="Verdana"/>
              </a:rPr>
              <a:t>w</a:t>
            </a:r>
            <a:r>
              <a:rPr sz="1400" spc="-55" dirty="0">
                <a:solidFill>
                  <a:srgbClr val="616161"/>
                </a:solidFill>
                <a:latin typeface="Verdana"/>
                <a:cs typeface="Verdana"/>
              </a:rPr>
              <a:t>e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75" dirty="0">
                <a:solidFill>
                  <a:srgbClr val="616161"/>
                </a:solidFill>
                <a:latin typeface="Verdana"/>
                <a:cs typeface="Verdana"/>
              </a:rPr>
              <a:t>nee</a:t>
            </a:r>
            <a:r>
              <a:rPr sz="1400" spc="-70" dirty="0">
                <a:solidFill>
                  <a:srgbClr val="616161"/>
                </a:solidFill>
                <a:latin typeface="Verdana"/>
                <a:cs typeface="Verdana"/>
              </a:rPr>
              <a:t>d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85" dirty="0">
                <a:solidFill>
                  <a:srgbClr val="616161"/>
                </a:solidFill>
                <a:latin typeface="Verdana"/>
                <a:cs typeface="Verdana"/>
              </a:rPr>
              <a:t>arbitrar</a:t>
            </a:r>
            <a:r>
              <a:rPr sz="1400" spc="-100" dirty="0">
                <a:solidFill>
                  <a:srgbClr val="616161"/>
                </a:solidFill>
                <a:latin typeface="Verdana"/>
                <a:cs typeface="Verdana"/>
              </a:rPr>
              <a:t>y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100" dirty="0">
                <a:solidFill>
                  <a:srgbClr val="616161"/>
                </a:solidFill>
                <a:latin typeface="Verdana"/>
                <a:cs typeface="Verdana"/>
              </a:rPr>
              <a:t>state?</a:t>
            </a:r>
            <a:endParaRPr sz="1400">
              <a:latin typeface="Verdana"/>
              <a:cs typeface="Verdana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400" spc="-105" dirty="0">
                <a:solidFill>
                  <a:srgbClr val="616161"/>
                </a:solidFill>
                <a:latin typeface="Verdana"/>
                <a:cs typeface="Verdana"/>
              </a:rPr>
              <a:t>Functions</a:t>
            </a:r>
            <a:r>
              <a:rPr sz="1400" spc="-85" dirty="0">
                <a:solidFill>
                  <a:srgbClr val="616161"/>
                </a:solidFill>
                <a:latin typeface="Verdana"/>
                <a:cs typeface="Verdana"/>
              </a:rPr>
              <a:t>: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90" dirty="0">
                <a:solidFill>
                  <a:srgbClr val="616161"/>
                </a:solidFill>
                <a:latin typeface="Verdana"/>
                <a:cs typeface="Verdana"/>
              </a:rPr>
              <a:t>“UpdateStateByKey”</a:t>
            </a:r>
            <a:endParaRPr sz="1400">
              <a:latin typeface="Verdana"/>
              <a:cs typeface="Verdana"/>
            </a:endParaRPr>
          </a:p>
          <a:p>
            <a:pPr marL="1293495" lvl="2" indent="-336550">
              <a:lnSpc>
                <a:spcPct val="100000"/>
              </a:lnSpc>
              <a:spcBef>
                <a:spcPts val="270"/>
              </a:spcBef>
              <a:buFont typeface="Arial MT"/>
              <a:buChar char="■"/>
              <a:tabLst>
                <a:tab pos="1293495" algn="l"/>
                <a:tab pos="1294130" algn="l"/>
              </a:tabLst>
            </a:pPr>
            <a:r>
              <a:rPr sz="1400" spc="-80" dirty="0">
                <a:solidFill>
                  <a:srgbClr val="616161"/>
                </a:solidFill>
                <a:latin typeface="Verdana"/>
                <a:cs typeface="Verdana"/>
              </a:rPr>
              <a:t>Use</a:t>
            </a:r>
            <a:r>
              <a:rPr sz="1400" spc="-65" dirty="0">
                <a:solidFill>
                  <a:srgbClr val="616161"/>
                </a:solidFill>
                <a:latin typeface="Verdana"/>
                <a:cs typeface="Verdana"/>
              </a:rPr>
              <a:t>s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90" dirty="0">
                <a:solidFill>
                  <a:srgbClr val="616161"/>
                </a:solidFill>
                <a:latin typeface="Verdana"/>
                <a:cs typeface="Verdana"/>
              </a:rPr>
              <a:t>an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60" dirty="0">
                <a:solidFill>
                  <a:srgbClr val="616161"/>
                </a:solidFill>
                <a:latin typeface="Verdana"/>
                <a:cs typeface="Verdana"/>
              </a:rPr>
              <a:t>RDD</a:t>
            </a:r>
            <a:r>
              <a:rPr sz="1400" spc="-15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45" dirty="0">
                <a:solidFill>
                  <a:srgbClr val="616161"/>
                </a:solidFill>
                <a:latin typeface="Verdana"/>
                <a:cs typeface="Verdana"/>
              </a:rPr>
              <a:t>t</a:t>
            </a:r>
            <a:r>
              <a:rPr sz="1400" spc="-60" dirty="0">
                <a:solidFill>
                  <a:srgbClr val="616161"/>
                </a:solidFill>
                <a:latin typeface="Verdana"/>
                <a:cs typeface="Verdana"/>
              </a:rPr>
              <a:t>o</a:t>
            </a:r>
            <a:r>
              <a:rPr sz="1400" spc="-15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85" dirty="0">
                <a:solidFill>
                  <a:srgbClr val="616161"/>
                </a:solidFill>
                <a:latin typeface="Verdana"/>
                <a:cs typeface="Verdana"/>
              </a:rPr>
              <a:t>keep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95" dirty="0">
                <a:solidFill>
                  <a:srgbClr val="616161"/>
                </a:solidFill>
                <a:latin typeface="Verdana"/>
                <a:cs typeface="Verdana"/>
              </a:rPr>
              <a:t>a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80" dirty="0">
                <a:solidFill>
                  <a:srgbClr val="616161"/>
                </a:solidFill>
                <a:latin typeface="Verdana"/>
                <a:cs typeface="Verdana"/>
              </a:rPr>
              <a:t>persisten</a:t>
            </a:r>
            <a:r>
              <a:rPr sz="1400" spc="-55" dirty="0">
                <a:solidFill>
                  <a:srgbClr val="616161"/>
                </a:solidFill>
                <a:latin typeface="Verdana"/>
                <a:cs typeface="Verdana"/>
              </a:rPr>
              <a:t>t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85" dirty="0">
                <a:solidFill>
                  <a:srgbClr val="616161"/>
                </a:solidFill>
                <a:latin typeface="Verdana"/>
                <a:cs typeface="Verdana"/>
              </a:rPr>
              <a:t>state</a:t>
            </a:r>
            <a:endParaRPr sz="1400">
              <a:latin typeface="Verdana"/>
              <a:cs typeface="Verdana"/>
            </a:endParaRPr>
          </a:p>
          <a:p>
            <a:pPr lvl="2">
              <a:lnSpc>
                <a:spcPct val="100000"/>
              </a:lnSpc>
              <a:spcBef>
                <a:spcPts val="15"/>
              </a:spcBef>
              <a:buClr>
                <a:srgbClr val="616161"/>
              </a:buClr>
              <a:buFont typeface="Arial MT"/>
              <a:buChar char="■"/>
            </a:pPr>
            <a:endParaRPr sz="1800">
              <a:latin typeface="Verdana"/>
              <a:cs typeface="Verdana"/>
            </a:endParaRPr>
          </a:p>
          <a:p>
            <a:pPr marL="379095" indent="-367030">
              <a:lnSpc>
                <a:spcPct val="100000"/>
              </a:lnSpc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-145" dirty="0">
                <a:solidFill>
                  <a:srgbClr val="616161"/>
                </a:solidFill>
                <a:latin typeface="Verdana"/>
                <a:cs typeface="Verdana"/>
              </a:rPr>
              <a:t>Th</a:t>
            </a:r>
            <a:r>
              <a:rPr sz="1800" spc="-135" dirty="0">
                <a:solidFill>
                  <a:srgbClr val="616161"/>
                </a:solidFill>
                <a:latin typeface="Verdana"/>
                <a:cs typeface="Verdana"/>
              </a:rPr>
              <a:t>e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616161"/>
                </a:solidFill>
                <a:latin typeface="Verdana"/>
                <a:cs typeface="Verdana"/>
              </a:rPr>
              <a:t>“Transform</a:t>
            </a:r>
            <a:r>
              <a:rPr sz="1800" spc="-95" dirty="0">
                <a:solidFill>
                  <a:srgbClr val="616161"/>
                </a:solidFill>
                <a:latin typeface="Verdana"/>
                <a:cs typeface="Verdana"/>
              </a:rPr>
              <a:t>”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616161"/>
                </a:solidFill>
                <a:latin typeface="Verdana"/>
                <a:cs typeface="Verdana"/>
              </a:rPr>
              <a:t>Function</a:t>
            </a:r>
            <a:endParaRPr sz="1800">
              <a:latin typeface="Verdana"/>
              <a:cs typeface="Verdana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400" spc="-40" dirty="0">
                <a:solidFill>
                  <a:srgbClr val="616161"/>
                </a:solidFill>
                <a:latin typeface="Verdana"/>
                <a:cs typeface="Verdana"/>
              </a:rPr>
              <a:t>Allows</a:t>
            </a:r>
            <a:r>
              <a:rPr sz="1400" spc="-15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105" dirty="0">
                <a:solidFill>
                  <a:srgbClr val="616161"/>
                </a:solidFill>
                <a:latin typeface="Verdana"/>
                <a:cs typeface="Verdana"/>
              </a:rPr>
              <a:t>you</a:t>
            </a:r>
            <a:r>
              <a:rPr sz="1400" spc="-14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75" dirty="0">
                <a:solidFill>
                  <a:srgbClr val="616161"/>
                </a:solidFill>
                <a:latin typeface="Verdana"/>
                <a:cs typeface="Verdana"/>
              </a:rPr>
              <a:t>get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85" dirty="0">
                <a:solidFill>
                  <a:srgbClr val="616161"/>
                </a:solidFill>
                <a:latin typeface="Verdana"/>
                <a:cs typeface="Verdana"/>
              </a:rPr>
              <a:t>access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50" dirty="0">
                <a:solidFill>
                  <a:srgbClr val="616161"/>
                </a:solidFill>
                <a:latin typeface="Verdana"/>
                <a:cs typeface="Verdana"/>
              </a:rPr>
              <a:t>to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95" dirty="0">
                <a:solidFill>
                  <a:srgbClr val="616161"/>
                </a:solidFill>
                <a:latin typeface="Verdana"/>
                <a:cs typeface="Verdana"/>
              </a:rPr>
              <a:t>the</a:t>
            </a:r>
            <a:r>
              <a:rPr sz="1400" spc="-15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80" dirty="0">
                <a:solidFill>
                  <a:srgbClr val="616161"/>
                </a:solidFill>
                <a:latin typeface="Verdana"/>
                <a:cs typeface="Verdana"/>
              </a:rPr>
              <a:t>underlying</a:t>
            </a:r>
            <a:r>
              <a:rPr sz="1400" spc="-14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100" dirty="0">
                <a:solidFill>
                  <a:srgbClr val="616161"/>
                </a:solidFill>
                <a:latin typeface="Verdana"/>
                <a:cs typeface="Verdana"/>
              </a:rPr>
              <a:t>DStream</a:t>
            </a:r>
            <a:r>
              <a:rPr sz="1400" spc="-14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60" dirty="0">
                <a:solidFill>
                  <a:srgbClr val="616161"/>
                </a:solidFill>
                <a:latin typeface="Verdana"/>
                <a:cs typeface="Verdana"/>
              </a:rPr>
              <a:t>RDD</a:t>
            </a:r>
            <a:endParaRPr sz="1400">
              <a:latin typeface="Verdana"/>
              <a:cs typeface="Verdana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400" spc="-65" dirty="0">
                <a:solidFill>
                  <a:srgbClr val="616161"/>
                </a:solidFill>
                <a:latin typeface="Verdana"/>
                <a:cs typeface="Verdana"/>
              </a:rPr>
              <a:t>Used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60" dirty="0">
                <a:solidFill>
                  <a:srgbClr val="616161"/>
                </a:solidFill>
                <a:latin typeface="Verdana"/>
                <a:cs typeface="Verdana"/>
              </a:rPr>
              <a:t>fo</a:t>
            </a:r>
            <a:r>
              <a:rPr sz="1400" spc="-50" dirty="0">
                <a:solidFill>
                  <a:srgbClr val="616161"/>
                </a:solidFill>
                <a:latin typeface="Verdana"/>
                <a:cs typeface="Verdana"/>
              </a:rPr>
              <a:t>r</a:t>
            </a:r>
            <a:r>
              <a:rPr sz="1400" spc="-15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75" dirty="0">
                <a:solidFill>
                  <a:srgbClr val="616161"/>
                </a:solidFill>
                <a:latin typeface="Verdana"/>
                <a:cs typeface="Verdana"/>
              </a:rPr>
              <a:t>“combining</a:t>
            </a:r>
            <a:r>
              <a:rPr sz="1400" spc="-60" dirty="0">
                <a:solidFill>
                  <a:srgbClr val="616161"/>
                </a:solidFill>
                <a:latin typeface="Verdana"/>
                <a:cs typeface="Verdana"/>
              </a:rPr>
              <a:t>”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90" dirty="0">
                <a:solidFill>
                  <a:srgbClr val="616161"/>
                </a:solidFill>
                <a:latin typeface="Verdana"/>
                <a:cs typeface="Verdana"/>
              </a:rPr>
              <a:t>DStrea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m </a:t>
            </a:r>
            <a:r>
              <a:rPr sz="1400" spc="-80" dirty="0">
                <a:solidFill>
                  <a:srgbClr val="616161"/>
                </a:solidFill>
                <a:latin typeface="Verdana"/>
                <a:cs typeface="Verdana"/>
              </a:rPr>
              <a:t>data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70" dirty="0">
                <a:solidFill>
                  <a:srgbClr val="616161"/>
                </a:solidFill>
                <a:latin typeface="Verdana"/>
                <a:cs typeface="Verdana"/>
              </a:rPr>
              <a:t>wit</a:t>
            </a:r>
            <a:r>
              <a:rPr sz="1400" spc="-85" dirty="0">
                <a:solidFill>
                  <a:srgbClr val="616161"/>
                </a:solidFill>
                <a:latin typeface="Verdana"/>
                <a:cs typeface="Verdana"/>
              </a:rPr>
              <a:t>h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85" dirty="0">
                <a:solidFill>
                  <a:srgbClr val="616161"/>
                </a:solidFill>
                <a:latin typeface="Verdana"/>
                <a:cs typeface="Verdana"/>
              </a:rPr>
              <a:t>arbitrar</a:t>
            </a:r>
            <a:r>
              <a:rPr sz="1400" spc="-100" dirty="0">
                <a:solidFill>
                  <a:srgbClr val="616161"/>
                </a:solidFill>
                <a:latin typeface="Verdana"/>
                <a:cs typeface="Verdana"/>
              </a:rPr>
              <a:t>y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65" dirty="0">
                <a:solidFill>
                  <a:srgbClr val="616161"/>
                </a:solidFill>
                <a:latin typeface="Verdana"/>
                <a:cs typeface="Verdana"/>
              </a:rPr>
              <a:t>RDDs</a:t>
            </a:r>
            <a:endParaRPr sz="1400">
              <a:latin typeface="Verdana"/>
              <a:cs typeface="Verdana"/>
            </a:endParaRPr>
          </a:p>
          <a:p>
            <a:pPr marL="1293495" lvl="2" indent="-336550">
              <a:lnSpc>
                <a:spcPct val="100000"/>
              </a:lnSpc>
              <a:spcBef>
                <a:spcPts val="270"/>
              </a:spcBef>
              <a:buFont typeface="Arial MT"/>
              <a:buChar char="■"/>
              <a:tabLst>
                <a:tab pos="1293495" algn="l"/>
                <a:tab pos="1294130" algn="l"/>
              </a:tabLst>
            </a:pPr>
            <a:r>
              <a:rPr sz="1400" spc="-120" dirty="0">
                <a:solidFill>
                  <a:srgbClr val="616161"/>
                </a:solidFill>
                <a:latin typeface="Verdana"/>
                <a:cs typeface="Verdana"/>
              </a:rPr>
              <a:t>i.e.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105" dirty="0">
                <a:solidFill>
                  <a:srgbClr val="616161"/>
                </a:solidFill>
                <a:latin typeface="Verdana"/>
                <a:cs typeface="Verdana"/>
              </a:rPr>
              <a:t>Join</a:t>
            </a:r>
            <a:r>
              <a:rPr sz="1400" spc="-15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90" dirty="0">
                <a:solidFill>
                  <a:srgbClr val="616161"/>
                </a:solidFill>
                <a:latin typeface="Verdana"/>
                <a:cs typeface="Verdana"/>
              </a:rPr>
              <a:t>streamed</a:t>
            </a:r>
            <a:r>
              <a:rPr sz="1400" spc="-14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80" dirty="0">
                <a:solidFill>
                  <a:srgbClr val="616161"/>
                </a:solidFill>
                <a:latin typeface="Verdana"/>
                <a:cs typeface="Verdana"/>
              </a:rPr>
              <a:t>data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60" dirty="0">
                <a:solidFill>
                  <a:srgbClr val="616161"/>
                </a:solidFill>
                <a:latin typeface="Verdana"/>
                <a:cs typeface="Verdana"/>
              </a:rPr>
              <a:t>on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85" dirty="0">
                <a:solidFill>
                  <a:srgbClr val="616161"/>
                </a:solidFill>
                <a:latin typeface="Verdana"/>
                <a:cs typeface="Verdana"/>
              </a:rPr>
              <a:t>precomputed</a:t>
            </a:r>
            <a:r>
              <a:rPr sz="1400" spc="-14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80" dirty="0">
                <a:solidFill>
                  <a:srgbClr val="616161"/>
                </a:solidFill>
                <a:latin typeface="Verdana"/>
                <a:cs typeface="Verdana"/>
              </a:rPr>
              <a:t>data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478663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40" dirty="0">
                <a:solidFill>
                  <a:srgbClr val="202729"/>
                </a:solidFill>
              </a:rPr>
              <a:t>Spark</a:t>
            </a:r>
            <a:r>
              <a:rPr sz="2800" spc="-150" dirty="0">
                <a:solidFill>
                  <a:srgbClr val="202729"/>
                </a:solidFill>
              </a:rPr>
              <a:t> </a:t>
            </a:r>
            <a:r>
              <a:rPr sz="2800" spc="-15" dirty="0">
                <a:solidFill>
                  <a:srgbClr val="202729"/>
                </a:solidFill>
              </a:rPr>
              <a:t>Streaming</a:t>
            </a:r>
            <a:r>
              <a:rPr sz="2800" spc="-145" dirty="0">
                <a:solidFill>
                  <a:srgbClr val="202729"/>
                </a:solidFill>
              </a:rPr>
              <a:t> </a:t>
            </a:r>
            <a:r>
              <a:rPr sz="2800" spc="-5" dirty="0">
                <a:solidFill>
                  <a:srgbClr val="202729"/>
                </a:solidFill>
              </a:rPr>
              <a:t>Programming</a:t>
            </a:r>
            <a:endParaRPr sz="28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326251"/>
            <a:ext cx="621220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40" dirty="0">
                <a:solidFill>
                  <a:srgbClr val="202729"/>
                </a:solidFill>
              </a:rPr>
              <a:t>Spark</a:t>
            </a:r>
            <a:r>
              <a:rPr sz="2800" spc="-130" dirty="0">
                <a:solidFill>
                  <a:srgbClr val="202729"/>
                </a:solidFill>
              </a:rPr>
              <a:t> </a:t>
            </a:r>
            <a:r>
              <a:rPr sz="2800" spc="-15" dirty="0">
                <a:solidFill>
                  <a:srgbClr val="202729"/>
                </a:solidFill>
              </a:rPr>
              <a:t>Streaming</a:t>
            </a:r>
            <a:r>
              <a:rPr sz="2800" spc="-130" dirty="0">
                <a:solidFill>
                  <a:srgbClr val="202729"/>
                </a:solidFill>
              </a:rPr>
              <a:t> </a:t>
            </a:r>
            <a:r>
              <a:rPr sz="2800" spc="-5" dirty="0">
                <a:solidFill>
                  <a:srgbClr val="202729"/>
                </a:solidFill>
              </a:rPr>
              <a:t>Programming</a:t>
            </a:r>
            <a:r>
              <a:rPr sz="2800" spc="-130" dirty="0">
                <a:solidFill>
                  <a:srgbClr val="202729"/>
                </a:solidFill>
              </a:rPr>
              <a:t> </a:t>
            </a:r>
            <a:r>
              <a:rPr sz="2800" spc="-20" dirty="0">
                <a:solidFill>
                  <a:srgbClr val="202729"/>
                </a:solidFill>
              </a:rPr>
              <a:t>Example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422825" y="941600"/>
            <a:ext cx="8118475" cy="3892550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sz="1800" spc="-5" dirty="0">
                <a:solidFill>
                  <a:srgbClr val="FF7800"/>
                </a:solidFill>
                <a:latin typeface="Courier New"/>
                <a:cs typeface="Courier New"/>
              </a:rPr>
              <a:t>from</a:t>
            </a:r>
            <a:r>
              <a:rPr sz="1800" spc="-25" dirty="0">
                <a:solidFill>
                  <a:srgbClr val="FF7800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pyspark</a:t>
            </a:r>
            <a:r>
              <a:rPr sz="1800" spc="-25" dirty="0"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FF7800"/>
                </a:solidFill>
                <a:latin typeface="Courier New"/>
                <a:cs typeface="Courier New"/>
              </a:rPr>
              <a:t>import</a:t>
            </a:r>
            <a:r>
              <a:rPr sz="1800" spc="-25" dirty="0">
                <a:solidFill>
                  <a:srgbClr val="FF7800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SparkContext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1800" spc="-5" dirty="0">
                <a:solidFill>
                  <a:srgbClr val="FF7800"/>
                </a:solidFill>
                <a:latin typeface="Courier New"/>
                <a:cs typeface="Courier New"/>
              </a:rPr>
              <a:t>from</a:t>
            </a:r>
            <a:r>
              <a:rPr sz="1800" spc="-25" dirty="0">
                <a:solidFill>
                  <a:srgbClr val="FF7800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pyspark.streaming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FF7800"/>
                </a:solidFill>
                <a:latin typeface="Courier New"/>
                <a:cs typeface="Courier New"/>
              </a:rPr>
              <a:t>import</a:t>
            </a:r>
            <a:r>
              <a:rPr sz="1800" spc="-25" dirty="0">
                <a:solidFill>
                  <a:srgbClr val="FF7800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StreamingContext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1800" dirty="0">
                <a:latin typeface="Courier New"/>
                <a:cs typeface="Courier New"/>
              </a:rPr>
              <a:t>#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local</a:t>
            </a:r>
            <a:r>
              <a:rPr sz="1800" spc="-15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streaming</a:t>
            </a:r>
            <a:r>
              <a:rPr sz="1800" spc="-15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context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with</a:t>
            </a:r>
            <a:r>
              <a:rPr sz="1800" spc="-15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two</a:t>
            </a:r>
            <a:r>
              <a:rPr sz="1800" spc="-15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threads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  <a:tabLst>
                <a:tab pos="4127500" algn="l"/>
              </a:tabLst>
            </a:pPr>
            <a:r>
              <a:rPr sz="1800" spc="-5" dirty="0">
                <a:latin typeface="Courier New"/>
                <a:cs typeface="Courier New"/>
              </a:rPr>
              <a:t>sc</a:t>
            </a:r>
            <a:r>
              <a:rPr sz="1800" spc="5" dirty="0"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7800"/>
                </a:solidFill>
                <a:latin typeface="Courier New"/>
                <a:cs typeface="Courier New"/>
              </a:rPr>
              <a:t>= </a:t>
            </a:r>
            <a:r>
              <a:rPr sz="1800" spc="-5" dirty="0">
                <a:latin typeface="Courier New"/>
                <a:cs typeface="Courier New"/>
              </a:rPr>
              <a:t>SparkContext(</a:t>
            </a:r>
            <a:r>
              <a:rPr sz="1800" spc="-5" dirty="0">
                <a:solidFill>
                  <a:srgbClr val="409B1B"/>
                </a:solidFill>
                <a:latin typeface="Courier New"/>
                <a:cs typeface="Courier New"/>
              </a:rPr>
              <a:t>"local[2]"</a:t>
            </a:r>
            <a:r>
              <a:rPr sz="1800" spc="-5" dirty="0">
                <a:latin typeface="Courier New"/>
                <a:cs typeface="Courier New"/>
              </a:rPr>
              <a:t>,	</a:t>
            </a:r>
            <a:r>
              <a:rPr sz="1800" spc="-5" dirty="0">
                <a:solidFill>
                  <a:srgbClr val="409B1B"/>
                </a:solidFill>
                <a:latin typeface="Courier New"/>
                <a:cs typeface="Courier New"/>
              </a:rPr>
              <a:t>"NetworkWordCount"</a:t>
            </a:r>
            <a:r>
              <a:rPr sz="1800" spc="-5" dirty="0">
                <a:latin typeface="Courier New"/>
                <a:cs typeface="Courier New"/>
              </a:rPr>
              <a:t>)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  <a:tabLst>
                <a:tab pos="4264660" algn="l"/>
              </a:tabLst>
            </a:pPr>
            <a:r>
              <a:rPr sz="1800" spc="-5" dirty="0">
                <a:latin typeface="Courier New"/>
                <a:cs typeface="Courier New"/>
              </a:rPr>
              <a:t>ssc</a:t>
            </a:r>
            <a:r>
              <a:rPr sz="1800" dirty="0"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7800"/>
                </a:solidFill>
                <a:latin typeface="Courier New"/>
                <a:cs typeface="Courier New"/>
              </a:rPr>
              <a:t>= </a:t>
            </a:r>
            <a:r>
              <a:rPr sz="1800" spc="-5" dirty="0">
                <a:latin typeface="Courier New"/>
                <a:cs typeface="Courier New"/>
              </a:rPr>
              <a:t>StreamingContext(sc,</a:t>
            </a:r>
            <a:r>
              <a:rPr sz="1800" spc="5" dirty="0"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3B5BB5"/>
                </a:solidFill>
                <a:latin typeface="Courier New"/>
                <a:cs typeface="Courier New"/>
              </a:rPr>
              <a:t>1</a:t>
            </a:r>
            <a:r>
              <a:rPr sz="1800" dirty="0">
                <a:latin typeface="Courier New"/>
                <a:cs typeface="Courier New"/>
              </a:rPr>
              <a:t>)	#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batch</a:t>
            </a:r>
            <a:r>
              <a:rPr sz="1800" spc="-25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interval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of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1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second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ourier New"/>
                <a:cs typeface="Courier New"/>
              </a:rPr>
              <a:t>#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DStream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that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pulls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from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localhost:8888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1800" spc="-5" dirty="0">
                <a:latin typeface="Courier New"/>
                <a:cs typeface="Courier New"/>
              </a:rPr>
              <a:t>lines</a:t>
            </a:r>
            <a:r>
              <a:rPr sz="1800" spc="-3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3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ssc.socketTextStream("localhost",</a:t>
            </a:r>
            <a:r>
              <a:rPr sz="1800" spc="-3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8888)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322876"/>
            <a:ext cx="621220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40" dirty="0">
                <a:solidFill>
                  <a:srgbClr val="202729"/>
                </a:solidFill>
              </a:rPr>
              <a:t>Spark</a:t>
            </a:r>
            <a:r>
              <a:rPr sz="2800" spc="-130" dirty="0">
                <a:solidFill>
                  <a:srgbClr val="202729"/>
                </a:solidFill>
              </a:rPr>
              <a:t> </a:t>
            </a:r>
            <a:r>
              <a:rPr sz="2800" spc="-15" dirty="0">
                <a:solidFill>
                  <a:srgbClr val="202729"/>
                </a:solidFill>
              </a:rPr>
              <a:t>Streaming</a:t>
            </a:r>
            <a:r>
              <a:rPr sz="2800" spc="-130" dirty="0">
                <a:solidFill>
                  <a:srgbClr val="202729"/>
                </a:solidFill>
              </a:rPr>
              <a:t> </a:t>
            </a:r>
            <a:r>
              <a:rPr sz="2800" spc="-5" dirty="0">
                <a:solidFill>
                  <a:srgbClr val="202729"/>
                </a:solidFill>
              </a:rPr>
              <a:t>Programming</a:t>
            </a:r>
            <a:r>
              <a:rPr sz="2800" spc="-130" dirty="0">
                <a:solidFill>
                  <a:srgbClr val="202729"/>
                </a:solidFill>
              </a:rPr>
              <a:t> </a:t>
            </a:r>
            <a:r>
              <a:rPr sz="2800" spc="-20" dirty="0">
                <a:solidFill>
                  <a:srgbClr val="202729"/>
                </a:solidFill>
              </a:rPr>
              <a:t>Example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422825" y="926947"/>
            <a:ext cx="6747509" cy="996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1800"/>
              </a:lnSpc>
              <a:spcBef>
                <a:spcPts val="100"/>
              </a:spcBef>
            </a:pPr>
            <a:r>
              <a:rPr sz="1400" dirty="0">
                <a:solidFill>
                  <a:srgbClr val="919191"/>
                </a:solidFill>
                <a:latin typeface="Courier New"/>
                <a:cs typeface="Courier New"/>
              </a:rPr>
              <a:t>#</a:t>
            </a:r>
            <a:r>
              <a:rPr sz="1400" spc="20" dirty="0">
                <a:solidFill>
                  <a:srgbClr val="919191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919191"/>
                </a:solidFill>
                <a:latin typeface="Courier New"/>
                <a:cs typeface="Courier New"/>
              </a:rPr>
              <a:t>We</a:t>
            </a:r>
            <a:r>
              <a:rPr sz="1400" spc="25" dirty="0">
                <a:solidFill>
                  <a:srgbClr val="919191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919191"/>
                </a:solidFill>
                <a:latin typeface="Courier New"/>
                <a:cs typeface="Courier New"/>
              </a:rPr>
              <a:t>can</a:t>
            </a:r>
            <a:r>
              <a:rPr sz="1400" spc="25" dirty="0">
                <a:solidFill>
                  <a:srgbClr val="919191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919191"/>
                </a:solidFill>
                <a:latin typeface="Courier New"/>
                <a:cs typeface="Courier New"/>
              </a:rPr>
              <a:t>use</a:t>
            </a:r>
            <a:r>
              <a:rPr sz="1400" spc="25" dirty="0">
                <a:solidFill>
                  <a:srgbClr val="919191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919191"/>
                </a:solidFill>
                <a:latin typeface="Courier New"/>
                <a:cs typeface="Courier New"/>
              </a:rPr>
              <a:t>the</a:t>
            </a:r>
            <a:r>
              <a:rPr sz="1400" spc="20" dirty="0">
                <a:solidFill>
                  <a:srgbClr val="919191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919191"/>
                </a:solidFill>
                <a:latin typeface="Courier New"/>
                <a:cs typeface="Courier New"/>
              </a:rPr>
              <a:t>lines</a:t>
            </a:r>
            <a:r>
              <a:rPr sz="1400" spc="25" dirty="0">
                <a:solidFill>
                  <a:srgbClr val="919191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919191"/>
                </a:solidFill>
                <a:latin typeface="Courier New"/>
                <a:cs typeface="Courier New"/>
              </a:rPr>
              <a:t>DStream</a:t>
            </a:r>
            <a:r>
              <a:rPr sz="1400" spc="25" dirty="0">
                <a:solidFill>
                  <a:srgbClr val="919191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919191"/>
                </a:solidFill>
                <a:latin typeface="Courier New"/>
                <a:cs typeface="Courier New"/>
              </a:rPr>
              <a:t>almost</a:t>
            </a:r>
            <a:r>
              <a:rPr sz="1400" spc="25" dirty="0">
                <a:solidFill>
                  <a:srgbClr val="919191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919191"/>
                </a:solidFill>
                <a:latin typeface="Courier New"/>
                <a:cs typeface="Courier New"/>
              </a:rPr>
              <a:t>like</a:t>
            </a:r>
            <a:r>
              <a:rPr sz="1400" spc="20" dirty="0">
                <a:solidFill>
                  <a:srgbClr val="919191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919191"/>
                </a:solidFill>
                <a:latin typeface="Courier New"/>
                <a:cs typeface="Courier New"/>
              </a:rPr>
              <a:t>a</a:t>
            </a:r>
            <a:r>
              <a:rPr sz="1400" spc="25" dirty="0">
                <a:solidFill>
                  <a:srgbClr val="919191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919191"/>
                </a:solidFill>
                <a:latin typeface="Courier New"/>
                <a:cs typeface="Courier New"/>
              </a:rPr>
              <a:t>normal</a:t>
            </a:r>
            <a:r>
              <a:rPr sz="1400" spc="25" dirty="0">
                <a:solidFill>
                  <a:srgbClr val="919191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919191"/>
                </a:solidFill>
                <a:latin typeface="Courier New"/>
                <a:cs typeface="Courier New"/>
              </a:rPr>
              <a:t>RDD </a:t>
            </a:r>
            <a:r>
              <a:rPr sz="1400" dirty="0">
                <a:solidFill>
                  <a:srgbClr val="919191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filtere</a:t>
            </a:r>
            <a:r>
              <a:rPr sz="1400" dirty="0">
                <a:latin typeface="Courier New"/>
                <a:cs typeface="Courier New"/>
              </a:rPr>
              <a:t>d</a:t>
            </a:r>
            <a:r>
              <a:rPr sz="1400" spc="135" dirty="0"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FF5500"/>
                </a:solidFill>
                <a:latin typeface="Courier New"/>
                <a:cs typeface="Courier New"/>
              </a:rPr>
              <a:t>=</a:t>
            </a:r>
            <a:r>
              <a:rPr sz="1400" spc="10" dirty="0">
                <a:solidFill>
                  <a:srgbClr val="FF5500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lines.filter</a:t>
            </a:r>
            <a:r>
              <a:rPr sz="1400" dirty="0">
                <a:latin typeface="Courier New"/>
                <a:cs typeface="Courier New"/>
              </a:rPr>
              <a:t>(</a:t>
            </a:r>
            <a:r>
              <a:rPr sz="1400" spc="-630" dirty="0"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FF5500"/>
                </a:solidFill>
                <a:latin typeface="Courier New"/>
                <a:cs typeface="Courier New"/>
              </a:rPr>
              <a:t>lambd</a:t>
            </a:r>
            <a:r>
              <a:rPr sz="1400" dirty="0">
                <a:solidFill>
                  <a:srgbClr val="FF5500"/>
                </a:solidFill>
                <a:latin typeface="Courier New"/>
                <a:cs typeface="Courier New"/>
              </a:rPr>
              <a:t>a</a:t>
            </a:r>
            <a:r>
              <a:rPr sz="1400" spc="90" dirty="0">
                <a:solidFill>
                  <a:srgbClr val="FF5500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l</a:t>
            </a:r>
            <a:r>
              <a:rPr sz="1400" dirty="0">
                <a:latin typeface="Courier New"/>
                <a:cs typeface="Courier New"/>
              </a:rPr>
              <a:t>:</a:t>
            </a:r>
            <a:r>
              <a:rPr sz="1400" spc="60" dirty="0"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0A33E"/>
                </a:solidFill>
                <a:latin typeface="Courier New"/>
                <a:cs typeface="Courier New"/>
              </a:rPr>
              <a:t>'cloud</a:t>
            </a:r>
            <a:r>
              <a:rPr sz="1400" dirty="0">
                <a:solidFill>
                  <a:srgbClr val="00A33E"/>
                </a:solidFill>
                <a:latin typeface="Courier New"/>
                <a:cs typeface="Courier New"/>
              </a:rPr>
              <a:t>'</a:t>
            </a:r>
            <a:r>
              <a:rPr sz="1400" spc="120" dirty="0">
                <a:solidFill>
                  <a:srgbClr val="00A33E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FF5500"/>
                </a:solidFill>
                <a:latin typeface="Courier New"/>
                <a:cs typeface="Courier New"/>
              </a:rPr>
              <a:t>i</a:t>
            </a:r>
            <a:r>
              <a:rPr sz="1400" dirty="0">
                <a:solidFill>
                  <a:srgbClr val="FF5500"/>
                </a:solidFill>
                <a:latin typeface="Courier New"/>
                <a:cs typeface="Courier New"/>
              </a:rPr>
              <a:t>n</a:t>
            </a:r>
            <a:r>
              <a:rPr sz="1400" spc="30" dirty="0">
                <a:solidFill>
                  <a:srgbClr val="FF5500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l).flatMap</a:t>
            </a:r>
            <a:r>
              <a:rPr sz="1400" dirty="0">
                <a:latin typeface="Courier New"/>
                <a:cs typeface="Courier New"/>
              </a:rPr>
              <a:t>(</a:t>
            </a:r>
            <a:r>
              <a:rPr sz="1400" spc="-660" dirty="0"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FF5500"/>
                </a:solidFill>
                <a:latin typeface="Courier New"/>
                <a:cs typeface="Courier New"/>
              </a:rPr>
              <a:t>lambda  </a:t>
            </a:r>
            <a:r>
              <a:rPr sz="1400" spc="-5" dirty="0">
                <a:latin typeface="Courier New"/>
                <a:cs typeface="Courier New"/>
              </a:rPr>
              <a:t>key_on_wor</a:t>
            </a:r>
            <a:r>
              <a:rPr sz="1400" dirty="0">
                <a:latin typeface="Courier New"/>
                <a:cs typeface="Courier New"/>
              </a:rPr>
              <a:t>d</a:t>
            </a:r>
            <a:r>
              <a:rPr sz="1400" spc="180" dirty="0"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FF5500"/>
                </a:solidFill>
                <a:latin typeface="Courier New"/>
                <a:cs typeface="Courier New"/>
              </a:rPr>
              <a:t>=</a:t>
            </a:r>
            <a:r>
              <a:rPr sz="1400" spc="10" dirty="0">
                <a:solidFill>
                  <a:srgbClr val="FF5500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filtered.map</a:t>
            </a:r>
            <a:r>
              <a:rPr sz="1400" dirty="0">
                <a:latin typeface="Courier New"/>
                <a:cs typeface="Courier New"/>
              </a:rPr>
              <a:t>(</a:t>
            </a:r>
            <a:r>
              <a:rPr sz="1400" spc="-630" dirty="0"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FF5500"/>
                </a:solidFill>
                <a:latin typeface="Courier New"/>
                <a:cs typeface="Courier New"/>
              </a:rPr>
              <a:t>lambd</a:t>
            </a:r>
            <a:r>
              <a:rPr sz="1400" dirty="0">
                <a:solidFill>
                  <a:srgbClr val="FF5500"/>
                </a:solidFill>
                <a:latin typeface="Courier New"/>
                <a:cs typeface="Courier New"/>
              </a:rPr>
              <a:t>a</a:t>
            </a:r>
            <a:r>
              <a:rPr sz="1400" spc="90" dirty="0">
                <a:solidFill>
                  <a:srgbClr val="FF5500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w</a:t>
            </a:r>
            <a:r>
              <a:rPr sz="1400" dirty="0">
                <a:latin typeface="Courier New"/>
                <a:cs typeface="Courier New"/>
              </a:rPr>
              <a:t>:</a:t>
            </a:r>
            <a:r>
              <a:rPr sz="1400" spc="-5" dirty="0">
                <a:latin typeface="Courier New"/>
                <a:cs typeface="Courier New"/>
              </a:rPr>
              <a:t> (w</a:t>
            </a:r>
            <a:r>
              <a:rPr sz="1400" dirty="0">
                <a:latin typeface="Courier New"/>
                <a:cs typeface="Courier New"/>
              </a:rPr>
              <a:t>,</a:t>
            </a:r>
            <a:r>
              <a:rPr sz="1400" spc="-5" dirty="0">
                <a:latin typeface="Courier New"/>
                <a:cs typeface="Courier New"/>
              </a:rPr>
              <a:t> 1))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62870" y="1361288"/>
            <a:ext cx="13055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ourier New"/>
                <a:cs typeface="Courier New"/>
              </a:rPr>
              <a:t>x:</a:t>
            </a:r>
            <a:r>
              <a:rPr sz="1400" spc="-9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x.split()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2825" y="2222348"/>
            <a:ext cx="7172325" cy="2616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1800"/>
              </a:lnSpc>
              <a:spcBef>
                <a:spcPts val="100"/>
              </a:spcBef>
            </a:pPr>
            <a:r>
              <a:rPr sz="1400" dirty="0">
                <a:solidFill>
                  <a:srgbClr val="919191"/>
                </a:solidFill>
                <a:latin typeface="Courier New"/>
                <a:cs typeface="Courier New"/>
              </a:rPr>
              <a:t># </a:t>
            </a:r>
            <a:r>
              <a:rPr sz="1400" spc="-5" dirty="0">
                <a:solidFill>
                  <a:srgbClr val="919191"/>
                </a:solidFill>
                <a:latin typeface="Courier New"/>
                <a:cs typeface="Courier New"/>
              </a:rPr>
              <a:t>Count in window lengths of 30 seconds, evaluated every 10 seconds </a:t>
            </a:r>
            <a:r>
              <a:rPr sz="1400" spc="-830" dirty="0">
                <a:solidFill>
                  <a:srgbClr val="919191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windowed</a:t>
            </a:r>
            <a:r>
              <a:rPr sz="1400" spc="125" dirty="0"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FF5500"/>
                </a:solidFill>
                <a:latin typeface="Courier New"/>
                <a:cs typeface="Courier New"/>
              </a:rPr>
              <a:t>=</a:t>
            </a:r>
            <a:r>
              <a:rPr sz="1400" spc="5" dirty="0">
                <a:solidFill>
                  <a:srgbClr val="FF5500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key_on_word.countByValueAndWindow(30,</a:t>
            </a:r>
            <a:r>
              <a:rPr sz="1400" spc="-1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10)</a:t>
            </a:r>
            <a:endParaRPr sz="14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2250" dirty="0">
              <a:latin typeface="Courier New"/>
              <a:cs typeface="Courier New"/>
            </a:endParaRPr>
          </a:p>
          <a:p>
            <a:pPr marL="12700" marR="2351405">
              <a:lnSpc>
                <a:spcPct val="151800"/>
              </a:lnSpc>
            </a:pPr>
            <a:r>
              <a:rPr sz="1400" dirty="0">
                <a:solidFill>
                  <a:srgbClr val="919191"/>
                </a:solidFill>
                <a:latin typeface="Courier New"/>
                <a:cs typeface="Courier New"/>
              </a:rPr>
              <a:t># </a:t>
            </a:r>
            <a:r>
              <a:rPr sz="1400" spc="-5" dirty="0">
                <a:solidFill>
                  <a:srgbClr val="919191"/>
                </a:solidFill>
                <a:latin typeface="Courier New"/>
                <a:cs typeface="Courier New"/>
              </a:rPr>
              <a:t>We can call an action on DStreams like RDDs </a:t>
            </a:r>
            <a:r>
              <a:rPr sz="1400" spc="-830" dirty="0">
                <a:solidFill>
                  <a:srgbClr val="919191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windowed.pprint()</a:t>
            </a:r>
            <a:endParaRPr sz="14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2250" dirty="0">
              <a:latin typeface="Courier New"/>
              <a:cs typeface="Courier New"/>
            </a:endParaRPr>
          </a:p>
          <a:p>
            <a:pPr marL="12700" marR="4484370">
              <a:lnSpc>
                <a:spcPct val="151800"/>
              </a:lnSpc>
            </a:pPr>
            <a:r>
              <a:rPr sz="1400" dirty="0">
                <a:solidFill>
                  <a:srgbClr val="919191"/>
                </a:solidFill>
                <a:latin typeface="Courier New"/>
                <a:cs typeface="Courier New"/>
              </a:rPr>
              <a:t># </a:t>
            </a:r>
            <a:r>
              <a:rPr sz="1400" spc="-5" dirty="0">
                <a:solidFill>
                  <a:srgbClr val="919191"/>
                </a:solidFill>
                <a:latin typeface="Courier New"/>
                <a:cs typeface="Courier New"/>
              </a:rPr>
              <a:t>Start stream processing </a:t>
            </a:r>
            <a:r>
              <a:rPr sz="1400" spc="-830" dirty="0">
                <a:solidFill>
                  <a:srgbClr val="919191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ssc.start()</a:t>
            </a:r>
            <a:endParaRPr sz="14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Words>1014</Words>
  <Application>Microsoft Office PowerPoint</Application>
  <PresentationFormat>On-screen Show (16:9)</PresentationFormat>
  <Paragraphs>271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Arial</vt:lpstr>
      <vt:lpstr>Arial MT</vt:lpstr>
      <vt:lpstr>Calibri</vt:lpstr>
      <vt:lpstr>Courier New</vt:lpstr>
      <vt:lpstr>Times New Roman</vt:lpstr>
      <vt:lpstr>Trebuchet MS</vt:lpstr>
      <vt:lpstr>Verdana</vt:lpstr>
      <vt:lpstr>Office Theme</vt:lpstr>
      <vt:lpstr>Spark Streaming</vt:lpstr>
      <vt:lpstr>Outline</vt:lpstr>
      <vt:lpstr>Streaming</vt:lpstr>
      <vt:lpstr>Batch Processing vs Stream Processing</vt:lpstr>
      <vt:lpstr>Application of Streaming Data</vt:lpstr>
      <vt:lpstr>Stream Sources</vt:lpstr>
      <vt:lpstr>Apache Storm - A pure streaming system</vt:lpstr>
      <vt:lpstr>Apache Storm - A pure streaming system</vt:lpstr>
      <vt:lpstr>Apache Storm</vt:lpstr>
      <vt:lpstr>Outline</vt:lpstr>
      <vt:lpstr>Spark Streaming</vt:lpstr>
      <vt:lpstr>Spark Looks a lot like Apache Storm...</vt:lpstr>
      <vt:lpstr>Spark Looks a lot like Apache Storm...</vt:lpstr>
      <vt:lpstr>How Spark Handles Streaming</vt:lpstr>
      <vt:lpstr>How Spark Handles Streaming</vt:lpstr>
      <vt:lpstr>How Spark Handles Streaming</vt:lpstr>
      <vt:lpstr>How Spark Handles Streaming</vt:lpstr>
      <vt:lpstr>How Spark Handles Streaming</vt:lpstr>
      <vt:lpstr>How Spark Handles Streaming</vt:lpstr>
      <vt:lpstr>How Spark Handles Streaming</vt:lpstr>
      <vt:lpstr>Spark Stream Sources</vt:lpstr>
      <vt:lpstr>Outline</vt:lpstr>
      <vt:lpstr>Spark Streaming Programming</vt:lpstr>
      <vt:lpstr>Spark Streaming Programming</vt:lpstr>
      <vt:lpstr>Spark Streaming Programming Example</vt:lpstr>
      <vt:lpstr>Spark Streaming Programming 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Trang Nguyen Thuy</cp:lastModifiedBy>
  <cp:revision>3</cp:revision>
  <dcterms:created xsi:type="dcterms:W3CDTF">2024-11-10T16:00:01Z</dcterms:created>
  <dcterms:modified xsi:type="dcterms:W3CDTF">2025-02-15T05:49:11Z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