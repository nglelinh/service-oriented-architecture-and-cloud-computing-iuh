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65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278320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0272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7737" y="2185987"/>
            <a:ext cx="7253605" cy="157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ytecbits.com/wp-content/uploads/RDBMS.pn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027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99814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3999" y="0"/>
                </a:lnTo>
              </a:path>
            </a:pathLst>
          </a:custGeom>
          <a:ln w="19049">
            <a:solidFill>
              <a:srgbClr val="63D19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20121" y="1163216"/>
            <a:ext cx="33889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4800" spc="65" dirty="0">
                <a:solidFill>
                  <a:srgbClr val="FFFFFF"/>
                </a:solidFill>
              </a:rPr>
              <a:t>Spark</a:t>
            </a:r>
            <a:r>
              <a:rPr sz="4800" spc="-245" dirty="0">
                <a:solidFill>
                  <a:srgbClr val="FFFFFF"/>
                </a:solidFill>
              </a:rPr>
              <a:t> </a:t>
            </a:r>
            <a:r>
              <a:rPr sz="4800" spc="315" dirty="0">
                <a:solidFill>
                  <a:srgbClr val="FFFFFF"/>
                </a:solidFill>
              </a:rPr>
              <a:t>SQL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081100"/>
            <a:ext cx="2569210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Traditional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Optimizations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154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081100"/>
            <a:ext cx="2654935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-45" dirty="0">
                <a:solidFill>
                  <a:srgbClr val="616161"/>
                </a:solidFill>
                <a:latin typeface="Trebuchet MS"/>
                <a:cs typeface="Trebuchet MS"/>
              </a:rPr>
              <a:t>Traditional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20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Optimizations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154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Outline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210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RDBMS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373109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Clr>
                <a:srgbClr val="616161"/>
              </a:buClr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0" dirty="0">
                <a:solidFill>
                  <a:srgbClr val="202729"/>
                </a:solidFill>
                <a:latin typeface="Trebuchet MS"/>
                <a:cs typeface="Trebuchet MS"/>
              </a:rPr>
              <a:t>Relational</a:t>
            </a:r>
            <a:r>
              <a:rPr sz="1800" spc="-8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202729"/>
                </a:solidFill>
                <a:latin typeface="Trebuchet MS"/>
                <a:cs typeface="Trebuchet MS"/>
              </a:rPr>
              <a:t>Database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202729"/>
                </a:solidFill>
                <a:latin typeface="Trebuchet MS"/>
                <a:cs typeface="Trebuchet MS"/>
              </a:rPr>
              <a:t>Management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202729"/>
                </a:solidFill>
                <a:latin typeface="Trebuchet MS"/>
                <a:cs typeface="Trebuchet MS"/>
              </a:rPr>
              <a:t>Systems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Clr>
                <a:srgbClr val="616161"/>
              </a:buClr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25" dirty="0">
                <a:solidFill>
                  <a:srgbClr val="202729"/>
                </a:solidFill>
                <a:latin typeface="Trebuchet MS"/>
                <a:cs typeface="Trebuchet MS"/>
              </a:rPr>
              <a:t>Systems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02729"/>
                </a:solidFill>
                <a:latin typeface="Trebuchet MS"/>
                <a:cs typeface="Trebuchet MS"/>
              </a:rPr>
              <a:t>that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202729"/>
                </a:solidFill>
                <a:latin typeface="Trebuchet MS"/>
                <a:cs typeface="Trebuchet MS"/>
              </a:rPr>
              <a:t>deal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with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02729"/>
                </a:solidFill>
                <a:latin typeface="Trebuchet MS"/>
                <a:cs typeface="Trebuchet MS"/>
              </a:rPr>
              <a:t>relational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202729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(data </a:t>
            </a:r>
            <a:r>
              <a:rPr sz="1800" spc="-90" dirty="0">
                <a:solidFill>
                  <a:srgbClr val="202729"/>
                </a:solidFill>
                <a:latin typeface="Trebuchet MS"/>
                <a:cs typeface="Trebuchet MS"/>
              </a:rPr>
              <a:t>that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202729"/>
                </a:solidFill>
                <a:latin typeface="Trebuchet MS"/>
                <a:cs typeface="Trebuchet MS"/>
              </a:rPr>
              <a:t>points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02729"/>
                </a:solidFill>
                <a:latin typeface="Trebuchet MS"/>
                <a:cs typeface="Trebuchet MS"/>
              </a:rPr>
              <a:t>to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202729"/>
                </a:solidFill>
                <a:latin typeface="Trebuchet MS"/>
                <a:cs typeface="Trebuchet MS"/>
              </a:rPr>
              <a:t>other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data)</a:t>
            </a:r>
            <a:endParaRPr sz="18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20" dirty="0">
                <a:solidFill>
                  <a:srgbClr val="202729"/>
                </a:solidFill>
                <a:latin typeface="Trebuchet MS"/>
                <a:cs typeface="Trebuchet MS"/>
              </a:rPr>
              <a:t>A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02729"/>
                </a:solidFill>
                <a:latin typeface="Trebuchet MS"/>
                <a:cs typeface="Trebuchet MS"/>
              </a:rPr>
              <a:t>database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202729"/>
                </a:solidFill>
                <a:latin typeface="Trebuchet MS"/>
                <a:cs typeface="Trebuchet MS"/>
              </a:rPr>
              <a:t>management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02729"/>
                </a:solidFill>
                <a:latin typeface="Trebuchet MS"/>
                <a:cs typeface="Trebuchet MS"/>
              </a:rPr>
              <a:t>system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202729"/>
                </a:solidFill>
                <a:latin typeface="Trebuchet MS"/>
                <a:cs typeface="Trebuchet MS"/>
              </a:rPr>
              <a:t>manages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202729"/>
                </a:solidFill>
                <a:latin typeface="Trebuchet MS"/>
                <a:cs typeface="Trebuchet MS"/>
              </a:rPr>
              <a:t>how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02729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202729"/>
                </a:solidFill>
                <a:latin typeface="Trebuchet MS"/>
                <a:cs typeface="Trebuchet MS"/>
              </a:rPr>
              <a:t>data</a:t>
            </a:r>
            <a:r>
              <a:rPr sz="1800" spc="-7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02729"/>
                </a:solidFill>
                <a:latin typeface="Trebuchet MS"/>
                <a:cs typeface="Trebuchet MS"/>
              </a:rPr>
              <a:t>is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02729"/>
                </a:solidFill>
                <a:latin typeface="Trebuchet MS"/>
                <a:cs typeface="Trebuchet MS"/>
              </a:rPr>
              <a:t>stored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202729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02729"/>
                </a:solidFill>
                <a:latin typeface="Trebuchet MS"/>
                <a:cs typeface="Trebuchet MS"/>
              </a:rPr>
              <a:t>retrieved. </a:t>
            </a:r>
            <a:r>
              <a:rPr sz="1800" spc="-53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02729"/>
                </a:solidFill>
                <a:latin typeface="Trebuchet MS"/>
                <a:cs typeface="Trebuchet MS"/>
              </a:rPr>
              <a:t>Usually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02729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202729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02729"/>
                </a:solidFill>
                <a:latin typeface="Trebuchet MS"/>
                <a:cs typeface="Trebuchet MS"/>
              </a:rPr>
              <a:t>is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02729"/>
                </a:solidFill>
                <a:latin typeface="Trebuchet MS"/>
                <a:cs typeface="Trebuchet MS"/>
              </a:rPr>
              <a:t>modified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with </a:t>
            </a:r>
            <a:r>
              <a:rPr sz="1800" spc="114" dirty="0">
                <a:solidFill>
                  <a:srgbClr val="202729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3188030"/>
            <a:ext cx="4410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E.g:</a:t>
            </a:r>
            <a:r>
              <a:rPr sz="1800" spc="38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202729"/>
                </a:solidFill>
                <a:latin typeface="Trebuchet MS"/>
                <a:cs typeface="Trebuchet MS"/>
              </a:rPr>
              <a:t>MySQL,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202729"/>
                </a:solidFill>
                <a:latin typeface="Trebuchet MS"/>
                <a:cs typeface="Trebuchet MS"/>
              </a:rPr>
              <a:t>PostgreSQL,</a:t>
            </a:r>
            <a:r>
              <a:rPr sz="1800" spc="-80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202729"/>
                </a:solidFill>
                <a:latin typeface="Trebuchet MS"/>
                <a:cs typeface="Trebuchet MS"/>
              </a:rPr>
              <a:t>OracleDB,</a:t>
            </a:r>
            <a:r>
              <a:rPr sz="1800" spc="-75" dirty="0">
                <a:solidFill>
                  <a:srgbClr val="202729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02729"/>
                </a:solidFill>
                <a:latin typeface="Trebuchet MS"/>
                <a:cs typeface="Trebuchet MS"/>
              </a:rPr>
              <a:t>etc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63D19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862" y="447675"/>
            <a:ext cx="6019799" cy="4276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025" y="4841881"/>
            <a:ext cx="234696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" dirty="0">
                <a:latin typeface="Arial MT"/>
                <a:cs typeface="Arial MT"/>
                <a:hlinkClick r:id="rId3"/>
              </a:rPr>
              <a:t>http://www.mytecbits.com/wp-content/uploads/RDBMS.png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42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Other</a:t>
            </a:r>
            <a:r>
              <a:rPr spc="-180" dirty="0"/>
              <a:t> </a:t>
            </a:r>
            <a:r>
              <a:rPr spc="-15" dirty="0"/>
              <a:t>Features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261984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 algn="just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730" algn="l"/>
              </a:tabLst>
            </a:pPr>
            <a:r>
              <a:rPr sz="1800" spc="135" dirty="0">
                <a:solidFill>
                  <a:srgbClr val="616161"/>
                </a:solidFill>
                <a:latin typeface="Trebuchet MS"/>
                <a:cs typeface="Trebuchet MS"/>
              </a:rPr>
              <a:t>RDBMS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handles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backups,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logically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storing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data,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distributing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leader </a:t>
            </a:r>
            <a:r>
              <a:rPr sz="1800" spc="-53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followers,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permissions,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integrity,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handling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load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balancing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queries,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 </a:t>
            </a:r>
            <a:r>
              <a:rPr sz="1800" spc="-5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optimization.</a:t>
            </a:r>
            <a:endParaRPr sz="1800">
              <a:latin typeface="Trebuchet MS"/>
              <a:cs typeface="Trebuchet MS"/>
            </a:endParaRPr>
          </a:p>
          <a:p>
            <a:pPr marL="379095" indent="-367030" algn="just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730" algn="l"/>
              </a:tabLst>
            </a:pPr>
            <a:r>
              <a:rPr sz="1800" spc="130" dirty="0">
                <a:solidFill>
                  <a:srgbClr val="616161"/>
                </a:solidFill>
                <a:latin typeface="Trebuchet MS"/>
                <a:cs typeface="Trebuchet MS"/>
              </a:rPr>
              <a:t>RDBMSs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do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“under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hood”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(mostly)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4997" y="2706747"/>
            <a:ext cx="4907299" cy="2257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025" y="4849427"/>
            <a:ext cx="261747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https://docs.oracle.com/cd/B28359_01/network.111/b28316/img/netag089.gif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4639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RDBMS</a:t>
            </a:r>
            <a:r>
              <a:rPr spc="-125" dirty="0"/>
              <a:t> </a:t>
            </a:r>
            <a:r>
              <a:rPr spc="40" dirty="0"/>
              <a:t>Types</a:t>
            </a:r>
            <a:r>
              <a:rPr spc="-125" dirty="0"/>
              <a:t> </a:t>
            </a:r>
            <a:r>
              <a:rPr spc="-75" dirty="0"/>
              <a:t>of</a:t>
            </a:r>
            <a:r>
              <a:rPr spc="-125" dirty="0"/>
              <a:t> </a:t>
            </a:r>
            <a:r>
              <a:rPr spc="-1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701915" cy="2787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30" dirty="0">
                <a:solidFill>
                  <a:srgbClr val="616161"/>
                </a:solidFill>
                <a:latin typeface="Trebuchet MS"/>
                <a:cs typeface="Trebuchet MS"/>
              </a:rPr>
              <a:t>RDBMSs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like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simple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data: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INTEGERS,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STRINGS,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etc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They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don’t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like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handling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JSON,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616161"/>
                </a:solidFill>
                <a:latin typeface="Trebuchet MS"/>
                <a:cs typeface="Trebuchet MS"/>
              </a:rPr>
              <a:t>HASHMAP,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LISTS</a:t>
            </a:r>
            <a:endParaRPr sz="1800">
              <a:latin typeface="Trebuchet MS"/>
              <a:cs typeface="Trebuchet MS"/>
            </a:endParaRPr>
          </a:p>
          <a:p>
            <a:pPr marL="836294" marR="5080" lvl="1" indent="-367030">
              <a:lnSpc>
                <a:spcPct val="114599"/>
              </a:lnSpc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Complex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types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difficult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engine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optimize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against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14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think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advanced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type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functionality:</a:t>
            </a:r>
            <a:endParaRPr sz="1800">
              <a:latin typeface="Trebuchet MS"/>
              <a:cs typeface="Trebuchet MS"/>
            </a:endParaRPr>
          </a:p>
          <a:p>
            <a:pPr marL="836294" indent="-367030">
              <a:lnSpc>
                <a:spcPct val="100000"/>
              </a:lnSpc>
              <a:spcBef>
                <a:spcPts val="315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b="1" spc="-15" dirty="0">
                <a:solidFill>
                  <a:srgbClr val="616161"/>
                </a:solidFill>
                <a:latin typeface="Trebuchet MS"/>
                <a:cs typeface="Trebuchet MS"/>
              </a:rPr>
              <a:t>Seriously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60" dirty="0">
                <a:solidFill>
                  <a:srgbClr val="616161"/>
                </a:solidFill>
                <a:latin typeface="Trebuchet MS"/>
                <a:cs typeface="Trebuchet MS"/>
              </a:rPr>
              <a:t>rethink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616161"/>
                </a:solidFill>
                <a:latin typeface="Trebuchet MS"/>
                <a:cs typeface="Trebuchet MS"/>
              </a:rPr>
              <a:t>application</a:t>
            </a:r>
            <a:r>
              <a:rPr sz="1800" b="1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15" dirty="0">
                <a:solidFill>
                  <a:srgbClr val="616161"/>
                </a:solidFill>
                <a:latin typeface="Trebuchet MS"/>
                <a:cs typeface="Trebuchet MS"/>
              </a:rPr>
              <a:t>design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14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absolutely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sure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80" dirty="0">
                <a:solidFill>
                  <a:srgbClr val="616161"/>
                </a:solidFill>
                <a:latin typeface="Trebuchet MS"/>
                <a:cs typeface="Trebuchet MS"/>
              </a:rPr>
              <a:t>it: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should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probably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another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application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server.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081100"/>
            <a:ext cx="2569210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Traditional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65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Optimizations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154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Outline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3503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Structured</a:t>
            </a:r>
            <a:r>
              <a:rPr spc="-150" dirty="0"/>
              <a:t> </a:t>
            </a:r>
            <a:r>
              <a:rPr spc="25" dirty="0"/>
              <a:t>Query</a:t>
            </a:r>
            <a:r>
              <a:rPr spc="-150" dirty="0"/>
              <a:t> </a:t>
            </a:r>
            <a:r>
              <a:rPr spc="6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13700"/>
            <a:ext cx="806894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Most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had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some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interaction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with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  <a:p>
            <a:pPr marL="379095" marR="3683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was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made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both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programmers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accountants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who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were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used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spreadsheets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imagine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taking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from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spreadsheets,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join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from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different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sheets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etc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4000" y="2671000"/>
            <a:ext cx="3722499" cy="20945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025" y="4855731"/>
            <a:ext cx="282702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" dirty="0">
                <a:latin typeface="Arial MT"/>
                <a:cs typeface="Arial MT"/>
              </a:rPr>
              <a:t>https://udemy-images.udemy.com/course/750x422/743174_8046_5.jpg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9165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Basic</a:t>
            </a:r>
            <a:r>
              <a:rPr spc="-125" dirty="0"/>
              <a:t> </a:t>
            </a:r>
            <a:r>
              <a:rPr spc="50" dirty="0"/>
              <a:t>Commands</a:t>
            </a:r>
            <a:r>
              <a:rPr spc="-125" dirty="0"/>
              <a:t> </a:t>
            </a:r>
            <a:r>
              <a:rPr spc="-190" dirty="0"/>
              <a:t>-</a:t>
            </a:r>
            <a:r>
              <a:rPr spc="-125" dirty="0"/>
              <a:t> </a:t>
            </a:r>
            <a:r>
              <a:rPr spc="-10" dirty="0"/>
              <a:t>Data</a:t>
            </a:r>
            <a:r>
              <a:rPr spc="-125" dirty="0"/>
              <a:t> </a:t>
            </a:r>
            <a:r>
              <a:rPr spc="-65" dirty="0"/>
              <a:t>Definition</a:t>
            </a:r>
            <a:r>
              <a:rPr spc="-125" dirty="0"/>
              <a:t> </a:t>
            </a:r>
            <a:r>
              <a:rPr spc="60" dirty="0"/>
              <a:t>Language</a:t>
            </a:r>
            <a:r>
              <a:rPr spc="-125" dirty="0"/>
              <a:t> </a:t>
            </a:r>
            <a:r>
              <a:rPr spc="-35" dirty="0"/>
              <a:t>(DDL)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699389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05" dirty="0">
                <a:solidFill>
                  <a:srgbClr val="616161"/>
                </a:solidFill>
                <a:latin typeface="Trebuchet MS"/>
                <a:cs typeface="Trebuchet MS"/>
              </a:rPr>
              <a:t>DDL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lets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create,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destroy,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/>
                <a:cs typeface="Trebuchet MS"/>
              </a:rPr>
              <a:t>alter,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modify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constraints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think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them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operations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set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up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where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95" dirty="0">
                <a:solidFill>
                  <a:srgbClr val="616161"/>
                </a:solidFill>
                <a:latin typeface="Trebuchet MS"/>
                <a:cs typeface="Trebuchet MS"/>
              </a:rPr>
              <a:t>go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621" y="2528011"/>
            <a:ext cx="7173595" cy="16827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355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CREATE</a:t>
            </a:r>
            <a:r>
              <a:rPr sz="1600" spc="-4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TABLE</a:t>
            </a:r>
            <a:r>
              <a:rPr sz="1600" spc="-4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616161"/>
                </a:solidFill>
                <a:latin typeface="Courier New"/>
                <a:cs typeface="Courier New"/>
              </a:rPr>
              <a:t>(</a:t>
            </a:r>
            <a:endParaRPr sz="1600">
              <a:latin typeface="Courier New"/>
              <a:cs typeface="Courier New"/>
            </a:endParaRPr>
          </a:p>
          <a:p>
            <a:pPr marL="82105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id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INTEGER,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name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VARCHAR(255),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location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VARCHAR(255)</a:t>
            </a:r>
            <a:endParaRPr sz="1600">
              <a:latin typeface="Courier New"/>
              <a:cs typeface="Courier New"/>
            </a:endParaRPr>
          </a:p>
          <a:p>
            <a:pPr marL="363855">
              <a:lnSpc>
                <a:spcPct val="100000"/>
              </a:lnSpc>
              <a:spcBef>
                <a:spcPts val="254"/>
              </a:spcBef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ALTER</a:t>
            </a:r>
            <a:r>
              <a:rPr sz="1600" spc="-2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TABLE</a:t>
            </a:r>
            <a:r>
              <a:rPr sz="1600" spc="-2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ADD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status</a:t>
            </a:r>
            <a:r>
              <a:rPr sz="1600" spc="-2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INTEGER;</a:t>
            </a:r>
            <a:endParaRPr sz="1600">
              <a:latin typeface="Courier New"/>
              <a:cs typeface="Courier New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ALTER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TABLE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ADD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blah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INTEGER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NOT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NULL;</a:t>
            </a:r>
            <a:endParaRPr sz="1600">
              <a:latin typeface="Courier New"/>
              <a:cs typeface="Courier New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DROP</a:t>
            </a:r>
            <a:r>
              <a:rPr sz="1600" spc="-7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TABLE;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4057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</a:t>
            </a:r>
            <a:r>
              <a:rPr spc="-125" dirty="0"/>
              <a:t> </a:t>
            </a:r>
            <a:r>
              <a:rPr spc="-45" dirty="0"/>
              <a:t>Modification</a:t>
            </a:r>
            <a:r>
              <a:rPr spc="-125" dirty="0"/>
              <a:t> </a:t>
            </a:r>
            <a:r>
              <a:rPr spc="60" dirty="0"/>
              <a:t>Language</a:t>
            </a:r>
            <a:r>
              <a:rPr spc="-125" dirty="0"/>
              <a:t> </a:t>
            </a:r>
            <a:r>
              <a:rPr spc="-190" dirty="0"/>
              <a:t>-</a:t>
            </a:r>
            <a:r>
              <a:rPr spc="-125" dirty="0"/>
              <a:t> </a:t>
            </a:r>
            <a:r>
              <a:rPr spc="175" dirty="0"/>
              <a:t>DML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37489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adds,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deletes,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selects,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updates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(basic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616161"/>
                </a:solidFill>
                <a:latin typeface="Trebuchet MS"/>
                <a:cs typeface="Trebuchet MS"/>
              </a:rPr>
              <a:t>CRUD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operations)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lets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put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into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database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tables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621" y="2528011"/>
            <a:ext cx="7447280" cy="11303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63855" indent="-351790">
              <a:lnSpc>
                <a:spcPct val="100000"/>
              </a:lnSpc>
              <a:spcBef>
                <a:spcPts val="355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INSERT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INTO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table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(col1,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col2,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..)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VALUES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(v1,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v2,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..),</a:t>
            </a:r>
            <a:r>
              <a:rPr sz="16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..</a:t>
            </a:r>
            <a:endParaRPr sz="1600">
              <a:latin typeface="Courier New"/>
              <a:cs typeface="Courier New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DELETE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FROM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table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where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col1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616161"/>
                </a:solidFill>
                <a:latin typeface="Courier New"/>
                <a:cs typeface="Courier New"/>
              </a:rPr>
              <a:t>=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616161"/>
                </a:solidFill>
                <a:latin typeface="Courier New"/>
                <a:cs typeface="Courier New"/>
              </a:rPr>
              <a:t>…</a:t>
            </a:r>
            <a:endParaRPr sz="1600">
              <a:latin typeface="Courier New"/>
              <a:cs typeface="Courier New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UPDATE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table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SET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col1=’asdf’</a:t>
            </a:r>
            <a:r>
              <a:rPr sz="1600" spc="-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WHERE</a:t>
            </a:r>
            <a:r>
              <a:rPr sz="16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col2=’asd’</a:t>
            </a:r>
            <a:endParaRPr sz="1600">
              <a:latin typeface="Courier New"/>
              <a:cs typeface="Courier New"/>
            </a:endParaRPr>
          </a:p>
          <a:p>
            <a:pPr marL="363855" indent="-351790">
              <a:lnSpc>
                <a:spcPct val="100000"/>
              </a:lnSpc>
              <a:spcBef>
                <a:spcPts val="254"/>
              </a:spcBef>
              <a:buFont typeface="Arial MT"/>
              <a:buChar char="●"/>
              <a:tabLst>
                <a:tab pos="363855" algn="l"/>
                <a:tab pos="364490" algn="l"/>
              </a:tabLst>
            </a:pP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SELECT</a:t>
            </a:r>
            <a:r>
              <a:rPr sz="1600" spc="-3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616161"/>
                </a:solidFill>
                <a:latin typeface="Courier New"/>
                <a:cs typeface="Courier New"/>
              </a:rPr>
              <a:t>*</a:t>
            </a:r>
            <a:r>
              <a:rPr sz="1600" spc="-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FROM</a:t>
            </a:r>
            <a:r>
              <a:rPr sz="1600" spc="-3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616161"/>
                </a:solidFill>
                <a:latin typeface="Courier New"/>
                <a:cs typeface="Courier New"/>
              </a:rPr>
              <a:t>table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1753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</a:t>
            </a:r>
            <a:r>
              <a:rPr spc="-135" dirty="0"/>
              <a:t> </a:t>
            </a:r>
            <a:r>
              <a:rPr spc="-45" dirty="0"/>
              <a:t>Modification</a:t>
            </a:r>
            <a:r>
              <a:rPr spc="-130" dirty="0"/>
              <a:t> </a:t>
            </a:r>
            <a:r>
              <a:rPr spc="60" dirty="0"/>
              <a:t>Language</a:t>
            </a:r>
            <a:r>
              <a:rPr spc="-130" dirty="0"/>
              <a:t> </a:t>
            </a:r>
            <a:r>
              <a:rPr spc="10" dirty="0"/>
              <a:t>Extensions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970520" cy="2473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modification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language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also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lets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do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powerful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things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when </a:t>
            </a:r>
            <a:r>
              <a:rPr sz="1800" spc="-5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retrieving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GROUP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BY</a:t>
            </a:r>
            <a:r>
              <a:rPr sz="1800" spc="-6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certain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column(s)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ORDE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R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B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Y</a:t>
            </a:r>
            <a:r>
              <a:rPr sz="1800" spc="-61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some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column(s)</a:t>
            </a:r>
            <a:endParaRPr sz="1800">
              <a:latin typeface="Trebuchet MS"/>
              <a:cs typeface="Trebuchet MS"/>
            </a:endParaRPr>
          </a:p>
          <a:p>
            <a:pPr marL="836294" lvl="1" indent="-336550">
              <a:lnSpc>
                <a:spcPct val="100000"/>
              </a:lnSpc>
              <a:spcBef>
                <a:spcPts val="315"/>
              </a:spcBef>
              <a:buSzPct val="77777"/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JOI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N</a:t>
            </a:r>
            <a:r>
              <a:rPr sz="1800" spc="-6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multiple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spreadsheets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based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column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har char="○"/>
            </a:pPr>
            <a:endParaRPr sz="195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calculate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functions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aggregations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fly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Usually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16161"/>
                </a:solidFill>
                <a:latin typeface="Trebuchet MS"/>
                <a:cs typeface="Trebuchet MS"/>
              </a:rPr>
              <a:t>RDBMSs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optimized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for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read-heavy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workloads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834" y="0"/>
            <a:ext cx="7397980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3025" y="4994756"/>
            <a:ext cx="2589530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5" dirty="0">
                <a:latin typeface="Arial MT"/>
                <a:cs typeface="Arial MT"/>
              </a:rPr>
              <a:t>https://dsin.files.wordpress.com/2013/03/sqljoins_cheatsheet.png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684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SQL</a:t>
            </a:r>
            <a:r>
              <a:rPr spc="-150" dirty="0"/>
              <a:t> </a:t>
            </a:r>
            <a:r>
              <a:rPr spc="-10" dirty="0"/>
              <a:t>Prepared</a:t>
            </a:r>
            <a:r>
              <a:rPr spc="-150" dirty="0"/>
              <a:t> </a:t>
            </a:r>
            <a:r>
              <a:rPr spc="-35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039100" cy="22256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Actual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interactions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with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database.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INSERT</a:t>
            </a:r>
            <a:r>
              <a:rPr sz="1800" spc="-2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INTO</a:t>
            </a:r>
            <a:r>
              <a:rPr sz="1800" spc="-2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table</a:t>
            </a:r>
            <a:r>
              <a:rPr sz="1800" spc="-2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VALUES</a:t>
            </a:r>
            <a:r>
              <a:rPr sz="1800" spc="-2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(`+userid+`);</a:t>
            </a:r>
            <a:endParaRPr sz="180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616161"/>
              </a:buClr>
              <a:buFont typeface="Arial MT"/>
              <a:buChar char="○"/>
            </a:pPr>
            <a:endParaRPr sz="245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What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userid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=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45" dirty="0">
                <a:solidFill>
                  <a:srgbClr val="616161"/>
                </a:solidFill>
                <a:latin typeface="Trebuchet MS"/>
                <a:cs typeface="Trebuchet MS"/>
              </a:rPr>
              <a:t>“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1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;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SELEC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T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*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FRO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M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tabl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e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WHER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E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col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1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NO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T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I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N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Courier New"/>
                <a:cs typeface="Courier New"/>
              </a:rPr>
              <a:t>(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“?</a:t>
            </a:r>
            <a:endParaRPr sz="1800">
              <a:latin typeface="Trebuchet MS"/>
              <a:cs typeface="Trebuchet MS"/>
            </a:endParaRPr>
          </a:p>
          <a:p>
            <a:pPr marL="836294" marR="474345" lvl="1" indent="-367030">
              <a:lnSpc>
                <a:spcPct val="114599"/>
              </a:lnSpc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INSERT INTO table VALUES (1); SELECT </a:t>
            </a:r>
            <a:r>
              <a:rPr sz="1800" dirty="0">
                <a:solidFill>
                  <a:srgbClr val="616161"/>
                </a:solidFill>
                <a:latin typeface="Courier New"/>
                <a:cs typeface="Courier New"/>
              </a:rPr>
              <a:t>*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FROM table </a:t>
            </a:r>
            <a:r>
              <a:rPr sz="1800" spc="-107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WHERE</a:t>
            </a:r>
            <a:r>
              <a:rPr sz="18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col1 NOT</a:t>
            </a:r>
            <a:r>
              <a:rPr sz="1800" spc="-10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IN ();</a:t>
            </a:r>
            <a:endParaRPr sz="1800">
              <a:latin typeface="Courier New"/>
              <a:cs typeface="Courier New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give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us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back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results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from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database!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684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SQL</a:t>
            </a:r>
            <a:r>
              <a:rPr spc="-150" dirty="0"/>
              <a:t> </a:t>
            </a:r>
            <a:r>
              <a:rPr spc="-10" dirty="0"/>
              <a:t>Prepared</a:t>
            </a:r>
            <a:r>
              <a:rPr spc="-150" dirty="0"/>
              <a:t> </a:t>
            </a:r>
            <a:r>
              <a:rPr spc="-35" dirty="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255634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avoid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this,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we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prepared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statements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16161"/>
                </a:solidFill>
                <a:latin typeface="Courier New"/>
                <a:cs typeface="Courier New"/>
              </a:rPr>
              <a:t>INSERT INTO table VALUES (?)</a:t>
            </a:r>
            <a:r>
              <a:rPr sz="1800" spc="5" dirty="0">
                <a:solidFill>
                  <a:srgbClr val="616161"/>
                </a:solidFill>
                <a:latin typeface="Courier New"/>
                <a:cs typeface="Courier New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and,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send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userid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separately</a:t>
            </a:r>
            <a:endParaRPr sz="18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avoids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injection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problem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but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doesn’t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let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server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optimize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database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queries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081100"/>
            <a:ext cx="2569210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Traditional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800" b="1" spc="-30" dirty="0">
                <a:solidFill>
                  <a:srgbClr val="616161"/>
                </a:solidFill>
                <a:latin typeface="Trebuchet MS"/>
                <a:cs typeface="Trebuchet MS"/>
              </a:rPr>
              <a:t>Optimizations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154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Outline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1135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SQL</a:t>
            </a:r>
            <a:r>
              <a:rPr spc="-155" dirty="0"/>
              <a:t> </a:t>
            </a:r>
            <a:r>
              <a:rPr spc="-25" dirty="0"/>
              <a:t>Turing</a:t>
            </a:r>
            <a:r>
              <a:rPr spc="-150" dirty="0"/>
              <a:t> </a:t>
            </a:r>
            <a:r>
              <a:rPr spc="25" dirty="0"/>
              <a:t>Completeness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60857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Every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statement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/>
                <a:cs typeface="Trebuchet MS"/>
              </a:rPr>
              <a:t>(in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616161"/>
                </a:solidFill>
                <a:latin typeface="Trebuchet MS"/>
                <a:cs typeface="Trebuchet MS"/>
              </a:rPr>
              <a:t>ANSI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SQL)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terminate</a:t>
            </a:r>
            <a:endParaRPr sz="18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Non-Turing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Completeness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let’s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us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optimize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many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portions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queries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6216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User</a:t>
            </a:r>
            <a:r>
              <a:rPr spc="-125" dirty="0"/>
              <a:t> </a:t>
            </a:r>
            <a:r>
              <a:rPr spc="-65" dirty="0"/>
              <a:t>tips</a:t>
            </a:r>
            <a:r>
              <a:rPr spc="-120" dirty="0"/>
              <a:t> </a:t>
            </a:r>
            <a:r>
              <a:rPr spc="-105" dirty="0"/>
              <a:t>for</a:t>
            </a:r>
            <a:r>
              <a:rPr spc="-120" dirty="0"/>
              <a:t> </a:t>
            </a:r>
            <a:r>
              <a:rPr spc="-55" dirty="0"/>
              <a:t>optimizing</a:t>
            </a:r>
            <a:r>
              <a:rPr spc="-120" dirty="0"/>
              <a:t> </a:t>
            </a:r>
            <a:r>
              <a:rPr spc="180" dirty="0"/>
              <a:t>SQL</a:t>
            </a:r>
            <a:r>
              <a:rPr spc="-120" dirty="0"/>
              <a:t> </a:t>
            </a:r>
            <a:r>
              <a:rPr spc="-5" dirty="0"/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801609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Don’t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`SELECT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95" dirty="0">
                <a:solidFill>
                  <a:srgbClr val="616161"/>
                </a:solidFill>
                <a:latin typeface="Trebuchet MS"/>
                <a:cs typeface="Trebuchet MS"/>
              </a:rPr>
              <a:t>*`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statements,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usually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selecting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rows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than </a:t>
            </a:r>
            <a:r>
              <a:rPr sz="1800" spc="-5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2519375"/>
            <a:ext cx="8179434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14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have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multiple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levels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joins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then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want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consider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staging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your </a:t>
            </a:r>
            <a:r>
              <a:rPr sz="1800" spc="-5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into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an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intermediate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table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order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reduce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communication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overhead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249" y="3862401"/>
            <a:ext cx="755332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60" dirty="0">
                <a:solidFill>
                  <a:srgbClr val="616161"/>
                </a:solidFill>
                <a:latin typeface="Trebuchet MS"/>
                <a:cs typeface="Trebuchet MS"/>
              </a:rPr>
              <a:t>Add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indices!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Indices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slow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updates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but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drastically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speed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up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complex </a:t>
            </a:r>
            <a:r>
              <a:rPr sz="1800" spc="-5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queries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indices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appropriate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columns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360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SQL</a:t>
            </a:r>
            <a:r>
              <a:rPr spc="-125" dirty="0"/>
              <a:t> </a:t>
            </a:r>
            <a:r>
              <a:rPr spc="-90" dirty="0"/>
              <a:t>Optimizer:</a:t>
            </a:r>
            <a:r>
              <a:rPr spc="-125" dirty="0"/>
              <a:t> </a:t>
            </a:r>
            <a:r>
              <a:rPr spc="-50" dirty="0"/>
              <a:t>Prediction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258809" cy="22256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Consider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query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like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`select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col1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from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table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where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616161"/>
                </a:solidFill>
                <a:latin typeface="Trebuchet MS"/>
                <a:cs typeface="Trebuchet MS"/>
              </a:rPr>
              <a:t>col1=1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col2=2;`</a:t>
            </a:r>
            <a:endParaRPr sz="1800">
              <a:latin typeface="Trebuchet MS"/>
              <a:cs typeface="Trebuchet MS"/>
            </a:endParaRPr>
          </a:p>
          <a:p>
            <a:pPr marL="379095" marR="461009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Your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server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has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choice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filtering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col2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then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col1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col1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then </a:t>
            </a:r>
            <a:r>
              <a:rPr sz="1800" spc="-5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col2.</a:t>
            </a:r>
            <a:endParaRPr sz="18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14" dirty="0">
                <a:solidFill>
                  <a:srgbClr val="616161"/>
                </a:solidFill>
                <a:latin typeface="Trebuchet MS"/>
                <a:cs typeface="Trebuchet MS"/>
              </a:rPr>
              <a:t>If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server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knows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that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there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lot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NULL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values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col2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which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would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 reduce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number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rows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consideration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Trebuchet MS"/>
                <a:cs typeface="Trebuchet MS"/>
              </a:rPr>
              <a:t>lot,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Trebuchet MS"/>
                <a:cs typeface="Trebuchet MS"/>
              </a:rPr>
              <a:t>filter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based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col2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first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then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Trebuchet MS"/>
                <a:cs typeface="Trebuchet MS"/>
              </a:rPr>
              <a:t>filter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col1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because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complexity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will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NUM_ROWS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*  </a:t>
            </a:r>
            <a:r>
              <a:rPr sz="1800" spc="95" dirty="0">
                <a:solidFill>
                  <a:srgbClr val="616161"/>
                </a:solidFill>
                <a:latin typeface="Trebuchet MS"/>
                <a:cs typeface="Trebuchet MS"/>
              </a:rPr>
              <a:t>SMALL_NUMBER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817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SQL</a:t>
            </a:r>
            <a:r>
              <a:rPr spc="-125" dirty="0"/>
              <a:t> </a:t>
            </a:r>
            <a:r>
              <a:rPr spc="-90" dirty="0"/>
              <a:t>Optimizer:</a:t>
            </a:r>
            <a:r>
              <a:rPr spc="-125" dirty="0"/>
              <a:t> </a:t>
            </a:r>
            <a:r>
              <a:rPr spc="-5" dirty="0"/>
              <a:t>Lazy</a:t>
            </a:r>
            <a:r>
              <a:rPr spc="-125" dirty="0"/>
              <a:t> </a:t>
            </a:r>
            <a:r>
              <a:rPr spc="20" dirty="0"/>
              <a:t>Joins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5513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2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join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combine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two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tables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column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46387" y="1679237"/>
          <a:ext cx="7239000" cy="1177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46387" y="3059662"/>
          <a:ext cx="7239000" cy="15695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099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Example</a:t>
            </a:r>
            <a:r>
              <a:rPr spc="-170" dirty="0"/>
              <a:t> </a:t>
            </a:r>
            <a:r>
              <a:rPr spc="-20" dirty="0"/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164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616161"/>
                </a:solidFill>
                <a:latin typeface="Trebuchet MS"/>
                <a:cs typeface="Trebuchet MS"/>
              </a:rPr>
              <a:t>SELECT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*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5" dirty="0">
                <a:solidFill>
                  <a:srgbClr val="616161"/>
                </a:solidFill>
                <a:latin typeface="Trebuchet MS"/>
                <a:cs typeface="Trebuchet MS"/>
              </a:rPr>
              <a:t>FROM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60" dirty="0">
                <a:solidFill>
                  <a:srgbClr val="616161"/>
                </a:solidFill>
                <a:latin typeface="Trebuchet MS"/>
                <a:cs typeface="Trebuchet MS"/>
              </a:rPr>
              <a:t>t1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JOIN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t2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616161"/>
                </a:solidFill>
                <a:latin typeface="Trebuchet MS"/>
                <a:cs typeface="Trebuchet MS"/>
              </a:rPr>
              <a:t>USING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0" dirty="0">
                <a:solidFill>
                  <a:srgbClr val="616161"/>
                </a:solidFill>
                <a:latin typeface="Trebuchet MS"/>
                <a:cs typeface="Trebuchet MS"/>
              </a:rPr>
              <a:t>(c1,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616161"/>
                </a:solidFill>
                <a:latin typeface="Trebuchet MS"/>
                <a:cs typeface="Trebuchet MS"/>
              </a:rPr>
              <a:t>c4);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47737" y="2185987"/>
          <a:ext cx="7239000" cy="15695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399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4763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Lazy</a:t>
            </a:r>
            <a:r>
              <a:rPr spc="-180" dirty="0"/>
              <a:t> </a:t>
            </a:r>
            <a:r>
              <a:rPr spc="-20" dirty="0"/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275955" cy="210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29209" indent="-367030">
              <a:lnSpc>
                <a:spcPct val="114599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616161"/>
                </a:solidFill>
                <a:latin typeface="Trebuchet MS"/>
                <a:cs typeface="Trebuchet MS"/>
              </a:rPr>
              <a:t>filter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before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joining,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may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group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before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joining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know </a:t>
            </a:r>
            <a:r>
              <a:rPr sz="1800" spc="-53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one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columns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one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table</a:t>
            </a:r>
            <a:endParaRPr sz="18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very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ad-hoc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prediction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because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usually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doesn’t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keep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616161"/>
                </a:solidFill>
                <a:latin typeface="Trebuchet MS"/>
                <a:cs typeface="Trebuchet MS"/>
              </a:rPr>
              <a:t>track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super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depth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statistics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server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runs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longer,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then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gets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better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at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prediction</a:t>
            </a:r>
            <a:endParaRPr sz="1800">
              <a:latin typeface="Trebuchet MS"/>
              <a:cs typeface="Trebuchet MS"/>
            </a:endParaRPr>
          </a:p>
          <a:p>
            <a:pPr marL="836294" marR="778510" lvl="1" indent="-336550">
              <a:lnSpc>
                <a:spcPct val="116100"/>
              </a:lnSpc>
              <a:spcBef>
                <a:spcPts val="6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400" spc="5" dirty="0">
                <a:solidFill>
                  <a:srgbClr val="616161"/>
                </a:solidFill>
                <a:latin typeface="Trebuchet MS"/>
                <a:cs typeface="Trebuchet MS"/>
              </a:rPr>
              <a:t>The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616161"/>
                </a:solidFill>
                <a:latin typeface="Trebuchet MS"/>
                <a:cs typeface="Trebuchet MS"/>
              </a:rPr>
              <a:t>main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616161"/>
                </a:solidFill>
                <a:latin typeface="Trebuchet MS"/>
                <a:cs typeface="Trebuchet MS"/>
              </a:rPr>
              <a:t>reason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rgbClr val="616161"/>
                </a:solidFill>
                <a:latin typeface="Trebuchet MS"/>
                <a:cs typeface="Trebuchet MS"/>
              </a:rPr>
              <a:t>can’t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20" dirty="0">
                <a:solidFill>
                  <a:srgbClr val="616161"/>
                </a:solidFill>
                <a:latin typeface="Trebuchet MS"/>
                <a:cs typeface="Trebuchet MS"/>
              </a:rPr>
              <a:t>keep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616161"/>
                </a:solidFill>
                <a:latin typeface="Trebuchet MS"/>
                <a:cs typeface="Trebuchet MS"/>
              </a:rPr>
              <a:t>track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of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616161"/>
                </a:solidFill>
                <a:latin typeface="Trebuchet MS"/>
                <a:cs typeface="Trebuchet MS"/>
              </a:rPr>
              <a:t>this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616161"/>
                </a:solidFill>
                <a:latin typeface="Trebuchet MS"/>
                <a:cs typeface="Trebuchet MS"/>
              </a:rPr>
              <a:t>information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15" dirty="0">
                <a:solidFill>
                  <a:srgbClr val="616161"/>
                </a:solidFill>
                <a:latin typeface="Trebuchet MS"/>
                <a:cs typeface="Trebuchet MS"/>
              </a:rPr>
              <a:t>due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400" spc="-6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616161"/>
                </a:solidFill>
                <a:latin typeface="Trebuchet MS"/>
                <a:cs typeface="Trebuchet MS"/>
              </a:rPr>
              <a:t>concurrency </a:t>
            </a:r>
            <a:r>
              <a:rPr sz="1400" spc="-4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bottlenecks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65" dirty="0">
                <a:solidFill>
                  <a:srgbClr val="616161"/>
                </a:solidFill>
                <a:latin typeface="Trebuchet MS"/>
                <a:cs typeface="Trebuchet MS"/>
              </a:rPr>
              <a:t>so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14" dirty="0">
                <a:solidFill>
                  <a:srgbClr val="616161"/>
                </a:solidFill>
                <a:latin typeface="Trebuchet MS"/>
                <a:cs typeface="Trebuchet MS"/>
              </a:rPr>
              <a:t>it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15" dirty="0">
                <a:solidFill>
                  <a:srgbClr val="616161"/>
                </a:solidFill>
                <a:latin typeface="Trebuchet MS"/>
                <a:cs typeface="Trebuchet MS"/>
              </a:rPr>
              <a:t>makes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616161"/>
                </a:solidFill>
                <a:latin typeface="Trebuchet MS"/>
                <a:cs typeface="Trebuchet MS"/>
              </a:rPr>
              <a:t>static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10" dirty="0">
                <a:solidFill>
                  <a:srgbClr val="616161"/>
                </a:solidFill>
                <a:latin typeface="Trebuchet MS"/>
                <a:cs typeface="Trebuchet MS"/>
              </a:rPr>
              <a:t>analyses</a:t>
            </a:r>
            <a:r>
              <a:rPr sz="14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400" spc="-15" dirty="0">
                <a:solidFill>
                  <a:srgbClr val="616161"/>
                </a:solidFill>
                <a:latin typeface="Trebuchet MS"/>
                <a:cs typeface="Trebuchet MS"/>
              </a:rPr>
              <a:t>instead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081100"/>
            <a:ext cx="2569210" cy="16637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Traditional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Databases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Optimizations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b="1" spc="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b="1" spc="-12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65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154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Outline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678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Spark</a:t>
            </a:r>
            <a:r>
              <a:rPr spc="-200" dirty="0"/>
              <a:t> </a:t>
            </a:r>
            <a:r>
              <a:rPr spc="180" dirty="0"/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359650" cy="25400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Distributed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in-memory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computation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massive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scale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(Just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like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Spark!)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sources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supports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natively: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import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from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u="heavy" spc="114" dirty="0">
                <a:solidFill>
                  <a:srgbClr val="616161"/>
                </a:solidFill>
                <a:uFill>
                  <a:solidFill>
                    <a:srgbClr val="616161"/>
                  </a:solidFill>
                </a:uFill>
                <a:latin typeface="Trebuchet MS"/>
                <a:cs typeface="Trebuchet MS"/>
              </a:rPr>
              <a:t>RDDs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u="heavy" spc="65" dirty="0">
                <a:solidFill>
                  <a:srgbClr val="616161"/>
                </a:solidFill>
                <a:uFill>
                  <a:solidFill>
                    <a:srgbClr val="616161"/>
                  </a:solidFill>
                </a:uFill>
                <a:latin typeface="Trebuchet MS"/>
                <a:cs typeface="Trebuchet MS"/>
              </a:rPr>
              <a:t>JSON/CSV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files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loaded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with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inferred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schema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u="heavy" spc="-25" dirty="0">
                <a:solidFill>
                  <a:srgbClr val="616161"/>
                </a:solidFill>
                <a:uFill>
                  <a:solidFill>
                    <a:srgbClr val="616161"/>
                  </a:solidFill>
                </a:uFill>
                <a:latin typeface="Trebuchet MS"/>
                <a:cs typeface="Trebuchet MS"/>
              </a:rPr>
              <a:t>Parquet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files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Trebuchet MS"/>
                <a:cs typeface="Trebuchet MS"/>
              </a:rPr>
              <a:t>-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Column-based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storage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format</a:t>
            </a:r>
            <a:endParaRPr sz="1800">
              <a:latin typeface="Trebuchet MS"/>
              <a:cs typeface="Trebuchet MS"/>
            </a:endParaRPr>
          </a:p>
          <a:p>
            <a:pPr marL="1293495" lvl="2" indent="-367030">
              <a:lnSpc>
                <a:spcPct val="100000"/>
              </a:lnSpc>
              <a:spcBef>
                <a:spcPts val="315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Supported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many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Apache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systems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(big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surprise!)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Hive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Table</a:t>
            </a:r>
            <a:r>
              <a:rPr sz="18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import</a:t>
            </a:r>
            <a:endParaRPr sz="1800">
              <a:latin typeface="Trebuchet MS"/>
              <a:cs typeface="Trebuchet MS"/>
            </a:endParaRPr>
          </a:p>
          <a:p>
            <a:pPr marL="1293495" lvl="2" indent="-367030">
              <a:lnSpc>
                <a:spcPct val="100000"/>
              </a:lnSpc>
              <a:spcBef>
                <a:spcPts val="315"/>
              </a:spcBef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800" spc="12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popular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warehousing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platform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Apache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678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Spark</a:t>
            </a:r>
            <a:r>
              <a:rPr spc="-200" dirty="0"/>
              <a:t> </a:t>
            </a:r>
            <a:r>
              <a:rPr spc="180" dirty="0"/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7976234" cy="256857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using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“Database”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06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SQL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best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optimized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retrieving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29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Don’t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UPDATE,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INSERT,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DELETE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Optimization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handled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newer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optimization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engine,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616161"/>
                </a:solidFill>
                <a:latin typeface="Trebuchet MS"/>
                <a:cs typeface="Trebuchet MS"/>
              </a:rPr>
              <a:t>Catalyst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1290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Creates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physical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execution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plan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compiles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directly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616161"/>
                </a:solidFill>
                <a:latin typeface="Trebuchet MS"/>
                <a:cs typeface="Trebuchet MS"/>
              </a:rPr>
              <a:t>JVM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bytecode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Can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function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compatibility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layer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for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firms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that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use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616161"/>
                </a:solidFill>
                <a:latin typeface="Trebuchet MS"/>
                <a:cs typeface="Trebuchet MS"/>
              </a:rPr>
              <a:t>RDBMS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5" dirty="0">
                <a:solidFill>
                  <a:srgbClr val="616161"/>
                </a:solidFill>
                <a:latin typeface="Trebuchet MS"/>
                <a:cs typeface="Trebuchet MS"/>
              </a:rPr>
              <a:t>systems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898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Spark</a:t>
            </a:r>
            <a:r>
              <a:rPr spc="-185" dirty="0"/>
              <a:t> </a:t>
            </a:r>
            <a:r>
              <a:rPr dirty="0"/>
              <a:t>DataFrames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6466205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Dataset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organized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into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named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columns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Similar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structure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as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Dataframes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Python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616161"/>
                </a:solidFill>
                <a:latin typeface="Trebuchet MS"/>
                <a:cs typeface="Trebuchet MS"/>
              </a:rPr>
              <a:t>(i.e.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Pandas)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616161"/>
                </a:solidFill>
                <a:latin typeface="Trebuchet MS"/>
                <a:cs typeface="Trebuchet MS"/>
              </a:rPr>
              <a:t>R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Lazily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evaluated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like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normal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RDDs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Tends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616161"/>
                </a:solidFill>
                <a:latin typeface="Trebuchet MS"/>
                <a:cs typeface="Trebuchet MS"/>
              </a:rPr>
              <a:t>be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performant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than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raw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616161"/>
                </a:solidFill>
                <a:latin typeface="Trebuchet MS"/>
                <a:cs typeface="Trebuchet MS"/>
              </a:rPr>
              <a:t>RDD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operations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221" y="3009390"/>
            <a:ext cx="3593859" cy="14659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83625" y="4895702"/>
            <a:ext cx="356552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https://databricks.com/blog/2015/02/17/introducing-dataframes-in-spark-for-large-scale-data-science.html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825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Pandas</a:t>
            </a:r>
            <a:r>
              <a:rPr spc="-155" dirty="0"/>
              <a:t> </a:t>
            </a:r>
            <a:r>
              <a:rPr spc="-20" dirty="0"/>
              <a:t>DataFrame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5276850" cy="233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0" dirty="0">
                <a:solidFill>
                  <a:srgbClr val="616161"/>
                </a:solidFill>
                <a:latin typeface="Trebuchet MS"/>
                <a:cs typeface="Trebuchet MS"/>
              </a:rPr>
              <a:t>Does</a:t>
            </a:r>
            <a:r>
              <a:rPr sz="2000" spc="-11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616161"/>
                </a:solidFill>
                <a:latin typeface="Trebuchet MS"/>
                <a:cs typeface="Trebuchet MS"/>
              </a:rPr>
              <a:t>in-memory</a:t>
            </a:r>
            <a:r>
              <a:rPr sz="20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000" spc="-40" dirty="0">
                <a:solidFill>
                  <a:srgbClr val="616161"/>
                </a:solidFill>
                <a:latin typeface="Trebuchet MS"/>
                <a:cs typeface="Trebuchet MS"/>
              </a:rPr>
              <a:t>computing,</a:t>
            </a:r>
            <a:r>
              <a:rPr sz="20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616161"/>
                </a:solidFill>
                <a:latin typeface="Trebuchet MS"/>
                <a:cs typeface="Trebuchet MS"/>
              </a:rPr>
              <a:t>but:</a:t>
            </a:r>
            <a:endParaRPr sz="2000">
              <a:latin typeface="Trebuchet MS"/>
              <a:cs typeface="Trebuchet MS"/>
            </a:endParaRPr>
          </a:p>
          <a:p>
            <a:pPr marL="469900" indent="-304800">
              <a:lnSpc>
                <a:spcPct val="100000"/>
              </a:lnSpc>
              <a:buChar char="-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616161"/>
                </a:solidFill>
                <a:latin typeface="Trebuchet MS"/>
                <a:cs typeface="Trebuchet MS"/>
              </a:rPr>
              <a:t>Not</a:t>
            </a:r>
            <a:r>
              <a:rPr sz="20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000" spc="-15" dirty="0">
                <a:solidFill>
                  <a:srgbClr val="616161"/>
                </a:solidFill>
                <a:latin typeface="Trebuchet MS"/>
                <a:cs typeface="Trebuchet MS"/>
              </a:rPr>
              <a:t>scalable</a:t>
            </a:r>
            <a:r>
              <a:rPr sz="2000" spc="-10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000" spc="10" dirty="0">
                <a:solidFill>
                  <a:srgbClr val="616161"/>
                </a:solidFill>
                <a:latin typeface="Trebuchet MS"/>
                <a:cs typeface="Trebuchet MS"/>
              </a:rPr>
              <a:t>by</a:t>
            </a:r>
            <a:r>
              <a:rPr sz="2000" spc="-9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000" spc="-110" dirty="0">
                <a:solidFill>
                  <a:srgbClr val="616161"/>
                </a:solidFill>
                <a:latin typeface="Trebuchet MS"/>
                <a:cs typeface="Trebuchet MS"/>
              </a:rPr>
              <a:t>itself.</a:t>
            </a:r>
            <a:endParaRPr sz="2000">
              <a:latin typeface="Trebuchet MS"/>
              <a:cs typeface="Trebuchet MS"/>
            </a:endParaRPr>
          </a:p>
          <a:p>
            <a:pPr marL="469900" indent="-304800">
              <a:lnSpc>
                <a:spcPct val="100000"/>
              </a:lnSpc>
              <a:buChar char="-"/>
              <a:tabLst>
                <a:tab pos="469265" algn="l"/>
                <a:tab pos="469900" algn="l"/>
              </a:tabLst>
            </a:pPr>
            <a:r>
              <a:rPr sz="2000" dirty="0">
                <a:solidFill>
                  <a:srgbClr val="616161"/>
                </a:solidFill>
                <a:latin typeface="Trebuchet MS"/>
                <a:cs typeface="Trebuchet MS"/>
              </a:rPr>
              <a:t>Not</a:t>
            </a:r>
            <a:r>
              <a:rPr sz="20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000" spc="-105" dirty="0">
                <a:solidFill>
                  <a:srgbClr val="616161"/>
                </a:solidFill>
                <a:latin typeface="Trebuchet MS"/>
                <a:cs typeface="Trebuchet MS"/>
              </a:rPr>
              <a:t>fault</a:t>
            </a:r>
            <a:r>
              <a:rPr sz="2000" spc="-9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2000" spc="-95" dirty="0">
                <a:solidFill>
                  <a:srgbClr val="616161"/>
                </a:solidFill>
                <a:latin typeface="Trebuchet MS"/>
                <a:cs typeface="Trebuchet MS"/>
              </a:rPr>
              <a:t>tolerant.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tabLst>
                <a:tab pos="2382520" algn="l"/>
              </a:tabLst>
            </a:pPr>
            <a:r>
              <a:rPr sz="1800" spc="-5" dirty="0">
                <a:solidFill>
                  <a:srgbClr val="FF7800"/>
                </a:solidFill>
                <a:latin typeface="Courier New"/>
                <a:cs typeface="Courier New"/>
              </a:rPr>
              <a:t>import</a:t>
            </a:r>
            <a:r>
              <a:rPr sz="1800" spc="5" dirty="0">
                <a:solidFill>
                  <a:srgbClr val="FF780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pandas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FF7800"/>
                </a:solidFill>
                <a:latin typeface="Courier New"/>
                <a:cs typeface="Courier New"/>
              </a:rPr>
              <a:t>as	</a:t>
            </a:r>
            <a:r>
              <a:rPr sz="1800" spc="-5" dirty="0">
                <a:latin typeface="Courier New"/>
                <a:cs typeface="Courier New"/>
              </a:rPr>
              <a:t>pd</a:t>
            </a:r>
            <a:endParaRPr sz="1800">
              <a:latin typeface="Courier New"/>
              <a:cs typeface="Courier New"/>
            </a:endParaRPr>
          </a:p>
          <a:p>
            <a:pPr marL="50800" marR="5080">
              <a:lnSpc>
                <a:spcPct val="149300"/>
              </a:lnSpc>
            </a:pPr>
            <a:r>
              <a:rPr sz="1800" spc="-5" dirty="0">
                <a:latin typeface="Courier New"/>
                <a:cs typeface="Courier New"/>
              </a:rPr>
              <a:t>df </a:t>
            </a:r>
            <a:r>
              <a:rPr sz="1800" dirty="0">
                <a:solidFill>
                  <a:srgbClr val="FF7800"/>
                </a:solidFill>
                <a:latin typeface="Courier New"/>
                <a:cs typeface="Courier New"/>
              </a:rPr>
              <a:t>= </a:t>
            </a:r>
            <a:r>
              <a:rPr sz="1800" spc="-5" dirty="0">
                <a:latin typeface="Courier New"/>
                <a:cs typeface="Courier New"/>
              </a:rPr>
              <a:t>pd.read_csv(</a:t>
            </a:r>
            <a:r>
              <a:rPr sz="1800" spc="-5" dirty="0">
                <a:solidFill>
                  <a:srgbClr val="409B1B"/>
                </a:solidFill>
                <a:latin typeface="Courier New"/>
                <a:cs typeface="Courier New"/>
              </a:rPr>
              <a:t>"/path/to/data.json"</a:t>
            </a:r>
            <a:r>
              <a:rPr sz="1800" spc="-5" dirty="0">
                <a:latin typeface="Courier New"/>
                <a:cs typeface="Courier New"/>
              </a:rPr>
              <a:t>)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df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925" y="3668091"/>
            <a:ext cx="165988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" dirty="0">
                <a:latin typeface="Courier New"/>
                <a:cs typeface="Courier New"/>
              </a:rPr>
              <a:t>first_name</a:t>
            </a:r>
            <a:r>
              <a:rPr sz="1050" spc="185" dirty="0">
                <a:latin typeface="Courier New"/>
                <a:cs typeface="Courier New"/>
              </a:rPr>
              <a:t> </a:t>
            </a:r>
            <a:r>
              <a:rPr sz="1050" spc="-5" dirty="0">
                <a:latin typeface="Courier New"/>
                <a:cs typeface="Courier New"/>
              </a:rPr>
              <a:t>last_name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0725" y="3647136"/>
            <a:ext cx="1442720" cy="74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1050" spc="-5" dirty="0">
                <a:latin typeface="Courier New"/>
                <a:cs typeface="Courier New"/>
              </a:rPr>
              <a:t>ag</a:t>
            </a:r>
            <a:r>
              <a:rPr sz="1050" dirty="0">
                <a:latin typeface="Courier New"/>
                <a:cs typeface="Courier New"/>
              </a:rPr>
              <a:t>e	</a:t>
            </a:r>
            <a:r>
              <a:rPr sz="1050" spc="-5" dirty="0">
                <a:latin typeface="Courier New"/>
                <a:cs typeface="Courier New"/>
              </a:rPr>
              <a:t>preTestScore  </a:t>
            </a:r>
            <a:r>
              <a:rPr sz="1050" dirty="0">
                <a:latin typeface="Courier New"/>
                <a:cs typeface="Courier New"/>
              </a:rPr>
              <a:t>4	</a:t>
            </a:r>
            <a:r>
              <a:rPr sz="1050" spc="-5" dirty="0">
                <a:latin typeface="Courier New"/>
                <a:cs typeface="Courier New"/>
              </a:rPr>
              <a:t>25,000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469265" algn="l"/>
              </a:tabLst>
            </a:pPr>
            <a:r>
              <a:rPr sz="1050" spc="-5" dirty="0">
                <a:latin typeface="Courier New"/>
                <a:cs typeface="Courier New"/>
              </a:rPr>
              <a:t>24	94,000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5" dirty="0">
                <a:latin typeface="Courier New"/>
                <a:cs typeface="Courier New"/>
              </a:rPr>
              <a:t>57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9524" y="3668091"/>
            <a:ext cx="10655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" dirty="0">
                <a:latin typeface="Courier New"/>
                <a:cs typeface="Courier New"/>
              </a:rPr>
              <a:t>postTestScore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4725" y="3828111"/>
            <a:ext cx="106045" cy="5683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50" dirty="0">
                <a:latin typeface="Courier New"/>
                <a:cs typeface="Courier New"/>
              </a:rPr>
              <a:t>0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latin typeface="Courier New"/>
                <a:cs typeface="Courier New"/>
              </a:rPr>
              <a:t>1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latin typeface="Courier New"/>
                <a:cs typeface="Courier New"/>
              </a:rPr>
              <a:t>2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925" y="3828111"/>
            <a:ext cx="1122680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sz="1050" spc="-5" dirty="0">
                <a:latin typeface="Courier New"/>
                <a:cs typeface="Courier New"/>
              </a:rPr>
              <a:t>Jaso</a:t>
            </a:r>
            <a:r>
              <a:rPr sz="1050" dirty="0">
                <a:latin typeface="Courier New"/>
                <a:cs typeface="Courier New"/>
              </a:rPr>
              <a:t>n</a:t>
            </a:r>
            <a:r>
              <a:rPr sz="1050" spc="-185" dirty="0">
                <a:latin typeface="Courier New"/>
                <a:cs typeface="Courier New"/>
              </a:rPr>
              <a:t> </a:t>
            </a:r>
            <a:r>
              <a:rPr sz="1050" spc="-5" dirty="0">
                <a:latin typeface="Courier New"/>
                <a:cs typeface="Courier New"/>
              </a:rPr>
              <a:t>Miller  Moll</a:t>
            </a:r>
            <a:r>
              <a:rPr sz="1050" dirty="0">
                <a:latin typeface="Courier New"/>
                <a:cs typeface="Courier New"/>
              </a:rPr>
              <a:t>y</a:t>
            </a:r>
            <a:r>
              <a:rPr sz="1050" spc="-185" dirty="0">
                <a:latin typeface="Courier New"/>
                <a:cs typeface="Courier New"/>
              </a:rPr>
              <a:t> </a:t>
            </a:r>
            <a:r>
              <a:rPr sz="1050" spc="-5" dirty="0">
                <a:latin typeface="Courier New"/>
                <a:cs typeface="Courier New"/>
              </a:rPr>
              <a:t>Jacobson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925" y="4211016"/>
            <a:ext cx="10998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926465" algn="l"/>
              </a:tabLst>
            </a:pPr>
            <a:r>
              <a:rPr sz="1050" spc="-5" dirty="0">
                <a:latin typeface="Courier New"/>
                <a:cs typeface="Courier New"/>
              </a:rPr>
              <a:t>Tin</a:t>
            </a:r>
            <a:r>
              <a:rPr sz="1050" dirty="0">
                <a:latin typeface="Courier New"/>
                <a:cs typeface="Courier New"/>
              </a:rPr>
              <a:t>a	.	</a:t>
            </a:r>
            <a:r>
              <a:rPr sz="1050" spc="-5" dirty="0">
                <a:latin typeface="Courier New"/>
                <a:cs typeface="Courier New"/>
              </a:rPr>
              <a:t>36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3525" y="3828111"/>
            <a:ext cx="185420" cy="5683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50" spc="-5" dirty="0">
                <a:latin typeface="Courier New"/>
                <a:cs typeface="Courier New"/>
              </a:rPr>
              <a:t>42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5" dirty="0">
                <a:latin typeface="Courier New"/>
                <a:cs typeface="Courier New"/>
              </a:rPr>
              <a:t>52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5" dirty="0">
                <a:latin typeface="Courier New"/>
                <a:cs typeface="Courier New"/>
              </a:rPr>
              <a:t>31</a:t>
            </a:r>
            <a:endParaRPr sz="105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65675" y="4427024"/>
          <a:ext cx="2966720" cy="3320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6017">
                <a:tc>
                  <a:txBody>
                    <a:bodyPr/>
                    <a:lstStyle/>
                    <a:p>
                      <a:pPr marL="31750">
                        <a:lnSpc>
                          <a:spcPts val="1085"/>
                        </a:lnSpc>
                      </a:pPr>
                      <a:r>
                        <a:rPr sz="1050" dirty="0">
                          <a:latin typeface="Courier New"/>
                          <a:cs typeface="Courier New"/>
                        </a:rPr>
                        <a:t>3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1085"/>
                        </a:lnSpc>
                      </a:pPr>
                      <a:r>
                        <a:rPr sz="1050" spc="-5" dirty="0">
                          <a:latin typeface="Courier New"/>
                          <a:cs typeface="Courier New"/>
                        </a:rPr>
                        <a:t>Jake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85"/>
                        </a:lnSpc>
                      </a:pPr>
                      <a:r>
                        <a:rPr sz="1050" spc="-5" dirty="0">
                          <a:latin typeface="Courier New"/>
                          <a:cs typeface="Courier New"/>
                        </a:rPr>
                        <a:t>Milner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5"/>
                        </a:lnSpc>
                      </a:pPr>
                      <a:r>
                        <a:rPr sz="1050" spc="-5" dirty="0">
                          <a:latin typeface="Courier New"/>
                          <a:cs typeface="Courier New"/>
                        </a:rPr>
                        <a:t>24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1085"/>
                        </a:lnSpc>
                      </a:pPr>
                      <a:r>
                        <a:rPr sz="1050" dirty="0">
                          <a:latin typeface="Courier New"/>
                          <a:cs typeface="Courier New"/>
                        </a:rPr>
                        <a:t>.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1085"/>
                        </a:lnSpc>
                      </a:pPr>
                      <a:r>
                        <a:rPr sz="1050" spc="-5" dirty="0">
                          <a:latin typeface="Courier New"/>
                          <a:cs typeface="Courier New"/>
                        </a:rPr>
                        <a:t>62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017">
                <a:tc>
                  <a:txBody>
                    <a:bodyPr/>
                    <a:lstStyle/>
                    <a:p>
                      <a:pPr marL="31750">
                        <a:lnSpc>
                          <a:spcPts val="1200"/>
                        </a:lnSpc>
                      </a:pPr>
                      <a:r>
                        <a:rPr sz="1050" dirty="0">
                          <a:latin typeface="Courier New"/>
                          <a:cs typeface="Courier New"/>
                        </a:rPr>
                        <a:t>4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ts val="1200"/>
                        </a:lnSpc>
                      </a:pPr>
                      <a:r>
                        <a:rPr sz="1050" spc="-5" dirty="0">
                          <a:latin typeface="Courier New"/>
                          <a:cs typeface="Courier New"/>
                        </a:rPr>
                        <a:t>Amy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00"/>
                        </a:lnSpc>
                      </a:pPr>
                      <a:r>
                        <a:rPr sz="1050" spc="-5" dirty="0">
                          <a:latin typeface="Courier New"/>
                          <a:cs typeface="Courier New"/>
                        </a:rPr>
                        <a:t>Cooz</a:t>
                      </a:r>
                      <a:r>
                        <a:rPr sz="105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050" spc="-1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" dirty="0">
                          <a:latin typeface="Courier New"/>
                          <a:cs typeface="Courier New"/>
                        </a:rPr>
                        <a:t>73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1200"/>
                        </a:lnSpc>
                      </a:pPr>
                      <a:r>
                        <a:rPr sz="1050" dirty="0">
                          <a:latin typeface="Courier New"/>
                          <a:cs typeface="Courier New"/>
                        </a:rPr>
                        <a:t>.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sz="1050" spc="-5" dirty="0">
                          <a:latin typeface="Courier New"/>
                          <a:cs typeface="Courier New"/>
                        </a:rPr>
                        <a:t>70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3666" y="346964"/>
            <a:ext cx="4013384" cy="82524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898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Spark</a:t>
            </a:r>
            <a:r>
              <a:rPr spc="-185" dirty="0"/>
              <a:t> </a:t>
            </a:r>
            <a:r>
              <a:rPr dirty="0"/>
              <a:t>DataFrames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835900" cy="3168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prefer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u="heavy" spc="114" dirty="0">
                <a:solidFill>
                  <a:srgbClr val="616161"/>
                </a:solidFill>
                <a:uFill>
                  <a:solidFill>
                    <a:srgbClr val="616161"/>
                  </a:solidFill>
                </a:uFill>
                <a:latin typeface="Trebuchet MS"/>
                <a:cs typeface="Trebuchet MS"/>
              </a:rPr>
              <a:t>RDDs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over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DataFrames: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55" dirty="0">
                <a:solidFill>
                  <a:srgbClr val="616161"/>
                </a:solidFill>
                <a:latin typeface="Trebuchet MS"/>
                <a:cs typeface="Trebuchet MS"/>
              </a:rPr>
              <a:t>Need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616161"/>
                </a:solidFill>
                <a:latin typeface="Trebuchet MS"/>
                <a:cs typeface="Trebuchet MS"/>
              </a:rPr>
              <a:t>low-level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access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mostly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unstructured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or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schemaless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616161"/>
              </a:buClr>
              <a:buFont typeface="Arial MT"/>
              <a:buChar char="○"/>
            </a:pPr>
            <a:endParaRPr sz="24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When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to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prefer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u="heavy" dirty="0">
                <a:solidFill>
                  <a:srgbClr val="616161"/>
                </a:solidFill>
                <a:uFill>
                  <a:solidFill>
                    <a:srgbClr val="616161"/>
                  </a:solidFill>
                </a:uFill>
                <a:latin typeface="Trebuchet MS"/>
                <a:cs typeface="Trebuchet MS"/>
              </a:rPr>
              <a:t>DataFrames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616161"/>
                </a:solidFill>
                <a:latin typeface="Trebuchet MS"/>
                <a:cs typeface="Trebuchet MS"/>
              </a:rPr>
              <a:t>over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40" dirty="0">
                <a:solidFill>
                  <a:srgbClr val="616161"/>
                </a:solidFill>
                <a:latin typeface="Trebuchet MS"/>
                <a:cs typeface="Trebuchet MS"/>
              </a:rPr>
              <a:t>RDDs: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Operations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structured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616161"/>
                </a:solidFill>
                <a:latin typeface="Trebuchet MS"/>
                <a:cs typeface="Trebuchet MS"/>
              </a:rPr>
              <a:t>data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14" dirty="0">
                <a:solidFill>
                  <a:srgbClr val="616161"/>
                </a:solidFill>
                <a:latin typeface="Trebuchet MS"/>
                <a:cs typeface="Trebuchet MS"/>
              </a:rPr>
              <a:t>If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higher-level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abstractions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useful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616161"/>
                </a:solidFill>
                <a:latin typeface="Trebuchet MS"/>
                <a:cs typeface="Trebuchet MS"/>
              </a:rPr>
              <a:t>(i.e.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joins,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aggregation,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616161"/>
                </a:solidFill>
                <a:latin typeface="Trebuchet MS"/>
                <a:cs typeface="Trebuchet MS"/>
              </a:rPr>
              <a:t>etc.)</a:t>
            </a:r>
            <a:endParaRPr sz="1800">
              <a:latin typeface="Trebuchet MS"/>
              <a:cs typeface="Trebuchet MS"/>
            </a:endParaRPr>
          </a:p>
          <a:p>
            <a:pPr marL="836294" lvl="1" indent="-367030">
              <a:lnSpc>
                <a:spcPct val="100000"/>
              </a:lnSpc>
              <a:spcBef>
                <a:spcPts val="315"/>
              </a:spcBef>
              <a:buFont typeface="Arial MT"/>
              <a:buChar char="○"/>
              <a:tabLst>
                <a:tab pos="836294" algn="l"/>
                <a:tab pos="836930" algn="l"/>
              </a:tabLst>
            </a:pP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High-performance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is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616161"/>
                </a:solidFill>
                <a:latin typeface="Trebuchet MS"/>
                <a:cs typeface="Trebuchet MS"/>
              </a:rPr>
              <a:t>desired,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and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workload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616161"/>
                </a:solidFill>
                <a:latin typeface="Trebuchet MS"/>
                <a:cs typeface="Trebuchet MS"/>
              </a:rPr>
              <a:t>fits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within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616161"/>
                </a:solidFill>
                <a:latin typeface="Trebuchet MS"/>
                <a:cs typeface="Trebuchet MS"/>
              </a:rPr>
              <a:t>DataFrame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616161"/>
                </a:solidFill>
                <a:latin typeface="Trebuchet MS"/>
                <a:cs typeface="Trebuchet MS"/>
              </a:rPr>
              <a:t>APIs</a:t>
            </a:r>
            <a:endParaRPr sz="1800">
              <a:latin typeface="Trebuchet MS"/>
              <a:cs typeface="Trebuchet MS"/>
            </a:endParaRPr>
          </a:p>
          <a:p>
            <a:pPr marL="1293495" marR="412750" lvl="2" indent="-367030">
              <a:lnSpc>
                <a:spcPct val="114599"/>
              </a:lnSpc>
              <a:buFont typeface="Arial MT"/>
              <a:buChar char="■"/>
              <a:tabLst>
                <a:tab pos="1293495" algn="l"/>
                <a:tab pos="1294130" algn="l"/>
              </a:tabLst>
            </a:pP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Catalyst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optimization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makes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DataFrames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solidFill>
                  <a:srgbClr val="616161"/>
                </a:solidFill>
                <a:latin typeface="Trebuchet MS"/>
                <a:cs typeface="Trebuchet MS"/>
              </a:rPr>
              <a:t>more</a:t>
            </a:r>
            <a:r>
              <a:rPr sz="1800" spc="-7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performant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average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4237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Spark</a:t>
            </a:r>
            <a:r>
              <a:rPr spc="-185" dirty="0"/>
              <a:t> </a:t>
            </a:r>
            <a:r>
              <a:rPr spc="20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074659" cy="128270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14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Strongly-typed</a:t>
            </a:r>
            <a:r>
              <a:rPr sz="1800" spc="-10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DataFrames</a:t>
            </a:r>
            <a:endParaRPr sz="1800">
              <a:latin typeface="Trebuchet MS"/>
              <a:cs typeface="Trebuchet MS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Only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5" dirty="0">
                <a:solidFill>
                  <a:srgbClr val="616161"/>
                </a:solidFill>
                <a:latin typeface="Trebuchet MS"/>
                <a:cs typeface="Trebuchet MS"/>
              </a:rPr>
              <a:t>accessible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in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Spark2+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5" dirty="0">
                <a:solidFill>
                  <a:srgbClr val="616161"/>
                </a:solidFill>
                <a:latin typeface="Trebuchet MS"/>
                <a:cs typeface="Trebuchet MS"/>
              </a:rPr>
              <a:t>using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10" dirty="0">
                <a:solidFill>
                  <a:srgbClr val="616161"/>
                </a:solidFill>
                <a:latin typeface="Trebuchet MS"/>
                <a:cs typeface="Trebuchet MS"/>
              </a:rPr>
              <a:t>Scala</a:t>
            </a:r>
            <a:endParaRPr sz="1800">
              <a:latin typeface="Trebuchet MS"/>
              <a:cs typeface="Trebuchet MS"/>
            </a:endParaRPr>
          </a:p>
          <a:p>
            <a:pPr marL="379095" marR="5080" indent="-367030">
              <a:lnSpc>
                <a:spcPct val="114599"/>
              </a:lnSpc>
              <a:buFont typeface="Arial MT"/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Operations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616161"/>
                </a:solidFill>
                <a:latin typeface="Trebuchet MS"/>
                <a:cs typeface="Trebuchet MS"/>
              </a:rPr>
              <a:t>on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616161"/>
                </a:solidFill>
                <a:latin typeface="Trebuchet MS"/>
                <a:cs typeface="Trebuchet MS"/>
              </a:rPr>
              <a:t>DataFrames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616161"/>
                </a:solidFill>
                <a:latin typeface="Trebuchet MS"/>
                <a:cs typeface="Trebuchet MS"/>
              </a:rPr>
              <a:t>are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616161"/>
                </a:solidFill>
                <a:latin typeface="Trebuchet MS"/>
                <a:cs typeface="Trebuchet MS"/>
              </a:rPr>
              <a:t>all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616161"/>
                </a:solidFill>
                <a:latin typeface="Trebuchet MS"/>
                <a:cs typeface="Trebuchet MS"/>
              </a:rPr>
              <a:t>statically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616161"/>
                </a:solidFill>
                <a:latin typeface="Trebuchet MS"/>
                <a:cs typeface="Trebuchet MS"/>
              </a:rPr>
              <a:t>typed,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85" dirty="0">
                <a:solidFill>
                  <a:srgbClr val="616161"/>
                </a:solidFill>
                <a:latin typeface="Trebuchet MS"/>
                <a:cs typeface="Trebuchet MS"/>
              </a:rPr>
              <a:t>so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20" dirty="0">
                <a:solidFill>
                  <a:srgbClr val="616161"/>
                </a:solidFill>
                <a:latin typeface="Trebuchet MS"/>
                <a:cs typeface="Trebuchet MS"/>
              </a:rPr>
              <a:t>you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catch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616161"/>
                </a:solidFill>
                <a:latin typeface="Trebuchet MS"/>
                <a:cs typeface="Trebuchet MS"/>
              </a:rPr>
              <a:t>type</a:t>
            </a:r>
            <a:r>
              <a:rPr sz="1800" spc="-7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616161"/>
                </a:solidFill>
                <a:latin typeface="Trebuchet MS"/>
                <a:cs typeface="Trebuchet MS"/>
              </a:rPr>
              <a:t>errors</a:t>
            </a:r>
            <a:r>
              <a:rPr sz="1800" spc="-80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616161"/>
                </a:solidFill>
                <a:latin typeface="Trebuchet MS"/>
                <a:cs typeface="Trebuchet MS"/>
              </a:rPr>
              <a:t>at </a:t>
            </a:r>
            <a:r>
              <a:rPr sz="1800" spc="-525" dirty="0">
                <a:solidFill>
                  <a:srgbClr val="616161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616161"/>
                </a:solidFill>
                <a:latin typeface="Trebuchet MS"/>
                <a:cs typeface="Trebuchet MS"/>
              </a:rPr>
              <a:t>compile-time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482" y="2535664"/>
            <a:ext cx="5504051" cy="22335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12525" y="4907302"/>
            <a:ext cx="369633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" dirty="0">
                <a:latin typeface="Arial MT"/>
                <a:cs typeface="Arial MT"/>
              </a:rPr>
              <a:t>https://databricks.com/blog/2016/07/14/a-tale-of-three-apache-spark-apis-rdds-dataframes-and-datasets.html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</a:t>
            </a:r>
            <a:r>
              <a:rPr spc="-160" dirty="0"/>
              <a:t> </a:t>
            </a:r>
            <a:r>
              <a:rPr spc="5" dirty="0"/>
              <a:t>Ingest</a:t>
            </a:r>
            <a:r>
              <a:rPr spc="-160" dirty="0"/>
              <a:t> </a:t>
            </a:r>
            <a:r>
              <a:rPr spc="-25" dirty="0"/>
              <a:t>(RDD)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525" y="954050"/>
            <a:ext cx="8393430" cy="404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09035">
              <a:lnSpc>
                <a:spcPct val="149300"/>
              </a:lnSpc>
              <a:spcBef>
                <a:spcPts val="100"/>
              </a:spcBef>
            </a:pPr>
            <a:r>
              <a:rPr sz="1800" spc="-5" dirty="0">
                <a:solidFill>
                  <a:srgbClr val="FF5500"/>
                </a:solidFill>
                <a:latin typeface="Courier New"/>
                <a:cs typeface="Courier New"/>
              </a:rPr>
              <a:t>from </a:t>
            </a:r>
            <a:r>
              <a:rPr sz="1800" spc="-5" dirty="0">
                <a:latin typeface="Courier New"/>
                <a:cs typeface="Courier New"/>
              </a:rPr>
              <a:t>pyspark.sql </a:t>
            </a:r>
            <a:r>
              <a:rPr sz="1800" spc="-5" dirty="0">
                <a:solidFill>
                  <a:srgbClr val="FF5500"/>
                </a:solidFill>
                <a:latin typeface="Courier New"/>
                <a:cs typeface="Courier New"/>
              </a:rPr>
              <a:t>import </a:t>
            </a:r>
            <a:r>
              <a:rPr sz="1800" spc="-5" dirty="0">
                <a:latin typeface="Courier New"/>
                <a:cs typeface="Courier New"/>
              </a:rPr>
              <a:t>SQLContext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sqlContext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5500"/>
                </a:solidFill>
                <a:latin typeface="Courier New"/>
                <a:cs typeface="Courier New"/>
              </a:rPr>
              <a:t>=</a:t>
            </a:r>
            <a:r>
              <a:rPr sz="1800" spc="-15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SQLContext(sc)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49300"/>
              </a:lnSpc>
            </a:pPr>
            <a:r>
              <a:rPr sz="1800" spc="-5" dirty="0">
                <a:latin typeface="Courier New"/>
                <a:cs typeface="Courier New"/>
              </a:rPr>
              <a:t>users_rdd </a:t>
            </a:r>
            <a:r>
              <a:rPr sz="1800" dirty="0">
                <a:solidFill>
                  <a:srgbClr val="FF5500"/>
                </a:solidFill>
                <a:latin typeface="Courier New"/>
                <a:cs typeface="Courier New"/>
              </a:rPr>
              <a:t>= </a:t>
            </a:r>
            <a:r>
              <a:rPr sz="1800" spc="-5" dirty="0">
                <a:latin typeface="Courier New"/>
                <a:cs typeface="Courier New"/>
              </a:rPr>
              <a:t>sc.parallelize([[1, </a:t>
            </a:r>
            <a:r>
              <a:rPr sz="1800" spc="-5" dirty="0">
                <a:solidFill>
                  <a:srgbClr val="00A33E"/>
                </a:solidFill>
                <a:latin typeface="Courier New"/>
                <a:cs typeface="Courier New"/>
              </a:rPr>
              <a:t>'Alice'</a:t>
            </a:r>
            <a:r>
              <a:rPr sz="1800" spc="-5" dirty="0">
                <a:latin typeface="Courier New"/>
                <a:cs typeface="Courier New"/>
              </a:rPr>
              <a:t>, 10], [2, </a:t>
            </a:r>
            <a:r>
              <a:rPr sz="1800" spc="-5" dirty="0">
                <a:solidFill>
                  <a:srgbClr val="00A33E"/>
                </a:solidFill>
                <a:latin typeface="Courier New"/>
                <a:cs typeface="Courier New"/>
              </a:rPr>
              <a:t>'Bob'</a:t>
            </a:r>
            <a:r>
              <a:rPr sz="1800" spc="-5" dirty="0">
                <a:latin typeface="Courier New"/>
                <a:cs typeface="Courier New"/>
              </a:rPr>
              <a:t>, 8]]) </a:t>
            </a:r>
            <a:r>
              <a:rPr sz="1800" spc="-107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users </a:t>
            </a:r>
            <a:r>
              <a:rPr sz="1800" dirty="0">
                <a:solidFill>
                  <a:srgbClr val="FF5500"/>
                </a:solidFill>
                <a:latin typeface="Courier New"/>
                <a:cs typeface="Courier New"/>
              </a:rPr>
              <a:t>=</a:t>
            </a:r>
            <a:r>
              <a:rPr sz="1800" spc="-1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sqlContext.createDataFrame(</a:t>
            </a:r>
            <a:endParaRPr sz="1800">
              <a:latin typeface="Courier New"/>
              <a:cs typeface="Courier New"/>
            </a:endParaRPr>
          </a:p>
          <a:p>
            <a:pPr marL="56134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latin typeface="Courier New"/>
                <a:cs typeface="Courier New"/>
              </a:rPr>
              <a:t>users_rdd,</a:t>
            </a:r>
            <a:endParaRPr sz="1800">
              <a:latin typeface="Courier New"/>
              <a:cs typeface="Courier New"/>
            </a:endParaRPr>
          </a:p>
          <a:p>
            <a:pPr marL="12700" marR="3982720" indent="548640">
              <a:lnSpc>
                <a:spcPct val="149300"/>
              </a:lnSpc>
              <a:tabLst>
                <a:tab pos="1521460" algn="l"/>
                <a:tab pos="2618740" algn="l"/>
              </a:tabLst>
            </a:pPr>
            <a:r>
              <a:rPr sz="1800" dirty="0">
                <a:latin typeface="Courier New"/>
                <a:cs typeface="Courier New"/>
              </a:rPr>
              <a:t>[</a:t>
            </a:r>
            <a:r>
              <a:rPr sz="1800" spc="-5" dirty="0">
                <a:solidFill>
                  <a:srgbClr val="00A33E"/>
                </a:solidFill>
                <a:latin typeface="Courier New"/>
                <a:cs typeface="Courier New"/>
              </a:rPr>
              <a:t>'id</a:t>
            </a:r>
            <a:r>
              <a:rPr sz="1800" dirty="0">
                <a:solidFill>
                  <a:srgbClr val="00A33E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latin typeface="Courier New"/>
                <a:cs typeface="Courier New"/>
              </a:rPr>
              <a:t>,	</a:t>
            </a:r>
            <a:r>
              <a:rPr sz="1800" spc="-5" dirty="0">
                <a:solidFill>
                  <a:srgbClr val="00A33E"/>
                </a:solidFill>
                <a:latin typeface="Courier New"/>
                <a:cs typeface="Courier New"/>
              </a:rPr>
              <a:t>'name</a:t>
            </a:r>
            <a:r>
              <a:rPr sz="1800" dirty="0">
                <a:solidFill>
                  <a:srgbClr val="00A33E"/>
                </a:solidFill>
                <a:latin typeface="Courier New"/>
                <a:cs typeface="Courier New"/>
              </a:rPr>
              <a:t>'</a:t>
            </a:r>
            <a:r>
              <a:rPr sz="1800" dirty="0">
                <a:latin typeface="Courier New"/>
                <a:cs typeface="Courier New"/>
              </a:rPr>
              <a:t>,	</a:t>
            </a:r>
            <a:r>
              <a:rPr sz="1800" spc="-5" dirty="0">
                <a:solidFill>
                  <a:srgbClr val="00A33E"/>
                </a:solidFill>
                <a:latin typeface="Courier New"/>
                <a:cs typeface="Courier New"/>
              </a:rPr>
              <a:t>'num_posts</a:t>
            </a:r>
            <a:r>
              <a:rPr sz="1800" dirty="0">
                <a:solidFill>
                  <a:srgbClr val="00A33E"/>
                </a:solidFill>
                <a:latin typeface="Courier New"/>
                <a:cs typeface="Courier New"/>
              </a:rPr>
              <a:t>'</a:t>
            </a:r>
            <a:r>
              <a:rPr sz="1800" spc="-5" dirty="0">
                <a:latin typeface="Courier New"/>
                <a:cs typeface="Courier New"/>
              </a:rPr>
              <a:t>])  users.printSchema()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#root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dirty="0">
                <a:solidFill>
                  <a:srgbClr val="919191"/>
                </a:solidFill>
                <a:latin typeface="Courier New"/>
                <a:cs typeface="Courier New"/>
              </a:rPr>
              <a:t>#</a:t>
            </a:r>
            <a:r>
              <a:rPr sz="12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|--</a:t>
            </a:r>
            <a:r>
              <a:rPr sz="12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id:</a:t>
            </a:r>
            <a:r>
              <a:rPr sz="12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long</a:t>
            </a:r>
            <a:r>
              <a:rPr sz="12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(nullable</a:t>
            </a:r>
            <a:r>
              <a:rPr sz="12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919191"/>
                </a:solidFill>
                <a:latin typeface="Courier New"/>
                <a:cs typeface="Courier New"/>
              </a:rPr>
              <a:t>=</a:t>
            </a:r>
            <a:r>
              <a:rPr sz="12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true)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dirty="0">
                <a:solidFill>
                  <a:srgbClr val="919191"/>
                </a:solidFill>
                <a:latin typeface="Courier New"/>
                <a:cs typeface="Courier New"/>
              </a:rPr>
              <a:t>#</a:t>
            </a:r>
            <a:r>
              <a:rPr sz="12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|--</a:t>
            </a:r>
            <a:r>
              <a:rPr sz="12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name:</a:t>
            </a:r>
            <a:r>
              <a:rPr sz="12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string</a:t>
            </a:r>
            <a:r>
              <a:rPr sz="12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(nullable</a:t>
            </a:r>
            <a:r>
              <a:rPr sz="12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919191"/>
                </a:solidFill>
                <a:latin typeface="Courier New"/>
                <a:cs typeface="Courier New"/>
              </a:rPr>
              <a:t>=</a:t>
            </a:r>
            <a:r>
              <a:rPr sz="12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true)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200" dirty="0">
                <a:solidFill>
                  <a:srgbClr val="919191"/>
                </a:solidFill>
                <a:latin typeface="Courier New"/>
                <a:cs typeface="Courier New"/>
              </a:rPr>
              <a:t>#</a:t>
            </a:r>
            <a:r>
              <a:rPr sz="12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|--</a:t>
            </a:r>
            <a:r>
              <a:rPr sz="12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num_posts:</a:t>
            </a:r>
            <a:r>
              <a:rPr sz="12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long</a:t>
            </a:r>
            <a:r>
              <a:rPr sz="12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(nullable</a:t>
            </a:r>
            <a:r>
              <a:rPr sz="12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919191"/>
                </a:solidFill>
                <a:latin typeface="Courier New"/>
                <a:cs typeface="Courier New"/>
              </a:rPr>
              <a:t>=</a:t>
            </a:r>
            <a:r>
              <a:rPr sz="12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919191"/>
                </a:solidFill>
                <a:latin typeface="Courier New"/>
                <a:cs typeface="Courier New"/>
              </a:rPr>
              <a:t>true)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698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Data</a:t>
            </a:r>
            <a:r>
              <a:rPr spc="-165" dirty="0"/>
              <a:t> </a:t>
            </a:r>
            <a:r>
              <a:rPr spc="5" dirty="0"/>
              <a:t>Ingest</a:t>
            </a:r>
            <a:r>
              <a:rPr spc="-160" dirty="0"/>
              <a:t> </a:t>
            </a:r>
            <a:r>
              <a:rPr spc="10" dirty="0"/>
              <a:t>(JSON)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3525" y="1124612"/>
            <a:ext cx="6149340" cy="219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26285">
              <a:lnSpc>
                <a:spcPct val="148400"/>
              </a:lnSpc>
              <a:spcBef>
                <a:spcPts val="100"/>
              </a:spcBef>
            </a:pPr>
            <a:r>
              <a:rPr sz="1600" spc="-5" dirty="0">
                <a:solidFill>
                  <a:srgbClr val="FF5500"/>
                </a:solidFill>
                <a:latin typeface="Courier New"/>
                <a:cs typeface="Courier New"/>
              </a:rPr>
              <a:t>from</a:t>
            </a:r>
            <a:r>
              <a:rPr sz="1600" spc="-9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pyspark.sql</a:t>
            </a:r>
            <a:r>
              <a:rPr sz="1600" spc="-220" dirty="0"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FF5500"/>
                </a:solidFill>
                <a:latin typeface="Courier New"/>
                <a:cs typeface="Courier New"/>
              </a:rPr>
              <a:t>import</a:t>
            </a:r>
            <a:r>
              <a:rPr sz="1600" spc="-12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SQLContext </a:t>
            </a:r>
            <a:r>
              <a:rPr sz="1600" spc="-94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sqlContext</a:t>
            </a:r>
            <a:r>
              <a:rPr sz="1600" spc="-175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FF5500"/>
                </a:solidFill>
                <a:latin typeface="Courier New"/>
                <a:cs typeface="Courier New"/>
              </a:rPr>
              <a:t>=</a:t>
            </a:r>
            <a:r>
              <a:rPr sz="1600" spc="-3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SQLContext(sc)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ct val="296900"/>
              </a:lnSpc>
            </a:pPr>
            <a:r>
              <a:rPr sz="1600" spc="-5" dirty="0">
                <a:latin typeface="Courier New"/>
                <a:cs typeface="Courier New"/>
              </a:rPr>
              <a:t>users </a:t>
            </a:r>
            <a:r>
              <a:rPr sz="1600" dirty="0">
                <a:solidFill>
                  <a:srgbClr val="FF5500"/>
                </a:solidFill>
                <a:latin typeface="Courier New"/>
                <a:cs typeface="Courier New"/>
              </a:rPr>
              <a:t>= </a:t>
            </a:r>
            <a:r>
              <a:rPr sz="1600" spc="-20" dirty="0">
                <a:latin typeface="Courier New"/>
                <a:cs typeface="Courier New"/>
              </a:rPr>
              <a:t>sqlContext.read.json(</a:t>
            </a:r>
            <a:r>
              <a:rPr sz="1600" spc="-20" dirty="0">
                <a:solidFill>
                  <a:srgbClr val="00A33E"/>
                </a:solidFill>
                <a:latin typeface="Courier New"/>
                <a:cs typeface="Courier New"/>
              </a:rPr>
              <a:t>"/path/to/users.json"</a:t>
            </a:r>
            <a:r>
              <a:rPr sz="1600" spc="-20" dirty="0">
                <a:latin typeface="Courier New"/>
                <a:cs typeface="Courier New"/>
              </a:rPr>
              <a:t>)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users.printSchema()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4475" y="3461154"/>
          <a:ext cx="4939664" cy="1316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5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068">
                <a:tc>
                  <a:txBody>
                    <a:bodyPr/>
                    <a:lstStyle/>
                    <a:p>
                      <a:pPr marL="31750">
                        <a:lnSpc>
                          <a:spcPts val="1650"/>
                        </a:lnSpc>
                      </a:pPr>
                      <a:r>
                        <a:rPr sz="1600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ts val="1650"/>
                        </a:lnSpc>
                      </a:pP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root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|--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id: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long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(nullable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600" spc="-20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true)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|--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name: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string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(nullable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600" spc="-20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true)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06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|--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num_posts: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long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(nullable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600" spc="-2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" dirty="0">
                          <a:solidFill>
                            <a:srgbClr val="919191"/>
                          </a:solidFill>
                          <a:latin typeface="Courier New"/>
                          <a:cs typeface="Courier New"/>
                        </a:rPr>
                        <a:t>true)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3068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SQL</a:t>
            </a:r>
            <a:r>
              <a:rPr spc="-190" dirty="0"/>
              <a:t> </a:t>
            </a:r>
            <a:r>
              <a:rPr spc="50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1850" y="1194323"/>
            <a:ext cx="5572125" cy="294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800"/>
              </a:lnSpc>
              <a:spcBef>
                <a:spcPts val="100"/>
              </a:spcBef>
            </a:pP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#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Register users DataFrame as </a:t>
            </a: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a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table called "users" </a:t>
            </a:r>
            <a:r>
              <a:rPr sz="1400" spc="-83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users.createOrReplaceTempView</a:t>
            </a:r>
            <a:r>
              <a:rPr sz="1400" dirty="0">
                <a:latin typeface="Courier New"/>
                <a:cs typeface="Courier New"/>
              </a:rPr>
              <a:t>(</a:t>
            </a:r>
            <a:r>
              <a:rPr sz="1400" spc="-390" dirty="0"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A33E"/>
                </a:solidFill>
                <a:latin typeface="Courier New"/>
                <a:cs typeface="Courier New"/>
              </a:rPr>
              <a:t>'users</a:t>
            </a:r>
            <a:r>
              <a:rPr sz="1400" spc="105" dirty="0">
                <a:solidFill>
                  <a:srgbClr val="00A33E"/>
                </a:solidFill>
                <a:latin typeface="Courier New"/>
                <a:cs typeface="Courier New"/>
              </a:rPr>
              <a:t>'</a:t>
            </a:r>
            <a:r>
              <a:rPr sz="1400" dirty="0">
                <a:latin typeface="Courier New"/>
                <a:cs typeface="Courier New"/>
              </a:rPr>
              <a:t>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250">
              <a:latin typeface="Courier New"/>
              <a:cs typeface="Courier New"/>
            </a:endParaRPr>
          </a:p>
          <a:p>
            <a:pPr marL="12700" marR="3738245">
              <a:lnSpc>
                <a:spcPct val="151800"/>
              </a:lnSpc>
            </a:pP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#</a:t>
            </a:r>
            <a:r>
              <a:rPr sz="1400" spc="-3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Query</a:t>
            </a:r>
            <a:r>
              <a:rPr sz="1400" spc="-3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the</a:t>
            </a:r>
            <a:r>
              <a:rPr sz="1400" spc="-3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table </a:t>
            </a:r>
            <a:r>
              <a:rPr sz="1400" spc="-8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sqlContext.sql(</a:t>
            </a:r>
            <a:endParaRPr sz="1400">
              <a:latin typeface="Courier New"/>
              <a:cs typeface="Courier New"/>
            </a:endParaRPr>
          </a:p>
          <a:p>
            <a:pPr marL="44704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solidFill>
                  <a:srgbClr val="00A33E"/>
                </a:solidFill>
                <a:latin typeface="Courier New"/>
                <a:cs typeface="Courier New"/>
              </a:rPr>
              <a:t>'</a:t>
            </a:r>
            <a:r>
              <a:rPr sz="1400" spc="-5" dirty="0">
                <a:solidFill>
                  <a:srgbClr val="FF5500"/>
                </a:solidFill>
                <a:latin typeface="Courier New"/>
                <a:cs typeface="Courier New"/>
              </a:rPr>
              <a:t>SELECT</a:t>
            </a:r>
            <a:r>
              <a:rPr sz="1400" spc="10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5500"/>
                </a:solidFill>
                <a:latin typeface="Courier New"/>
                <a:cs typeface="Courier New"/>
              </a:rPr>
              <a:t>*</a:t>
            </a:r>
            <a:r>
              <a:rPr sz="1400" spc="25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F5500"/>
                </a:solidFill>
                <a:latin typeface="Courier New"/>
                <a:cs typeface="Courier New"/>
              </a:rPr>
              <a:t>FROM</a:t>
            </a:r>
            <a:r>
              <a:rPr sz="1400" spc="60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0A33E"/>
                </a:solidFill>
                <a:latin typeface="Courier New"/>
                <a:cs typeface="Courier New"/>
              </a:rPr>
              <a:t>users</a:t>
            </a:r>
            <a:r>
              <a:rPr sz="1400" spc="100" dirty="0">
                <a:solidFill>
                  <a:srgbClr val="00A33E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F5500"/>
                </a:solidFill>
                <a:latin typeface="Courier New"/>
                <a:cs typeface="Courier New"/>
              </a:rPr>
              <a:t>WHERE</a:t>
            </a:r>
            <a:r>
              <a:rPr sz="1400" spc="75" dirty="0">
                <a:solidFill>
                  <a:srgbClr val="FF55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A33E"/>
                </a:solidFill>
                <a:latin typeface="Courier New"/>
                <a:cs typeface="Courier New"/>
              </a:rPr>
              <a:t>name</a:t>
            </a:r>
            <a:r>
              <a:rPr sz="1400" dirty="0">
                <a:solidFill>
                  <a:srgbClr val="FF5500"/>
                </a:solidFill>
                <a:latin typeface="Courier New"/>
                <a:cs typeface="Courier New"/>
              </a:rPr>
              <a:t>=</a:t>
            </a:r>
            <a:r>
              <a:rPr sz="1400" dirty="0">
                <a:solidFill>
                  <a:srgbClr val="00A33E"/>
                </a:solidFill>
                <a:latin typeface="Courier New"/>
                <a:cs typeface="Courier New"/>
              </a:rPr>
              <a:t>"Bob"'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400" spc="-5" dirty="0">
                <a:latin typeface="Courier New"/>
                <a:cs typeface="Courier New"/>
              </a:rPr>
              <a:t>).collect()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919191"/>
                </a:solidFill>
                <a:latin typeface="Courier New"/>
                <a:cs typeface="Courier New"/>
              </a:rPr>
              <a:t>#</a:t>
            </a:r>
            <a:r>
              <a:rPr sz="1400" spc="-3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[Row(id=2,</a:t>
            </a:r>
            <a:r>
              <a:rPr sz="1400" spc="-3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name='Bob',</a:t>
            </a:r>
            <a:r>
              <a:rPr sz="1400" spc="-3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919191"/>
                </a:solidFill>
                <a:latin typeface="Courier New"/>
                <a:cs typeface="Courier New"/>
              </a:rPr>
              <a:t>num_posts=8)]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615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DataFrame</a:t>
            </a:r>
            <a:r>
              <a:rPr spc="-165" dirty="0"/>
              <a:t> </a:t>
            </a:r>
            <a:r>
              <a:rPr spc="50" dirty="0"/>
              <a:t>API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9775" y="1651796"/>
            <a:ext cx="7368540" cy="244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919191"/>
                </a:solidFill>
                <a:latin typeface="Courier New"/>
                <a:cs typeface="Courier New"/>
              </a:rPr>
              <a:t>#</a:t>
            </a:r>
            <a:r>
              <a:rPr sz="16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Same</a:t>
            </a:r>
            <a:r>
              <a:rPr sz="16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query</a:t>
            </a:r>
            <a:r>
              <a:rPr sz="1600" spc="-1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can</a:t>
            </a:r>
            <a:r>
              <a:rPr sz="16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be</a:t>
            </a:r>
            <a:r>
              <a:rPr sz="1600" spc="-1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done</a:t>
            </a:r>
            <a:r>
              <a:rPr sz="16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with</a:t>
            </a:r>
            <a:r>
              <a:rPr sz="1600" spc="-1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DataFrame</a:t>
            </a:r>
            <a:r>
              <a:rPr sz="1600" spc="-1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API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Courier New"/>
              <a:cs typeface="Courier New"/>
            </a:endParaRPr>
          </a:p>
          <a:p>
            <a:pPr marL="12700" marR="2405380">
              <a:lnSpc>
                <a:spcPct val="148400"/>
              </a:lnSpc>
            </a:pPr>
            <a:r>
              <a:rPr sz="1600" spc="-20" dirty="0">
                <a:latin typeface="Courier New"/>
                <a:cs typeface="Courier New"/>
              </a:rPr>
              <a:t>users.filter(users.name</a:t>
            </a:r>
            <a:r>
              <a:rPr sz="1600" spc="-20" dirty="0">
                <a:solidFill>
                  <a:srgbClr val="FF5500"/>
                </a:solidFill>
                <a:latin typeface="Courier New"/>
                <a:cs typeface="Courier New"/>
              </a:rPr>
              <a:t>==</a:t>
            </a:r>
            <a:r>
              <a:rPr sz="1600" spc="-20" dirty="0">
                <a:solidFill>
                  <a:srgbClr val="00A33E"/>
                </a:solidFill>
                <a:latin typeface="Courier New"/>
                <a:cs typeface="Courier New"/>
              </a:rPr>
              <a:t>'Bob'</a:t>
            </a:r>
            <a:r>
              <a:rPr sz="1600" spc="-20" dirty="0">
                <a:latin typeface="Courier New"/>
                <a:cs typeface="Courier New"/>
              </a:rPr>
              <a:t>).collect()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19191"/>
                </a:solidFill>
                <a:latin typeface="Courier New"/>
                <a:cs typeface="Courier New"/>
              </a:rPr>
              <a:t>#</a:t>
            </a:r>
            <a:r>
              <a:rPr sz="1600" spc="-25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[Row(id=2,</a:t>
            </a:r>
            <a:r>
              <a:rPr sz="16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name='Bob',</a:t>
            </a:r>
            <a:r>
              <a:rPr sz="1600" spc="-2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num_posts=8)]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Courier New"/>
              <a:cs typeface="Courier New"/>
            </a:endParaRPr>
          </a:p>
          <a:p>
            <a:pPr marL="12700" marR="5080">
              <a:lnSpc>
                <a:spcPct val="148400"/>
              </a:lnSpc>
            </a:pPr>
            <a:r>
              <a:rPr sz="1600" spc="-20" dirty="0">
                <a:latin typeface="Courier New"/>
                <a:cs typeface="Courier New"/>
              </a:rPr>
              <a:t>users.filter(users.name</a:t>
            </a:r>
            <a:r>
              <a:rPr sz="1600" spc="-20" dirty="0">
                <a:solidFill>
                  <a:srgbClr val="FF5500"/>
                </a:solidFill>
                <a:latin typeface="Courier New"/>
                <a:cs typeface="Courier New"/>
              </a:rPr>
              <a:t>==</a:t>
            </a:r>
            <a:r>
              <a:rPr sz="1600" spc="-20" dirty="0">
                <a:solidFill>
                  <a:srgbClr val="00A33E"/>
                </a:solidFill>
                <a:latin typeface="Courier New"/>
                <a:cs typeface="Courier New"/>
              </a:rPr>
              <a:t>'Eve'</a:t>
            </a:r>
            <a:r>
              <a:rPr sz="1600" spc="-20" dirty="0">
                <a:latin typeface="Courier New"/>
                <a:cs typeface="Courier New"/>
              </a:rPr>
              <a:t>).select(</a:t>
            </a:r>
            <a:r>
              <a:rPr sz="1600" spc="-20" dirty="0">
                <a:solidFill>
                  <a:srgbClr val="00A33E"/>
                </a:solidFill>
                <a:latin typeface="Courier New"/>
                <a:cs typeface="Courier New"/>
              </a:rPr>
              <a:t>'num_posts'</a:t>
            </a:r>
            <a:r>
              <a:rPr sz="1600" spc="-20" dirty="0">
                <a:latin typeface="Courier New"/>
                <a:cs typeface="Courier New"/>
              </a:rPr>
              <a:t>).collect() </a:t>
            </a:r>
            <a:r>
              <a:rPr sz="1600" spc="-950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919191"/>
                </a:solidFill>
                <a:latin typeface="Courier New"/>
                <a:cs typeface="Courier New"/>
              </a:rPr>
              <a:t>#</a:t>
            </a:r>
            <a:r>
              <a:rPr sz="1600" spc="-10" dirty="0">
                <a:solidFill>
                  <a:srgbClr val="91919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919191"/>
                </a:solidFill>
                <a:latin typeface="Courier New"/>
                <a:cs typeface="Courier New"/>
              </a:rPr>
              <a:t>[Row(num_posts=10)]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1580</Words>
  <Application>Microsoft Office PowerPoint</Application>
  <PresentationFormat>On-screen Show (16:9)</PresentationFormat>
  <Paragraphs>241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Arial MT</vt:lpstr>
      <vt:lpstr>Calibri</vt:lpstr>
      <vt:lpstr>Courier New</vt:lpstr>
      <vt:lpstr>Times New Roman</vt:lpstr>
      <vt:lpstr>Trebuchet MS</vt:lpstr>
      <vt:lpstr>Office Theme</vt:lpstr>
      <vt:lpstr>Spark SQL</vt:lpstr>
      <vt:lpstr>Outline</vt:lpstr>
      <vt:lpstr>Outline</vt:lpstr>
      <vt:lpstr>RDBMS</vt:lpstr>
      <vt:lpstr>PowerPoint Presentation</vt:lpstr>
      <vt:lpstr>Other Features</vt:lpstr>
      <vt:lpstr>RDBMS Types of Data</vt:lpstr>
      <vt:lpstr>Outline</vt:lpstr>
      <vt:lpstr>Structured Query Language</vt:lpstr>
      <vt:lpstr>Basic Commands - Data Definition Language (DDL)</vt:lpstr>
      <vt:lpstr>Data Modification Language - DML</vt:lpstr>
      <vt:lpstr>Data Modification Language Extensions</vt:lpstr>
      <vt:lpstr>PowerPoint Presentation</vt:lpstr>
      <vt:lpstr>SQL Prepared Statements</vt:lpstr>
      <vt:lpstr>SQL Prepared Statements</vt:lpstr>
      <vt:lpstr>Outline</vt:lpstr>
      <vt:lpstr>SQL Turing Completeness</vt:lpstr>
      <vt:lpstr>User tips for optimizing SQL queries</vt:lpstr>
      <vt:lpstr>SQL Optimizer: Prediction</vt:lpstr>
      <vt:lpstr>SQL Optimizer: Lazy Joins</vt:lpstr>
      <vt:lpstr>Example Join</vt:lpstr>
      <vt:lpstr>Lazy Join</vt:lpstr>
      <vt:lpstr>Outline</vt:lpstr>
      <vt:lpstr>Spark SQL</vt:lpstr>
      <vt:lpstr>Spark SQL</vt:lpstr>
      <vt:lpstr>Spark DataFrames</vt:lpstr>
      <vt:lpstr>Pandas DataFrame</vt:lpstr>
      <vt:lpstr>Spark DataFrames</vt:lpstr>
      <vt:lpstr>Spark DataSets</vt:lpstr>
      <vt:lpstr>Data Ingest (RDD)</vt:lpstr>
      <vt:lpstr>Data Ingest (JSON)</vt:lpstr>
      <vt:lpstr>SQL API</vt:lpstr>
      <vt:lpstr>DataFrame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Trang Nguyen Thuy</cp:lastModifiedBy>
  <cp:revision>2</cp:revision>
  <dcterms:created xsi:type="dcterms:W3CDTF">2024-11-10T16:01:07Z</dcterms:created>
  <dcterms:modified xsi:type="dcterms:W3CDTF">2025-02-15T05:49:46Z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