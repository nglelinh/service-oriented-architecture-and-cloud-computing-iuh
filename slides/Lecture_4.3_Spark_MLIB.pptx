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34883" y="1163216"/>
            <a:ext cx="3474232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9224" y="1159968"/>
            <a:ext cx="8285550" cy="128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34883" y="1163216"/>
            <a:ext cx="347423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5"/>
              </a:spcBef>
            </a:pPr>
            <a:r>
              <a:rPr spc="65" dirty="0"/>
              <a:t>Spark</a:t>
            </a:r>
            <a:r>
              <a:rPr spc="-250" dirty="0"/>
              <a:t> </a:t>
            </a:r>
            <a:r>
              <a:rPr spc="-10" dirty="0"/>
              <a:t>MLlib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3825"/>
            <a:ext cx="3892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  <a:latin typeface="Trebuchet MS"/>
                <a:cs typeface="Trebuchet MS"/>
              </a:rPr>
              <a:t>Machine</a:t>
            </a:r>
            <a:r>
              <a:rPr sz="2800" spc="-14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202729"/>
                </a:solidFill>
                <a:latin typeface="Trebuchet MS"/>
                <a:cs typeface="Trebuchet MS"/>
              </a:rPr>
              <a:t>Learning</a:t>
            </a:r>
            <a:r>
              <a:rPr sz="2800" spc="-13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202729"/>
                </a:solidFill>
                <a:latin typeface="Trebuchet MS"/>
                <a:cs typeface="Trebuchet MS"/>
              </a:rPr>
              <a:t>Basics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3308"/>
            <a:ext cx="238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2400" spc="-1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616161"/>
                </a:solidFill>
                <a:latin typeface="Trebuchet MS"/>
                <a:cs typeface="Trebuchet MS"/>
              </a:rPr>
              <a:t>comes</a:t>
            </a:r>
            <a:r>
              <a:rPr sz="2400" spc="-1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first?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92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</a:rPr>
              <a:t>Machine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Learning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55" dirty="0">
                <a:solidFill>
                  <a:srgbClr val="202729"/>
                </a:solidFill>
              </a:rPr>
              <a:t>Basics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3308"/>
            <a:ext cx="251269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2400" spc="-1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616161"/>
                </a:solidFill>
                <a:latin typeface="Trebuchet MS"/>
                <a:cs typeface="Trebuchet MS"/>
              </a:rPr>
              <a:t>comes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first?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Data,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labeled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92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</a:rPr>
              <a:t>Machine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Learning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55" dirty="0">
                <a:solidFill>
                  <a:srgbClr val="202729"/>
                </a:solidFill>
              </a:rPr>
              <a:t>Basics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3308"/>
            <a:ext cx="3958590" cy="152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2400" spc="-1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616161"/>
                </a:solidFill>
                <a:latin typeface="Trebuchet MS"/>
                <a:cs typeface="Trebuchet MS"/>
              </a:rPr>
              <a:t>comes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first?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Data,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labeled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400" spc="65" dirty="0">
                <a:solidFill>
                  <a:srgbClr val="616161"/>
                </a:solidFill>
                <a:latin typeface="Trebuchet MS"/>
                <a:cs typeface="Trebuchet MS"/>
              </a:rPr>
              <a:t>How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24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24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24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616161"/>
                </a:solidFill>
                <a:latin typeface="Trebuchet MS"/>
                <a:cs typeface="Trebuchet MS"/>
              </a:rPr>
              <a:t>represented?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92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</a:rPr>
              <a:t>Machine</a:t>
            </a:r>
            <a:r>
              <a:rPr sz="2800" spc="-140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Learning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55" dirty="0">
                <a:solidFill>
                  <a:srgbClr val="202729"/>
                </a:solidFill>
              </a:rPr>
              <a:t>Basics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3308"/>
            <a:ext cx="5427980" cy="205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2400" spc="-1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616161"/>
                </a:solidFill>
                <a:latin typeface="Trebuchet MS"/>
                <a:cs typeface="Trebuchet MS"/>
              </a:rPr>
              <a:t>comes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first?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Data,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labeled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400" spc="65" dirty="0">
                <a:solidFill>
                  <a:srgbClr val="616161"/>
                </a:solidFill>
                <a:latin typeface="Trebuchet MS"/>
                <a:cs typeface="Trebuchet MS"/>
              </a:rPr>
              <a:t>How</a:t>
            </a:r>
            <a:r>
              <a:rPr sz="24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24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2400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24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616161"/>
                </a:solidFill>
                <a:latin typeface="Trebuchet MS"/>
                <a:cs typeface="Trebuchet MS"/>
              </a:rPr>
              <a:t>represented?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Continuous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Discrete?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Supervised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Unsupervised?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110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</a:rPr>
              <a:t>Machine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Learning</a:t>
            </a:r>
            <a:r>
              <a:rPr sz="2800" spc="-145" dirty="0">
                <a:solidFill>
                  <a:srgbClr val="202729"/>
                </a:solidFill>
              </a:rPr>
              <a:t> </a:t>
            </a:r>
            <a:r>
              <a:rPr sz="2800" spc="15" dirty="0">
                <a:solidFill>
                  <a:srgbClr val="202729"/>
                </a:solidFill>
              </a:rPr>
              <a:t>Techniques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4583430" cy="3291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5934">
              <a:lnSpc>
                <a:spcPct val="114599"/>
              </a:lnSpc>
              <a:spcBef>
                <a:spcPts val="100"/>
              </a:spcBef>
            </a:pP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covering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three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15" dirty="0">
                <a:solidFill>
                  <a:srgbClr val="616161"/>
                </a:solidFill>
                <a:latin typeface="Trebuchet MS"/>
                <a:cs typeface="Trebuchet MS"/>
              </a:rPr>
              <a:t>broad</a:t>
            </a:r>
            <a:r>
              <a:rPr sz="1800" b="1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types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of 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techniques:</a:t>
            </a:r>
            <a:endParaRPr sz="1800">
              <a:latin typeface="Trebuchet MS"/>
              <a:cs typeface="Trebuchet MS"/>
            </a:endParaRPr>
          </a:p>
          <a:p>
            <a:pPr marL="469900" indent="-367030">
              <a:lnSpc>
                <a:spcPct val="100000"/>
              </a:lnSpc>
              <a:spcBef>
                <a:spcPts val="1890"/>
              </a:spcBef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Regression</a:t>
            </a:r>
            <a:endParaRPr sz="1800">
              <a:latin typeface="Trebuchet MS"/>
              <a:cs typeface="Trebuchet MS"/>
            </a:endParaRPr>
          </a:p>
          <a:p>
            <a:pPr marL="927100" marR="828040" lvl="1" indent="-336550">
              <a:lnSpc>
                <a:spcPct val="116100"/>
              </a:lnSpc>
              <a:spcBef>
                <a:spcPts val="60"/>
              </a:spcBef>
              <a:buFont typeface="Tahoma"/>
              <a:buChar char="○"/>
              <a:tabLst>
                <a:tab pos="926465" algn="l"/>
                <a:tab pos="927100" algn="l"/>
              </a:tabLst>
            </a:pP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Tries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predict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an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output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5" dirty="0">
                <a:solidFill>
                  <a:srgbClr val="616161"/>
                </a:solidFill>
                <a:latin typeface="Trebuchet MS"/>
                <a:cs typeface="Trebuchet MS"/>
              </a:rPr>
              <a:t>given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data 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(continuous)</a:t>
            </a:r>
            <a:endParaRPr sz="1400">
              <a:latin typeface="Trebuchet MS"/>
              <a:cs typeface="Trebuchet MS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Classifiers</a:t>
            </a:r>
            <a:endParaRPr sz="1800">
              <a:latin typeface="Trebuchet MS"/>
              <a:cs typeface="Trebuchet MS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926465" algn="l"/>
                <a:tab pos="927100" algn="l"/>
              </a:tabLst>
            </a:pPr>
            <a:r>
              <a:rPr sz="1400" spc="20" dirty="0">
                <a:solidFill>
                  <a:srgbClr val="616161"/>
                </a:solidFill>
                <a:latin typeface="Trebuchet MS"/>
                <a:cs typeface="Trebuchet MS"/>
              </a:rPr>
              <a:t>Takes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try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30" dirty="0">
                <a:solidFill>
                  <a:srgbClr val="616161"/>
                </a:solidFill>
                <a:latin typeface="Trebuchet MS"/>
                <a:cs typeface="Trebuchet MS"/>
              </a:rPr>
              <a:t>assign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label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(discrete)</a:t>
            </a:r>
            <a:endParaRPr sz="1400">
              <a:latin typeface="Trebuchet MS"/>
              <a:cs typeface="Trebuchet MS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Clustering</a:t>
            </a:r>
            <a:endParaRPr sz="1800">
              <a:latin typeface="Trebuchet MS"/>
              <a:cs typeface="Trebuchet MS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926465" algn="l"/>
                <a:tab pos="927100" algn="l"/>
              </a:tabLst>
            </a:pP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Don’t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616161"/>
                </a:solidFill>
                <a:latin typeface="Trebuchet MS"/>
                <a:cs typeface="Trebuchet MS"/>
              </a:rPr>
              <a:t>know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labels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numbers.</a:t>
            </a:r>
            <a:endParaRPr sz="1400">
              <a:latin typeface="Trebuchet MS"/>
              <a:cs typeface="Trebuchet MS"/>
            </a:endParaRPr>
          </a:p>
          <a:p>
            <a:pPr marL="927100" marR="387985" lvl="1" indent="-336550">
              <a:lnSpc>
                <a:spcPct val="116100"/>
              </a:lnSpc>
              <a:buFont typeface="Tahoma"/>
              <a:buChar char="○"/>
              <a:tabLst>
                <a:tab pos="926465" algn="l"/>
                <a:tab pos="927100" algn="l"/>
              </a:tabLst>
            </a:pPr>
            <a:r>
              <a:rPr sz="1400" spc="20" dirty="0">
                <a:solidFill>
                  <a:srgbClr val="616161"/>
                </a:solidFill>
                <a:latin typeface="Trebuchet MS"/>
                <a:cs typeface="Trebuchet MS"/>
              </a:rPr>
              <a:t>Groups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similar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points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into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616161"/>
                </a:solidFill>
                <a:latin typeface="Trebuchet MS"/>
                <a:cs typeface="Trebuchet MS"/>
              </a:rPr>
              <a:t>group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(or </a:t>
            </a:r>
            <a:r>
              <a:rPr sz="1400" spc="-4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Trebuchet MS"/>
                <a:cs typeface="Trebuchet MS"/>
              </a:rPr>
              <a:t>‘cluster’).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7100" y="1419717"/>
            <a:ext cx="4115200" cy="1597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773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5" dirty="0">
                <a:solidFill>
                  <a:srgbClr val="202729"/>
                </a:solidFill>
              </a:rPr>
              <a:t>Regression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4859020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Fits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function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data.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example,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linear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616161"/>
                </a:solidFill>
                <a:latin typeface="Trebuchet MS"/>
                <a:cs typeface="Trebuchet MS"/>
              </a:rPr>
              <a:t>regression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finds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line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best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20" dirty="0">
                <a:solidFill>
                  <a:srgbClr val="616161"/>
                </a:solidFill>
                <a:latin typeface="Trebuchet MS"/>
                <a:cs typeface="Trebuchet MS"/>
              </a:rPr>
              <a:t>fit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800" y="2327975"/>
            <a:ext cx="3923075" cy="2595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07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 dirty="0">
                <a:solidFill>
                  <a:srgbClr val="202729"/>
                </a:solidFill>
              </a:rPr>
              <a:t>Classifiers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13105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Takes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assigns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label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based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‘closest’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to.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Supervised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1300" y="1652525"/>
            <a:ext cx="4169974" cy="3243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09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202729"/>
                </a:solidFill>
              </a:rPr>
              <a:t>Clustering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491998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Unsupervised;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there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no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labels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algorithm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determines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clusters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310" y="1771156"/>
            <a:ext cx="3461975" cy="27475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487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solidFill>
                  <a:srgbClr val="202729"/>
                </a:solidFill>
              </a:rPr>
              <a:t>How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170" dirty="0">
                <a:solidFill>
                  <a:srgbClr val="202729"/>
                </a:solidFill>
              </a:rPr>
              <a:t>Do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14" dirty="0">
                <a:solidFill>
                  <a:srgbClr val="202729"/>
                </a:solidFill>
              </a:rPr>
              <a:t>I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35" dirty="0">
                <a:solidFill>
                  <a:srgbClr val="202729"/>
                </a:solidFill>
              </a:rPr>
              <a:t>Know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80" dirty="0">
                <a:solidFill>
                  <a:srgbClr val="202729"/>
                </a:solidFill>
              </a:rPr>
              <a:t>If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130" dirty="0">
                <a:solidFill>
                  <a:srgbClr val="202729"/>
                </a:solidFill>
              </a:rPr>
              <a:t>My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55" dirty="0">
                <a:solidFill>
                  <a:srgbClr val="202729"/>
                </a:solidFill>
              </a:rPr>
              <a:t>Model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25" dirty="0">
                <a:solidFill>
                  <a:srgbClr val="202729"/>
                </a:solidFill>
              </a:rPr>
              <a:t>Is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65" dirty="0">
                <a:solidFill>
                  <a:srgbClr val="202729"/>
                </a:solidFill>
              </a:rPr>
              <a:t>Any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120" dirty="0">
                <a:solidFill>
                  <a:srgbClr val="202729"/>
                </a:solidFill>
              </a:rPr>
              <a:t>Good?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434580" cy="19113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Check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clean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up!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Good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models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only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come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616161"/>
                </a:solidFill>
                <a:latin typeface="Trebuchet MS"/>
                <a:cs typeface="Trebuchet MS"/>
              </a:rPr>
              <a:t>good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Don’t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Overfit!!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Metrics</a:t>
            </a:r>
            <a:endParaRPr sz="1800">
              <a:latin typeface="Trebuchet MS"/>
              <a:cs typeface="Trebuchet MS"/>
            </a:endParaRPr>
          </a:p>
          <a:p>
            <a:pPr marL="836294" marR="5080" lvl="1" indent="-367030">
              <a:lnSpc>
                <a:spcPct val="114599"/>
              </a:lnSpc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Precision,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accuracy,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area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under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ROC,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true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positive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rate,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root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mean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squared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error,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etc…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2429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5" dirty="0">
                <a:solidFill>
                  <a:srgbClr val="202729"/>
                </a:solidFill>
              </a:rPr>
              <a:t>Performance</a:t>
            </a:r>
            <a:r>
              <a:rPr sz="2800" spc="-160" dirty="0">
                <a:solidFill>
                  <a:srgbClr val="202729"/>
                </a:solidFill>
              </a:rPr>
              <a:t> </a:t>
            </a:r>
            <a:r>
              <a:rPr sz="2800" spc="-20" dirty="0">
                <a:solidFill>
                  <a:srgbClr val="202729"/>
                </a:solidFill>
              </a:rPr>
              <a:t>Metrics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3573779" cy="1419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Confusion</a:t>
            </a: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Matrix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Useful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Classification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16161"/>
              </a:buClr>
              <a:buFont typeface="Tahoma"/>
              <a:buChar char="○"/>
            </a:pPr>
            <a:endParaRPr sz="185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RMSE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-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Root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Mean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Square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Error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Useful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616161"/>
                </a:solidFill>
                <a:latin typeface="Trebuchet MS"/>
                <a:cs typeface="Trebuchet MS"/>
              </a:rPr>
              <a:t>Regression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2441" y="197800"/>
            <a:ext cx="2651522" cy="22648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9262" y="2718617"/>
            <a:ext cx="2894883" cy="21868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59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5" dirty="0">
                <a:solidFill>
                  <a:srgbClr val="202729"/>
                </a:solidFill>
              </a:rPr>
              <a:t>Overfitting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469519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model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too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616161"/>
                </a:solidFill>
                <a:latin typeface="Trebuchet MS"/>
                <a:cs typeface="Trebuchet MS"/>
              </a:rPr>
              <a:t>good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Happens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model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‘learns’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random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noise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training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0800" y="1152475"/>
            <a:ext cx="3511499" cy="35114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830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202729"/>
                </a:solidFill>
              </a:rPr>
              <a:t>Improve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75" dirty="0">
                <a:solidFill>
                  <a:srgbClr val="202729"/>
                </a:solidFill>
              </a:rPr>
              <a:t>Models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20" dirty="0">
                <a:solidFill>
                  <a:srgbClr val="202729"/>
                </a:solidFill>
              </a:rPr>
              <a:t>with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Data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5222240" cy="25400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20" dirty="0">
                <a:solidFill>
                  <a:srgbClr val="616161"/>
                </a:solidFill>
                <a:latin typeface="Trebuchet MS"/>
                <a:cs typeface="Trebuchet MS"/>
              </a:rPr>
              <a:t>Get</a:t>
            </a:r>
            <a:r>
              <a:rPr sz="1800" b="1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10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b="1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1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Invent,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Simulate,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Resample…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35" dirty="0">
                <a:solidFill>
                  <a:srgbClr val="616161"/>
                </a:solidFill>
                <a:latin typeface="Trebuchet MS"/>
                <a:cs typeface="Trebuchet MS"/>
              </a:rPr>
              <a:t>Transform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1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Reshape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distribution,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Rescale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Trebuchet MS"/>
                <a:cs typeface="Trebuchet MS"/>
              </a:rPr>
              <a:t>data...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50" dirty="0">
                <a:solidFill>
                  <a:srgbClr val="616161"/>
                </a:solidFill>
                <a:latin typeface="Trebuchet MS"/>
                <a:cs typeface="Trebuchet MS"/>
              </a:rPr>
              <a:t>Feature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16161"/>
                </a:solidFill>
                <a:latin typeface="Trebuchet MS"/>
                <a:cs typeface="Trebuchet MS"/>
              </a:rPr>
              <a:t>Engineering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Create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add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new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features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dirty="0">
                <a:solidFill>
                  <a:srgbClr val="616161"/>
                </a:solidFill>
                <a:latin typeface="Trebuchet MS"/>
                <a:cs typeface="Trebuchet MS"/>
              </a:rPr>
              <a:t>Clean</a:t>
            </a:r>
            <a:r>
              <a:rPr sz="1800" b="1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1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Missing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handling,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Reduce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Noise…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8092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202729"/>
                </a:solidFill>
              </a:rPr>
              <a:t>Improving</a:t>
            </a:r>
            <a:r>
              <a:rPr sz="2800" spc="-185" dirty="0">
                <a:solidFill>
                  <a:srgbClr val="202729"/>
                </a:solidFill>
              </a:rPr>
              <a:t> </a:t>
            </a:r>
            <a:r>
              <a:rPr sz="2800" spc="75" dirty="0">
                <a:solidFill>
                  <a:srgbClr val="202729"/>
                </a:solidFill>
              </a:rPr>
              <a:t>Models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138124"/>
            <a:ext cx="8063230" cy="342646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spc="-35" dirty="0">
                <a:solidFill>
                  <a:srgbClr val="616161"/>
                </a:solidFill>
                <a:latin typeface="Trebuchet MS"/>
                <a:cs typeface="Trebuchet MS"/>
              </a:rPr>
              <a:t>Feature</a:t>
            </a:r>
            <a:r>
              <a:rPr sz="2400" spc="-1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616161"/>
                </a:solidFill>
                <a:latin typeface="Trebuchet MS"/>
                <a:cs typeface="Trebuchet MS"/>
              </a:rPr>
              <a:t>Selection</a:t>
            </a:r>
            <a:endParaRPr sz="2400">
              <a:latin typeface="Trebuchet MS"/>
              <a:cs typeface="Trebuchet MS"/>
            </a:endParaRPr>
          </a:p>
          <a:p>
            <a:pPr marL="469900" indent="-297180">
              <a:lnSpc>
                <a:spcPct val="100000"/>
              </a:lnSpc>
              <a:spcBef>
                <a:spcPts val="44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Selecting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features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improve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prediction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model</a:t>
            </a:r>
            <a:endParaRPr sz="1800">
              <a:latin typeface="Trebuchet MS"/>
              <a:cs typeface="Trebuchet MS"/>
            </a:endParaRPr>
          </a:p>
          <a:p>
            <a:pPr marL="927100" lvl="1" indent="-297180">
              <a:lnSpc>
                <a:spcPct val="100000"/>
              </a:lnSpc>
              <a:spcBef>
                <a:spcPts val="1290"/>
              </a:spcBef>
              <a:buChar char="-"/>
              <a:tabLst>
                <a:tab pos="926465" algn="l"/>
                <a:tab pos="927100" algn="l"/>
              </a:tabLst>
            </a:pPr>
            <a:r>
              <a:rPr sz="1800" spc="7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there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lot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features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(noise)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enough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points</a:t>
            </a:r>
            <a:endParaRPr sz="1800">
              <a:latin typeface="Trebuchet MS"/>
              <a:cs typeface="Trebuchet MS"/>
            </a:endParaRPr>
          </a:p>
          <a:p>
            <a:pPr marL="927100" marR="622300" lvl="1" indent="-297180">
              <a:lnSpc>
                <a:spcPct val="100699"/>
              </a:lnSpc>
              <a:buChar char="-"/>
              <a:tabLst>
                <a:tab pos="926465" algn="l"/>
                <a:tab pos="927100" algn="l"/>
              </a:tabLst>
            </a:pP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Sometimes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adding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feature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also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improve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model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616161"/>
                </a:solidFill>
                <a:latin typeface="Trebuchet MS"/>
                <a:cs typeface="Trebuchet MS"/>
              </a:rPr>
              <a:t>it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decrease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bias.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870"/>
              </a:lnSpc>
            </a:pPr>
            <a:r>
              <a:rPr sz="2400" spc="2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  <a:p>
            <a:pPr marL="927100" indent="-297180">
              <a:lnSpc>
                <a:spcPct val="100000"/>
              </a:lnSpc>
              <a:spcBef>
                <a:spcPts val="1420"/>
              </a:spcBef>
              <a:buChar char="-"/>
              <a:tabLst>
                <a:tab pos="926465" algn="l"/>
                <a:tab pos="927100" algn="l"/>
              </a:tabLst>
            </a:pPr>
            <a:r>
              <a:rPr sz="1800" b="1" spc="-10" dirty="0">
                <a:solidFill>
                  <a:srgbClr val="616161"/>
                </a:solidFill>
                <a:latin typeface="Trebuchet MS"/>
                <a:cs typeface="Trebuchet MS"/>
              </a:rPr>
              <a:t>Reduce</a:t>
            </a:r>
            <a:r>
              <a:rPr sz="1800" b="1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616161"/>
                </a:solidFill>
                <a:latin typeface="Trebuchet MS"/>
                <a:cs typeface="Trebuchet MS"/>
              </a:rPr>
              <a:t>Overfitting</a:t>
            </a:r>
            <a:endParaRPr sz="1800">
              <a:latin typeface="Trebuchet MS"/>
              <a:cs typeface="Trebuchet MS"/>
            </a:endParaRPr>
          </a:p>
          <a:p>
            <a:pPr marL="927100" indent="-297180">
              <a:lnSpc>
                <a:spcPct val="100000"/>
              </a:lnSpc>
              <a:spcBef>
                <a:spcPts val="1065"/>
              </a:spcBef>
              <a:buChar char="-"/>
              <a:tabLst>
                <a:tab pos="926465" algn="l"/>
                <a:tab pos="927100" algn="l"/>
              </a:tabLst>
            </a:pPr>
            <a:r>
              <a:rPr sz="1800" b="1" spc="-30" dirty="0">
                <a:solidFill>
                  <a:srgbClr val="616161"/>
                </a:solidFill>
                <a:latin typeface="Trebuchet MS"/>
                <a:cs typeface="Trebuchet MS"/>
              </a:rPr>
              <a:t>Improve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616161"/>
                </a:solidFill>
                <a:latin typeface="Trebuchet MS"/>
                <a:cs typeface="Trebuchet MS"/>
              </a:rPr>
              <a:t>Accuracy</a:t>
            </a:r>
            <a:endParaRPr sz="1800">
              <a:latin typeface="Trebuchet MS"/>
              <a:cs typeface="Trebuchet MS"/>
            </a:endParaRPr>
          </a:p>
          <a:p>
            <a:pPr marL="927100" indent="-297180">
              <a:lnSpc>
                <a:spcPct val="100000"/>
              </a:lnSpc>
              <a:spcBef>
                <a:spcPts val="1065"/>
              </a:spcBef>
              <a:buChar char="-"/>
              <a:tabLst>
                <a:tab pos="926465" algn="l"/>
                <a:tab pos="927100" algn="l"/>
              </a:tabLst>
            </a:pPr>
            <a:r>
              <a:rPr sz="1800" b="1" spc="-10" dirty="0">
                <a:solidFill>
                  <a:srgbClr val="616161"/>
                </a:solidFill>
                <a:latin typeface="Trebuchet MS"/>
                <a:cs typeface="Trebuchet MS"/>
              </a:rPr>
              <a:t>Reduce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616161"/>
                </a:solidFill>
                <a:latin typeface="Trebuchet MS"/>
                <a:cs typeface="Trebuchet MS"/>
              </a:rPr>
              <a:t>overall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30" dirty="0">
                <a:solidFill>
                  <a:srgbClr val="616161"/>
                </a:solidFill>
                <a:latin typeface="Trebuchet MS"/>
                <a:cs typeface="Trebuchet MS"/>
              </a:rPr>
              <a:t>Training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75" y="1801241"/>
            <a:ext cx="5375910" cy="14903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0"/>
              </a:spcBef>
            </a:pPr>
            <a:r>
              <a:rPr spc="-80" dirty="0"/>
              <a:t>Distributed</a:t>
            </a:r>
            <a:r>
              <a:rPr spc="-275" dirty="0"/>
              <a:t> </a:t>
            </a:r>
            <a:r>
              <a:rPr spc="45" dirty="0"/>
              <a:t>Machine </a:t>
            </a:r>
            <a:r>
              <a:rPr spc="-1440" dirty="0"/>
              <a:t> </a:t>
            </a:r>
            <a:r>
              <a:rPr spc="-10" dirty="0"/>
              <a:t>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41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" dirty="0">
                <a:solidFill>
                  <a:srgbClr val="202729"/>
                </a:solidFill>
              </a:rPr>
              <a:t>The</a:t>
            </a:r>
            <a:r>
              <a:rPr sz="2800" spc="-195" dirty="0">
                <a:solidFill>
                  <a:srgbClr val="202729"/>
                </a:solidFill>
              </a:rPr>
              <a:t> </a:t>
            </a:r>
            <a:r>
              <a:rPr sz="2800" spc="15" dirty="0">
                <a:solidFill>
                  <a:srgbClr val="202729"/>
                </a:solidFill>
              </a:rPr>
              <a:t>Options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1648" y="660499"/>
            <a:ext cx="3451252" cy="1464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6401" y="2965555"/>
            <a:ext cx="1684387" cy="14162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649" y="1246825"/>
            <a:ext cx="2325449" cy="19255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8200" y="2525308"/>
            <a:ext cx="2833949" cy="226233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5425" y="3345831"/>
            <a:ext cx="153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53131"/>
                </a:solidFill>
                <a:latin typeface="Arial"/>
                <a:cs typeface="Arial"/>
              </a:rPr>
              <a:t>Apache</a:t>
            </a:r>
            <a:r>
              <a:rPr sz="1800" b="1" spc="-80" dirty="0">
                <a:solidFill>
                  <a:srgbClr val="353131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53131"/>
                </a:solidFill>
                <a:latin typeface="Arial"/>
                <a:cs typeface="Arial"/>
              </a:rPr>
              <a:t>Singa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87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</a:rPr>
              <a:t>Machine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Learning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55" dirty="0">
                <a:solidFill>
                  <a:srgbClr val="202729"/>
                </a:solidFill>
              </a:rPr>
              <a:t>on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-100" dirty="0">
                <a:solidFill>
                  <a:srgbClr val="202729"/>
                </a:solidFill>
              </a:rPr>
              <a:t>(MLlib)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17994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MLlib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allows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distributed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machine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learning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very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large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datasets.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Built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top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616161"/>
                </a:solidFill>
                <a:latin typeface="Trebuchet MS"/>
                <a:cs typeface="Trebuchet MS"/>
              </a:rPr>
              <a:t>so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easily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within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Designed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similar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NumPy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interoperate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with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NumPy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SciPy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87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" dirty="0">
                <a:solidFill>
                  <a:srgbClr val="202729"/>
                </a:solidFill>
              </a:rPr>
              <a:t>Machine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-10" dirty="0">
                <a:solidFill>
                  <a:srgbClr val="202729"/>
                </a:solidFill>
              </a:rPr>
              <a:t>Learning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55" dirty="0">
                <a:solidFill>
                  <a:srgbClr val="202729"/>
                </a:solidFill>
              </a:rPr>
              <a:t>on</a:t>
            </a:r>
            <a:r>
              <a:rPr sz="2800" spc="-130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Spark</a:t>
            </a:r>
            <a:r>
              <a:rPr sz="2800" spc="-135" dirty="0">
                <a:solidFill>
                  <a:srgbClr val="202729"/>
                </a:solidFill>
              </a:rPr>
              <a:t> </a:t>
            </a:r>
            <a:r>
              <a:rPr sz="2800" spc="-100" dirty="0">
                <a:solidFill>
                  <a:srgbClr val="202729"/>
                </a:solidFill>
              </a:rPr>
              <a:t>(MLlib)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041601"/>
            <a:ext cx="6346190" cy="37973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RDDs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DataFrames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Unfortunately,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they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slightly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different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feature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sets…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616161"/>
              </a:buClr>
              <a:buFont typeface="Tahoma"/>
              <a:buChar char="○"/>
            </a:pPr>
            <a:endParaRPr sz="24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RDD</a:t>
            </a:r>
            <a:r>
              <a:rPr sz="1800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API: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pyspark.mllib.*</a:t>
            </a:r>
            <a:endParaRPr sz="1800">
              <a:latin typeface="Courier New"/>
              <a:cs typeface="Courier New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Original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API,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now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“Maintenance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Mode”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616161"/>
              </a:buClr>
              <a:buFont typeface="Tahoma"/>
              <a:buChar char="○"/>
            </a:pPr>
            <a:endParaRPr sz="24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DataFrame</a:t>
            </a: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API: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pyspark.ml.*</a:t>
            </a:r>
            <a:endParaRPr sz="1800">
              <a:latin typeface="Courier New"/>
              <a:cs typeface="Courier New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Primary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API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MLlib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2.0+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Tahoma"/>
              <a:buChar char="○"/>
              <a:tabLst>
                <a:tab pos="836294" algn="l"/>
                <a:tab pos="8369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Support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16161"/>
                </a:solidFill>
                <a:latin typeface="Trebuchet MS"/>
                <a:cs typeface="Trebuchet MS"/>
              </a:rPr>
              <a:t>ML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“pipelines”</a:t>
            </a:r>
            <a:endParaRPr sz="1800">
              <a:latin typeface="Trebuchet MS"/>
              <a:cs typeface="Trebuchet MS"/>
            </a:endParaRPr>
          </a:p>
          <a:p>
            <a:pPr marL="1293495" lvl="2" indent="-367030">
              <a:lnSpc>
                <a:spcPct val="100000"/>
              </a:lnSpc>
              <a:spcBef>
                <a:spcPts val="315"/>
              </a:spcBef>
              <a:buFont typeface="Tahoma"/>
              <a:buChar char="■"/>
              <a:tabLst>
                <a:tab pos="1293495" algn="l"/>
                <a:tab pos="1294130" algn="l"/>
              </a:tabLst>
            </a:pPr>
            <a:r>
              <a:rPr sz="1800" spc="60" dirty="0">
                <a:solidFill>
                  <a:srgbClr val="616161"/>
                </a:solidFill>
                <a:latin typeface="Trebuchet MS"/>
                <a:cs typeface="Trebuchet MS"/>
              </a:rPr>
              <a:t>Less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“glue”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code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necessary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0746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202729"/>
                </a:solidFill>
              </a:rPr>
              <a:t>When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-95" dirty="0">
                <a:solidFill>
                  <a:srgbClr val="202729"/>
                </a:solidFill>
              </a:rPr>
              <a:t>to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75" dirty="0">
                <a:solidFill>
                  <a:srgbClr val="202729"/>
                </a:solidFill>
              </a:rPr>
              <a:t>use</a:t>
            </a:r>
            <a:r>
              <a:rPr sz="2800" spc="-125" dirty="0">
                <a:solidFill>
                  <a:srgbClr val="202729"/>
                </a:solidFill>
              </a:rPr>
              <a:t> </a:t>
            </a:r>
            <a:r>
              <a:rPr sz="2800" spc="40" dirty="0">
                <a:solidFill>
                  <a:srgbClr val="202729"/>
                </a:solidFill>
              </a:rPr>
              <a:t>MLlib?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29224" y="1159968"/>
            <a:ext cx="7302500" cy="12827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520"/>
              </a:spcBef>
              <a:buFont typeface="Tahoma"/>
              <a:buChar char="●"/>
              <a:tabLst>
                <a:tab pos="424815" algn="l"/>
                <a:tab pos="425450" algn="l"/>
              </a:tabLst>
            </a:pPr>
            <a:r>
              <a:rPr sz="2400" spc="3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2400" spc="-1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24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80" dirty="0">
                <a:solidFill>
                  <a:srgbClr val="616161"/>
                </a:solidFill>
                <a:latin typeface="Trebuchet MS"/>
                <a:cs typeface="Trebuchet MS"/>
              </a:rPr>
              <a:t>LARGE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Tahoma"/>
              <a:buChar char="●"/>
              <a:tabLst>
                <a:tab pos="424815" algn="l"/>
                <a:tab pos="425450" algn="l"/>
              </a:tabLst>
            </a:pPr>
            <a:r>
              <a:rPr sz="2400" spc="2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616161"/>
                </a:solidFill>
                <a:latin typeface="Trebuchet MS"/>
                <a:cs typeface="Trebuchet MS"/>
              </a:rPr>
              <a:t>work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with </a:t>
            </a:r>
            <a:r>
              <a:rPr sz="2400" spc="-6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30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20" dirty="0">
                <a:solidFill>
                  <a:srgbClr val="616161"/>
                </a:solidFill>
                <a:latin typeface="Trebuchet MS"/>
                <a:cs typeface="Trebuchet MS"/>
              </a:rPr>
              <a:t>Ecosystem</a:t>
            </a:r>
            <a:endParaRPr sz="2400">
              <a:latin typeface="Trebuchet MS"/>
              <a:cs typeface="Trebuchet MS"/>
            </a:endParaRPr>
          </a:p>
          <a:p>
            <a:pPr marL="424815" indent="-412750">
              <a:lnSpc>
                <a:spcPct val="100000"/>
              </a:lnSpc>
              <a:spcBef>
                <a:spcPts val="420"/>
              </a:spcBef>
              <a:buFont typeface="Tahoma"/>
              <a:buChar char="●"/>
              <a:tabLst>
                <a:tab pos="424815" algn="l"/>
                <a:tab pos="425450" algn="l"/>
              </a:tabLst>
            </a:pPr>
            <a:r>
              <a:rPr sz="2400" spc="-45" dirty="0">
                <a:solidFill>
                  <a:srgbClr val="616161"/>
                </a:solidFill>
                <a:latin typeface="Trebuchet MS"/>
                <a:cs typeface="Trebuchet MS"/>
              </a:rPr>
              <a:t>Real-Time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20" dirty="0">
                <a:solidFill>
                  <a:srgbClr val="616161"/>
                </a:solidFill>
                <a:latin typeface="Trebuchet MS"/>
                <a:cs typeface="Trebuchet MS"/>
              </a:rPr>
              <a:t>Machine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616161"/>
                </a:solidFill>
                <a:latin typeface="Trebuchet MS"/>
                <a:cs typeface="Trebuchet MS"/>
              </a:rPr>
              <a:t>Learning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616161"/>
                </a:solidFill>
                <a:latin typeface="Trebuchet MS"/>
                <a:cs typeface="Trebuchet MS"/>
              </a:rPr>
              <a:t>(with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30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24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616161"/>
                </a:solidFill>
                <a:latin typeface="Trebuchet MS"/>
                <a:cs typeface="Trebuchet MS"/>
              </a:rPr>
              <a:t>Streaming)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487</Words>
  <Application>Microsoft Office PowerPoint</Application>
  <PresentationFormat>On-screen Show (16:9)</PresentationFormat>
  <Paragraphs>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Courier New</vt:lpstr>
      <vt:lpstr>Tahoma</vt:lpstr>
      <vt:lpstr>Trebuchet MS</vt:lpstr>
      <vt:lpstr>Office Theme</vt:lpstr>
      <vt:lpstr>Spark MLlib</vt:lpstr>
      <vt:lpstr>PowerPoint Presentation</vt:lpstr>
      <vt:lpstr>Machine Learning Basics</vt:lpstr>
      <vt:lpstr>Machine Learning Basics</vt:lpstr>
      <vt:lpstr>Machine Learning Basics</vt:lpstr>
      <vt:lpstr>Machine Learning Techniques</vt:lpstr>
      <vt:lpstr>Regression</vt:lpstr>
      <vt:lpstr>Classifiers</vt:lpstr>
      <vt:lpstr>Clustering</vt:lpstr>
      <vt:lpstr>How Do I Know If My Model Is Any Good?</vt:lpstr>
      <vt:lpstr>Performance Metrics</vt:lpstr>
      <vt:lpstr>Overfitting</vt:lpstr>
      <vt:lpstr>Improve Models with Data</vt:lpstr>
      <vt:lpstr>Improving Models</vt:lpstr>
      <vt:lpstr>Distributed Machine  Learning</vt:lpstr>
      <vt:lpstr>The Options</vt:lpstr>
      <vt:lpstr>Machine Learning on Spark (MLlib)</vt:lpstr>
      <vt:lpstr>Machine Learning on Spark (MLlib)</vt:lpstr>
      <vt:lpstr>When to use MLlib?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1</cp:revision>
  <dcterms:created xsi:type="dcterms:W3CDTF">2024-11-10T16:01:27Z</dcterms:created>
  <dcterms:modified xsi:type="dcterms:W3CDTF">2025-02-15T05:50:29Z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