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6" r:id="rId3"/>
    <p:sldId id="259" r:id="rId4"/>
    <p:sldId id="29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1" r:id="rId28"/>
    <p:sldId id="293" r:id="rId29"/>
    <p:sldId id="294" r:id="rId30"/>
    <p:sldId id="295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2" r:id="rId4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897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62308"/>
            <a:ext cx="6119495" cy="3068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4417" y="1163216"/>
            <a:ext cx="78600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4800" spc="270" dirty="0">
                <a:solidFill>
                  <a:srgbClr val="FFFFFF"/>
                </a:solidFill>
              </a:rPr>
              <a:t>NoSQL</a:t>
            </a:r>
            <a:r>
              <a:rPr sz="4800" spc="-180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and</a:t>
            </a:r>
            <a:r>
              <a:rPr sz="4800" spc="-175" dirty="0">
                <a:solidFill>
                  <a:srgbClr val="FFFFFF"/>
                </a:solidFill>
              </a:rPr>
              <a:t> </a:t>
            </a:r>
            <a:r>
              <a:rPr sz="4800" spc="-100" dirty="0">
                <a:solidFill>
                  <a:srgbClr val="FFFFFF"/>
                </a:solidFill>
              </a:rPr>
              <a:t>Key/Value</a:t>
            </a:r>
            <a:r>
              <a:rPr sz="4800" spc="-18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Stores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229C-301E-0D26-714E-A62D30433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dirty="0"/>
              <a:t>SQL databases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A9935-71A1-3C35-F262-BF24AD74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7750"/>
            <a:ext cx="734095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A</a:t>
            </a:r>
            <a:r>
              <a:rPr spc="-110" dirty="0"/>
              <a:t> </a:t>
            </a:r>
            <a:r>
              <a:rPr spc="-195" dirty="0"/>
              <a:t>little</a:t>
            </a:r>
            <a:r>
              <a:rPr spc="-105" dirty="0"/>
              <a:t> </a:t>
            </a:r>
            <a:r>
              <a:rPr spc="-145" dirty="0"/>
              <a:t>bit</a:t>
            </a:r>
            <a:r>
              <a:rPr spc="-110" dirty="0"/>
              <a:t> </a:t>
            </a:r>
            <a:r>
              <a:rPr spc="-75" dirty="0"/>
              <a:t>of</a:t>
            </a:r>
            <a:r>
              <a:rPr spc="-105" dirty="0"/>
              <a:t> </a:t>
            </a:r>
            <a:r>
              <a:rPr spc="-4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762875" cy="3590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became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SQL-like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1980s</a:t>
            </a:r>
            <a:endParaRPr lang="en-US" spc="-10" dirty="0">
              <a:solidFill>
                <a:srgbClr val="616161"/>
              </a:solidFill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dirty="0">
                <a:latin typeface="Trebuchet MS"/>
                <a:cs typeface="Trebuchet MS"/>
              </a:rPr>
              <a:t>Term first used in 1998 - NoSQL stands for “</a:t>
            </a:r>
            <a:r>
              <a:rPr lang="en-US" dirty="0">
                <a:solidFill>
                  <a:srgbClr val="FF0000"/>
                </a:solidFill>
                <a:latin typeface="Trebuchet MS"/>
                <a:cs typeface="Trebuchet MS"/>
              </a:rPr>
              <a:t>Not Only SQL</a:t>
            </a:r>
            <a:r>
              <a:rPr lang="en-US" dirty="0">
                <a:latin typeface="Trebuchet MS"/>
                <a:cs typeface="Trebuchet MS"/>
              </a:rPr>
              <a:t>”</a:t>
            </a:r>
            <a:endParaRPr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2006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Google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published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their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BigTable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paper</a:t>
            </a:r>
            <a:endParaRPr sz="18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4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1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was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4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1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was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designed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scale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petabytes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(1000s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gigabytes)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thousands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nodes</a:t>
            </a:r>
            <a:endParaRPr sz="14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Solved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scaling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relaxing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availability</a:t>
            </a:r>
            <a:endParaRPr sz="14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185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16161"/>
                </a:solidFill>
                <a:latin typeface="Trebuchet MS"/>
                <a:cs typeface="Trebuchet MS"/>
              </a:rPr>
              <a:t>2007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Amazon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published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their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Dynamo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paper</a:t>
            </a:r>
            <a:endParaRPr sz="18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Again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SQL;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Similarly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solves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problem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scaling</a:t>
            </a:r>
            <a:endParaRPr sz="14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Solved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scaling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through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relaxing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consistency</a:t>
            </a:r>
            <a:endParaRPr sz="14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185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2009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were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tons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systems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like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these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Now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hundreds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nodes,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616161"/>
                </a:solidFill>
                <a:latin typeface="Trebuchet MS"/>
                <a:cs typeface="Trebuchet MS"/>
              </a:rPr>
              <a:t>NoSQL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normal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solution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BFBBB-1587-C710-E2C3-82B3DECB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9" y="1047750"/>
            <a:ext cx="7678222" cy="3629532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0CDBAE16-3368-EDAE-668F-7F8A700FE2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58801"/>
            <a:ext cx="8911675" cy="893081"/>
          </a:xfrm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80" dirty="0"/>
              <a:t>Reached a noticeable awareness in April 2009</a:t>
            </a:r>
            <a:endParaRPr lang="en-US" spc="-40" dirty="0"/>
          </a:p>
        </p:txBody>
      </p:sp>
    </p:spTree>
    <p:extLst>
      <p:ext uri="{BB962C8B-B14F-4D97-AF65-F5344CB8AC3E}">
        <p14:creationId xmlns:p14="http://schemas.microsoft.com/office/powerpoint/2010/main" val="56943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45" dirty="0"/>
              <a:t>Why </a:t>
            </a:r>
            <a:r>
              <a:rPr spc="145" dirty="0"/>
              <a:t>NoSQL</a:t>
            </a:r>
            <a:r>
              <a:rPr lang="en-US" spc="145" dirty="0"/>
              <a:t> ?</a:t>
            </a:r>
            <a:endParaRPr spc="145"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619365" cy="191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which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relational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scale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tons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tons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of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servers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>
                <a:latin typeface="Trebuchet MS"/>
                <a:cs typeface="Trebuchet MS"/>
              </a:rPr>
              <a:t>Building distributed RDBMSs is a very complex (expensive) task</a:t>
            </a:r>
          </a:p>
          <a:p>
            <a:pPr marL="379095" indent="-367030"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spc="-30" dirty="0">
                <a:solidFill>
                  <a:srgbClr val="616161"/>
                </a:solidFill>
                <a:latin typeface="Trebuchet MS"/>
                <a:cs typeface="Trebuchet MS"/>
              </a:rPr>
              <a:t>Sacrifice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spc="-60" dirty="0">
                <a:solidFill>
                  <a:srgbClr val="616161"/>
                </a:solidFill>
                <a:latin typeface="Trebuchet MS"/>
                <a:cs typeface="Trebuchet MS"/>
              </a:rPr>
              <a:t>compatibility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higher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spc="-75" dirty="0">
                <a:solidFill>
                  <a:srgbClr val="616161"/>
                </a:solidFill>
                <a:latin typeface="Trebuchet MS"/>
                <a:cs typeface="Trebuchet MS"/>
              </a:rPr>
              <a:t>read/write/storage</a:t>
            </a:r>
            <a:r>
              <a:rPr lang="en-US"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rates</a:t>
            </a:r>
            <a:endParaRPr lang="en-US"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pc="-10" dirty="0">
                <a:solidFill>
                  <a:srgbClr val="616161"/>
                </a:solidFill>
                <a:latin typeface="Trebuchet MS"/>
                <a:cs typeface="Trebuchet MS"/>
              </a:rPr>
              <a:t>Schema free - Handling Unstructured Data</a:t>
            </a: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SQL</a:t>
            </a:r>
            <a:r>
              <a:rPr spc="-125" dirty="0"/>
              <a:t> </a:t>
            </a:r>
            <a:r>
              <a:rPr spc="75" dirty="0"/>
              <a:t>vs</a:t>
            </a:r>
            <a:r>
              <a:rPr spc="-125" dirty="0"/>
              <a:t> </a:t>
            </a:r>
            <a:r>
              <a:rPr spc="145" dirty="0"/>
              <a:t>NoSQL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52105" cy="30308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systems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typically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good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at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consistency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0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written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row,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reads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slow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down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transactions</a:t>
            </a:r>
            <a:endParaRPr sz="1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vast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majority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(not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only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SQL)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ACID: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Atomic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Consistent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Isolated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Durable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616161"/>
              </a:buClr>
              <a:buFont typeface="Arial MT"/>
              <a:buChar char="○"/>
            </a:pPr>
            <a:endParaRPr sz="16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80" dirty="0">
                <a:solidFill>
                  <a:srgbClr val="616161"/>
                </a:solidFill>
                <a:latin typeface="Trebuchet MS"/>
                <a:cs typeface="Trebuchet MS"/>
              </a:rPr>
              <a:t>ACID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analogous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properties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global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variable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single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threaded program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NoSQL</a:t>
            </a:r>
            <a:r>
              <a:rPr spc="-5" dirty="0"/>
              <a:t> </a:t>
            </a:r>
            <a:r>
              <a:rPr dirty="0"/>
              <a:t>Database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144751" cy="2777041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 (Redis, </a:t>
            </a:r>
            <a:r>
              <a:rPr lang="en-US" sz="1800" spc="-10" dirty="0" err="1">
                <a:solidFill>
                  <a:srgbClr val="616161"/>
                </a:solidFill>
                <a:latin typeface="Trebuchet MS"/>
                <a:cs typeface="Trebuchet MS"/>
              </a:rPr>
              <a:t>Riak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, </a:t>
            </a:r>
            <a:r>
              <a:rPr lang="en-US" sz="1800" spc="-10" dirty="0" err="1">
                <a:solidFill>
                  <a:srgbClr val="616161"/>
                </a:solidFill>
                <a:latin typeface="Trebuchet MS"/>
                <a:cs typeface="Trebuchet MS"/>
              </a:rPr>
              <a:t>LocalStorage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, Amazon DynamoDB, Datastore on GAE)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Document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Oriented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 (MongoDB, </a:t>
            </a:r>
            <a:r>
              <a:rPr lang="en-US" sz="1800" spc="-10" dirty="0" err="1">
                <a:solidFill>
                  <a:srgbClr val="616161"/>
                </a:solidFill>
                <a:latin typeface="Trebuchet MS"/>
                <a:cs typeface="Trebuchet MS"/>
              </a:rPr>
              <a:t>CourchDB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, </a:t>
            </a:r>
            <a:r>
              <a:rPr lang="en-US" sz="1800" spc="-10" dirty="0" err="1">
                <a:solidFill>
                  <a:srgbClr val="616161"/>
                </a:solidFill>
                <a:latin typeface="Trebuchet MS"/>
                <a:cs typeface="Trebuchet MS"/>
              </a:rPr>
              <a:t>RethinkDB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)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Columnar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Storage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 (HBase, Apache Cassandra, </a:t>
            </a:r>
            <a:r>
              <a:rPr lang="en-US" sz="1800" spc="-10" dirty="0" err="1">
                <a:solidFill>
                  <a:srgbClr val="616161"/>
                </a:solidFill>
                <a:latin typeface="Trebuchet MS"/>
                <a:cs typeface="Trebuchet MS"/>
              </a:rPr>
              <a:t>ClickHouse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, Pinot, and Druid)</a:t>
            </a: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 err="1">
                <a:latin typeface="Trebuchet MS"/>
                <a:cs typeface="Trebuchet MS"/>
              </a:rPr>
              <a:t>Multivalue</a:t>
            </a:r>
            <a:r>
              <a:rPr lang="en-US" sz="1800" dirty="0">
                <a:latin typeface="Trebuchet MS"/>
                <a:cs typeface="Trebuchet MS"/>
              </a:rPr>
              <a:t> databases (</a:t>
            </a:r>
            <a:r>
              <a:rPr lang="en-US" sz="1800" dirty="0" err="1">
                <a:latin typeface="Trebuchet MS"/>
                <a:cs typeface="Trebuchet MS"/>
              </a:rPr>
              <a:t>InfinityDB</a:t>
            </a:r>
            <a:r>
              <a:rPr lang="en-US" sz="1800" dirty="0">
                <a:latin typeface="Trebuchet MS"/>
                <a:cs typeface="Trebuchet MS"/>
              </a:rPr>
              <a:t>)</a:t>
            </a: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>
                <a:latin typeface="Trebuchet MS"/>
                <a:cs typeface="Trebuchet MS"/>
              </a:rPr>
              <a:t>Graph (</a:t>
            </a:r>
            <a:r>
              <a:rPr lang="en-US" sz="1800" dirty="0" err="1">
                <a:latin typeface="Trebuchet MS"/>
                <a:cs typeface="Trebuchet MS"/>
              </a:rPr>
              <a:t>AllegroGraph</a:t>
            </a:r>
            <a:r>
              <a:rPr lang="en-US" sz="1800" dirty="0">
                <a:latin typeface="Trebuchet MS"/>
                <a:cs typeface="Trebuchet MS"/>
              </a:rPr>
              <a:t>, Neo4J)</a:t>
            </a: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endParaRPr lang="en-US"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endParaRPr lang="en-US"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80" dirty="0"/>
              <a:t> </a:t>
            </a:r>
            <a:r>
              <a:rPr dirty="0"/>
              <a:t>Value</a:t>
            </a:r>
            <a:r>
              <a:rPr spc="-80" dirty="0"/>
              <a:t> </a:t>
            </a:r>
            <a:r>
              <a:rPr spc="-10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6479540" cy="3303852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These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pairs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really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really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well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distributed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cache</a:t>
            </a:r>
            <a:endParaRPr lang="en-US" sz="1800" spc="-10" dirty="0">
              <a:solidFill>
                <a:srgbClr val="616161"/>
              </a:solidFill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lang="en-US" sz="1800" dirty="0">
                <a:latin typeface="Trebuchet MS"/>
                <a:cs typeface="Trebuchet MS"/>
              </a:rPr>
              <a:t>Key-value databases are generally useful for storing session information, user profiles, preferences, shopping cart data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document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under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hood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195" dirty="0">
                <a:solidFill>
                  <a:srgbClr val="616161"/>
                </a:solidFill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469900" marR="4958715">
              <a:lnSpc>
                <a:spcPct val="114599"/>
              </a:lnSpc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Key1: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val1,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Key2: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val2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195" dirty="0">
                <a:solidFill>
                  <a:srgbClr val="616161"/>
                </a:solidFill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Document</a:t>
            </a:r>
            <a:r>
              <a:rPr spc="-140" dirty="0"/>
              <a:t> </a:t>
            </a:r>
            <a:r>
              <a:rPr spc="-25" dirty="0"/>
              <a:t>Oriented</a:t>
            </a:r>
            <a:r>
              <a:rPr spc="-135" dirty="0"/>
              <a:t> </a:t>
            </a:r>
            <a:r>
              <a:rPr spc="-10" dirty="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275830" cy="32308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complex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structures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like: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65" dirty="0">
                <a:solidFill>
                  <a:srgbClr val="616161"/>
                </a:solidFill>
                <a:latin typeface="Trebuchet MS"/>
                <a:cs typeface="Trebuchet MS"/>
              </a:rPr>
              <a:t>JSON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65" dirty="0">
                <a:solidFill>
                  <a:srgbClr val="616161"/>
                </a:solidFill>
                <a:latin typeface="Trebuchet MS"/>
                <a:cs typeface="Trebuchet MS"/>
              </a:rPr>
              <a:t>XML</a:t>
            </a:r>
            <a:endParaRPr sz="14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50" dirty="0">
                <a:solidFill>
                  <a:srgbClr val="616161"/>
                </a:solidFill>
                <a:latin typeface="Trebuchet MS"/>
                <a:cs typeface="Trebuchet MS"/>
              </a:rPr>
              <a:t>YAML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616161"/>
              </a:buClr>
              <a:buFont typeface="Arial MT"/>
              <a:buChar char="○"/>
            </a:pPr>
            <a:endParaRPr sz="16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These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work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really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well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queries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item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instead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of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aggregations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 MT"/>
              <a:buChar char="●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Typically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provide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their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own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unique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query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languages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616161"/>
              </a:buClr>
              <a:buFont typeface="Arial MT"/>
              <a:buChar char="●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These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extend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idea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complex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types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7025" y="0"/>
            <a:ext cx="4349952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Document</a:t>
            </a:r>
            <a:r>
              <a:rPr spc="-105" dirty="0"/>
              <a:t> </a:t>
            </a:r>
            <a:r>
              <a:rPr spc="180" dirty="0"/>
              <a:t>Vs</a:t>
            </a:r>
            <a:r>
              <a:rPr spc="-100" dirty="0"/>
              <a:t> </a:t>
            </a:r>
            <a:r>
              <a:rPr dirty="0"/>
              <a:t>Key</a:t>
            </a:r>
            <a:r>
              <a:rPr spc="-105" dirty="0"/>
              <a:t> </a:t>
            </a:r>
            <a:r>
              <a:rPr dirty="0"/>
              <a:t>Value</a:t>
            </a:r>
            <a:r>
              <a:rPr spc="-100" dirty="0"/>
              <a:t> </a:t>
            </a:r>
            <a:r>
              <a:rPr spc="-10" dirty="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202170" cy="203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Both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address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objects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with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key: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1889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Document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616161"/>
                </a:solidFill>
                <a:latin typeface="Trebuchet MS"/>
                <a:cs typeface="Trebuchet MS"/>
              </a:rPr>
              <a:t>DBs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cluster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documents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within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collections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mainly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only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collection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faster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(Smaller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less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structure)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Document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616161"/>
                </a:solidFill>
                <a:latin typeface="Trebuchet MS"/>
                <a:cs typeface="Trebuchet MS"/>
              </a:rPr>
              <a:t>DBs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support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extensive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query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languages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general</a:t>
            </a:r>
            <a:endParaRPr sz="24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do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not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need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complex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objects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,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Columnar/Column</a:t>
            </a:r>
            <a:r>
              <a:rPr spc="-125" dirty="0"/>
              <a:t> </a:t>
            </a:r>
            <a:r>
              <a:rPr spc="55" dirty="0"/>
              <a:t>based</a:t>
            </a:r>
            <a:r>
              <a:rPr spc="-120" dirty="0"/>
              <a:t> </a:t>
            </a:r>
            <a:r>
              <a:rPr spc="-10" dirty="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13395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Columns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stored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together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instead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rows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row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split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amongst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many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machines</a:t>
            </a:r>
            <a:endParaRPr sz="1800" dirty="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Makes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aggregations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really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fast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since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single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column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normally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resides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one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machine</a:t>
            </a:r>
            <a:r>
              <a:rPr lang="en-US" sz="1800" spc="-10" dirty="0">
                <a:solidFill>
                  <a:srgbClr val="616161"/>
                </a:solidFill>
                <a:latin typeface="Trebuchet MS"/>
                <a:cs typeface="Trebuchet MS"/>
              </a:rPr>
              <a:t> =&gt; This makes a big difference for analytical data processing</a:t>
            </a:r>
            <a:endParaRPr sz="18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Usually</a:t>
            </a:r>
            <a:r>
              <a:rPr sz="18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0000"/>
                </a:solidFill>
                <a:latin typeface="Trebuchet MS"/>
                <a:cs typeface="Trebuchet MS"/>
              </a:rPr>
              <a:t>does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support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rebuchet MS"/>
                <a:cs typeface="Trebuchet MS"/>
              </a:rPr>
              <a:t>joins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Trebuchet MS"/>
                <a:cs typeface="Trebuchet MS"/>
              </a:rPr>
              <a:t>(or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rebuchet MS"/>
                <a:cs typeface="Trebuchet MS"/>
              </a:rPr>
              <a:t>joins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are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very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slow)</a:t>
            </a:r>
            <a:endParaRPr sz="18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08E1A-4064-AE54-36D6-0CCE11489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93780"/>
            <a:ext cx="6592220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dirty="0"/>
              <a:t>Row</a:t>
            </a:r>
            <a:r>
              <a:rPr spc="-70" dirty="0"/>
              <a:t> </a:t>
            </a:r>
            <a:r>
              <a:rPr spc="55" dirty="0"/>
              <a:t>based</a:t>
            </a:r>
            <a:r>
              <a:rPr spc="-65" dirty="0"/>
              <a:t> </a:t>
            </a:r>
            <a:r>
              <a:rPr spc="-10" dirty="0"/>
              <a:t>databases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962" y="672112"/>
            <a:ext cx="7610474" cy="2105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925" y="3540511"/>
            <a:ext cx="7648574" cy="6654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4725" y="2750976"/>
            <a:ext cx="4285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202729"/>
                </a:solidFill>
                <a:latin typeface="Trebuchet MS"/>
                <a:cs typeface="Trebuchet MS"/>
              </a:rPr>
              <a:t>Columnar</a:t>
            </a:r>
            <a:r>
              <a:rPr sz="2800" spc="-14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202729"/>
                </a:solidFill>
                <a:latin typeface="Trebuchet MS"/>
                <a:cs typeface="Trebuchet MS"/>
              </a:rPr>
              <a:t>based</a:t>
            </a:r>
            <a:r>
              <a:rPr sz="2800" spc="-13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202729"/>
                </a:solidFill>
                <a:latin typeface="Trebuchet MS"/>
                <a:cs typeface="Trebuchet MS"/>
              </a:rPr>
              <a:t>databases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Relaxing</a:t>
            </a:r>
            <a:r>
              <a:rPr spc="-155" dirty="0"/>
              <a:t> </a:t>
            </a:r>
            <a:r>
              <a:rPr spc="-2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54315" cy="2219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above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types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implemented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using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normal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a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backend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616161"/>
              </a:buClr>
              <a:buFont typeface="Arial MT"/>
              <a:buChar char="●"/>
            </a:pPr>
            <a:endParaRPr sz="24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also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implemented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616161"/>
                </a:solidFill>
                <a:latin typeface="Trebuchet MS"/>
                <a:cs typeface="Trebuchet MS"/>
              </a:rPr>
              <a:t>ACID</a:t>
            </a:r>
            <a:r>
              <a:rPr lang="en-US" spc="80" dirty="0">
                <a:solidFill>
                  <a:srgbClr val="616161"/>
                </a:solidFill>
                <a:latin typeface="Trebuchet MS"/>
                <a:cs typeface="Trebuchet MS"/>
              </a:rPr>
              <a:t> (</a:t>
            </a:r>
            <a:r>
              <a:rPr lang="en-US" dirty="0"/>
              <a:t>Atomicity, Consistency, Isolation, and Durability</a:t>
            </a:r>
            <a:r>
              <a:rPr lang="en-US" spc="80" dirty="0">
                <a:solidFill>
                  <a:srgbClr val="616161"/>
                </a:solidFill>
                <a:latin typeface="Trebuchet MS"/>
              </a:rPr>
              <a:t>)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 MT"/>
              <a:buChar char="●"/>
            </a:pPr>
            <a:endParaRPr sz="2400" dirty="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specified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did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strong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consistency?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Eventual</a:t>
            </a:r>
            <a:r>
              <a:rPr spc="-1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55332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Making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everything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consistent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immediately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means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clients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queue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Say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3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clients,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writing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other two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reading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6184" y="2011987"/>
            <a:ext cx="5384165" cy="1416050"/>
            <a:chOff x="1406184" y="2011987"/>
            <a:chExt cx="5384165" cy="1416050"/>
          </a:xfrm>
        </p:grpSpPr>
        <p:sp>
          <p:nvSpPr>
            <p:cNvPr id="5" name="object 5"/>
            <p:cNvSpPr/>
            <p:nvPr/>
          </p:nvSpPr>
          <p:spPr>
            <a:xfrm>
              <a:off x="1410946" y="2086209"/>
              <a:ext cx="2209800" cy="1336675"/>
            </a:xfrm>
            <a:custGeom>
              <a:avLst/>
              <a:gdLst/>
              <a:ahLst/>
              <a:cxnLst/>
              <a:rect l="l" t="t" r="r" b="b"/>
              <a:pathLst>
                <a:path w="2209800" h="1336675">
                  <a:moveTo>
                    <a:pt x="1902672" y="71616"/>
                  </a:moveTo>
                  <a:lnTo>
                    <a:pt x="1525892" y="71616"/>
                  </a:lnTo>
                  <a:lnTo>
                    <a:pt x="1559806" y="44443"/>
                  </a:lnTo>
                  <a:lnTo>
                    <a:pt x="1598651" y="23390"/>
                  </a:lnTo>
                  <a:lnTo>
                    <a:pt x="1641238" y="8762"/>
                  </a:lnTo>
                  <a:lnTo>
                    <a:pt x="1686379" y="863"/>
                  </a:lnTo>
                  <a:lnTo>
                    <a:pt x="1732888" y="0"/>
                  </a:lnTo>
                  <a:lnTo>
                    <a:pt x="1779576" y="6476"/>
                  </a:lnTo>
                  <a:lnTo>
                    <a:pt x="1832266" y="23619"/>
                  </a:lnTo>
                  <a:lnTo>
                    <a:pt x="1878050" y="49585"/>
                  </a:lnTo>
                  <a:lnTo>
                    <a:pt x="1902672" y="71616"/>
                  </a:lnTo>
                  <a:close/>
                </a:path>
                <a:path w="2209800" h="1336675">
                  <a:moveTo>
                    <a:pt x="1927977" y="101054"/>
                  </a:moveTo>
                  <a:lnTo>
                    <a:pt x="1148986" y="101054"/>
                  </a:lnTo>
                  <a:lnTo>
                    <a:pt x="1180605" y="62124"/>
                  </a:lnTo>
                  <a:lnTo>
                    <a:pt x="1222400" y="31461"/>
                  </a:lnTo>
                  <a:lnTo>
                    <a:pt x="1272124" y="10335"/>
                  </a:lnTo>
                  <a:lnTo>
                    <a:pt x="1327533" y="16"/>
                  </a:lnTo>
                  <a:lnTo>
                    <a:pt x="1384305" y="1573"/>
                  </a:lnTo>
                  <a:lnTo>
                    <a:pt x="1437952" y="14626"/>
                  </a:lnTo>
                  <a:lnTo>
                    <a:pt x="1485979" y="38274"/>
                  </a:lnTo>
                  <a:lnTo>
                    <a:pt x="1525892" y="71616"/>
                  </a:lnTo>
                  <a:lnTo>
                    <a:pt x="1902672" y="71616"/>
                  </a:lnTo>
                  <a:lnTo>
                    <a:pt x="1915474" y="83072"/>
                  </a:lnTo>
                  <a:lnTo>
                    <a:pt x="1927977" y="101054"/>
                  </a:lnTo>
                  <a:close/>
                </a:path>
                <a:path w="2209800" h="1336675">
                  <a:moveTo>
                    <a:pt x="1955182" y="155830"/>
                  </a:moveTo>
                  <a:lnTo>
                    <a:pt x="717210" y="155830"/>
                  </a:lnTo>
                  <a:lnTo>
                    <a:pt x="745264" y="120641"/>
                  </a:lnTo>
                  <a:lnTo>
                    <a:pt x="780288" y="90740"/>
                  </a:lnTo>
                  <a:lnTo>
                    <a:pt x="821209" y="66754"/>
                  </a:lnTo>
                  <a:lnTo>
                    <a:pt x="866954" y="49313"/>
                  </a:lnTo>
                  <a:lnTo>
                    <a:pt x="916450" y="39045"/>
                  </a:lnTo>
                  <a:lnTo>
                    <a:pt x="967398" y="36571"/>
                  </a:lnTo>
                  <a:lnTo>
                    <a:pt x="1017378" y="41868"/>
                  </a:lnTo>
                  <a:lnTo>
                    <a:pt x="1065136" y="54604"/>
                  </a:lnTo>
                  <a:lnTo>
                    <a:pt x="1109423" y="74443"/>
                  </a:lnTo>
                  <a:lnTo>
                    <a:pt x="1148986" y="101054"/>
                  </a:lnTo>
                  <a:lnTo>
                    <a:pt x="1927977" y="101054"/>
                  </a:lnTo>
                  <a:lnTo>
                    <a:pt x="1943082" y="122779"/>
                  </a:lnTo>
                  <a:lnTo>
                    <a:pt x="1955182" y="155830"/>
                  </a:lnTo>
                  <a:close/>
                </a:path>
                <a:path w="2209800" h="1336675">
                  <a:moveTo>
                    <a:pt x="644981" y="1256583"/>
                  </a:moveTo>
                  <a:lnTo>
                    <a:pt x="592860" y="1254219"/>
                  </a:lnTo>
                  <a:lnTo>
                    <a:pt x="541128" y="1246086"/>
                  </a:lnTo>
                  <a:lnTo>
                    <a:pt x="491166" y="1232327"/>
                  </a:lnTo>
                  <a:lnTo>
                    <a:pt x="444264" y="1213374"/>
                  </a:lnTo>
                  <a:lnTo>
                    <a:pt x="400973" y="1189572"/>
                  </a:lnTo>
                  <a:lnTo>
                    <a:pt x="361839" y="1161270"/>
                  </a:lnTo>
                  <a:lnTo>
                    <a:pt x="327413" y="1128813"/>
                  </a:lnTo>
                  <a:lnTo>
                    <a:pt x="298241" y="1092548"/>
                  </a:lnTo>
                  <a:lnTo>
                    <a:pt x="243245" y="1092246"/>
                  </a:lnTo>
                  <a:lnTo>
                    <a:pt x="191127" y="1081216"/>
                  </a:lnTo>
                  <a:lnTo>
                    <a:pt x="144025" y="1060403"/>
                  </a:lnTo>
                  <a:lnTo>
                    <a:pt x="104079" y="1030752"/>
                  </a:lnTo>
                  <a:lnTo>
                    <a:pt x="73428" y="993209"/>
                  </a:lnTo>
                  <a:lnTo>
                    <a:pt x="54873" y="950643"/>
                  </a:lnTo>
                  <a:lnTo>
                    <a:pt x="49562" y="906612"/>
                  </a:lnTo>
                  <a:lnTo>
                    <a:pt x="57148" y="863093"/>
                  </a:lnTo>
                  <a:lnTo>
                    <a:pt x="77289" y="822061"/>
                  </a:lnTo>
                  <a:lnTo>
                    <a:pt x="109639" y="785494"/>
                  </a:lnTo>
                  <a:lnTo>
                    <a:pt x="64978" y="756953"/>
                  </a:lnTo>
                  <a:lnTo>
                    <a:pt x="31113" y="720911"/>
                  </a:lnTo>
                  <a:lnTo>
                    <a:pt x="9100" y="679365"/>
                  </a:lnTo>
                  <a:lnTo>
                    <a:pt x="0" y="634311"/>
                  </a:lnTo>
                  <a:lnTo>
                    <a:pt x="4868" y="587746"/>
                  </a:lnTo>
                  <a:lnTo>
                    <a:pt x="23707" y="543692"/>
                  </a:lnTo>
                  <a:lnTo>
                    <a:pt x="54507" y="505808"/>
                  </a:lnTo>
                  <a:lnTo>
                    <a:pt x="95305" y="475548"/>
                  </a:lnTo>
                  <a:lnTo>
                    <a:pt x="144141" y="454367"/>
                  </a:lnTo>
                  <a:lnTo>
                    <a:pt x="199054" y="443719"/>
                  </a:lnTo>
                  <a:lnTo>
                    <a:pt x="200913" y="439555"/>
                  </a:lnTo>
                  <a:lnTo>
                    <a:pt x="197881" y="393535"/>
                  </a:lnTo>
                  <a:lnTo>
                    <a:pt x="203749" y="348440"/>
                  </a:lnTo>
                  <a:lnTo>
                    <a:pt x="218082" y="305063"/>
                  </a:lnTo>
                  <a:lnTo>
                    <a:pt x="240448" y="264196"/>
                  </a:lnTo>
                  <a:lnTo>
                    <a:pt x="270413" y="226632"/>
                  </a:lnTo>
                  <a:lnTo>
                    <a:pt x="307543" y="193162"/>
                  </a:lnTo>
                  <a:lnTo>
                    <a:pt x="351405" y="164581"/>
                  </a:lnTo>
                  <a:lnTo>
                    <a:pt x="393992" y="144615"/>
                  </a:lnTo>
                  <a:lnTo>
                    <a:pt x="438889" y="130007"/>
                  </a:lnTo>
                  <a:lnTo>
                    <a:pt x="485388" y="120774"/>
                  </a:lnTo>
                  <a:lnTo>
                    <a:pt x="532784" y="116934"/>
                  </a:lnTo>
                  <a:lnTo>
                    <a:pt x="580370" y="118502"/>
                  </a:lnTo>
                  <a:lnTo>
                    <a:pt x="627441" y="125497"/>
                  </a:lnTo>
                  <a:lnTo>
                    <a:pt x="673289" y="137934"/>
                  </a:lnTo>
                  <a:lnTo>
                    <a:pt x="717210" y="155830"/>
                  </a:lnTo>
                  <a:lnTo>
                    <a:pt x="1955182" y="155830"/>
                  </a:lnTo>
                  <a:lnTo>
                    <a:pt x="1959419" y="167403"/>
                  </a:lnTo>
                  <a:lnTo>
                    <a:pt x="2013849" y="185012"/>
                  </a:lnTo>
                  <a:lnTo>
                    <a:pt x="2061978" y="211465"/>
                  </a:lnTo>
                  <a:lnTo>
                    <a:pt x="2102270" y="245708"/>
                  </a:lnTo>
                  <a:lnTo>
                    <a:pt x="2133191" y="286687"/>
                  </a:lnTo>
                  <a:lnTo>
                    <a:pt x="2152823" y="332170"/>
                  </a:lnTo>
                  <a:lnTo>
                    <a:pt x="2160241" y="379529"/>
                  </a:lnTo>
                  <a:lnTo>
                    <a:pt x="2155401" y="427115"/>
                  </a:lnTo>
                  <a:lnTo>
                    <a:pt x="2138258" y="473280"/>
                  </a:lnTo>
                  <a:lnTo>
                    <a:pt x="2170909" y="515530"/>
                  </a:lnTo>
                  <a:lnTo>
                    <a:pt x="2193811" y="561126"/>
                  </a:lnTo>
                  <a:lnTo>
                    <a:pt x="2206782" y="608957"/>
                  </a:lnTo>
                  <a:lnTo>
                    <a:pt x="2209642" y="657911"/>
                  </a:lnTo>
                  <a:lnTo>
                    <a:pt x="2202209" y="706879"/>
                  </a:lnTo>
                  <a:lnTo>
                    <a:pt x="2184300" y="754749"/>
                  </a:lnTo>
                  <a:lnTo>
                    <a:pt x="2161033" y="793246"/>
                  </a:lnTo>
                  <a:lnTo>
                    <a:pt x="2131465" y="827958"/>
                  </a:lnTo>
                  <a:lnTo>
                    <a:pt x="2096271" y="858451"/>
                  </a:lnTo>
                  <a:lnTo>
                    <a:pt x="2056126" y="884291"/>
                  </a:lnTo>
                  <a:lnTo>
                    <a:pt x="2011705" y="905044"/>
                  </a:lnTo>
                  <a:lnTo>
                    <a:pt x="1963683" y="920274"/>
                  </a:lnTo>
                  <a:lnTo>
                    <a:pt x="1912734" y="929548"/>
                  </a:lnTo>
                  <a:lnTo>
                    <a:pt x="1907596" y="972864"/>
                  </a:lnTo>
                  <a:lnTo>
                    <a:pt x="1893461" y="1014103"/>
                  </a:lnTo>
                  <a:lnTo>
                    <a:pt x="1870954" y="1052401"/>
                  </a:lnTo>
                  <a:lnTo>
                    <a:pt x="1840704" y="1086890"/>
                  </a:lnTo>
                  <a:lnTo>
                    <a:pt x="1803339" y="1116705"/>
                  </a:lnTo>
                  <a:lnTo>
                    <a:pt x="1771882" y="1134119"/>
                  </a:lnTo>
                  <a:lnTo>
                    <a:pt x="1460650" y="1134119"/>
                  </a:lnTo>
                  <a:lnTo>
                    <a:pt x="1439924" y="1177550"/>
                  </a:lnTo>
                  <a:lnTo>
                    <a:pt x="1416497" y="1209968"/>
                  </a:lnTo>
                  <a:lnTo>
                    <a:pt x="843681" y="1209968"/>
                  </a:lnTo>
                  <a:lnTo>
                    <a:pt x="796840" y="1229869"/>
                  </a:lnTo>
                  <a:lnTo>
                    <a:pt x="747654" y="1244326"/>
                  </a:lnTo>
                  <a:lnTo>
                    <a:pt x="696806" y="1253258"/>
                  </a:lnTo>
                  <a:lnTo>
                    <a:pt x="644981" y="1256583"/>
                  </a:lnTo>
                  <a:close/>
                </a:path>
                <a:path w="2209800" h="1336675">
                  <a:moveTo>
                    <a:pt x="1608937" y="1170965"/>
                  </a:moveTo>
                  <a:lnTo>
                    <a:pt x="1557625" y="1166071"/>
                  </a:lnTo>
                  <a:lnTo>
                    <a:pt x="1507788" y="1153780"/>
                  </a:lnTo>
                  <a:lnTo>
                    <a:pt x="1460650" y="1134119"/>
                  </a:lnTo>
                  <a:lnTo>
                    <a:pt x="1771882" y="1134119"/>
                  </a:lnTo>
                  <a:lnTo>
                    <a:pt x="1759485" y="1140981"/>
                  </a:lnTo>
                  <a:lnTo>
                    <a:pt x="1711091" y="1158448"/>
                  </a:lnTo>
                  <a:lnTo>
                    <a:pt x="1660500" y="1168433"/>
                  </a:lnTo>
                  <a:lnTo>
                    <a:pt x="1608937" y="1170965"/>
                  </a:lnTo>
                  <a:close/>
                </a:path>
                <a:path w="2209800" h="1336675">
                  <a:moveTo>
                    <a:pt x="1131873" y="1336664"/>
                  </a:moveTo>
                  <a:lnTo>
                    <a:pt x="1083238" y="1333983"/>
                  </a:lnTo>
                  <a:lnTo>
                    <a:pt x="1035982" y="1325756"/>
                  </a:lnTo>
                  <a:lnTo>
                    <a:pt x="990771" y="1312227"/>
                  </a:lnTo>
                  <a:lnTo>
                    <a:pt x="948270" y="1293640"/>
                  </a:lnTo>
                  <a:lnTo>
                    <a:pt x="909144" y="1270239"/>
                  </a:lnTo>
                  <a:lnTo>
                    <a:pt x="874059" y="1242267"/>
                  </a:lnTo>
                  <a:lnTo>
                    <a:pt x="843681" y="1209968"/>
                  </a:lnTo>
                  <a:lnTo>
                    <a:pt x="1416497" y="1209968"/>
                  </a:lnTo>
                  <a:lnTo>
                    <a:pt x="1375990" y="1251820"/>
                  </a:lnTo>
                  <a:lnTo>
                    <a:pt x="1334427" y="1281485"/>
                  </a:lnTo>
                  <a:lnTo>
                    <a:pt x="1287563" y="1305387"/>
                  </a:lnTo>
                  <a:lnTo>
                    <a:pt x="1236220" y="1322940"/>
                  </a:lnTo>
                  <a:lnTo>
                    <a:pt x="1181222" y="1333556"/>
                  </a:lnTo>
                  <a:lnTo>
                    <a:pt x="1131873" y="1336664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0946" y="2086209"/>
              <a:ext cx="2209800" cy="1336675"/>
            </a:xfrm>
            <a:custGeom>
              <a:avLst/>
              <a:gdLst/>
              <a:ahLst/>
              <a:cxnLst/>
              <a:rect l="l" t="t" r="r" b="b"/>
              <a:pathLst>
                <a:path w="2209800" h="1336675">
                  <a:moveTo>
                    <a:pt x="200913" y="439555"/>
                  </a:moveTo>
                  <a:lnTo>
                    <a:pt x="197881" y="393535"/>
                  </a:lnTo>
                  <a:lnTo>
                    <a:pt x="203749" y="348440"/>
                  </a:lnTo>
                  <a:lnTo>
                    <a:pt x="218082" y="305063"/>
                  </a:lnTo>
                  <a:lnTo>
                    <a:pt x="240448" y="264196"/>
                  </a:lnTo>
                  <a:lnTo>
                    <a:pt x="270413" y="226632"/>
                  </a:lnTo>
                  <a:lnTo>
                    <a:pt x="307543" y="193162"/>
                  </a:lnTo>
                  <a:lnTo>
                    <a:pt x="351405" y="164581"/>
                  </a:lnTo>
                  <a:lnTo>
                    <a:pt x="393992" y="144615"/>
                  </a:lnTo>
                  <a:lnTo>
                    <a:pt x="438889" y="130007"/>
                  </a:lnTo>
                  <a:lnTo>
                    <a:pt x="485388" y="120774"/>
                  </a:lnTo>
                  <a:lnTo>
                    <a:pt x="532784" y="116934"/>
                  </a:lnTo>
                  <a:lnTo>
                    <a:pt x="580370" y="118502"/>
                  </a:lnTo>
                  <a:lnTo>
                    <a:pt x="627441" y="125497"/>
                  </a:lnTo>
                  <a:lnTo>
                    <a:pt x="673289" y="137934"/>
                  </a:lnTo>
                  <a:lnTo>
                    <a:pt x="717210" y="155830"/>
                  </a:lnTo>
                  <a:lnTo>
                    <a:pt x="745264" y="120641"/>
                  </a:lnTo>
                  <a:lnTo>
                    <a:pt x="780288" y="90740"/>
                  </a:lnTo>
                  <a:lnTo>
                    <a:pt x="821209" y="66754"/>
                  </a:lnTo>
                  <a:lnTo>
                    <a:pt x="866954" y="49313"/>
                  </a:lnTo>
                  <a:lnTo>
                    <a:pt x="916450" y="39045"/>
                  </a:lnTo>
                  <a:lnTo>
                    <a:pt x="967398" y="36571"/>
                  </a:lnTo>
                  <a:lnTo>
                    <a:pt x="1017378" y="41868"/>
                  </a:lnTo>
                  <a:lnTo>
                    <a:pt x="1065136" y="54604"/>
                  </a:lnTo>
                  <a:lnTo>
                    <a:pt x="1109423" y="74443"/>
                  </a:lnTo>
                  <a:lnTo>
                    <a:pt x="1148986" y="101054"/>
                  </a:lnTo>
                  <a:lnTo>
                    <a:pt x="1180605" y="62124"/>
                  </a:lnTo>
                  <a:lnTo>
                    <a:pt x="1222400" y="31461"/>
                  </a:lnTo>
                  <a:lnTo>
                    <a:pt x="1272124" y="10335"/>
                  </a:lnTo>
                  <a:lnTo>
                    <a:pt x="1327533" y="16"/>
                  </a:lnTo>
                  <a:lnTo>
                    <a:pt x="1384305" y="1573"/>
                  </a:lnTo>
                  <a:lnTo>
                    <a:pt x="1437952" y="14626"/>
                  </a:lnTo>
                  <a:lnTo>
                    <a:pt x="1485979" y="38274"/>
                  </a:lnTo>
                  <a:lnTo>
                    <a:pt x="1525892" y="71616"/>
                  </a:lnTo>
                  <a:lnTo>
                    <a:pt x="1559806" y="44443"/>
                  </a:lnTo>
                  <a:lnTo>
                    <a:pt x="1598651" y="23390"/>
                  </a:lnTo>
                  <a:lnTo>
                    <a:pt x="1641238" y="8762"/>
                  </a:lnTo>
                  <a:lnTo>
                    <a:pt x="1686379" y="863"/>
                  </a:lnTo>
                  <a:lnTo>
                    <a:pt x="1732888" y="0"/>
                  </a:lnTo>
                  <a:lnTo>
                    <a:pt x="1779576" y="6476"/>
                  </a:lnTo>
                  <a:lnTo>
                    <a:pt x="1832266" y="23619"/>
                  </a:lnTo>
                  <a:lnTo>
                    <a:pt x="1878050" y="49585"/>
                  </a:lnTo>
                  <a:lnTo>
                    <a:pt x="1915474" y="83072"/>
                  </a:lnTo>
                  <a:lnTo>
                    <a:pt x="1943082" y="122779"/>
                  </a:lnTo>
                  <a:lnTo>
                    <a:pt x="1959419" y="167403"/>
                  </a:lnTo>
                  <a:lnTo>
                    <a:pt x="2013849" y="185012"/>
                  </a:lnTo>
                  <a:lnTo>
                    <a:pt x="2061978" y="211465"/>
                  </a:lnTo>
                  <a:lnTo>
                    <a:pt x="2102270" y="245708"/>
                  </a:lnTo>
                  <a:lnTo>
                    <a:pt x="2133191" y="286687"/>
                  </a:lnTo>
                  <a:lnTo>
                    <a:pt x="2152823" y="332170"/>
                  </a:lnTo>
                  <a:lnTo>
                    <a:pt x="2160241" y="379529"/>
                  </a:lnTo>
                  <a:lnTo>
                    <a:pt x="2155401" y="427115"/>
                  </a:lnTo>
                  <a:lnTo>
                    <a:pt x="2138258" y="473280"/>
                  </a:lnTo>
                  <a:lnTo>
                    <a:pt x="2170909" y="515530"/>
                  </a:lnTo>
                  <a:lnTo>
                    <a:pt x="2193811" y="561126"/>
                  </a:lnTo>
                  <a:lnTo>
                    <a:pt x="2206782" y="608957"/>
                  </a:lnTo>
                  <a:lnTo>
                    <a:pt x="2209642" y="657911"/>
                  </a:lnTo>
                  <a:lnTo>
                    <a:pt x="2202209" y="706879"/>
                  </a:lnTo>
                  <a:lnTo>
                    <a:pt x="2184300" y="754749"/>
                  </a:lnTo>
                  <a:lnTo>
                    <a:pt x="2161033" y="793246"/>
                  </a:lnTo>
                  <a:lnTo>
                    <a:pt x="2131465" y="827958"/>
                  </a:lnTo>
                  <a:lnTo>
                    <a:pt x="2096271" y="858451"/>
                  </a:lnTo>
                  <a:lnTo>
                    <a:pt x="2056126" y="884291"/>
                  </a:lnTo>
                  <a:lnTo>
                    <a:pt x="2011705" y="905044"/>
                  </a:lnTo>
                  <a:lnTo>
                    <a:pt x="1963683" y="920274"/>
                  </a:lnTo>
                  <a:lnTo>
                    <a:pt x="1912734" y="929548"/>
                  </a:lnTo>
                  <a:lnTo>
                    <a:pt x="1907596" y="972864"/>
                  </a:lnTo>
                  <a:lnTo>
                    <a:pt x="1893461" y="1014103"/>
                  </a:lnTo>
                  <a:lnTo>
                    <a:pt x="1870954" y="1052401"/>
                  </a:lnTo>
                  <a:lnTo>
                    <a:pt x="1840704" y="1086890"/>
                  </a:lnTo>
                  <a:lnTo>
                    <a:pt x="1803339" y="1116705"/>
                  </a:lnTo>
                  <a:lnTo>
                    <a:pt x="1759485" y="1140981"/>
                  </a:lnTo>
                  <a:lnTo>
                    <a:pt x="1711091" y="1158448"/>
                  </a:lnTo>
                  <a:lnTo>
                    <a:pt x="1660500" y="1168433"/>
                  </a:lnTo>
                  <a:lnTo>
                    <a:pt x="1608937" y="1170965"/>
                  </a:lnTo>
                  <a:lnTo>
                    <a:pt x="1557625" y="1166071"/>
                  </a:lnTo>
                  <a:lnTo>
                    <a:pt x="1507788" y="1153780"/>
                  </a:lnTo>
                  <a:lnTo>
                    <a:pt x="1460650" y="1134119"/>
                  </a:lnTo>
                  <a:lnTo>
                    <a:pt x="1439924" y="1177550"/>
                  </a:lnTo>
                  <a:lnTo>
                    <a:pt x="1411430" y="1216979"/>
                  </a:lnTo>
                  <a:lnTo>
                    <a:pt x="1375990" y="1251820"/>
                  </a:lnTo>
                  <a:lnTo>
                    <a:pt x="1334427" y="1281485"/>
                  </a:lnTo>
                  <a:lnTo>
                    <a:pt x="1287563" y="1305387"/>
                  </a:lnTo>
                  <a:lnTo>
                    <a:pt x="1236220" y="1322940"/>
                  </a:lnTo>
                  <a:lnTo>
                    <a:pt x="1181222" y="1333556"/>
                  </a:lnTo>
                  <a:lnTo>
                    <a:pt x="1131873" y="1336664"/>
                  </a:lnTo>
                  <a:lnTo>
                    <a:pt x="1083238" y="1333983"/>
                  </a:lnTo>
                  <a:lnTo>
                    <a:pt x="1035982" y="1325756"/>
                  </a:lnTo>
                  <a:lnTo>
                    <a:pt x="990771" y="1312227"/>
                  </a:lnTo>
                  <a:lnTo>
                    <a:pt x="948270" y="1293640"/>
                  </a:lnTo>
                  <a:lnTo>
                    <a:pt x="909144" y="1270239"/>
                  </a:lnTo>
                  <a:lnTo>
                    <a:pt x="874059" y="1242267"/>
                  </a:lnTo>
                  <a:lnTo>
                    <a:pt x="843681" y="1209968"/>
                  </a:lnTo>
                  <a:lnTo>
                    <a:pt x="796840" y="1229869"/>
                  </a:lnTo>
                  <a:lnTo>
                    <a:pt x="747654" y="1244326"/>
                  </a:lnTo>
                  <a:lnTo>
                    <a:pt x="696806" y="1253258"/>
                  </a:lnTo>
                  <a:lnTo>
                    <a:pt x="644981" y="1256583"/>
                  </a:lnTo>
                  <a:lnTo>
                    <a:pt x="592860" y="1254219"/>
                  </a:lnTo>
                  <a:lnTo>
                    <a:pt x="541128" y="1246086"/>
                  </a:lnTo>
                  <a:lnTo>
                    <a:pt x="491166" y="1232327"/>
                  </a:lnTo>
                  <a:lnTo>
                    <a:pt x="444264" y="1213374"/>
                  </a:lnTo>
                  <a:lnTo>
                    <a:pt x="400973" y="1189572"/>
                  </a:lnTo>
                  <a:lnTo>
                    <a:pt x="361839" y="1161270"/>
                  </a:lnTo>
                  <a:lnTo>
                    <a:pt x="327413" y="1128813"/>
                  </a:lnTo>
                  <a:lnTo>
                    <a:pt x="298241" y="1092548"/>
                  </a:lnTo>
                  <a:lnTo>
                    <a:pt x="243245" y="1092246"/>
                  </a:lnTo>
                  <a:lnTo>
                    <a:pt x="191127" y="1081216"/>
                  </a:lnTo>
                  <a:lnTo>
                    <a:pt x="144025" y="1060403"/>
                  </a:lnTo>
                  <a:lnTo>
                    <a:pt x="104079" y="1030752"/>
                  </a:lnTo>
                  <a:lnTo>
                    <a:pt x="73428" y="993209"/>
                  </a:lnTo>
                  <a:lnTo>
                    <a:pt x="54873" y="950643"/>
                  </a:lnTo>
                  <a:lnTo>
                    <a:pt x="49562" y="906612"/>
                  </a:lnTo>
                  <a:lnTo>
                    <a:pt x="57148" y="863093"/>
                  </a:lnTo>
                  <a:lnTo>
                    <a:pt x="77289" y="822061"/>
                  </a:lnTo>
                  <a:lnTo>
                    <a:pt x="109639" y="785494"/>
                  </a:lnTo>
                  <a:lnTo>
                    <a:pt x="64978" y="756954"/>
                  </a:lnTo>
                  <a:lnTo>
                    <a:pt x="31113" y="720911"/>
                  </a:lnTo>
                  <a:lnTo>
                    <a:pt x="9100" y="679365"/>
                  </a:lnTo>
                  <a:lnTo>
                    <a:pt x="0" y="634311"/>
                  </a:lnTo>
                  <a:lnTo>
                    <a:pt x="4868" y="587746"/>
                  </a:lnTo>
                  <a:lnTo>
                    <a:pt x="23707" y="543692"/>
                  </a:lnTo>
                  <a:lnTo>
                    <a:pt x="54507" y="505808"/>
                  </a:lnTo>
                  <a:lnTo>
                    <a:pt x="95305" y="475548"/>
                  </a:lnTo>
                  <a:lnTo>
                    <a:pt x="144141" y="454367"/>
                  </a:lnTo>
                  <a:lnTo>
                    <a:pt x="199054" y="443719"/>
                  </a:lnTo>
                  <a:lnTo>
                    <a:pt x="200913" y="439555"/>
                  </a:lnTo>
                  <a:close/>
                </a:path>
                <a:path w="2209800" h="1336675">
                  <a:moveTo>
                    <a:pt x="109662" y="785486"/>
                  </a:moveTo>
                  <a:lnTo>
                    <a:pt x="140026" y="797755"/>
                  </a:lnTo>
                  <a:lnTo>
                    <a:pt x="172096" y="806027"/>
                  </a:lnTo>
                  <a:lnTo>
                    <a:pt x="205306" y="810196"/>
                  </a:lnTo>
                  <a:lnTo>
                    <a:pt x="239085" y="810152"/>
                  </a:lnTo>
                </a:path>
                <a:path w="2209800" h="1336675">
                  <a:moveTo>
                    <a:pt x="298245" y="1092547"/>
                  </a:moveTo>
                  <a:lnTo>
                    <a:pt x="312732" y="1090751"/>
                  </a:lnTo>
                  <a:lnTo>
                    <a:pt x="327030" y="1088178"/>
                  </a:lnTo>
                  <a:lnTo>
                    <a:pt x="341091" y="1084839"/>
                  </a:lnTo>
                  <a:lnTo>
                    <a:pt x="354870" y="1080743"/>
                  </a:lnTo>
                </a:path>
                <a:path w="2209800" h="1336675">
                  <a:moveTo>
                    <a:pt x="843657" y="1209962"/>
                  </a:moveTo>
                  <a:lnTo>
                    <a:pt x="833831" y="1197080"/>
                  </a:lnTo>
                  <a:lnTo>
                    <a:pt x="824857" y="1183791"/>
                  </a:lnTo>
                  <a:lnTo>
                    <a:pt x="816753" y="1170126"/>
                  </a:lnTo>
                  <a:lnTo>
                    <a:pt x="809538" y="1156113"/>
                  </a:lnTo>
                </a:path>
                <a:path w="2209800" h="1336675">
                  <a:moveTo>
                    <a:pt x="1460650" y="1134110"/>
                  </a:moveTo>
                  <a:lnTo>
                    <a:pt x="1465470" y="1119577"/>
                  </a:lnTo>
                  <a:lnTo>
                    <a:pt x="1469352" y="1104864"/>
                  </a:lnTo>
                  <a:lnTo>
                    <a:pt x="1472289" y="1090002"/>
                  </a:lnTo>
                  <a:lnTo>
                    <a:pt x="1474274" y="1075023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2778" y="2790164"/>
              <a:ext cx="175648" cy="2303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11860" y="2157830"/>
              <a:ext cx="1937385" cy="484505"/>
            </a:xfrm>
            <a:custGeom>
              <a:avLst/>
              <a:gdLst/>
              <a:ahLst/>
              <a:cxnLst/>
              <a:rect l="l" t="t" r="r" b="b"/>
              <a:pathLst>
                <a:path w="1937385" h="484505">
                  <a:moveTo>
                    <a:pt x="1937325" y="401667"/>
                  </a:moveTo>
                  <a:lnTo>
                    <a:pt x="1923280" y="424919"/>
                  </a:lnTo>
                  <a:lnTo>
                    <a:pt x="1906145" y="446609"/>
                  </a:lnTo>
                  <a:lnTo>
                    <a:pt x="1886108" y="466530"/>
                  </a:lnTo>
                  <a:lnTo>
                    <a:pt x="1863354" y="484473"/>
                  </a:lnTo>
                </a:path>
                <a:path w="1937385" h="484505">
                  <a:moveTo>
                    <a:pt x="1758501" y="95782"/>
                  </a:moveTo>
                  <a:lnTo>
                    <a:pt x="1760336" y="105492"/>
                  </a:lnTo>
                  <a:lnTo>
                    <a:pt x="1761599" y="115258"/>
                  </a:lnTo>
                  <a:lnTo>
                    <a:pt x="1762290" y="125063"/>
                  </a:lnTo>
                  <a:lnTo>
                    <a:pt x="1762406" y="134889"/>
                  </a:lnTo>
                </a:path>
                <a:path w="1937385" h="484505">
                  <a:moveTo>
                    <a:pt x="1324981" y="0"/>
                  </a:moveTo>
                  <a:lnTo>
                    <a:pt x="1313880" y="11597"/>
                  </a:lnTo>
                  <a:lnTo>
                    <a:pt x="1303839" y="23808"/>
                  </a:lnTo>
                  <a:lnTo>
                    <a:pt x="1294895" y="36583"/>
                  </a:lnTo>
                  <a:lnTo>
                    <a:pt x="1287087" y="49873"/>
                  </a:lnTo>
                </a:path>
                <a:path w="1937385" h="484505">
                  <a:moveTo>
                    <a:pt x="948072" y="29431"/>
                  </a:moveTo>
                  <a:lnTo>
                    <a:pt x="942274" y="39815"/>
                  </a:lnTo>
                  <a:lnTo>
                    <a:pt x="937274" y="50466"/>
                  </a:lnTo>
                  <a:lnTo>
                    <a:pt x="933084" y="61352"/>
                  </a:lnTo>
                  <a:lnTo>
                    <a:pt x="929718" y="72443"/>
                  </a:lnTo>
                </a:path>
                <a:path w="1937385" h="484505">
                  <a:moveTo>
                    <a:pt x="516289" y="84208"/>
                  </a:moveTo>
                  <a:lnTo>
                    <a:pt x="534023" y="93379"/>
                  </a:lnTo>
                  <a:lnTo>
                    <a:pt x="551033" y="103410"/>
                  </a:lnTo>
                  <a:lnTo>
                    <a:pt x="567275" y="114272"/>
                  </a:lnTo>
                  <a:lnTo>
                    <a:pt x="582703" y="125937"/>
                  </a:lnTo>
                </a:path>
                <a:path w="1937385" h="484505">
                  <a:moveTo>
                    <a:pt x="0" y="367934"/>
                  </a:moveTo>
                  <a:lnTo>
                    <a:pt x="2105" y="379046"/>
                  </a:lnTo>
                  <a:lnTo>
                    <a:pt x="4741" y="390075"/>
                  </a:lnTo>
                  <a:lnTo>
                    <a:pt x="7904" y="401010"/>
                  </a:lnTo>
                  <a:lnTo>
                    <a:pt x="11590" y="411838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5574" y="2016749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5" h="1110614">
                  <a:moveTo>
                    <a:pt x="554999" y="1109999"/>
                  </a:move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4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5574" y="2016749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5" h="1110614">
                  <a:moveTo>
                    <a:pt x="0" y="554999"/>
                  </a:move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4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11155" y="2447163"/>
            <a:ext cx="607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Write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14162" y="3411762"/>
            <a:ext cx="1120140" cy="1120140"/>
            <a:chOff x="7614162" y="3411762"/>
            <a:chExt cx="1120140" cy="1120140"/>
          </a:xfrm>
        </p:grpSpPr>
        <p:sp>
          <p:nvSpPr>
            <p:cNvPr id="13" name="object 13"/>
            <p:cNvSpPr/>
            <p:nvPr/>
          </p:nvSpPr>
          <p:spPr>
            <a:xfrm>
              <a:off x="7618924" y="3416525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5" h="1110614">
                  <a:moveTo>
                    <a:pt x="554999" y="1109999"/>
                  </a:move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4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8924" y="3416525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5" h="1110614">
                  <a:moveTo>
                    <a:pt x="0" y="554999"/>
                  </a:move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4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854505" y="3846938"/>
            <a:ext cx="618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Read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16187" y="3818912"/>
            <a:ext cx="1120140" cy="1120140"/>
            <a:chOff x="3516187" y="3818912"/>
            <a:chExt cx="1120140" cy="1120140"/>
          </a:xfrm>
        </p:grpSpPr>
        <p:sp>
          <p:nvSpPr>
            <p:cNvPr id="17" name="object 17"/>
            <p:cNvSpPr/>
            <p:nvPr/>
          </p:nvSpPr>
          <p:spPr>
            <a:xfrm>
              <a:off x="3520949" y="3823675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4" h="1110614">
                  <a:moveTo>
                    <a:pt x="554999" y="1109999"/>
                  </a:move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3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20949" y="3823675"/>
              <a:ext cx="1110615" cy="1110615"/>
            </a:xfrm>
            <a:custGeom>
              <a:avLst/>
              <a:gdLst/>
              <a:ahLst/>
              <a:cxnLst/>
              <a:rect l="l" t="t" r="r" b="b"/>
              <a:pathLst>
                <a:path w="1110614" h="1110614">
                  <a:moveTo>
                    <a:pt x="0" y="554999"/>
                  </a:moveTo>
                  <a:lnTo>
                    <a:pt x="2037" y="507112"/>
                  </a:lnTo>
                  <a:lnTo>
                    <a:pt x="8037" y="460356"/>
                  </a:lnTo>
                  <a:lnTo>
                    <a:pt x="17834" y="414897"/>
                  </a:lnTo>
                  <a:lnTo>
                    <a:pt x="31262" y="370903"/>
                  </a:lnTo>
                  <a:lnTo>
                    <a:pt x="48152" y="328540"/>
                  </a:lnTo>
                  <a:lnTo>
                    <a:pt x="68340" y="287974"/>
                  </a:lnTo>
                  <a:lnTo>
                    <a:pt x="91658" y="249373"/>
                  </a:lnTo>
                  <a:lnTo>
                    <a:pt x="117940" y="212902"/>
                  </a:lnTo>
                  <a:lnTo>
                    <a:pt x="147019" y="178728"/>
                  </a:lnTo>
                  <a:lnTo>
                    <a:pt x="178728" y="147019"/>
                  </a:lnTo>
                  <a:lnTo>
                    <a:pt x="212902" y="117940"/>
                  </a:lnTo>
                  <a:lnTo>
                    <a:pt x="249373" y="91658"/>
                  </a:lnTo>
                  <a:lnTo>
                    <a:pt x="287974" y="68340"/>
                  </a:lnTo>
                  <a:lnTo>
                    <a:pt x="328540" y="48152"/>
                  </a:lnTo>
                  <a:lnTo>
                    <a:pt x="370903" y="31262"/>
                  </a:lnTo>
                  <a:lnTo>
                    <a:pt x="414897" y="17834"/>
                  </a:lnTo>
                  <a:lnTo>
                    <a:pt x="460356" y="8037"/>
                  </a:lnTo>
                  <a:lnTo>
                    <a:pt x="507112" y="2037"/>
                  </a:lnTo>
                  <a:lnTo>
                    <a:pt x="554999" y="0"/>
                  </a:lnTo>
                  <a:lnTo>
                    <a:pt x="603799" y="2148"/>
                  </a:lnTo>
                  <a:lnTo>
                    <a:pt x="651896" y="8521"/>
                  </a:lnTo>
                  <a:lnTo>
                    <a:pt x="699035" y="19014"/>
                  </a:lnTo>
                  <a:lnTo>
                    <a:pt x="744961" y="33521"/>
                  </a:lnTo>
                  <a:lnTo>
                    <a:pt x="789418" y="51936"/>
                  </a:lnTo>
                  <a:lnTo>
                    <a:pt x="832150" y="74152"/>
                  </a:lnTo>
                  <a:lnTo>
                    <a:pt x="872902" y="100065"/>
                  </a:lnTo>
                  <a:lnTo>
                    <a:pt x="911419" y="129568"/>
                  </a:lnTo>
                  <a:lnTo>
                    <a:pt x="947444" y="162555"/>
                  </a:lnTo>
                  <a:lnTo>
                    <a:pt x="980431" y="198580"/>
                  </a:lnTo>
                  <a:lnTo>
                    <a:pt x="1009934" y="237097"/>
                  </a:lnTo>
                  <a:lnTo>
                    <a:pt x="1035847" y="277849"/>
                  </a:lnTo>
                  <a:lnTo>
                    <a:pt x="1058063" y="320581"/>
                  </a:lnTo>
                  <a:lnTo>
                    <a:pt x="1076478" y="365038"/>
                  </a:lnTo>
                  <a:lnTo>
                    <a:pt x="1090985" y="410964"/>
                  </a:lnTo>
                  <a:lnTo>
                    <a:pt x="1101478" y="458103"/>
                  </a:lnTo>
                  <a:lnTo>
                    <a:pt x="1107851" y="506200"/>
                  </a:lnTo>
                  <a:lnTo>
                    <a:pt x="1109999" y="554999"/>
                  </a:lnTo>
                  <a:lnTo>
                    <a:pt x="1107962" y="602887"/>
                  </a:lnTo>
                  <a:lnTo>
                    <a:pt x="1101962" y="649643"/>
                  </a:lnTo>
                  <a:lnTo>
                    <a:pt x="1092165" y="695102"/>
                  </a:lnTo>
                  <a:lnTo>
                    <a:pt x="1078737" y="739096"/>
                  </a:lnTo>
                  <a:lnTo>
                    <a:pt x="1061847" y="781459"/>
                  </a:lnTo>
                  <a:lnTo>
                    <a:pt x="1041659" y="822025"/>
                  </a:lnTo>
                  <a:lnTo>
                    <a:pt x="1018341" y="860626"/>
                  </a:lnTo>
                  <a:lnTo>
                    <a:pt x="992059" y="897097"/>
                  </a:lnTo>
                  <a:lnTo>
                    <a:pt x="962980" y="931271"/>
                  </a:lnTo>
                  <a:lnTo>
                    <a:pt x="931271" y="962980"/>
                  </a:lnTo>
                  <a:lnTo>
                    <a:pt x="897097" y="992059"/>
                  </a:lnTo>
                  <a:lnTo>
                    <a:pt x="860626" y="1018341"/>
                  </a:lnTo>
                  <a:lnTo>
                    <a:pt x="822025" y="1041659"/>
                  </a:lnTo>
                  <a:lnTo>
                    <a:pt x="781459" y="1061847"/>
                  </a:lnTo>
                  <a:lnTo>
                    <a:pt x="739096" y="1078737"/>
                  </a:lnTo>
                  <a:lnTo>
                    <a:pt x="695102" y="1092165"/>
                  </a:lnTo>
                  <a:lnTo>
                    <a:pt x="649643" y="1101962"/>
                  </a:lnTo>
                  <a:lnTo>
                    <a:pt x="602887" y="1107962"/>
                  </a:lnTo>
                  <a:lnTo>
                    <a:pt x="554999" y="1109999"/>
                  </a:lnTo>
                  <a:lnTo>
                    <a:pt x="507112" y="1107962"/>
                  </a:lnTo>
                  <a:lnTo>
                    <a:pt x="460356" y="1101962"/>
                  </a:lnTo>
                  <a:lnTo>
                    <a:pt x="414897" y="1092165"/>
                  </a:lnTo>
                  <a:lnTo>
                    <a:pt x="370903" y="1078737"/>
                  </a:lnTo>
                  <a:lnTo>
                    <a:pt x="328540" y="1061847"/>
                  </a:lnTo>
                  <a:lnTo>
                    <a:pt x="287974" y="1041659"/>
                  </a:lnTo>
                  <a:lnTo>
                    <a:pt x="249373" y="1018341"/>
                  </a:lnTo>
                  <a:lnTo>
                    <a:pt x="212902" y="992059"/>
                  </a:lnTo>
                  <a:lnTo>
                    <a:pt x="178728" y="962980"/>
                  </a:lnTo>
                  <a:lnTo>
                    <a:pt x="147019" y="931271"/>
                  </a:lnTo>
                  <a:lnTo>
                    <a:pt x="117940" y="897097"/>
                  </a:lnTo>
                  <a:lnTo>
                    <a:pt x="91658" y="860626"/>
                  </a:lnTo>
                  <a:lnTo>
                    <a:pt x="68340" y="822025"/>
                  </a:lnTo>
                  <a:lnTo>
                    <a:pt x="48152" y="781459"/>
                  </a:lnTo>
                  <a:lnTo>
                    <a:pt x="31262" y="739096"/>
                  </a:lnTo>
                  <a:lnTo>
                    <a:pt x="17834" y="695102"/>
                  </a:lnTo>
                  <a:lnTo>
                    <a:pt x="8037" y="649643"/>
                  </a:lnTo>
                  <a:lnTo>
                    <a:pt x="2037" y="602887"/>
                  </a:lnTo>
                  <a:lnTo>
                    <a:pt x="0" y="5549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56530" y="4254088"/>
            <a:ext cx="618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Read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23956" y="2566987"/>
            <a:ext cx="5100320" cy="1424305"/>
            <a:chOff x="2523956" y="2566987"/>
            <a:chExt cx="5100320" cy="1424305"/>
          </a:xfrm>
        </p:grpSpPr>
        <p:sp>
          <p:nvSpPr>
            <p:cNvPr id="21" name="object 21"/>
            <p:cNvSpPr/>
            <p:nvPr/>
          </p:nvSpPr>
          <p:spPr>
            <a:xfrm>
              <a:off x="3674812" y="2571750"/>
              <a:ext cx="2000885" cy="173355"/>
            </a:xfrm>
            <a:custGeom>
              <a:avLst/>
              <a:gdLst/>
              <a:ahLst/>
              <a:cxnLst/>
              <a:rect l="l" t="t" r="r" b="b"/>
              <a:pathLst>
                <a:path w="2000885" h="173355">
                  <a:moveTo>
                    <a:pt x="2000762" y="0"/>
                  </a:moveTo>
                  <a:lnTo>
                    <a:pt x="0" y="172977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31747" y="2729053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4419" y="31348"/>
                  </a:moveTo>
                  <a:lnTo>
                    <a:pt x="0" y="19397"/>
                  </a:lnTo>
                  <a:lnTo>
                    <a:pt x="41709" y="0"/>
                  </a:lnTo>
                  <a:lnTo>
                    <a:pt x="44419" y="31348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31747" y="2729053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1709" y="0"/>
                  </a:moveTo>
                  <a:lnTo>
                    <a:pt x="0" y="19397"/>
                  </a:lnTo>
                  <a:lnTo>
                    <a:pt x="44419" y="31348"/>
                  </a:lnTo>
                  <a:lnTo>
                    <a:pt x="41709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67565" y="3441597"/>
              <a:ext cx="1116330" cy="544830"/>
            </a:xfrm>
            <a:custGeom>
              <a:avLst/>
              <a:gdLst/>
              <a:ahLst/>
              <a:cxnLst/>
              <a:rect l="l" t="t" r="r" b="b"/>
              <a:pathLst>
                <a:path w="1116329" h="544829">
                  <a:moveTo>
                    <a:pt x="1115940" y="54463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28719" y="3422638"/>
              <a:ext cx="46355" cy="33655"/>
            </a:xfrm>
            <a:custGeom>
              <a:avLst/>
              <a:gdLst/>
              <a:ahLst/>
              <a:cxnLst/>
              <a:rect l="l" t="t" r="r" b="b"/>
              <a:pathLst>
                <a:path w="46355" h="33654">
                  <a:moveTo>
                    <a:pt x="31945" y="33097"/>
                  </a:moveTo>
                  <a:lnTo>
                    <a:pt x="0" y="0"/>
                  </a:lnTo>
                  <a:lnTo>
                    <a:pt x="45746" y="4819"/>
                  </a:lnTo>
                  <a:lnTo>
                    <a:pt x="31945" y="33097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28719" y="3422638"/>
              <a:ext cx="46355" cy="33655"/>
            </a:xfrm>
            <a:custGeom>
              <a:avLst/>
              <a:gdLst/>
              <a:ahLst/>
              <a:cxnLst/>
              <a:rect l="l" t="t" r="r" b="b"/>
              <a:pathLst>
                <a:path w="46355" h="33654">
                  <a:moveTo>
                    <a:pt x="45746" y="4819"/>
                  </a:moveTo>
                  <a:lnTo>
                    <a:pt x="0" y="0"/>
                  </a:lnTo>
                  <a:lnTo>
                    <a:pt x="31945" y="33097"/>
                  </a:lnTo>
                  <a:lnTo>
                    <a:pt x="45746" y="481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72482" y="2766316"/>
              <a:ext cx="3946525" cy="1205230"/>
            </a:xfrm>
            <a:custGeom>
              <a:avLst/>
              <a:gdLst/>
              <a:ahLst/>
              <a:cxnLst/>
              <a:rect l="l" t="t" r="r" b="b"/>
              <a:pathLst>
                <a:path w="3946525" h="1205229">
                  <a:moveTo>
                    <a:pt x="3946442" y="120520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31142" y="275127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6745" y="30093"/>
                  </a:moveTo>
                  <a:lnTo>
                    <a:pt x="0" y="2421"/>
                  </a:lnTo>
                  <a:lnTo>
                    <a:pt x="45935" y="0"/>
                  </a:lnTo>
                  <a:lnTo>
                    <a:pt x="36745" y="30093"/>
                  </a:lnTo>
                  <a:close/>
                </a:path>
              </a:pathLst>
            </a:custGeom>
            <a:solidFill>
              <a:srgbClr val="4BA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1142" y="275127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35" y="0"/>
                  </a:moveTo>
                  <a:lnTo>
                    <a:pt x="0" y="2421"/>
                  </a:lnTo>
                  <a:lnTo>
                    <a:pt x="36745" y="30093"/>
                  </a:lnTo>
                  <a:lnTo>
                    <a:pt x="45935" y="0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Eventual</a:t>
            </a:r>
            <a:r>
              <a:rPr spc="-1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643495" cy="11684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Making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everything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consistent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immediately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means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clients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queue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Say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3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clients,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writing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other two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reading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true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ordering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6187" y="2709737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Eventual</a:t>
            </a:r>
            <a:r>
              <a:rPr spc="-1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326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But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could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receive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order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because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network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delays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6187" y="2709737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Eventual</a:t>
            </a:r>
            <a:r>
              <a:rPr spc="-1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14376"/>
            <a:ext cx="801370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366395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two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servers,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could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receive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true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ordering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out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order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ordering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40" dirty="0">
                <a:solidFill>
                  <a:srgbClr val="616161"/>
                </a:solidFill>
                <a:latin typeface="Trebuchet MS"/>
                <a:cs typeface="Trebuchet MS"/>
              </a:rPr>
              <a:t>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sees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526105"/>
            <a:ext cx="143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616161"/>
                </a:solidFill>
                <a:latin typeface="Trebuchet MS"/>
                <a:cs typeface="Trebuchet MS"/>
              </a:rPr>
              <a:t>2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Sees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2237" y="3911962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2237" y="2401537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Eventual</a:t>
            </a:r>
            <a:r>
              <a:rPr spc="-1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14376"/>
            <a:ext cx="770318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366395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But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sometimes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afford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old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read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for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little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while.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This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means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read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at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same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time.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40" dirty="0">
                <a:solidFill>
                  <a:srgbClr val="616161"/>
                </a:solidFill>
                <a:latin typeface="Trebuchet MS"/>
                <a:cs typeface="Trebuchet MS"/>
              </a:rPr>
              <a:t>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sees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526105"/>
            <a:ext cx="143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616161"/>
                </a:solidFill>
                <a:latin typeface="Trebuchet MS"/>
                <a:cs typeface="Trebuchet MS"/>
              </a:rPr>
              <a:t>2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Sees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2237" y="3911962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2237" y="2401537"/>
          <a:ext cx="434340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CAP</a:t>
            </a:r>
            <a:r>
              <a:rPr spc="-120" dirty="0"/>
              <a:t> </a:t>
            </a:r>
            <a:r>
              <a:rPr spc="-10" dirty="0"/>
              <a:t>Theorem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52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pc="-10" dirty="0"/>
              <a:t>Consistency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reads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receive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recent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endParaRPr sz="14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pc="-10" dirty="0"/>
              <a:t>Availability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Every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read/write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receives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non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endParaRPr sz="14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pc="-50" dirty="0"/>
              <a:t>Partition</a:t>
            </a:r>
            <a:r>
              <a:rPr spc="-75" dirty="0"/>
              <a:t> </a:t>
            </a:r>
            <a:r>
              <a:rPr spc="-10" dirty="0"/>
              <a:t>Tolerance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Everything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keeps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working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network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starts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dropping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messages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Trebuchet MS"/>
                <a:cs typeface="Trebuchet MS"/>
              </a:rPr>
              <a:t>Pick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spc="60" dirty="0">
                <a:latin typeface="Trebuchet MS"/>
                <a:cs typeface="Trebuchet MS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CAP</a:t>
            </a:r>
            <a:r>
              <a:rPr spc="-120" dirty="0"/>
              <a:t> </a:t>
            </a:r>
            <a:r>
              <a:rPr spc="-10" dirty="0"/>
              <a:t>Theorem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52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pc="-10" dirty="0"/>
              <a:t>Consistency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reads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receive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recent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endParaRPr sz="14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pc="-10" dirty="0"/>
              <a:t>Availability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Every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read/write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recieves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non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endParaRPr sz="14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pc="-50" dirty="0"/>
              <a:t>Partition</a:t>
            </a:r>
            <a:r>
              <a:rPr spc="-80" dirty="0"/>
              <a:t> </a:t>
            </a:r>
            <a:r>
              <a:rPr spc="-10" dirty="0"/>
              <a:t>Tolerance</a:t>
            </a: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Everything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keeps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working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network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starts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dropping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messages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Trebuchet MS"/>
                <a:cs typeface="Trebuchet MS"/>
              </a:rPr>
              <a:t>Pick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spc="60" dirty="0">
                <a:latin typeface="Trebuchet MS"/>
                <a:cs typeface="Trebuchet MS"/>
              </a:rPr>
              <a:t>2</a:t>
            </a:r>
          </a:p>
          <a:p>
            <a:pPr marL="469265" indent="-366395">
              <a:lnSpc>
                <a:spcPct val="100000"/>
              </a:lnSpc>
              <a:spcBef>
                <a:spcPts val="1889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b="0" dirty="0">
                <a:latin typeface="Trebuchet MS"/>
                <a:cs typeface="Trebuchet MS"/>
              </a:rPr>
              <a:t>Each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of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these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have</a:t>
            </a:r>
            <a:r>
              <a:rPr b="0" spc="-5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non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strict</a:t>
            </a:r>
            <a:r>
              <a:rPr b="0" spc="-5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version</a:t>
            </a: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b="0" spc="-20" dirty="0">
                <a:latin typeface="Trebuchet MS"/>
                <a:cs typeface="Trebuchet MS"/>
              </a:rPr>
              <a:t>But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you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cannot</a:t>
            </a:r>
            <a:r>
              <a:rPr b="0" spc="-6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guarantee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all</a:t>
            </a:r>
            <a:r>
              <a:rPr b="0" spc="-65" dirty="0">
                <a:latin typeface="Trebuchet MS"/>
                <a:cs typeface="Trebuchet MS"/>
              </a:rPr>
              <a:t> </a:t>
            </a:r>
            <a:r>
              <a:rPr b="0" spc="55" dirty="0">
                <a:latin typeface="Trebuchet MS"/>
                <a:cs typeface="Trebuchet MS"/>
              </a:rPr>
              <a:t>3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in</a:t>
            </a:r>
            <a:r>
              <a:rPr b="0" spc="-65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all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scenarios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81900" y="3004613"/>
            <a:ext cx="923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0" dirty="0">
                <a:latin typeface="Arial MT"/>
                <a:cs typeface="Arial MT"/>
              </a:rPr>
              <a:t> Ofirm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CA</a:t>
            </a:r>
            <a:r>
              <a:rPr spc="-12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4354830" cy="30499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Consistency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availability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always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respond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with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latest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 MT"/>
              <a:buChar char="○"/>
            </a:pPr>
            <a:endParaRPr sz="185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16161"/>
                </a:solidFill>
                <a:latin typeface="Trebuchet MS"/>
                <a:cs typeface="Trebuchet MS"/>
              </a:rPr>
              <a:t>CA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systems.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 MT"/>
              <a:buChar char="●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90" dirty="0">
                <a:solidFill>
                  <a:srgbClr val="616161"/>
                </a:solidFill>
                <a:latin typeface="Trebuchet MS"/>
                <a:cs typeface="Trebuchet MS"/>
              </a:rPr>
              <a:t>MySQL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MSSQL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SQLite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PostgreSQL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CP</a:t>
            </a:r>
            <a:r>
              <a:rPr spc="-12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759575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Consistency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Partition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Tolerance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1889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latest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error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possible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survive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half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network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going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down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HBase,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BigTable, </a:t>
            </a:r>
            <a:r>
              <a:rPr sz="1800" spc="80" dirty="0">
                <a:solidFill>
                  <a:srgbClr val="616161"/>
                </a:solidFill>
                <a:latin typeface="Trebuchet MS"/>
                <a:cs typeface="Trebuchet MS"/>
              </a:rPr>
              <a:t>MongoDB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545326"/>
            <a:ext cx="4890135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616161"/>
                </a:solidFill>
                <a:latin typeface="Trebuchet MS"/>
                <a:cs typeface="Trebuchet MS"/>
              </a:rPr>
              <a:t>HDFS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Linear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modular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scalability.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Strictly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consistent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reads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writes.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Automatic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configurable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sharding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3831326"/>
            <a:ext cx="3627754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Everything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still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return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since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75" y="275725"/>
            <a:ext cx="4476749" cy="1142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24" y="1347117"/>
            <a:ext cx="3704590" cy="264477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120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 dirty="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60" dirty="0">
                <a:solidFill>
                  <a:srgbClr val="616161"/>
                </a:solidFill>
                <a:latin typeface="Trebuchet MS"/>
                <a:cs typeface="Trebuchet MS"/>
              </a:rPr>
              <a:t>Extremely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easy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set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616161"/>
                </a:solidFill>
                <a:latin typeface="Trebuchet MS"/>
                <a:cs typeface="Trebuchet MS"/>
              </a:rPr>
              <a:t>up</a:t>
            </a:r>
            <a:endParaRPr sz="2400" dirty="0">
              <a:latin typeface="Trebuchet MS"/>
              <a:cs typeface="Trebuchet MS"/>
            </a:endParaRPr>
          </a:p>
          <a:p>
            <a:pPr marL="882015" lvl="1" indent="-367030">
              <a:lnSpc>
                <a:spcPct val="100000"/>
              </a:lnSpc>
              <a:spcBef>
                <a:spcPts val="445"/>
              </a:spcBef>
              <a:buFont typeface="Arial MT"/>
              <a:buChar char="○"/>
              <a:tabLst>
                <a:tab pos="882015" algn="l"/>
                <a:tab pos="88265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defaults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insecure</a:t>
            </a:r>
            <a:endParaRPr sz="1800" dirty="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Document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Oriented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130" dirty="0">
                <a:solidFill>
                  <a:srgbClr val="616161"/>
                </a:solidFill>
                <a:latin typeface="Trebuchet MS"/>
                <a:cs typeface="Trebuchet MS"/>
              </a:rPr>
              <a:t>DB</a:t>
            </a:r>
            <a:endParaRPr sz="2400" dirty="0">
              <a:latin typeface="Trebuchet MS"/>
              <a:cs typeface="Trebuchet MS"/>
            </a:endParaRPr>
          </a:p>
          <a:p>
            <a:pPr marL="882015" lvl="1" indent="-367030">
              <a:lnSpc>
                <a:spcPct val="100000"/>
              </a:lnSpc>
              <a:spcBef>
                <a:spcPts val="445"/>
              </a:spcBef>
              <a:buFont typeface="Arial MT"/>
              <a:buChar char="○"/>
              <a:tabLst>
                <a:tab pos="882015" algn="l"/>
                <a:tab pos="88265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Only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stores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616161"/>
                </a:solidFill>
                <a:latin typeface="Trebuchet MS"/>
                <a:cs typeface="Trebuchet MS"/>
              </a:rPr>
              <a:t>JSON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objects</a:t>
            </a:r>
            <a:endParaRPr sz="1800" dirty="0">
              <a:latin typeface="Trebuchet MS"/>
              <a:cs typeface="Trebuchet MS"/>
            </a:endParaRPr>
          </a:p>
          <a:p>
            <a:pPr marL="882015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82015" algn="l"/>
                <a:tab pos="882650" algn="l"/>
              </a:tabLst>
            </a:pPr>
            <a:r>
              <a:rPr sz="1800" spc="80" dirty="0">
                <a:solidFill>
                  <a:srgbClr val="616161"/>
                </a:solidFill>
                <a:latin typeface="Trebuchet MS"/>
                <a:cs typeface="Trebuchet MS"/>
              </a:rPr>
              <a:t>No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longer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simple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endParaRPr sz="1800" dirty="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222825"/>
            <a:ext cx="4286249" cy="11620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B9DA9A-A13D-59CC-1194-17B9DD052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216" y="2343150"/>
            <a:ext cx="4134483" cy="23625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7526AB-0C3E-B248-BB73-D5037C39EC3B}"/>
              </a:ext>
            </a:extLst>
          </p:cNvPr>
          <p:cNvSpPr txBox="1"/>
          <p:nvPr/>
        </p:nvSpPr>
        <p:spPr>
          <a:xfrm>
            <a:off x="609600" y="1352550"/>
            <a:ext cx="8867176" cy="34137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Is Retains some friendly properties of SQL. (query, index)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Queries are </a:t>
            </a:r>
            <a:r>
              <a:rPr lang="en-US" dirty="0" err="1">
                <a:solidFill>
                  <a:srgbClr val="616161"/>
                </a:solidFill>
                <a:latin typeface="Trebuchet MS"/>
                <a:cs typeface="Trebuchet MS"/>
              </a:rPr>
              <a:t>javascript</a:t>
            </a: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 expressions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Run arbitrary </a:t>
            </a:r>
            <a:r>
              <a:rPr lang="en-US" dirty="0" err="1">
                <a:solidFill>
                  <a:srgbClr val="616161"/>
                </a:solidFill>
                <a:latin typeface="Trebuchet MS"/>
                <a:cs typeface="Trebuchet MS"/>
              </a:rPr>
              <a:t>javascript</a:t>
            </a: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 functions server-side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Master-slave replication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Sharding built-in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Concurrency: Update in Place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Has geospatial indexing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Stores documents as BSON (Binary JSON)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Provides CP (remember CAP theorem)</a:t>
            </a:r>
          </a:p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Enterprise class support</a:t>
            </a:r>
            <a:endParaRPr lang="en-US" dirty="0">
              <a:latin typeface="Trebuchet MS"/>
              <a:cs typeface="Trebuchet MS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6A096D1-C202-E719-8195-1FF8B26645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1" y="27369"/>
            <a:ext cx="4286249" cy="11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DCCDA-73F7-2EA1-C9E3-31EA8FE2C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680773"/>
            <a:ext cx="7944959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48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1EB84-1681-C7D6-4DB8-6D6CC326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4" y="442615"/>
            <a:ext cx="8716591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05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302BA-34FB-9A8B-DC1A-41BBFED9E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8" y="1076116"/>
            <a:ext cx="8192643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43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24" y="1779093"/>
            <a:ext cx="8270240" cy="1701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120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Lets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616161"/>
                </a:solidFill>
                <a:latin typeface="Trebuchet MS"/>
                <a:cs typeface="Trebuchet MS"/>
              </a:rPr>
              <a:t>structures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616161"/>
                </a:solidFill>
                <a:latin typeface="Trebuchet MS"/>
                <a:cs typeface="Trebuchet MS"/>
              </a:rPr>
              <a:t>memory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share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them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616161"/>
                </a:solidFill>
                <a:latin typeface="Trebuchet MS"/>
                <a:cs typeface="Trebuchet MS"/>
              </a:rPr>
              <a:t>fast: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616161"/>
                </a:solidFill>
                <a:latin typeface="Trebuchet MS"/>
                <a:cs typeface="Trebuchet MS"/>
              </a:rPr>
              <a:t>Often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caching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400" y="231719"/>
            <a:ext cx="3615309" cy="12057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24" y="1708468"/>
            <a:ext cx="5807710" cy="20161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120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Resembles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 key-</a:t>
            </a:r>
            <a:r>
              <a:rPr sz="2400" spc="-25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2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endParaRPr sz="2400">
              <a:latin typeface="Trebuchet MS"/>
              <a:cs typeface="Trebuchet MS"/>
            </a:endParaRPr>
          </a:p>
          <a:p>
            <a:pPr marL="882015" lvl="1" indent="-367030">
              <a:lnSpc>
                <a:spcPct val="100000"/>
              </a:lnSpc>
              <a:spcBef>
                <a:spcPts val="445"/>
              </a:spcBef>
              <a:buFont typeface="Arial MT"/>
              <a:buChar char="○"/>
              <a:tabLst>
                <a:tab pos="882015" algn="l"/>
                <a:tab pos="88265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Allows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indexing,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but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involves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data-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replication</a:t>
            </a:r>
            <a:endParaRPr sz="18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24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fast</a:t>
            </a:r>
            <a:r>
              <a:rPr sz="24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reads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Scales</a:t>
            </a:r>
            <a:r>
              <a:rPr sz="2400" spc="1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well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137" y="266486"/>
            <a:ext cx="3787511" cy="143448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24" y="1924168"/>
            <a:ext cx="3301365" cy="863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120" dirty="0">
                <a:solidFill>
                  <a:srgbClr val="616161"/>
                </a:solidFill>
                <a:latin typeface="Trebuchet MS"/>
                <a:cs typeface="Trebuchet MS"/>
              </a:rPr>
              <a:t>CP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Global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14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2400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Database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178250"/>
            <a:ext cx="1738424" cy="17384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91775" y="984508"/>
            <a:ext cx="220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Google</a:t>
            </a:r>
            <a:r>
              <a:rPr sz="2400" spc="19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Spanner</a:t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AP</a:t>
            </a:r>
            <a:r>
              <a:rPr spc="-12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24" y="1159968"/>
            <a:ext cx="8232775" cy="863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30" dirty="0">
                <a:solidFill>
                  <a:srgbClr val="616161"/>
                </a:solidFill>
                <a:latin typeface="Trebuchet MS"/>
                <a:cs typeface="Trebuchet MS"/>
              </a:rPr>
              <a:t>Available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616161"/>
                </a:solidFill>
                <a:latin typeface="Trebuchet MS"/>
                <a:cs typeface="Trebuchet MS"/>
              </a:rPr>
              <a:t>partition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tolerant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Never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616161"/>
                </a:solidFill>
                <a:latin typeface="Trebuchet MS"/>
                <a:cs typeface="Trebuchet MS"/>
              </a:rPr>
              <a:t>returns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even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half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616161"/>
                </a:solidFill>
                <a:latin typeface="Trebuchet MS"/>
                <a:cs typeface="Trebuchet MS"/>
              </a:rPr>
              <a:t>network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dead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81900" y="3004613"/>
            <a:ext cx="923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0" dirty="0">
                <a:latin typeface="Arial MT"/>
                <a:cs typeface="Arial MT"/>
              </a:rPr>
              <a:t> Ofirm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24" y="1902968"/>
            <a:ext cx="6987540" cy="1701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110" dirty="0">
                <a:solidFill>
                  <a:srgbClr val="616161"/>
                </a:solidFill>
                <a:latin typeface="Trebuchet MS"/>
                <a:cs typeface="Trebuchet MS"/>
              </a:rPr>
              <a:t>AP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-35" dirty="0">
                <a:solidFill>
                  <a:srgbClr val="616161"/>
                </a:solidFill>
                <a:latin typeface="Trebuchet MS"/>
                <a:cs typeface="Trebuchet MS"/>
              </a:rPr>
              <a:t>Column-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Oriented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Super</a:t>
            </a:r>
            <a:r>
              <a:rPr sz="2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high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616161"/>
                </a:solidFill>
                <a:latin typeface="Trebuchet MS"/>
                <a:cs typeface="Trebuchet MS"/>
              </a:rPr>
              <a:t>availability</a:t>
            </a:r>
            <a:r>
              <a:rPr sz="2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super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high</a:t>
            </a:r>
            <a:r>
              <a:rPr sz="2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throughput</a:t>
            </a:r>
            <a:endParaRPr sz="2400">
              <a:latin typeface="Trebuchet MS"/>
              <a:cs typeface="Trebuchet MS"/>
            </a:endParaRPr>
          </a:p>
          <a:p>
            <a:pPr marL="882015" lvl="1" indent="-412750">
              <a:lnSpc>
                <a:spcPct val="100000"/>
              </a:lnSpc>
              <a:spcBef>
                <a:spcPts val="420"/>
              </a:spcBef>
              <a:buFont typeface="Arial MT"/>
              <a:buChar char="○"/>
              <a:tabLst>
                <a:tab pos="882015" algn="l"/>
                <a:tab pos="882650" algn="l"/>
              </a:tabLst>
            </a:pPr>
            <a:r>
              <a:rPr sz="2400" spc="75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2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Reddit,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Facebook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others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875" y="347575"/>
            <a:ext cx="1904999" cy="12763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274" y="1528493"/>
            <a:ext cx="7799070" cy="12827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110" dirty="0">
                <a:solidFill>
                  <a:srgbClr val="616161"/>
                </a:solidFill>
                <a:latin typeface="Trebuchet MS"/>
                <a:cs typeface="Trebuchet MS"/>
              </a:rPr>
              <a:t>AP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Key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value</a:t>
            </a:r>
            <a:r>
              <a:rPr sz="24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16161"/>
                </a:solidFill>
                <a:latin typeface="Trebuchet MS"/>
                <a:cs typeface="Trebuchet MS"/>
              </a:rPr>
              <a:t>store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24815" algn="l"/>
                <a:tab pos="425450" algn="l"/>
              </a:tabLst>
            </a:pPr>
            <a:r>
              <a:rPr sz="2400" spc="65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2400" spc="-80" dirty="0">
                <a:solidFill>
                  <a:srgbClr val="616161"/>
                </a:solidFill>
                <a:latin typeface="Trebuchet MS"/>
                <a:cs typeface="Trebuchet MS"/>
              </a:rPr>
              <a:t> faster </a:t>
            </a:r>
            <a:r>
              <a:rPr sz="2400" spc="-60" dirty="0">
                <a:solidFill>
                  <a:srgbClr val="616161"/>
                </a:solidFill>
                <a:latin typeface="Trebuchet MS"/>
                <a:cs typeface="Trebuchet MS"/>
              </a:rPr>
              <a:t>than</a:t>
            </a:r>
            <a:r>
              <a:rPr sz="24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120" dirty="0">
                <a:solidFill>
                  <a:srgbClr val="616161"/>
                </a:solidFill>
                <a:latin typeface="Trebuchet MS"/>
                <a:cs typeface="Trebuchet MS"/>
              </a:rPr>
              <a:t>MongoDB</a:t>
            </a:r>
            <a:r>
              <a:rPr sz="2400" spc="-80" dirty="0">
                <a:solidFill>
                  <a:srgbClr val="616161"/>
                </a:solidFill>
                <a:latin typeface="Trebuchet MS"/>
                <a:cs typeface="Trebuchet MS"/>
              </a:rPr>
              <a:t> but</a:t>
            </a:r>
            <a:r>
              <a:rPr sz="24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sacrifices</a:t>
            </a:r>
            <a:r>
              <a:rPr sz="24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16161"/>
                </a:solidFill>
                <a:latin typeface="Trebuchet MS"/>
                <a:cs typeface="Trebuchet MS"/>
              </a:rPr>
              <a:t>consistency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24" y="267375"/>
            <a:ext cx="3809999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95" dirty="0"/>
              <a:t> </a:t>
            </a:r>
            <a:r>
              <a:rPr spc="-110" dirty="0"/>
              <a:t>to</a:t>
            </a:r>
            <a:r>
              <a:rPr spc="-90" dirty="0"/>
              <a:t> </a:t>
            </a:r>
            <a:r>
              <a:rPr spc="65" dirty="0"/>
              <a:t>use</a:t>
            </a:r>
            <a:r>
              <a:rPr spc="-90" dirty="0"/>
              <a:t> </a:t>
            </a:r>
            <a:r>
              <a:rPr spc="170" dirty="0"/>
              <a:t>SQL</a:t>
            </a:r>
            <a:r>
              <a:rPr spc="-95" dirty="0"/>
              <a:t> </a:t>
            </a:r>
            <a:r>
              <a:rPr spc="75" dirty="0"/>
              <a:t>vs</a:t>
            </a:r>
            <a:r>
              <a:rPr spc="-90" dirty="0"/>
              <a:t> </a:t>
            </a:r>
            <a:r>
              <a:rPr spc="145" dirty="0"/>
              <a:t>NoSQL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278495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default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database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616161"/>
              </a:buClr>
              <a:buFont typeface="Arial MT"/>
              <a:buChar char="●"/>
            </a:pPr>
            <a:endParaRPr sz="2100" dirty="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7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616161"/>
                </a:solidFill>
                <a:latin typeface="Trebuchet MS"/>
                <a:cs typeface="Trebuchet MS"/>
              </a:rPr>
              <a:t>NoSQL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b="1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616161"/>
                </a:solidFill>
                <a:latin typeface="Trebuchet MS"/>
                <a:cs typeface="Trebuchet MS"/>
              </a:rPr>
              <a:t>than</a:t>
            </a:r>
            <a:r>
              <a:rPr sz="1800" b="1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b="1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616161"/>
                </a:solidFill>
                <a:latin typeface="Trebuchet MS"/>
                <a:cs typeface="Trebuchet MS"/>
              </a:rPr>
              <a:t>serve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r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616161"/>
                </a:solidFill>
                <a:latin typeface="Trebuchet MS"/>
                <a:cs typeface="Trebuchet MS"/>
              </a:rPr>
              <a:t>super</a:t>
            </a:r>
            <a:r>
              <a:rPr sz="1800" b="1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616161"/>
                </a:solidFill>
                <a:latin typeface="Trebuchet MS"/>
                <a:cs typeface="Trebuchet MS"/>
              </a:rPr>
              <a:t>high </a:t>
            </a:r>
            <a:r>
              <a:rPr sz="1800" b="1" spc="-90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800" b="1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616161"/>
                </a:solidFill>
                <a:latin typeface="Trebuchet MS"/>
                <a:cs typeface="Trebuchet MS"/>
              </a:rPr>
              <a:t>rate</a:t>
            </a:r>
            <a:endParaRPr sz="1800" dirty="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75" dirty="0">
                <a:solidFill>
                  <a:srgbClr val="616161"/>
                </a:solidFill>
                <a:latin typeface="Trebuchet MS"/>
                <a:cs typeface="Trebuchet MS"/>
              </a:rPr>
              <a:t>NoSQL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happens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sacrifice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616161"/>
                </a:solidFill>
                <a:latin typeface="Trebuchet MS"/>
                <a:cs typeface="Trebuchet MS"/>
              </a:rPr>
              <a:t>CA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other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pair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616161"/>
                </a:solidFill>
                <a:latin typeface="Trebuchet MS"/>
                <a:cs typeface="Trebuchet MS"/>
              </a:rPr>
              <a:t>CAP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BFDE5-9FB3-92DA-CB44-B5D1AC33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5150"/>
            <a:ext cx="9144000" cy="17357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3906-B9E8-B98E-AD7B-C92FF832C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C9975D-AA49-7EF9-9E2A-4083BF54F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Usage of NoSQL DBs at scale</a:t>
            </a:r>
            <a:endParaRPr lang="en-US" spc="14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CDA767-9C06-CF7D-766F-246B404F15B1}"/>
              </a:ext>
            </a:extLst>
          </p:cNvPr>
          <p:cNvSpPr txBox="1"/>
          <p:nvPr/>
        </p:nvSpPr>
        <p:spPr>
          <a:xfrm>
            <a:off x="475249" y="1216355"/>
            <a:ext cx="8278495" cy="2318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379095" algn="l"/>
                <a:tab pos="379730" algn="l"/>
              </a:tabLst>
            </a:pP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Facebook</a:t>
            </a:r>
          </a:p>
          <a:p>
            <a:pPr marL="379095" lvl="4" indent="-367030"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dirty="0" err="1">
                <a:solidFill>
                  <a:srgbClr val="616161"/>
                </a:solidFill>
                <a:latin typeface="Trebuchet MS"/>
                <a:cs typeface="Trebuchet MS"/>
              </a:rPr>
              <a:t>RocksDB</a:t>
            </a:r>
            <a:r>
              <a:rPr lang="en-US" dirty="0">
                <a:solidFill>
                  <a:srgbClr val="616161"/>
                </a:solidFill>
                <a:latin typeface="Trebuchet MS"/>
                <a:cs typeface="Trebuchet MS"/>
              </a:rPr>
              <a:t> - Embeddable persistent key-value store.</a:t>
            </a:r>
          </a:p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Cassandra - Column-based database</a:t>
            </a:r>
          </a:p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Memcached - An in-memory key-value store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379095" algn="l"/>
                <a:tab pos="379730" algn="l"/>
              </a:tabLst>
            </a:pPr>
            <a:r>
              <a:rPr lang="en-US" sz="1800" dirty="0" err="1">
                <a:solidFill>
                  <a:srgbClr val="616161"/>
                </a:solidFill>
                <a:latin typeface="Trebuchet MS"/>
                <a:cs typeface="Trebuchet MS"/>
              </a:rPr>
              <a:t>Pokemon</a:t>
            </a: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 GO</a:t>
            </a:r>
          </a:p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Google Cloud Datastore’s NoSQL database.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379095" algn="l"/>
                <a:tab pos="379730" algn="l"/>
              </a:tabLst>
            </a:pP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Clash of Clans</a:t>
            </a:r>
          </a:p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lang="en-US" sz="1800" dirty="0" err="1">
                <a:solidFill>
                  <a:srgbClr val="616161"/>
                </a:solidFill>
                <a:latin typeface="Trebuchet MS"/>
                <a:cs typeface="Trebuchet MS"/>
              </a:rPr>
              <a:t>DynomoDB</a:t>
            </a:r>
            <a:r>
              <a:rPr lang="en-US" sz="1800" dirty="0">
                <a:solidFill>
                  <a:srgbClr val="616161"/>
                </a:solidFill>
                <a:latin typeface="Trebuchet MS"/>
                <a:cs typeface="Trebuchet MS"/>
              </a:rPr>
              <a:t> Amazon Web Services(AWS)</a:t>
            </a:r>
            <a:endParaRPr lang="en-US" sz="1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4842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1221</Words>
  <Application>Microsoft Office PowerPoint</Application>
  <PresentationFormat>On-screen Show (16:9)</PresentationFormat>
  <Paragraphs>232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Arial MT</vt:lpstr>
      <vt:lpstr>Trebuchet MS</vt:lpstr>
      <vt:lpstr>Office Theme</vt:lpstr>
      <vt:lpstr>NoSQL and Key/Value Stores</vt:lpstr>
      <vt:lpstr>SQL databases</vt:lpstr>
      <vt:lpstr>A little bit of history</vt:lpstr>
      <vt:lpstr>Reached a noticeable awareness in April 2009</vt:lpstr>
      <vt:lpstr>Why NoSQL ?</vt:lpstr>
      <vt:lpstr>SQL vs NoSQL</vt:lpstr>
      <vt:lpstr>NoSQL Database Types</vt:lpstr>
      <vt:lpstr>Key Value Store</vt:lpstr>
      <vt:lpstr>Document Oriented Databases</vt:lpstr>
      <vt:lpstr>PowerPoint Presentation</vt:lpstr>
      <vt:lpstr>Document Vs Key Value Databases</vt:lpstr>
      <vt:lpstr>Columnar/Column based Databases</vt:lpstr>
      <vt:lpstr>Row based databases</vt:lpstr>
      <vt:lpstr>Relaxing Constraints</vt:lpstr>
      <vt:lpstr>Eventual Consistency</vt:lpstr>
      <vt:lpstr>Eventual Consistency</vt:lpstr>
      <vt:lpstr>Eventual Consistency</vt:lpstr>
      <vt:lpstr>Eventual Consistency</vt:lpstr>
      <vt:lpstr>Eventual Consistency</vt:lpstr>
      <vt:lpstr>CAP Theorem</vt:lpstr>
      <vt:lpstr>CAP Theorem</vt:lpstr>
      <vt:lpstr>PowerPoint Presentation</vt:lpstr>
      <vt:lpstr>CA Systems</vt:lpstr>
      <vt:lpstr>CP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Google Spanner</vt:lpstr>
      <vt:lpstr>AP Systems</vt:lpstr>
      <vt:lpstr>PowerPoint Presentation</vt:lpstr>
      <vt:lpstr>PowerPoint Presentation</vt:lpstr>
      <vt:lpstr>PowerPoint Presentation</vt:lpstr>
      <vt:lpstr>When to use SQL vs NoSQL</vt:lpstr>
      <vt:lpstr>Usage of NoSQL DBs at scale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6</cp:revision>
  <dcterms:created xsi:type="dcterms:W3CDTF">2024-11-10T16:01:56Z</dcterms:created>
  <dcterms:modified xsi:type="dcterms:W3CDTF">2025-03-01T01:39:40Z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