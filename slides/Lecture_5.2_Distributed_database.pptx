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530" r:id="rId3"/>
    <p:sldId id="267" r:id="rId4"/>
    <p:sldId id="528" r:id="rId5"/>
    <p:sldId id="285" r:id="rId6"/>
    <p:sldId id="286" r:id="rId7"/>
    <p:sldId id="287" r:id="rId8"/>
    <p:sldId id="288" r:id="rId9"/>
    <p:sldId id="289" r:id="rId10"/>
    <p:sldId id="290" r:id="rId11"/>
    <p:sldId id="515" r:id="rId12"/>
    <p:sldId id="268" r:id="rId13"/>
    <p:sldId id="270" r:id="rId14"/>
    <p:sldId id="271" r:id="rId15"/>
    <p:sldId id="272" r:id="rId16"/>
    <p:sldId id="273" r:id="rId17"/>
    <p:sldId id="326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92" r:id="rId29"/>
    <p:sldId id="293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257" r:id="rId41"/>
    <p:sldId id="258" r:id="rId42"/>
    <p:sldId id="259" r:id="rId43"/>
    <p:sldId id="261" r:id="rId44"/>
    <p:sldId id="260" r:id="rId45"/>
    <p:sldId id="262" r:id="rId46"/>
    <p:sldId id="263" r:id="rId47"/>
    <p:sldId id="264" r:id="rId48"/>
    <p:sldId id="266" r:id="rId49"/>
    <p:sldId id="265" r:id="rId5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0144D-3D15-478F-AEE2-AED1E27069F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21A46-3DA2-4BCC-8399-AD5EA09EB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56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https://www.youtube.com/watch?v=aReuLtY0YMI</a:t>
            </a:r>
          </a:p>
          <a:p>
            <a:r>
              <a:rPr lang="en-US" dirty="0"/>
              <a:t>https://www.youtube.com/watch?v=JWX5Inb--ig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24F42-4E52-4890-B167-BEF19AD409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51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5">
            <a:extLst>
              <a:ext uri="{FF2B5EF4-FFF2-40B4-BE49-F238E27FC236}">
                <a16:creationId xmlns:a16="http://schemas.microsoft.com/office/drawing/2014/main" id="{9EA9BBFF-616B-CA1B-791F-810469CAFC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FEB7DB7-0E73-4DBE-ABFD-9F6ADC2CA0AD}" type="slidenum">
              <a:rPr lang="en-US" altLang="en-US" sz="1000">
                <a:latin typeface="Times New Roman" panose="02020603050405020304" pitchFamily="18" charset="0"/>
              </a:rPr>
              <a:pPr/>
              <a:t>4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D4B3C6FA-D203-D316-9EC4-137B0B2FF9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E65BDC0A-200C-5433-C6C1-7BCC1F144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5">
            <a:extLst>
              <a:ext uri="{FF2B5EF4-FFF2-40B4-BE49-F238E27FC236}">
                <a16:creationId xmlns:a16="http://schemas.microsoft.com/office/drawing/2014/main" id="{15C66754-7664-9463-F986-BD05682180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FAE7685-856B-4812-9FF4-590A602FC3EE}" type="slidenum">
              <a:rPr lang="en-US" altLang="en-US" sz="1000">
                <a:latin typeface="Times New Roman" panose="02020603050405020304" pitchFamily="18" charset="0"/>
              </a:rPr>
              <a:pPr/>
              <a:t>5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27E6EF6-2C8B-0C86-1A61-F989E6D4BA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2164E6E2-5AC7-A70E-CBE4-2E2E6BDE3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5">
            <a:extLst>
              <a:ext uri="{FF2B5EF4-FFF2-40B4-BE49-F238E27FC236}">
                <a16:creationId xmlns:a16="http://schemas.microsoft.com/office/drawing/2014/main" id="{EBFC80BA-3459-AA43-97C1-2472CE5FF1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C083338-5EF0-4012-9229-14CA451E2F78}" type="slidenum">
              <a:rPr lang="en-US" altLang="en-US" sz="1000">
                <a:latin typeface="Times New Roman" panose="02020603050405020304" pitchFamily="18" charset="0"/>
              </a:rPr>
              <a:pPr/>
              <a:t>6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77FDBF1B-0CDE-5887-20AB-1CC91EF22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002132CA-C153-ED9D-40F0-AC4852DFA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5">
            <a:extLst>
              <a:ext uri="{FF2B5EF4-FFF2-40B4-BE49-F238E27FC236}">
                <a16:creationId xmlns:a16="http://schemas.microsoft.com/office/drawing/2014/main" id="{21DEAA5C-B12F-C21D-DFC2-14035EE968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B63BFC3-E0F3-476F-8FD9-44C99300F478}" type="slidenum">
              <a:rPr lang="en-US" altLang="en-US" sz="1000">
                <a:latin typeface="Times New Roman" panose="02020603050405020304" pitchFamily="18" charset="0"/>
              </a:rPr>
              <a:pPr/>
              <a:t>7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59644882-5385-4941-523F-3881594781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F0647A30-4ED7-186C-E359-EBEC1985B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5">
            <a:extLst>
              <a:ext uri="{FF2B5EF4-FFF2-40B4-BE49-F238E27FC236}">
                <a16:creationId xmlns:a16="http://schemas.microsoft.com/office/drawing/2014/main" id="{CF4E29F0-54A5-0633-561F-CA2A40D36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D591ED7-A364-4ED2-8E9A-5B0F1C395A2B}" type="slidenum">
              <a:rPr lang="en-US" altLang="en-US" sz="1000">
                <a:latin typeface="Times New Roman" panose="02020603050405020304" pitchFamily="18" charset="0"/>
              </a:rPr>
              <a:pPr/>
              <a:t>8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5986F9F6-C532-D03F-D44A-E5657CC0AE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DF11E5D-AA21-5A82-E6C2-47D726FD86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5">
            <a:extLst>
              <a:ext uri="{FF2B5EF4-FFF2-40B4-BE49-F238E27FC236}">
                <a16:creationId xmlns:a16="http://schemas.microsoft.com/office/drawing/2014/main" id="{FF77B38E-B7C3-4FBE-5DE2-6C2CB105EF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00CC5A8-B077-478C-A9F4-020B795A0BDA}" type="slidenum">
              <a:rPr lang="en-US" altLang="en-US" sz="1000">
                <a:latin typeface="Times New Roman" panose="02020603050405020304" pitchFamily="18" charset="0"/>
              </a:rPr>
              <a:pPr/>
              <a:t>9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5FFE2CA2-062A-3CCA-445D-04A5D647E1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7728B9DE-8B3C-D711-17DC-3923EB50F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5">
            <a:extLst>
              <a:ext uri="{FF2B5EF4-FFF2-40B4-BE49-F238E27FC236}">
                <a16:creationId xmlns:a16="http://schemas.microsoft.com/office/drawing/2014/main" id="{C50888A5-E668-28ED-34E7-28B0FA0C9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25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EB9D0D0-7C8C-4A81-AE18-14F38995E757}" type="slidenum">
              <a:rPr lang="en-US" altLang="en-US" sz="1000">
                <a:latin typeface="Times New Roman" panose="02020603050405020304" pitchFamily="18" charset="0"/>
              </a:rPr>
              <a:pPr/>
              <a:t>10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E99339CA-FECC-69DC-6B43-9CAD13240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02A63270-6CEC-0D09-8211-A522EF586A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https://www.youtube.com/watch?v=N7BV_rRse30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21A46-3DA2-4BCC-8399-AD5EA09EB53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25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058E7-100F-EE03-1785-5A7EBAF3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532A8-5FEA-E9B4-1D17-6EF4C7BAF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DDBA3-02B1-B4F2-C7CD-F1F2B0A50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https://www.youtube.com/watch?v=N7BV_rRse30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977AD-AB44-D9FD-E56B-57EB045F7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21A46-3DA2-4BCC-8399-AD5EA09EB53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25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B6F6-E513-557B-51B9-FE82916B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19965-CDC4-D9B5-DBE0-BD4B38AB1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22FCE-5B3C-DF90-B88C-82500C242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https://www.youtube.com/watch?v=N7BV_rRse30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2DC37-75E1-CE97-CAFA-49E3C02F2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21A46-3DA2-4BCC-8399-AD5EA09EB53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05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016D-A1CC-DDA4-2440-0DD1913C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FE15C-0968-5649-8ABA-BA63A37DA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7B594-03B2-F4D6-0564-700F985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https://www.youtube.com/watch?v=N7BV_rRse30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96D77-51C2-F7D2-5068-F124A8DF7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21A46-3DA2-4BCC-8399-AD5EA09EB53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29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8801"/>
            <a:ext cx="5638165" cy="897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62308"/>
            <a:ext cx="6119495" cy="3068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15445.courses.cs.cmu.edu/fall2023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15445.courses.cs.cmu.edu/fall2023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4417" y="1163216"/>
            <a:ext cx="78600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lang="en-US" sz="4800" spc="270" dirty="0">
                <a:solidFill>
                  <a:srgbClr val="FFFFFF"/>
                </a:solidFill>
              </a:rPr>
              <a:t>Distributed Databases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59"/>
            <a:ext cx="3878199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400" spc="-9" dirty="0">
                <a:latin typeface="Trebuchet MS" panose="020B0603020202020204" pitchFamily="34" charset="0"/>
              </a:rPr>
              <a:t>Learning</a:t>
            </a:r>
            <a:r>
              <a:rPr sz="2400" spc="-81" dirty="0">
                <a:latin typeface="Trebuchet MS" panose="020B0603020202020204" pitchFamily="34" charset="0"/>
              </a:rPr>
              <a:t> </a:t>
            </a:r>
            <a:r>
              <a:rPr sz="2400" spc="-5" dirty="0">
                <a:latin typeface="Trebuchet MS" panose="020B0603020202020204" pitchFamily="34" charset="0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3994" y="1111219"/>
            <a:ext cx="7251764" cy="25306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3187" marR="19431" indent="-342329">
              <a:spcBef>
                <a:spcPts val="90"/>
              </a:spcBef>
              <a:buFont typeface="Arial MT"/>
              <a:buChar char="●"/>
              <a:tabLst>
                <a:tab pos="353187" algn="l"/>
                <a:tab pos="353759" algn="l"/>
              </a:tabLst>
            </a:pPr>
            <a:r>
              <a:rPr sz="2520" spc="-5" dirty="0">
                <a:latin typeface="Georgia"/>
                <a:cs typeface="Georgia"/>
              </a:rPr>
              <a:t>Understand </a:t>
            </a:r>
            <a:r>
              <a:rPr lang="en-US" sz="2520" spc="-5" dirty="0">
                <a:latin typeface="Georgia"/>
                <a:cs typeface="Georgia"/>
              </a:rPr>
              <a:t>differences between centralized and distributed databases</a:t>
            </a:r>
            <a:endParaRPr sz="2520" dirty="0">
              <a:solidFill>
                <a:srgbClr val="FF0000"/>
              </a:solidFill>
              <a:latin typeface="Georgia"/>
              <a:cs typeface="Georgia"/>
            </a:endParaRPr>
          </a:p>
          <a:p>
            <a:pPr marL="353187" marR="4572" indent="-342329">
              <a:spcBef>
                <a:spcPts val="504"/>
              </a:spcBef>
              <a:buFont typeface="Arial MT"/>
              <a:buChar char="●"/>
              <a:tabLst>
                <a:tab pos="353187" algn="l"/>
                <a:tab pos="353759" algn="l"/>
              </a:tabLst>
            </a:pPr>
            <a:r>
              <a:rPr sz="2520" spc="-5" dirty="0">
                <a:latin typeface="Georgia"/>
                <a:cs typeface="Georgia"/>
              </a:rPr>
              <a:t>Understand </a:t>
            </a:r>
            <a:r>
              <a:rPr lang="en-US" sz="2520" spc="-9" dirty="0">
                <a:latin typeface="Georgia"/>
                <a:cs typeface="Georgia"/>
              </a:rPr>
              <a:t>different architectures, distribution strategies</a:t>
            </a:r>
            <a:endParaRPr sz="2520" dirty="0">
              <a:latin typeface="Georgia"/>
              <a:cs typeface="Georgia"/>
            </a:endParaRPr>
          </a:p>
          <a:p>
            <a:pPr marL="353187" marR="4572" indent="-342329">
              <a:spcBef>
                <a:spcPts val="504"/>
              </a:spcBef>
              <a:buFont typeface="Arial MT"/>
              <a:buChar char="●"/>
              <a:tabLst>
                <a:tab pos="353187" algn="l"/>
                <a:tab pos="353759" algn="l"/>
              </a:tabLst>
            </a:pPr>
            <a:r>
              <a:rPr lang="en-US" sz="2520" spc="-5" dirty="0">
                <a:latin typeface="Georgia"/>
                <a:cs typeface="Georgia"/>
              </a:rPr>
              <a:t>Understand </a:t>
            </a:r>
            <a:r>
              <a:rPr lang="en-US" sz="2520" spc="-9" dirty="0">
                <a:latin typeface="Georgia"/>
                <a:cs typeface="Georgia"/>
              </a:rPr>
              <a:t>concurrency control &amp; transactions</a:t>
            </a:r>
          </a:p>
          <a:p>
            <a:pPr marL="353187" marR="4572" indent="-342329">
              <a:spcBef>
                <a:spcPts val="504"/>
              </a:spcBef>
              <a:buFont typeface="Arial MT"/>
              <a:buChar char="●"/>
              <a:tabLst>
                <a:tab pos="353187" algn="l"/>
                <a:tab pos="353759" algn="l"/>
              </a:tabLst>
            </a:pPr>
            <a:endParaRPr lang="en-US" sz="252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7935" y="255495"/>
            <a:ext cx="5438915" cy="43937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pc="-93" dirty="0"/>
              <a:t>Distributed</a:t>
            </a:r>
            <a:r>
              <a:rPr spc="-126" dirty="0"/>
              <a:t> </a:t>
            </a:r>
            <a:r>
              <a:rPr spc="-93" dirty="0"/>
              <a:t>Database</a:t>
            </a:r>
            <a:r>
              <a:rPr spc="-126" dirty="0"/>
              <a:t> </a:t>
            </a:r>
            <a:r>
              <a:rPr spc="-17" dirty="0"/>
              <a:t>(</a:t>
            </a:r>
            <a:r>
              <a:rPr spc="-17" dirty="0">
                <a:solidFill>
                  <a:srgbClr val="C00000"/>
                </a:solidFill>
              </a:rPr>
              <a:t>DDB</a:t>
            </a:r>
            <a:r>
              <a:rPr spc="-17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452" y="890622"/>
            <a:ext cx="7744548" cy="3293796"/>
          </a:xfrm>
          <a:prstGeom prst="rect">
            <a:avLst/>
          </a:prstGeom>
        </p:spPr>
        <p:txBody>
          <a:bodyPr vert="horz" wrap="square" lIns="0" tIns="27314" rIns="0" bIns="0" rtlCol="0">
            <a:spAutoFit/>
          </a:bodyPr>
          <a:lstStyle/>
          <a:p>
            <a:pPr marL="165155" marR="3362" indent="-157171" algn="just">
              <a:lnSpc>
                <a:spcPct val="91000"/>
              </a:lnSpc>
              <a:spcBef>
                <a:spcPts val="215"/>
              </a:spcBef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collection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multiple,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logically</a:t>
            </a:r>
            <a:r>
              <a:rPr spc="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interconnected</a:t>
            </a:r>
            <a:r>
              <a:rPr spc="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databases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that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are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physically</a:t>
            </a:r>
            <a:r>
              <a:rPr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distributed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over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computer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network</a:t>
            </a:r>
            <a:r>
              <a:rPr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on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different sites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453"/>
              </a:spcBef>
              <a:buClr>
                <a:srgbClr val="292934"/>
              </a:buClr>
              <a:buFont typeface="Arial"/>
              <a:buChar char="•"/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165155" marR="50429" indent="-157171">
              <a:lnSpc>
                <a:spcPts val="1522"/>
              </a:lnSpc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are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physically</a:t>
            </a:r>
            <a:r>
              <a:rPr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stored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across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multiple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sites,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managed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by</a:t>
            </a:r>
            <a:r>
              <a:rPr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DBMS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that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is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independent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other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site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255"/>
              </a:spcBef>
              <a:buClr>
                <a:srgbClr val="292934"/>
              </a:buClr>
              <a:buFont typeface="Arial"/>
              <a:buChar char="•"/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165155" indent="-156750"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at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any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site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available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users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at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other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sites</a:t>
            </a:r>
            <a:endParaRPr lang="en-US"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533"/>
              </a:spcBef>
              <a:buClr>
                <a:srgbClr val="292934"/>
              </a:buClr>
            </a:pPr>
            <a:endParaRPr lang="en-US" dirty="0">
              <a:latin typeface="Trebuchet MS" panose="020B0603020202020204" pitchFamily="34" charset="0"/>
              <a:cs typeface="Verdana"/>
            </a:endParaRPr>
          </a:p>
          <a:p>
            <a:pPr marL="165155" marR="1198953" lvl="4" indent="-157171">
              <a:lnSpc>
                <a:spcPts val="1522"/>
              </a:lnSpc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Sites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may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be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far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apart,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linked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by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some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forms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of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telecommunication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lines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(secure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lines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or</a:t>
            </a:r>
            <a:r>
              <a:rPr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Internet)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430"/>
              </a:spcBef>
              <a:buClr>
                <a:srgbClr val="292934"/>
              </a:buClr>
              <a:buFont typeface="Arial"/>
              <a:buChar char="•"/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165155" marR="437473" indent="-157171">
              <a:lnSpc>
                <a:spcPts val="1522"/>
              </a:lnSpc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Sites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that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are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close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together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may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be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linked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by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local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area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network</a:t>
            </a:r>
            <a:r>
              <a:rPr spc="6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(LAN)</a:t>
            </a:r>
            <a:endParaRPr dirty="0">
              <a:latin typeface="Trebuchet MS" panose="020B060302020202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525" y="4094630"/>
            <a:ext cx="4278182" cy="6293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75424" y="4095753"/>
            <a:ext cx="3758453" cy="369728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1352" rIns="0" bIns="0" rtlCol="0">
            <a:spAutoFit/>
          </a:bodyPr>
          <a:lstStyle/>
          <a:p>
            <a:pPr marL="649275" marR="335354" indent="-309298">
              <a:lnSpc>
                <a:spcPts val="1191"/>
              </a:lnSpc>
              <a:spcBef>
                <a:spcPts val="483"/>
              </a:spcBef>
            </a:pP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Distributed</a:t>
            </a:r>
            <a:r>
              <a:rPr sz="1125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r>
              <a:rPr sz="1125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125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focus</a:t>
            </a:r>
            <a:r>
              <a:rPr sz="1125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125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spc="-7" dirty="0">
                <a:solidFill>
                  <a:srgbClr val="292934"/>
                </a:solidFill>
                <a:latin typeface="Verdana"/>
                <a:cs typeface="Verdana"/>
              </a:rPr>
              <a:t>database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storage</a:t>
            </a:r>
            <a:r>
              <a:rPr sz="1125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125" spc="-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location</a:t>
            </a:r>
            <a:r>
              <a:rPr sz="1125" spc="-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spc="-7" dirty="0">
                <a:solidFill>
                  <a:srgbClr val="292934"/>
                </a:solidFill>
                <a:latin typeface="Verdana"/>
                <a:cs typeface="Verdana"/>
              </a:rPr>
              <a:t>transparency</a:t>
            </a:r>
            <a:endParaRPr sz="1125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F6467CAD-5A43-FBD7-C21D-7B4CB9205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E8BFCAB6-A95C-4863-9C97-9F758AB154C5}" type="slidenum">
              <a:rPr lang="en-US" altLang="en-US" smtClean="0"/>
              <a:pPr eaLnBrk="1" hangingPunct="1"/>
              <a:t>4</a:t>
            </a:fld>
            <a:endParaRPr lang="en-US" altLang="en-US" sz="105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F36DDE5-A67F-4B3E-D3F4-0FEC27A792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8145" y="285750"/>
            <a:ext cx="6298406" cy="415498"/>
          </a:xfrm>
        </p:spPr>
        <p:txBody>
          <a:bodyPr/>
          <a:lstStyle/>
          <a:p>
            <a:pPr eaLnBrk="1" hangingPunct="1"/>
            <a:r>
              <a:rPr lang="en-US" altLang="en-US" sz="2700" dirty="0"/>
              <a:t>Why do we need Distributed Databases?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4870D94F-F246-3D0F-7292-0F85039EBF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9822" y="1216196"/>
            <a:ext cx="7188777" cy="1384995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IBM has offices in London, New York, and Hong Kong.</a:t>
            </a:r>
          </a:p>
          <a:p>
            <a:pPr eaLnBrk="1" hangingPunct="1"/>
            <a:r>
              <a:rPr lang="en-US" altLang="en-US" dirty="0"/>
              <a:t>Employee data:</a:t>
            </a:r>
          </a:p>
          <a:p>
            <a:pPr lvl="1" eaLnBrk="1" hangingPunct="1"/>
            <a:r>
              <a:rPr lang="en-US" altLang="en-US" dirty="0"/>
              <a:t>EMP(ENO, NAME, TITLE, SALARY, …)</a:t>
            </a:r>
          </a:p>
          <a:p>
            <a:pPr eaLnBrk="1" hangingPunct="1"/>
            <a:r>
              <a:rPr lang="en-US" altLang="en-US" dirty="0"/>
              <a:t>Where should the employee data table reside?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5EA83D79-45D1-72E0-1EFD-F44C27C1D1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E8BFCAB6-A95C-4863-9C97-9F758AB154C5}" type="slidenum">
              <a:rPr lang="en-US" altLang="en-US" smtClean="0"/>
              <a:pPr eaLnBrk="1" hangingPunct="1"/>
              <a:t>5</a:t>
            </a:fld>
            <a:endParaRPr lang="en-US" altLang="en-US" sz="105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6EDEAB2-A79A-BDDF-31EA-570A71887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85750"/>
            <a:ext cx="5648325" cy="461665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Data Access Pattern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8457020B-DD8A-03F7-5577-BD9456CB0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76350"/>
            <a:ext cx="6705600" cy="2123658"/>
          </a:xfrm>
        </p:spPr>
        <p:txBody>
          <a:bodyPr/>
          <a:lstStyle/>
          <a:p>
            <a:pPr eaLnBrk="1" hangingPunct="1"/>
            <a:r>
              <a:rPr lang="en-US" altLang="en-US" sz="2100" dirty="0"/>
              <a:t>Mostly, employee data is managed at the office where the employee works</a:t>
            </a:r>
          </a:p>
          <a:p>
            <a:pPr lvl="1" eaLnBrk="1" hangingPunct="1"/>
            <a:r>
              <a:rPr lang="en-US" altLang="en-US" dirty="0"/>
              <a:t>E.g., payroll, benefits, hire and fire</a:t>
            </a:r>
          </a:p>
          <a:p>
            <a:pPr eaLnBrk="1" hangingPunct="1"/>
            <a:r>
              <a:rPr lang="en-US" altLang="en-US" sz="2100" dirty="0"/>
              <a:t>Periodically, we needs consolidated access to employee data</a:t>
            </a:r>
          </a:p>
          <a:p>
            <a:pPr lvl="1" eaLnBrk="1" hangingPunct="1"/>
            <a:r>
              <a:rPr lang="en-US" altLang="en-US" dirty="0"/>
              <a:t>E.g., changes benefit plans and that affects all employees.</a:t>
            </a:r>
          </a:p>
          <a:p>
            <a:pPr lvl="1" eaLnBrk="1" hangingPunct="1"/>
            <a:r>
              <a:rPr lang="en-US" altLang="en-US" dirty="0"/>
              <a:t>E.g., Annual bonus depends on global net profit.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8E4F782B-87BF-BF26-3B5C-5FCC0674E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01519E5E-2460-4C96-9A5B-C2C784B55D20}" type="slidenum">
              <a:rPr lang="en-US" altLang="en-US" smtClean="0"/>
              <a:pPr eaLnBrk="1" hangingPunct="1"/>
              <a:t>6</a:t>
            </a:fld>
            <a:endParaRPr lang="en-US" altLang="en-US" sz="1050"/>
          </a:p>
        </p:txBody>
      </p:sp>
      <p:sp>
        <p:nvSpPr>
          <p:cNvPr id="10243" name="AutoShape 2">
            <a:extLst>
              <a:ext uri="{FF2B5EF4-FFF2-40B4-BE49-F238E27FC236}">
                <a16:creationId xmlns:a16="http://schemas.microsoft.com/office/drawing/2014/main" id="{8F4B670F-EFA3-7C03-6A45-96DB62AD7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1" y="1213248"/>
            <a:ext cx="859631" cy="66317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>
                <a:solidFill>
                  <a:schemeClr val="hlink"/>
                </a:solidFill>
              </a:rPr>
              <a:t>EMP</a:t>
            </a:r>
          </a:p>
        </p:txBody>
      </p:sp>
      <p:grpSp>
        <p:nvGrpSpPr>
          <p:cNvPr id="10244" name="Group 3">
            <a:extLst>
              <a:ext uri="{FF2B5EF4-FFF2-40B4-BE49-F238E27FC236}">
                <a16:creationId xmlns:a16="http://schemas.microsoft.com/office/drawing/2014/main" id="{FD8E1F25-65B1-E7F6-2216-EB16F3CD0BAA}"/>
              </a:ext>
            </a:extLst>
          </p:cNvPr>
          <p:cNvGrpSpPr>
            <a:grpSpLocks/>
          </p:cNvGrpSpPr>
          <p:nvPr/>
        </p:nvGrpSpPr>
        <p:grpSpPr bwMode="auto">
          <a:xfrm>
            <a:off x="1675210" y="2156223"/>
            <a:ext cx="4408884" cy="640556"/>
            <a:chOff x="896" y="2021"/>
            <a:chExt cx="3703" cy="538"/>
          </a:xfrm>
        </p:grpSpPr>
        <p:sp>
          <p:nvSpPr>
            <p:cNvPr id="10255" name="Oval 4">
              <a:extLst>
                <a:ext uri="{FF2B5EF4-FFF2-40B4-BE49-F238E27FC236}">
                  <a16:creationId xmlns:a16="http://schemas.microsoft.com/office/drawing/2014/main" id="{23FB00CC-3F55-555F-3BB5-3B8F72441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176"/>
              <a:ext cx="805" cy="2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0256" name="Oval 5">
              <a:extLst>
                <a:ext uri="{FF2B5EF4-FFF2-40B4-BE49-F238E27FC236}">
                  <a16:creationId xmlns:a16="http://schemas.microsoft.com/office/drawing/2014/main" id="{CC85E6EC-5623-7148-0522-85EE396C6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2194"/>
              <a:ext cx="942" cy="3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0257" name="Oval 6">
              <a:extLst>
                <a:ext uri="{FF2B5EF4-FFF2-40B4-BE49-F238E27FC236}">
                  <a16:creationId xmlns:a16="http://schemas.microsoft.com/office/drawing/2014/main" id="{712C2E9F-CF3D-0B3F-4BCF-4701BACDE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2021"/>
              <a:ext cx="1637" cy="3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0258" name="Oval 7">
              <a:extLst>
                <a:ext uri="{FF2B5EF4-FFF2-40B4-BE49-F238E27FC236}">
                  <a16:creationId xmlns:a16="http://schemas.microsoft.com/office/drawing/2014/main" id="{56BCF9C5-F857-4590-6330-CB611C3F1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3" y="2231"/>
              <a:ext cx="1756" cy="2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0259" name="Oval 8">
              <a:extLst>
                <a:ext uri="{FF2B5EF4-FFF2-40B4-BE49-F238E27FC236}">
                  <a16:creationId xmlns:a16="http://schemas.microsoft.com/office/drawing/2014/main" id="{7C35776E-080D-BF23-17D5-EFD463532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2057"/>
              <a:ext cx="2121" cy="5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0260" name="Text Box 9">
              <a:extLst>
                <a:ext uri="{FF2B5EF4-FFF2-40B4-BE49-F238E27FC236}">
                  <a16:creationId xmlns:a16="http://schemas.microsoft.com/office/drawing/2014/main" id="{B7FD98FB-FF01-1679-BE9A-A1AA12D20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5" y="2094"/>
              <a:ext cx="10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Internet</a:t>
              </a:r>
            </a:p>
          </p:txBody>
        </p:sp>
      </p:grpSp>
      <p:sp>
        <p:nvSpPr>
          <p:cNvPr id="10245" name="Rectangle 10">
            <a:extLst>
              <a:ext uri="{FF2B5EF4-FFF2-40B4-BE49-F238E27FC236}">
                <a16:creationId xmlns:a16="http://schemas.microsoft.com/office/drawing/2014/main" id="{10BDDDAA-8C39-7EB5-7AFE-3323AA53D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769" y="239317"/>
            <a:ext cx="1056085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London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0246" name="Rectangle 11">
            <a:extLst>
              <a:ext uri="{FF2B5EF4-FFF2-40B4-BE49-F238E27FC236}">
                <a16:creationId xmlns:a16="http://schemas.microsoft.com/office/drawing/2014/main" id="{8BE2C00A-CCB5-1423-C02C-E5DD55C5E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716" y="163116"/>
            <a:ext cx="1970484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247" name="Text Box 12">
            <a:extLst>
              <a:ext uri="{FF2B5EF4-FFF2-40B4-BE49-F238E27FC236}">
                <a16:creationId xmlns:a16="http://schemas.microsoft.com/office/drawing/2014/main" id="{A2A03363-94C7-4589-D65A-10A7B0CE5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670448"/>
            <a:ext cx="80983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London</a:t>
            </a:r>
          </a:p>
        </p:txBody>
      </p:sp>
      <p:sp>
        <p:nvSpPr>
          <p:cNvPr id="10248" name="Rectangle 13">
            <a:extLst>
              <a:ext uri="{FF2B5EF4-FFF2-40B4-BE49-F238E27FC236}">
                <a16:creationId xmlns:a16="http://schemas.microsoft.com/office/drawing/2014/main" id="{25F0C5A7-6769-7EEF-CF7F-6D9BF6890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454" y="217885"/>
            <a:ext cx="1056084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New York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0249" name="Rectangle 14">
            <a:extLst>
              <a:ext uri="{FF2B5EF4-FFF2-40B4-BE49-F238E27FC236}">
                <a16:creationId xmlns:a16="http://schemas.microsoft.com/office/drawing/2014/main" id="{629CB336-CE15-7A9C-CEC1-01FC20682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538" y="151210"/>
            <a:ext cx="1970485" cy="2046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250" name="Text Box 15">
            <a:extLst>
              <a:ext uri="{FF2B5EF4-FFF2-40B4-BE49-F238E27FC236}">
                <a16:creationId xmlns:a16="http://schemas.microsoft.com/office/drawing/2014/main" id="{A9F8E4D2-4BA7-958F-1812-2D22E459A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66" y="1770460"/>
            <a:ext cx="9973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New York</a:t>
            </a:r>
          </a:p>
        </p:txBody>
      </p:sp>
      <p:sp>
        <p:nvSpPr>
          <p:cNvPr id="10251" name="Rectangle 16">
            <a:extLst>
              <a:ext uri="{FF2B5EF4-FFF2-40B4-BE49-F238E27FC236}">
                <a16:creationId xmlns:a16="http://schemas.microsoft.com/office/drawing/2014/main" id="{D6C6F0A6-4C9E-AD28-D46E-94B8BDD01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960" y="2939654"/>
            <a:ext cx="1056084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Hong Kong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0252" name="Rectangle 17">
            <a:extLst>
              <a:ext uri="{FF2B5EF4-FFF2-40B4-BE49-F238E27FC236}">
                <a16:creationId xmlns:a16="http://schemas.microsoft.com/office/drawing/2014/main" id="{EBE2F295-3337-821B-7E14-B75FFA4C5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4569" y="2851547"/>
            <a:ext cx="1970485" cy="2046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253" name="Text Box 18">
            <a:extLst>
              <a:ext uri="{FF2B5EF4-FFF2-40B4-BE49-F238E27FC236}">
                <a16:creationId xmlns:a16="http://schemas.microsoft.com/office/drawing/2014/main" id="{B23076B0-7B67-6C3E-5912-715799A13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535" y="3956448"/>
            <a:ext cx="1124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Hong Kong</a:t>
            </a:r>
          </a:p>
        </p:txBody>
      </p:sp>
      <p:sp>
        <p:nvSpPr>
          <p:cNvPr id="10254" name="Text Box 19">
            <a:extLst>
              <a:ext uri="{FF2B5EF4-FFF2-40B4-BE49-F238E27FC236}">
                <a16:creationId xmlns:a16="http://schemas.microsoft.com/office/drawing/2014/main" id="{A72AED3C-67CA-D1AB-41B4-5DC865080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0681" y="3168253"/>
            <a:ext cx="235513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Problem:</a:t>
            </a:r>
          </a:p>
          <a:p>
            <a:pPr eaLnBrk="1" hangingPunct="1"/>
            <a:r>
              <a:rPr lang="en-US" altLang="en-US" sz="1800"/>
              <a:t>NY and HK payroll</a:t>
            </a:r>
          </a:p>
          <a:p>
            <a:pPr eaLnBrk="1" hangingPunct="1"/>
            <a:r>
              <a:rPr lang="en-US" altLang="en-US" sz="1800"/>
              <a:t>apps run very slowly!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866479C8-2225-83A8-EB19-079B83E82A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01519E5E-2460-4C96-9A5B-C2C784B55D20}" type="slidenum">
              <a:rPr lang="en-US" altLang="en-US" smtClean="0"/>
              <a:pPr eaLnBrk="1" hangingPunct="1"/>
              <a:t>7</a:t>
            </a:fld>
            <a:endParaRPr lang="en-US" altLang="en-US" sz="1050"/>
          </a:p>
        </p:txBody>
      </p:sp>
      <p:sp>
        <p:nvSpPr>
          <p:cNvPr id="11267" name="AutoShape 2">
            <a:extLst>
              <a:ext uri="{FF2B5EF4-FFF2-40B4-BE49-F238E27FC236}">
                <a16:creationId xmlns:a16="http://schemas.microsoft.com/office/drawing/2014/main" id="{39BC33CB-DF69-1672-4B4C-4343244FB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1" y="1213248"/>
            <a:ext cx="859631" cy="66317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London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grpSp>
        <p:nvGrpSpPr>
          <p:cNvPr id="11268" name="Group 3">
            <a:extLst>
              <a:ext uri="{FF2B5EF4-FFF2-40B4-BE49-F238E27FC236}">
                <a16:creationId xmlns:a16="http://schemas.microsoft.com/office/drawing/2014/main" id="{944A5182-9F4E-4A0B-2C18-7DE8A5AAE3B5}"/>
              </a:ext>
            </a:extLst>
          </p:cNvPr>
          <p:cNvGrpSpPr>
            <a:grpSpLocks/>
          </p:cNvGrpSpPr>
          <p:nvPr/>
        </p:nvGrpSpPr>
        <p:grpSpPr bwMode="auto">
          <a:xfrm>
            <a:off x="1675210" y="2156223"/>
            <a:ext cx="4408884" cy="640556"/>
            <a:chOff x="896" y="2021"/>
            <a:chExt cx="3703" cy="538"/>
          </a:xfrm>
        </p:grpSpPr>
        <p:sp>
          <p:nvSpPr>
            <p:cNvPr id="11281" name="Oval 4">
              <a:extLst>
                <a:ext uri="{FF2B5EF4-FFF2-40B4-BE49-F238E27FC236}">
                  <a16:creationId xmlns:a16="http://schemas.microsoft.com/office/drawing/2014/main" id="{8ECD6E00-3F29-24D3-52F8-BB83E6446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176"/>
              <a:ext cx="805" cy="2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1282" name="Oval 5">
              <a:extLst>
                <a:ext uri="{FF2B5EF4-FFF2-40B4-BE49-F238E27FC236}">
                  <a16:creationId xmlns:a16="http://schemas.microsoft.com/office/drawing/2014/main" id="{94D5E459-825D-3DB6-2612-9017BE848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2194"/>
              <a:ext cx="942" cy="3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1283" name="Oval 6">
              <a:extLst>
                <a:ext uri="{FF2B5EF4-FFF2-40B4-BE49-F238E27FC236}">
                  <a16:creationId xmlns:a16="http://schemas.microsoft.com/office/drawing/2014/main" id="{E6118C92-D92A-E059-BF31-CBA4F003D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2021"/>
              <a:ext cx="1637" cy="3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1284" name="Oval 7">
              <a:extLst>
                <a:ext uri="{FF2B5EF4-FFF2-40B4-BE49-F238E27FC236}">
                  <a16:creationId xmlns:a16="http://schemas.microsoft.com/office/drawing/2014/main" id="{82675EBD-292A-F5BE-A694-760A5A951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3" y="2231"/>
              <a:ext cx="1756" cy="2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1285" name="Oval 8">
              <a:extLst>
                <a:ext uri="{FF2B5EF4-FFF2-40B4-BE49-F238E27FC236}">
                  <a16:creationId xmlns:a16="http://schemas.microsoft.com/office/drawing/2014/main" id="{8AF75038-6BC6-6ACA-58A7-5FA8A4604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2057"/>
              <a:ext cx="2121" cy="5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1286" name="Text Box 9">
              <a:extLst>
                <a:ext uri="{FF2B5EF4-FFF2-40B4-BE49-F238E27FC236}">
                  <a16:creationId xmlns:a16="http://schemas.microsoft.com/office/drawing/2014/main" id="{ADF5E706-ABDF-2239-7DEA-7B27EEBBB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5" y="2094"/>
              <a:ext cx="10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Internet</a:t>
              </a:r>
            </a:p>
          </p:txBody>
        </p:sp>
      </p:grpSp>
      <p:sp>
        <p:nvSpPr>
          <p:cNvPr id="11269" name="Rectangle 10">
            <a:extLst>
              <a:ext uri="{FF2B5EF4-FFF2-40B4-BE49-F238E27FC236}">
                <a16:creationId xmlns:a16="http://schemas.microsoft.com/office/drawing/2014/main" id="{550739AD-1D93-5C09-43E3-0C11D13B9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769" y="239317"/>
            <a:ext cx="1056085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London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1270" name="Rectangle 11">
            <a:extLst>
              <a:ext uri="{FF2B5EF4-FFF2-40B4-BE49-F238E27FC236}">
                <a16:creationId xmlns:a16="http://schemas.microsoft.com/office/drawing/2014/main" id="{D934183F-995E-D107-D1CA-5F46E9EC4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716" y="163116"/>
            <a:ext cx="1970484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271" name="Text Box 12">
            <a:extLst>
              <a:ext uri="{FF2B5EF4-FFF2-40B4-BE49-F238E27FC236}">
                <a16:creationId xmlns:a16="http://schemas.microsoft.com/office/drawing/2014/main" id="{E41F6166-8EAD-B3D1-4B51-960214301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670448"/>
            <a:ext cx="80983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London</a:t>
            </a:r>
          </a:p>
        </p:txBody>
      </p:sp>
      <p:sp>
        <p:nvSpPr>
          <p:cNvPr id="11272" name="Rectangle 13">
            <a:extLst>
              <a:ext uri="{FF2B5EF4-FFF2-40B4-BE49-F238E27FC236}">
                <a16:creationId xmlns:a16="http://schemas.microsoft.com/office/drawing/2014/main" id="{BC6228F5-7DB9-7260-92C0-4B84CAEC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454" y="217885"/>
            <a:ext cx="1056084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New York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1273" name="Rectangle 14">
            <a:extLst>
              <a:ext uri="{FF2B5EF4-FFF2-40B4-BE49-F238E27FC236}">
                <a16:creationId xmlns:a16="http://schemas.microsoft.com/office/drawing/2014/main" id="{3EDA2E02-6848-9C2D-C1CE-AC67874A9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538" y="151210"/>
            <a:ext cx="1970485" cy="2046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274" name="Text Box 15">
            <a:extLst>
              <a:ext uri="{FF2B5EF4-FFF2-40B4-BE49-F238E27FC236}">
                <a16:creationId xmlns:a16="http://schemas.microsoft.com/office/drawing/2014/main" id="{650B8625-88D3-1360-9707-6130AAE4E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66" y="1770460"/>
            <a:ext cx="9973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New York</a:t>
            </a:r>
          </a:p>
        </p:txBody>
      </p:sp>
      <p:sp>
        <p:nvSpPr>
          <p:cNvPr id="11275" name="Rectangle 16">
            <a:extLst>
              <a:ext uri="{FF2B5EF4-FFF2-40B4-BE49-F238E27FC236}">
                <a16:creationId xmlns:a16="http://schemas.microsoft.com/office/drawing/2014/main" id="{1855376F-1937-5EF6-D29A-2FBCCCDDC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960" y="2939654"/>
            <a:ext cx="1056084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Hong Kong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1276" name="Rectangle 17">
            <a:extLst>
              <a:ext uri="{FF2B5EF4-FFF2-40B4-BE49-F238E27FC236}">
                <a16:creationId xmlns:a16="http://schemas.microsoft.com/office/drawing/2014/main" id="{DE29249A-E616-D895-5288-4C00212F5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4569" y="2851547"/>
            <a:ext cx="1970485" cy="2046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277" name="Text Box 18">
            <a:extLst>
              <a:ext uri="{FF2B5EF4-FFF2-40B4-BE49-F238E27FC236}">
                <a16:creationId xmlns:a16="http://schemas.microsoft.com/office/drawing/2014/main" id="{03099E41-1219-F073-63D5-18E99DD4F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881" y="3924300"/>
            <a:ext cx="1124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Hong Kong</a:t>
            </a:r>
          </a:p>
        </p:txBody>
      </p:sp>
      <p:sp>
        <p:nvSpPr>
          <p:cNvPr id="11278" name="AutoShape 19">
            <a:extLst>
              <a:ext uri="{FF2B5EF4-FFF2-40B4-BE49-F238E27FC236}">
                <a16:creationId xmlns:a16="http://schemas.microsoft.com/office/drawing/2014/main" id="{E8F45020-DBFC-E184-5698-CC49FEDA6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4" y="4200525"/>
            <a:ext cx="859631" cy="663179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HK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1279" name="AutoShape 20">
            <a:extLst>
              <a:ext uri="{FF2B5EF4-FFF2-40B4-BE49-F238E27FC236}">
                <a16:creationId xmlns:a16="http://schemas.microsoft.com/office/drawing/2014/main" id="{1CEC5790-ACCE-73F8-6B9B-683A5A82B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518048"/>
            <a:ext cx="859631" cy="66317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NY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1280" name="Text Box 21">
            <a:extLst>
              <a:ext uri="{FF2B5EF4-FFF2-40B4-BE49-F238E27FC236}">
                <a16:creationId xmlns:a16="http://schemas.microsoft.com/office/drawing/2014/main" id="{F8B22FE7-3508-27C6-F6EC-C0B2F1CC3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292" y="3270647"/>
            <a:ext cx="17908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100"/>
              <a:t>Much better!!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9B6489D6-352B-3BC2-97F5-47B63DD8D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01519E5E-2460-4C96-9A5B-C2C784B55D20}" type="slidenum">
              <a:rPr lang="en-US" altLang="en-US" smtClean="0"/>
              <a:pPr eaLnBrk="1" hangingPunct="1"/>
              <a:t>8</a:t>
            </a:fld>
            <a:endParaRPr lang="en-US" altLang="en-US" sz="1050"/>
          </a:p>
        </p:txBody>
      </p:sp>
      <p:grpSp>
        <p:nvGrpSpPr>
          <p:cNvPr id="12291" name="Group 2">
            <a:extLst>
              <a:ext uri="{FF2B5EF4-FFF2-40B4-BE49-F238E27FC236}">
                <a16:creationId xmlns:a16="http://schemas.microsoft.com/office/drawing/2014/main" id="{6DE01422-C401-A244-7622-DC6E0B70E8E8}"/>
              </a:ext>
            </a:extLst>
          </p:cNvPr>
          <p:cNvGrpSpPr>
            <a:grpSpLocks/>
          </p:cNvGrpSpPr>
          <p:nvPr/>
        </p:nvGrpSpPr>
        <p:grpSpPr bwMode="auto">
          <a:xfrm>
            <a:off x="1675210" y="2156223"/>
            <a:ext cx="4408884" cy="640556"/>
            <a:chOff x="896" y="2021"/>
            <a:chExt cx="3703" cy="538"/>
          </a:xfrm>
        </p:grpSpPr>
        <p:sp>
          <p:nvSpPr>
            <p:cNvPr id="12306" name="Oval 3">
              <a:extLst>
                <a:ext uri="{FF2B5EF4-FFF2-40B4-BE49-F238E27FC236}">
                  <a16:creationId xmlns:a16="http://schemas.microsoft.com/office/drawing/2014/main" id="{4527E4F6-EA7F-0907-E5C9-B8BCE5F5A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176"/>
              <a:ext cx="805" cy="2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2307" name="Oval 4">
              <a:extLst>
                <a:ext uri="{FF2B5EF4-FFF2-40B4-BE49-F238E27FC236}">
                  <a16:creationId xmlns:a16="http://schemas.microsoft.com/office/drawing/2014/main" id="{DCDA18F7-A46E-F334-F5AB-67B9E7750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2194"/>
              <a:ext cx="942" cy="3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2308" name="Oval 5">
              <a:extLst>
                <a:ext uri="{FF2B5EF4-FFF2-40B4-BE49-F238E27FC236}">
                  <a16:creationId xmlns:a16="http://schemas.microsoft.com/office/drawing/2014/main" id="{D8FB279C-9DC5-C8C3-1176-65E0820D6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2021"/>
              <a:ext cx="1637" cy="3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2309" name="Oval 6">
              <a:extLst>
                <a:ext uri="{FF2B5EF4-FFF2-40B4-BE49-F238E27FC236}">
                  <a16:creationId xmlns:a16="http://schemas.microsoft.com/office/drawing/2014/main" id="{47764064-B517-440F-10A7-7B5484AE9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3" y="2231"/>
              <a:ext cx="1756" cy="2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2310" name="Oval 7">
              <a:extLst>
                <a:ext uri="{FF2B5EF4-FFF2-40B4-BE49-F238E27FC236}">
                  <a16:creationId xmlns:a16="http://schemas.microsoft.com/office/drawing/2014/main" id="{95AFEA25-31B3-5D70-A0DF-C9E0D8580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2057"/>
              <a:ext cx="2121" cy="5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2311" name="Text Box 8">
              <a:extLst>
                <a:ext uri="{FF2B5EF4-FFF2-40B4-BE49-F238E27FC236}">
                  <a16:creationId xmlns:a16="http://schemas.microsoft.com/office/drawing/2014/main" id="{33A2298F-B759-1FF6-9969-0804F166F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5" y="2094"/>
              <a:ext cx="10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Internet</a:t>
              </a:r>
            </a:p>
          </p:txBody>
        </p:sp>
      </p:grpSp>
      <p:sp>
        <p:nvSpPr>
          <p:cNvPr id="12292" name="Rectangle 9">
            <a:extLst>
              <a:ext uri="{FF2B5EF4-FFF2-40B4-BE49-F238E27FC236}">
                <a16:creationId xmlns:a16="http://schemas.microsoft.com/office/drawing/2014/main" id="{75C57007-9D1A-5F31-FA15-FC63094E0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769" y="239317"/>
            <a:ext cx="1056085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London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2293" name="Rectangle 10">
            <a:extLst>
              <a:ext uri="{FF2B5EF4-FFF2-40B4-BE49-F238E27FC236}">
                <a16:creationId xmlns:a16="http://schemas.microsoft.com/office/drawing/2014/main" id="{23B6A71F-4D88-71E4-66F2-95A71215D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769" y="752475"/>
            <a:ext cx="1110854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Annual </a:t>
            </a:r>
          </a:p>
          <a:p>
            <a:pPr algn="ctr" eaLnBrk="1" hangingPunct="1"/>
            <a:r>
              <a:rPr lang="en-US" altLang="en-US" sz="1350"/>
              <a:t>Bonus app</a:t>
            </a:r>
          </a:p>
        </p:txBody>
      </p:sp>
      <p:sp>
        <p:nvSpPr>
          <p:cNvPr id="12294" name="Rectangle 11">
            <a:extLst>
              <a:ext uri="{FF2B5EF4-FFF2-40B4-BE49-F238E27FC236}">
                <a16:creationId xmlns:a16="http://schemas.microsoft.com/office/drawing/2014/main" id="{EDD5639F-2E0A-3FA4-405A-AC4D8C1B4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716" y="163116"/>
            <a:ext cx="1970484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295" name="Text Box 12">
            <a:extLst>
              <a:ext uri="{FF2B5EF4-FFF2-40B4-BE49-F238E27FC236}">
                <a16:creationId xmlns:a16="http://schemas.microsoft.com/office/drawing/2014/main" id="{6D8EDC94-70D3-249A-F15B-1C279DF9A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670448"/>
            <a:ext cx="80983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London</a:t>
            </a:r>
          </a:p>
        </p:txBody>
      </p:sp>
      <p:sp>
        <p:nvSpPr>
          <p:cNvPr id="12296" name="Rectangle 13">
            <a:extLst>
              <a:ext uri="{FF2B5EF4-FFF2-40B4-BE49-F238E27FC236}">
                <a16:creationId xmlns:a16="http://schemas.microsoft.com/office/drawing/2014/main" id="{B2E2B524-DD81-EEE8-E6A9-920E423C8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454" y="217885"/>
            <a:ext cx="1056084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New York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2297" name="Rectangle 14">
            <a:extLst>
              <a:ext uri="{FF2B5EF4-FFF2-40B4-BE49-F238E27FC236}">
                <a16:creationId xmlns:a16="http://schemas.microsoft.com/office/drawing/2014/main" id="{6E7BAC7F-B16F-84F4-5AD1-1B8E48320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538" y="151210"/>
            <a:ext cx="1970485" cy="2046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298" name="Text Box 15">
            <a:extLst>
              <a:ext uri="{FF2B5EF4-FFF2-40B4-BE49-F238E27FC236}">
                <a16:creationId xmlns:a16="http://schemas.microsoft.com/office/drawing/2014/main" id="{59ED41F0-4008-2606-1D36-2BF3E2C02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66" y="1770460"/>
            <a:ext cx="9973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New York</a:t>
            </a:r>
          </a:p>
        </p:txBody>
      </p:sp>
      <p:sp>
        <p:nvSpPr>
          <p:cNvPr id="12299" name="Rectangle 16">
            <a:extLst>
              <a:ext uri="{FF2B5EF4-FFF2-40B4-BE49-F238E27FC236}">
                <a16:creationId xmlns:a16="http://schemas.microsoft.com/office/drawing/2014/main" id="{06EA182D-A6D4-4CFD-3B06-DE020217C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960" y="2939654"/>
            <a:ext cx="1056084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Hong Kong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2300" name="Rectangle 17">
            <a:extLst>
              <a:ext uri="{FF2B5EF4-FFF2-40B4-BE49-F238E27FC236}">
                <a16:creationId xmlns:a16="http://schemas.microsoft.com/office/drawing/2014/main" id="{1DF31E63-81E1-EF50-12AD-19CBF270E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4569" y="2851547"/>
            <a:ext cx="1970485" cy="2046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301" name="Text Box 18">
            <a:extLst>
              <a:ext uri="{FF2B5EF4-FFF2-40B4-BE49-F238E27FC236}">
                <a16:creationId xmlns:a16="http://schemas.microsoft.com/office/drawing/2014/main" id="{476B43D0-18D6-407C-BBFC-7B8332D35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881" y="3924300"/>
            <a:ext cx="1124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Hong Kong</a:t>
            </a:r>
          </a:p>
        </p:txBody>
      </p:sp>
      <p:sp>
        <p:nvSpPr>
          <p:cNvPr id="12302" name="AutoShape 19">
            <a:extLst>
              <a:ext uri="{FF2B5EF4-FFF2-40B4-BE49-F238E27FC236}">
                <a16:creationId xmlns:a16="http://schemas.microsoft.com/office/drawing/2014/main" id="{08661DAF-C278-70C2-9AE2-D443C1F7B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1" y="1213248"/>
            <a:ext cx="859631" cy="66317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London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2303" name="AutoShape 20">
            <a:extLst>
              <a:ext uri="{FF2B5EF4-FFF2-40B4-BE49-F238E27FC236}">
                <a16:creationId xmlns:a16="http://schemas.microsoft.com/office/drawing/2014/main" id="{C929CAA3-AC43-BE36-2D77-C96D3377D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518048"/>
            <a:ext cx="859631" cy="66317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NY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2304" name="AutoShape 21">
            <a:extLst>
              <a:ext uri="{FF2B5EF4-FFF2-40B4-BE49-F238E27FC236}">
                <a16:creationId xmlns:a16="http://schemas.microsoft.com/office/drawing/2014/main" id="{E5D5EECB-524E-B7E1-3A3A-B956F7A0B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4" y="4200525"/>
            <a:ext cx="859631" cy="663179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HK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2305" name="Text Box 22">
            <a:extLst>
              <a:ext uri="{FF2B5EF4-FFF2-40B4-BE49-F238E27FC236}">
                <a16:creationId xmlns:a16="http://schemas.microsoft.com/office/drawing/2014/main" id="{88595B67-CC3D-5E6E-1380-8AE26BC3B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2961085"/>
            <a:ext cx="227979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Distribution provides</a:t>
            </a:r>
          </a:p>
          <a:p>
            <a:pPr eaLnBrk="1" hangingPunct="1"/>
            <a:r>
              <a:rPr lang="en-US" altLang="en-US" sz="1800"/>
              <a:t>opportunities for</a:t>
            </a:r>
          </a:p>
          <a:p>
            <a:pPr eaLnBrk="1" hangingPunct="1"/>
            <a:r>
              <a:rPr lang="en-US" altLang="en-US" sz="1800"/>
              <a:t>parallel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>
            <a:extLst>
              <a:ext uri="{FF2B5EF4-FFF2-40B4-BE49-F238E27FC236}">
                <a16:creationId xmlns:a16="http://schemas.microsoft.com/office/drawing/2014/main" id="{4775A89F-CB6A-75CA-43BF-B42BE61128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01519E5E-2460-4C96-9A5B-C2C784B55D20}" type="slidenum">
              <a:rPr lang="en-US" altLang="en-US" smtClean="0"/>
              <a:pPr eaLnBrk="1" hangingPunct="1"/>
              <a:t>9</a:t>
            </a:fld>
            <a:endParaRPr lang="en-US" altLang="en-US" sz="1050"/>
          </a:p>
        </p:txBody>
      </p:sp>
      <p:grpSp>
        <p:nvGrpSpPr>
          <p:cNvPr id="13315" name="Group 2">
            <a:extLst>
              <a:ext uri="{FF2B5EF4-FFF2-40B4-BE49-F238E27FC236}">
                <a16:creationId xmlns:a16="http://schemas.microsoft.com/office/drawing/2014/main" id="{C2F5842A-9CB7-D729-6CCF-76517DEF387D}"/>
              </a:ext>
            </a:extLst>
          </p:cNvPr>
          <p:cNvGrpSpPr>
            <a:grpSpLocks/>
          </p:cNvGrpSpPr>
          <p:nvPr/>
        </p:nvGrpSpPr>
        <p:grpSpPr bwMode="auto">
          <a:xfrm>
            <a:off x="1675210" y="2156223"/>
            <a:ext cx="4408884" cy="640556"/>
            <a:chOff x="896" y="2021"/>
            <a:chExt cx="3703" cy="538"/>
          </a:xfrm>
        </p:grpSpPr>
        <p:sp>
          <p:nvSpPr>
            <p:cNvPr id="13331" name="Oval 3">
              <a:extLst>
                <a:ext uri="{FF2B5EF4-FFF2-40B4-BE49-F238E27FC236}">
                  <a16:creationId xmlns:a16="http://schemas.microsoft.com/office/drawing/2014/main" id="{197815EC-DA72-0EAE-F879-C39D90DBD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176"/>
              <a:ext cx="805" cy="2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3332" name="Oval 4">
              <a:extLst>
                <a:ext uri="{FF2B5EF4-FFF2-40B4-BE49-F238E27FC236}">
                  <a16:creationId xmlns:a16="http://schemas.microsoft.com/office/drawing/2014/main" id="{929CF1F9-64C6-9C88-2F6D-23CBD345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2194"/>
              <a:ext cx="942" cy="3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3333" name="Oval 5">
              <a:extLst>
                <a:ext uri="{FF2B5EF4-FFF2-40B4-BE49-F238E27FC236}">
                  <a16:creationId xmlns:a16="http://schemas.microsoft.com/office/drawing/2014/main" id="{C55B196D-40DF-439C-9E98-F05BED008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2021"/>
              <a:ext cx="1637" cy="3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3334" name="Oval 6">
              <a:extLst>
                <a:ext uri="{FF2B5EF4-FFF2-40B4-BE49-F238E27FC236}">
                  <a16:creationId xmlns:a16="http://schemas.microsoft.com/office/drawing/2014/main" id="{08D66060-6C62-32BB-A427-48AF0FB60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3" y="2231"/>
              <a:ext cx="1756" cy="2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3335" name="Oval 7">
              <a:extLst>
                <a:ext uri="{FF2B5EF4-FFF2-40B4-BE49-F238E27FC236}">
                  <a16:creationId xmlns:a16="http://schemas.microsoft.com/office/drawing/2014/main" id="{E29E5791-F88B-4066-2D96-2793C3A59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2057"/>
              <a:ext cx="2121" cy="5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3336" name="Text Box 8">
              <a:extLst>
                <a:ext uri="{FF2B5EF4-FFF2-40B4-BE49-F238E27FC236}">
                  <a16:creationId xmlns:a16="http://schemas.microsoft.com/office/drawing/2014/main" id="{CD8E3417-57B3-DD7B-F752-346B23452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5" y="2094"/>
              <a:ext cx="10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Internet</a:t>
              </a:r>
            </a:p>
          </p:txBody>
        </p:sp>
      </p:grpSp>
      <p:sp>
        <p:nvSpPr>
          <p:cNvPr id="13316" name="Rectangle 9">
            <a:extLst>
              <a:ext uri="{FF2B5EF4-FFF2-40B4-BE49-F238E27FC236}">
                <a16:creationId xmlns:a16="http://schemas.microsoft.com/office/drawing/2014/main" id="{C7F0774E-4D93-FCAE-26FE-05025A2E3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769" y="239317"/>
            <a:ext cx="1056085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London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3317" name="Rectangle 10">
            <a:extLst>
              <a:ext uri="{FF2B5EF4-FFF2-40B4-BE49-F238E27FC236}">
                <a16:creationId xmlns:a16="http://schemas.microsoft.com/office/drawing/2014/main" id="{8D4B2FB1-023E-430B-27B7-A46E6FAEF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769" y="752475"/>
            <a:ext cx="1110854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Annual </a:t>
            </a:r>
          </a:p>
          <a:p>
            <a:pPr algn="ctr" eaLnBrk="1" hangingPunct="1"/>
            <a:r>
              <a:rPr lang="en-US" altLang="en-US" sz="1350"/>
              <a:t>Bonus app</a:t>
            </a:r>
          </a:p>
        </p:txBody>
      </p:sp>
      <p:sp>
        <p:nvSpPr>
          <p:cNvPr id="13318" name="Rectangle 11">
            <a:extLst>
              <a:ext uri="{FF2B5EF4-FFF2-40B4-BE49-F238E27FC236}">
                <a16:creationId xmlns:a16="http://schemas.microsoft.com/office/drawing/2014/main" id="{726FCDA3-82A5-BB94-2B55-AFC034877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716" y="163116"/>
            <a:ext cx="1970484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3319" name="Text Box 12">
            <a:extLst>
              <a:ext uri="{FF2B5EF4-FFF2-40B4-BE49-F238E27FC236}">
                <a16:creationId xmlns:a16="http://schemas.microsoft.com/office/drawing/2014/main" id="{3D95ADED-194B-E3F3-CE01-EFD4957B9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670448"/>
            <a:ext cx="80983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London</a:t>
            </a:r>
          </a:p>
        </p:txBody>
      </p:sp>
      <p:sp>
        <p:nvSpPr>
          <p:cNvPr id="13320" name="Rectangle 13">
            <a:extLst>
              <a:ext uri="{FF2B5EF4-FFF2-40B4-BE49-F238E27FC236}">
                <a16:creationId xmlns:a16="http://schemas.microsoft.com/office/drawing/2014/main" id="{DCB0C9E1-012E-80A2-7776-3DE391E6E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454" y="217885"/>
            <a:ext cx="1056084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New York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3321" name="Rectangle 14">
            <a:extLst>
              <a:ext uri="{FF2B5EF4-FFF2-40B4-BE49-F238E27FC236}">
                <a16:creationId xmlns:a16="http://schemas.microsoft.com/office/drawing/2014/main" id="{CD2E7E64-70E8-4B21-C5AD-04C42C528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538" y="151210"/>
            <a:ext cx="1970485" cy="2046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3322" name="Text Box 15">
            <a:extLst>
              <a:ext uri="{FF2B5EF4-FFF2-40B4-BE49-F238E27FC236}">
                <a16:creationId xmlns:a16="http://schemas.microsoft.com/office/drawing/2014/main" id="{3492AA5C-EDD5-CFE8-1759-A5B5EDE82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66" y="1770460"/>
            <a:ext cx="9973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New York</a:t>
            </a:r>
          </a:p>
        </p:txBody>
      </p:sp>
      <p:sp>
        <p:nvSpPr>
          <p:cNvPr id="13323" name="Rectangle 16">
            <a:extLst>
              <a:ext uri="{FF2B5EF4-FFF2-40B4-BE49-F238E27FC236}">
                <a16:creationId xmlns:a16="http://schemas.microsoft.com/office/drawing/2014/main" id="{CE2571FC-45C3-C70F-F986-56DC3474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960" y="2939654"/>
            <a:ext cx="1056084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Hong Kong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3324" name="Rectangle 17">
            <a:extLst>
              <a:ext uri="{FF2B5EF4-FFF2-40B4-BE49-F238E27FC236}">
                <a16:creationId xmlns:a16="http://schemas.microsoft.com/office/drawing/2014/main" id="{30705E06-ABE4-3662-D565-097FD8B91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4569" y="2851547"/>
            <a:ext cx="1970485" cy="2046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3325" name="Text Box 18">
            <a:extLst>
              <a:ext uri="{FF2B5EF4-FFF2-40B4-BE49-F238E27FC236}">
                <a16:creationId xmlns:a16="http://schemas.microsoft.com/office/drawing/2014/main" id="{68D69568-3D81-660E-170F-9C510872A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881" y="3924300"/>
            <a:ext cx="1124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Hong Kong</a:t>
            </a:r>
          </a:p>
        </p:txBody>
      </p:sp>
      <p:sp>
        <p:nvSpPr>
          <p:cNvPr id="13326" name="AutoShape 19">
            <a:extLst>
              <a:ext uri="{FF2B5EF4-FFF2-40B4-BE49-F238E27FC236}">
                <a16:creationId xmlns:a16="http://schemas.microsoft.com/office/drawing/2014/main" id="{907282B7-BFEE-CCC6-6B93-5E21177BF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1" y="1213248"/>
            <a:ext cx="859631" cy="66317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London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3327" name="AutoShape 20">
            <a:extLst>
              <a:ext uri="{FF2B5EF4-FFF2-40B4-BE49-F238E27FC236}">
                <a16:creationId xmlns:a16="http://schemas.microsoft.com/office/drawing/2014/main" id="{4356A521-E948-3B0E-7165-1BC52AB1E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518048"/>
            <a:ext cx="859631" cy="66317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NY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3328" name="AutoShape 21">
            <a:extLst>
              <a:ext uri="{FF2B5EF4-FFF2-40B4-BE49-F238E27FC236}">
                <a16:creationId xmlns:a16="http://schemas.microsoft.com/office/drawing/2014/main" id="{E86CB7A1-2E7B-C2A6-4A66-30F054E88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4" y="4200525"/>
            <a:ext cx="859631" cy="663179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HK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3329" name="Line 22">
            <a:extLst>
              <a:ext uri="{FF2B5EF4-FFF2-40B4-BE49-F238E27FC236}">
                <a16:creationId xmlns:a16="http://schemas.microsoft.com/office/drawing/2014/main" id="{1C131ECD-5869-CE34-FC5E-4F861E8884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8548" y="2851548"/>
            <a:ext cx="2993231" cy="194905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0" name="Line 23">
            <a:extLst>
              <a:ext uri="{FF2B5EF4-FFF2-40B4-BE49-F238E27FC236}">
                <a16:creationId xmlns:a16="http://schemas.microsoft.com/office/drawing/2014/main" id="{A51B0BC9-1681-02B9-4E0A-427022A89C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14501" y="2867025"/>
            <a:ext cx="2993231" cy="195024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22E46B2F-C937-7BCE-F90F-9957D2543E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01519E5E-2460-4C96-9A5B-C2C784B55D20}" type="slidenum">
              <a:rPr lang="en-US" altLang="en-US" smtClean="0"/>
              <a:pPr eaLnBrk="1" hangingPunct="1"/>
              <a:t>10</a:t>
            </a:fld>
            <a:endParaRPr lang="en-US" altLang="en-US" sz="1050"/>
          </a:p>
        </p:txBody>
      </p:sp>
      <p:grpSp>
        <p:nvGrpSpPr>
          <p:cNvPr id="14339" name="Group 2">
            <a:extLst>
              <a:ext uri="{FF2B5EF4-FFF2-40B4-BE49-F238E27FC236}">
                <a16:creationId xmlns:a16="http://schemas.microsoft.com/office/drawing/2014/main" id="{38447ED4-68AD-F46F-3293-29C7071C79E1}"/>
              </a:ext>
            </a:extLst>
          </p:cNvPr>
          <p:cNvGrpSpPr>
            <a:grpSpLocks/>
          </p:cNvGrpSpPr>
          <p:nvPr/>
        </p:nvGrpSpPr>
        <p:grpSpPr bwMode="auto">
          <a:xfrm>
            <a:off x="1675210" y="2156223"/>
            <a:ext cx="4408884" cy="640556"/>
            <a:chOff x="896" y="2021"/>
            <a:chExt cx="3703" cy="538"/>
          </a:xfrm>
        </p:grpSpPr>
        <p:sp>
          <p:nvSpPr>
            <p:cNvPr id="14356" name="Oval 3">
              <a:extLst>
                <a:ext uri="{FF2B5EF4-FFF2-40B4-BE49-F238E27FC236}">
                  <a16:creationId xmlns:a16="http://schemas.microsoft.com/office/drawing/2014/main" id="{D9F75140-2E70-1781-7BBD-A48F3226E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176"/>
              <a:ext cx="805" cy="2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4357" name="Oval 4">
              <a:extLst>
                <a:ext uri="{FF2B5EF4-FFF2-40B4-BE49-F238E27FC236}">
                  <a16:creationId xmlns:a16="http://schemas.microsoft.com/office/drawing/2014/main" id="{4119A86D-69B5-BE45-ED60-AF2DDE698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2194"/>
              <a:ext cx="942" cy="3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4358" name="Oval 5">
              <a:extLst>
                <a:ext uri="{FF2B5EF4-FFF2-40B4-BE49-F238E27FC236}">
                  <a16:creationId xmlns:a16="http://schemas.microsoft.com/office/drawing/2014/main" id="{7D8C6880-DA6F-96A0-DFD9-32E016422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2021"/>
              <a:ext cx="1637" cy="3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4359" name="Oval 6">
              <a:extLst>
                <a:ext uri="{FF2B5EF4-FFF2-40B4-BE49-F238E27FC236}">
                  <a16:creationId xmlns:a16="http://schemas.microsoft.com/office/drawing/2014/main" id="{801DFEB2-5265-91E3-E4AC-24C0E03EA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3" y="2231"/>
              <a:ext cx="1756" cy="2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4360" name="Oval 7">
              <a:extLst>
                <a:ext uri="{FF2B5EF4-FFF2-40B4-BE49-F238E27FC236}">
                  <a16:creationId xmlns:a16="http://schemas.microsoft.com/office/drawing/2014/main" id="{4BAC29FB-C3E4-9736-608E-698AD9341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2057"/>
              <a:ext cx="2121" cy="5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4361" name="Text Box 8">
              <a:extLst>
                <a:ext uri="{FF2B5EF4-FFF2-40B4-BE49-F238E27FC236}">
                  <a16:creationId xmlns:a16="http://schemas.microsoft.com/office/drawing/2014/main" id="{B31B2741-7200-014E-DFF5-105277675E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5" y="2094"/>
              <a:ext cx="10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Internet</a:t>
              </a:r>
            </a:p>
          </p:txBody>
        </p:sp>
      </p:grpSp>
      <p:sp>
        <p:nvSpPr>
          <p:cNvPr id="14340" name="Rectangle 9">
            <a:extLst>
              <a:ext uri="{FF2B5EF4-FFF2-40B4-BE49-F238E27FC236}">
                <a16:creationId xmlns:a16="http://schemas.microsoft.com/office/drawing/2014/main" id="{51991494-5178-CDF7-F678-1461F4267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769" y="239317"/>
            <a:ext cx="1056085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London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4341" name="Rectangle 10">
            <a:extLst>
              <a:ext uri="{FF2B5EF4-FFF2-40B4-BE49-F238E27FC236}">
                <a16:creationId xmlns:a16="http://schemas.microsoft.com/office/drawing/2014/main" id="{191A36DE-707B-6279-B8EF-682DE6D10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769" y="752475"/>
            <a:ext cx="1110854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Annual </a:t>
            </a:r>
          </a:p>
          <a:p>
            <a:pPr algn="ctr" eaLnBrk="1" hangingPunct="1"/>
            <a:r>
              <a:rPr lang="en-US" altLang="en-US" sz="1350"/>
              <a:t>Bonus app</a:t>
            </a:r>
          </a:p>
        </p:txBody>
      </p:sp>
      <p:sp>
        <p:nvSpPr>
          <p:cNvPr id="14342" name="Rectangle 11">
            <a:extLst>
              <a:ext uri="{FF2B5EF4-FFF2-40B4-BE49-F238E27FC236}">
                <a16:creationId xmlns:a16="http://schemas.microsoft.com/office/drawing/2014/main" id="{F4BFC26F-D692-AFB8-811F-796023186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716" y="163116"/>
            <a:ext cx="1970484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4343" name="Text Box 12">
            <a:extLst>
              <a:ext uri="{FF2B5EF4-FFF2-40B4-BE49-F238E27FC236}">
                <a16:creationId xmlns:a16="http://schemas.microsoft.com/office/drawing/2014/main" id="{9D2BD23A-04B9-277F-230B-D6EA3E4EE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670448"/>
            <a:ext cx="80983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London</a:t>
            </a:r>
          </a:p>
        </p:txBody>
      </p:sp>
      <p:sp>
        <p:nvSpPr>
          <p:cNvPr id="14344" name="Rectangle 13">
            <a:extLst>
              <a:ext uri="{FF2B5EF4-FFF2-40B4-BE49-F238E27FC236}">
                <a16:creationId xmlns:a16="http://schemas.microsoft.com/office/drawing/2014/main" id="{0061B40B-CCDB-6274-DD53-0C9B46651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454" y="217885"/>
            <a:ext cx="1056084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New York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4345" name="Rectangle 14">
            <a:extLst>
              <a:ext uri="{FF2B5EF4-FFF2-40B4-BE49-F238E27FC236}">
                <a16:creationId xmlns:a16="http://schemas.microsoft.com/office/drawing/2014/main" id="{89BA3C8F-E99F-6795-AC72-20525D66A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538" y="151210"/>
            <a:ext cx="1970485" cy="2046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4346" name="Text Box 15">
            <a:extLst>
              <a:ext uri="{FF2B5EF4-FFF2-40B4-BE49-F238E27FC236}">
                <a16:creationId xmlns:a16="http://schemas.microsoft.com/office/drawing/2014/main" id="{0B519E8D-7FF0-6D6A-BEF9-3A1A0C2FE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66" y="1770460"/>
            <a:ext cx="9973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New York</a:t>
            </a:r>
          </a:p>
        </p:txBody>
      </p:sp>
      <p:sp>
        <p:nvSpPr>
          <p:cNvPr id="14347" name="Rectangle 16">
            <a:extLst>
              <a:ext uri="{FF2B5EF4-FFF2-40B4-BE49-F238E27FC236}">
                <a16:creationId xmlns:a16="http://schemas.microsoft.com/office/drawing/2014/main" id="{3582AF08-E702-77E3-F66B-AF60EC35D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960" y="2939654"/>
            <a:ext cx="1056084" cy="4786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350"/>
              <a:t>Hong Kong</a:t>
            </a:r>
          </a:p>
          <a:p>
            <a:pPr algn="ctr" eaLnBrk="1" hangingPunct="1"/>
            <a:r>
              <a:rPr lang="en-US" altLang="en-US" sz="1350"/>
              <a:t>Payroll app</a:t>
            </a:r>
          </a:p>
        </p:txBody>
      </p:sp>
      <p:sp>
        <p:nvSpPr>
          <p:cNvPr id="14348" name="Rectangle 17">
            <a:extLst>
              <a:ext uri="{FF2B5EF4-FFF2-40B4-BE49-F238E27FC236}">
                <a16:creationId xmlns:a16="http://schemas.microsoft.com/office/drawing/2014/main" id="{7C079908-FD3B-90A8-1EBD-BDF36039A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4569" y="2851547"/>
            <a:ext cx="1970485" cy="2046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4349" name="Text Box 18">
            <a:extLst>
              <a:ext uri="{FF2B5EF4-FFF2-40B4-BE49-F238E27FC236}">
                <a16:creationId xmlns:a16="http://schemas.microsoft.com/office/drawing/2014/main" id="{C9AFB3E9-8A69-C978-CABB-651F4B483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4819" y="3913585"/>
            <a:ext cx="1124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500"/>
              <a:t>Hong Kong</a:t>
            </a:r>
          </a:p>
        </p:txBody>
      </p:sp>
      <p:sp>
        <p:nvSpPr>
          <p:cNvPr id="14350" name="AutoShape 19">
            <a:extLst>
              <a:ext uri="{FF2B5EF4-FFF2-40B4-BE49-F238E27FC236}">
                <a16:creationId xmlns:a16="http://schemas.microsoft.com/office/drawing/2014/main" id="{10DA7250-7780-F829-A687-65658B983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1" y="1213248"/>
            <a:ext cx="859631" cy="66317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Lon, NY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4351" name="AutoShape 20">
            <a:extLst>
              <a:ext uri="{FF2B5EF4-FFF2-40B4-BE49-F238E27FC236}">
                <a16:creationId xmlns:a16="http://schemas.microsoft.com/office/drawing/2014/main" id="{70180EC3-4F1B-2F78-4A19-97DFC55B6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518048"/>
            <a:ext cx="859631" cy="66317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NY, HK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4352" name="AutoShape 21">
            <a:extLst>
              <a:ext uri="{FF2B5EF4-FFF2-40B4-BE49-F238E27FC236}">
                <a16:creationId xmlns:a16="http://schemas.microsoft.com/office/drawing/2014/main" id="{FC129B12-12E3-5AD1-3A60-B5BFCE134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704" y="4200525"/>
            <a:ext cx="859631" cy="663179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500"/>
              <a:t>HK, Lon</a:t>
            </a:r>
          </a:p>
          <a:p>
            <a:pPr algn="ctr" eaLnBrk="1" hangingPunct="1"/>
            <a:r>
              <a:rPr lang="en-US" altLang="en-US" sz="1500"/>
              <a:t>Emp</a:t>
            </a:r>
          </a:p>
        </p:txBody>
      </p:sp>
      <p:sp>
        <p:nvSpPr>
          <p:cNvPr id="14353" name="Line 22">
            <a:extLst>
              <a:ext uri="{FF2B5EF4-FFF2-40B4-BE49-F238E27FC236}">
                <a16:creationId xmlns:a16="http://schemas.microsoft.com/office/drawing/2014/main" id="{7E01957A-6189-9CA4-DC47-C2B06194CB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8548" y="2851548"/>
            <a:ext cx="2993231" cy="194905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4" name="Line 23">
            <a:extLst>
              <a:ext uri="{FF2B5EF4-FFF2-40B4-BE49-F238E27FC236}">
                <a16:creationId xmlns:a16="http://schemas.microsoft.com/office/drawing/2014/main" id="{9A2F10B6-8B6C-D043-74EE-FC8F1766F5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14501" y="2867025"/>
            <a:ext cx="2993231" cy="195024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Text Box 24">
            <a:extLst>
              <a:ext uri="{FF2B5EF4-FFF2-40B4-BE49-F238E27FC236}">
                <a16:creationId xmlns:a16="http://schemas.microsoft.com/office/drawing/2014/main" id="{4345BAC5-5CD1-AED8-7050-6639E386E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081" y="3062288"/>
            <a:ext cx="263726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100"/>
              <a:t>Replication improves</a:t>
            </a:r>
          </a:p>
          <a:p>
            <a:pPr eaLnBrk="1" hangingPunct="1"/>
            <a:r>
              <a:rPr lang="en-US" altLang="en-US" sz="2100"/>
              <a:t>availability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4725" y="58801"/>
            <a:ext cx="5638165" cy="430887"/>
          </a:xfrm>
        </p:spPr>
        <p:txBody>
          <a:bodyPr/>
          <a:lstStyle/>
          <a:p>
            <a:r>
              <a:rPr lang="en-US" dirty="0"/>
              <a:t>Distributed Databases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CA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1" kern="1200" dirty="0">
                <a:solidFill>
                  <a:srgbClr val="990033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en-US"/>
              <a:t>Slide 16-</a:t>
            </a:r>
            <a:fld id="{AEE05831-3758-41FE-86C8-A42338BA7B7B}" type="slidenum">
              <a:rPr lang="en-US" altLang="en-US" smtClean="0"/>
              <a:pPr>
                <a:defRPr/>
              </a:pPr>
              <a:t>11</a:t>
            </a:fld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28414"/>
            <a:ext cx="6781800" cy="36832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14551" y="4573756"/>
            <a:ext cx="49487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Figure: Data distribution and replication among distributed databases</a:t>
            </a:r>
          </a:p>
        </p:txBody>
      </p:sp>
    </p:spTree>
    <p:extLst>
      <p:ext uri="{BB962C8B-B14F-4D97-AF65-F5344CB8AC3E}">
        <p14:creationId xmlns:p14="http://schemas.microsoft.com/office/powerpoint/2010/main" val="2319841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0772" y="91440"/>
            <a:ext cx="6208759" cy="405646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2581" spc="-50" dirty="0"/>
              <a:t>Distributed</a:t>
            </a:r>
            <a:r>
              <a:rPr sz="2581" spc="-162" dirty="0"/>
              <a:t> </a:t>
            </a:r>
            <a:r>
              <a:rPr sz="2581" spc="-36" dirty="0"/>
              <a:t>Database</a:t>
            </a:r>
            <a:r>
              <a:rPr sz="2581" spc="-162" dirty="0"/>
              <a:t> </a:t>
            </a:r>
            <a:r>
              <a:rPr sz="2581" spc="-33" dirty="0"/>
              <a:t>Management</a:t>
            </a:r>
            <a:endParaRPr sz="2581"/>
          </a:p>
        </p:txBody>
      </p:sp>
      <p:sp>
        <p:nvSpPr>
          <p:cNvPr id="3" name="object 3"/>
          <p:cNvSpPr txBox="1"/>
          <p:nvPr/>
        </p:nvSpPr>
        <p:spPr>
          <a:xfrm>
            <a:off x="4495800" y="438150"/>
            <a:ext cx="3097446" cy="405646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2581" b="1" spc="-40" dirty="0">
                <a:solidFill>
                  <a:srgbClr val="000099"/>
                </a:solidFill>
                <a:latin typeface="Verdana"/>
                <a:cs typeface="Verdana"/>
              </a:rPr>
              <a:t>System</a:t>
            </a:r>
            <a:r>
              <a:rPr sz="2581" b="1" spc="-156" dirty="0">
                <a:solidFill>
                  <a:srgbClr val="000099"/>
                </a:solidFill>
                <a:latin typeface="Verdana"/>
                <a:cs typeface="Verdana"/>
              </a:rPr>
              <a:t> </a:t>
            </a:r>
            <a:r>
              <a:rPr sz="2581" b="1" spc="-36" dirty="0">
                <a:solidFill>
                  <a:srgbClr val="000099"/>
                </a:solidFill>
                <a:latin typeface="Verdana"/>
                <a:cs typeface="Verdana"/>
              </a:rPr>
              <a:t>(</a:t>
            </a:r>
            <a:r>
              <a:rPr sz="2581" b="1" spc="-36" dirty="0">
                <a:solidFill>
                  <a:srgbClr val="C00000"/>
                </a:solidFill>
                <a:latin typeface="Verdana"/>
                <a:cs typeface="Verdana"/>
              </a:rPr>
              <a:t>DDBMS</a:t>
            </a:r>
            <a:r>
              <a:rPr sz="2581" b="1" spc="-36" dirty="0">
                <a:solidFill>
                  <a:srgbClr val="000099"/>
                </a:solidFill>
                <a:latin typeface="Verdana"/>
                <a:cs typeface="Verdana"/>
              </a:rPr>
              <a:t>)</a:t>
            </a:r>
            <a:endParaRPr sz="2581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895350"/>
            <a:ext cx="8001000" cy="330939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65155" indent="-156750">
              <a:spcBef>
                <a:spcPts val="66"/>
              </a:spcBef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centralized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software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system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that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manages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DDB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278"/>
              </a:spcBef>
              <a:buClr>
                <a:srgbClr val="292934"/>
              </a:buClr>
              <a:buFont typeface="Arial"/>
              <a:buChar char="•"/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165155" indent="-156750"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Synchronizes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databases</a:t>
            </a:r>
            <a:r>
              <a:rPr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periodically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453"/>
              </a:spcBef>
              <a:buClr>
                <a:srgbClr val="292934"/>
              </a:buClr>
              <a:buFont typeface="Arial"/>
              <a:buChar char="•"/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165155" marR="455964" indent="-157171" algn="just">
              <a:lnSpc>
                <a:spcPts val="1522"/>
              </a:lnSpc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Provides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an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access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mechanism</a:t>
            </a:r>
            <a:r>
              <a:rPr spc="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that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makes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distribution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transparent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users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(as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if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it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were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all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stored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single location)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377"/>
              </a:spcBef>
              <a:buClr>
                <a:srgbClr val="292934"/>
              </a:buClr>
              <a:buFont typeface="Arial"/>
              <a:buChar char="•"/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165155" marR="3362" indent="-157171">
              <a:lnSpc>
                <a:spcPts val="1588"/>
              </a:lnSpc>
              <a:spcBef>
                <a:spcPts val="3"/>
              </a:spcBef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Ensures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that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modified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at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any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remote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site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is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universally updated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238"/>
              </a:spcBef>
              <a:buClr>
                <a:srgbClr val="292934"/>
              </a:buClr>
              <a:buFont typeface="Arial"/>
              <a:buChar char="•"/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165155" indent="-156750"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Supports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huge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number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users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simultaneously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281"/>
              </a:spcBef>
              <a:buClr>
                <a:srgbClr val="292934"/>
              </a:buClr>
              <a:buFont typeface="Arial"/>
              <a:buChar char="•"/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165155" indent="-156750">
              <a:buSzPct val="85714"/>
              <a:buFont typeface="Arial"/>
              <a:buChar char="•"/>
              <a:tabLst>
                <a:tab pos="165155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Maintains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integrity</a:t>
            </a:r>
            <a:r>
              <a:rPr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databases</a:t>
            </a:r>
            <a:endParaRPr dirty="0">
              <a:latin typeface="Trebuchet MS" panose="020B060302020202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2"/>
            <a:ext cx="3731139" cy="605030"/>
          </a:xfrm>
          <a:prstGeom prst="rect">
            <a:avLst/>
          </a:prstGeom>
        </p:spPr>
        <p:txBody>
          <a:bodyPr vert="horz" wrap="square" lIns="0" tIns="172459" rIns="0" bIns="0" rtlCol="0">
            <a:spAutoFit/>
          </a:bodyPr>
          <a:lstStyle/>
          <a:p>
            <a:pPr marL="2047844" algn="l">
              <a:spcBef>
                <a:spcPts val="66"/>
              </a:spcBef>
            </a:pPr>
            <a:r>
              <a:rPr spc="-75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895350"/>
            <a:ext cx="7543800" cy="392494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37419" indent="-129015">
              <a:spcBef>
                <a:spcPts val="66"/>
              </a:spcBef>
              <a:buClr>
                <a:srgbClr val="292934"/>
              </a:buClr>
              <a:buSzPct val="85714"/>
              <a:buFont typeface="Arial"/>
              <a:buChar char="•"/>
              <a:tabLst>
                <a:tab pos="137419" algn="l"/>
              </a:tabLst>
            </a:pPr>
            <a:r>
              <a:rPr sz="1600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Security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:</a:t>
            </a:r>
            <a:r>
              <a:rPr sz="1600"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due</a:t>
            </a:r>
            <a:r>
              <a:rPr sz="1600"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z="1600"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z="1600"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Internet</a:t>
            </a:r>
            <a:r>
              <a:rPr sz="1600"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usage</a:t>
            </a:r>
            <a:endParaRPr sz="1600"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341"/>
              </a:spcBef>
              <a:buClr>
                <a:srgbClr val="292934"/>
              </a:buClr>
              <a:buFont typeface="Arial"/>
              <a:buChar char="•"/>
            </a:pPr>
            <a:endParaRPr sz="1600" dirty="0">
              <a:latin typeface="Trebuchet MS" panose="020B0603020202020204" pitchFamily="34" charset="0"/>
              <a:cs typeface="Verdana"/>
            </a:endParaRPr>
          </a:p>
          <a:p>
            <a:pPr marL="137419" marR="3362" indent="-129435">
              <a:spcBef>
                <a:spcPts val="3"/>
              </a:spcBef>
              <a:buClr>
                <a:srgbClr val="292934"/>
              </a:buClr>
              <a:buSzPct val="85714"/>
              <a:buFont typeface="Arial"/>
              <a:buChar char="•"/>
              <a:tabLst>
                <a:tab pos="137419" algn="l"/>
              </a:tabLst>
            </a:pPr>
            <a:r>
              <a:rPr sz="1600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Consistency</a:t>
            </a:r>
            <a:r>
              <a:rPr sz="1600" spc="53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issues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:</a:t>
            </a:r>
            <a:r>
              <a:rPr sz="1600"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databases</a:t>
            </a:r>
            <a:r>
              <a:rPr sz="1600"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must</a:t>
            </a:r>
            <a:r>
              <a:rPr sz="1600"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be</a:t>
            </a:r>
            <a:r>
              <a:rPr sz="1600"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synchronized</a:t>
            </a:r>
            <a:r>
              <a:rPr sz="1600" spc="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periodically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z="1600"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ensure</a:t>
            </a:r>
            <a:r>
              <a:rPr sz="1600"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</a:t>
            </a:r>
            <a:r>
              <a:rPr sz="1600"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integrity</a:t>
            </a:r>
            <a:endParaRPr sz="1600"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341"/>
              </a:spcBef>
              <a:buClr>
                <a:srgbClr val="292934"/>
              </a:buClr>
              <a:buFont typeface="Arial"/>
              <a:buChar char="•"/>
            </a:pPr>
            <a:endParaRPr sz="1600" dirty="0">
              <a:latin typeface="Trebuchet MS" panose="020B0603020202020204" pitchFamily="34" charset="0"/>
              <a:cs typeface="Verdana"/>
            </a:endParaRPr>
          </a:p>
          <a:p>
            <a:pPr marL="137419" indent="-129015">
              <a:spcBef>
                <a:spcPts val="3"/>
              </a:spcBef>
              <a:buClr>
                <a:srgbClr val="292934"/>
              </a:buClr>
              <a:buSzPct val="85714"/>
              <a:buFont typeface="Arial"/>
              <a:buChar char="•"/>
              <a:tabLst>
                <a:tab pos="137419" algn="l"/>
              </a:tabLst>
            </a:pPr>
            <a:r>
              <a:rPr sz="1600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Increased</a:t>
            </a:r>
            <a:r>
              <a:rPr sz="1600" spc="36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storage</a:t>
            </a:r>
            <a:r>
              <a:rPr sz="1600" spc="33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requirements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:</a:t>
            </a:r>
            <a:r>
              <a:rPr sz="1600"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due</a:t>
            </a:r>
            <a:r>
              <a:rPr sz="1600"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z="1600"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replication</a:t>
            </a:r>
            <a:r>
              <a:rPr sz="1600"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z="1600"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databases</a:t>
            </a:r>
            <a:endParaRPr sz="1600" dirty="0">
              <a:latin typeface="Trebuchet MS" panose="020B0603020202020204" pitchFamily="34" charset="0"/>
              <a:cs typeface="Verdana"/>
            </a:endParaRPr>
          </a:p>
          <a:p>
            <a:pPr>
              <a:spcBef>
                <a:spcPts val="513"/>
              </a:spcBef>
              <a:buClr>
                <a:srgbClr val="292934"/>
              </a:buClr>
              <a:buFont typeface="Arial"/>
              <a:buChar char="•"/>
            </a:pPr>
            <a:endParaRPr sz="1600" dirty="0">
              <a:latin typeface="Trebuchet MS" panose="020B0603020202020204" pitchFamily="34" charset="0"/>
              <a:cs typeface="Verdana"/>
            </a:endParaRPr>
          </a:p>
          <a:p>
            <a:pPr marL="137419" marR="68500" indent="-129435">
              <a:lnSpc>
                <a:spcPts val="1602"/>
              </a:lnSpc>
              <a:spcBef>
                <a:spcPts val="3"/>
              </a:spcBef>
              <a:buClr>
                <a:srgbClr val="292934"/>
              </a:buClr>
              <a:buSzPct val="85714"/>
              <a:buFont typeface="Arial"/>
              <a:buChar char="•"/>
              <a:tabLst>
                <a:tab pos="137419" algn="l"/>
              </a:tabLst>
            </a:pPr>
            <a:r>
              <a:rPr sz="1600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Multiple</a:t>
            </a:r>
            <a:r>
              <a:rPr sz="1600" spc="23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location</a:t>
            </a:r>
            <a:r>
              <a:rPr sz="1600" spc="26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access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:</a:t>
            </a:r>
            <a:r>
              <a:rPr sz="1600"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transactions</a:t>
            </a:r>
            <a:r>
              <a:rPr sz="1600"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may</a:t>
            </a:r>
            <a:r>
              <a:rPr sz="1600"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access</a:t>
            </a:r>
            <a:r>
              <a:rPr sz="1600"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</a:t>
            </a:r>
            <a:r>
              <a:rPr sz="1600"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at</a:t>
            </a:r>
            <a:r>
              <a:rPr sz="1600"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one</a:t>
            </a:r>
            <a:r>
              <a:rPr sz="1600"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spc="-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or </a:t>
            </a:r>
            <a:r>
              <a:rPr sz="160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more</a:t>
            </a:r>
            <a:r>
              <a:rPr sz="1600"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600" spc="-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sites</a:t>
            </a:r>
            <a:endParaRPr lang="en-US" sz="1600" spc="-13" dirty="0">
              <a:solidFill>
                <a:srgbClr val="292934"/>
              </a:solidFill>
              <a:latin typeface="Trebuchet MS" panose="020B0603020202020204" pitchFamily="34" charset="0"/>
              <a:cs typeface="Verdana"/>
            </a:endParaRPr>
          </a:p>
          <a:p>
            <a:pPr marL="7984" marR="68500">
              <a:lnSpc>
                <a:spcPts val="1602"/>
              </a:lnSpc>
              <a:spcBef>
                <a:spcPts val="3"/>
              </a:spcBef>
              <a:buClr>
                <a:srgbClr val="292934"/>
              </a:buClr>
              <a:buSzPct val="85714"/>
              <a:tabLst>
                <a:tab pos="137419" algn="l"/>
              </a:tabLst>
            </a:pPr>
            <a:endParaRPr lang="en-US" sz="1600" spc="-13" dirty="0">
              <a:solidFill>
                <a:srgbClr val="292934"/>
              </a:solidFill>
              <a:latin typeface="Trebuchet MS" panose="020B0603020202020204" pitchFamily="34" charset="0"/>
              <a:cs typeface="Verdana"/>
            </a:endParaRPr>
          </a:p>
          <a:p>
            <a:pPr marL="137419" marR="68500" indent="-129435">
              <a:lnSpc>
                <a:spcPts val="1602"/>
              </a:lnSpc>
              <a:spcBef>
                <a:spcPts val="3"/>
              </a:spcBef>
              <a:buClr>
                <a:srgbClr val="292934"/>
              </a:buClr>
              <a:buSzPct val="85714"/>
              <a:buFont typeface="Arial"/>
              <a:buChar char="•"/>
              <a:tabLst>
                <a:tab pos="137419" algn="l"/>
              </a:tabLst>
            </a:pPr>
            <a:r>
              <a:rPr lang="en-US" sz="1600" dirty="0">
                <a:latin typeface="Trebuchet MS" panose="020B0603020202020204" pitchFamily="34" charset="0"/>
                <a:cs typeface="Verdana"/>
              </a:rPr>
              <a:t>How does the application find data? </a:t>
            </a:r>
          </a:p>
          <a:p>
            <a:pPr marL="137419" marR="68500" indent="-129435">
              <a:lnSpc>
                <a:spcPts val="1602"/>
              </a:lnSpc>
              <a:spcBef>
                <a:spcPts val="3"/>
              </a:spcBef>
              <a:buClr>
                <a:srgbClr val="292934"/>
              </a:buClr>
              <a:buSzPct val="85714"/>
              <a:buFont typeface="Arial"/>
              <a:buChar char="•"/>
              <a:tabLst>
                <a:tab pos="137419" algn="l"/>
              </a:tabLst>
            </a:pPr>
            <a:endParaRPr lang="en-US" sz="1600" dirty="0">
              <a:latin typeface="Trebuchet MS" panose="020B0603020202020204" pitchFamily="34" charset="0"/>
              <a:cs typeface="Verdana"/>
            </a:endParaRPr>
          </a:p>
          <a:p>
            <a:pPr marL="137419" marR="68500" indent="-129435">
              <a:lnSpc>
                <a:spcPts val="1602"/>
              </a:lnSpc>
              <a:spcBef>
                <a:spcPts val="3"/>
              </a:spcBef>
              <a:buClr>
                <a:srgbClr val="292934"/>
              </a:buClr>
              <a:buSzPct val="85714"/>
              <a:buFont typeface="Arial"/>
              <a:buChar char="•"/>
              <a:tabLst>
                <a:tab pos="137419" algn="l"/>
              </a:tabLst>
            </a:pPr>
            <a:r>
              <a:rPr lang="en-US" sz="1600" dirty="0">
                <a:latin typeface="Trebuchet MS" panose="020B0603020202020204" pitchFamily="34" charset="0"/>
                <a:cs typeface="Verdana"/>
              </a:rPr>
              <a:t>Where does the application send queries?</a:t>
            </a:r>
          </a:p>
          <a:p>
            <a:pPr marL="137419" marR="68500" indent="-129435">
              <a:lnSpc>
                <a:spcPts val="1602"/>
              </a:lnSpc>
              <a:spcBef>
                <a:spcPts val="3"/>
              </a:spcBef>
              <a:buClr>
                <a:srgbClr val="292934"/>
              </a:buClr>
              <a:buSzPct val="85714"/>
              <a:buFont typeface="Arial"/>
              <a:buChar char="•"/>
              <a:tabLst>
                <a:tab pos="137419" algn="l"/>
              </a:tabLst>
            </a:pPr>
            <a:endParaRPr lang="en-US" sz="1600" dirty="0">
              <a:latin typeface="Trebuchet MS" panose="020B0603020202020204" pitchFamily="34" charset="0"/>
              <a:cs typeface="Verdana"/>
            </a:endParaRPr>
          </a:p>
          <a:p>
            <a:pPr marL="137419" marR="68500" indent="-129435">
              <a:lnSpc>
                <a:spcPts val="1602"/>
              </a:lnSpc>
              <a:spcBef>
                <a:spcPts val="3"/>
              </a:spcBef>
              <a:buClr>
                <a:srgbClr val="292934"/>
              </a:buClr>
              <a:buSzPct val="85714"/>
              <a:buFont typeface="Arial"/>
              <a:buChar char="•"/>
              <a:tabLst>
                <a:tab pos="137419" algn="l"/>
              </a:tabLst>
            </a:pPr>
            <a:r>
              <a:rPr lang="en-US" sz="1600" dirty="0">
                <a:latin typeface="Trebuchet MS" panose="020B0603020202020204" pitchFamily="34" charset="0"/>
                <a:cs typeface="Verdana"/>
              </a:rPr>
              <a:t>How to execute queries on distributed data?</a:t>
            </a:r>
          </a:p>
          <a:p>
            <a:pPr marL="7984" marR="68500">
              <a:lnSpc>
                <a:spcPts val="1602"/>
              </a:lnSpc>
              <a:spcBef>
                <a:spcPts val="3"/>
              </a:spcBef>
              <a:buClr>
                <a:srgbClr val="292934"/>
              </a:buClr>
              <a:buSzPct val="85714"/>
              <a:tabLst>
                <a:tab pos="137419" algn="l"/>
              </a:tabLst>
            </a:pPr>
            <a:r>
              <a:rPr lang="en-US" sz="1600" dirty="0">
                <a:latin typeface="Trebuchet MS" panose="020B0603020202020204" pitchFamily="34" charset="0"/>
                <a:cs typeface="Verdana"/>
              </a:rPr>
              <a:t>	→ Push query to data.</a:t>
            </a:r>
          </a:p>
          <a:p>
            <a:pPr marL="7984" marR="68500">
              <a:lnSpc>
                <a:spcPts val="1602"/>
              </a:lnSpc>
              <a:spcBef>
                <a:spcPts val="3"/>
              </a:spcBef>
              <a:buClr>
                <a:srgbClr val="292934"/>
              </a:buClr>
              <a:buSzPct val="85714"/>
              <a:tabLst>
                <a:tab pos="137419" algn="l"/>
              </a:tabLst>
            </a:pPr>
            <a:r>
              <a:rPr lang="en-US" sz="1600" dirty="0">
                <a:latin typeface="Trebuchet MS" panose="020B0603020202020204" pitchFamily="34" charset="0"/>
                <a:cs typeface="Verdana"/>
              </a:rPr>
              <a:t>	→ Pull data to query.</a:t>
            </a:r>
          </a:p>
          <a:p>
            <a:pPr marL="137419" marR="68500" indent="-129435">
              <a:lnSpc>
                <a:spcPts val="1602"/>
              </a:lnSpc>
              <a:spcBef>
                <a:spcPts val="3"/>
              </a:spcBef>
              <a:buClr>
                <a:srgbClr val="292934"/>
              </a:buClr>
              <a:buSzPct val="85714"/>
              <a:buFont typeface="Arial"/>
              <a:buChar char="•"/>
              <a:tabLst>
                <a:tab pos="137419" algn="l"/>
              </a:tabLst>
            </a:pPr>
            <a:endParaRPr lang="en-US" sz="1600" dirty="0">
              <a:latin typeface="Trebuchet MS" panose="020B060302020202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3"/>
            <a:ext cx="5435749" cy="592809"/>
          </a:xfrm>
          <a:prstGeom prst="rect">
            <a:avLst/>
          </a:prstGeom>
        </p:spPr>
        <p:txBody>
          <a:bodyPr vert="horz" wrap="square" lIns="0" tIns="160356" rIns="0" bIns="0" rtlCol="0">
            <a:spAutoFit/>
          </a:bodyPr>
          <a:lstStyle/>
          <a:p>
            <a:pPr marL="978746">
              <a:spcBef>
                <a:spcPts val="66"/>
              </a:spcBef>
            </a:pPr>
            <a:r>
              <a:rPr spc="-93" dirty="0"/>
              <a:t>Distributed</a:t>
            </a:r>
            <a:r>
              <a:rPr spc="-126" dirty="0"/>
              <a:t> </a:t>
            </a:r>
            <a:r>
              <a:rPr spc="-63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3280" y="971550"/>
            <a:ext cx="6125556" cy="2854051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8405" marR="95395">
              <a:lnSpc>
                <a:spcPct val="97100"/>
              </a:lnSpc>
              <a:spcBef>
                <a:spcPts val="113"/>
              </a:spcBef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organizational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needs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390" spc="4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split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7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exchange</a:t>
            </a:r>
            <a:r>
              <a:rPr sz="139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requirements,</a:t>
            </a:r>
            <a:r>
              <a:rPr sz="1390" spc="5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distributed</a:t>
            </a:r>
            <a:r>
              <a:rPr sz="1390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9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environment</a:t>
            </a:r>
            <a:r>
              <a:rPr sz="139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7" dirty="0">
                <a:solidFill>
                  <a:srgbClr val="292934"/>
                </a:solidFill>
                <a:latin typeface="Verdana"/>
                <a:cs typeface="Verdana"/>
              </a:rPr>
              <a:t>can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designed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ways:</a:t>
            </a:r>
            <a:endParaRPr sz="1390" dirty="0">
              <a:latin typeface="Verdana"/>
              <a:cs typeface="Verdana"/>
            </a:endParaRPr>
          </a:p>
          <a:p>
            <a:pPr>
              <a:spcBef>
                <a:spcPts val="1068"/>
              </a:spcBef>
            </a:pPr>
            <a:endParaRPr sz="1390" dirty="0">
              <a:latin typeface="Verdana"/>
              <a:cs typeface="Verdana"/>
            </a:endParaRPr>
          </a:p>
          <a:p>
            <a:pPr marL="136159" indent="-127754">
              <a:buClr>
                <a:srgbClr val="292934"/>
              </a:buClr>
              <a:buSzPct val="86956"/>
              <a:buFont typeface="Arial"/>
              <a:buChar char="•"/>
              <a:tabLst>
                <a:tab pos="136159" algn="l"/>
              </a:tabLst>
            </a:pPr>
            <a:r>
              <a:rPr sz="1522" b="1" spc="-7" dirty="0">
                <a:solidFill>
                  <a:srgbClr val="C00000"/>
                </a:solidFill>
                <a:latin typeface="Verdana"/>
                <a:cs typeface="Verdana"/>
              </a:rPr>
              <a:t>Homogeneous</a:t>
            </a:r>
            <a:endParaRPr sz="1522" dirty="0">
              <a:latin typeface="Verdana"/>
              <a:cs typeface="Verdana"/>
            </a:endParaRPr>
          </a:p>
          <a:p>
            <a:pPr marL="331151" marR="25215" lvl="1" indent="-129435">
              <a:lnSpc>
                <a:spcPts val="1602"/>
              </a:lnSpc>
              <a:spcBef>
                <a:spcPts val="927"/>
              </a:spcBef>
              <a:buSzPct val="85714"/>
              <a:buFont typeface="Arial"/>
              <a:buChar char="•"/>
              <a:tabLst>
                <a:tab pos="33115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nodes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take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7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distribution</a:t>
            </a:r>
            <a:endParaRPr sz="1390" dirty="0">
              <a:latin typeface="Verdana"/>
              <a:cs typeface="Verdana"/>
            </a:endParaRPr>
          </a:p>
          <a:p>
            <a:pPr lvl="1">
              <a:spcBef>
                <a:spcPts val="1029"/>
              </a:spcBef>
              <a:buClr>
                <a:srgbClr val="292934"/>
              </a:buClr>
              <a:buFont typeface="Arial"/>
              <a:buChar char="•"/>
            </a:pPr>
            <a:endParaRPr sz="1390" dirty="0">
              <a:latin typeface="Verdana"/>
              <a:cs typeface="Verdana"/>
            </a:endParaRPr>
          </a:p>
          <a:p>
            <a:pPr marL="136159" indent="-127754">
              <a:buClr>
                <a:srgbClr val="292934"/>
              </a:buClr>
              <a:buSzPct val="86956"/>
              <a:buFont typeface="Arial"/>
              <a:buChar char="•"/>
              <a:tabLst>
                <a:tab pos="136159" algn="l"/>
              </a:tabLst>
            </a:pPr>
            <a:r>
              <a:rPr sz="1522" b="1" spc="-7" dirty="0">
                <a:solidFill>
                  <a:srgbClr val="C00000"/>
                </a:solidFill>
                <a:latin typeface="Verdana"/>
                <a:cs typeface="Verdana"/>
              </a:rPr>
              <a:t>Heterogeneous</a:t>
            </a:r>
            <a:endParaRPr sz="1522" dirty="0">
              <a:latin typeface="Verdana"/>
              <a:cs typeface="Verdana"/>
            </a:endParaRPr>
          </a:p>
          <a:p>
            <a:pPr marL="331151" marR="3362" lvl="1" indent="-129435">
              <a:lnSpc>
                <a:spcPts val="1588"/>
              </a:lnSpc>
              <a:spcBef>
                <a:spcPts val="933"/>
              </a:spcBef>
              <a:buSzPct val="85714"/>
              <a:buFont typeface="Arial"/>
              <a:buChar char="•"/>
              <a:tabLst>
                <a:tab pos="33115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diverse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nodes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take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7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distribution</a:t>
            </a:r>
            <a:endParaRPr sz="139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3"/>
            <a:ext cx="5130949" cy="602993"/>
          </a:xfrm>
          <a:prstGeom prst="rect">
            <a:avLst/>
          </a:prstGeom>
        </p:spPr>
        <p:txBody>
          <a:bodyPr vert="horz" wrap="square" lIns="0" tIns="170441" rIns="0" bIns="0" rtlCol="0">
            <a:spAutoFit/>
          </a:bodyPr>
          <a:lstStyle/>
          <a:p>
            <a:pPr marL="247943">
              <a:spcBef>
                <a:spcPts val="66"/>
              </a:spcBef>
            </a:pPr>
            <a:r>
              <a:rPr spc="-86" dirty="0">
                <a:solidFill>
                  <a:srgbClr val="C00000"/>
                </a:solidFill>
              </a:rPr>
              <a:t>Homogeneous</a:t>
            </a:r>
            <a:r>
              <a:rPr spc="-132" dirty="0">
                <a:solidFill>
                  <a:srgbClr val="C00000"/>
                </a:solidFill>
              </a:rPr>
              <a:t> </a:t>
            </a:r>
            <a:r>
              <a:rPr spc="-93" dirty="0"/>
              <a:t>Distributed</a:t>
            </a:r>
            <a:r>
              <a:rPr spc="-122" dirty="0"/>
              <a:t> </a:t>
            </a:r>
            <a:r>
              <a:rPr spc="-17" dirty="0"/>
              <a:t>DB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8452" y="787998"/>
            <a:ext cx="3445948" cy="3141911"/>
          </a:xfrm>
          <a:prstGeom prst="rect">
            <a:avLst/>
          </a:prstGeom>
        </p:spPr>
        <p:txBody>
          <a:bodyPr vert="horz" wrap="square" lIns="0" tIns="19329" rIns="0" bIns="0" rtlCol="0">
            <a:spAutoFit/>
          </a:bodyPr>
          <a:lstStyle/>
          <a:p>
            <a:pPr marL="134898" marR="431590" indent="-126913">
              <a:lnSpc>
                <a:spcPts val="1463"/>
              </a:lnSpc>
              <a:spcBef>
                <a:spcPts val="152"/>
              </a:spcBef>
              <a:buSzPct val="84210"/>
              <a:buFont typeface="Arial"/>
              <a:buChar char="•"/>
              <a:tabLst>
                <a:tab pos="134898" algn="l"/>
                <a:tab pos="135738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	Information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distributed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between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25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3" dirty="0">
                <a:solidFill>
                  <a:srgbClr val="292934"/>
                </a:solidFill>
                <a:latin typeface="Verdana"/>
                <a:cs typeface="Verdana"/>
              </a:rPr>
              <a:t>nodes</a:t>
            </a:r>
            <a:endParaRPr sz="1257" dirty="0">
              <a:latin typeface="Verdana"/>
              <a:cs typeface="Verdana"/>
            </a:endParaRPr>
          </a:p>
          <a:p>
            <a:pPr>
              <a:spcBef>
                <a:spcPts val="281"/>
              </a:spcBef>
              <a:buClr>
                <a:srgbClr val="292934"/>
              </a:buClr>
              <a:buFont typeface="Arial"/>
              <a:buChar char="•"/>
            </a:pPr>
            <a:endParaRPr sz="1257" dirty="0">
              <a:latin typeface="Verdana"/>
              <a:cs typeface="Verdana"/>
            </a:endParaRPr>
          </a:p>
          <a:p>
            <a:pPr marL="134898" marR="140781" indent="-126913">
              <a:lnSpc>
                <a:spcPct val="92100"/>
              </a:lnSpc>
              <a:buSzPct val="84210"/>
              <a:buFont typeface="Arial"/>
              <a:buChar char="•"/>
              <a:tabLst>
                <a:tab pos="134898" algn="l"/>
                <a:tab pos="135738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	The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schema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across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endParaRPr sz="1257" dirty="0">
              <a:latin typeface="Verdana"/>
              <a:cs typeface="Verdana"/>
            </a:endParaRPr>
          </a:p>
          <a:p>
            <a:pPr>
              <a:spcBef>
                <a:spcPts val="341"/>
              </a:spcBef>
              <a:buClr>
                <a:srgbClr val="292934"/>
              </a:buClr>
              <a:buFont typeface="Arial"/>
              <a:buChar char="•"/>
            </a:pPr>
            <a:endParaRPr sz="1257" dirty="0">
              <a:latin typeface="Verdana"/>
              <a:cs typeface="Verdana"/>
            </a:endParaRPr>
          </a:p>
          <a:p>
            <a:pPr marL="134898" marR="38242" indent="-126913">
              <a:lnSpc>
                <a:spcPts val="1396"/>
              </a:lnSpc>
              <a:buSzPct val="84210"/>
              <a:buFont typeface="Arial"/>
              <a:buChar char="•"/>
              <a:tabLst>
                <a:tab pos="134898" algn="l"/>
                <a:tab pos="135738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	The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distributed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controls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endParaRPr sz="1257" dirty="0">
              <a:latin typeface="Verdana"/>
              <a:cs typeface="Verdana"/>
            </a:endParaRPr>
          </a:p>
          <a:p>
            <a:pPr>
              <a:spcBef>
                <a:spcPts val="258"/>
              </a:spcBef>
              <a:buClr>
                <a:srgbClr val="292934"/>
              </a:buClr>
              <a:buFont typeface="Arial"/>
              <a:buChar char="•"/>
            </a:pPr>
            <a:endParaRPr sz="1257" dirty="0">
              <a:latin typeface="Verdana"/>
              <a:cs typeface="Verdana"/>
            </a:endParaRPr>
          </a:p>
          <a:p>
            <a:pPr marL="134898" marR="3362" indent="-126913">
              <a:lnSpc>
                <a:spcPct val="93700"/>
              </a:lnSpc>
              <a:buSzPct val="84210"/>
              <a:buFont typeface="Arial"/>
              <a:buChar char="•"/>
              <a:tabLst>
                <a:tab pos="134898" algn="l"/>
                <a:tab pos="135738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	Every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global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user</a:t>
            </a:r>
            <a:r>
              <a:rPr sz="1257" spc="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access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3" dirty="0">
                <a:solidFill>
                  <a:srgbClr val="292934"/>
                </a:solidFill>
                <a:latin typeface="Verdana"/>
                <a:cs typeface="Verdana"/>
              </a:rPr>
              <a:t>same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global</a:t>
            </a:r>
            <a:r>
              <a:rPr sz="125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controlled</a:t>
            </a:r>
            <a:r>
              <a:rPr sz="1257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distributed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3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endParaRPr sz="1257" dirty="0">
              <a:latin typeface="Verdana"/>
              <a:cs typeface="Verdana"/>
            </a:endParaRPr>
          </a:p>
          <a:p>
            <a:pPr>
              <a:spcBef>
                <a:spcPts val="281"/>
              </a:spcBef>
              <a:buClr>
                <a:srgbClr val="292934"/>
              </a:buClr>
              <a:buFont typeface="Arial"/>
              <a:buChar char="•"/>
            </a:pPr>
            <a:endParaRPr sz="1257" dirty="0">
              <a:latin typeface="Verdana"/>
              <a:cs typeface="Verdana"/>
            </a:endParaRPr>
          </a:p>
          <a:p>
            <a:pPr marL="134898" marR="85729" indent="-126913">
              <a:lnSpc>
                <a:spcPct val="94700"/>
              </a:lnSpc>
              <a:buSzPct val="84210"/>
              <a:buFont typeface="Arial"/>
              <a:buChar char="•"/>
              <a:tabLst>
                <a:tab pos="134898" algn="l"/>
                <a:tab pos="135738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	A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combination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individual</a:t>
            </a:r>
            <a:r>
              <a:rPr sz="125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1257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schemas</a:t>
            </a:r>
            <a:r>
              <a:rPr sz="1257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makes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global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1257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870" y="1170950"/>
            <a:ext cx="4599130" cy="29248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600700" y="3165522"/>
            <a:ext cx="1391771" cy="139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89">
              <a:lnSpc>
                <a:spcPts val="870"/>
              </a:lnSpc>
            </a:pPr>
            <a:fld id="{81D60167-4931-47E6-BA6A-407CBD079E47}" type="slidenum">
              <a:rPr spc="-33" dirty="0"/>
              <a:pPr marL="49589">
                <a:lnSpc>
                  <a:spcPts val="870"/>
                </a:lnSpc>
              </a:pPr>
              <a:t>15</a:t>
            </a:fld>
            <a:endParaRPr spc="-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2"/>
            <a:ext cx="4826149" cy="598919"/>
          </a:xfrm>
          <a:prstGeom prst="rect">
            <a:avLst/>
          </a:prstGeom>
        </p:spPr>
        <p:txBody>
          <a:bodyPr vert="horz" wrap="square" lIns="0" tIns="166407" rIns="0" bIns="0" rtlCol="0">
            <a:spAutoFit/>
          </a:bodyPr>
          <a:lstStyle/>
          <a:p>
            <a:pPr marL="160533">
              <a:spcBef>
                <a:spcPts val="66"/>
              </a:spcBef>
            </a:pPr>
            <a:r>
              <a:rPr spc="-86" dirty="0">
                <a:solidFill>
                  <a:srgbClr val="C00000"/>
                </a:solidFill>
              </a:rPr>
              <a:t>Heterogeneous</a:t>
            </a:r>
            <a:r>
              <a:rPr spc="-119" dirty="0">
                <a:solidFill>
                  <a:srgbClr val="C00000"/>
                </a:solidFill>
              </a:rPr>
              <a:t> </a:t>
            </a:r>
            <a:r>
              <a:rPr spc="-93" dirty="0"/>
              <a:t>Distributed</a:t>
            </a:r>
            <a:r>
              <a:rPr spc="-106" dirty="0"/>
              <a:t> </a:t>
            </a:r>
            <a:r>
              <a:rPr spc="-17" dirty="0"/>
              <a:t>DB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524" y="1148399"/>
            <a:ext cx="3614569" cy="21126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88453" y="787998"/>
            <a:ext cx="2556201" cy="3716165"/>
          </a:xfrm>
          <a:prstGeom prst="rect">
            <a:avLst/>
          </a:prstGeom>
        </p:spPr>
        <p:txBody>
          <a:bodyPr vert="horz" wrap="square" lIns="0" tIns="26054" rIns="0" bIns="0" rtlCol="0">
            <a:spAutoFit/>
          </a:bodyPr>
          <a:lstStyle/>
          <a:p>
            <a:pPr marL="134898" marR="347121" indent="-126913">
              <a:lnSpc>
                <a:spcPts val="1396"/>
              </a:lnSpc>
              <a:spcBef>
                <a:spcPts val="205"/>
              </a:spcBef>
              <a:buSzPct val="84210"/>
              <a:buFont typeface="Arial"/>
              <a:buChar char="•"/>
              <a:tabLst>
                <a:tab pos="134898" algn="l"/>
                <a:tab pos="135738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	Information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distributed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between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25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3" dirty="0">
                <a:solidFill>
                  <a:srgbClr val="292934"/>
                </a:solidFill>
                <a:latin typeface="Verdana"/>
                <a:cs typeface="Verdana"/>
              </a:rPr>
              <a:t>nodes</a:t>
            </a:r>
            <a:endParaRPr sz="1257">
              <a:latin typeface="Verdana"/>
              <a:cs typeface="Verdana"/>
            </a:endParaRPr>
          </a:p>
          <a:p>
            <a:pPr>
              <a:spcBef>
                <a:spcPts val="238"/>
              </a:spcBef>
              <a:buClr>
                <a:srgbClr val="292934"/>
              </a:buClr>
              <a:buFont typeface="Arial"/>
              <a:buChar char="•"/>
            </a:pPr>
            <a:endParaRPr sz="1257">
              <a:latin typeface="Verdana"/>
              <a:cs typeface="Verdana"/>
            </a:endParaRPr>
          </a:p>
          <a:p>
            <a:pPr marL="134898" marR="50849" indent="-126913">
              <a:lnSpc>
                <a:spcPts val="1396"/>
              </a:lnSpc>
              <a:buSzPct val="84210"/>
              <a:buFont typeface="Arial"/>
              <a:buChar char="•"/>
              <a:tabLst>
                <a:tab pos="134898" algn="l"/>
                <a:tab pos="135738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	Different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schemas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across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endParaRPr sz="1257">
              <a:latin typeface="Verdana"/>
              <a:cs typeface="Verdana"/>
            </a:endParaRPr>
          </a:p>
          <a:p>
            <a:pPr>
              <a:spcBef>
                <a:spcPts val="212"/>
              </a:spcBef>
              <a:buClr>
                <a:srgbClr val="292934"/>
              </a:buClr>
              <a:buFont typeface="Arial"/>
              <a:buChar char="•"/>
            </a:pPr>
            <a:endParaRPr sz="1257">
              <a:latin typeface="Verdana"/>
              <a:cs typeface="Verdana"/>
            </a:endParaRPr>
          </a:p>
          <a:p>
            <a:pPr marL="134898" marR="117668" indent="-126913">
              <a:lnSpc>
                <a:spcPct val="92400"/>
              </a:lnSpc>
              <a:buSzPct val="84210"/>
              <a:buFont typeface="Arial"/>
              <a:buChar char="•"/>
              <a:tabLst>
                <a:tab pos="134898" algn="l"/>
                <a:tab pos="135738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	Local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users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(interacting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3" dirty="0">
                <a:solidFill>
                  <a:srgbClr val="292934"/>
                </a:solidFill>
                <a:latin typeface="Verdana"/>
                <a:cs typeface="Verdana"/>
              </a:rPr>
              <a:t>with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individual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database)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257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access</a:t>
            </a:r>
            <a:r>
              <a:rPr sz="125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corresponding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1257">
              <a:latin typeface="Verdana"/>
              <a:cs typeface="Verdana"/>
            </a:endParaRPr>
          </a:p>
          <a:p>
            <a:pPr>
              <a:spcBef>
                <a:spcPts val="255"/>
              </a:spcBef>
              <a:buClr>
                <a:srgbClr val="292934"/>
              </a:buClr>
              <a:buFont typeface="Arial"/>
              <a:buChar char="•"/>
            </a:pPr>
            <a:endParaRPr sz="1257">
              <a:latin typeface="Verdana"/>
              <a:cs typeface="Verdana"/>
            </a:endParaRPr>
          </a:p>
          <a:p>
            <a:pPr marL="134898" marR="3362" indent="-126913">
              <a:lnSpc>
                <a:spcPct val="91400"/>
              </a:lnSpc>
              <a:buSzPct val="84210"/>
              <a:buFont typeface="Arial"/>
              <a:buChar char="•"/>
              <a:tabLst>
                <a:tab pos="134898" algn="l"/>
                <a:tab pos="135738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	Users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want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access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global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r>
              <a:rPr sz="125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can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communicate</a:t>
            </a:r>
            <a:r>
              <a:rPr sz="1257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257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distributed</a:t>
            </a:r>
            <a:r>
              <a:rPr sz="1257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DBMS,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25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has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global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(a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combination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257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25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individual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1257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schemas)</a:t>
            </a:r>
            <a:endParaRPr sz="1257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600700" y="3165522"/>
            <a:ext cx="1391771" cy="139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89">
              <a:lnSpc>
                <a:spcPts val="870"/>
              </a:lnSpc>
            </a:pPr>
            <a:fld id="{81D60167-4931-47E6-BA6A-407CBD079E47}" type="slidenum">
              <a:rPr spc="-33" dirty="0"/>
              <a:pPr marL="49589">
                <a:lnSpc>
                  <a:spcPts val="870"/>
                </a:lnSpc>
              </a:pPr>
              <a:t>16</a:t>
            </a:fld>
            <a:endParaRPr spc="-3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5133" y="339089"/>
            <a:ext cx="620585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22195" algn="l"/>
                <a:tab pos="4418330" algn="l"/>
              </a:tabLst>
            </a:pPr>
            <a:r>
              <a:rPr lang="en-US" spc="-86" dirty="0">
                <a:solidFill>
                  <a:srgbClr val="C00000"/>
                </a:solidFill>
              </a:rPr>
              <a:t>Heterogeneous</a:t>
            </a:r>
            <a:r>
              <a:rPr dirty="0"/>
              <a:t>	</a:t>
            </a:r>
            <a:r>
              <a:rPr spc="180" dirty="0"/>
              <a:t>DATABASE</a:t>
            </a:r>
            <a:r>
              <a:rPr dirty="0"/>
              <a:t>	</a:t>
            </a:r>
            <a:r>
              <a:rPr spc="235" dirty="0"/>
              <a:t>EXAMPLE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52088" y="1411224"/>
            <a:ext cx="678180" cy="2049780"/>
            <a:chOff x="3752088" y="1411224"/>
            <a:chExt cx="678180" cy="2049780"/>
          </a:xfrm>
        </p:grpSpPr>
        <p:sp>
          <p:nvSpPr>
            <p:cNvPr id="5" name="object 5"/>
            <p:cNvSpPr/>
            <p:nvPr/>
          </p:nvSpPr>
          <p:spPr>
            <a:xfrm>
              <a:off x="3771138" y="1430274"/>
              <a:ext cx="640080" cy="2011680"/>
            </a:xfrm>
            <a:custGeom>
              <a:avLst/>
              <a:gdLst/>
              <a:ahLst/>
              <a:cxnLst/>
              <a:rect l="l" t="t" r="r" b="b"/>
              <a:pathLst>
                <a:path w="640079" h="2011679">
                  <a:moveTo>
                    <a:pt x="533400" y="0"/>
                  </a:moveTo>
                  <a:lnTo>
                    <a:pt x="106679" y="0"/>
                  </a:lnTo>
                  <a:lnTo>
                    <a:pt x="65151" y="8381"/>
                  </a:lnTo>
                  <a:lnTo>
                    <a:pt x="31242" y="31241"/>
                  </a:lnTo>
                  <a:lnTo>
                    <a:pt x="8382" y="65150"/>
                  </a:lnTo>
                  <a:lnTo>
                    <a:pt x="0" y="106679"/>
                  </a:lnTo>
                  <a:lnTo>
                    <a:pt x="0" y="1905000"/>
                  </a:lnTo>
                  <a:lnTo>
                    <a:pt x="8381" y="1946528"/>
                  </a:lnTo>
                  <a:lnTo>
                    <a:pt x="31241" y="1980438"/>
                  </a:lnTo>
                  <a:lnTo>
                    <a:pt x="65150" y="2003298"/>
                  </a:lnTo>
                  <a:lnTo>
                    <a:pt x="106679" y="2011680"/>
                  </a:lnTo>
                  <a:lnTo>
                    <a:pt x="533400" y="2011680"/>
                  </a:lnTo>
                  <a:lnTo>
                    <a:pt x="574928" y="2003298"/>
                  </a:lnTo>
                  <a:lnTo>
                    <a:pt x="608837" y="1980438"/>
                  </a:lnTo>
                  <a:lnTo>
                    <a:pt x="631697" y="1946528"/>
                  </a:lnTo>
                  <a:lnTo>
                    <a:pt x="640079" y="1905000"/>
                  </a:lnTo>
                  <a:lnTo>
                    <a:pt x="640079" y="106679"/>
                  </a:lnTo>
                  <a:lnTo>
                    <a:pt x="631698" y="65151"/>
                  </a:lnTo>
                  <a:lnTo>
                    <a:pt x="608838" y="31242"/>
                  </a:lnTo>
                  <a:lnTo>
                    <a:pt x="574928" y="838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C30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1138" y="1430274"/>
              <a:ext cx="640080" cy="2011680"/>
            </a:xfrm>
            <a:custGeom>
              <a:avLst/>
              <a:gdLst/>
              <a:ahLst/>
              <a:cxnLst/>
              <a:rect l="l" t="t" r="r" b="b"/>
              <a:pathLst>
                <a:path w="640079" h="2011679">
                  <a:moveTo>
                    <a:pt x="533400" y="0"/>
                  </a:moveTo>
                  <a:lnTo>
                    <a:pt x="574928" y="8382"/>
                  </a:lnTo>
                  <a:lnTo>
                    <a:pt x="608838" y="31242"/>
                  </a:lnTo>
                  <a:lnTo>
                    <a:pt x="631698" y="65151"/>
                  </a:lnTo>
                  <a:lnTo>
                    <a:pt x="640079" y="106679"/>
                  </a:lnTo>
                  <a:lnTo>
                    <a:pt x="640079" y="1905000"/>
                  </a:lnTo>
                  <a:lnTo>
                    <a:pt x="631697" y="1946528"/>
                  </a:lnTo>
                  <a:lnTo>
                    <a:pt x="608837" y="1980438"/>
                  </a:lnTo>
                  <a:lnTo>
                    <a:pt x="574928" y="2003298"/>
                  </a:lnTo>
                  <a:lnTo>
                    <a:pt x="533400" y="2011680"/>
                  </a:lnTo>
                  <a:lnTo>
                    <a:pt x="106679" y="2011680"/>
                  </a:lnTo>
                  <a:lnTo>
                    <a:pt x="65150" y="2003298"/>
                  </a:lnTo>
                  <a:lnTo>
                    <a:pt x="31241" y="1980438"/>
                  </a:lnTo>
                  <a:lnTo>
                    <a:pt x="8381" y="1946528"/>
                  </a:lnTo>
                  <a:lnTo>
                    <a:pt x="0" y="1905000"/>
                  </a:lnTo>
                  <a:lnTo>
                    <a:pt x="0" y="106679"/>
                  </a:lnTo>
                  <a:lnTo>
                    <a:pt x="8382" y="65150"/>
                  </a:lnTo>
                  <a:lnTo>
                    <a:pt x="31242" y="31241"/>
                  </a:lnTo>
                  <a:lnTo>
                    <a:pt x="65151" y="8381"/>
                  </a:lnTo>
                  <a:lnTo>
                    <a:pt x="106679" y="0"/>
                  </a:lnTo>
                  <a:lnTo>
                    <a:pt x="533400" y="0"/>
                  </a:lnTo>
                  <a:close/>
                </a:path>
              </a:pathLst>
            </a:custGeom>
            <a:ln w="38100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10362" y="1650238"/>
            <a:ext cx="360680" cy="1566545"/>
          </a:xfrm>
          <a:prstGeom prst="rect">
            <a:avLst/>
          </a:prstGeom>
        </p:spPr>
        <p:txBody>
          <a:bodyPr vert="vert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2200" b="1" spc="-10" dirty="0">
                <a:solidFill>
                  <a:srgbClr val="FFFFFF"/>
                </a:solidFill>
                <a:latin typeface="Lato Black"/>
                <a:cs typeface="Lato Black"/>
              </a:rPr>
              <a:t>Middleware</a:t>
            </a:r>
            <a:endParaRPr sz="2200" dirty="0">
              <a:latin typeface="Lato Black"/>
              <a:cs typeface="Lato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15274" y="1949386"/>
            <a:ext cx="1955164" cy="1072515"/>
            <a:chOff x="1815274" y="1949386"/>
            <a:chExt cx="1955164" cy="1072515"/>
          </a:xfrm>
        </p:grpSpPr>
        <p:sp>
          <p:nvSpPr>
            <p:cNvPr id="9" name="object 9"/>
            <p:cNvSpPr/>
            <p:nvPr/>
          </p:nvSpPr>
          <p:spPr>
            <a:xfrm>
              <a:off x="1877440" y="2414269"/>
              <a:ext cx="1892935" cy="607060"/>
            </a:xfrm>
            <a:custGeom>
              <a:avLst/>
              <a:gdLst/>
              <a:ahLst/>
              <a:cxnLst/>
              <a:rect l="l" t="t" r="r" b="b"/>
              <a:pathLst>
                <a:path w="1892935" h="607060">
                  <a:moveTo>
                    <a:pt x="1777655" y="36470"/>
                  </a:moveTo>
                  <a:lnTo>
                    <a:pt x="0" y="570484"/>
                  </a:lnTo>
                  <a:lnTo>
                    <a:pt x="10921" y="607060"/>
                  </a:lnTo>
                  <a:lnTo>
                    <a:pt x="1788615" y="72947"/>
                  </a:lnTo>
                  <a:lnTo>
                    <a:pt x="1777655" y="36470"/>
                  </a:lnTo>
                  <a:close/>
                </a:path>
                <a:path w="1892935" h="607060">
                  <a:moveTo>
                    <a:pt x="1882967" y="30987"/>
                  </a:moveTo>
                  <a:lnTo>
                    <a:pt x="1795907" y="30987"/>
                  </a:lnTo>
                  <a:lnTo>
                    <a:pt x="1806956" y="67437"/>
                  </a:lnTo>
                  <a:lnTo>
                    <a:pt x="1788615" y="72947"/>
                  </a:lnTo>
                  <a:lnTo>
                    <a:pt x="1799589" y="109474"/>
                  </a:lnTo>
                  <a:lnTo>
                    <a:pt x="1882967" y="30987"/>
                  </a:lnTo>
                  <a:close/>
                </a:path>
                <a:path w="1892935" h="607060">
                  <a:moveTo>
                    <a:pt x="1795907" y="30987"/>
                  </a:moveTo>
                  <a:lnTo>
                    <a:pt x="1777655" y="36470"/>
                  </a:lnTo>
                  <a:lnTo>
                    <a:pt x="1788615" y="72947"/>
                  </a:lnTo>
                  <a:lnTo>
                    <a:pt x="1806956" y="67437"/>
                  </a:lnTo>
                  <a:lnTo>
                    <a:pt x="1795907" y="30987"/>
                  </a:lnTo>
                  <a:close/>
                </a:path>
                <a:path w="1892935" h="607060">
                  <a:moveTo>
                    <a:pt x="1766696" y="0"/>
                  </a:moveTo>
                  <a:lnTo>
                    <a:pt x="1777655" y="36470"/>
                  </a:lnTo>
                  <a:lnTo>
                    <a:pt x="1795907" y="30987"/>
                  </a:lnTo>
                  <a:lnTo>
                    <a:pt x="1882967" y="30987"/>
                  </a:lnTo>
                  <a:lnTo>
                    <a:pt x="1892681" y="21843"/>
                  </a:lnTo>
                  <a:lnTo>
                    <a:pt x="1766696" y="0"/>
                  </a:lnTo>
                  <a:close/>
                </a:path>
              </a:pathLst>
            </a:custGeom>
            <a:solidFill>
              <a:srgbClr val="C30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9561" y="1963673"/>
              <a:ext cx="1689100" cy="556260"/>
            </a:xfrm>
            <a:custGeom>
              <a:avLst/>
              <a:gdLst/>
              <a:ahLst/>
              <a:cxnLst/>
              <a:rect l="l" t="t" r="r" b="b"/>
              <a:pathLst>
                <a:path w="1689100" h="556260">
                  <a:moveTo>
                    <a:pt x="1407160" y="364236"/>
                  </a:moveTo>
                  <a:lnTo>
                    <a:pt x="985012" y="364236"/>
                  </a:lnTo>
                  <a:lnTo>
                    <a:pt x="1558798" y="555878"/>
                  </a:lnTo>
                  <a:lnTo>
                    <a:pt x="1407160" y="364236"/>
                  </a:lnTo>
                  <a:close/>
                </a:path>
                <a:path w="1689100" h="556260">
                  <a:moveTo>
                    <a:pt x="1627886" y="0"/>
                  </a:moveTo>
                  <a:lnTo>
                    <a:pt x="60706" y="0"/>
                  </a:lnTo>
                  <a:lnTo>
                    <a:pt x="37076" y="4770"/>
                  </a:lnTo>
                  <a:lnTo>
                    <a:pt x="17779" y="17780"/>
                  </a:lnTo>
                  <a:lnTo>
                    <a:pt x="4770" y="37076"/>
                  </a:lnTo>
                  <a:lnTo>
                    <a:pt x="0" y="60706"/>
                  </a:lnTo>
                  <a:lnTo>
                    <a:pt x="0" y="303530"/>
                  </a:lnTo>
                  <a:lnTo>
                    <a:pt x="4770" y="327159"/>
                  </a:lnTo>
                  <a:lnTo>
                    <a:pt x="17779" y="346456"/>
                  </a:lnTo>
                  <a:lnTo>
                    <a:pt x="37076" y="359465"/>
                  </a:lnTo>
                  <a:lnTo>
                    <a:pt x="60706" y="364236"/>
                  </a:lnTo>
                  <a:lnTo>
                    <a:pt x="1627886" y="364236"/>
                  </a:lnTo>
                  <a:lnTo>
                    <a:pt x="1651515" y="359465"/>
                  </a:lnTo>
                  <a:lnTo>
                    <a:pt x="1670811" y="346456"/>
                  </a:lnTo>
                  <a:lnTo>
                    <a:pt x="1683821" y="327159"/>
                  </a:lnTo>
                  <a:lnTo>
                    <a:pt x="1688591" y="303530"/>
                  </a:lnTo>
                  <a:lnTo>
                    <a:pt x="1688591" y="60706"/>
                  </a:lnTo>
                  <a:lnTo>
                    <a:pt x="1683821" y="37076"/>
                  </a:lnTo>
                  <a:lnTo>
                    <a:pt x="1670811" y="17780"/>
                  </a:lnTo>
                  <a:lnTo>
                    <a:pt x="1651515" y="4770"/>
                  </a:lnTo>
                  <a:lnTo>
                    <a:pt x="16278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9561" y="1963673"/>
              <a:ext cx="1689100" cy="556260"/>
            </a:xfrm>
            <a:custGeom>
              <a:avLst/>
              <a:gdLst/>
              <a:ahLst/>
              <a:cxnLst/>
              <a:rect l="l" t="t" r="r" b="b"/>
              <a:pathLst>
                <a:path w="1689100" h="556260">
                  <a:moveTo>
                    <a:pt x="1688591" y="60706"/>
                  </a:moveTo>
                  <a:lnTo>
                    <a:pt x="1683821" y="37076"/>
                  </a:lnTo>
                  <a:lnTo>
                    <a:pt x="1670811" y="17780"/>
                  </a:lnTo>
                  <a:lnTo>
                    <a:pt x="1651515" y="4770"/>
                  </a:lnTo>
                  <a:lnTo>
                    <a:pt x="1627886" y="0"/>
                  </a:lnTo>
                  <a:lnTo>
                    <a:pt x="1407160" y="0"/>
                  </a:lnTo>
                  <a:lnTo>
                    <a:pt x="985012" y="0"/>
                  </a:lnTo>
                  <a:lnTo>
                    <a:pt x="60706" y="0"/>
                  </a:lnTo>
                  <a:lnTo>
                    <a:pt x="37076" y="4770"/>
                  </a:lnTo>
                  <a:lnTo>
                    <a:pt x="17780" y="17779"/>
                  </a:lnTo>
                  <a:lnTo>
                    <a:pt x="4770" y="37076"/>
                  </a:lnTo>
                  <a:lnTo>
                    <a:pt x="0" y="60706"/>
                  </a:lnTo>
                  <a:lnTo>
                    <a:pt x="0" y="212470"/>
                  </a:lnTo>
                  <a:lnTo>
                    <a:pt x="0" y="303530"/>
                  </a:lnTo>
                  <a:lnTo>
                    <a:pt x="4770" y="327159"/>
                  </a:lnTo>
                  <a:lnTo>
                    <a:pt x="17779" y="346456"/>
                  </a:lnTo>
                  <a:lnTo>
                    <a:pt x="37076" y="359465"/>
                  </a:lnTo>
                  <a:lnTo>
                    <a:pt x="60706" y="364236"/>
                  </a:lnTo>
                  <a:lnTo>
                    <a:pt x="985012" y="364236"/>
                  </a:lnTo>
                  <a:lnTo>
                    <a:pt x="1558798" y="555878"/>
                  </a:lnTo>
                  <a:lnTo>
                    <a:pt x="1407160" y="364236"/>
                  </a:lnTo>
                  <a:lnTo>
                    <a:pt x="1627886" y="364236"/>
                  </a:lnTo>
                  <a:lnTo>
                    <a:pt x="1651515" y="359465"/>
                  </a:lnTo>
                  <a:lnTo>
                    <a:pt x="1670811" y="346456"/>
                  </a:lnTo>
                  <a:lnTo>
                    <a:pt x="1683821" y="327159"/>
                  </a:lnTo>
                  <a:lnTo>
                    <a:pt x="1688591" y="303530"/>
                  </a:lnTo>
                  <a:lnTo>
                    <a:pt x="1688591" y="212470"/>
                  </a:lnTo>
                  <a:lnTo>
                    <a:pt x="1688591" y="60706"/>
                  </a:lnTo>
                  <a:close/>
                </a:path>
              </a:pathLst>
            </a:custGeom>
            <a:ln w="285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21255" y="1958721"/>
            <a:ext cx="15030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70" dirty="0">
                <a:solidFill>
                  <a:srgbClr val="C30037"/>
                </a:solidFill>
                <a:latin typeface="Times New Roman"/>
                <a:cs typeface="Times New Roman"/>
              </a:rPr>
              <a:t>Query</a:t>
            </a:r>
            <a:r>
              <a:rPr sz="2000" b="1" i="1" spc="-114" dirty="0">
                <a:solidFill>
                  <a:srgbClr val="C30037"/>
                </a:solidFill>
                <a:latin typeface="Times New Roman"/>
                <a:cs typeface="Times New Roman"/>
              </a:rPr>
              <a:t> </a:t>
            </a:r>
            <a:r>
              <a:rPr sz="2000" b="1" i="1" spc="-105" dirty="0">
                <a:solidFill>
                  <a:srgbClr val="C30037"/>
                </a:solidFill>
                <a:latin typeface="Times New Roman"/>
                <a:cs typeface="Times New Roman"/>
              </a:rPr>
              <a:t>Requests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3463" y="3427603"/>
            <a:ext cx="1550670" cy="683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34010" marR="5080" indent="-321945">
              <a:lnSpc>
                <a:spcPct val="80000"/>
              </a:lnSpc>
              <a:spcBef>
                <a:spcPts val="675"/>
              </a:spcBef>
            </a:pPr>
            <a:r>
              <a:rPr sz="2400" spc="-10" dirty="0">
                <a:solidFill>
                  <a:srgbClr val="636363"/>
                </a:solidFill>
                <a:latin typeface="Lato"/>
                <a:cs typeface="Lato"/>
              </a:rPr>
              <a:t>Application Server</a:t>
            </a:r>
            <a:endParaRPr sz="2400">
              <a:latin typeface="Lato"/>
              <a:cs typeface="La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83662" y="2004060"/>
            <a:ext cx="7923530" cy="2795270"/>
            <a:chOff x="1083662" y="2004060"/>
            <a:chExt cx="7923530" cy="2795270"/>
          </a:xfrm>
        </p:grpSpPr>
        <p:sp>
          <p:nvSpPr>
            <p:cNvPr id="15" name="object 15"/>
            <p:cNvSpPr/>
            <p:nvPr/>
          </p:nvSpPr>
          <p:spPr>
            <a:xfrm>
              <a:off x="1083662" y="2531524"/>
              <a:ext cx="797560" cy="941069"/>
            </a:xfrm>
            <a:custGeom>
              <a:avLst/>
              <a:gdLst/>
              <a:ahLst/>
              <a:cxnLst/>
              <a:rect l="l" t="t" r="r" b="b"/>
              <a:pathLst>
                <a:path w="797560" h="941070">
                  <a:moveTo>
                    <a:pt x="797444" y="236621"/>
                  </a:moveTo>
                  <a:lnTo>
                    <a:pt x="0" y="236621"/>
                  </a:lnTo>
                  <a:lnTo>
                    <a:pt x="0" y="436381"/>
                  </a:lnTo>
                  <a:lnTo>
                    <a:pt x="797444" y="436381"/>
                  </a:lnTo>
                  <a:lnTo>
                    <a:pt x="797444" y="380318"/>
                  </a:lnTo>
                  <a:lnTo>
                    <a:pt x="53037" y="380318"/>
                  </a:lnTo>
                  <a:lnTo>
                    <a:pt x="88105" y="292684"/>
                  </a:lnTo>
                  <a:lnTo>
                    <a:pt x="797444" y="292684"/>
                  </a:lnTo>
                  <a:lnTo>
                    <a:pt x="797444" y="236621"/>
                  </a:lnTo>
                  <a:close/>
                </a:path>
                <a:path w="797560" h="941070">
                  <a:moveTo>
                    <a:pt x="156760" y="292684"/>
                  </a:moveTo>
                  <a:lnTo>
                    <a:pt x="130462" y="292684"/>
                  </a:lnTo>
                  <a:lnTo>
                    <a:pt x="95394" y="380318"/>
                  </a:lnTo>
                  <a:lnTo>
                    <a:pt x="121698" y="380318"/>
                  </a:lnTo>
                  <a:lnTo>
                    <a:pt x="156760" y="292684"/>
                  </a:lnTo>
                  <a:close/>
                </a:path>
                <a:path w="797560" h="941070">
                  <a:moveTo>
                    <a:pt x="225406" y="292684"/>
                  </a:moveTo>
                  <a:lnTo>
                    <a:pt x="199110" y="292684"/>
                  </a:lnTo>
                  <a:lnTo>
                    <a:pt x="164051" y="380318"/>
                  </a:lnTo>
                  <a:lnTo>
                    <a:pt x="190351" y="380318"/>
                  </a:lnTo>
                  <a:lnTo>
                    <a:pt x="225406" y="292684"/>
                  </a:lnTo>
                  <a:close/>
                </a:path>
                <a:path w="797560" h="941070">
                  <a:moveTo>
                    <a:pt x="294069" y="292684"/>
                  </a:moveTo>
                  <a:lnTo>
                    <a:pt x="267773" y="292684"/>
                  </a:lnTo>
                  <a:lnTo>
                    <a:pt x="232699" y="380318"/>
                  </a:lnTo>
                  <a:lnTo>
                    <a:pt x="259014" y="380318"/>
                  </a:lnTo>
                  <a:lnTo>
                    <a:pt x="294069" y="292684"/>
                  </a:lnTo>
                  <a:close/>
                </a:path>
                <a:path w="797560" h="941070">
                  <a:moveTo>
                    <a:pt x="362732" y="292684"/>
                  </a:moveTo>
                  <a:lnTo>
                    <a:pt x="336436" y="292684"/>
                  </a:lnTo>
                  <a:lnTo>
                    <a:pt x="301362" y="380318"/>
                  </a:lnTo>
                  <a:lnTo>
                    <a:pt x="327677" y="380318"/>
                  </a:lnTo>
                  <a:lnTo>
                    <a:pt x="362732" y="292684"/>
                  </a:lnTo>
                  <a:close/>
                </a:path>
                <a:path w="797560" h="941070">
                  <a:moveTo>
                    <a:pt x="797444" y="292684"/>
                  </a:moveTo>
                  <a:lnTo>
                    <a:pt x="405098" y="292684"/>
                  </a:lnTo>
                  <a:lnTo>
                    <a:pt x="370024" y="380318"/>
                  </a:lnTo>
                  <a:lnTo>
                    <a:pt x="797444" y="380318"/>
                  </a:lnTo>
                  <a:lnTo>
                    <a:pt x="797444" y="365760"/>
                  </a:lnTo>
                  <a:lnTo>
                    <a:pt x="702771" y="365760"/>
                  </a:lnTo>
                  <a:lnTo>
                    <a:pt x="691375" y="363461"/>
                  </a:lnTo>
                  <a:lnTo>
                    <a:pt x="682066" y="357192"/>
                  </a:lnTo>
                  <a:lnTo>
                    <a:pt x="675788" y="347889"/>
                  </a:lnTo>
                  <a:lnTo>
                    <a:pt x="673485" y="336492"/>
                  </a:lnTo>
                  <a:lnTo>
                    <a:pt x="675788" y="325105"/>
                  </a:lnTo>
                  <a:lnTo>
                    <a:pt x="682066" y="315808"/>
                  </a:lnTo>
                  <a:lnTo>
                    <a:pt x="691375" y="309540"/>
                  </a:lnTo>
                  <a:lnTo>
                    <a:pt x="702771" y="307242"/>
                  </a:lnTo>
                  <a:lnTo>
                    <a:pt x="797444" y="307242"/>
                  </a:lnTo>
                  <a:lnTo>
                    <a:pt x="797444" y="292684"/>
                  </a:lnTo>
                  <a:close/>
                </a:path>
                <a:path w="797560" h="941070">
                  <a:moveTo>
                    <a:pt x="797444" y="307242"/>
                  </a:moveTo>
                  <a:lnTo>
                    <a:pt x="702771" y="307242"/>
                  </a:lnTo>
                  <a:lnTo>
                    <a:pt x="714166" y="309540"/>
                  </a:lnTo>
                  <a:lnTo>
                    <a:pt x="723476" y="315808"/>
                  </a:lnTo>
                  <a:lnTo>
                    <a:pt x="729753" y="325105"/>
                  </a:lnTo>
                  <a:lnTo>
                    <a:pt x="732056" y="336492"/>
                  </a:lnTo>
                  <a:lnTo>
                    <a:pt x="729753" y="347889"/>
                  </a:lnTo>
                  <a:lnTo>
                    <a:pt x="723476" y="357192"/>
                  </a:lnTo>
                  <a:lnTo>
                    <a:pt x="714166" y="363461"/>
                  </a:lnTo>
                  <a:lnTo>
                    <a:pt x="702771" y="365760"/>
                  </a:lnTo>
                  <a:lnTo>
                    <a:pt x="797444" y="365760"/>
                  </a:lnTo>
                  <a:lnTo>
                    <a:pt x="797444" y="307242"/>
                  </a:lnTo>
                  <a:close/>
                </a:path>
                <a:path w="797560" h="941070">
                  <a:moveTo>
                    <a:pt x="612172" y="0"/>
                  </a:moveTo>
                  <a:lnTo>
                    <a:pt x="185257" y="0"/>
                  </a:lnTo>
                  <a:lnTo>
                    <a:pt x="45673" y="184060"/>
                  </a:lnTo>
                  <a:lnTo>
                    <a:pt x="753477" y="184060"/>
                  </a:lnTo>
                  <a:lnTo>
                    <a:pt x="612172" y="0"/>
                  </a:lnTo>
                  <a:close/>
                </a:path>
                <a:path w="797560" h="941070">
                  <a:moveTo>
                    <a:pt x="797444" y="488942"/>
                  </a:moveTo>
                  <a:lnTo>
                    <a:pt x="0" y="488942"/>
                  </a:lnTo>
                  <a:lnTo>
                    <a:pt x="0" y="688703"/>
                  </a:lnTo>
                  <a:lnTo>
                    <a:pt x="797444" y="688703"/>
                  </a:lnTo>
                  <a:lnTo>
                    <a:pt x="797444" y="632640"/>
                  </a:lnTo>
                  <a:lnTo>
                    <a:pt x="53037" y="632640"/>
                  </a:lnTo>
                  <a:lnTo>
                    <a:pt x="88105" y="545024"/>
                  </a:lnTo>
                  <a:lnTo>
                    <a:pt x="797444" y="545024"/>
                  </a:lnTo>
                  <a:lnTo>
                    <a:pt x="797444" y="488942"/>
                  </a:lnTo>
                  <a:close/>
                </a:path>
                <a:path w="797560" h="941070">
                  <a:moveTo>
                    <a:pt x="156760" y="545024"/>
                  </a:moveTo>
                  <a:lnTo>
                    <a:pt x="130462" y="545024"/>
                  </a:lnTo>
                  <a:lnTo>
                    <a:pt x="95394" y="632640"/>
                  </a:lnTo>
                  <a:lnTo>
                    <a:pt x="121698" y="632640"/>
                  </a:lnTo>
                  <a:lnTo>
                    <a:pt x="156760" y="545024"/>
                  </a:lnTo>
                  <a:close/>
                </a:path>
                <a:path w="797560" h="941070">
                  <a:moveTo>
                    <a:pt x="225406" y="545024"/>
                  </a:moveTo>
                  <a:lnTo>
                    <a:pt x="199110" y="545024"/>
                  </a:lnTo>
                  <a:lnTo>
                    <a:pt x="164051" y="632640"/>
                  </a:lnTo>
                  <a:lnTo>
                    <a:pt x="190351" y="632640"/>
                  </a:lnTo>
                  <a:lnTo>
                    <a:pt x="225406" y="545024"/>
                  </a:lnTo>
                  <a:close/>
                </a:path>
                <a:path w="797560" h="941070">
                  <a:moveTo>
                    <a:pt x="294069" y="545024"/>
                  </a:moveTo>
                  <a:lnTo>
                    <a:pt x="267773" y="545024"/>
                  </a:lnTo>
                  <a:lnTo>
                    <a:pt x="232699" y="632640"/>
                  </a:lnTo>
                  <a:lnTo>
                    <a:pt x="259014" y="632640"/>
                  </a:lnTo>
                  <a:lnTo>
                    <a:pt x="294069" y="545024"/>
                  </a:lnTo>
                  <a:close/>
                </a:path>
                <a:path w="797560" h="941070">
                  <a:moveTo>
                    <a:pt x="362732" y="545024"/>
                  </a:moveTo>
                  <a:lnTo>
                    <a:pt x="336436" y="545024"/>
                  </a:lnTo>
                  <a:lnTo>
                    <a:pt x="301362" y="632640"/>
                  </a:lnTo>
                  <a:lnTo>
                    <a:pt x="327677" y="632640"/>
                  </a:lnTo>
                  <a:lnTo>
                    <a:pt x="362732" y="545024"/>
                  </a:lnTo>
                  <a:close/>
                </a:path>
                <a:path w="797560" h="941070">
                  <a:moveTo>
                    <a:pt x="797444" y="545024"/>
                  </a:moveTo>
                  <a:lnTo>
                    <a:pt x="405098" y="545024"/>
                  </a:lnTo>
                  <a:lnTo>
                    <a:pt x="370024" y="632640"/>
                  </a:lnTo>
                  <a:lnTo>
                    <a:pt x="797444" y="632640"/>
                  </a:lnTo>
                  <a:lnTo>
                    <a:pt x="797444" y="618081"/>
                  </a:lnTo>
                  <a:lnTo>
                    <a:pt x="702771" y="618081"/>
                  </a:lnTo>
                  <a:lnTo>
                    <a:pt x="691375" y="615783"/>
                  </a:lnTo>
                  <a:lnTo>
                    <a:pt x="682066" y="609515"/>
                  </a:lnTo>
                  <a:lnTo>
                    <a:pt x="675788" y="600218"/>
                  </a:lnTo>
                  <a:lnTo>
                    <a:pt x="673485" y="588832"/>
                  </a:lnTo>
                  <a:lnTo>
                    <a:pt x="675788" y="577435"/>
                  </a:lnTo>
                  <a:lnTo>
                    <a:pt x="682066" y="568132"/>
                  </a:lnTo>
                  <a:lnTo>
                    <a:pt x="691375" y="561862"/>
                  </a:lnTo>
                  <a:lnTo>
                    <a:pt x="702771" y="559564"/>
                  </a:lnTo>
                  <a:lnTo>
                    <a:pt x="797444" y="559564"/>
                  </a:lnTo>
                  <a:lnTo>
                    <a:pt x="797444" y="545024"/>
                  </a:lnTo>
                  <a:close/>
                </a:path>
                <a:path w="797560" h="941070">
                  <a:moveTo>
                    <a:pt x="797444" y="559564"/>
                  </a:moveTo>
                  <a:lnTo>
                    <a:pt x="702771" y="559564"/>
                  </a:lnTo>
                  <a:lnTo>
                    <a:pt x="714166" y="561862"/>
                  </a:lnTo>
                  <a:lnTo>
                    <a:pt x="723476" y="568132"/>
                  </a:lnTo>
                  <a:lnTo>
                    <a:pt x="729753" y="577435"/>
                  </a:lnTo>
                  <a:lnTo>
                    <a:pt x="732056" y="588832"/>
                  </a:lnTo>
                  <a:lnTo>
                    <a:pt x="729753" y="600218"/>
                  </a:lnTo>
                  <a:lnTo>
                    <a:pt x="723476" y="609515"/>
                  </a:lnTo>
                  <a:lnTo>
                    <a:pt x="714166" y="615783"/>
                  </a:lnTo>
                  <a:lnTo>
                    <a:pt x="702771" y="618081"/>
                  </a:lnTo>
                  <a:lnTo>
                    <a:pt x="797444" y="618081"/>
                  </a:lnTo>
                  <a:lnTo>
                    <a:pt x="797444" y="559564"/>
                  </a:lnTo>
                  <a:close/>
                </a:path>
                <a:path w="797560" h="941070">
                  <a:moveTo>
                    <a:pt x="797444" y="740940"/>
                  </a:moveTo>
                  <a:lnTo>
                    <a:pt x="0" y="740940"/>
                  </a:lnTo>
                  <a:lnTo>
                    <a:pt x="0" y="940693"/>
                  </a:lnTo>
                  <a:lnTo>
                    <a:pt x="797444" y="940693"/>
                  </a:lnTo>
                  <a:lnTo>
                    <a:pt x="797444" y="884622"/>
                  </a:lnTo>
                  <a:lnTo>
                    <a:pt x="53037" y="884622"/>
                  </a:lnTo>
                  <a:lnTo>
                    <a:pt x="88105" y="797003"/>
                  </a:lnTo>
                  <a:lnTo>
                    <a:pt x="797444" y="797003"/>
                  </a:lnTo>
                  <a:lnTo>
                    <a:pt x="797444" y="740940"/>
                  </a:lnTo>
                  <a:close/>
                </a:path>
                <a:path w="797560" h="941070">
                  <a:moveTo>
                    <a:pt x="156760" y="797003"/>
                  </a:moveTo>
                  <a:lnTo>
                    <a:pt x="130462" y="797003"/>
                  </a:lnTo>
                  <a:lnTo>
                    <a:pt x="95394" y="884622"/>
                  </a:lnTo>
                  <a:lnTo>
                    <a:pt x="121698" y="884622"/>
                  </a:lnTo>
                  <a:lnTo>
                    <a:pt x="156760" y="797003"/>
                  </a:lnTo>
                  <a:close/>
                </a:path>
                <a:path w="797560" h="941070">
                  <a:moveTo>
                    <a:pt x="225406" y="797003"/>
                  </a:moveTo>
                  <a:lnTo>
                    <a:pt x="199110" y="797003"/>
                  </a:lnTo>
                  <a:lnTo>
                    <a:pt x="164051" y="884622"/>
                  </a:lnTo>
                  <a:lnTo>
                    <a:pt x="190351" y="884622"/>
                  </a:lnTo>
                  <a:lnTo>
                    <a:pt x="225406" y="797003"/>
                  </a:lnTo>
                  <a:close/>
                </a:path>
                <a:path w="797560" h="941070">
                  <a:moveTo>
                    <a:pt x="294069" y="797003"/>
                  </a:moveTo>
                  <a:lnTo>
                    <a:pt x="267773" y="797003"/>
                  </a:lnTo>
                  <a:lnTo>
                    <a:pt x="232699" y="884622"/>
                  </a:lnTo>
                  <a:lnTo>
                    <a:pt x="259014" y="884622"/>
                  </a:lnTo>
                  <a:lnTo>
                    <a:pt x="294069" y="797003"/>
                  </a:lnTo>
                  <a:close/>
                </a:path>
                <a:path w="797560" h="941070">
                  <a:moveTo>
                    <a:pt x="362732" y="797003"/>
                  </a:moveTo>
                  <a:lnTo>
                    <a:pt x="336436" y="797003"/>
                  </a:lnTo>
                  <a:lnTo>
                    <a:pt x="301362" y="884622"/>
                  </a:lnTo>
                  <a:lnTo>
                    <a:pt x="327677" y="884622"/>
                  </a:lnTo>
                  <a:lnTo>
                    <a:pt x="362732" y="797003"/>
                  </a:lnTo>
                  <a:close/>
                </a:path>
                <a:path w="797560" h="941070">
                  <a:moveTo>
                    <a:pt x="797444" y="797003"/>
                  </a:moveTo>
                  <a:lnTo>
                    <a:pt x="405098" y="797003"/>
                  </a:lnTo>
                  <a:lnTo>
                    <a:pt x="370024" y="884622"/>
                  </a:lnTo>
                  <a:lnTo>
                    <a:pt x="797444" y="884622"/>
                  </a:lnTo>
                  <a:lnTo>
                    <a:pt x="797444" y="870068"/>
                  </a:lnTo>
                  <a:lnTo>
                    <a:pt x="702771" y="870068"/>
                  </a:lnTo>
                  <a:lnTo>
                    <a:pt x="691375" y="867770"/>
                  </a:lnTo>
                  <a:lnTo>
                    <a:pt x="682066" y="861502"/>
                  </a:lnTo>
                  <a:lnTo>
                    <a:pt x="675788" y="852203"/>
                  </a:lnTo>
                  <a:lnTo>
                    <a:pt x="673485" y="840815"/>
                  </a:lnTo>
                  <a:lnTo>
                    <a:pt x="675788" y="829423"/>
                  </a:lnTo>
                  <a:lnTo>
                    <a:pt x="682066" y="820123"/>
                  </a:lnTo>
                  <a:lnTo>
                    <a:pt x="691375" y="813854"/>
                  </a:lnTo>
                  <a:lnTo>
                    <a:pt x="702771" y="811556"/>
                  </a:lnTo>
                  <a:lnTo>
                    <a:pt x="797444" y="811556"/>
                  </a:lnTo>
                  <a:lnTo>
                    <a:pt x="797444" y="797003"/>
                  </a:lnTo>
                  <a:close/>
                </a:path>
                <a:path w="797560" h="941070">
                  <a:moveTo>
                    <a:pt x="797444" y="811556"/>
                  </a:moveTo>
                  <a:lnTo>
                    <a:pt x="702771" y="811556"/>
                  </a:lnTo>
                  <a:lnTo>
                    <a:pt x="714166" y="813854"/>
                  </a:lnTo>
                  <a:lnTo>
                    <a:pt x="723476" y="820123"/>
                  </a:lnTo>
                  <a:lnTo>
                    <a:pt x="729753" y="829423"/>
                  </a:lnTo>
                  <a:lnTo>
                    <a:pt x="732056" y="840815"/>
                  </a:lnTo>
                  <a:lnTo>
                    <a:pt x="729753" y="852203"/>
                  </a:lnTo>
                  <a:lnTo>
                    <a:pt x="723476" y="861502"/>
                  </a:lnTo>
                  <a:lnTo>
                    <a:pt x="714166" y="867770"/>
                  </a:lnTo>
                  <a:lnTo>
                    <a:pt x="702771" y="870068"/>
                  </a:lnTo>
                  <a:lnTo>
                    <a:pt x="797444" y="870068"/>
                  </a:lnTo>
                  <a:lnTo>
                    <a:pt x="797444" y="811556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46844" y="4020357"/>
              <a:ext cx="1097280" cy="316230"/>
            </a:xfrm>
            <a:custGeom>
              <a:avLst/>
              <a:gdLst/>
              <a:ahLst/>
              <a:cxnLst/>
              <a:rect l="l" t="t" r="r" b="b"/>
              <a:pathLst>
                <a:path w="1097279" h="316229">
                  <a:moveTo>
                    <a:pt x="1029627" y="0"/>
                  </a:moveTo>
                  <a:lnTo>
                    <a:pt x="1025925" y="318"/>
                  </a:lnTo>
                  <a:lnTo>
                    <a:pt x="1025002" y="3701"/>
                  </a:lnTo>
                  <a:lnTo>
                    <a:pt x="1011780" y="44610"/>
                  </a:lnTo>
                  <a:lnTo>
                    <a:pt x="967785" y="52615"/>
                  </a:lnTo>
                  <a:lnTo>
                    <a:pt x="934782" y="76455"/>
                  </a:lnTo>
                  <a:lnTo>
                    <a:pt x="923494" y="87995"/>
                  </a:lnTo>
                  <a:lnTo>
                    <a:pt x="918255" y="47074"/>
                  </a:lnTo>
                  <a:lnTo>
                    <a:pt x="916729" y="45542"/>
                  </a:lnTo>
                  <a:lnTo>
                    <a:pt x="516809" y="45542"/>
                  </a:lnTo>
                  <a:lnTo>
                    <a:pt x="514964" y="46768"/>
                  </a:lnTo>
                  <a:lnTo>
                    <a:pt x="514964" y="48619"/>
                  </a:lnTo>
                  <a:lnTo>
                    <a:pt x="514042" y="56305"/>
                  </a:lnTo>
                  <a:lnTo>
                    <a:pt x="504147" y="50971"/>
                  </a:lnTo>
                  <a:lnTo>
                    <a:pt x="493242" y="47341"/>
                  </a:lnTo>
                  <a:lnTo>
                    <a:pt x="481817" y="45269"/>
                  </a:lnTo>
                  <a:lnTo>
                    <a:pt x="470366" y="44610"/>
                  </a:lnTo>
                  <a:lnTo>
                    <a:pt x="246108" y="45235"/>
                  </a:lnTo>
                  <a:lnTo>
                    <a:pt x="244571" y="46461"/>
                  </a:lnTo>
                  <a:lnTo>
                    <a:pt x="240266" y="56612"/>
                  </a:lnTo>
                  <a:lnTo>
                    <a:pt x="230044" y="51776"/>
                  </a:lnTo>
                  <a:lnTo>
                    <a:pt x="218499" y="47690"/>
                  </a:lnTo>
                  <a:lnTo>
                    <a:pt x="206607" y="44758"/>
                  </a:lnTo>
                  <a:lnTo>
                    <a:pt x="195348" y="43384"/>
                  </a:lnTo>
                  <a:lnTo>
                    <a:pt x="150812" y="50056"/>
                  </a:lnTo>
                  <a:lnTo>
                    <a:pt x="102468" y="93051"/>
                  </a:lnTo>
                  <a:lnTo>
                    <a:pt x="92830" y="137259"/>
                  </a:lnTo>
                  <a:lnTo>
                    <a:pt x="94271" y="149783"/>
                  </a:lnTo>
                  <a:lnTo>
                    <a:pt x="97213" y="160605"/>
                  </a:lnTo>
                  <a:lnTo>
                    <a:pt x="98139" y="162751"/>
                  </a:lnTo>
                  <a:lnTo>
                    <a:pt x="926" y="202753"/>
                  </a:lnTo>
                  <a:lnTo>
                    <a:pt x="0" y="205215"/>
                  </a:lnTo>
                  <a:lnTo>
                    <a:pt x="68601" y="315970"/>
                  </a:lnTo>
                  <a:lnTo>
                    <a:pt x="71987" y="315661"/>
                  </a:lnTo>
                  <a:lnTo>
                    <a:pt x="73222" y="312281"/>
                  </a:lnTo>
                  <a:lnTo>
                    <a:pt x="84605" y="277206"/>
                  </a:lnTo>
                  <a:lnTo>
                    <a:pt x="91401" y="278596"/>
                  </a:lnTo>
                  <a:lnTo>
                    <a:pt x="98370" y="279553"/>
                  </a:lnTo>
                  <a:lnTo>
                    <a:pt x="105454" y="280105"/>
                  </a:lnTo>
                  <a:lnTo>
                    <a:pt x="112594" y="280283"/>
                  </a:lnTo>
                  <a:lnTo>
                    <a:pt x="135730" y="278197"/>
                  </a:lnTo>
                  <a:lnTo>
                    <a:pt x="157858" y="272129"/>
                  </a:lnTo>
                  <a:lnTo>
                    <a:pt x="177966" y="262371"/>
                  </a:lnTo>
                  <a:lnTo>
                    <a:pt x="195040" y="249209"/>
                  </a:lnTo>
                  <a:lnTo>
                    <a:pt x="203436" y="262159"/>
                  </a:lnTo>
                  <a:lnTo>
                    <a:pt x="216303" y="272053"/>
                  </a:lnTo>
                  <a:lnTo>
                    <a:pt x="233843" y="278371"/>
                  </a:lnTo>
                  <a:lnTo>
                    <a:pt x="256255" y="280592"/>
                  </a:lnTo>
                  <a:lnTo>
                    <a:pt x="276131" y="279063"/>
                  </a:lnTo>
                  <a:lnTo>
                    <a:pt x="293440" y="274822"/>
                  </a:lnTo>
                  <a:lnTo>
                    <a:pt x="308383" y="268390"/>
                  </a:lnTo>
                  <a:lnTo>
                    <a:pt x="321160" y="260286"/>
                  </a:lnTo>
                  <a:lnTo>
                    <a:pt x="316855" y="273206"/>
                  </a:lnTo>
                  <a:lnTo>
                    <a:pt x="318393" y="275360"/>
                  </a:lnTo>
                  <a:lnTo>
                    <a:pt x="416531" y="275360"/>
                  </a:lnTo>
                  <a:lnTo>
                    <a:pt x="433197" y="274321"/>
                  </a:lnTo>
                  <a:lnTo>
                    <a:pt x="452750" y="270514"/>
                  </a:lnTo>
                  <a:lnTo>
                    <a:pt x="473110" y="262899"/>
                  </a:lnTo>
                  <a:lnTo>
                    <a:pt x="492198" y="250440"/>
                  </a:lnTo>
                  <a:lnTo>
                    <a:pt x="489738" y="274129"/>
                  </a:lnTo>
                  <a:lnTo>
                    <a:pt x="491287" y="275975"/>
                  </a:lnTo>
                  <a:lnTo>
                    <a:pt x="727230" y="275669"/>
                  </a:lnTo>
                  <a:lnTo>
                    <a:pt x="729075" y="274744"/>
                  </a:lnTo>
                  <a:lnTo>
                    <a:pt x="729382" y="273821"/>
                  </a:lnTo>
                  <a:lnTo>
                    <a:pt x="745065" y="244901"/>
                  </a:lnTo>
                  <a:lnTo>
                    <a:pt x="751214" y="244901"/>
                  </a:lnTo>
                  <a:lnTo>
                    <a:pt x="744154" y="272898"/>
                  </a:lnTo>
                  <a:lnTo>
                    <a:pt x="745999" y="275052"/>
                  </a:lnTo>
                  <a:lnTo>
                    <a:pt x="919189" y="274744"/>
                  </a:lnTo>
                  <a:lnTo>
                    <a:pt x="928414" y="274437"/>
                  </a:lnTo>
                  <a:lnTo>
                    <a:pt x="928106" y="274437"/>
                  </a:lnTo>
                  <a:lnTo>
                    <a:pt x="937612" y="272547"/>
                  </a:lnTo>
                  <a:lnTo>
                    <a:pt x="945332" y="267398"/>
                  </a:lnTo>
                  <a:lnTo>
                    <a:pt x="950515" y="259769"/>
                  </a:lnTo>
                  <a:lnTo>
                    <a:pt x="952410" y="250440"/>
                  </a:lnTo>
                  <a:lnTo>
                    <a:pt x="950472" y="241108"/>
                  </a:lnTo>
                  <a:lnTo>
                    <a:pt x="945217" y="233479"/>
                  </a:lnTo>
                  <a:lnTo>
                    <a:pt x="937482" y="228331"/>
                  </a:lnTo>
                  <a:lnTo>
                    <a:pt x="928106" y="226443"/>
                  </a:lnTo>
                  <a:lnTo>
                    <a:pt x="928106" y="225827"/>
                  </a:lnTo>
                  <a:lnTo>
                    <a:pt x="948627" y="182606"/>
                  </a:lnTo>
                  <a:lnTo>
                    <a:pt x="974886" y="148506"/>
                  </a:lnTo>
                  <a:lnTo>
                    <a:pt x="980711" y="142450"/>
                  </a:lnTo>
                  <a:lnTo>
                    <a:pt x="977317" y="152907"/>
                  </a:lnTo>
                  <a:lnTo>
                    <a:pt x="976395" y="156302"/>
                  </a:lnTo>
                  <a:lnTo>
                    <a:pt x="978855" y="158754"/>
                  </a:lnTo>
                  <a:lnTo>
                    <a:pt x="982249" y="157222"/>
                  </a:lnTo>
                  <a:lnTo>
                    <a:pt x="1096069" y="111385"/>
                  </a:lnTo>
                  <a:lnTo>
                    <a:pt x="1096992" y="109227"/>
                  </a:lnTo>
                  <a:lnTo>
                    <a:pt x="1029627" y="0"/>
                  </a:lnTo>
                  <a:close/>
                </a:path>
              </a:pathLst>
            </a:custGeom>
            <a:solidFill>
              <a:srgbClr val="0054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86357" y="4059438"/>
              <a:ext cx="232410" cy="219075"/>
            </a:xfrm>
            <a:custGeom>
              <a:avLst/>
              <a:gdLst/>
              <a:ahLst/>
              <a:cxnLst/>
              <a:rect l="l" t="t" r="r" b="b"/>
              <a:pathLst>
                <a:path w="232409" h="219075">
                  <a:moveTo>
                    <a:pt x="193189" y="0"/>
                  </a:moveTo>
                  <a:lnTo>
                    <a:pt x="185501" y="23991"/>
                  </a:lnTo>
                  <a:lnTo>
                    <a:pt x="166915" y="22346"/>
                  </a:lnTo>
                  <a:lnTo>
                    <a:pt x="155624" y="22376"/>
                  </a:lnTo>
                  <a:lnTo>
                    <a:pt x="116209" y="42836"/>
                  </a:lnTo>
                  <a:lnTo>
                    <a:pt x="87335" y="72565"/>
                  </a:lnTo>
                  <a:lnTo>
                    <a:pt x="71374" y="94762"/>
                  </a:lnTo>
                  <a:lnTo>
                    <a:pt x="62149" y="23991"/>
                  </a:lnTo>
                  <a:lnTo>
                    <a:pt x="12607" y="23991"/>
                  </a:lnTo>
                  <a:lnTo>
                    <a:pt x="29531" y="134445"/>
                  </a:lnTo>
                  <a:lnTo>
                    <a:pt x="0" y="218743"/>
                  </a:lnTo>
                  <a:lnTo>
                    <a:pt x="58447" y="218743"/>
                  </a:lnTo>
                  <a:lnTo>
                    <a:pt x="72592" y="178135"/>
                  </a:lnTo>
                  <a:lnTo>
                    <a:pt x="77355" y="166195"/>
                  </a:lnTo>
                  <a:lnTo>
                    <a:pt x="103046" y="119979"/>
                  </a:lnTo>
                  <a:lnTo>
                    <a:pt x="137195" y="82449"/>
                  </a:lnTo>
                  <a:lnTo>
                    <a:pt x="171345" y="66149"/>
                  </a:lnTo>
                  <a:lnTo>
                    <a:pt x="163965" y="90141"/>
                  </a:lnTo>
                  <a:lnTo>
                    <a:pt x="231945" y="62754"/>
                  </a:lnTo>
                  <a:lnTo>
                    <a:pt x="193189" y="0"/>
                  </a:lnTo>
                  <a:close/>
                </a:path>
              </a:pathLst>
            </a:custGeom>
            <a:solidFill>
              <a:srgbClr val="FFF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55477" y="4085280"/>
              <a:ext cx="180340" cy="198120"/>
            </a:xfrm>
            <a:custGeom>
              <a:avLst/>
              <a:gdLst/>
              <a:ahLst/>
              <a:cxnLst/>
              <a:rect l="l" t="t" r="r" b="b"/>
              <a:pathLst>
                <a:path w="180340" h="198120">
                  <a:moveTo>
                    <a:pt x="179903" y="0"/>
                  </a:moveTo>
                  <a:lnTo>
                    <a:pt x="127298" y="0"/>
                  </a:lnTo>
                  <a:lnTo>
                    <a:pt x="86389" y="122443"/>
                  </a:lnTo>
                  <a:lnTo>
                    <a:pt x="84533" y="127371"/>
                  </a:lnTo>
                  <a:lnTo>
                    <a:pt x="82688" y="133829"/>
                  </a:lnTo>
                  <a:lnTo>
                    <a:pt x="76242" y="144600"/>
                  </a:lnTo>
                  <a:lnTo>
                    <a:pt x="71618" y="148595"/>
                  </a:lnTo>
                  <a:lnTo>
                    <a:pt x="56846" y="148595"/>
                  </a:lnTo>
                  <a:lnTo>
                    <a:pt x="55013" y="144600"/>
                  </a:lnTo>
                  <a:lnTo>
                    <a:pt x="55013" y="139060"/>
                  </a:lnTo>
                  <a:lnTo>
                    <a:pt x="55321" y="133829"/>
                  </a:lnTo>
                  <a:lnTo>
                    <a:pt x="59626" y="122137"/>
                  </a:lnTo>
                  <a:lnTo>
                    <a:pt x="100534" y="0"/>
                  </a:lnTo>
                  <a:lnTo>
                    <a:pt x="47929" y="0"/>
                  </a:lnTo>
                  <a:lnTo>
                    <a:pt x="5176" y="127065"/>
                  </a:lnTo>
                  <a:lnTo>
                    <a:pt x="0" y="147934"/>
                  </a:lnTo>
                  <a:lnTo>
                    <a:pt x="675" y="171054"/>
                  </a:lnTo>
                  <a:lnTo>
                    <a:pt x="14213" y="189792"/>
                  </a:lnTo>
                  <a:lnTo>
                    <a:pt x="47622" y="197512"/>
                  </a:lnTo>
                  <a:lnTo>
                    <a:pt x="86233" y="189792"/>
                  </a:lnTo>
                  <a:lnTo>
                    <a:pt x="112382" y="171054"/>
                  </a:lnTo>
                  <a:lnTo>
                    <a:pt x="128609" y="147934"/>
                  </a:lnTo>
                  <a:lnTo>
                    <a:pt x="137457" y="127065"/>
                  </a:lnTo>
                  <a:lnTo>
                    <a:pt x="179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56577" y="4083748"/>
              <a:ext cx="335915" cy="194945"/>
            </a:xfrm>
            <a:custGeom>
              <a:avLst/>
              <a:gdLst/>
              <a:ahLst/>
              <a:cxnLst/>
              <a:rect l="l" t="t" r="r" b="b"/>
              <a:pathLst>
                <a:path w="335915" h="194945">
                  <a:moveTo>
                    <a:pt x="241185" y="0"/>
                  </a:moveTo>
                  <a:lnTo>
                    <a:pt x="190106" y="0"/>
                  </a:lnTo>
                  <a:lnTo>
                    <a:pt x="133197" y="120599"/>
                  </a:lnTo>
                  <a:lnTo>
                    <a:pt x="154114" y="0"/>
                  </a:lnTo>
                  <a:lnTo>
                    <a:pt x="108902" y="0"/>
                  </a:lnTo>
                  <a:lnTo>
                    <a:pt x="62369" y="95491"/>
                  </a:lnTo>
                  <a:lnTo>
                    <a:pt x="54825" y="111493"/>
                  </a:lnTo>
                  <a:lnTo>
                    <a:pt x="50457" y="121526"/>
                  </a:lnTo>
                  <a:lnTo>
                    <a:pt x="73507" y="0"/>
                  </a:lnTo>
                  <a:lnTo>
                    <a:pt x="21539" y="0"/>
                  </a:lnTo>
                  <a:lnTo>
                    <a:pt x="0" y="194437"/>
                  </a:lnTo>
                  <a:lnTo>
                    <a:pt x="51054" y="194437"/>
                  </a:lnTo>
                  <a:lnTo>
                    <a:pt x="107365" y="72910"/>
                  </a:lnTo>
                  <a:lnTo>
                    <a:pt x="102870" y="97485"/>
                  </a:lnTo>
                  <a:lnTo>
                    <a:pt x="86131" y="194437"/>
                  </a:lnTo>
                  <a:lnTo>
                    <a:pt x="137198" y="194437"/>
                  </a:lnTo>
                  <a:lnTo>
                    <a:pt x="241185" y="0"/>
                  </a:lnTo>
                  <a:close/>
                </a:path>
                <a:path w="335915" h="194945">
                  <a:moveTo>
                    <a:pt x="335305" y="0"/>
                  </a:moveTo>
                  <a:lnTo>
                    <a:pt x="283629" y="0"/>
                  </a:lnTo>
                  <a:lnTo>
                    <a:pt x="283629" y="52298"/>
                  </a:lnTo>
                  <a:lnTo>
                    <a:pt x="271945" y="123367"/>
                  </a:lnTo>
                  <a:lnTo>
                    <a:pt x="245491" y="123367"/>
                  </a:lnTo>
                  <a:lnTo>
                    <a:pt x="283629" y="52298"/>
                  </a:lnTo>
                  <a:lnTo>
                    <a:pt x="283629" y="0"/>
                  </a:lnTo>
                  <a:lnTo>
                    <a:pt x="263639" y="0"/>
                  </a:lnTo>
                  <a:lnTo>
                    <a:pt x="159042" y="194132"/>
                  </a:lnTo>
                  <a:lnTo>
                    <a:pt x="207962" y="194132"/>
                  </a:lnTo>
                  <a:lnTo>
                    <a:pt x="224866" y="163360"/>
                  </a:lnTo>
                  <a:lnTo>
                    <a:pt x="263944" y="163360"/>
                  </a:lnTo>
                  <a:lnTo>
                    <a:pt x="256857" y="194754"/>
                  </a:lnTo>
                  <a:lnTo>
                    <a:pt x="312242" y="194754"/>
                  </a:lnTo>
                  <a:lnTo>
                    <a:pt x="315963" y="163360"/>
                  </a:lnTo>
                  <a:lnTo>
                    <a:pt x="320700" y="123367"/>
                  </a:lnTo>
                  <a:lnTo>
                    <a:pt x="329120" y="52298"/>
                  </a:lnTo>
                  <a:lnTo>
                    <a:pt x="335305" y="0"/>
                  </a:lnTo>
                  <a:close/>
                </a:path>
              </a:pathLst>
            </a:custGeom>
            <a:solidFill>
              <a:srgbClr val="FFF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72377" y="4081907"/>
              <a:ext cx="490220" cy="215900"/>
            </a:xfrm>
            <a:custGeom>
              <a:avLst/>
              <a:gdLst/>
              <a:ahLst/>
              <a:cxnLst/>
              <a:rect l="l" t="t" r="r" b="b"/>
              <a:pathLst>
                <a:path w="490220" h="215900">
                  <a:moveTo>
                    <a:pt x="209194" y="12611"/>
                  </a:moveTo>
                  <a:lnTo>
                    <a:pt x="200774" y="8216"/>
                  </a:lnTo>
                  <a:lnTo>
                    <a:pt x="190309" y="4229"/>
                  </a:lnTo>
                  <a:lnTo>
                    <a:pt x="179209" y="1270"/>
                  </a:lnTo>
                  <a:lnTo>
                    <a:pt x="168897" y="0"/>
                  </a:lnTo>
                  <a:lnTo>
                    <a:pt x="132181" y="5283"/>
                  </a:lnTo>
                  <a:lnTo>
                    <a:pt x="107480" y="20802"/>
                  </a:lnTo>
                  <a:lnTo>
                    <a:pt x="92887" y="39839"/>
                  </a:lnTo>
                  <a:lnTo>
                    <a:pt x="86448" y="55676"/>
                  </a:lnTo>
                  <a:lnTo>
                    <a:pt x="85267" y="64566"/>
                  </a:lnTo>
                  <a:lnTo>
                    <a:pt x="85331" y="74599"/>
                  </a:lnTo>
                  <a:lnTo>
                    <a:pt x="99542" y="112674"/>
                  </a:lnTo>
                  <a:lnTo>
                    <a:pt x="111671" y="125818"/>
                  </a:lnTo>
                  <a:lnTo>
                    <a:pt x="114134" y="136283"/>
                  </a:lnTo>
                  <a:lnTo>
                    <a:pt x="109207" y="147980"/>
                  </a:lnTo>
                  <a:lnTo>
                    <a:pt x="99364" y="151663"/>
                  </a:lnTo>
                  <a:lnTo>
                    <a:pt x="91059" y="152285"/>
                  </a:lnTo>
                  <a:lnTo>
                    <a:pt x="83832" y="152311"/>
                  </a:lnTo>
                  <a:lnTo>
                    <a:pt x="76568" y="151358"/>
                  </a:lnTo>
                  <a:lnTo>
                    <a:pt x="69469" y="149250"/>
                  </a:lnTo>
                  <a:lnTo>
                    <a:pt x="62750" y="145821"/>
                  </a:lnTo>
                  <a:lnTo>
                    <a:pt x="70446" y="121526"/>
                  </a:lnTo>
                  <a:lnTo>
                    <a:pt x="0" y="150444"/>
                  </a:lnTo>
                  <a:lnTo>
                    <a:pt x="39992" y="215353"/>
                  </a:lnTo>
                  <a:lnTo>
                    <a:pt x="47383" y="193509"/>
                  </a:lnTo>
                  <a:lnTo>
                    <a:pt x="56476" y="196608"/>
                  </a:lnTo>
                  <a:lnTo>
                    <a:pt x="66179" y="198932"/>
                  </a:lnTo>
                  <a:lnTo>
                    <a:pt x="76403" y="200393"/>
                  </a:lnTo>
                  <a:lnTo>
                    <a:pt x="87058" y="200888"/>
                  </a:lnTo>
                  <a:lnTo>
                    <a:pt x="121132" y="195707"/>
                  </a:lnTo>
                  <a:lnTo>
                    <a:pt x="149009" y="181546"/>
                  </a:lnTo>
                  <a:lnTo>
                    <a:pt x="167830" y="160528"/>
                  </a:lnTo>
                  <a:lnTo>
                    <a:pt x="174739" y="134747"/>
                  </a:lnTo>
                  <a:lnTo>
                    <a:pt x="173228" y="123418"/>
                  </a:lnTo>
                  <a:lnTo>
                    <a:pt x="169087" y="112864"/>
                  </a:lnTo>
                  <a:lnTo>
                    <a:pt x="162928" y="102946"/>
                  </a:lnTo>
                  <a:lnTo>
                    <a:pt x="149021" y="85471"/>
                  </a:lnTo>
                  <a:lnTo>
                    <a:pt x="143903" y="76682"/>
                  </a:lnTo>
                  <a:lnTo>
                    <a:pt x="141427" y="67310"/>
                  </a:lnTo>
                  <a:lnTo>
                    <a:pt x="143040" y="57531"/>
                  </a:lnTo>
                  <a:lnTo>
                    <a:pt x="148932" y="49288"/>
                  </a:lnTo>
                  <a:lnTo>
                    <a:pt x="158318" y="45148"/>
                  </a:lnTo>
                  <a:lnTo>
                    <a:pt x="171208" y="46189"/>
                  </a:lnTo>
                  <a:lnTo>
                    <a:pt x="187655" y="53517"/>
                  </a:lnTo>
                  <a:lnTo>
                    <a:pt x="209194" y="12611"/>
                  </a:lnTo>
                  <a:close/>
                </a:path>
                <a:path w="490220" h="215900">
                  <a:moveTo>
                    <a:pt x="490118" y="30353"/>
                  </a:moveTo>
                  <a:lnTo>
                    <a:pt x="481787" y="13716"/>
                  </a:lnTo>
                  <a:lnTo>
                    <a:pt x="465658" y="4978"/>
                  </a:lnTo>
                  <a:lnTo>
                    <a:pt x="444830" y="2451"/>
                  </a:lnTo>
                  <a:lnTo>
                    <a:pt x="442633" y="2451"/>
                  </a:lnTo>
                  <a:lnTo>
                    <a:pt x="442633" y="52654"/>
                  </a:lnTo>
                  <a:lnTo>
                    <a:pt x="441121" y="62445"/>
                  </a:lnTo>
                  <a:lnTo>
                    <a:pt x="435597" y="70535"/>
                  </a:lnTo>
                  <a:lnTo>
                    <a:pt x="428218" y="75412"/>
                  </a:lnTo>
                  <a:lnTo>
                    <a:pt x="422681" y="77101"/>
                  </a:lnTo>
                  <a:lnTo>
                    <a:pt x="422681" y="138137"/>
                  </a:lnTo>
                  <a:lnTo>
                    <a:pt x="419315" y="145923"/>
                  </a:lnTo>
                  <a:lnTo>
                    <a:pt x="413791" y="151053"/>
                  </a:lnTo>
                  <a:lnTo>
                    <a:pt x="406717" y="153885"/>
                  </a:lnTo>
                  <a:lnTo>
                    <a:pt x="398678" y="154749"/>
                  </a:lnTo>
                  <a:lnTo>
                    <a:pt x="384225" y="154749"/>
                  </a:lnTo>
                  <a:lnTo>
                    <a:pt x="396214" y="119367"/>
                  </a:lnTo>
                  <a:lnTo>
                    <a:pt x="408571" y="120129"/>
                  </a:lnTo>
                  <a:lnTo>
                    <a:pt x="417525" y="123672"/>
                  </a:lnTo>
                  <a:lnTo>
                    <a:pt x="422440" y="129743"/>
                  </a:lnTo>
                  <a:lnTo>
                    <a:pt x="422681" y="138137"/>
                  </a:lnTo>
                  <a:lnTo>
                    <a:pt x="422681" y="77101"/>
                  </a:lnTo>
                  <a:lnTo>
                    <a:pt x="420370" y="77800"/>
                  </a:lnTo>
                  <a:lnTo>
                    <a:pt x="413448" y="78447"/>
                  </a:lnTo>
                  <a:lnTo>
                    <a:pt x="406069" y="78447"/>
                  </a:lnTo>
                  <a:lnTo>
                    <a:pt x="417753" y="44602"/>
                  </a:lnTo>
                  <a:lnTo>
                    <a:pt x="426669" y="44602"/>
                  </a:lnTo>
                  <a:lnTo>
                    <a:pt x="432955" y="45059"/>
                  </a:lnTo>
                  <a:lnTo>
                    <a:pt x="439089" y="47294"/>
                  </a:lnTo>
                  <a:lnTo>
                    <a:pt x="442633" y="52654"/>
                  </a:lnTo>
                  <a:lnTo>
                    <a:pt x="442633" y="2451"/>
                  </a:lnTo>
                  <a:lnTo>
                    <a:pt x="380542" y="2451"/>
                  </a:lnTo>
                  <a:lnTo>
                    <a:pt x="315620" y="196900"/>
                  </a:lnTo>
                  <a:lnTo>
                    <a:pt x="390994" y="196900"/>
                  </a:lnTo>
                  <a:lnTo>
                    <a:pt x="413219" y="194881"/>
                  </a:lnTo>
                  <a:lnTo>
                    <a:pt x="437324" y="187439"/>
                  </a:lnTo>
                  <a:lnTo>
                    <a:pt x="458952" y="172491"/>
                  </a:lnTo>
                  <a:lnTo>
                    <a:pt x="469658" y="154749"/>
                  </a:lnTo>
                  <a:lnTo>
                    <a:pt x="473748" y="147980"/>
                  </a:lnTo>
                  <a:lnTo>
                    <a:pt x="475805" y="131114"/>
                  </a:lnTo>
                  <a:lnTo>
                    <a:pt x="472681" y="119367"/>
                  </a:lnTo>
                  <a:lnTo>
                    <a:pt x="471779" y="115938"/>
                  </a:lnTo>
                  <a:lnTo>
                    <a:pt x="463664" y="103720"/>
                  </a:lnTo>
                  <a:lnTo>
                    <a:pt x="453440" y="95681"/>
                  </a:lnTo>
                  <a:lnTo>
                    <a:pt x="464527" y="89306"/>
                  </a:lnTo>
                  <a:lnTo>
                    <a:pt x="474560" y="79603"/>
                  </a:lnTo>
                  <a:lnTo>
                    <a:pt x="475361" y="78447"/>
                  </a:lnTo>
                  <a:lnTo>
                    <a:pt x="482561" y="68160"/>
                  </a:lnTo>
                  <a:lnTo>
                    <a:pt x="487591" y="56591"/>
                  </a:lnTo>
                  <a:lnTo>
                    <a:pt x="488746" y="44602"/>
                  </a:lnTo>
                  <a:lnTo>
                    <a:pt x="490118" y="303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65111" y="426094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5">
                  <a:moveTo>
                    <a:pt x="15067" y="0"/>
                  </a:moveTo>
                  <a:lnTo>
                    <a:pt x="4304" y="0"/>
                  </a:lnTo>
                  <a:lnTo>
                    <a:pt x="0" y="4001"/>
                  </a:lnTo>
                  <a:lnTo>
                    <a:pt x="0" y="15079"/>
                  </a:lnTo>
                  <a:lnTo>
                    <a:pt x="4304" y="19387"/>
                  </a:lnTo>
                  <a:lnTo>
                    <a:pt x="15067" y="19387"/>
                  </a:lnTo>
                  <a:lnTo>
                    <a:pt x="16610" y="17847"/>
                  </a:lnTo>
                  <a:lnTo>
                    <a:pt x="5227" y="17847"/>
                  </a:lnTo>
                  <a:lnTo>
                    <a:pt x="1844" y="14155"/>
                  </a:lnTo>
                  <a:lnTo>
                    <a:pt x="1844" y="4924"/>
                  </a:lnTo>
                  <a:lnTo>
                    <a:pt x="5227" y="1539"/>
                  </a:lnTo>
                  <a:lnTo>
                    <a:pt x="16728" y="1539"/>
                  </a:lnTo>
                  <a:lnTo>
                    <a:pt x="15067" y="0"/>
                  </a:lnTo>
                  <a:close/>
                </a:path>
                <a:path w="19684" h="19685">
                  <a:moveTo>
                    <a:pt x="16728" y="1539"/>
                  </a:moveTo>
                  <a:lnTo>
                    <a:pt x="14144" y="1539"/>
                  </a:lnTo>
                  <a:lnTo>
                    <a:pt x="17527" y="4924"/>
                  </a:lnTo>
                  <a:lnTo>
                    <a:pt x="17527" y="14155"/>
                  </a:lnTo>
                  <a:lnTo>
                    <a:pt x="14144" y="17847"/>
                  </a:lnTo>
                  <a:lnTo>
                    <a:pt x="16610" y="17847"/>
                  </a:lnTo>
                  <a:lnTo>
                    <a:pt x="19383" y="15079"/>
                  </a:lnTo>
                  <a:lnTo>
                    <a:pt x="19383" y="4001"/>
                  </a:lnTo>
                  <a:lnTo>
                    <a:pt x="16728" y="1539"/>
                  </a:lnTo>
                  <a:close/>
                </a:path>
                <a:path w="19684" h="19685">
                  <a:moveTo>
                    <a:pt x="12914" y="4001"/>
                  </a:moveTo>
                  <a:lnTo>
                    <a:pt x="6149" y="4001"/>
                  </a:lnTo>
                  <a:lnTo>
                    <a:pt x="6149" y="15079"/>
                  </a:lnTo>
                  <a:lnTo>
                    <a:pt x="7687" y="15079"/>
                  </a:lnTo>
                  <a:lnTo>
                    <a:pt x="7687" y="10463"/>
                  </a:lnTo>
                  <a:lnTo>
                    <a:pt x="11377" y="10463"/>
                  </a:lnTo>
                  <a:lnTo>
                    <a:pt x="12914" y="10155"/>
                  </a:lnTo>
                  <a:lnTo>
                    <a:pt x="14144" y="9232"/>
                  </a:lnTo>
                  <a:lnTo>
                    <a:pt x="14144" y="8924"/>
                  </a:lnTo>
                  <a:lnTo>
                    <a:pt x="7687" y="8924"/>
                  </a:lnTo>
                  <a:lnTo>
                    <a:pt x="7687" y="5539"/>
                  </a:lnTo>
                  <a:lnTo>
                    <a:pt x="14144" y="5539"/>
                  </a:lnTo>
                  <a:lnTo>
                    <a:pt x="14144" y="4924"/>
                  </a:lnTo>
                  <a:lnTo>
                    <a:pt x="12914" y="4001"/>
                  </a:lnTo>
                  <a:close/>
                </a:path>
                <a:path w="19684" h="19685">
                  <a:moveTo>
                    <a:pt x="11377" y="10463"/>
                  </a:moveTo>
                  <a:lnTo>
                    <a:pt x="9532" y="10463"/>
                  </a:lnTo>
                  <a:lnTo>
                    <a:pt x="12607" y="15079"/>
                  </a:lnTo>
                  <a:lnTo>
                    <a:pt x="14452" y="15079"/>
                  </a:lnTo>
                  <a:lnTo>
                    <a:pt x="11377" y="10463"/>
                  </a:lnTo>
                  <a:close/>
                </a:path>
                <a:path w="19684" h="19685">
                  <a:moveTo>
                    <a:pt x="14144" y="5539"/>
                  </a:moveTo>
                  <a:lnTo>
                    <a:pt x="11069" y="5539"/>
                  </a:lnTo>
                  <a:lnTo>
                    <a:pt x="12299" y="5847"/>
                  </a:lnTo>
                  <a:lnTo>
                    <a:pt x="12299" y="8924"/>
                  </a:lnTo>
                  <a:lnTo>
                    <a:pt x="14144" y="8924"/>
                  </a:lnTo>
                  <a:lnTo>
                    <a:pt x="14144" y="5539"/>
                  </a:lnTo>
                  <a:close/>
                </a:path>
              </a:pathLst>
            </a:custGeom>
            <a:solidFill>
              <a:srgbClr val="FFF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5307" y="3974177"/>
              <a:ext cx="373549" cy="20402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02979" y="3974177"/>
              <a:ext cx="162765" cy="20402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827357" y="4106192"/>
              <a:ext cx="386715" cy="168910"/>
            </a:xfrm>
            <a:custGeom>
              <a:avLst/>
              <a:gdLst/>
              <a:ahLst/>
              <a:cxnLst/>
              <a:rect l="l" t="t" r="r" b="b"/>
              <a:pathLst>
                <a:path w="386715" h="168910">
                  <a:moveTo>
                    <a:pt x="199386" y="0"/>
                  </a:moveTo>
                  <a:lnTo>
                    <a:pt x="187224" y="1823"/>
                  </a:lnTo>
                  <a:lnTo>
                    <a:pt x="155689" y="12097"/>
                  </a:lnTo>
                  <a:lnTo>
                    <a:pt x="132419" y="18122"/>
                  </a:lnTo>
                  <a:lnTo>
                    <a:pt x="85892" y="28550"/>
                  </a:lnTo>
                  <a:lnTo>
                    <a:pt x="0" y="47178"/>
                  </a:lnTo>
                  <a:lnTo>
                    <a:pt x="0" y="89834"/>
                  </a:lnTo>
                  <a:lnTo>
                    <a:pt x="5378" y="93932"/>
                  </a:lnTo>
                  <a:lnTo>
                    <a:pt x="15609" y="98789"/>
                  </a:lnTo>
                  <a:lnTo>
                    <a:pt x="45477" y="111665"/>
                  </a:lnTo>
                  <a:lnTo>
                    <a:pt x="139204" y="150424"/>
                  </a:lnTo>
                  <a:lnTo>
                    <a:pt x="167658" y="162630"/>
                  </a:lnTo>
                  <a:lnTo>
                    <a:pt x="180368" y="167395"/>
                  </a:lnTo>
                  <a:lnTo>
                    <a:pt x="192526" y="168678"/>
                  </a:lnTo>
                  <a:lnTo>
                    <a:pt x="205581" y="166154"/>
                  </a:lnTo>
                  <a:lnTo>
                    <a:pt x="220981" y="159498"/>
                  </a:lnTo>
                  <a:lnTo>
                    <a:pt x="251123" y="145711"/>
                  </a:lnTo>
                  <a:lnTo>
                    <a:pt x="342138" y="106610"/>
                  </a:lnTo>
                  <a:lnTo>
                    <a:pt x="371098" y="93441"/>
                  </a:lnTo>
                  <a:lnTo>
                    <a:pt x="381588" y="88011"/>
                  </a:lnTo>
                  <a:lnTo>
                    <a:pt x="386208" y="83805"/>
                  </a:lnTo>
                  <a:lnTo>
                    <a:pt x="386227" y="41738"/>
                  </a:lnTo>
                  <a:lnTo>
                    <a:pt x="355307" y="33994"/>
                  </a:lnTo>
                  <a:lnTo>
                    <a:pt x="255343" y="13047"/>
                  </a:lnTo>
                  <a:lnTo>
                    <a:pt x="224295" y="5254"/>
                  </a:lnTo>
                  <a:lnTo>
                    <a:pt x="210880" y="1159"/>
                  </a:lnTo>
                  <a:lnTo>
                    <a:pt x="199386" y="0"/>
                  </a:lnTo>
                  <a:close/>
                </a:path>
              </a:pathLst>
            </a:custGeom>
            <a:solidFill>
              <a:srgbClr val="A31E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827356" y="4074908"/>
              <a:ext cx="386715" cy="161290"/>
            </a:xfrm>
            <a:custGeom>
              <a:avLst/>
              <a:gdLst/>
              <a:ahLst/>
              <a:cxnLst/>
              <a:rect l="l" t="t" r="r" b="b"/>
              <a:pathLst>
                <a:path w="386715" h="161289">
                  <a:moveTo>
                    <a:pt x="199388" y="0"/>
                  </a:moveTo>
                  <a:lnTo>
                    <a:pt x="140032" y="18600"/>
                  </a:lnTo>
                  <a:lnTo>
                    <a:pt x="14820" y="67053"/>
                  </a:lnTo>
                  <a:lnTo>
                    <a:pt x="0" y="78456"/>
                  </a:lnTo>
                  <a:lnTo>
                    <a:pt x="4024" y="84496"/>
                  </a:lnTo>
                  <a:lnTo>
                    <a:pt x="15610" y="91283"/>
                  </a:lnTo>
                  <a:lnTo>
                    <a:pt x="45478" y="104157"/>
                  </a:lnTo>
                  <a:lnTo>
                    <a:pt x="139204" y="142918"/>
                  </a:lnTo>
                  <a:lnTo>
                    <a:pt x="167660" y="155123"/>
                  </a:lnTo>
                  <a:lnTo>
                    <a:pt x="180370" y="159887"/>
                  </a:lnTo>
                  <a:lnTo>
                    <a:pt x="192528" y="161171"/>
                  </a:lnTo>
                  <a:lnTo>
                    <a:pt x="205583" y="158647"/>
                  </a:lnTo>
                  <a:lnTo>
                    <a:pt x="220983" y="151991"/>
                  </a:lnTo>
                  <a:lnTo>
                    <a:pt x="251125" y="138204"/>
                  </a:lnTo>
                  <a:lnTo>
                    <a:pt x="342140" y="99101"/>
                  </a:lnTo>
                  <a:lnTo>
                    <a:pt x="371099" y="85935"/>
                  </a:lnTo>
                  <a:lnTo>
                    <a:pt x="382574" y="78709"/>
                  </a:lnTo>
                  <a:lnTo>
                    <a:pt x="386226" y="72671"/>
                  </a:lnTo>
                  <a:lnTo>
                    <a:pt x="382248" y="67262"/>
                  </a:lnTo>
                  <a:lnTo>
                    <a:pt x="370834" y="61926"/>
                  </a:lnTo>
                  <a:lnTo>
                    <a:pt x="224296" y="5245"/>
                  </a:lnTo>
                  <a:lnTo>
                    <a:pt x="210882" y="1154"/>
                  </a:lnTo>
                  <a:lnTo>
                    <a:pt x="199388" y="0"/>
                  </a:lnTo>
                  <a:close/>
                </a:path>
              </a:pathLst>
            </a:custGeom>
            <a:solidFill>
              <a:srgbClr val="D7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27357" y="4042952"/>
              <a:ext cx="386715" cy="168910"/>
            </a:xfrm>
            <a:custGeom>
              <a:avLst/>
              <a:gdLst/>
              <a:ahLst/>
              <a:cxnLst/>
              <a:rect l="l" t="t" r="r" b="b"/>
              <a:pathLst>
                <a:path w="386715" h="168910">
                  <a:moveTo>
                    <a:pt x="199386" y="0"/>
                  </a:moveTo>
                  <a:lnTo>
                    <a:pt x="187224" y="1823"/>
                  </a:lnTo>
                  <a:lnTo>
                    <a:pt x="155689" y="12098"/>
                  </a:lnTo>
                  <a:lnTo>
                    <a:pt x="132419" y="18126"/>
                  </a:lnTo>
                  <a:lnTo>
                    <a:pt x="85892" y="28554"/>
                  </a:lnTo>
                  <a:lnTo>
                    <a:pt x="0" y="47178"/>
                  </a:lnTo>
                  <a:lnTo>
                    <a:pt x="0" y="89838"/>
                  </a:lnTo>
                  <a:lnTo>
                    <a:pt x="5378" y="93931"/>
                  </a:lnTo>
                  <a:lnTo>
                    <a:pt x="15609" y="98790"/>
                  </a:lnTo>
                  <a:lnTo>
                    <a:pt x="45476" y="111666"/>
                  </a:lnTo>
                  <a:lnTo>
                    <a:pt x="139203" y="150426"/>
                  </a:lnTo>
                  <a:lnTo>
                    <a:pt x="167658" y="162629"/>
                  </a:lnTo>
                  <a:lnTo>
                    <a:pt x="180368" y="167394"/>
                  </a:lnTo>
                  <a:lnTo>
                    <a:pt x="192526" y="168678"/>
                  </a:lnTo>
                  <a:lnTo>
                    <a:pt x="205581" y="166155"/>
                  </a:lnTo>
                  <a:lnTo>
                    <a:pt x="220981" y="159501"/>
                  </a:lnTo>
                  <a:lnTo>
                    <a:pt x="251123" y="145713"/>
                  </a:lnTo>
                  <a:lnTo>
                    <a:pt x="342138" y="106610"/>
                  </a:lnTo>
                  <a:lnTo>
                    <a:pt x="371098" y="93442"/>
                  </a:lnTo>
                  <a:lnTo>
                    <a:pt x="381588" y="88009"/>
                  </a:lnTo>
                  <a:lnTo>
                    <a:pt x="386208" y="83803"/>
                  </a:lnTo>
                  <a:lnTo>
                    <a:pt x="386227" y="41735"/>
                  </a:lnTo>
                  <a:lnTo>
                    <a:pt x="355307" y="33988"/>
                  </a:lnTo>
                  <a:lnTo>
                    <a:pt x="255343" y="13050"/>
                  </a:lnTo>
                  <a:lnTo>
                    <a:pt x="224295" y="5262"/>
                  </a:lnTo>
                  <a:lnTo>
                    <a:pt x="210880" y="1160"/>
                  </a:lnTo>
                  <a:lnTo>
                    <a:pt x="199386" y="0"/>
                  </a:lnTo>
                  <a:close/>
                </a:path>
              </a:pathLst>
            </a:custGeom>
            <a:solidFill>
              <a:srgbClr val="A31E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827356" y="4011668"/>
              <a:ext cx="386715" cy="161290"/>
            </a:xfrm>
            <a:custGeom>
              <a:avLst/>
              <a:gdLst/>
              <a:ahLst/>
              <a:cxnLst/>
              <a:rect l="l" t="t" r="r" b="b"/>
              <a:pathLst>
                <a:path w="386715" h="161289">
                  <a:moveTo>
                    <a:pt x="199388" y="0"/>
                  </a:moveTo>
                  <a:lnTo>
                    <a:pt x="140032" y="18604"/>
                  </a:lnTo>
                  <a:lnTo>
                    <a:pt x="14820" y="67055"/>
                  </a:lnTo>
                  <a:lnTo>
                    <a:pt x="0" y="78459"/>
                  </a:lnTo>
                  <a:lnTo>
                    <a:pt x="4024" y="84497"/>
                  </a:lnTo>
                  <a:lnTo>
                    <a:pt x="15610" y="91281"/>
                  </a:lnTo>
                  <a:lnTo>
                    <a:pt x="45478" y="104157"/>
                  </a:lnTo>
                  <a:lnTo>
                    <a:pt x="139204" y="142917"/>
                  </a:lnTo>
                  <a:lnTo>
                    <a:pt x="167660" y="155123"/>
                  </a:lnTo>
                  <a:lnTo>
                    <a:pt x="180370" y="159886"/>
                  </a:lnTo>
                  <a:lnTo>
                    <a:pt x="192528" y="161169"/>
                  </a:lnTo>
                  <a:lnTo>
                    <a:pt x="205583" y="158647"/>
                  </a:lnTo>
                  <a:lnTo>
                    <a:pt x="220983" y="151993"/>
                  </a:lnTo>
                  <a:lnTo>
                    <a:pt x="251125" y="138204"/>
                  </a:lnTo>
                  <a:lnTo>
                    <a:pt x="342140" y="99102"/>
                  </a:lnTo>
                  <a:lnTo>
                    <a:pt x="371099" y="85933"/>
                  </a:lnTo>
                  <a:lnTo>
                    <a:pt x="382574" y="78706"/>
                  </a:lnTo>
                  <a:lnTo>
                    <a:pt x="386226" y="72667"/>
                  </a:lnTo>
                  <a:lnTo>
                    <a:pt x="382248" y="67258"/>
                  </a:lnTo>
                  <a:lnTo>
                    <a:pt x="370834" y="61920"/>
                  </a:lnTo>
                  <a:lnTo>
                    <a:pt x="224296" y="5245"/>
                  </a:lnTo>
                  <a:lnTo>
                    <a:pt x="210882" y="1154"/>
                  </a:lnTo>
                  <a:lnTo>
                    <a:pt x="199388" y="0"/>
                  </a:lnTo>
                  <a:close/>
                </a:path>
              </a:pathLst>
            </a:custGeom>
            <a:solidFill>
              <a:srgbClr val="D7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27357" y="3977370"/>
              <a:ext cx="386715" cy="168910"/>
            </a:xfrm>
            <a:custGeom>
              <a:avLst/>
              <a:gdLst/>
              <a:ahLst/>
              <a:cxnLst/>
              <a:rect l="l" t="t" r="r" b="b"/>
              <a:pathLst>
                <a:path w="386715" h="168910">
                  <a:moveTo>
                    <a:pt x="199386" y="0"/>
                  </a:moveTo>
                  <a:lnTo>
                    <a:pt x="187224" y="1824"/>
                  </a:lnTo>
                  <a:lnTo>
                    <a:pt x="155689" y="12097"/>
                  </a:lnTo>
                  <a:lnTo>
                    <a:pt x="132419" y="18121"/>
                  </a:lnTo>
                  <a:lnTo>
                    <a:pt x="85892" y="28549"/>
                  </a:lnTo>
                  <a:lnTo>
                    <a:pt x="0" y="47180"/>
                  </a:lnTo>
                  <a:lnTo>
                    <a:pt x="0" y="89842"/>
                  </a:lnTo>
                  <a:lnTo>
                    <a:pt x="5378" y="93942"/>
                  </a:lnTo>
                  <a:lnTo>
                    <a:pt x="15609" y="98795"/>
                  </a:lnTo>
                  <a:lnTo>
                    <a:pt x="45476" y="111666"/>
                  </a:lnTo>
                  <a:lnTo>
                    <a:pt x="139203" y="150426"/>
                  </a:lnTo>
                  <a:lnTo>
                    <a:pt x="167658" y="162631"/>
                  </a:lnTo>
                  <a:lnTo>
                    <a:pt x="180368" y="167396"/>
                  </a:lnTo>
                  <a:lnTo>
                    <a:pt x="192526" y="168680"/>
                  </a:lnTo>
                  <a:lnTo>
                    <a:pt x="205581" y="166157"/>
                  </a:lnTo>
                  <a:lnTo>
                    <a:pt x="220981" y="159503"/>
                  </a:lnTo>
                  <a:lnTo>
                    <a:pt x="251123" y="145715"/>
                  </a:lnTo>
                  <a:lnTo>
                    <a:pt x="342138" y="106609"/>
                  </a:lnTo>
                  <a:lnTo>
                    <a:pt x="371098" y="93434"/>
                  </a:lnTo>
                  <a:lnTo>
                    <a:pt x="381588" y="88017"/>
                  </a:lnTo>
                  <a:lnTo>
                    <a:pt x="386208" y="83803"/>
                  </a:lnTo>
                  <a:lnTo>
                    <a:pt x="386227" y="41744"/>
                  </a:lnTo>
                  <a:lnTo>
                    <a:pt x="355307" y="33995"/>
                  </a:lnTo>
                  <a:lnTo>
                    <a:pt x="255343" y="13044"/>
                  </a:lnTo>
                  <a:lnTo>
                    <a:pt x="224295" y="5252"/>
                  </a:lnTo>
                  <a:lnTo>
                    <a:pt x="210880" y="1159"/>
                  </a:lnTo>
                  <a:lnTo>
                    <a:pt x="199386" y="0"/>
                  </a:lnTo>
                  <a:close/>
                </a:path>
              </a:pathLst>
            </a:custGeom>
            <a:solidFill>
              <a:srgbClr val="A31E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27356" y="3946089"/>
              <a:ext cx="386715" cy="161290"/>
            </a:xfrm>
            <a:custGeom>
              <a:avLst/>
              <a:gdLst/>
              <a:ahLst/>
              <a:cxnLst/>
              <a:rect l="l" t="t" r="r" b="b"/>
              <a:pathLst>
                <a:path w="386715" h="161289">
                  <a:moveTo>
                    <a:pt x="199388" y="0"/>
                  </a:moveTo>
                  <a:lnTo>
                    <a:pt x="140032" y="18602"/>
                  </a:lnTo>
                  <a:lnTo>
                    <a:pt x="14820" y="67044"/>
                  </a:lnTo>
                  <a:lnTo>
                    <a:pt x="0" y="78454"/>
                  </a:lnTo>
                  <a:lnTo>
                    <a:pt x="4024" y="84499"/>
                  </a:lnTo>
                  <a:lnTo>
                    <a:pt x="15610" y="91290"/>
                  </a:lnTo>
                  <a:lnTo>
                    <a:pt x="45478" y="104159"/>
                  </a:lnTo>
                  <a:lnTo>
                    <a:pt x="139205" y="142916"/>
                  </a:lnTo>
                  <a:lnTo>
                    <a:pt x="167660" y="155122"/>
                  </a:lnTo>
                  <a:lnTo>
                    <a:pt x="180370" y="159885"/>
                  </a:lnTo>
                  <a:lnTo>
                    <a:pt x="192528" y="161167"/>
                  </a:lnTo>
                  <a:lnTo>
                    <a:pt x="205583" y="158644"/>
                  </a:lnTo>
                  <a:lnTo>
                    <a:pt x="220983" y="151990"/>
                  </a:lnTo>
                  <a:lnTo>
                    <a:pt x="251125" y="138200"/>
                  </a:lnTo>
                  <a:lnTo>
                    <a:pt x="342140" y="99095"/>
                  </a:lnTo>
                  <a:lnTo>
                    <a:pt x="371099" y="85929"/>
                  </a:lnTo>
                  <a:lnTo>
                    <a:pt x="382574" y="78706"/>
                  </a:lnTo>
                  <a:lnTo>
                    <a:pt x="386226" y="72665"/>
                  </a:lnTo>
                  <a:lnTo>
                    <a:pt x="382248" y="67257"/>
                  </a:lnTo>
                  <a:lnTo>
                    <a:pt x="370834" y="61927"/>
                  </a:lnTo>
                  <a:lnTo>
                    <a:pt x="224296" y="5252"/>
                  </a:lnTo>
                  <a:lnTo>
                    <a:pt x="210882" y="1159"/>
                  </a:lnTo>
                  <a:lnTo>
                    <a:pt x="199388" y="0"/>
                  </a:lnTo>
                  <a:close/>
                </a:path>
              </a:pathLst>
            </a:custGeom>
            <a:solidFill>
              <a:srgbClr val="D7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3688" y="3966409"/>
              <a:ext cx="269909" cy="11513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415177" y="2693433"/>
              <a:ext cx="264160" cy="180975"/>
            </a:xfrm>
            <a:custGeom>
              <a:avLst/>
              <a:gdLst/>
              <a:ahLst/>
              <a:cxnLst/>
              <a:rect l="l" t="t" r="r" b="b"/>
              <a:pathLst>
                <a:path w="264159" h="180975">
                  <a:moveTo>
                    <a:pt x="225779" y="0"/>
                  </a:moveTo>
                  <a:lnTo>
                    <a:pt x="209650" y="2135"/>
                  </a:lnTo>
                  <a:lnTo>
                    <a:pt x="197290" y="9551"/>
                  </a:lnTo>
                  <a:lnTo>
                    <a:pt x="188781" y="21839"/>
                  </a:lnTo>
                  <a:lnTo>
                    <a:pt x="130812" y="150731"/>
                  </a:lnTo>
                  <a:lnTo>
                    <a:pt x="74871" y="21839"/>
                  </a:lnTo>
                  <a:lnTo>
                    <a:pt x="66482" y="9551"/>
                  </a:lnTo>
                  <a:lnTo>
                    <a:pt x="54078" y="2135"/>
                  </a:lnTo>
                  <a:lnTo>
                    <a:pt x="37796" y="0"/>
                  </a:lnTo>
                  <a:lnTo>
                    <a:pt x="17770" y="3552"/>
                  </a:lnTo>
                  <a:lnTo>
                    <a:pt x="9955" y="7047"/>
                  </a:lnTo>
                  <a:lnTo>
                    <a:pt x="4406" y="12149"/>
                  </a:lnTo>
                  <a:lnTo>
                    <a:pt x="1097" y="19267"/>
                  </a:lnTo>
                  <a:lnTo>
                    <a:pt x="0" y="28805"/>
                  </a:lnTo>
                  <a:lnTo>
                    <a:pt x="0" y="178309"/>
                  </a:lnTo>
                  <a:lnTo>
                    <a:pt x="37874" y="178309"/>
                  </a:lnTo>
                  <a:lnTo>
                    <a:pt x="37874" y="28805"/>
                  </a:lnTo>
                  <a:lnTo>
                    <a:pt x="97015" y="159150"/>
                  </a:lnTo>
                  <a:lnTo>
                    <a:pt x="102681" y="169120"/>
                  </a:lnTo>
                  <a:lnTo>
                    <a:pt x="110014" y="175768"/>
                  </a:lnTo>
                  <a:lnTo>
                    <a:pt x="119587" y="179478"/>
                  </a:lnTo>
                  <a:lnTo>
                    <a:pt x="131974" y="180630"/>
                  </a:lnTo>
                  <a:lnTo>
                    <a:pt x="144273" y="179478"/>
                  </a:lnTo>
                  <a:lnTo>
                    <a:pt x="153678" y="175768"/>
                  </a:lnTo>
                  <a:lnTo>
                    <a:pt x="160897" y="169120"/>
                  </a:lnTo>
                  <a:lnTo>
                    <a:pt x="166642" y="159150"/>
                  </a:lnTo>
                  <a:lnTo>
                    <a:pt x="225490" y="28805"/>
                  </a:lnTo>
                  <a:lnTo>
                    <a:pt x="225490" y="178309"/>
                  </a:lnTo>
                  <a:lnTo>
                    <a:pt x="263658" y="178309"/>
                  </a:lnTo>
                  <a:lnTo>
                    <a:pt x="263658" y="28805"/>
                  </a:lnTo>
                  <a:lnTo>
                    <a:pt x="262556" y="19267"/>
                  </a:lnTo>
                  <a:lnTo>
                    <a:pt x="259214" y="12149"/>
                  </a:lnTo>
                  <a:lnTo>
                    <a:pt x="253578" y="7047"/>
                  </a:lnTo>
                  <a:lnTo>
                    <a:pt x="245593" y="3552"/>
                  </a:lnTo>
                  <a:lnTo>
                    <a:pt x="225779" y="0"/>
                  </a:lnTo>
                  <a:close/>
                </a:path>
              </a:pathLst>
            </a:custGeom>
            <a:solidFill>
              <a:srgbClr val="005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10299" y="2749531"/>
              <a:ext cx="181221" cy="17504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134822" y="2333269"/>
              <a:ext cx="427990" cy="416559"/>
            </a:xfrm>
            <a:custGeom>
              <a:avLst/>
              <a:gdLst/>
              <a:ahLst/>
              <a:cxnLst/>
              <a:rect l="l" t="t" r="r" b="b"/>
              <a:pathLst>
                <a:path w="427990" h="416560">
                  <a:moveTo>
                    <a:pt x="108331" y="82156"/>
                  </a:moveTo>
                  <a:lnTo>
                    <a:pt x="106591" y="80111"/>
                  </a:lnTo>
                  <a:lnTo>
                    <a:pt x="106286" y="78079"/>
                  </a:lnTo>
                  <a:lnTo>
                    <a:pt x="104800" y="76034"/>
                  </a:lnTo>
                  <a:lnTo>
                    <a:pt x="103060" y="73126"/>
                  </a:lnTo>
                  <a:lnTo>
                    <a:pt x="99275" y="71691"/>
                  </a:lnTo>
                  <a:lnTo>
                    <a:pt x="96964" y="69354"/>
                  </a:lnTo>
                  <a:lnTo>
                    <a:pt x="92011" y="69354"/>
                  </a:lnTo>
                  <a:lnTo>
                    <a:pt x="88519" y="69913"/>
                  </a:lnTo>
                  <a:lnTo>
                    <a:pt x="85001" y="70827"/>
                  </a:lnTo>
                  <a:lnTo>
                    <a:pt x="85001" y="71399"/>
                  </a:lnTo>
                  <a:lnTo>
                    <a:pt x="85610" y="71399"/>
                  </a:lnTo>
                  <a:lnTo>
                    <a:pt x="87909" y="76034"/>
                  </a:lnTo>
                  <a:lnTo>
                    <a:pt x="92011" y="79248"/>
                  </a:lnTo>
                  <a:lnTo>
                    <a:pt x="94919" y="83273"/>
                  </a:lnTo>
                  <a:lnTo>
                    <a:pt x="97231" y="87922"/>
                  </a:lnTo>
                  <a:lnTo>
                    <a:pt x="99275" y="92557"/>
                  </a:lnTo>
                  <a:lnTo>
                    <a:pt x="101625" y="97243"/>
                  </a:lnTo>
                  <a:lnTo>
                    <a:pt x="101892" y="96939"/>
                  </a:lnTo>
                  <a:lnTo>
                    <a:pt x="102196" y="96634"/>
                  </a:lnTo>
                  <a:lnTo>
                    <a:pt x="106286" y="93738"/>
                  </a:lnTo>
                  <a:lnTo>
                    <a:pt x="108331" y="89090"/>
                  </a:lnTo>
                  <a:lnTo>
                    <a:pt x="108331" y="82156"/>
                  </a:lnTo>
                  <a:close/>
                </a:path>
                <a:path w="427990" h="416560">
                  <a:moveTo>
                    <a:pt x="191909" y="336550"/>
                  </a:moveTo>
                  <a:lnTo>
                    <a:pt x="191109" y="336207"/>
                  </a:lnTo>
                  <a:lnTo>
                    <a:pt x="191338" y="336550"/>
                  </a:lnTo>
                  <a:lnTo>
                    <a:pt x="191909" y="336550"/>
                  </a:lnTo>
                  <a:close/>
                </a:path>
                <a:path w="427990" h="416560">
                  <a:moveTo>
                    <a:pt x="427888" y="416560"/>
                  </a:moveTo>
                  <a:lnTo>
                    <a:pt x="425881" y="414020"/>
                  </a:lnTo>
                  <a:lnTo>
                    <a:pt x="425272" y="410210"/>
                  </a:lnTo>
                  <a:lnTo>
                    <a:pt x="423227" y="407670"/>
                  </a:lnTo>
                  <a:lnTo>
                    <a:pt x="420306" y="403860"/>
                  </a:lnTo>
                  <a:lnTo>
                    <a:pt x="417436" y="401320"/>
                  </a:lnTo>
                  <a:lnTo>
                    <a:pt x="414528" y="398780"/>
                  </a:lnTo>
                  <a:lnTo>
                    <a:pt x="407822" y="389890"/>
                  </a:lnTo>
                  <a:lnTo>
                    <a:pt x="400469" y="382270"/>
                  </a:lnTo>
                  <a:lnTo>
                    <a:pt x="392569" y="375920"/>
                  </a:lnTo>
                  <a:lnTo>
                    <a:pt x="384225" y="369570"/>
                  </a:lnTo>
                  <a:lnTo>
                    <a:pt x="375577" y="364490"/>
                  </a:lnTo>
                  <a:lnTo>
                    <a:pt x="365379" y="358140"/>
                  </a:lnTo>
                  <a:lnTo>
                    <a:pt x="356222" y="350520"/>
                  </a:lnTo>
                  <a:lnTo>
                    <a:pt x="350710" y="342900"/>
                  </a:lnTo>
                  <a:lnTo>
                    <a:pt x="356539" y="342900"/>
                  </a:lnTo>
                  <a:lnTo>
                    <a:pt x="364109" y="340360"/>
                  </a:lnTo>
                  <a:lnTo>
                    <a:pt x="370205" y="337820"/>
                  </a:lnTo>
                  <a:lnTo>
                    <a:pt x="377520" y="336550"/>
                  </a:lnTo>
                  <a:lnTo>
                    <a:pt x="391896" y="335280"/>
                  </a:lnTo>
                  <a:lnTo>
                    <a:pt x="399376" y="334010"/>
                  </a:lnTo>
                  <a:lnTo>
                    <a:pt x="404037" y="332740"/>
                  </a:lnTo>
                  <a:lnTo>
                    <a:pt x="413346" y="328930"/>
                  </a:lnTo>
                  <a:lnTo>
                    <a:pt x="413346" y="326390"/>
                  </a:lnTo>
                  <a:lnTo>
                    <a:pt x="408076" y="321310"/>
                  </a:lnTo>
                  <a:lnTo>
                    <a:pt x="404291" y="314960"/>
                  </a:lnTo>
                  <a:lnTo>
                    <a:pt x="363258" y="281940"/>
                  </a:lnTo>
                  <a:lnTo>
                    <a:pt x="327926" y="262890"/>
                  </a:lnTo>
                  <a:lnTo>
                    <a:pt x="320408" y="259080"/>
                  </a:lnTo>
                  <a:lnTo>
                    <a:pt x="316928" y="257810"/>
                  </a:lnTo>
                  <a:lnTo>
                    <a:pt x="311099" y="256540"/>
                  </a:lnTo>
                  <a:lnTo>
                    <a:pt x="309054" y="254000"/>
                  </a:lnTo>
                  <a:lnTo>
                    <a:pt x="303784" y="247650"/>
                  </a:lnTo>
                  <a:lnTo>
                    <a:pt x="300913" y="238760"/>
                  </a:lnTo>
                  <a:lnTo>
                    <a:pt x="297116" y="231140"/>
                  </a:lnTo>
                  <a:lnTo>
                    <a:pt x="278828" y="194310"/>
                  </a:lnTo>
                  <a:lnTo>
                    <a:pt x="266217" y="163830"/>
                  </a:lnTo>
                  <a:lnTo>
                    <a:pt x="262636" y="156210"/>
                  </a:lnTo>
                  <a:lnTo>
                    <a:pt x="235115" y="114300"/>
                  </a:lnTo>
                  <a:lnTo>
                    <a:pt x="180124" y="62230"/>
                  </a:lnTo>
                  <a:lnTo>
                    <a:pt x="145592" y="39370"/>
                  </a:lnTo>
                  <a:lnTo>
                    <a:pt x="108331" y="27940"/>
                  </a:lnTo>
                  <a:lnTo>
                    <a:pt x="101015" y="27940"/>
                  </a:lnTo>
                  <a:lnTo>
                    <a:pt x="93751" y="26670"/>
                  </a:lnTo>
                  <a:lnTo>
                    <a:pt x="86474" y="26670"/>
                  </a:lnTo>
                  <a:lnTo>
                    <a:pt x="81826" y="24130"/>
                  </a:lnTo>
                  <a:lnTo>
                    <a:pt x="77165" y="19050"/>
                  </a:lnTo>
                  <a:lnTo>
                    <a:pt x="73075" y="16510"/>
                  </a:lnTo>
                  <a:lnTo>
                    <a:pt x="63652" y="11430"/>
                  </a:lnTo>
                  <a:lnTo>
                    <a:pt x="56578" y="7620"/>
                  </a:lnTo>
                  <a:lnTo>
                    <a:pt x="35585" y="0"/>
                  </a:lnTo>
                  <a:lnTo>
                    <a:pt x="15417" y="0"/>
                  </a:lnTo>
                  <a:lnTo>
                    <a:pt x="1371" y="12700"/>
                  </a:lnTo>
                  <a:lnTo>
                    <a:pt x="0" y="26670"/>
                  </a:lnTo>
                  <a:lnTo>
                    <a:pt x="5105" y="40640"/>
                  </a:lnTo>
                  <a:lnTo>
                    <a:pt x="12941" y="50800"/>
                  </a:lnTo>
                  <a:lnTo>
                    <a:pt x="19748" y="59690"/>
                  </a:lnTo>
                  <a:lnTo>
                    <a:pt x="23672" y="64770"/>
                  </a:lnTo>
                  <a:lnTo>
                    <a:pt x="27724" y="71120"/>
                  </a:lnTo>
                  <a:lnTo>
                    <a:pt x="31521" y="76200"/>
                  </a:lnTo>
                  <a:lnTo>
                    <a:pt x="34632" y="81280"/>
                  </a:lnTo>
                  <a:lnTo>
                    <a:pt x="36639" y="86360"/>
                  </a:lnTo>
                  <a:lnTo>
                    <a:pt x="37249" y="91440"/>
                  </a:lnTo>
                  <a:lnTo>
                    <a:pt x="39243" y="97790"/>
                  </a:lnTo>
                  <a:lnTo>
                    <a:pt x="54444" y="135890"/>
                  </a:lnTo>
                  <a:lnTo>
                    <a:pt x="71589" y="158750"/>
                  </a:lnTo>
                  <a:lnTo>
                    <a:pt x="72504" y="163830"/>
                  </a:lnTo>
                  <a:lnTo>
                    <a:pt x="68414" y="170180"/>
                  </a:lnTo>
                  <a:lnTo>
                    <a:pt x="68110" y="179070"/>
                  </a:lnTo>
                  <a:lnTo>
                    <a:pt x="65760" y="185420"/>
                  </a:lnTo>
                  <a:lnTo>
                    <a:pt x="60579" y="212090"/>
                  </a:lnTo>
                  <a:lnTo>
                    <a:pt x="60502" y="237490"/>
                  </a:lnTo>
                  <a:lnTo>
                    <a:pt x="65176" y="262890"/>
                  </a:lnTo>
                  <a:lnTo>
                    <a:pt x="74244" y="283210"/>
                  </a:lnTo>
                  <a:lnTo>
                    <a:pt x="78892" y="289560"/>
                  </a:lnTo>
                  <a:lnTo>
                    <a:pt x="85699" y="297180"/>
                  </a:lnTo>
                  <a:lnTo>
                    <a:pt x="94424" y="300990"/>
                  </a:lnTo>
                  <a:lnTo>
                    <a:pt x="104800" y="300990"/>
                  </a:lnTo>
                  <a:lnTo>
                    <a:pt x="112014" y="294640"/>
                  </a:lnTo>
                  <a:lnTo>
                    <a:pt x="115328" y="285750"/>
                  </a:lnTo>
                  <a:lnTo>
                    <a:pt x="116878" y="275590"/>
                  </a:lnTo>
                  <a:lnTo>
                    <a:pt x="118821" y="264160"/>
                  </a:lnTo>
                  <a:lnTo>
                    <a:pt x="119697" y="260350"/>
                  </a:lnTo>
                  <a:lnTo>
                    <a:pt x="119087" y="257810"/>
                  </a:lnTo>
                  <a:lnTo>
                    <a:pt x="120827" y="256540"/>
                  </a:lnTo>
                  <a:lnTo>
                    <a:pt x="126923" y="269240"/>
                  </a:lnTo>
                  <a:lnTo>
                    <a:pt x="129895" y="274320"/>
                  </a:lnTo>
                  <a:lnTo>
                    <a:pt x="132791" y="280670"/>
                  </a:lnTo>
                  <a:lnTo>
                    <a:pt x="140665" y="290830"/>
                  </a:lnTo>
                  <a:lnTo>
                    <a:pt x="150190" y="302260"/>
                  </a:lnTo>
                  <a:lnTo>
                    <a:pt x="170662" y="320040"/>
                  </a:lnTo>
                  <a:lnTo>
                    <a:pt x="175717" y="323850"/>
                  </a:lnTo>
                  <a:lnTo>
                    <a:pt x="180644" y="328930"/>
                  </a:lnTo>
                  <a:lnTo>
                    <a:pt x="185902" y="334010"/>
                  </a:lnTo>
                  <a:lnTo>
                    <a:pt x="191109" y="336207"/>
                  </a:lnTo>
                  <a:lnTo>
                    <a:pt x="189598" y="334010"/>
                  </a:lnTo>
                  <a:lnTo>
                    <a:pt x="186994" y="332740"/>
                  </a:lnTo>
                  <a:lnTo>
                    <a:pt x="184645" y="330200"/>
                  </a:lnTo>
                  <a:lnTo>
                    <a:pt x="179412" y="325120"/>
                  </a:lnTo>
                  <a:lnTo>
                    <a:pt x="173583" y="318770"/>
                  </a:lnTo>
                  <a:lnTo>
                    <a:pt x="169494" y="312420"/>
                  </a:lnTo>
                  <a:lnTo>
                    <a:pt x="160578" y="300990"/>
                  </a:lnTo>
                  <a:lnTo>
                    <a:pt x="152196" y="287020"/>
                  </a:lnTo>
                  <a:lnTo>
                    <a:pt x="144297" y="274320"/>
                  </a:lnTo>
                  <a:lnTo>
                    <a:pt x="136880" y="260350"/>
                  </a:lnTo>
                  <a:lnTo>
                    <a:pt x="135178" y="256540"/>
                  </a:lnTo>
                  <a:lnTo>
                    <a:pt x="133477" y="252730"/>
                  </a:lnTo>
                  <a:lnTo>
                    <a:pt x="130276" y="246380"/>
                  </a:lnTo>
                  <a:lnTo>
                    <a:pt x="127241" y="238760"/>
                  </a:lnTo>
                  <a:lnTo>
                    <a:pt x="122605" y="228600"/>
                  </a:lnTo>
                  <a:lnTo>
                    <a:pt x="122605" y="223520"/>
                  </a:lnTo>
                  <a:lnTo>
                    <a:pt x="119697" y="222250"/>
                  </a:lnTo>
                  <a:lnTo>
                    <a:pt x="115290" y="228600"/>
                  </a:lnTo>
                  <a:lnTo>
                    <a:pt x="108902" y="233680"/>
                  </a:lnTo>
                  <a:lnTo>
                    <a:pt x="98894" y="273050"/>
                  </a:lnTo>
                  <a:lnTo>
                    <a:pt x="97536" y="285750"/>
                  </a:lnTo>
                  <a:lnTo>
                    <a:pt x="96354" y="285750"/>
                  </a:lnTo>
                  <a:lnTo>
                    <a:pt x="75171" y="248920"/>
                  </a:lnTo>
                  <a:lnTo>
                    <a:pt x="72910" y="228600"/>
                  </a:lnTo>
                  <a:lnTo>
                    <a:pt x="73710" y="208280"/>
                  </a:lnTo>
                  <a:lnTo>
                    <a:pt x="77724" y="187960"/>
                  </a:lnTo>
                  <a:lnTo>
                    <a:pt x="80225" y="181610"/>
                  </a:lnTo>
                  <a:lnTo>
                    <a:pt x="83451" y="172720"/>
                  </a:lnTo>
                  <a:lnTo>
                    <a:pt x="85636" y="163830"/>
                  </a:lnTo>
                  <a:lnTo>
                    <a:pt x="85001" y="157480"/>
                  </a:lnTo>
                  <a:lnTo>
                    <a:pt x="83261" y="152400"/>
                  </a:lnTo>
                  <a:lnTo>
                    <a:pt x="77419" y="148590"/>
                  </a:lnTo>
                  <a:lnTo>
                    <a:pt x="74244" y="144780"/>
                  </a:lnTo>
                  <a:lnTo>
                    <a:pt x="70459" y="138430"/>
                  </a:lnTo>
                  <a:lnTo>
                    <a:pt x="66370" y="132080"/>
                  </a:lnTo>
                  <a:lnTo>
                    <a:pt x="63754" y="125730"/>
                  </a:lnTo>
                  <a:lnTo>
                    <a:pt x="59042" y="113030"/>
                  </a:lnTo>
                  <a:lnTo>
                    <a:pt x="54940" y="100330"/>
                  </a:lnTo>
                  <a:lnTo>
                    <a:pt x="50723" y="87630"/>
                  </a:lnTo>
                  <a:lnTo>
                    <a:pt x="45694" y="74930"/>
                  </a:lnTo>
                  <a:lnTo>
                    <a:pt x="42621" y="69850"/>
                  </a:lnTo>
                  <a:lnTo>
                    <a:pt x="38938" y="63500"/>
                  </a:lnTo>
                  <a:lnTo>
                    <a:pt x="34988" y="58420"/>
                  </a:lnTo>
                  <a:lnTo>
                    <a:pt x="31102" y="53340"/>
                  </a:lnTo>
                  <a:lnTo>
                    <a:pt x="26885" y="46990"/>
                  </a:lnTo>
                  <a:lnTo>
                    <a:pt x="22656" y="41910"/>
                  </a:lnTo>
                  <a:lnTo>
                    <a:pt x="18656" y="36830"/>
                  </a:lnTo>
                  <a:lnTo>
                    <a:pt x="15087" y="30480"/>
                  </a:lnTo>
                  <a:lnTo>
                    <a:pt x="13652" y="26670"/>
                  </a:lnTo>
                  <a:lnTo>
                    <a:pt x="11607" y="21590"/>
                  </a:lnTo>
                  <a:lnTo>
                    <a:pt x="13919" y="17780"/>
                  </a:lnTo>
                  <a:lnTo>
                    <a:pt x="14528" y="16510"/>
                  </a:lnTo>
                  <a:lnTo>
                    <a:pt x="15659" y="15240"/>
                  </a:lnTo>
                  <a:lnTo>
                    <a:pt x="18008" y="13970"/>
                  </a:lnTo>
                  <a:lnTo>
                    <a:pt x="21793" y="11430"/>
                  </a:lnTo>
                  <a:lnTo>
                    <a:pt x="32588" y="15240"/>
                  </a:lnTo>
                  <a:lnTo>
                    <a:pt x="36372" y="17780"/>
                  </a:lnTo>
                  <a:lnTo>
                    <a:pt x="44145" y="20320"/>
                  </a:lnTo>
                  <a:lnTo>
                    <a:pt x="51435" y="24130"/>
                  </a:lnTo>
                  <a:lnTo>
                    <a:pt x="58394" y="27940"/>
                  </a:lnTo>
                  <a:lnTo>
                    <a:pt x="65189" y="31750"/>
                  </a:lnTo>
                  <a:lnTo>
                    <a:pt x="69278" y="34290"/>
                  </a:lnTo>
                  <a:lnTo>
                    <a:pt x="73634" y="40640"/>
                  </a:lnTo>
                  <a:lnTo>
                    <a:pt x="78905" y="41910"/>
                  </a:lnTo>
                  <a:lnTo>
                    <a:pt x="92163" y="41910"/>
                  </a:lnTo>
                  <a:lnTo>
                    <a:pt x="99491" y="43180"/>
                  </a:lnTo>
                  <a:lnTo>
                    <a:pt x="106705" y="43180"/>
                  </a:lnTo>
                  <a:lnTo>
                    <a:pt x="145846" y="58420"/>
                  </a:lnTo>
                  <a:lnTo>
                    <a:pt x="182829" y="85090"/>
                  </a:lnTo>
                  <a:lnTo>
                    <a:pt x="228600" y="134620"/>
                  </a:lnTo>
                  <a:lnTo>
                    <a:pt x="249885" y="170180"/>
                  </a:lnTo>
                  <a:lnTo>
                    <a:pt x="251371" y="176530"/>
                  </a:lnTo>
                  <a:lnTo>
                    <a:pt x="254546" y="184150"/>
                  </a:lnTo>
                  <a:lnTo>
                    <a:pt x="259372" y="194310"/>
                  </a:lnTo>
                  <a:lnTo>
                    <a:pt x="274358" y="226060"/>
                  </a:lnTo>
                  <a:lnTo>
                    <a:pt x="278955" y="236220"/>
                  </a:lnTo>
                  <a:lnTo>
                    <a:pt x="283730" y="246380"/>
                  </a:lnTo>
                  <a:lnTo>
                    <a:pt x="317436" y="275590"/>
                  </a:lnTo>
                  <a:lnTo>
                    <a:pt x="324764" y="278130"/>
                  </a:lnTo>
                  <a:lnTo>
                    <a:pt x="330593" y="280670"/>
                  </a:lnTo>
                  <a:lnTo>
                    <a:pt x="339648" y="283210"/>
                  </a:lnTo>
                  <a:lnTo>
                    <a:pt x="344868" y="285750"/>
                  </a:lnTo>
                  <a:lnTo>
                    <a:pt x="359664" y="295910"/>
                  </a:lnTo>
                  <a:lnTo>
                    <a:pt x="366915" y="300990"/>
                  </a:lnTo>
                  <a:lnTo>
                    <a:pt x="374002" y="306070"/>
                  </a:lnTo>
                  <a:lnTo>
                    <a:pt x="378980" y="308610"/>
                  </a:lnTo>
                  <a:lnTo>
                    <a:pt x="385470" y="313690"/>
                  </a:lnTo>
                  <a:lnTo>
                    <a:pt x="391248" y="317500"/>
                  </a:lnTo>
                  <a:lnTo>
                    <a:pt x="394106" y="322580"/>
                  </a:lnTo>
                  <a:lnTo>
                    <a:pt x="377583" y="322580"/>
                  </a:lnTo>
                  <a:lnTo>
                    <a:pt x="362800" y="323850"/>
                  </a:lnTo>
                  <a:lnTo>
                    <a:pt x="349554" y="326390"/>
                  </a:lnTo>
                  <a:lnTo>
                    <a:pt x="337604" y="330200"/>
                  </a:lnTo>
                  <a:lnTo>
                    <a:pt x="333209" y="332740"/>
                  </a:lnTo>
                  <a:lnTo>
                    <a:pt x="326237" y="332740"/>
                  </a:lnTo>
                  <a:lnTo>
                    <a:pt x="325628" y="337820"/>
                  </a:lnTo>
                  <a:lnTo>
                    <a:pt x="327990" y="340360"/>
                  </a:lnTo>
                  <a:lnTo>
                    <a:pt x="328295" y="344170"/>
                  </a:lnTo>
                  <a:lnTo>
                    <a:pt x="330288" y="346710"/>
                  </a:lnTo>
                  <a:lnTo>
                    <a:pt x="333819" y="353060"/>
                  </a:lnTo>
                  <a:lnTo>
                    <a:pt x="339915" y="360680"/>
                  </a:lnTo>
                  <a:lnTo>
                    <a:pt x="345440" y="364490"/>
                  </a:lnTo>
                  <a:lnTo>
                    <a:pt x="357720" y="373380"/>
                  </a:lnTo>
                  <a:lnTo>
                    <a:pt x="364109" y="378460"/>
                  </a:lnTo>
                  <a:lnTo>
                    <a:pt x="372859" y="382270"/>
                  </a:lnTo>
                  <a:lnTo>
                    <a:pt x="390779" y="391160"/>
                  </a:lnTo>
                  <a:lnTo>
                    <a:pt x="405777" y="400050"/>
                  </a:lnTo>
                  <a:lnTo>
                    <a:pt x="418566" y="410210"/>
                  </a:lnTo>
                  <a:lnTo>
                    <a:pt x="421792" y="411480"/>
                  </a:lnTo>
                  <a:lnTo>
                    <a:pt x="423837" y="415290"/>
                  </a:lnTo>
                  <a:lnTo>
                    <a:pt x="427888" y="416560"/>
                  </a:lnTo>
                  <a:close/>
                </a:path>
              </a:pathLst>
            </a:custGeom>
            <a:solidFill>
              <a:srgbClr val="005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0642" y="2696985"/>
              <a:ext cx="170421" cy="17475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3786" y="2696985"/>
              <a:ext cx="446621" cy="20088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72560" y="2480227"/>
              <a:ext cx="1151602" cy="28837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349745" y="2023110"/>
              <a:ext cx="2638425" cy="2757170"/>
            </a:xfrm>
            <a:custGeom>
              <a:avLst/>
              <a:gdLst/>
              <a:ahLst/>
              <a:cxnLst/>
              <a:rect l="l" t="t" r="r" b="b"/>
              <a:pathLst>
                <a:path w="2638425" h="2757170">
                  <a:moveTo>
                    <a:pt x="0" y="157606"/>
                  </a:moveTo>
                  <a:lnTo>
                    <a:pt x="8039" y="107809"/>
                  </a:lnTo>
                  <a:lnTo>
                    <a:pt x="30423" y="64547"/>
                  </a:lnTo>
                  <a:lnTo>
                    <a:pt x="64547" y="30423"/>
                  </a:lnTo>
                  <a:lnTo>
                    <a:pt x="107809" y="8039"/>
                  </a:lnTo>
                  <a:lnTo>
                    <a:pt x="157606" y="0"/>
                  </a:lnTo>
                  <a:lnTo>
                    <a:pt x="1122552" y="0"/>
                  </a:lnTo>
                  <a:lnTo>
                    <a:pt x="1172350" y="8039"/>
                  </a:lnTo>
                  <a:lnTo>
                    <a:pt x="1215612" y="30423"/>
                  </a:lnTo>
                  <a:lnTo>
                    <a:pt x="1249736" y="64547"/>
                  </a:lnTo>
                  <a:lnTo>
                    <a:pt x="1272120" y="107809"/>
                  </a:lnTo>
                  <a:lnTo>
                    <a:pt x="1280159" y="157606"/>
                  </a:lnTo>
                  <a:lnTo>
                    <a:pt x="1280159" y="1122552"/>
                  </a:lnTo>
                  <a:lnTo>
                    <a:pt x="1272120" y="1172350"/>
                  </a:lnTo>
                  <a:lnTo>
                    <a:pt x="1249736" y="1215612"/>
                  </a:lnTo>
                  <a:lnTo>
                    <a:pt x="1215612" y="1249736"/>
                  </a:lnTo>
                  <a:lnTo>
                    <a:pt x="1172350" y="1272120"/>
                  </a:lnTo>
                  <a:lnTo>
                    <a:pt x="1122552" y="1280159"/>
                  </a:lnTo>
                  <a:lnTo>
                    <a:pt x="157606" y="1280159"/>
                  </a:lnTo>
                  <a:lnTo>
                    <a:pt x="107809" y="1272120"/>
                  </a:lnTo>
                  <a:lnTo>
                    <a:pt x="64547" y="1249736"/>
                  </a:lnTo>
                  <a:lnTo>
                    <a:pt x="30423" y="1215612"/>
                  </a:lnTo>
                  <a:lnTo>
                    <a:pt x="8039" y="1172350"/>
                  </a:lnTo>
                  <a:lnTo>
                    <a:pt x="0" y="1122552"/>
                  </a:lnTo>
                  <a:lnTo>
                    <a:pt x="0" y="157606"/>
                  </a:lnTo>
                  <a:close/>
                </a:path>
                <a:path w="2638425" h="2757170">
                  <a:moveTo>
                    <a:pt x="1357883" y="1634363"/>
                  </a:moveTo>
                  <a:lnTo>
                    <a:pt x="1365923" y="1584565"/>
                  </a:lnTo>
                  <a:lnTo>
                    <a:pt x="1388307" y="1541303"/>
                  </a:lnTo>
                  <a:lnTo>
                    <a:pt x="1422431" y="1507179"/>
                  </a:lnTo>
                  <a:lnTo>
                    <a:pt x="1465693" y="1484795"/>
                  </a:lnTo>
                  <a:lnTo>
                    <a:pt x="1515490" y="1476756"/>
                  </a:lnTo>
                  <a:lnTo>
                    <a:pt x="2480436" y="1476756"/>
                  </a:lnTo>
                  <a:lnTo>
                    <a:pt x="2530234" y="1484795"/>
                  </a:lnTo>
                  <a:lnTo>
                    <a:pt x="2573496" y="1507179"/>
                  </a:lnTo>
                  <a:lnTo>
                    <a:pt x="2607620" y="1541303"/>
                  </a:lnTo>
                  <a:lnTo>
                    <a:pt x="2630004" y="1584565"/>
                  </a:lnTo>
                  <a:lnTo>
                    <a:pt x="2638044" y="1634363"/>
                  </a:lnTo>
                  <a:lnTo>
                    <a:pt x="2638044" y="2599258"/>
                  </a:lnTo>
                  <a:lnTo>
                    <a:pt x="2630004" y="2649089"/>
                  </a:lnTo>
                  <a:lnTo>
                    <a:pt x="2607620" y="2692368"/>
                  </a:lnTo>
                  <a:lnTo>
                    <a:pt x="2573496" y="2726496"/>
                  </a:lnTo>
                  <a:lnTo>
                    <a:pt x="2530234" y="2748878"/>
                  </a:lnTo>
                  <a:lnTo>
                    <a:pt x="2480436" y="2756916"/>
                  </a:lnTo>
                  <a:lnTo>
                    <a:pt x="1515490" y="2756916"/>
                  </a:lnTo>
                  <a:lnTo>
                    <a:pt x="1465693" y="2748878"/>
                  </a:lnTo>
                  <a:lnTo>
                    <a:pt x="1422431" y="2726496"/>
                  </a:lnTo>
                  <a:lnTo>
                    <a:pt x="1388307" y="2692368"/>
                  </a:lnTo>
                  <a:lnTo>
                    <a:pt x="1365923" y="2649089"/>
                  </a:lnTo>
                  <a:lnTo>
                    <a:pt x="1357883" y="2599258"/>
                  </a:lnTo>
                  <a:lnTo>
                    <a:pt x="1357883" y="1634363"/>
                  </a:lnTo>
                  <a:close/>
                </a:path>
                <a:path w="2638425" h="2757170">
                  <a:moveTo>
                    <a:pt x="0" y="1634363"/>
                  </a:moveTo>
                  <a:lnTo>
                    <a:pt x="8039" y="1584565"/>
                  </a:lnTo>
                  <a:lnTo>
                    <a:pt x="30423" y="1541303"/>
                  </a:lnTo>
                  <a:lnTo>
                    <a:pt x="64547" y="1507179"/>
                  </a:lnTo>
                  <a:lnTo>
                    <a:pt x="107809" y="1484795"/>
                  </a:lnTo>
                  <a:lnTo>
                    <a:pt x="157606" y="1476756"/>
                  </a:lnTo>
                  <a:lnTo>
                    <a:pt x="1122552" y="1476756"/>
                  </a:lnTo>
                  <a:lnTo>
                    <a:pt x="1172350" y="1484795"/>
                  </a:lnTo>
                  <a:lnTo>
                    <a:pt x="1215612" y="1507179"/>
                  </a:lnTo>
                  <a:lnTo>
                    <a:pt x="1249736" y="1541303"/>
                  </a:lnTo>
                  <a:lnTo>
                    <a:pt x="1272120" y="1584565"/>
                  </a:lnTo>
                  <a:lnTo>
                    <a:pt x="1280159" y="1634363"/>
                  </a:lnTo>
                  <a:lnTo>
                    <a:pt x="1280159" y="2599258"/>
                  </a:lnTo>
                  <a:lnTo>
                    <a:pt x="1272120" y="2649089"/>
                  </a:lnTo>
                  <a:lnTo>
                    <a:pt x="1249736" y="2692368"/>
                  </a:lnTo>
                  <a:lnTo>
                    <a:pt x="1215612" y="2726496"/>
                  </a:lnTo>
                  <a:lnTo>
                    <a:pt x="1172350" y="2748878"/>
                  </a:lnTo>
                  <a:lnTo>
                    <a:pt x="1122552" y="2756916"/>
                  </a:lnTo>
                  <a:lnTo>
                    <a:pt x="157606" y="2756916"/>
                  </a:lnTo>
                  <a:lnTo>
                    <a:pt x="107809" y="2748878"/>
                  </a:lnTo>
                  <a:lnTo>
                    <a:pt x="64547" y="2726496"/>
                  </a:lnTo>
                  <a:lnTo>
                    <a:pt x="30423" y="2692368"/>
                  </a:lnTo>
                  <a:lnTo>
                    <a:pt x="8039" y="2649089"/>
                  </a:lnTo>
                  <a:lnTo>
                    <a:pt x="0" y="2599258"/>
                  </a:lnTo>
                  <a:lnTo>
                    <a:pt x="0" y="1634363"/>
                  </a:lnTo>
                  <a:close/>
                </a:path>
              </a:pathLst>
            </a:custGeom>
            <a:ln w="38100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98645" y="2417190"/>
              <a:ext cx="3308985" cy="1723389"/>
            </a:xfrm>
            <a:custGeom>
              <a:avLst/>
              <a:gdLst/>
              <a:ahLst/>
              <a:cxnLst/>
              <a:rect l="l" t="t" r="r" b="b"/>
              <a:pathLst>
                <a:path w="3308984" h="1723389">
                  <a:moveTo>
                    <a:pt x="3308731" y="1723034"/>
                  </a:moveTo>
                  <a:lnTo>
                    <a:pt x="3289160" y="1696212"/>
                  </a:lnTo>
                  <a:lnTo>
                    <a:pt x="3233420" y="1619783"/>
                  </a:lnTo>
                  <a:lnTo>
                    <a:pt x="3215919" y="1653654"/>
                  </a:lnTo>
                  <a:lnTo>
                    <a:pt x="114211" y="50063"/>
                  </a:lnTo>
                  <a:lnTo>
                    <a:pt x="1836280" y="252285"/>
                  </a:lnTo>
                  <a:lnTo>
                    <a:pt x="1831848" y="290068"/>
                  </a:lnTo>
                  <a:lnTo>
                    <a:pt x="1930209" y="254508"/>
                  </a:lnTo>
                  <a:lnTo>
                    <a:pt x="1951990" y="246634"/>
                  </a:lnTo>
                  <a:lnTo>
                    <a:pt x="1845183" y="176530"/>
                  </a:lnTo>
                  <a:lnTo>
                    <a:pt x="1840725" y="214439"/>
                  </a:lnTo>
                  <a:lnTo>
                    <a:pt x="14732" y="0"/>
                  </a:lnTo>
                  <a:lnTo>
                    <a:pt x="12484" y="19024"/>
                  </a:lnTo>
                  <a:lnTo>
                    <a:pt x="0" y="33274"/>
                  </a:lnTo>
                  <a:lnTo>
                    <a:pt x="1853577" y="1661896"/>
                  </a:lnTo>
                  <a:lnTo>
                    <a:pt x="1828419" y="1690522"/>
                  </a:lnTo>
                  <a:lnTo>
                    <a:pt x="1951990" y="1723034"/>
                  </a:lnTo>
                  <a:lnTo>
                    <a:pt x="1932241" y="1674482"/>
                  </a:lnTo>
                  <a:lnTo>
                    <a:pt x="1903857" y="1604657"/>
                  </a:lnTo>
                  <a:lnTo>
                    <a:pt x="1878723" y="1633270"/>
                  </a:lnTo>
                  <a:lnTo>
                    <a:pt x="142024" y="107276"/>
                  </a:lnTo>
                  <a:lnTo>
                    <a:pt x="3198444" y="1687461"/>
                  </a:lnTo>
                  <a:lnTo>
                    <a:pt x="3180969" y="1721307"/>
                  </a:lnTo>
                  <a:lnTo>
                    <a:pt x="3308731" y="1723034"/>
                  </a:lnTo>
                  <a:close/>
                </a:path>
              </a:pathLst>
            </a:custGeom>
            <a:solidFill>
              <a:srgbClr val="C30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496558" y="1585341"/>
            <a:ext cx="2346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636363"/>
                </a:solidFill>
                <a:latin typeface="Lato"/>
                <a:cs typeface="Lato"/>
              </a:rPr>
              <a:t>Back-</a:t>
            </a:r>
            <a:r>
              <a:rPr sz="2400" spc="-10" dirty="0">
                <a:solidFill>
                  <a:srgbClr val="636363"/>
                </a:solidFill>
                <a:latin typeface="Lato"/>
                <a:cs typeface="Lato"/>
              </a:rPr>
              <a:t>end</a:t>
            </a:r>
            <a:r>
              <a:rPr sz="2400" spc="-95" dirty="0">
                <a:solidFill>
                  <a:srgbClr val="636363"/>
                </a:solidFill>
                <a:latin typeface="Lato"/>
                <a:cs typeface="Lato"/>
              </a:rPr>
              <a:t> </a:t>
            </a:r>
            <a:r>
              <a:rPr sz="2400" spc="-10" dirty="0">
                <a:solidFill>
                  <a:srgbClr val="636363"/>
                </a:solidFill>
                <a:latin typeface="Lato"/>
                <a:cs typeface="Lato"/>
              </a:rPr>
              <a:t>DBMSs</a:t>
            </a:r>
            <a:endParaRPr sz="2400">
              <a:latin typeface="Lato"/>
              <a:cs typeface="Lato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409947" y="2004060"/>
            <a:ext cx="4597400" cy="1318260"/>
            <a:chOff x="4409947" y="2004060"/>
            <a:chExt cx="4597400" cy="1318260"/>
          </a:xfrm>
        </p:grpSpPr>
        <p:sp>
          <p:nvSpPr>
            <p:cNvPr id="41" name="object 41"/>
            <p:cNvSpPr/>
            <p:nvPr/>
          </p:nvSpPr>
          <p:spPr>
            <a:xfrm>
              <a:off x="7707629" y="202311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59" h="1280160">
                  <a:moveTo>
                    <a:pt x="0" y="157606"/>
                  </a:moveTo>
                  <a:lnTo>
                    <a:pt x="8039" y="107809"/>
                  </a:lnTo>
                  <a:lnTo>
                    <a:pt x="30423" y="64547"/>
                  </a:lnTo>
                  <a:lnTo>
                    <a:pt x="64547" y="30423"/>
                  </a:lnTo>
                  <a:lnTo>
                    <a:pt x="107809" y="8039"/>
                  </a:lnTo>
                  <a:lnTo>
                    <a:pt x="157606" y="0"/>
                  </a:lnTo>
                  <a:lnTo>
                    <a:pt x="1122552" y="0"/>
                  </a:lnTo>
                  <a:lnTo>
                    <a:pt x="1172350" y="8039"/>
                  </a:lnTo>
                  <a:lnTo>
                    <a:pt x="1215612" y="30423"/>
                  </a:lnTo>
                  <a:lnTo>
                    <a:pt x="1249736" y="64547"/>
                  </a:lnTo>
                  <a:lnTo>
                    <a:pt x="1272120" y="107809"/>
                  </a:lnTo>
                  <a:lnTo>
                    <a:pt x="1280160" y="157606"/>
                  </a:lnTo>
                  <a:lnTo>
                    <a:pt x="1280160" y="1122552"/>
                  </a:lnTo>
                  <a:lnTo>
                    <a:pt x="1272120" y="1172350"/>
                  </a:lnTo>
                  <a:lnTo>
                    <a:pt x="1249736" y="1215612"/>
                  </a:lnTo>
                  <a:lnTo>
                    <a:pt x="1215612" y="1249736"/>
                  </a:lnTo>
                  <a:lnTo>
                    <a:pt x="1172350" y="1272120"/>
                  </a:lnTo>
                  <a:lnTo>
                    <a:pt x="1122552" y="1280159"/>
                  </a:lnTo>
                  <a:lnTo>
                    <a:pt x="157606" y="1280159"/>
                  </a:lnTo>
                  <a:lnTo>
                    <a:pt x="107809" y="1272120"/>
                  </a:lnTo>
                  <a:lnTo>
                    <a:pt x="64547" y="1249736"/>
                  </a:lnTo>
                  <a:lnTo>
                    <a:pt x="30423" y="1215612"/>
                  </a:lnTo>
                  <a:lnTo>
                    <a:pt x="8039" y="1172350"/>
                  </a:lnTo>
                  <a:lnTo>
                    <a:pt x="0" y="1122552"/>
                  </a:lnTo>
                  <a:lnTo>
                    <a:pt x="0" y="157606"/>
                  </a:lnTo>
                  <a:close/>
                </a:path>
              </a:pathLst>
            </a:custGeom>
            <a:ln w="38100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09947" y="2417064"/>
              <a:ext cx="3298825" cy="295910"/>
            </a:xfrm>
            <a:custGeom>
              <a:avLst/>
              <a:gdLst/>
              <a:ahLst/>
              <a:cxnLst/>
              <a:rect l="l" t="t" r="r" b="b"/>
              <a:pathLst>
                <a:path w="3298825" h="295910">
                  <a:moveTo>
                    <a:pt x="3188716" y="181863"/>
                  </a:moveTo>
                  <a:lnTo>
                    <a:pt x="3186088" y="219920"/>
                  </a:lnTo>
                  <a:lnTo>
                    <a:pt x="3205099" y="221234"/>
                  </a:lnTo>
                  <a:lnTo>
                    <a:pt x="3202431" y="259206"/>
                  </a:lnTo>
                  <a:lnTo>
                    <a:pt x="3183376" y="259206"/>
                  </a:lnTo>
                  <a:lnTo>
                    <a:pt x="3180842" y="295910"/>
                  </a:lnTo>
                  <a:lnTo>
                    <a:pt x="3268948" y="259206"/>
                  </a:lnTo>
                  <a:lnTo>
                    <a:pt x="3202431" y="259206"/>
                  </a:lnTo>
                  <a:lnTo>
                    <a:pt x="3183466" y="257897"/>
                  </a:lnTo>
                  <a:lnTo>
                    <a:pt x="3272091" y="257897"/>
                  </a:lnTo>
                  <a:lnTo>
                    <a:pt x="3298825" y="246761"/>
                  </a:lnTo>
                  <a:lnTo>
                    <a:pt x="3188716" y="181863"/>
                  </a:lnTo>
                  <a:close/>
                </a:path>
                <a:path w="3298825" h="295910">
                  <a:moveTo>
                    <a:pt x="3186088" y="219920"/>
                  </a:moveTo>
                  <a:lnTo>
                    <a:pt x="3183466" y="257897"/>
                  </a:lnTo>
                  <a:lnTo>
                    <a:pt x="3202431" y="259206"/>
                  </a:lnTo>
                  <a:lnTo>
                    <a:pt x="3205099" y="221234"/>
                  </a:lnTo>
                  <a:lnTo>
                    <a:pt x="3186088" y="219920"/>
                  </a:lnTo>
                  <a:close/>
                </a:path>
                <a:path w="3298825" h="295910">
                  <a:moveTo>
                    <a:pt x="2539" y="0"/>
                  </a:moveTo>
                  <a:lnTo>
                    <a:pt x="0" y="38100"/>
                  </a:lnTo>
                  <a:lnTo>
                    <a:pt x="3183466" y="257897"/>
                  </a:lnTo>
                  <a:lnTo>
                    <a:pt x="3186088" y="219920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C30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741545" y="2123694"/>
            <a:ext cx="1326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636363"/>
                </a:solidFill>
                <a:latin typeface="Lato"/>
                <a:cs typeface="Lato"/>
              </a:rPr>
              <a:t>Connectors</a:t>
            </a:r>
            <a:endParaRPr sz="2000"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8202" y="255495"/>
            <a:ext cx="5630536" cy="43937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pc="-93" dirty="0"/>
              <a:t>Distributed</a:t>
            </a:r>
            <a:r>
              <a:rPr spc="-156" dirty="0"/>
              <a:t> </a:t>
            </a:r>
            <a:r>
              <a:rPr spc="-60" dirty="0"/>
              <a:t>DB</a:t>
            </a:r>
            <a:r>
              <a:rPr spc="-159" dirty="0"/>
              <a:t> </a:t>
            </a:r>
            <a:r>
              <a:rPr spc="-79" dirty="0"/>
              <a:t>Setup</a:t>
            </a:r>
            <a:r>
              <a:rPr spc="-156" dirty="0"/>
              <a:t> </a:t>
            </a:r>
            <a:r>
              <a:rPr spc="-4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948983"/>
            <a:ext cx="6967552" cy="3218604"/>
          </a:xfrm>
          <a:prstGeom prst="rect">
            <a:avLst/>
          </a:prstGeom>
        </p:spPr>
        <p:txBody>
          <a:bodyPr vert="horz" wrap="square" lIns="0" tIns="30256" rIns="0" bIns="0" rtlCol="0">
            <a:spAutoFit/>
          </a:bodyPr>
          <a:lstStyle/>
          <a:p>
            <a:pPr marL="173981" indent="-165576">
              <a:buSzPct val="85714"/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Ongoing</a:t>
            </a:r>
            <a:r>
              <a:rPr spc="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and</a:t>
            </a:r>
            <a:r>
              <a:rPr spc="5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future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information</a:t>
            </a:r>
            <a:r>
              <a:rPr spc="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maintenance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must</a:t>
            </a:r>
            <a:r>
              <a:rPr spc="5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be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determined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492105" marR="56313" lvl="1" indent="-165155">
              <a:lnSpc>
                <a:spcPts val="1337"/>
              </a:lnSpc>
              <a:spcBef>
                <a:spcPts val="1224"/>
              </a:spcBef>
              <a:buClr>
                <a:srgbClr val="292934"/>
              </a:buClr>
              <a:buSzPct val="84210"/>
              <a:buFont typeface="Arial"/>
              <a:buChar char="•"/>
              <a:tabLst>
                <a:tab pos="492105" algn="l"/>
              </a:tabLst>
            </a:pPr>
            <a:r>
              <a:rPr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Synchronous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:</a:t>
            </a:r>
            <a:r>
              <a:rPr spc="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information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across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all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nodes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should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be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kept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sync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all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time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492105" marR="54211" lvl="1" indent="-165155">
              <a:lnSpc>
                <a:spcPts val="1396"/>
              </a:lnSpc>
              <a:spcBef>
                <a:spcPts val="1122"/>
              </a:spcBef>
              <a:buClr>
                <a:srgbClr val="292934"/>
              </a:buClr>
              <a:buSzPct val="84210"/>
              <a:buFont typeface="Arial"/>
              <a:buChar char="•"/>
              <a:tabLst>
                <a:tab pos="492105" algn="l"/>
              </a:tabLst>
            </a:pPr>
            <a:r>
              <a:rPr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Asynchronous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: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information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is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replicated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at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multiple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nodes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make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it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available</a:t>
            </a:r>
            <a:r>
              <a:rPr spc="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for</a:t>
            </a:r>
            <a:r>
              <a:rPr spc="1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other</a:t>
            </a:r>
            <a:r>
              <a:rPr spc="1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nodes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lvl="1">
              <a:spcBef>
                <a:spcPts val="695"/>
              </a:spcBef>
              <a:buClr>
                <a:srgbClr val="292934"/>
              </a:buClr>
              <a:buFont typeface="Arial"/>
              <a:buChar char="•"/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173981" indent="-165576">
              <a:lnSpc>
                <a:spcPts val="1595"/>
              </a:lnSpc>
              <a:spcBef>
                <a:spcPts val="3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lang="en-US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setup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can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be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performed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one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following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ways: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492105" lvl="1" indent="-164735">
              <a:spcBef>
                <a:spcPts val="1052"/>
              </a:spcBef>
              <a:buSzPct val="84210"/>
              <a:buFont typeface="Arial"/>
              <a:buChar char="•"/>
              <a:tabLst>
                <a:tab pos="492105" algn="l"/>
              </a:tabLst>
            </a:pPr>
            <a:r>
              <a:rPr spc="-7" dirty="0">
                <a:solidFill>
                  <a:srgbClr val="FF0000"/>
                </a:solidFill>
                <a:latin typeface="Trebuchet MS" panose="020B0603020202020204" pitchFamily="34" charset="0"/>
                <a:cs typeface="Verdana"/>
              </a:rPr>
              <a:t>Replication</a:t>
            </a:r>
            <a:endParaRPr dirty="0">
              <a:solidFill>
                <a:srgbClr val="FF0000"/>
              </a:solidFill>
              <a:latin typeface="Trebuchet MS" panose="020B0603020202020204" pitchFamily="34" charset="0"/>
              <a:cs typeface="Verdana"/>
            </a:endParaRPr>
          </a:p>
          <a:p>
            <a:pPr marL="492105" lvl="1" indent="-164735">
              <a:spcBef>
                <a:spcPts val="414"/>
              </a:spcBef>
              <a:buSzPct val="84210"/>
              <a:buFont typeface="Arial"/>
              <a:buChar char="•"/>
              <a:tabLst>
                <a:tab pos="492105" algn="l"/>
              </a:tabLst>
            </a:pPr>
            <a:r>
              <a:rPr dirty="0">
                <a:solidFill>
                  <a:srgbClr val="FF0000"/>
                </a:solidFill>
                <a:latin typeface="Trebuchet MS" panose="020B0603020202020204" pitchFamily="34" charset="0"/>
                <a:cs typeface="Verdana"/>
              </a:rPr>
              <a:t>Fragmentation/partitioning</a:t>
            </a:r>
            <a:r>
              <a:rPr spc="26" dirty="0">
                <a:solidFill>
                  <a:srgbClr val="FF0000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(horizontal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or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vertical)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492105" lvl="1" indent="-164735">
              <a:spcBef>
                <a:spcPts val="397"/>
              </a:spcBef>
              <a:buSzPct val="84210"/>
              <a:buFont typeface="Arial"/>
              <a:buChar char="•"/>
              <a:tabLst>
                <a:tab pos="492105" algn="l"/>
              </a:tabLst>
            </a:pPr>
            <a:r>
              <a:rPr dirty="0">
                <a:solidFill>
                  <a:srgbClr val="FF0000"/>
                </a:solidFill>
                <a:latin typeface="Trebuchet MS" panose="020B0603020202020204" pitchFamily="34" charset="0"/>
                <a:cs typeface="Verdana"/>
              </a:rPr>
              <a:t>Hybrid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setup</a:t>
            </a:r>
            <a:endParaRPr dirty="0">
              <a:latin typeface="Trebuchet MS" panose="020B060302020202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3"/>
            <a:ext cx="3731139" cy="592809"/>
          </a:xfrm>
          <a:prstGeom prst="rect">
            <a:avLst/>
          </a:prstGeom>
        </p:spPr>
        <p:txBody>
          <a:bodyPr vert="horz" wrap="square" lIns="0" tIns="160356" rIns="0" bIns="0" rtlCol="0">
            <a:spAutoFit/>
          </a:bodyPr>
          <a:lstStyle/>
          <a:p>
            <a:pPr marL="2024311">
              <a:spcBef>
                <a:spcPts val="66"/>
              </a:spcBef>
            </a:pPr>
            <a:r>
              <a:rPr spc="-79" dirty="0"/>
              <a:t>Replication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819150"/>
            <a:ext cx="8229599" cy="3887826"/>
          </a:xfrm>
          <a:prstGeom prst="rect">
            <a:avLst/>
          </a:prstGeom>
        </p:spPr>
        <p:txBody>
          <a:bodyPr vert="horz" wrap="square" lIns="0" tIns="30256" rIns="0" bIns="0" rtlCol="0">
            <a:spAutoFit/>
          </a:bodyPr>
          <a:lstStyle/>
          <a:p>
            <a:pPr marL="173981" marR="449660" indent="-165996">
              <a:lnSpc>
                <a:spcPts val="1522"/>
              </a:lnSpc>
              <a:spcBef>
                <a:spcPts val="238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Maintain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multiple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copies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database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instances,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stored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different</a:t>
            </a:r>
            <a:r>
              <a:rPr spc="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sites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173981" marR="3362" indent="-165996">
              <a:lnSpc>
                <a:spcPts val="1522"/>
              </a:lnSpc>
              <a:spcBef>
                <a:spcPts val="1386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Easy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and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minimum</a:t>
            </a:r>
            <a:r>
              <a:rPr spc="5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risk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process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as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information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is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copied</a:t>
            </a:r>
            <a:r>
              <a:rPr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from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one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instance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another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without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</a:t>
            </a:r>
            <a:r>
              <a:rPr spc="4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logical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separation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173981" indent="-165576">
              <a:spcBef>
                <a:spcPts val="1294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Each</a:t>
            </a:r>
            <a:r>
              <a:rPr spc="5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individual</a:t>
            </a:r>
            <a:r>
              <a:rPr spc="4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node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has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complete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information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173981" marR="403854" indent="-165996">
              <a:lnSpc>
                <a:spcPts val="1522"/>
              </a:lnSpc>
              <a:spcBef>
                <a:spcPts val="1410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Efficient</a:t>
            </a:r>
            <a:r>
              <a:rPr spc="4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</a:t>
            </a:r>
            <a:r>
              <a:rPr spc="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accessing</a:t>
            </a:r>
            <a:r>
              <a:rPr spc="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5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information</a:t>
            </a:r>
            <a:r>
              <a:rPr spc="5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without</a:t>
            </a:r>
            <a:r>
              <a:rPr spc="5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having</a:t>
            </a:r>
            <a:r>
              <a:rPr spc="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network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traversals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and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reduces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risk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network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security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173981" indent="-165576">
              <a:spcBef>
                <a:spcPts val="1281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Fast</a:t>
            </a:r>
            <a:r>
              <a:rPr spc="-5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retrieval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173981" indent="-165576">
              <a:spcBef>
                <a:spcPts val="1254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Increase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fault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tolerance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173981" indent="-165576">
              <a:spcBef>
                <a:spcPts val="1304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Require</a:t>
            </a:r>
            <a:r>
              <a:rPr spc="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more</a:t>
            </a:r>
            <a:r>
              <a:rPr spc="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storage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space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173981" marR="292909" indent="-165996">
              <a:lnSpc>
                <a:spcPts val="1522"/>
              </a:lnSpc>
              <a:spcBef>
                <a:spcPts val="1410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pc="-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Take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longer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synchronize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all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nodes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when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information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across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all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nodes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needs</a:t>
            </a:r>
            <a:r>
              <a:rPr spc="2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be</a:t>
            </a:r>
            <a:r>
              <a:rPr spc="2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updated</a:t>
            </a:r>
            <a:endParaRPr dirty="0">
              <a:latin typeface="Trebuchet MS" panose="020B060302020202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3"/>
            <a:ext cx="5664349" cy="592809"/>
          </a:xfrm>
          <a:prstGeom prst="rect">
            <a:avLst/>
          </a:prstGeom>
        </p:spPr>
        <p:txBody>
          <a:bodyPr vert="horz" wrap="square" lIns="0" tIns="160356" rIns="0" bIns="0" rtlCol="0">
            <a:spAutoFit/>
          </a:bodyPr>
          <a:lstStyle/>
          <a:p>
            <a:pPr marL="335774">
              <a:spcBef>
                <a:spcPts val="66"/>
              </a:spcBef>
            </a:pPr>
            <a:r>
              <a:rPr spc="-96" dirty="0"/>
              <a:t>Fragmentation</a:t>
            </a:r>
            <a:r>
              <a:rPr spc="-146" dirty="0"/>
              <a:t> </a:t>
            </a:r>
            <a:r>
              <a:rPr spc="-56" dirty="0"/>
              <a:t>(or</a:t>
            </a:r>
            <a:r>
              <a:rPr spc="-139" dirty="0"/>
              <a:t> </a:t>
            </a:r>
            <a:r>
              <a:rPr spc="-63" dirty="0"/>
              <a:t>Partition)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2626" y="1123950"/>
            <a:ext cx="6350174" cy="194491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73981" indent="-165576">
              <a:spcBef>
                <a:spcPts val="66"/>
              </a:spcBef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One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copy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each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item,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distributed</a:t>
            </a:r>
            <a:r>
              <a:rPr spc="3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across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nodes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173981" indent="-165576">
              <a:spcBef>
                <a:spcPts val="1238"/>
              </a:spcBef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Split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a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database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into</a:t>
            </a:r>
            <a:r>
              <a:rPr spc="3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disjoint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fragments</a:t>
            </a:r>
            <a:r>
              <a:rPr spc="30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(or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parts)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173981" indent="-165576">
              <a:spcBef>
                <a:spcPts val="1316"/>
              </a:spcBef>
              <a:buFont typeface="Arial"/>
              <a:buChar char="•"/>
              <a:tabLst>
                <a:tab pos="173981" algn="l"/>
              </a:tabLst>
            </a:pP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Fragments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can</a:t>
            </a:r>
            <a:r>
              <a:rPr spc="26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be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496727" lvl="1" indent="-163475">
              <a:spcBef>
                <a:spcPts val="1244"/>
              </a:spcBef>
              <a:buClr>
                <a:srgbClr val="292934"/>
              </a:buClr>
              <a:buFont typeface="Arial"/>
              <a:buChar char="•"/>
              <a:tabLst>
                <a:tab pos="496727" algn="l"/>
              </a:tabLst>
            </a:pPr>
            <a:r>
              <a:rPr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Vertical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table</a:t>
            </a:r>
            <a:r>
              <a:rPr spc="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subsets</a:t>
            </a:r>
            <a:r>
              <a:rPr spc="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(formed</a:t>
            </a:r>
            <a:r>
              <a:rPr spc="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by</a:t>
            </a:r>
            <a:r>
              <a:rPr spc="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RA</a:t>
            </a:r>
            <a:r>
              <a:rPr spc="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projection)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496727" lvl="1" indent="-163475">
              <a:spcBef>
                <a:spcPts val="606"/>
              </a:spcBef>
              <a:buClr>
                <a:srgbClr val="292934"/>
              </a:buClr>
              <a:buFont typeface="Arial"/>
              <a:buChar char="•"/>
              <a:tabLst>
                <a:tab pos="496727" algn="l"/>
              </a:tabLst>
            </a:pPr>
            <a:r>
              <a:rPr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Horizontal</a:t>
            </a:r>
            <a:r>
              <a:rPr spc="13" dirty="0">
                <a:solidFill>
                  <a:srgbClr val="C00000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subsets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(formed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by</a:t>
            </a:r>
            <a:r>
              <a:rPr spc="1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RA</a:t>
            </a:r>
            <a:r>
              <a:rPr spc="13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" dirty="0">
                <a:solidFill>
                  <a:srgbClr val="292934"/>
                </a:solidFill>
                <a:latin typeface="Trebuchet MS" panose="020B0603020202020204" pitchFamily="34" charset="0"/>
                <a:cs typeface="Verdana"/>
              </a:rPr>
              <a:t>selection)</a:t>
            </a:r>
            <a:endParaRPr dirty="0">
              <a:latin typeface="Trebuchet MS" panose="020B060302020202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62383"/>
            <a:ext cx="6426349" cy="605030"/>
          </a:xfrm>
          <a:prstGeom prst="rect">
            <a:avLst/>
          </a:prstGeom>
        </p:spPr>
        <p:txBody>
          <a:bodyPr vert="horz" wrap="square" lIns="0" tIns="172459" rIns="0" bIns="0" rtlCol="0">
            <a:spAutoFit/>
          </a:bodyPr>
          <a:lstStyle/>
          <a:p>
            <a:pPr marL="619438">
              <a:spcBef>
                <a:spcPts val="66"/>
              </a:spcBef>
            </a:pPr>
            <a:r>
              <a:rPr spc="-86" dirty="0"/>
              <a:t>Horizontal</a:t>
            </a:r>
            <a:r>
              <a:rPr spc="-132" dirty="0"/>
              <a:t> </a:t>
            </a:r>
            <a:r>
              <a:rPr spc="-73" dirty="0"/>
              <a:t>Fragmentation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07970" y="2451042"/>
          <a:ext cx="1278732" cy="149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0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7077"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48030" y="2462171"/>
          <a:ext cx="1278732" cy="5041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948030" y="3808737"/>
          <a:ext cx="1278732" cy="6718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948030" y="3053219"/>
          <a:ext cx="1278732" cy="5041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089403" y="2717180"/>
            <a:ext cx="863133" cy="1431692"/>
          </a:xfrm>
          <a:custGeom>
            <a:avLst/>
            <a:gdLst/>
            <a:ahLst/>
            <a:cxnLst/>
            <a:rect l="l" t="t" r="r" b="b"/>
            <a:pathLst>
              <a:path w="1304289" h="2163445">
                <a:moveTo>
                  <a:pt x="1304277" y="894969"/>
                </a:moveTo>
                <a:lnTo>
                  <a:pt x="1220457" y="830707"/>
                </a:lnTo>
                <a:lnTo>
                  <a:pt x="1217269" y="831126"/>
                </a:lnTo>
                <a:lnTo>
                  <a:pt x="1213853" y="835571"/>
                </a:lnTo>
                <a:lnTo>
                  <a:pt x="1214272" y="838758"/>
                </a:lnTo>
                <a:lnTo>
                  <a:pt x="1276261" y="886294"/>
                </a:lnTo>
                <a:lnTo>
                  <a:pt x="19697" y="727036"/>
                </a:lnTo>
                <a:lnTo>
                  <a:pt x="1281557" y="20358"/>
                </a:lnTo>
                <a:lnTo>
                  <a:pt x="1241920" y="87655"/>
                </a:lnTo>
                <a:lnTo>
                  <a:pt x="1242631" y="90398"/>
                </a:lnTo>
                <a:lnTo>
                  <a:pt x="1242733" y="90779"/>
                </a:lnTo>
                <a:lnTo>
                  <a:pt x="1247559" y="93624"/>
                </a:lnTo>
                <a:lnTo>
                  <a:pt x="1250670" y="92811"/>
                </a:lnTo>
                <a:lnTo>
                  <a:pt x="1303985" y="2298"/>
                </a:lnTo>
                <a:lnTo>
                  <a:pt x="1304264" y="1816"/>
                </a:lnTo>
                <a:lnTo>
                  <a:pt x="1297076" y="1689"/>
                </a:lnTo>
                <a:lnTo>
                  <a:pt x="1297076" y="11658"/>
                </a:lnTo>
                <a:lnTo>
                  <a:pt x="1296797" y="11811"/>
                </a:lnTo>
                <a:lnTo>
                  <a:pt x="1295387" y="11811"/>
                </a:lnTo>
                <a:lnTo>
                  <a:pt x="1286586" y="11811"/>
                </a:lnTo>
                <a:lnTo>
                  <a:pt x="1286675" y="11658"/>
                </a:lnTo>
                <a:lnTo>
                  <a:pt x="1295298" y="11658"/>
                </a:lnTo>
                <a:lnTo>
                  <a:pt x="1297076" y="11658"/>
                </a:lnTo>
                <a:lnTo>
                  <a:pt x="1297076" y="1689"/>
                </a:lnTo>
                <a:lnTo>
                  <a:pt x="1201483" y="0"/>
                </a:lnTo>
                <a:lnTo>
                  <a:pt x="1198626" y="0"/>
                </a:lnTo>
                <a:lnTo>
                  <a:pt x="1196746" y="1816"/>
                </a:lnTo>
                <a:lnTo>
                  <a:pt x="1196352" y="2298"/>
                </a:lnTo>
                <a:lnTo>
                  <a:pt x="1196263" y="7797"/>
                </a:lnTo>
                <a:lnTo>
                  <a:pt x="1198499" y="10109"/>
                </a:lnTo>
                <a:lnTo>
                  <a:pt x="1276591" y="11493"/>
                </a:lnTo>
                <a:lnTo>
                  <a:pt x="1282" y="725703"/>
                </a:lnTo>
                <a:lnTo>
                  <a:pt x="3759" y="730135"/>
                </a:lnTo>
                <a:lnTo>
                  <a:pt x="0" y="733552"/>
                </a:lnTo>
                <a:lnTo>
                  <a:pt x="1281099" y="2145474"/>
                </a:lnTo>
                <a:lnTo>
                  <a:pt x="1206614" y="2121954"/>
                </a:lnTo>
                <a:lnTo>
                  <a:pt x="1203756" y="2123440"/>
                </a:lnTo>
                <a:lnTo>
                  <a:pt x="1202067" y="2128786"/>
                </a:lnTo>
                <a:lnTo>
                  <a:pt x="1203553" y="2131644"/>
                </a:lnTo>
                <a:lnTo>
                  <a:pt x="1304264" y="2163445"/>
                </a:lnTo>
                <a:lnTo>
                  <a:pt x="1303401" y="2159393"/>
                </a:lnTo>
                <a:lnTo>
                  <a:pt x="1282369" y="2060130"/>
                </a:lnTo>
                <a:lnTo>
                  <a:pt x="1279677" y="2058377"/>
                </a:lnTo>
                <a:lnTo>
                  <a:pt x="1274191" y="2059533"/>
                </a:lnTo>
                <a:lnTo>
                  <a:pt x="1272438" y="2062238"/>
                </a:lnTo>
                <a:lnTo>
                  <a:pt x="1288618" y="2138654"/>
                </a:lnTo>
                <a:lnTo>
                  <a:pt x="16751" y="736917"/>
                </a:lnTo>
                <a:lnTo>
                  <a:pt x="1274991" y="896378"/>
                </a:lnTo>
                <a:lnTo>
                  <a:pt x="1203109" y="926934"/>
                </a:lnTo>
                <a:lnTo>
                  <a:pt x="1201902" y="929919"/>
                </a:lnTo>
                <a:lnTo>
                  <a:pt x="1204099" y="935088"/>
                </a:lnTo>
                <a:lnTo>
                  <a:pt x="1207084" y="936282"/>
                </a:lnTo>
                <a:lnTo>
                  <a:pt x="1295400" y="898740"/>
                </a:lnTo>
                <a:lnTo>
                  <a:pt x="1304277" y="894969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9818" y="846031"/>
            <a:ext cx="7315200" cy="3232279"/>
          </a:xfrm>
          <a:prstGeom prst="rect">
            <a:avLst/>
          </a:prstGeom>
        </p:spPr>
        <p:txBody>
          <a:bodyPr vert="horz" wrap="square" lIns="0" tIns="22272" rIns="0" bIns="0" rtlCol="0">
            <a:spAutoFit/>
          </a:bodyPr>
          <a:lstStyle/>
          <a:p>
            <a:pPr marL="207600" marR="36981" indent="-165996">
              <a:lnSpc>
                <a:spcPct val="93300"/>
              </a:lnSpc>
              <a:spcBef>
                <a:spcPts val="175"/>
              </a:spcBef>
              <a:buSzPct val="85714"/>
              <a:buFont typeface="Arial"/>
              <a:buChar char="•"/>
              <a:tabLst>
                <a:tab pos="207600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Splitting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b="1" dirty="0">
                <a:solidFill>
                  <a:srgbClr val="C00000"/>
                </a:solidFill>
                <a:latin typeface="Verdana"/>
                <a:cs typeface="Verdana"/>
              </a:rPr>
              <a:t>rows</a:t>
            </a:r>
            <a:r>
              <a:rPr sz="1390" b="1" spc="43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1390" spc="2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390" spc="33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C00000"/>
                </a:solidFill>
                <a:latin typeface="Verdana"/>
                <a:cs typeface="Verdana"/>
              </a:rPr>
              <a:t>table</a:t>
            </a:r>
            <a:r>
              <a:rPr sz="1390" spc="2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between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3" dirty="0">
                <a:solidFill>
                  <a:srgbClr val="292934"/>
                </a:solidFill>
                <a:latin typeface="Verdana"/>
                <a:cs typeface="Verdana"/>
              </a:rPr>
              <a:t>more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nodes,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containing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databases)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form</a:t>
            </a:r>
            <a:r>
              <a:rPr sz="1390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distributed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33" dirty="0">
                <a:solidFill>
                  <a:srgbClr val="292934"/>
                </a:solidFill>
                <a:latin typeface="Verdana"/>
                <a:cs typeface="Verdana"/>
              </a:rPr>
              <a:t>–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“</a:t>
            </a:r>
            <a:r>
              <a:rPr sz="1390" b="1" dirty="0">
                <a:solidFill>
                  <a:srgbClr val="C00000"/>
                </a:solidFill>
                <a:latin typeface="Verdana"/>
                <a:cs typeface="Verdana"/>
              </a:rPr>
              <a:t>split</a:t>
            </a:r>
            <a:r>
              <a:rPr sz="1390" b="1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b="1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1390" b="1" spc="5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b="1" spc="-7" dirty="0">
                <a:solidFill>
                  <a:srgbClr val="C00000"/>
                </a:solidFill>
                <a:latin typeface="Verdana"/>
                <a:cs typeface="Verdana"/>
              </a:rPr>
              <a:t>region”</a:t>
            </a:r>
            <a:endParaRPr sz="1390" dirty="0">
              <a:latin typeface="Verdana"/>
              <a:cs typeface="Verdana"/>
            </a:endParaRPr>
          </a:p>
          <a:p>
            <a:pPr marL="207600" marR="326108" indent="-165996">
              <a:lnSpc>
                <a:spcPts val="1602"/>
              </a:lnSpc>
              <a:spcBef>
                <a:spcPts val="1413"/>
              </a:spcBef>
              <a:buSzPct val="85714"/>
              <a:buFont typeface="Arial"/>
              <a:buChar char="•"/>
              <a:tabLst>
                <a:tab pos="207600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individual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belong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7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belongs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specific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endParaRPr sz="1390" dirty="0">
              <a:latin typeface="Verdana"/>
              <a:cs typeface="Verdana"/>
            </a:endParaRPr>
          </a:p>
          <a:p>
            <a:pPr>
              <a:spcBef>
                <a:spcPts val="361"/>
              </a:spcBef>
            </a:pPr>
            <a:endParaRPr sz="1390" dirty="0">
              <a:latin typeface="Verdana"/>
              <a:cs typeface="Verdana"/>
            </a:endParaRPr>
          </a:p>
          <a:p>
            <a:pPr marL="161794" algn="ctr"/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125" spc="-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spc="-7" dirty="0">
                <a:solidFill>
                  <a:srgbClr val="292934"/>
                </a:solidFill>
                <a:latin typeface="Verdana"/>
                <a:cs typeface="Verdana"/>
              </a:rPr>
              <a:t>nodes</a:t>
            </a:r>
            <a:endParaRPr sz="1125" dirty="0">
              <a:latin typeface="Verdana"/>
              <a:cs typeface="Verdana"/>
            </a:endParaRPr>
          </a:p>
          <a:p>
            <a:pPr>
              <a:spcBef>
                <a:spcPts val="26"/>
              </a:spcBef>
            </a:pPr>
            <a:endParaRPr sz="1125" dirty="0">
              <a:latin typeface="Verdana"/>
              <a:cs typeface="Verdana"/>
            </a:endParaRPr>
          </a:p>
          <a:p>
            <a:pPr marL="4354978"/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291" baseline="-17094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257" spc="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-inf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&lt;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PK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&lt;=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291" spc="-24" baseline="-17094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endParaRPr sz="1291" baseline="-17094" dirty="0">
              <a:latin typeface="Verdana"/>
              <a:cs typeface="Verdana"/>
            </a:endParaRPr>
          </a:p>
          <a:p>
            <a:pPr>
              <a:spcBef>
                <a:spcPts val="996"/>
              </a:spcBef>
            </a:pPr>
            <a:endParaRPr sz="1257" dirty="0">
              <a:latin typeface="Verdana"/>
              <a:cs typeface="Verdana"/>
            </a:endParaRPr>
          </a:p>
          <a:p>
            <a:pPr marL="4354978"/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291" baseline="-17094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257" spc="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291" baseline="-17094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291" spc="203" baseline="-1709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&lt;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PK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&lt;=</a:t>
            </a:r>
            <a:r>
              <a:rPr sz="1257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291" spc="-24" baseline="-17094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endParaRPr sz="1291" baseline="-17094" dirty="0">
              <a:latin typeface="Verdana"/>
              <a:cs typeface="Verdana"/>
            </a:endParaRPr>
          </a:p>
          <a:p>
            <a:pPr>
              <a:spcBef>
                <a:spcPts val="251"/>
              </a:spcBef>
            </a:pPr>
            <a:endParaRPr sz="1257" dirty="0">
              <a:latin typeface="Verdana"/>
              <a:cs typeface="Verdana"/>
            </a:endParaRPr>
          </a:p>
          <a:p>
            <a:pPr marL="241219" algn="ctr"/>
            <a:r>
              <a:rPr sz="1257" spc="-33" dirty="0">
                <a:solidFill>
                  <a:srgbClr val="292934"/>
                </a:solidFill>
                <a:latin typeface="Verdana"/>
                <a:cs typeface="Verdana"/>
              </a:rPr>
              <a:t>…</a:t>
            </a:r>
            <a:endParaRPr sz="1257" dirty="0">
              <a:latin typeface="Verdana"/>
              <a:cs typeface="Verdana"/>
            </a:endParaRPr>
          </a:p>
          <a:p>
            <a:pPr>
              <a:spcBef>
                <a:spcPts val="711"/>
              </a:spcBef>
            </a:pPr>
            <a:endParaRPr sz="1257" dirty="0">
              <a:latin typeface="Verdana"/>
              <a:cs typeface="Verdana"/>
            </a:endParaRPr>
          </a:p>
          <a:p>
            <a:pPr marL="4354978"/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291" baseline="-17094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, v</a:t>
            </a:r>
            <a:r>
              <a:rPr sz="1291" baseline="-17094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291" spc="199" baseline="-1709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&lt;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PK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&lt;</a:t>
            </a:r>
            <a:r>
              <a:rPr sz="1257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inf</a:t>
            </a:r>
            <a:endParaRPr sz="1257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2"/>
            <a:ext cx="5283349" cy="591383"/>
          </a:xfrm>
          <a:prstGeom prst="rect">
            <a:avLst/>
          </a:prstGeom>
        </p:spPr>
        <p:txBody>
          <a:bodyPr vert="horz" wrap="square" lIns="0" tIns="202378" rIns="0" bIns="0" rtlCol="0">
            <a:spAutoFit/>
          </a:bodyPr>
          <a:lstStyle/>
          <a:p>
            <a:pPr marL="30678">
              <a:spcBef>
                <a:spcPts val="66"/>
              </a:spcBef>
            </a:pPr>
            <a:r>
              <a:rPr sz="2515" spc="-56" dirty="0"/>
              <a:t>Example:</a:t>
            </a:r>
            <a:r>
              <a:rPr sz="2515" spc="-122" dirty="0"/>
              <a:t> </a:t>
            </a:r>
            <a:r>
              <a:rPr sz="2515" spc="-63" dirty="0"/>
              <a:t>Horizontal</a:t>
            </a:r>
            <a:r>
              <a:rPr sz="2515" spc="-122" dirty="0"/>
              <a:t> </a:t>
            </a:r>
            <a:r>
              <a:rPr sz="2515" spc="-40" dirty="0"/>
              <a:t>Fragmentation</a:t>
            </a:r>
            <a:endParaRPr sz="251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2225" y="1299648"/>
          <a:ext cx="2745299" cy="1548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stuId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2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credits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Smith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Tom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History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Chin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Ann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36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Lee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Perry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History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Burns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Edward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Art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63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McCarthy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Owen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54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Jones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Rivera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Jane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CSC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259625" y="1418875"/>
            <a:ext cx="631171" cy="1894354"/>
          </a:xfrm>
          <a:custGeom>
            <a:avLst/>
            <a:gdLst/>
            <a:ahLst/>
            <a:cxnLst/>
            <a:rect l="l" t="t" r="r" b="b"/>
            <a:pathLst>
              <a:path w="953770" h="2862579">
                <a:moveTo>
                  <a:pt x="953223" y="2756789"/>
                </a:moveTo>
                <a:lnTo>
                  <a:pt x="951103" y="2754376"/>
                </a:lnTo>
                <a:lnTo>
                  <a:pt x="945502" y="2753995"/>
                </a:lnTo>
                <a:lnTo>
                  <a:pt x="943076" y="2756116"/>
                </a:lnTo>
                <a:lnTo>
                  <a:pt x="937869" y="2834055"/>
                </a:lnTo>
                <a:lnTo>
                  <a:pt x="17068" y="981557"/>
                </a:lnTo>
                <a:lnTo>
                  <a:pt x="918984" y="1542097"/>
                </a:lnTo>
                <a:lnTo>
                  <a:pt x="840892" y="1539900"/>
                </a:lnTo>
                <a:lnTo>
                  <a:pt x="838555" y="1542110"/>
                </a:lnTo>
                <a:lnTo>
                  <a:pt x="838517" y="1543380"/>
                </a:lnTo>
                <a:lnTo>
                  <a:pt x="838403" y="1547723"/>
                </a:lnTo>
                <a:lnTo>
                  <a:pt x="840689" y="1550136"/>
                </a:lnTo>
                <a:lnTo>
                  <a:pt x="843419" y="1550136"/>
                </a:lnTo>
                <a:lnTo>
                  <a:pt x="946175" y="1553019"/>
                </a:lnTo>
                <a:lnTo>
                  <a:pt x="945654" y="1552003"/>
                </a:lnTo>
                <a:lnTo>
                  <a:pt x="934948" y="1531785"/>
                </a:lnTo>
                <a:lnTo>
                  <a:pt x="934948" y="1552003"/>
                </a:lnTo>
                <a:lnTo>
                  <a:pt x="919010" y="1542110"/>
                </a:lnTo>
                <a:lnTo>
                  <a:pt x="934948" y="1552003"/>
                </a:lnTo>
                <a:lnTo>
                  <a:pt x="934948" y="1531785"/>
                </a:lnTo>
                <a:lnTo>
                  <a:pt x="896785" y="1459661"/>
                </a:lnTo>
                <a:lnTo>
                  <a:pt x="893711" y="1458709"/>
                </a:lnTo>
                <a:lnTo>
                  <a:pt x="888758" y="1461338"/>
                </a:lnTo>
                <a:lnTo>
                  <a:pt x="887806" y="1464411"/>
                </a:lnTo>
                <a:lnTo>
                  <a:pt x="924344" y="1533461"/>
                </a:lnTo>
                <a:lnTo>
                  <a:pt x="12585" y="966800"/>
                </a:lnTo>
                <a:lnTo>
                  <a:pt x="929678" y="24231"/>
                </a:lnTo>
                <a:lnTo>
                  <a:pt x="910907" y="99771"/>
                </a:lnTo>
                <a:lnTo>
                  <a:pt x="910844" y="100037"/>
                </a:lnTo>
                <a:lnTo>
                  <a:pt x="912495" y="102793"/>
                </a:lnTo>
                <a:lnTo>
                  <a:pt x="917943" y="104152"/>
                </a:lnTo>
                <a:lnTo>
                  <a:pt x="920699" y="102489"/>
                </a:lnTo>
                <a:lnTo>
                  <a:pt x="945261" y="3670"/>
                </a:lnTo>
                <a:lnTo>
                  <a:pt x="946175" y="0"/>
                </a:lnTo>
                <a:lnTo>
                  <a:pt x="844423" y="28270"/>
                </a:lnTo>
                <a:lnTo>
                  <a:pt x="842835" y="31064"/>
                </a:lnTo>
                <a:lnTo>
                  <a:pt x="844334" y="36474"/>
                </a:lnTo>
                <a:lnTo>
                  <a:pt x="847140" y="38061"/>
                </a:lnTo>
                <a:lnTo>
                  <a:pt x="922401" y="17145"/>
                </a:lnTo>
                <a:lnTo>
                  <a:pt x="914" y="964247"/>
                </a:lnTo>
                <a:lnTo>
                  <a:pt x="4533" y="967790"/>
                </a:lnTo>
                <a:lnTo>
                  <a:pt x="0" y="970051"/>
                </a:lnTo>
                <a:lnTo>
                  <a:pt x="928776" y="2838577"/>
                </a:lnTo>
                <a:lnTo>
                  <a:pt x="863498" y="2795676"/>
                </a:lnTo>
                <a:lnTo>
                  <a:pt x="860348" y="2796324"/>
                </a:lnTo>
                <a:lnTo>
                  <a:pt x="857262" y="2801023"/>
                </a:lnTo>
                <a:lnTo>
                  <a:pt x="857910" y="2804172"/>
                </a:lnTo>
                <a:lnTo>
                  <a:pt x="946175" y="2862173"/>
                </a:lnTo>
                <a:lnTo>
                  <a:pt x="946632" y="2855353"/>
                </a:lnTo>
                <a:lnTo>
                  <a:pt x="953223" y="2756789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881282" y="994848"/>
          <a:ext cx="2745299" cy="85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stuId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credits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Chin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Ann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36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McCarthy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Owen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5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Jones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3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881282" y="2106471"/>
          <a:ext cx="2745299" cy="6849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stuId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2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credits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Smith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Tom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History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Lee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Perry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History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5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881282" y="3056729"/>
          <a:ext cx="2745299" cy="5065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stuId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1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ts val="154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credits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Burns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Edward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Art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63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3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881282" y="3840256"/>
          <a:ext cx="2745299" cy="5255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stuId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0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ts val="155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credits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Rivera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Jane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CSC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4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259426" y="2058333"/>
            <a:ext cx="642517" cy="2038490"/>
          </a:xfrm>
          <a:custGeom>
            <a:avLst/>
            <a:gdLst/>
            <a:ahLst/>
            <a:cxnLst/>
            <a:rect l="l" t="t" r="r" b="b"/>
            <a:pathLst>
              <a:path w="970914" h="3080385">
                <a:moveTo>
                  <a:pt x="875935" y="3000862"/>
                </a:moveTo>
                <a:lnTo>
                  <a:pt x="872583" y="3000862"/>
                </a:lnTo>
                <a:lnTo>
                  <a:pt x="868776" y="3004983"/>
                </a:lnTo>
                <a:lnTo>
                  <a:pt x="868903" y="3008198"/>
                </a:lnTo>
                <a:lnTo>
                  <a:pt x="946475" y="3079868"/>
                </a:lnTo>
                <a:lnTo>
                  <a:pt x="948397" y="3071702"/>
                </a:lnTo>
                <a:lnTo>
                  <a:pt x="938664" y="3071702"/>
                </a:lnTo>
                <a:lnTo>
                  <a:pt x="933171" y="3053745"/>
                </a:lnTo>
                <a:lnTo>
                  <a:pt x="875935" y="3000862"/>
                </a:lnTo>
                <a:close/>
              </a:path>
              <a:path w="970914" h="3080385">
                <a:moveTo>
                  <a:pt x="933171" y="3053745"/>
                </a:moveTo>
                <a:lnTo>
                  <a:pt x="938664" y="3071702"/>
                </a:lnTo>
                <a:lnTo>
                  <a:pt x="947292" y="3069062"/>
                </a:lnTo>
                <a:lnTo>
                  <a:pt x="938580" y="3069062"/>
                </a:lnTo>
                <a:lnTo>
                  <a:pt x="940576" y="3060586"/>
                </a:lnTo>
                <a:lnTo>
                  <a:pt x="933171" y="3053745"/>
                </a:lnTo>
                <a:close/>
              </a:path>
              <a:path w="970914" h="3080385">
                <a:moveTo>
                  <a:pt x="963524" y="2973045"/>
                </a:moveTo>
                <a:lnTo>
                  <a:pt x="960789" y="2974738"/>
                </a:lnTo>
                <a:lnTo>
                  <a:pt x="942887" y="3050772"/>
                </a:lnTo>
                <a:lnTo>
                  <a:pt x="948380" y="3068730"/>
                </a:lnTo>
                <a:lnTo>
                  <a:pt x="938664" y="3071702"/>
                </a:lnTo>
                <a:lnTo>
                  <a:pt x="948397" y="3071702"/>
                </a:lnTo>
                <a:lnTo>
                  <a:pt x="970678" y="2977066"/>
                </a:lnTo>
                <a:lnTo>
                  <a:pt x="968985" y="2974332"/>
                </a:lnTo>
                <a:lnTo>
                  <a:pt x="963524" y="2973045"/>
                </a:lnTo>
                <a:close/>
              </a:path>
              <a:path w="970914" h="3080385">
                <a:moveTo>
                  <a:pt x="940576" y="3060586"/>
                </a:moveTo>
                <a:lnTo>
                  <a:pt x="938659" y="3068730"/>
                </a:lnTo>
                <a:lnTo>
                  <a:pt x="938580" y="3069062"/>
                </a:lnTo>
                <a:lnTo>
                  <a:pt x="946972" y="3066496"/>
                </a:lnTo>
                <a:lnTo>
                  <a:pt x="940576" y="3060586"/>
                </a:lnTo>
                <a:close/>
              </a:path>
              <a:path w="970914" h="3080385">
                <a:moveTo>
                  <a:pt x="942887" y="3050772"/>
                </a:moveTo>
                <a:lnTo>
                  <a:pt x="940576" y="3060586"/>
                </a:lnTo>
                <a:lnTo>
                  <a:pt x="946972" y="3066496"/>
                </a:lnTo>
                <a:lnTo>
                  <a:pt x="938580" y="3069062"/>
                </a:lnTo>
                <a:lnTo>
                  <a:pt x="947292" y="3069062"/>
                </a:lnTo>
                <a:lnTo>
                  <a:pt x="948380" y="3068730"/>
                </a:lnTo>
                <a:lnTo>
                  <a:pt x="942887" y="3050772"/>
                </a:lnTo>
                <a:close/>
              </a:path>
              <a:path w="970914" h="3080385">
                <a:moveTo>
                  <a:pt x="9715" y="0"/>
                </a:moveTo>
                <a:lnTo>
                  <a:pt x="0" y="2971"/>
                </a:lnTo>
                <a:lnTo>
                  <a:pt x="933171" y="3053745"/>
                </a:lnTo>
                <a:lnTo>
                  <a:pt x="940576" y="3060586"/>
                </a:lnTo>
                <a:lnTo>
                  <a:pt x="942887" y="3050772"/>
                </a:lnTo>
                <a:lnTo>
                  <a:pt x="9715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54477" y="785309"/>
            <a:ext cx="1611546" cy="22239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5215">
              <a:spcBef>
                <a:spcPts val="66"/>
              </a:spcBef>
            </a:pPr>
            <a:r>
              <a:rPr sz="2085" spc="-10" baseline="10582" dirty="0">
                <a:solidFill>
                  <a:srgbClr val="292934"/>
                </a:solidFill>
                <a:latin typeface="Times New Roman"/>
                <a:cs typeface="Times New Roman"/>
              </a:rPr>
              <a:t>σ</a:t>
            </a:r>
            <a:r>
              <a:rPr sz="860" spc="-7" dirty="0">
                <a:solidFill>
                  <a:srgbClr val="292934"/>
                </a:solidFill>
                <a:latin typeface="Verdana"/>
                <a:cs typeface="Verdana"/>
              </a:rPr>
              <a:t>major=“Math”</a:t>
            </a:r>
            <a:r>
              <a:rPr sz="860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89" spc="-10" baseline="14814" dirty="0">
                <a:solidFill>
                  <a:srgbClr val="292934"/>
                </a:solidFill>
                <a:latin typeface="Verdana"/>
                <a:cs typeface="Verdana"/>
              </a:rPr>
              <a:t>(students)</a:t>
            </a:r>
            <a:endParaRPr sz="1489" baseline="14814">
              <a:latin typeface="Verdana"/>
              <a:cs typeface="Verdan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5600700" y="3165522"/>
            <a:ext cx="1391771" cy="139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15">
              <a:lnSpc>
                <a:spcPts val="870"/>
              </a:lnSpc>
            </a:pPr>
            <a:fld id="{81D60167-4931-47E6-BA6A-407CBD079E47}" type="slidenum">
              <a:rPr spc="-17" dirty="0"/>
              <a:pPr marL="25215">
                <a:lnSpc>
                  <a:spcPts val="870"/>
                </a:lnSpc>
              </a:pPr>
              <a:t>22</a:t>
            </a:fld>
            <a:endParaRPr spc="-17" dirty="0"/>
          </a:p>
        </p:txBody>
      </p:sp>
      <p:sp>
        <p:nvSpPr>
          <p:cNvPr id="11" name="object 11"/>
          <p:cNvSpPr txBox="1"/>
          <p:nvPr/>
        </p:nvSpPr>
        <p:spPr>
          <a:xfrm>
            <a:off x="4927583" y="1892674"/>
            <a:ext cx="1728367" cy="22239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5215">
              <a:spcBef>
                <a:spcPts val="66"/>
              </a:spcBef>
            </a:pPr>
            <a:r>
              <a:rPr sz="2085" spc="-10" baseline="10582" dirty="0">
                <a:solidFill>
                  <a:srgbClr val="292934"/>
                </a:solidFill>
                <a:latin typeface="Times New Roman"/>
                <a:cs typeface="Times New Roman"/>
              </a:rPr>
              <a:t>σ</a:t>
            </a:r>
            <a:r>
              <a:rPr sz="860" spc="-7" dirty="0">
                <a:solidFill>
                  <a:srgbClr val="292934"/>
                </a:solidFill>
                <a:latin typeface="Verdana"/>
                <a:cs typeface="Verdana"/>
              </a:rPr>
              <a:t>major=“History”</a:t>
            </a:r>
            <a:r>
              <a:rPr sz="86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89" spc="-10" baseline="14814" dirty="0">
                <a:solidFill>
                  <a:srgbClr val="292934"/>
                </a:solidFill>
                <a:latin typeface="Verdana"/>
                <a:cs typeface="Verdana"/>
              </a:rPr>
              <a:t>(students)</a:t>
            </a:r>
            <a:endParaRPr sz="1489" baseline="14814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7582" y="2800350"/>
            <a:ext cx="1503129" cy="22239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5215">
              <a:spcBef>
                <a:spcPts val="66"/>
              </a:spcBef>
            </a:pPr>
            <a:r>
              <a:rPr sz="1390" spc="-7" dirty="0">
                <a:solidFill>
                  <a:srgbClr val="292934"/>
                </a:solidFill>
                <a:latin typeface="Times New Roman"/>
                <a:cs typeface="Times New Roman"/>
              </a:rPr>
              <a:t>σ</a:t>
            </a:r>
            <a:r>
              <a:rPr sz="1291" spc="-10" baseline="-17094" dirty="0">
                <a:solidFill>
                  <a:srgbClr val="292934"/>
                </a:solidFill>
                <a:latin typeface="Verdana"/>
                <a:cs typeface="Verdana"/>
              </a:rPr>
              <a:t>major=“Art”</a:t>
            </a:r>
            <a:r>
              <a:rPr sz="1291" spc="-94" baseline="-1709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993" spc="-7" dirty="0">
                <a:solidFill>
                  <a:srgbClr val="292934"/>
                </a:solidFill>
                <a:latin typeface="Verdana"/>
                <a:cs typeface="Verdana"/>
              </a:rPr>
              <a:t>(students)</a:t>
            </a:r>
            <a:endParaRPr sz="993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7582" y="3591037"/>
            <a:ext cx="1569104" cy="22239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5215">
              <a:spcBef>
                <a:spcPts val="66"/>
              </a:spcBef>
            </a:pPr>
            <a:r>
              <a:rPr sz="1390" spc="-7" dirty="0">
                <a:solidFill>
                  <a:srgbClr val="292934"/>
                </a:solidFill>
                <a:latin typeface="Times New Roman"/>
                <a:cs typeface="Times New Roman"/>
              </a:rPr>
              <a:t>σ</a:t>
            </a:r>
            <a:r>
              <a:rPr sz="1291" spc="-10" baseline="-17094" dirty="0">
                <a:solidFill>
                  <a:srgbClr val="292934"/>
                </a:solidFill>
                <a:latin typeface="Verdana"/>
                <a:cs typeface="Verdana"/>
              </a:rPr>
              <a:t>major=“CSC”</a:t>
            </a:r>
            <a:r>
              <a:rPr sz="1291" spc="-69" baseline="-1709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993" spc="-7" dirty="0">
                <a:solidFill>
                  <a:srgbClr val="292934"/>
                </a:solidFill>
                <a:latin typeface="Verdana"/>
                <a:cs typeface="Verdana"/>
              </a:rPr>
              <a:t>(students)</a:t>
            </a:r>
            <a:endParaRPr sz="99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2"/>
            <a:ext cx="5494020" cy="605030"/>
          </a:xfrm>
          <a:prstGeom prst="rect">
            <a:avLst/>
          </a:prstGeom>
        </p:spPr>
        <p:txBody>
          <a:bodyPr vert="horz" wrap="square" lIns="0" tIns="172459" rIns="0" bIns="0" rtlCol="0">
            <a:spAutoFit/>
          </a:bodyPr>
          <a:lstStyle/>
          <a:p>
            <a:pPr marL="619438">
              <a:spcBef>
                <a:spcPts val="66"/>
              </a:spcBef>
            </a:pPr>
            <a:r>
              <a:rPr spc="-86" dirty="0"/>
              <a:t>Horizontal</a:t>
            </a:r>
            <a:r>
              <a:rPr spc="-132" dirty="0"/>
              <a:t> </a:t>
            </a:r>
            <a:r>
              <a:rPr spc="-73" dirty="0"/>
              <a:t>Fragmentation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301253" y="3165521"/>
            <a:ext cx="1936376" cy="555695"/>
          </a:xfrm>
          <a:prstGeom prst="rect">
            <a:avLst/>
          </a:prstGeom>
        </p:spPr>
        <p:txBody>
          <a:bodyPr vert="horz" wrap="square" lIns="0" tIns="1681" rIns="0" bIns="0" rtlCol="0">
            <a:spAutoFit/>
          </a:bodyPr>
          <a:lstStyle/>
          <a:p>
            <a:pPr marL="8405">
              <a:spcBef>
                <a:spcPts val="13"/>
              </a:spcBef>
            </a:pPr>
            <a:r>
              <a:rPr dirty="0"/>
              <a:t>©</a:t>
            </a:r>
            <a:r>
              <a:rPr spc="-33" dirty="0"/>
              <a:t> </a:t>
            </a:r>
            <a:r>
              <a:rPr spc="-13" dirty="0"/>
              <a:t>Praphamontripong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600700" y="3165522"/>
            <a:ext cx="1391771" cy="139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15">
              <a:lnSpc>
                <a:spcPts val="870"/>
              </a:lnSpc>
            </a:pPr>
            <a:fld id="{81D60167-4931-47E6-BA6A-407CBD079E47}" type="slidenum">
              <a:rPr spc="-17" dirty="0"/>
              <a:pPr marL="25215">
                <a:lnSpc>
                  <a:spcPts val="870"/>
                </a:lnSpc>
              </a:pPr>
              <a:t>23</a:t>
            </a:fld>
            <a:endParaRPr spc="-17" dirty="0"/>
          </a:p>
        </p:txBody>
      </p:sp>
      <p:sp>
        <p:nvSpPr>
          <p:cNvPr id="3" name="object 3"/>
          <p:cNvSpPr txBox="1"/>
          <p:nvPr/>
        </p:nvSpPr>
        <p:spPr>
          <a:xfrm>
            <a:off x="1498426" y="789342"/>
            <a:ext cx="6028064" cy="325347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73981" indent="-165576">
              <a:spcBef>
                <a:spcPts val="66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access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efficient</a:t>
            </a:r>
            <a:endParaRPr sz="1390">
              <a:latin typeface="Verdana"/>
              <a:cs typeface="Verdana"/>
            </a:endParaRPr>
          </a:p>
          <a:p>
            <a:pPr marL="173981" indent="-165576">
              <a:spcBef>
                <a:spcPts val="1238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Best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partitions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uniform</a:t>
            </a:r>
            <a:endParaRPr sz="1390">
              <a:latin typeface="Verdana"/>
              <a:cs typeface="Verdana"/>
            </a:endParaRPr>
          </a:p>
          <a:p>
            <a:pPr marL="173981" marR="578674" indent="-165996">
              <a:lnSpc>
                <a:spcPts val="1522"/>
              </a:lnSpc>
              <a:spcBef>
                <a:spcPts val="1489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Optimal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local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33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specific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endParaRPr sz="1390">
              <a:latin typeface="Verdana"/>
              <a:cs typeface="Verdana"/>
            </a:endParaRPr>
          </a:p>
          <a:p>
            <a:pPr marL="173981" indent="-165576">
              <a:spcBef>
                <a:spcPts val="1217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Allow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parallel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processing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fragments</a:t>
            </a:r>
            <a:endParaRPr sz="1390">
              <a:latin typeface="Verdana"/>
              <a:cs typeface="Verdana"/>
            </a:endParaRPr>
          </a:p>
          <a:p>
            <a:pPr marL="173981" marR="3362" indent="-165996">
              <a:lnSpc>
                <a:spcPts val="1522"/>
              </a:lnSpc>
              <a:spcBef>
                <a:spcPts val="1489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secure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belonging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location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7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endParaRPr sz="1390">
              <a:latin typeface="Verdana"/>
              <a:cs typeface="Verdana"/>
            </a:endParaRPr>
          </a:p>
          <a:p>
            <a:pPr marL="173981" marR="473194" indent="-165996">
              <a:lnSpc>
                <a:spcPts val="1522"/>
              </a:lnSpc>
              <a:spcBef>
                <a:spcPts val="1386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user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wants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access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nodes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33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combination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node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information,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access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latency</a:t>
            </a:r>
            <a:r>
              <a:rPr sz="1390" spc="4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varies.</a:t>
            </a:r>
            <a:endParaRPr sz="1390">
              <a:latin typeface="Verdana"/>
              <a:cs typeface="Verdana"/>
            </a:endParaRPr>
          </a:p>
          <a:p>
            <a:pPr marL="173981" marR="157591" indent="-165996">
              <a:lnSpc>
                <a:spcPts val="1522"/>
              </a:lnSpc>
              <a:spcBef>
                <a:spcPts val="1453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390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problem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node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network,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information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related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node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becomes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inaccessible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users</a:t>
            </a:r>
            <a:endParaRPr sz="139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2"/>
            <a:ext cx="5664349" cy="605030"/>
          </a:xfrm>
          <a:prstGeom prst="rect">
            <a:avLst/>
          </a:prstGeom>
        </p:spPr>
        <p:txBody>
          <a:bodyPr vert="horz" wrap="square" lIns="0" tIns="172459" rIns="0" bIns="0" rtlCol="0">
            <a:spAutoFit/>
          </a:bodyPr>
          <a:lstStyle/>
          <a:p>
            <a:pPr marL="937142">
              <a:spcBef>
                <a:spcPts val="66"/>
              </a:spcBef>
            </a:pPr>
            <a:r>
              <a:rPr spc="-86" dirty="0"/>
              <a:t>Vertical</a:t>
            </a:r>
            <a:r>
              <a:rPr spc="-142" dirty="0"/>
              <a:t> </a:t>
            </a:r>
            <a:r>
              <a:rPr spc="-75" dirty="0"/>
              <a:t>Fragmentation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07149" y="2929583"/>
          <a:ext cx="2849096" cy="653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4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4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49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4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9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49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R="1905" algn="ctr">
                        <a:lnSpc>
                          <a:spcPts val="154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09220" algn="ctr">
                        <a:lnSpc>
                          <a:spcPts val="151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09220" algn="ctr">
                        <a:lnSpc>
                          <a:spcPts val="154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09220" algn="ctr">
                        <a:lnSpc>
                          <a:spcPts val="154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09220" algn="ctr">
                        <a:lnSpc>
                          <a:spcPts val="154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17475" algn="ctr">
                        <a:lnSpc>
                          <a:spcPts val="154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26364" algn="ctr">
                        <a:lnSpc>
                          <a:spcPts val="154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54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077">
                <a:tc>
                  <a:txBody>
                    <a:bodyPr/>
                    <a:lstStyle/>
                    <a:p>
                      <a:pPr marR="62230" algn="ctr">
                        <a:lnSpc>
                          <a:spcPts val="13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3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3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3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3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3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3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3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021937" y="2417655"/>
          <a:ext cx="869856" cy="663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R="9525" algn="ctr">
                        <a:lnSpc>
                          <a:spcPts val="1535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1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077">
                <a:tc>
                  <a:txBody>
                    <a:bodyPr/>
                    <a:lstStyle/>
                    <a:p>
                      <a:pPr marR="69850" algn="ctr">
                        <a:lnSpc>
                          <a:spcPts val="135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5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5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021935" y="3141013"/>
          <a:ext cx="1759883" cy="653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3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R="14604" algn="ctr">
                        <a:lnSpc>
                          <a:spcPts val="1545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ts val="154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ctr">
                        <a:lnSpc>
                          <a:spcPts val="154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077">
                <a:tc>
                  <a:txBody>
                    <a:bodyPr/>
                    <a:lstStyle/>
                    <a:p>
                      <a:pPr marR="74930" algn="ctr">
                        <a:lnSpc>
                          <a:spcPts val="13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ts val="13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ts val="13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021937" y="4019551"/>
          <a:ext cx="591670" cy="663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R="18415" algn="ctr">
                        <a:lnSpc>
                          <a:spcPts val="153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10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077">
                <a:tc>
                  <a:txBody>
                    <a:bodyPr/>
                    <a:lstStyle/>
                    <a:p>
                      <a:pPr marR="78740" algn="ctr">
                        <a:lnSpc>
                          <a:spcPts val="13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106683" y="3742989"/>
            <a:ext cx="147497" cy="20193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257" spc="-33" dirty="0">
                <a:solidFill>
                  <a:srgbClr val="292934"/>
                </a:solidFill>
                <a:latin typeface="Verdana"/>
                <a:cs typeface="Verdana"/>
              </a:rPr>
              <a:t>…</a:t>
            </a:r>
            <a:endParaRPr sz="1257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57679" y="2747419"/>
            <a:ext cx="668991" cy="1602301"/>
          </a:xfrm>
          <a:custGeom>
            <a:avLst/>
            <a:gdLst/>
            <a:ahLst/>
            <a:cxnLst/>
            <a:rect l="l" t="t" r="r" b="b"/>
            <a:pathLst>
              <a:path w="1010920" h="2421254">
                <a:moveTo>
                  <a:pt x="1010551" y="0"/>
                </a:moveTo>
                <a:lnTo>
                  <a:pt x="905802" y="13411"/>
                </a:lnTo>
                <a:lnTo>
                  <a:pt x="903833" y="15951"/>
                </a:lnTo>
                <a:lnTo>
                  <a:pt x="904671" y="21615"/>
                </a:lnTo>
                <a:lnTo>
                  <a:pt x="907084" y="23482"/>
                </a:lnTo>
                <a:lnTo>
                  <a:pt x="984567" y="13563"/>
                </a:lnTo>
                <a:lnTo>
                  <a:pt x="1244" y="769556"/>
                </a:lnTo>
                <a:lnTo>
                  <a:pt x="4318" y="773595"/>
                </a:lnTo>
                <a:lnTo>
                  <a:pt x="0" y="776236"/>
                </a:lnTo>
                <a:lnTo>
                  <a:pt x="991158" y="2398687"/>
                </a:lnTo>
                <a:lnTo>
                  <a:pt x="922401" y="2361628"/>
                </a:lnTo>
                <a:lnTo>
                  <a:pt x="919314" y="2362543"/>
                </a:lnTo>
                <a:lnTo>
                  <a:pt x="916660" y="2367483"/>
                </a:lnTo>
                <a:lnTo>
                  <a:pt x="917575" y="2370569"/>
                </a:lnTo>
                <a:lnTo>
                  <a:pt x="1010551" y="2420670"/>
                </a:lnTo>
                <a:lnTo>
                  <a:pt x="1010424" y="2414727"/>
                </a:lnTo>
                <a:lnTo>
                  <a:pt x="1008468" y="2318093"/>
                </a:lnTo>
                <a:lnTo>
                  <a:pt x="1008405" y="2315083"/>
                </a:lnTo>
                <a:lnTo>
                  <a:pt x="1006195" y="2312962"/>
                </a:lnTo>
                <a:lnTo>
                  <a:pt x="1000467" y="2312962"/>
                </a:lnTo>
                <a:lnTo>
                  <a:pt x="998245" y="2315286"/>
                </a:lnTo>
                <a:lnTo>
                  <a:pt x="999832" y="2393391"/>
                </a:lnTo>
                <a:lnTo>
                  <a:pt x="15760" y="782561"/>
                </a:lnTo>
                <a:lnTo>
                  <a:pt x="981494" y="1089190"/>
                </a:lnTo>
                <a:lnTo>
                  <a:pt x="905281" y="1106284"/>
                </a:lnTo>
                <a:lnTo>
                  <a:pt x="903554" y="1109002"/>
                </a:lnTo>
                <a:lnTo>
                  <a:pt x="904786" y="1114475"/>
                </a:lnTo>
                <a:lnTo>
                  <a:pt x="907503" y="1116203"/>
                </a:lnTo>
                <a:lnTo>
                  <a:pt x="1002563" y="1094879"/>
                </a:lnTo>
                <a:lnTo>
                  <a:pt x="1010551" y="1093089"/>
                </a:lnTo>
                <a:lnTo>
                  <a:pt x="939711" y="1014768"/>
                </a:lnTo>
                <a:lnTo>
                  <a:pt x="936498" y="1014603"/>
                </a:lnTo>
                <a:lnTo>
                  <a:pt x="932332" y="1018362"/>
                </a:lnTo>
                <a:lnTo>
                  <a:pt x="932180" y="1021575"/>
                </a:lnTo>
                <a:lnTo>
                  <a:pt x="984567" y="1079512"/>
                </a:lnTo>
                <a:lnTo>
                  <a:pt x="15138" y="771690"/>
                </a:lnTo>
                <a:lnTo>
                  <a:pt x="990765" y="21615"/>
                </a:lnTo>
                <a:lnTo>
                  <a:pt x="961263" y="93954"/>
                </a:lnTo>
                <a:lnTo>
                  <a:pt x="962507" y="96913"/>
                </a:lnTo>
                <a:lnTo>
                  <a:pt x="967701" y="99034"/>
                </a:lnTo>
                <a:lnTo>
                  <a:pt x="970661" y="97790"/>
                </a:lnTo>
                <a:lnTo>
                  <a:pt x="1009688" y="2108"/>
                </a:lnTo>
                <a:lnTo>
                  <a:pt x="1010551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98425" y="789342"/>
            <a:ext cx="6201615" cy="198210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73981" indent="-165576">
              <a:spcBef>
                <a:spcPts val="66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(aka</a:t>
            </a:r>
            <a:r>
              <a:rPr sz="1390" spc="4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normalization</a:t>
            </a:r>
            <a:r>
              <a:rPr sz="1390" spc="4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process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9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distributed</a:t>
            </a:r>
            <a:r>
              <a:rPr sz="139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90" spc="4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setup)</a:t>
            </a:r>
            <a:endParaRPr sz="1390" dirty="0">
              <a:latin typeface="Verdana"/>
              <a:cs typeface="Verdana"/>
            </a:endParaRPr>
          </a:p>
          <a:p>
            <a:pPr marL="173981" marR="165996" indent="-165996">
              <a:lnSpc>
                <a:spcPct val="94000"/>
              </a:lnSpc>
              <a:spcBef>
                <a:spcPts val="1671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Splitting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b="1" dirty="0">
                <a:solidFill>
                  <a:srgbClr val="C00000"/>
                </a:solidFill>
                <a:latin typeface="Verdana"/>
                <a:cs typeface="Verdana"/>
              </a:rPr>
              <a:t>columns</a:t>
            </a:r>
            <a:r>
              <a:rPr sz="1390" b="1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139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390" spc="33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C00000"/>
                </a:solidFill>
                <a:latin typeface="Verdana"/>
                <a:cs typeface="Verdana"/>
              </a:rPr>
              <a:t>table</a:t>
            </a:r>
            <a:r>
              <a:rPr sz="1390" spc="33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between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7" dirty="0">
                <a:solidFill>
                  <a:srgbClr val="292934"/>
                </a:solidFill>
                <a:latin typeface="Verdana"/>
                <a:cs typeface="Verdana"/>
              </a:rPr>
              <a:t>or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nodes,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containing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databases)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form</a:t>
            </a:r>
            <a:r>
              <a:rPr sz="1390" spc="4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distributed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while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keeping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copy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base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(primary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3" dirty="0">
                <a:solidFill>
                  <a:srgbClr val="292934"/>
                </a:solidFill>
                <a:latin typeface="Verdana"/>
                <a:cs typeface="Verdana"/>
              </a:rPr>
              <a:t>key)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uniquely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identifying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record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b="1" dirty="0">
                <a:solidFill>
                  <a:srgbClr val="C00000"/>
                </a:solidFill>
                <a:latin typeface="Verdana"/>
                <a:cs typeface="Verdana"/>
              </a:rPr>
              <a:t>“split</a:t>
            </a:r>
            <a:r>
              <a:rPr sz="1390" b="1" spc="3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b="1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1390" b="1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90" b="1" spc="-7" dirty="0">
                <a:solidFill>
                  <a:srgbClr val="C00000"/>
                </a:solidFill>
                <a:latin typeface="Verdana"/>
                <a:cs typeface="Verdana"/>
              </a:rPr>
              <a:t>purpose”</a:t>
            </a:r>
            <a:endParaRPr sz="1390" dirty="0">
              <a:latin typeface="Verdana"/>
              <a:cs typeface="Verdana"/>
            </a:endParaRPr>
          </a:p>
          <a:p>
            <a:pPr marL="3538866">
              <a:spcBef>
                <a:spcPts val="1664"/>
              </a:spcBef>
            </a:pP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125" spc="-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spc="-7" dirty="0">
                <a:solidFill>
                  <a:srgbClr val="292934"/>
                </a:solidFill>
                <a:latin typeface="Verdana"/>
                <a:cs typeface="Verdana"/>
              </a:rPr>
              <a:t>nodes</a:t>
            </a:r>
            <a:endParaRPr sz="1125" dirty="0">
              <a:latin typeface="Verdana"/>
              <a:cs typeface="Verdana"/>
            </a:endParaRPr>
          </a:p>
          <a:p>
            <a:pPr marL="4796233" marR="3362">
              <a:lnSpc>
                <a:spcPts val="1191"/>
              </a:lnSpc>
              <a:spcBef>
                <a:spcPts val="331"/>
              </a:spcBef>
            </a:pP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125" spc="-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node</a:t>
            </a:r>
            <a:r>
              <a:rPr sz="1125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spc="-7" dirty="0">
                <a:solidFill>
                  <a:srgbClr val="292934"/>
                </a:solidFill>
                <a:latin typeface="Verdana"/>
                <a:cs typeface="Verdana"/>
              </a:rPr>
              <a:t>contains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125" spc="-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1125" spc="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125" spc="-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125" spc="-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25" spc="-7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endParaRPr sz="1125" dirty="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80556" y="4043393"/>
            <a:ext cx="1413202" cy="465184"/>
            <a:chOff x="7459907" y="6110015"/>
            <a:chExt cx="2135505" cy="702945"/>
          </a:xfrm>
        </p:grpSpPr>
        <p:sp>
          <p:nvSpPr>
            <p:cNvPr id="11" name="object 11"/>
            <p:cNvSpPr/>
            <p:nvPr/>
          </p:nvSpPr>
          <p:spPr>
            <a:xfrm>
              <a:off x="7474000" y="6124108"/>
              <a:ext cx="2106930" cy="675005"/>
            </a:xfrm>
            <a:custGeom>
              <a:avLst/>
              <a:gdLst/>
              <a:ahLst/>
              <a:cxnLst/>
              <a:rect l="l" t="t" r="r" b="b"/>
              <a:pathLst>
                <a:path w="2106929" h="675004">
                  <a:moveTo>
                    <a:pt x="1994441" y="0"/>
                  </a:moveTo>
                  <a:lnTo>
                    <a:pt x="112438" y="0"/>
                  </a:lnTo>
                  <a:lnTo>
                    <a:pt x="68672" y="8835"/>
                  </a:lnTo>
                  <a:lnTo>
                    <a:pt x="32932" y="32932"/>
                  </a:lnTo>
                  <a:lnTo>
                    <a:pt x="8835" y="68672"/>
                  </a:lnTo>
                  <a:lnTo>
                    <a:pt x="0" y="112438"/>
                  </a:lnTo>
                  <a:lnTo>
                    <a:pt x="0" y="562188"/>
                  </a:lnTo>
                  <a:lnTo>
                    <a:pt x="8835" y="605952"/>
                  </a:lnTo>
                  <a:lnTo>
                    <a:pt x="32932" y="641691"/>
                  </a:lnTo>
                  <a:lnTo>
                    <a:pt x="68672" y="665788"/>
                  </a:lnTo>
                  <a:lnTo>
                    <a:pt x="112438" y="674624"/>
                  </a:lnTo>
                  <a:lnTo>
                    <a:pt x="1994441" y="674624"/>
                  </a:lnTo>
                  <a:lnTo>
                    <a:pt x="2038207" y="665788"/>
                  </a:lnTo>
                  <a:lnTo>
                    <a:pt x="2073946" y="641691"/>
                  </a:lnTo>
                  <a:lnTo>
                    <a:pt x="2098043" y="605952"/>
                  </a:lnTo>
                  <a:lnTo>
                    <a:pt x="2106879" y="562188"/>
                  </a:lnTo>
                  <a:lnTo>
                    <a:pt x="2106879" y="112438"/>
                  </a:lnTo>
                  <a:lnTo>
                    <a:pt x="2098043" y="68672"/>
                  </a:lnTo>
                  <a:lnTo>
                    <a:pt x="2073946" y="32932"/>
                  </a:lnTo>
                  <a:lnTo>
                    <a:pt x="2038207" y="8835"/>
                  </a:lnTo>
                  <a:lnTo>
                    <a:pt x="1994441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74000" y="6124108"/>
              <a:ext cx="2106930" cy="675005"/>
            </a:xfrm>
            <a:custGeom>
              <a:avLst/>
              <a:gdLst/>
              <a:ahLst/>
              <a:cxnLst/>
              <a:rect l="l" t="t" r="r" b="b"/>
              <a:pathLst>
                <a:path w="2106929" h="675004">
                  <a:moveTo>
                    <a:pt x="0" y="112438"/>
                  </a:moveTo>
                  <a:lnTo>
                    <a:pt x="8835" y="68672"/>
                  </a:lnTo>
                  <a:lnTo>
                    <a:pt x="32932" y="32932"/>
                  </a:lnTo>
                  <a:lnTo>
                    <a:pt x="68672" y="8835"/>
                  </a:lnTo>
                  <a:lnTo>
                    <a:pt x="112438" y="0"/>
                  </a:lnTo>
                  <a:lnTo>
                    <a:pt x="1229012" y="0"/>
                  </a:lnTo>
                  <a:lnTo>
                    <a:pt x="1755732" y="0"/>
                  </a:lnTo>
                  <a:lnTo>
                    <a:pt x="1994440" y="0"/>
                  </a:lnTo>
                  <a:lnTo>
                    <a:pt x="2038206" y="8835"/>
                  </a:lnTo>
                  <a:lnTo>
                    <a:pt x="2073946" y="32932"/>
                  </a:lnTo>
                  <a:lnTo>
                    <a:pt x="2098042" y="68672"/>
                  </a:lnTo>
                  <a:lnTo>
                    <a:pt x="2106878" y="112438"/>
                  </a:lnTo>
                  <a:lnTo>
                    <a:pt x="2106878" y="393531"/>
                  </a:lnTo>
                  <a:lnTo>
                    <a:pt x="2106878" y="562188"/>
                  </a:lnTo>
                  <a:lnTo>
                    <a:pt x="2098042" y="605952"/>
                  </a:lnTo>
                  <a:lnTo>
                    <a:pt x="2073946" y="641692"/>
                  </a:lnTo>
                  <a:lnTo>
                    <a:pt x="2038206" y="665789"/>
                  </a:lnTo>
                  <a:lnTo>
                    <a:pt x="1994440" y="674625"/>
                  </a:lnTo>
                  <a:lnTo>
                    <a:pt x="1755732" y="674625"/>
                  </a:lnTo>
                  <a:lnTo>
                    <a:pt x="1083061" y="674625"/>
                  </a:lnTo>
                  <a:lnTo>
                    <a:pt x="1229012" y="674625"/>
                  </a:lnTo>
                  <a:lnTo>
                    <a:pt x="112438" y="674625"/>
                  </a:lnTo>
                  <a:lnTo>
                    <a:pt x="68672" y="665789"/>
                  </a:lnTo>
                  <a:lnTo>
                    <a:pt x="32932" y="641692"/>
                  </a:lnTo>
                  <a:lnTo>
                    <a:pt x="8835" y="605952"/>
                  </a:lnTo>
                  <a:lnTo>
                    <a:pt x="0" y="562186"/>
                  </a:lnTo>
                  <a:lnTo>
                    <a:pt x="0" y="393531"/>
                  </a:lnTo>
                  <a:lnTo>
                    <a:pt x="0" y="112438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313271" y="4094630"/>
            <a:ext cx="1148463" cy="338327"/>
          </a:xfrm>
          <a:prstGeom prst="rect">
            <a:avLst/>
          </a:prstGeom>
        </p:spPr>
        <p:txBody>
          <a:bodyPr vert="horz" wrap="square" lIns="0" tIns="30255" rIns="0" bIns="0" rtlCol="0">
            <a:spAutoFit/>
          </a:bodyPr>
          <a:lstStyle/>
          <a:p>
            <a:pPr marL="185327" marR="3362" indent="-177343">
              <a:lnSpc>
                <a:spcPts val="1191"/>
              </a:lnSpc>
              <a:spcBef>
                <a:spcPts val="238"/>
              </a:spcBef>
            </a:pPr>
            <a:r>
              <a:rPr sz="1125" dirty="0">
                <a:solidFill>
                  <a:srgbClr val="FFFFFF"/>
                </a:solidFill>
                <a:latin typeface="Verdana"/>
                <a:cs typeface="Verdana"/>
              </a:rPr>
              <a:t>Projection</a:t>
            </a:r>
            <a:r>
              <a:rPr sz="1125" spc="-26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25" spc="-13" dirty="0">
                <a:solidFill>
                  <a:srgbClr val="FFFFFF"/>
                </a:solidFill>
                <a:latin typeface="Verdana"/>
                <a:cs typeface="Verdana"/>
              </a:rPr>
              <a:t>must </a:t>
            </a:r>
            <a:r>
              <a:rPr sz="1125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1125" spc="-1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25" spc="-7" dirty="0">
                <a:solidFill>
                  <a:srgbClr val="FFFFFF"/>
                </a:solidFill>
                <a:latin typeface="Verdana"/>
                <a:cs typeface="Verdana"/>
              </a:rPr>
              <a:t>lossless</a:t>
            </a:r>
            <a:endParaRPr sz="1125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11897" y="3907129"/>
            <a:ext cx="1829640" cy="529898"/>
            <a:chOff x="707266" y="5904106"/>
            <a:chExt cx="2764790" cy="800735"/>
          </a:xfrm>
        </p:grpSpPr>
        <p:sp>
          <p:nvSpPr>
            <p:cNvPr id="15" name="object 15"/>
            <p:cNvSpPr/>
            <p:nvPr/>
          </p:nvSpPr>
          <p:spPr>
            <a:xfrm>
              <a:off x="721359" y="5918200"/>
              <a:ext cx="2736850" cy="772160"/>
            </a:xfrm>
            <a:custGeom>
              <a:avLst/>
              <a:gdLst/>
              <a:ahLst/>
              <a:cxnLst/>
              <a:rect l="l" t="t" r="r" b="b"/>
              <a:pathLst>
                <a:path w="2736850" h="772159">
                  <a:moveTo>
                    <a:pt x="2607730" y="0"/>
                  </a:moveTo>
                  <a:lnTo>
                    <a:pt x="128696" y="0"/>
                  </a:lnTo>
                  <a:lnTo>
                    <a:pt x="78602" y="10113"/>
                  </a:lnTo>
                  <a:lnTo>
                    <a:pt x="37694" y="37694"/>
                  </a:lnTo>
                  <a:lnTo>
                    <a:pt x="10113" y="78602"/>
                  </a:lnTo>
                  <a:lnTo>
                    <a:pt x="0" y="128696"/>
                  </a:lnTo>
                  <a:lnTo>
                    <a:pt x="0" y="643466"/>
                  </a:lnTo>
                  <a:lnTo>
                    <a:pt x="10113" y="693557"/>
                  </a:lnTo>
                  <a:lnTo>
                    <a:pt x="37694" y="734465"/>
                  </a:lnTo>
                  <a:lnTo>
                    <a:pt x="78602" y="762046"/>
                  </a:lnTo>
                  <a:lnTo>
                    <a:pt x="128696" y="772159"/>
                  </a:lnTo>
                  <a:lnTo>
                    <a:pt x="2607730" y="772159"/>
                  </a:lnTo>
                  <a:lnTo>
                    <a:pt x="2657824" y="762046"/>
                  </a:lnTo>
                  <a:lnTo>
                    <a:pt x="2698732" y="734465"/>
                  </a:lnTo>
                  <a:lnTo>
                    <a:pt x="2726313" y="693557"/>
                  </a:lnTo>
                  <a:lnTo>
                    <a:pt x="2736427" y="643466"/>
                  </a:lnTo>
                  <a:lnTo>
                    <a:pt x="2736427" y="128696"/>
                  </a:lnTo>
                  <a:lnTo>
                    <a:pt x="2726313" y="78602"/>
                  </a:lnTo>
                  <a:lnTo>
                    <a:pt x="2698732" y="37694"/>
                  </a:lnTo>
                  <a:lnTo>
                    <a:pt x="2657824" y="10113"/>
                  </a:lnTo>
                  <a:lnTo>
                    <a:pt x="2607730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1359" y="5918200"/>
              <a:ext cx="2736850" cy="772160"/>
            </a:xfrm>
            <a:custGeom>
              <a:avLst/>
              <a:gdLst/>
              <a:ahLst/>
              <a:cxnLst/>
              <a:rect l="l" t="t" r="r" b="b"/>
              <a:pathLst>
                <a:path w="2736850" h="772159">
                  <a:moveTo>
                    <a:pt x="0" y="128696"/>
                  </a:moveTo>
                  <a:lnTo>
                    <a:pt x="10113" y="78602"/>
                  </a:lnTo>
                  <a:lnTo>
                    <a:pt x="37694" y="37694"/>
                  </a:lnTo>
                  <a:lnTo>
                    <a:pt x="78601" y="10113"/>
                  </a:lnTo>
                  <a:lnTo>
                    <a:pt x="128696" y="0"/>
                  </a:lnTo>
                  <a:lnTo>
                    <a:pt x="1596248" y="0"/>
                  </a:lnTo>
                  <a:lnTo>
                    <a:pt x="2280355" y="0"/>
                  </a:lnTo>
                  <a:lnTo>
                    <a:pt x="2607730" y="0"/>
                  </a:lnTo>
                  <a:lnTo>
                    <a:pt x="2657824" y="10113"/>
                  </a:lnTo>
                  <a:lnTo>
                    <a:pt x="2698732" y="37694"/>
                  </a:lnTo>
                  <a:lnTo>
                    <a:pt x="2726313" y="78602"/>
                  </a:lnTo>
                  <a:lnTo>
                    <a:pt x="2736426" y="128696"/>
                  </a:lnTo>
                  <a:lnTo>
                    <a:pt x="2736426" y="450425"/>
                  </a:lnTo>
                  <a:lnTo>
                    <a:pt x="2736426" y="643466"/>
                  </a:lnTo>
                  <a:lnTo>
                    <a:pt x="2726313" y="693557"/>
                  </a:lnTo>
                  <a:lnTo>
                    <a:pt x="2698732" y="734465"/>
                  </a:lnTo>
                  <a:lnTo>
                    <a:pt x="2657824" y="762046"/>
                  </a:lnTo>
                  <a:lnTo>
                    <a:pt x="2607730" y="772159"/>
                  </a:lnTo>
                  <a:lnTo>
                    <a:pt x="2280355" y="772159"/>
                  </a:lnTo>
                  <a:lnTo>
                    <a:pt x="1406685" y="772159"/>
                  </a:lnTo>
                  <a:lnTo>
                    <a:pt x="1596248" y="772159"/>
                  </a:lnTo>
                  <a:lnTo>
                    <a:pt x="128696" y="772159"/>
                  </a:lnTo>
                  <a:lnTo>
                    <a:pt x="78601" y="762046"/>
                  </a:lnTo>
                  <a:lnTo>
                    <a:pt x="37694" y="734465"/>
                  </a:lnTo>
                  <a:lnTo>
                    <a:pt x="10113" y="693557"/>
                  </a:lnTo>
                  <a:lnTo>
                    <a:pt x="0" y="643463"/>
                  </a:lnTo>
                  <a:lnTo>
                    <a:pt x="0" y="450425"/>
                  </a:lnTo>
                  <a:lnTo>
                    <a:pt x="0" y="128696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842247" y="3991759"/>
            <a:ext cx="1568683" cy="338327"/>
          </a:xfrm>
          <a:prstGeom prst="rect">
            <a:avLst/>
          </a:prstGeom>
        </p:spPr>
        <p:txBody>
          <a:bodyPr vert="horz" wrap="square" lIns="0" tIns="30255" rIns="0" bIns="0" rtlCol="0">
            <a:spAutoFit/>
          </a:bodyPr>
          <a:lstStyle/>
          <a:p>
            <a:pPr marL="8405" marR="3362" indent="94134">
              <a:lnSpc>
                <a:spcPts val="1191"/>
              </a:lnSpc>
              <a:spcBef>
                <a:spcPts val="238"/>
              </a:spcBef>
            </a:pPr>
            <a:r>
              <a:rPr sz="1125" dirty="0">
                <a:solidFill>
                  <a:srgbClr val="FFFFFF"/>
                </a:solidFill>
                <a:latin typeface="Verdana"/>
                <a:cs typeface="Verdana"/>
              </a:rPr>
              <a:t>~Normalization</a:t>
            </a:r>
            <a:r>
              <a:rPr sz="1125" spc="-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25" spc="-17" dirty="0">
                <a:solidFill>
                  <a:srgbClr val="FFFFFF"/>
                </a:solidFill>
                <a:latin typeface="Verdana"/>
                <a:cs typeface="Verdana"/>
              </a:rPr>
              <a:t>for </a:t>
            </a:r>
            <a:r>
              <a:rPr sz="1125" dirty="0">
                <a:solidFill>
                  <a:srgbClr val="FFFFFF"/>
                </a:solidFill>
                <a:latin typeface="Verdana"/>
                <a:cs typeface="Verdana"/>
              </a:rPr>
              <a:t>distributed</a:t>
            </a:r>
            <a:r>
              <a:rPr sz="1125" spc="-26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25" spc="-7" dirty="0">
                <a:solidFill>
                  <a:srgbClr val="FFFFFF"/>
                </a:solidFill>
                <a:latin typeface="Verdana"/>
                <a:cs typeface="Verdana"/>
              </a:rPr>
              <a:t>databases</a:t>
            </a:r>
            <a:endParaRPr sz="1125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3301253" y="3165521"/>
            <a:ext cx="1936376" cy="555695"/>
          </a:xfrm>
          <a:prstGeom prst="rect">
            <a:avLst/>
          </a:prstGeom>
        </p:spPr>
        <p:txBody>
          <a:bodyPr vert="horz" wrap="square" lIns="0" tIns="1681" rIns="0" bIns="0" rtlCol="0">
            <a:spAutoFit/>
          </a:bodyPr>
          <a:lstStyle/>
          <a:p>
            <a:pPr marL="8405">
              <a:spcBef>
                <a:spcPts val="13"/>
              </a:spcBef>
            </a:pPr>
            <a:r>
              <a:rPr dirty="0"/>
              <a:t>©</a:t>
            </a:r>
            <a:r>
              <a:rPr spc="-33" dirty="0"/>
              <a:t> </a:t>
            </a:r>
            <a:r>
              <a:rPr spc="-13" dirty="0"/>
              <a:t>Praphamontripong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5600700" y="3165522"/>
            <a:ext cx="1391771" cy="139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15">
              <a:lnSpc>
                <a:spcPts val="870"/>
              </a:lnSpc>
            </a:pPr>
            <a:fld id="{81D60167-4931-47E6-BA6A-407CBD079E47}" type="slidenum">
              <a:rPr spc="-17" dirty="0"/>
              <a:pPr marL="25215">
                <a:lnSpc>
                  <a:spcPts val="870"/>
                </a:lnSpc>
              </a:pPr>
              <a:t>24</a:t>
            </a:fld>
            <a:endParaRPr spc="-17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2"/>
            <a:ext cx="5283349" cy="591383"/>
          </a:xfrm>
          <a:prstGeom prst="rect">
            <a:avLst/>
          </a:prstGeom>
        </p:spPr>
        <p:txBody>
          <a:bodyPr vert="horz" wrap="square" lIns="0" tIns="202378" rIns="0" bIns="0" rtlCol="0">
            <a:spAutoFit/>
          </a:bodyPr>
          <a:lstStyle/>
          <a:p>
            <a:pPr marL="264753">
              <a:spcBef>
                <a:spcPts val="66"/>
              </a:spcBef>
            </a:pPr>
            <a:r>
              <a:rPr sz="2515" spc="-56" dirty="0"/>
              <a:t>Example:</a:t>
            </a:r>
            <a:r>
              <a:rPr sz="2515" spc="-132" dirty="0"/>
              <a:t> </a:t>
            </a:r>
            <a:r>
              <a:rPr sz="2515" spc="-56" dirty="0"/>
              <a:t>Vertical</a:t>
            </a:r>
            <a:r>
              <a:rPr sz="2515" spc="-132" dirty="0"/>
              <a:t> </a:t>
            </a:r>
            <a:r>
              <a:rPr sz="2515" spc="-43" dirty="0"/>
              <a:t>Fragmentation</a:t>
            </a:r>
            <a:endParaRPr sz="251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47966" y="896236"/>
          <a:ext cx="3441606" cy="1548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7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stuId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2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credits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45"/>
                        </a:lnSpc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Smith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Tom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History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Chin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Ann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36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Lee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Perry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History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Burns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Edward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Art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63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McCarthy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Owen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54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4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Jones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Rivera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Jane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CSC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3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603392" y="2407813"/>
            <a:ext cx="3588264" cy="468966"/>
          </a:xfrm>
          <a:custGeom>
            <a:avLst/>
            <a:gdLst/>
            <a:ahLst/>
            <a:cxnLst/>
            <a:rect l="l" t="t" r="r" b="b"/>
            <a:pathLst>
              <a:path w="5422265" h="708660">
                <a:moveTo>
                  <a:pt x="5422036" y="681228"/>
                </a:moveTo>
                <a:lnTo>
                  <a:pt x="5411025" y="669950"/>
                </a:lnTo>
                <a:lnTo>
                  <a:pt x="5411025" y="673646"/>
                </a:lnTo>
                <a:lnTo>
                  <a:pt x="5402605" y="675855"/>
                </a:lnTo>
                <a:lnTo>
                  <a:pt x="5410974" y="673646"/>
                </a:lnTo>
                <a:lnTo>
                  <a:pt x="5411025" y="669950"/>
                </a:lnTo>
                <a:lnTo>
                  <a:pt x="5348287" y="605637"/>
                </a:lnTo>
                <a:lnTo>
                  <a:pt x="5345036" y="605637"/>
                </a:lnTo>
                <a:lnTo>
                  <a:pt x="5341061" y="609511"/>
                </a:lnTo>
                <a:lnTo>
                  <a:pt x="5341023" y="612724"/>
                </a:lnTo>
                <a:lnTo>
                  <a:pt x="5395569" y="668642"/>
                </a:lnTo>
                <a:lnTo>
                  <a:pt x="2977400" y="63"/>
                </a:lnTo>
                <a:lnTo>
                  <a:pt x="2976041" y="4965"/>
                </a:lnTo>
                <a:lnTo>
                  <a:pt x="2974949" y="0"/>
                </a:lnTo>
                <a:lnTo>
                  <a:pt x="27089" y="651065"/>
                </a:lnTo>
                <a:lnTo>
                  <a:pt x="84493" y="598081"/>
                </a:lnTo>
                <a:lnTo>
                  <a:pt x="84620" y="594868"/>
                </a:lnTo>
                <a:lnTo>
                  <a:pt x="80810" y="590740"/>
                </a:lnTo>
                <a:lnTo>
                  <a:pt x="77597" y="590613"/>
                </a:lnTo>
                <a:lnTo>
                  <a:pt x="0" y="662254"/>
                </a:lnTo>
                <a:lnTo>
                  <a:pt x="100558" y="694537"/>
                </a:lnTo>
                <a:lnTo>
                  <a:pt x="103416" y="693064"/>
                </a:lnTo>
                <a:lnTo>
                  <a:pt x="105130" y="687730"/>
                </a:lnTo>
                <a:lnTo>
                  <a:pt x="103657" y="684860"/>
                </a:lnTo>
                <a:lnTo>
                  <a:pt x="41897" y="665035"/>
                </a:lnTo>
                <a:lnTo>
                  <a:pt x="29286" y="660984"/>
                </a:lnTo>
                <a:lnTo>
                  <a:pt x="10947" y="665035"/>
                </a:lnTo>
                <a:lnTo>
                  <a:pt x="16497" y="663803"/>
                </a:lnTo>
                <a:lnTo>
                  <a:pt x="29286" y="660984"/>
                </a:lnTo>
                <a:lnTo>
                  <a:pt x="2971177" y="11239"/>
                </a:lnTo>
                <a:lnTo>
                  <a:pt x="2994469" y="652208"/>
                </a:lnTo>
                <a:lnTo>
                  <a:pt x="2994482" y="652576"/>
                </a:lnTo>
                <a:lnTo>
                  <a:pt x="2952699" y="586574"/>
                </a:lnTo>
                <a:lnTo>
                  <a:pt x="2949562" y="585876"/>
                </a:lnTo>
                <a:lnTo>
                  <a:pt x="2944825" y="588873"/>
                </a:lnTo>
                <a:lnTo>
                  <a:pt x="2944114" y="592010"/>
                </a:lnTo>
                <a:lnTo>
                  <a:pt x="3000603" y="681253"/>
                </a:lnTo>
                <a:lnTo>
                  <a:pt x="3005899" y="671360"/>
                </a:lnTo>
                <a:lnTo>
                  <a:pt x="3050476" y="588149"/>
                </a:lnTo>
                <a:lnTo>
                  <a:pt x="3049549" y="585076"/>
                </a:lnTo>
                <a:lnTo>
                  <a:pt x="3044596" y="582422"/>
                </a:lnTo>
                <a:lnTo>
                  <a:pt x="3041523" y="583349"/>
                </a:lnTo>
                <a:lnTo>
                  <a:pt x="3004642" y="652208"/>
                </a:lnTo>
                <a:lnTo>
                  <a:pt x="2981363" y="11709"/>
                </a:lnTo>
                <a:lnTo>
                  <a:pt x="5392852" y="678434"/>
                </a:lnTo>
                <a:lnTo>
                  <a:pt x="5317337" y="698385"/>
                </a:lnTo>
                <a:lnTo>
                  <a:pt x="5315724" y="701167"/>
                </a:lnTo>
                <a:lnTo>
                  <a:pt x="5317147" y="706589"/>
                </a:lnTo>
                <a:lnTo>
                  <a:pt x="5319928" y="708215"/>
                </a:lnTo>
                <a:lnTo>
                  <a:pt x="5413680" y="683437"/>
                </a:lnTo>
                <a:lnTo>
                  <a:pt x="5422036" y="681228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76894" y="3324113"/>
            <a:ext cx="134050" cy="18161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25" spc="-33" dirty="0">
                <a:solidFill>
                  <a:srgbClr val="292934"/>
                </a:solidFill>
                <a:latin typeface="Verdana"/>
                <a:cs typeface="Verdana"/>
              </a:rPr>
              <a:t>…</a:t>
            </a:r>
            <a:endParaRPr sz="1125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34670" y="2841577"/>
          <a:ext cx="1728366" cy="1538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stuId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1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firstName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Smith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Tom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Chin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Ann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Lee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Perry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Burns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Edward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McCarthy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Owen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Jones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Rivera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Jane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92388" y="2854138"/>
          <a:ext cx="984156" cy="1538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stuId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History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History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Art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2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Math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CSC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06034" y="2854138"/>
          <a:ext cx="961465" cy="1538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stuId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ts val="155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credits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4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36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5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3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63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550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5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45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40"/>
                        </a:lnSpc>
                      </a:pPr>
                      <a:r>
                        <a:rPr sz="900" spc="-1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S1020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40"/>
                        </a:lnSpc>
                      </a:pPr>
                      <a:r>
                        <a:rPr sz="900" spc="-2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668">
                <a:tc>
                  <a:txBody>
                    <a:bodyPr/>
                    <a:lstStyle/>
                    <a:p>
                      <a:pPr marL="97155">
                        <a:lnSpc>
                          <a:spcPts val="15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535"/>
                        </a:lnSpc>
                      </a:pPr>
                      <a:r>
                        <a:rPr sz="900" spc="-50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473686" y="2531409"/>
            <a:ext cx="2078831" cy="18167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5215">
              <a:spcBef>
                <a:spcPts val="66"/>
              </a:spcBef>
            </a:pPr>
            <a:r>
              <a:rPr sz="1688" baseline="9803" dirty="0">
                <a:solidFill>
                  <a:srgbClr val="292934"/>
                </a:solidFill>
                <a:latin typeface="Times New Roman"/>
                <a:cs typeface="Times New Roman"/>
              </a:rPr>
              <a:t>π</a:t>
            </a:r>
            <a:r>
              <a:rPr sz="728" dirty="0">
                <a:solidFill>
                  <a:srgbClr val="292934"/>
                </a:solidFill>
                <a:latin typeface="Verdana"/>
                <a:cs typeface="Verdana"/>
              </a:rPr>
              <a:t>stuId,</a:t>
            </a:r>
            <a:r>
              <a:rPr sz="728" spc="6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728" dirty="0">
                <a:solidFill>
                  <a:srgbClr val="292934"/>
                </a:solidFill>
                <a:latin typeface="Verdana"/>
                <a:cs typeface="Verdana"/>
              </a:rPr>
              <a:t>lastName,</a:t>
            </a:r>
            <a:r>
              <a:rPr sz="728" spc="7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728" spc="-7" dirty="0">
                <a:solidFill>
                  <a:srgbClr val="292934"/>
                </a:solidFill>
                <a:latin typeface="Verdana"/>
                <a:cs typeface="Verdana"/>
              </a:rPr>
              <a:t>firstName</a:t>
            </a:r>
            <a:r>
              <a:rPr sz="1489" spc="-10" baseline="11111" dirty="0">
                <a:solidFill>
                  <a:srgbClr val="292934"/>
                </a:solidFill>
                <a:latin typeface="Verdana"/>
                <a:cs typeface="Verdana"/>
              </a:rPr>
              <a:t>(students)</a:t>
            </a:r>
            <a:endParaRPr sz="1489" baseline="11111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7193" y="2604023"/>
            <a:ext cx="1448080" cy="18167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5215">
              <a:spcBef>
                <a:spcPts val="66"/>
              </a:spcBef>
            </a:pPr>
            <a:r>
              <a:rPr sz="1688" baseline="9803" dirty="0">
                <a:solidFill>
                  <a:srgbClr val="292934"/>
                </a:solidFill>
                <a:latin typeface="Times New Roman"/>
                <a:cs typeface="Times New Roman"/>
              </a:rPr>
              <a:t>π</a:t>
            </a:r>
            <a:r>
              <a:rPr sz="728" dirty="0">
                <a:solidFill>
                  <a:srgbClr val="292934"/>
                </a:solidFill>
                <a:latin typeface="Verdana"/>
                <a:cs typeface="Verdana"/>
              </a:rPr>
              <a:t>stuId,</a:t>
            </a:r>
            <a:r>
              <a:rPr sz="728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728" dirty="0">
                <a:solidFill>
                  <a:srgbClr val="292934"/>
                </a:solidFill>
                <a:latin typeface="Verdana"/>
                <a:cs typeface="Verdana"/>
              </a:rPr>
              <a:t>credits</a:t>
            </a:r>
            <a:r>
              <a:rPr sz="728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89" spc="-10" baseline="11111" dirty="0">
                <a:solidFill>
                  <a:srgbClr val="292934"/>
                </a:solidFill>
                <a:latin typeface="Verdana"/>
                <a:cs typeface="Verdana"/>
              </a:rPr>
              <a:t>(students)</a:t>
            </a:r>
            <a:endParaRPr sz="1489" baseline="11111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0368" y="2610073"/>
            <a:ext cx="1376222" cy="18161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5215">
              <a:spcBef>
                <a:spcPts val="66"/>
              </a:spcBef>
            </a:pPr>
            <a:r>
              <a:rPr sz="1125" dirty="0">
                <a:solidFill>
                  <a:srgbClr val="292934"/>
                </a:solidFill>
                <a:latin typeface="Times New Roman"/>
                <a:cs typeface="Times New Roman"/>
              </a:rPr>
              <a:t>π</a:t>
            </a:r>
            <a:r>
              <a:rPr sz="1092" baseline="-15151" dirty="0">
                <a:solidFill>
                  <a:srgbClr val="292934"/>
                </a:solidFill>
                <a:latin typeface="Verdana"/>
                <a:cs typeface="Verdana"/>
              </a:rPr>
              <a:t>stuId,</a:t>
            </a:r>
            <a:r>
              <a:rPr sz="1092" spc="79" baseline="-1515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092" spc="-10" baseline="-15151" dirty="0">
                <a:solidFill>
                  <a:srgbClr val="292934"/>
                </a:solidFill>
                <a:latin typeface="Verdana"/>
                <a:cs typeface="Verdana"/>
              </a:rPr>
              <a:t>major</a:t>
            </a:r>
            <a:r>
              <a:rPr sz="993" spc="-7" dirty="0">
                <a:solidFill>
                  <a:srgbClr val="292934"/>
                </a:solidFill>
                <a:latin typeface="Verdana"/>
                <a:cs typeface="Verdana"/>
              </a:rPr>
              <a:t>(students)</a:t>
            </a:r>
            <a:endParaRPr sz="993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90084" y="1757393"/>
            <a:ext cx="1247215" cy="438290"/>
            <a:chOff x="7927639" y="2655615"/>
            <a:chExt cx="1884680" cy="662305"/>
          </a:xfrm>
        </p:grpSpPr>
        <p:sp>
          <p:nvSpPr>
            <p:cNvPr id="14" name="object 14"/>
            <p:cNvSpPr/>
            <p:nvPr/>
          </p:nvSpPr>
          <p:spPr>
            <a:xfrm>
              <a:off x="7941732" y="2669708"/>
              <a:ext cx="1856105" cy="634365"/>
            </a:xfrm>
            <a:custGeom>
              <a:avLst/>
              <a:gdLst/>
              <a:ahLst/>
              <a:cxnLst/>
              <a:rect l="l" t="t" r="r" b="b"/>
              <a:pathLst>
                <a:path w="1856104" h="634364">
                  <a:moveTo>
                    <a:pt x="1750227" y="0"/>
                  </a:moveTo>
                  <a:lnTo>
                    <a:pt x="105666" y="0"/>
                  </a:lnTo>
                  <a:lnTo>
                    <a:pt x="64536" y="8303"/>
                  </a:lnTo>
                  <a:lnTo>
                    <a:pt x="30949" y="30949"/>
                  </a:lnTo>
                  <a:lnTo>
                    <a:pt x="8303" y="64536"/>
                  </a:lnTo>
                  <a:lnTo>
                    <a:pt x="0" y="105666"/>
                  </a:lnTo>
                  <a:lnTo>
                    <a:pt x="0" y="528320"/>
                  </a:lnTo>
                  <a:lnTo>
                    <a:pt x="8303" y="569448"/>
                  </a:lnTo>
                  <a:lnTo>
                    <a:pt x="30949" y="603035"/>
                  </a:lnTo>
                  <a:lnTo>
                    <a:pt x="64536" y="625680"/>
                  </a:lnTo>
                  <a:lnTo>
                    <a:pt x="105666" y="633984"/>
                  </a:lnTo>
                  <a:lnTo>
                    <a:pt x="1750227" y="633984"/>
                  </a:lnTo>
                  <a:lnTo>
                    <a:pt x="1791357" y="625680"/>
                  </a:lnTo>
                  <a:lnTo>
                    <a:pt x="1824945" y="603035"/>
                  </a:lnTo>
                  <a:lnTo>
                    <a:pt x="1847590" y="569448"/>
                  </a:lnTo>
                  <a:lnTo>
                    <a:pt x="1855894" y="528320"/>
                  </a:lnTo>
                  <a:lnTo>
                    <a:pt x="1855894" y="105666"/>
                  </a:lnTo>
                  <a:lnTo>
                    <a:pt x="1847590" y="64536"/>
                  </a:lnTo>
                  <a:lnTo>
                    <a:pt x="1824945" y="30949"/>
                  </a:lnTo>
                  <a:lnTo>
                    <a:pt x="1791357" y="8303"/>
                  </a:lnTo>
                  <a:lnTo>
                    <a:pt x="1750227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41732" y="2669708"/>
              <a:ext cx="1856105" cy="634365"/>
            </a:xfrm>
            <a:custGeom>
              <a:avLst/>
              <a:gdLst/>
              <a:ahLst/>
              <a:cxnLst/>
              <a:rect l="l" t="t" r="r" b="b"/>
              <a:pathLst>
                <a:path w="1856104" h="634364">
                  <a:moveTo>
                    <a:pt x="0" y="105666"/>
                  </a:moveTo>
                  <a:lnTo>
                    <a:pt x="8303" y="64536"/>
                  </a:lnTo>
                  <a:lnTo>
                    <a:pt x="30949" y="30949"/>
                  </a:lnTo>
                  <a:lnTo>
                    <a:pt x="64536" y="8303"/>
                  </a:lnTo>
                  <a:lnTo>
                    <a:pt x="105666" y="0"/>
                  </a:lnTo>
                  <a:lnTo>
                    <a:pt x="1082604" y="0"/>
                  </a:lnTo>
                  <a:lnTo>
                    <a:pt x="1546578" y="0"/>
                  </a:lnTo>
                  <a:lnTo>
                    <a:pt x="1750227" y="0"/>
                  </a:lnTo>
                  <a:lnTo>
                    <a:pt x="1791357" y="8303"/>
                  </a:lnTo>
                  <a:lnTo>
                    <a:pt x="1824944" y="30949"/>
                  </a:lnTo>
                  <a:lnTo>
                    <a:pt x="1847589" y="64536"/>
                  </a:lnTo>
                  <a:lnTo>
                    <a:pt x="1855893" y="105666"/>
                  </a:lnTo>
                  <a:lnTo>
                    <a:pt x="1855893" y="369823"/>
                  </a:lnTo>
                  <a:lnTo>
                    <a:pt x="1855893" y="528320"/>
                  </a:lnTo>
                  <a:lnTo>
                    <a:pt x="1847589" y="569448"/>
                  </a:lnTo>
                  <a:lnTo>
                    <a:pt x="1824944" y="603035"/>
                  </a:lnTo>
                  <a:lnTo>
                    <a:pt x="1791357" y="625681"/>
                  </a:lnTo>
                  <a:lnTo>
                    <a:pt x="1750227" y="633985"/>
                  </a:lnTo>
                  <a:lnTo>
                    <a:pt x="1546578" y="633985"/>
                  </a:lnTo>
                  <a:lnTo>
                    <a:pt x="954039" y="633985"/>
                  </a:lnTo>
                  <a:lnTo>
                    <a:pt x="1082604" y="633985"/>
                  </a:lnTo>
                  <a:lnTo>
                    <a:pt x="105666" y="633985"/>
                  </a:lnTo>
                  <a:lnTo>
                    <a:pt x="64536" y="625681"/>
                  </a:lnTo>
                  <a:lnTo>
                    <a:pt x="30949" y="603035"/>
                  </a:lnTo>
                  <a:lnTo>
                    <a:pt x="8303" y="569448"/>
                  </a:lnTo>
                  <a:lnTo>
                    <a:pt x="0" y="528318"/>
                  </a:lnTo>
                  <a:lnTo>
                    <a:pt x="0" y="369823"/>
                  </a:lnTo>
                  <a:lnTo>
                    <a:pt x="0" y="105666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78413" y="1795183"/>
            <a:ext cx="1070302" cy="338327"/>
          </a:xfrm>
          <a:prstGeom prst="rect">
            <a:avLst/>
          </a:prstGeom>
        </p:spPr>
        <p:txBody>
          <a:bodyPr vert="horz" wrap="square" lIns="0" tIns="30255" rIns="0" bIns="0" rtlCol="0">
            <a:spAutoFit/>
          </a:bodyPr>
          <a:lstStyle/>
          <a:p>
            <a:pPr marL="60935" marR="3362" indent="-52951">
              <a:lnSpc>
                <a:spcPts val="1191"/>
              </a:lnSpc>
              <a:spcBef>
                <a:spcPts val="238"/>
              </a:spcBef>
            </a:pPr>
            <a:r>
              <a:rPr sz="1125" dirty="0">
                <a:solidFill>
                  <a:srgbClr val="FFFFFF"/>
                </a:solidFill>
                <a:latin typeface="Verdana"/>
                <a:cs typeface="Verdana"/>
              </a:rPr>
              <a:t>Notice</a:t>
            </a:r>
            <a:r>
              <a:rPr sz="1125" spc="-2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25" dirty="0">
                <a:solidFill>
                  <a:srgbClr val="FFFFFF"/>
                </a:solidFill>
                <a:latin typeface="Verdana"/>
                <a:cs typeface="Verdana"/>
              </a:rPr>
              <a:t>stuId</a:t>
            </a:r>
            <a:r>
              <a:rPr sz="1125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25" spc="-17" dirty="0">
                <a:solidFill>
                  <a:srgbClr val="FFFFFF"/>
                </a:solidFill>
                <a:latin typeface="Verdana"/>
                <a:cs typeface="Verdana"/>
              </a:rPr>
              <a:t>in </a:t>
            </a:r>
            <a:r>
              <a:rPr sz="1125" dirty="0">
                <a:solidFill>
                  <a:srgbClr val="FFFFFF"/>
                </a:solidFill>
                <a:latin typeface="Verdana"/>
                <a:cs typeface="Verdana"/>
              </a:rPr>
              <a:t>all </a:t>
            </a:r>
            <a:r>
              <a:rPr sz="1125" spc="-7" dirty="0">
                <a:solidFill>
                  <a:srgbClr val="FFFFFF"/>
                </a:solidFill>
                <a:latin typeface="Verdana"/>
                <a:cs typeface="Verdana"/>
              </a:rPr>
              <a:t>fragments</a:t>
            </a:r>
            <a:endParaRPr sz="1125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3301253" y="3165521"/>
            <a:ext cx="1936376" cy="555695"/>
          </a:xfrm>
          <a:prstGeom prst="rect">
            <a:avLst/>
          </a:prstGeom>
        </p:spPr>
        <p:txBody>
          <a:bodyPr vert="horz" wrap="square" lIns="0" tIns="1681" rIns="0" bIns="0" rtlCol="0">
            <a:spAutoFit/>
          </a:bodyPr>
          <a:lstStyle/>
          <a:p>
            <a:pPr marL="8405">
              <a:spcBef>
                <a:spcPts val="13"/>
              </a:spcBef>
            </a:pPr>
            <a:r>
              <a:rPr dirty="0"/>
              <a:t>©</a:t>
            </a:r>
            <a:r>
              <a:rPr spc="-33" dirty="0"/>
              <a:t> </a:t>
            </a:r>
            <a:r>
              <a:rPr spc="-13" dirty="0"/>
              <a:t>Praphamontripong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5600700" y="3165522"/>
            <a:ext cx="1391771" cy="139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15">
              <a:lnSpc>
                <a:spcPts val="870"/>
              </a:lnSpc>
            </a:pPr>
            <a:fld id="{81D60167-4931-47E6-BA6A-407CBD079E47}" type="slidenum">
              <a:rPr spc="-17" dirty="0"/>
              <a:pPr marL="25215">
                <a:lnSpc>
                  <a:spcPts val="870"/>
                </a:lnSpc>
              </a:pPr>
              <a:t>25</a:t>
            </a:fld>
            <a:endParaRPr spc="-17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2"/>
            <a:ext cx="6883549" cy="605030"/>
          </a:xfrm>
          <a:prstGeom prst="rect">
            <a:avLst/>
          </a:prstGeom>
        </p:spPr>
        <p:txBody>
          <a:bodyPr vert="horz" wrap="square" lIns="0" tIns="172459" rIns="0" bIns="0" rtlCol="0">
            <a:spAutoFit/>
          </a:bodyPr>
          <a:lstStyle/>
          <a:p>
            <a:pPr marL="937142">
              <a:spcBef>
                <a:spcPts val="66"/>
              </a:spcBef>
            </a:pPr>
            <a:r>
              <a:rPr spc="-86" dirty="0"/>
              <a:t>Vertical</a:t>
            </a:r>
            <a:r>
              <a:rPr spc="-142" dirty="0"/>
              <a:t> </a:t>
            </a:r>
            <a:r>
              <a:rPr spc="-75" dirty="0"/>
              <a:t>Fragmentation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819150"/>
            <a:ext cx="6116311" cy="3049327"/>
          </a:xfrm>
          <a:prstGeom prst="rect">
            <a:avLst/>
          </a:prstGeom>
        </p:spPr>
        <p:txBody>
          <a:bodyPr vert="horz" wrap="square" lIns="0" tIns="30256" rIns="0" bIns="0" rtlCol="0">
            <a:spAutoFit/>
          </a:bodyPr>
          <a:lstStyle/>
          <a:p>
            <a:pPr marL="173981" marR="50009" indent="-165996">
              <a:lnSpc>
                <a:spcPts val="1522"/>
              </a:lnSpc>
              <a:spcBef>
                <a:spcPts val="238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Appropriate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organizational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units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located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different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geographies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separate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operations</a:t>
            </a:r>
            <a:endParaRPr sz="1390" dirty="0">
              <a:latin typeface="Verdana"/>
              <a:cs typeface="Verdana"/>
            </a:endParaRPr>
          </a:p>
          <a:p>
            <a:pPr marL="173981" indent="-165576">
              <a:spcBef>
                <a:spcPts val="1214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Partition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behavior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function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node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performs</a:t>
            </a:r>
            <a:endParaRPr sz="1390" dirty="0">
              <a:latin typeface="Verdana"/>
              <a:cs typeface="Verdana"/>
            </a:endParaRPr>
          </a:p>
          <a:p>
            <a:pPr marL="173981" indent="-165576">
              <a:spcBef>
                <a:spcPts val="1316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Best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partitions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uniform</a:t>
            </a:r>
            <a:endParaRPr sz="1390" dirty="0">
              <a:latin typeface="Verdana"/>
              <a:cs typeface="Verdana"/>
            </a:endParaRPr>
          </a:p>
          <a:p>
            <a:pPr marL="173981" indent="-165576">
              <a:spcBef>
                <a:spcPts val="1241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frequently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accessed</a:t>
            </a:r>
            <a:endParaRPr sz="1390" dirty="0">
              <a:latin typeface="Verdana"/>
              <a:cs typeface="Verdana"/>
            </a:endParaRPr>
          </a:p>
          <a:p>
            <a:pPr marL="173981" indent="-165576">
              <a:spcBef>
                <a:spcPts val="1316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Allow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parallel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processing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fragments</a:t>
            </a:r>
            <a:endParaRPr sz="1390" dirty="0">
              <a:latin typeface="Verdana"/>
              <a:cs typeface="Verdana"/>
            </a:endParaRPr>
          </a:p>
          <a:p>
            <a:pPr marL="173981" indent="-165576">
              <a:spcBef>
                <a:spcPts val="1238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Poorly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chosen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split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lead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node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bottleneck</a:t>
            </a:r>
            <a:endParaRPr sz="1390" dirty="0">
              <a:latin typeface="Verdana"/>
              <a:cs typeface="Verdana"/>
            </a:endParaRPr>
          </a:p>
          <a:p>
            <a:pPr marL="173981" marR="165576" indent="-165996" algn="just">
              <a:lnSpc>
                <a:spcPts val="1522"/>
              </a:lnSpc>
              <a:spcBef>
                <a:spcPts val="1476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involves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complex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joins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across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location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database,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replication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3" dirty="0">
                <a:solidFill>
                  <a:srgbClr val="292934"/>
                </a:solidFill>
                <a:latin typeface="Verdana"/>
                <a:cs typeface="Verdana"/>
              </a:rPr>
              <a:t>non-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390" spc="5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3" dirty="0">
                <a:solidFill>
                  <a:srgbClr val="292934"/>
                </a:solidFill>
                <a:latin typeface="Verdana"/>
                <a:cs typeface="Verdana"/>
              </a:rPr>
              <a:t>keys</a:t>
            </a:r>
            <a:endParaRPr sz="139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6857" y="255495"/>
            <a:ext cx="2541914" cy="43937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pc="-93" dirty="0"/>
              <a:t>Hybrid</a:t>
            </a:r>
            <a:r>
              <a:rPr spc="-146" dirty="0"/>
              <a:t> </a:t>
            </a:r>
            <a:r>
              <a:rPr spc="-43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1073" y="801444"/>
            <a:ext cx="5403617" cy="1817699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73981" indent="-165576">
              <a:spcBef>
                <a:spcPts val="66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Involve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combination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replication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fragmentation</a:t>
            </a:r>
            <a:endParaRPr sz="1390">
              <a:latin typeface="Verdana"/>
              <a:cs typeface="Verdana"/>
            </a:endParaRPr>
          </a:p>
          <a:p>
            <a:pPr>
              <a:spcBef>
                <a:spcPts val="278"/>
              </a:spcBef>
              <a:buClr>
                <a:srgbClr val="292934"/>
              </a:buClr>
              <a:buFont typeface="Arial"/>
              <a:buChar char="•"/>
            </a:pPr>
            <a:endParaRPr sz="1390">
              <a:latin typeface="Verdana"/>
              <a:cs typeface="Verdana"/>
            </a:endParaRPr>
          </a:p>
          <a:p>
            <a:pPr marL="173981" indent="-165576"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partitioned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several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fragments</a:t>
            </a:r>
            <a:endParaRPr sz="1390">
              <a:latin typeface="Verdana"/>
              <a:cs typeface="Verdana"/>
            </a:endParaRPr>
          </a:p>
          <a:p>
            <a:pPr>
              <a:spcBef>
                <a:spcPts val="281"/>
              </a:spcBef>
              <a:buClr>
                <a:srgbClr val="292934"/>
              </a:buClr>
              <a:buFont typeface="Arial"/>
              <a:buChar char="•"/>
            </a:pPr>
            <a:endParaRPr sz="1390">
              <a:latin typeface="Verdana"/>
              <a:cs typeface="Verdana"/>
            </a:endParaRPr>
          </a:p>
          <a:p>
            <a:pPr marL="173981" indent="-165576"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replicated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across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nodes</a:t>
            </a:r>
            <a:endParaRPr sz="1390">
              <a:latin typeface="Verdana"/>
              <a:cs typeface="Verdana"/>
            </a:endParaRPr>
          </a:p>
          <a:p>
            <a:pPr>
              <a:spcBef>
                <a:spcPts val="453"/>
              </a:spcBef>
              <a:buClr>
                <a:srgbClr val="292934"/>
              </a:buClr>
              <a:buFont typeface="Arial"/>
              <a:buChar char="•"/>
            </a:pPr>
            <a:endParaRPr sz="1390">
              <a:latin typeface="Verdana"/>
              <a:cs typeface="Verdana"/>
            </a:endParaRPr>
          </a:p>
          <a:p>
            <a:pPr marL="173981" marR="19751" indent="-165996">
              <a:lnSpc>
                <a:spcPts val="1522"/>
              </a:lnSpc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administrators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play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crucial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role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right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combination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ensure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integrity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390" spc="4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security</a:t>
            </a:r>
            <a:endParaRPr sz="139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799" y="229273"/>
            <a:ext cx="4735046" cy="43937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pc="-79" dirty="0">
                <a:solidFill>
                  <a:srgbClr val="C00000"/>
                </a:solidFill>
              </a:rPr>
              <a:t>BASE</a:t>
            </a:r>
            <a:r>
              <a:rPr spc="-132" dirty="0">
                <a:solidFill>
                  <a:srgbClr val="C00000"/>
                </a:solidFill>
              </a:rPr>
              <a:t> </a:t>
            </a:r>
            <a:r>
              <a:rPr spc="-86" dirty="0"/>
              <a:t>Consistency</a:t>
            </a:r>
            <a:r>
              <a:rPr spc="-129" dirty="0"/>
              <a:t> </a:t>
            </a:r>
            <a:r>
              <a:rPr spc="-46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98426" y="789343"/>
            <a:ext cx="5965031" cy="1365476"/>
          </a:xfrm>
          <a:prstGeom prst="rect">
            <a:avLst/>
          </a:prstGeom>
        </p:spPr>
        <p:txBody>
          <a:bodyPr vert="horz" wrap="square" lIns="0" tIns="23532" rIns="0" bIns="0" rtlCol="0">
            <a:spAutoFit/>
          </a:bodyPr>
          <a:lstStyle/>
          <a:p>
            <a:pPr marL="173981" marR="523623" indent="-165996">
              <a:lnSpc>
                <a:spcPts val="1588"/>
              </a:lnSpc>
              <a:spcBef>
                <a:spcPts val="185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enormous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growth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data,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achieving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ACID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7" dirty="0">
                <a:solidFill>
                  <a:srgbClr val="292934"/>
                </a:solidFill>
                <a:latin typeface="Verdana"/>
                <a:cs typeface="Verdana"/>
              </a:rPr>
              <a:t>CAP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becomes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very</a:t>
            </a:r>
            <a:r>
              <a:rPr sz="1390" spc="4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difficult.</a:t>
            </a:r>
            <a:endParaRPr sz="1390">
              <a:latin typeface="Verdana"/>
              <a:cs typeface="Verdana"/>
            </a:endParaRPr>
          </a:p>
          <a:p>
            <a:pPr marL="173981" indent="-165576">
              <a:spcBef>
                <a:spcPts val="1134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relaxed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390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properties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3" dirty="0">
                <a:solidFill>
                  <a:srgbClr val="C00000"/>
                </a:solidFill>
                <a:latin typeface="Verdana"/>
                <a:cs typeface="Verdana"/>
              </a:rPr>
              <a:t>BASE</a:t>
            </a:r>
            <a:endParaRPr sz="1390">
              <a:latin typeface="Verdana"/>
              <a:cs typeface="Verdana"/>
            </a:endParaRPr>
          </a:p>
          <a:p>
            <a:pPr>
              <a:spcBef>
                <a:spcPts val="1006"/>
              </a:spcBef>
              <a:buFont typeface="Arial"/>
              <a:buChar char="•"/>
            </a:pPr>
            <a:endParaRPr sz="1390">
              <a:latin typeface="Verdana"/>
              <a:cs typeface="Verdana"/>
            </a:endParaRPr>
          </a:p>
          <a:p>
            <a:pPr marL="173981" indent="-165576">
              <a:buClr>
                <a:srgbClr val="292934"/>
              </a:buClr>
              <a:buSzPct val="86956"/>
              <a:buFont typeface="Arial"/>
              <a:buChar char="•"/>
              <a:tabLst>
                <a:tab pos="173981" algn="l"/>
              </a:tabLst>
            </a:pPr>
            <a:r>
              <a:rPr sz="1522" b="1" dirty="0">
                <a:solidFill>
                  <a:srgbClr val="C00000"/>
                </a:solidFill>
                <a:latin typeface="Verdana"/>
                <a:cs typeface="Verdana"/>
              </a:rPr>
              <a:t>B</a:t>
            </a:r>
            <a:r>
              <a:rPr sz="1522" b="1" dirty="0">
                <a:solidFill>
                  <a:srgbClr val="292934"/>
                </a:solidFill>
                <a:latin typeface="Verdana"/>
                <a:cs typeface="Verdana"/>
              </a:rPr>
              <a:t>asically</a:t>
            </a:r>
            <a:r>
              <a:rPr sz="1522" b="1" spc="8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22" b="1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522" b="1" dirty="0">
                <a:solidFill>
                  <a:srgbClr val="292934"/>
                </a:solidFill>
                <a:latin typeface="Verdana"/>
                <a:cs typeface="Verdana"/>
              </a:rPr>
              <a:t>vailable,</a:t>
            </a:r>
            <a:r>
              <a:rPr sz="1522" b="1" spc="8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22" b="1" dirty="0">
                <a:solidFill>
                  <a:srgbClr val="C00000"/>
                </a:solidFill>
                <a:latin typeface="Verdana"/>
                <a:cs typeface="Verdana"/>
              </a:rPr>
              <a:t>S</a:t>
            </a:r>
            <a:r>
              <a:rPr sz="1522" b="1" dirty="0">
                <a:solidFill>
                  <a:srgbClr val="292934"/>
                </a:solidFill>
                <a:latin typeface="Verdana"/>
                <a:cs typeface="Verdana"/>
              </a:rPr>
              <a:t>oft</a:t>
            </a:r>
            <a:r>
              <a:rPr sz="1522" b="1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22" b="1" dirty="0">
                <a:solidFill>
                  <a:srgbClr val="292934"/>
                </a:solidFill>
                <a:latin typeface="Verdana"/>
                <a:cs typeface="Verdana"/>
              </a:rPr>
              <a:t>state,</a:t>
            </a:r>
            <a:r>
              <a:rPr sz="1522" b="1" spc="8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22" b="1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1522" b="1" dirty="0">
                <a:solidFill>
                  <a:srgbClr val="292934"/>
                </a:solidFill>
                <a:latin typeface="Verdana"/>
                <a:cs typeface="Verdana"/>
              </a:rPr>
              <a:t>ventually</a:t>
            </a:r>
            <a:r>
              <a:rPr sz="1522" b="1" spc="9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22" b="1" spc="-7" dirty="0">
                <a:solidFill>
                  <a:srgbClr val="292934"/>
                </a:solidFill>
                <a:latin typeface="Verdana"/>
                <a:cs typeface="Verdana"/>
              </a:rPr>
              <a:t>consistent</a:t>
            </a:r>
            <a:endParaRPr sz="1522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8425" y="3193677"/>
            <a:ext cx="6050336" cy="1195460"/>
          </a:xfrm>
          <a:prstGeom prst="rect">
            <a:avLst/>
          </a:prstGeom>
        </p:spPr>
        <p:txBody>
          <a:bodyPr vert="horz" wrap="square" lIns="0" tIns="125226" rIns="0" bIns="0" rtlCol="0">
            <a:spAutoFit/>
          </a:bodyPr>
          <a:lstStyle/>
          <a:p>
            <a:pPr marL="173981" indent="-165576">
              <a:spcBef>
                <a:spcPts val="986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39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3" dirty="0">
                <a:solidFill>
                  <a:srgbClr val="292934"/>
                </a:solidFill>
                <a:latin typeface="Verdana"/>
                <a:cs typeface="Verdana"/>
              </a:rPr>
              <a:t>idea:</a:t>
            </a:r>
            <a:endParaRPr sz="1390">
              <a:latin typeface="Verdana"/>
              <a:cs typeface="Verdana"/>
            </a:endParaRPr>
          </a:p>
          <a:p>
            <a:pPr marL="501350" marR="17229" lvl="1" indent="-168097">
              <a:lnSpc>
                <a:spcPts val="1588"/>
              </a:lnSpc>
              <a:spcBef>
                <a:spcPts val="1039"/>
              </a:spcBef>
              <a:buSzPct val="85714"/>
              <a:buFont typeface="Arial"/>
              <a:buChar char="•"/>
              <a:tabLst>
                <a:tab pos="501350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90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state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1390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13" dirty="0">
                <a:solidFill>
                  <a:srgbClr val="292934"/>
                </a:solidFill>
                <a:latin typeface="Verdana"/>
                <a:cs typeface="Verdana"/>
              </a:rPr>
              <a:t>time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(“soft</a:t>
            </a:r>
            <a:r>
              <a:rPr sz="139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state”)</a:t>
            </a:r>
            <a:endParaRPr sz="1390">
              <a:latin typeface="Verdana"/>
              <a:cs typeface="Verdana"/>
            </a:endParaRPr>
          </a:p>
          <a:p>
            <a:pPr marL="501350" lvl="1" indent="-168097">
              <a:spcBef>
                <a:spcPts val="804"/>
              </a:spcBef>
              <a:buSzPct val="85714"/>
              <a:buFont typeface="Arial"/>
              <a:buChar char="•"/>
              <a:tabLst>
                <a:tab pos="501350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After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synchronization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complete,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state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390" spc="3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39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consistent</a:t>
            </a:r>
            <a:endParaRPr sz="139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63552" y="2229353"/>
            <a:ext cx="1872923" cy="832037"/>
            <a:chOff x="331989" y="3368800"/>
            <a:chExt cx="2830195" cy="1257300"/>
          </a:xfrm>
        </p:grpSpPr>
        <p:sp>
          <p:nvSpPr>
            <p:cNvPr id="6" name="object 6"/>
            <p:cNvSpPr/>
            <p:nvPr/>
          </p:nvSpPr>
          <p:spPr>
            <a:xfrm>
              <a:off x="346083" y="3382893"/>
              <a:ext cx="2802255" cy="1229360"/>
            </a:xfrm>
            <a:custGeom>
              <a:avLst/>
              <a:gdLst/>
              <a:ahLst/>
              <a:cxnLst/>
              <a:rect l="l" t="t" r="r" b="b"/>
              <a:pathLst>
                <a:path w="2802255" h="1229360">
                  <a:moveTo>
                    <a:pt x="2633467" y="217904"/>
                  </a:moveTo>
                  <a:lnTo>
                    <a:pt x="168475" y="217904"/>
                  </a:lnTo>
                  <a:lnTo>
                    <a:pt x="123687" y="223922"/>
                  </a:lnTo>
                  <a:lnTo>
                    <a:pt x="83442" y="240905"/>
                  </a:lnTo>
                  <a:lnTo>
                    <a:pt x="49345" y="267249"/>
                  </a:lnTo>
                  <a:lnTo>
                    <a:pt x="23001" y="301346"/>
                  </a:lnTo>
                  <a:lnTo>
                    <a:pt x="6018" y="341592"/>
                  </a:lnTo>
                  <a:lnTo>
                    <a:pt x="0" y="386379"/>
                  </a:lnTo>
                  <a:lnTo>
                    <a:pt x="0" y="1060255"/>
                  </a:lnTo>
                  <a:lnTo>
                    <a:pt x="6018" y="1105043"/>
                  </a:lnTo>
                  <a:lnTo>
                    <a:pt x="23001" y="1145288"/>
                  </a:lnTo>
                  <a:lnTo>
                    <a:pt x="49345" y="1179385"/>
                  </a:lnTo>
                  <a:lnTo>
                    <a:pt x="83442" y="1205729"/>
                  </a:lnTo>
                  <a:lnTo>
                    <a:pt x="123687" y="1222713"/>
                  </a:lnTo>
                  <a:lnTo>
                    <a:pt x="168475" y="1228731"/>
                  </a:lnTo>
                  <a:lnTo>
                    <a:pt x="2633467" y="1228731"/>
                  </a:lnTo>
                  <a:lnTo>
                    <a:pt x="2678255" y="1222713"/>
                  </a:lnTo>
                  <a:lnTo>
                    <a:pt x="2718500" y="1205729"/>
                  </a:lnTo>
                  <a:lnTo>
                    <a:pt x="2752597" y="1179385"/>
                  </a:lnTo>
                  <a:lnTo>
                    <a:pt x="2778941" y="1145288"/>
                  </a:lnTo>
                  <a:lnTo>
                    <a:pt x="2795925" y="1105043"/>
                  </a:lnTo>
                  <a:lnTo>
                    <a:pt x="2801943" y="1060255"/>
                  </a:lnTo>
                  <a:lnTo>
                    <a:pt x="2801943" y="386379"/>
                  </a:lnTo>
                  <a:lnTo>
                    <a:pt x="2795925" y="341592"/>
                  </a:lnTo>
                  <a:lnTo>
                    <a:pt x="2778941" y="301346"/>
                  </a:lnTo>
                  <a:lnTo>
                    <a:pt x="2752597" y="267249"/>
                  </a:lnTo>
                  <a:lnTo>
                    <a:pt x="2718500" y="240905"/>
                  </a:lnTo>
                  <a:lnTo>
                    <a:pt x="2678255" y="223922"/>
                  </a:lnTo>
                  <a:lnTo>
                    <a:pt x="2633467" y="217904"/>
                  </a:lnTo>
                  <a:close/>
                </a:path>
                <a:path w="2802255" h="1229360">
                  <a:moveTo>
                    <a:pt x="2587958" y="0"/>
                  </a:moveTo>
                  <a:lnTo>
                    <a:pt x="1634466" y="217904"/>
                  </a:lnTo>
                  <a:lnTo>
                    <a:pt x="2334952" y="217904"/>
                  </a:lnTo>
                  <a:lnTo>
                    <a:pt x="2587958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6083" y="3382893"/>
              <a:ext cx="2802255" cy="1228725"/>
            </a:xfrm>
            <a:custGeom>
              <a:avLst/>
              <a:gdLst/>
              <a:ahLst/>
              <a:cxnLst/>
              <a:rect l="l" t="t" r="r" b="b"/>
              <a:pathLst>
                <a:path w="2802255" h="1228725">
                  <a:moveTo>
                    <a:pt x="0" y="386379"/>
                  </a:moveTo>
                  <a:lnTo>
                    <a:pt x="6018" y="341592"/>
                  </a:lnTo>
                  <a:lnTo>
                    <a:pt x="23001" y="301347"/>
                  </a:lnTo>
                  <a:lnTo>
                    <a:pt x="49345" y="267249"/>
                  </a:lnTo>
                  <a:lnTo>
                    <a:pt x="83442" y="240906"/>
                  </a:lnTo>
                  <a:lnTo>
                    <a:pt x="123687" y="223922"/>
                  </a:lnTo>
                  <a:lnTo>
                    <a:pt x="168475" y="217904"/>
                  </a:lnTo>
                  <a:lnTo>
                    <a:pt x="1634467" y="217904"/>
                  </a:lnTo>
                  <a:lnTo>
                    <a:pt x="2587958" y="0"/>
                  </a:lnTo>
                  <a:lnTo>
                    <a:pt x="2334952" y="217904"/>
                  </a:lnTo>
                  <a:lnTo>
                    <a:pt x="2633468" y="217904"/>
                  </a:lnTo>
                  <a:lnTo>
                    <a:pt x="2678255" y="223922"/>
                  </a:lnTo>
                  <a:lnTo>
                    <a:pt x="2718500" y="240906"/>
                  </a:lnTo>
                  <a:lnTo>
                    <a:pt x="2752598" y="267249"/>
                  </a:lnTo>
                  <a:lnTo>
                    <a:pt x="2778941" y="301347"/>
                  </a:lnTo>
                  <a:lnTo>
                    <a:pt x="2795925" y="341592"/>
                  </a:lnTo>
                  <a:lnTo>
                    <a:pt x="2801943" y="386379"/>
                  </a:lnTo>
                  <a:lnTo>
                    <a:pt x="2801943" y="639081"/>
                  </a:lnTo>
                  <a:lnTo>
                    <a:pt x="2801943" y="1060255"/>
                  </a:lnTo>
                  <a:lnTo>
                    <a:pt x="2795925" y="1105043"/>
                  </a:lnTo>
                  <a:lnTo>
                    <a:pt x="2778941" y="1145288"/>
                  </a:lnTo>
                  <a:lnTo>
                    <a:pt x="2752598" y="1179385"/>
                  </a:lnTo>
                  <a:lnTo>
                    <a:pt x="2718500" y="1205729"/>
                  </a:lnTo>
                  <a:lnTo>
                    <a:pt x="2678255" y="1222713"/>
                  </a:lnTo>
                  <a:lnTo>
                    <a:pt x="2633468" y="1228731"/>
                  </a:lnTo>
                  <a:lnTo>
                    <a:pt x="2334952" y="1228731"/>
                  </a:lnTo>
                  <a:lnTo>
                    <a:pt x="1634467" y="1228731"/>
                  </a:lnTo>
                  <a:lnTo>
                    <a:pt x="168475" y="1228731"/>
                  </a:lnTo>
                  <a:lnTo>
                    <a:pt x="123687" y="1222713"/>
                  </a:lnTo>
                  <a:lnTo>
                    <a:pt x="83442" y="1205729"/>
                  </a:lnTo>
                  <a:lnTo>
                    <a:pt x="49345" y="1179385"/>
                  </a:lnTo>
                  <a:lnTo>
                    <a:pt x="23001" y="1145288"/>
                  </a:lnTo>
                  <a:lnTo>
                    <a:pt x="6018" y="1105043"/>
                  </a:lnTo>
                  <a:lnTo>
                    <a:pt x="0" y="1060255"/>
                  </a:lnTo>
                  <a:lnTo>
                    <a:pt x="0" y="639081"/>
                  </a:lnTo>
                  <a:lnTo>
                    <a:pt x="0" y="386376"/>
                  </a:lnTo>
                  <a:close/>
                </a:path>
              </a:pathLst>
            </a:custGeom>
            <a:ln w="28186">
              <a:solidFill>
                <a:srgbClr val="5757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30708" y="2450390"/>
            <a:ext cx="1538007" cy="507615"/>
          </a:xfrm>
          <a:prstGeom prst="rect">
            <a:avLst/>
          </a:prstGeom>
        </p:spPr>
        <p:txBody>
          <a:bodyPr vert="horz" wrap="square" lIns="0" tIns="34457" rIns="0" bIns="0" rtlCol="0">
            <a:spAutoFit/>
          </a:bodyPr>
          <a:lstStyle/>
          <a:p>
            <a:pPr marL="8405" marR="3362" algn="ctr">
              <a:lnSpc>
                <a:spcPct val="85600"/>
              </a:lnSpc>
              <a:spcBef>
                <a:spcPts val="271"/>
              </a:spcBef>
            </a:pP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Most</a:t>
            </a:r>
            <a:r>
              <a:rPr sz="1191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failures</a:t>
            </a:r>
            <a:r>
              <a:rPr sz="1191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191" spc="1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spc="-17" dirty="0">
                <a:solidFill>
                  <a:srgbClr val="FFFFFF"/>
                </a:solidFill>
                <a:latin typeface="Verdana"/>
                <a:cs typeface="Verdana"/>
              </a:rPr>
              <a:t>not </a:t>
            </a: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cause</a:t>
            </a:r>
            <a:r>
              <a:rPr sz="1191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91" spc="1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spc="-7" dirty="0">
                <a:solidFill>
                  <a:srgbClr val="FFFFFF"/>
                </a:solidFill>
                <a:latin typeface="Verdana"/>
                <a:cs typeface="Verdana"/>
              </a:rPr>
              <a:t>complete </a:t>
            </a: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r>
              <a:rPr sz="1191" spc="7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spc="-7" dirty="0">
                <a:solidFill>
                  <a:srgbClr val="FFFFFF"/>
                </a:solidFill>
                <a:latin typeface="Verdana"/>
                <a:cs typeface="Verdana"/>
              </a:rPr>
              <a:t>outage</a:t>
            </a:r>
            <a:endParaRPr sz="1191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08369" y="2172887"/>
            <a:ext cx="3788709" cy="888767"/>
            <a:chOff x="701936" y="3283473"/>
            <a:chExt cx="5725160" cy="1343025"/>
          </a:xfrm>
        </p:grpSpPr>
        <p:sp>
          <p:nvSpPr>
            <p:cNvPr id="10" name="object 10"/>
            <p:cNvSpPr/>
            <p:nvPr/>
          </p:nvSpPr>
          <p:spPr>
            <a:xfrm>
              <a:off x="707016" y="3288553"/>
              <a:ext cx="2945765" cy="0"/>
            </a:xfrm>
            <a:custGeom>
              <a:avLst/>
              <a:gdLst/>
              <a:ahLst/>
              <a:cxnLst/>
              <a:rect l="l" t="t" r="r" b="b"/>
              <a:pathLst>
                <a:path w="2945765">
                  <a:moveTo>
                    <a:pt x="0" y="0"/>
                  </a:moveTo>
                  <a:lnTo>
                    <a:pt x="2945204" y="1"/>
                  </a:lnTo>
                </a:path>
              </a:pathLst>
            </a:custGeom>
            <a:ln w="10159">
              <a:solidFill>
                <a:srgbClr val="011E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10582" y="3347425"/>
              <a:ext cx="2802255" cy="1264285"/>
            </a:xfrm>
            <a:custGeom>
              <a:avLst/>
              <a:gdLst/>
              <a:ahLst/>
              <a:cxnLst/>
              <a:rect l="l" t="t" r="r" b="b"/>
              <a:pathLst>
                <a:path w="2802254" h="1264285">
                  <a:moveTo>
                    <a:pt x="2633468" y="253372"/>
                  </a:moveTo>
                  <a:lnTo>
                    <a:pt x="168475" y="253372"/>
                  </a:lnTo>
                  <a:lnTo>
                    <a:pt x="123688" y="259390"/>
                  </a:lnTo>
                  <a:lnTo>
                    <a:pt x="83442" y="276374"/>
                  </a:lnTo>
                  <a:lnTo>
                    <a:pt x="49345" y="302717"/>
                  </a:lnTo>
                  <a:lnTo>
                    <a:pt x="23001" y="336815"/>
                  </a:lnTo>
                  <a:lnTo>
                    <a:pt x="6018" y="377060"/>
                  </a:lnTo>
                  <a:lnTo>
                    <a:pt x="0" y="421848"/>
                  </a:lnTo>
                  <a:lnTo>
                    <a:pt x="0" y="1095724"/>
                  </a:lnTo>
                  <a:lnTo>
                    <a:pt x="6018" y="1140511"/>
                  </a:lnTo>
                  <a:lnTo>
                    <a:pt x="23001" y="1180757"/>
                  </a:lnTo>
                  <a:lnTo>
                    <a:pt x="49345" y="1214854"/>
                  </a:lnTo>
                  <a:lnTo>
                    <a:pt x="83442" y="1241198"/>
                  </a:lnTo>
                  <a:lnTo>
                    <a:pt x="123688" y="1258181"/>
                  </a:lnTo>
                  <a:lnTo>
                    <a:pt x="168475" y="1264199"/>
                  </a:lnTo>
                  <a:lnTo>
                    <a:pt x="2633468" y="1264199"/>
                  </a:lnTo>
                  <a:lnTo>
                    <a:pt x="2678255" y="1258181"/>
                  </a:lnTo>
                  <a:lnTo>
                    <a:pt x="2718501" y="1241198"/>
                  </a:lnTo>
                  <a:lnTo>
                    <a:pt x="2752598" y="1214854"/>
                  </a:lnTo>
                  <a:lnTo>
                    <a:pt x="2778941" y="1180757"/>
                  </a:lnTo>
                  <a:lnTo>
                    <a:pt x="2795925" y="1140511"/>
                  </a:lnTo>
                  <a:lnTo>
                    <a:pt x="2801943" y="1095724"/>
                  </a:lnTo>
                  <a:lnTo>
                    <a:pt x="2801943" y="421848"/>
                  </a:lnTo>
                  <a:lnTo>
                    <a:pt x="2795925" y="377060"/>
                  </a:lnTo>
                  <a:lnTo>
                    <a:pt x="2778941" y="336815"/>
                  </a:lnTo>
                  <a:lnTo>
                    <a:pt x="2752598" y="302717"/>
                  </a:lnTo>
                  <a:lnTo>
                    <a:pt x="2718501" y="276374"/>
                  </a:lnTo>
                  <a:lnTo>
                    <a:pt x="2678255" y="259390"/>
                  </a:lnTo>
                  <a:lnTo>
                    <a:pt x="2633468" y="253372"/>
                  </a:lnTo>
                  <a:close/>
                </a:path>
                <a:path w="2802254" h="1264285">
                  <a:moveTo>
                    <a:pt x="1346584" y="0"/>
                  </a:moveTo>
                  <a:lnTo>
                    <a:pt x="466990" y="253372"/>
                  </a:lnTo>
                  <a:lnTo>
                    <a:pt x="1167476" y="253372"/>
                  </a:lnTo>
                  <a:lnTo>
                    <a:pt x="1346584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10582" y="3347424"/>
              <a:ext cx="2802255" cy="1264285"/>
            </a:xfrm>
            <a:custGeom>
              <a:avLst/>
              <a:gdLst/>
              <a:ahLst/>
              <a:cxnLst/>
              <a:rect l="l" t="t" r="r" b="b"/>
              <a:pathLst>
                <a:path w="2802254" h="1264285">
                  <a:moveTo>
                    <a:pt x="0" y="421848"/>
                  </a:moveTo>
                  <a:lnTo>
                    <a:pt x="6018" y="377060"/>
                  </a:lnTo>
                  <a:lnTo>
                    <a:pt x="23001" y="336815"/>
                  </a:lnTo>
                  <a:lnTo>
                    <a:pt x="49345" y="302718"/>
                  </a:lnTo>
                  <a:lnTo>
                    <a:pt x="83442" y="276374"/>
                  </a:lnTo>
                  <a:lnTo>
                    <a:pt x="123687" y="259391"/>
                  </a:lnTo>
                  <a:lnTo>
                    <a:pt x="168475" y="253373"/>
                  </a:lnTo>
                  <a:lnTo>
                    <a:pt x="466990" y="253373"/>
                  </a:lnTo>
                  <a:lnTo>
                    <a:pt x="1346584" y="0"/>
                  </a:lnTo>
                  <a:lnTo>
                    <a:pt x="1167476" y="253373"/>
                  </a:lnTo>
                  <a:lnTo>
                    <a:pt x="2633468" y="253373"/>
                  </a:lnTo>
                  <a:lnTo>
                    <a:pt x="2678255" y="259391"/>
                  </a:lnTo>
                  <a:lnTo>
                    <a:pt x="2718500" y="276374"/>
                  </a:lnTo>
                  <a:lnTo>
                    <a:pt x="2752598" y="302718"/>
                  </a:lnTo>
                  <a:lnTo>
                    <a:pt x="2778941" y="336815"/>
                  </a:lnTo>
                  <a:lnTo>
                    <a:pt x="2795925" y="377060"/>
                  </a:lnTo>
                  <a:lnTo>
                    <a:pt x="2801943" y="421848"/>
                  </a:lnTo>
                  <a:lnTo>
                    <a:pt x="2801943" y="674550"/>
                  </a:lnTo>
                  <a:lnTo>
                    <a:pt x="2801943" y="1095724"/>
                  </a:lnTo>
                  <a:lnTo>
                    <a:pt x="2795925" y="1140511"/>
                  </a:lnTo>
                  <a:lnTo>
                    <a:pt x="2778941" y="1180757"/>
                  </a:lnTo>
                  <a:lnTo>
                    <a:pt x="2752598" y="1214854"/>
                  </a:lnTo>
                  <a:lnTo>
                    <a:pt x="2718500" y="1241197"/>
                  </a:lnTo>
                  <a:lnTo>
                    <a:pt x="2678255" y="1258181"/>
                  </a:lnTo>
                  <a:lnTo>
                    <a:pt x="2633468" y="1264199"/>
                  </a:lnTo>
                  <a:lnTo>
                    <a:pt x="1167476" y="1264199"/>
                  </a:lnTo>
                  <a:lnTo>
                    <a:pt x="466990" y="1264199"/>
                  </a:lnTo>
                  <a:lnTo>
                    <a:pt x="168475" y="1264199"/>
                  </a:lnTo>
                  <a:lnTo>
                    <a:pt x="123687" y="1258181"/>
                  </a:lnTo>
                  <a:lnTo>
                    <a:pt x="83442" y="1241197"/>
                  </a:lnTo>
                  <a:lnTo>
                    <a:pt x="49345" y="1214854"/>
                  </a:lnTo>
                  <a:lnTo>
                    <a:pt x="23001" y="1180757"/>
                  </a:lnTo>
                  <a:lnTo>
                    <a:pt x="6018" y="1140511"/>
                  </a:lnTo>
                  <a:lnTo>
                    <a:pt x="0" y="1095724"/>
                  </a:lnTo>
                  <a:lnTo>
                    <a:pt x="0" y="674550"/>
                  </a:lnTo>
                  <a:lnTo>
                    <a:pt x="0" y="421845"/>
                  </a:lnTo>
                  <a:close/>
                </a:path>
              </a:pathLst>
            </a:custGeom>
            <a:ln w="28186">
              <a:solidFill>
                <a:srgbClr val="5757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42517" y="2527038"/>
            <a:ext cx="1635499" cy="346814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202977" marR="3362" indent="-194993">
              <a:lnSpc>
                <a:spcPts val="1191"/>
              </a:lnSpc>
              <a:spcBef>
                <a:spcPts val="304"/>
              </a:spcBef>
            </a:pP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r>
              <a:rPr sz="1191" spc="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191" spc="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not</a:t>
            </a:r>
            <a:r>
              <a:rPr sz="1191" spc="7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spc="-7" dirty="0">
                <a:solidFill>
                  <a:srgbClr val="FFFFFF"/>
                </a:solidFill>
                <a:latin typeface="Verdana"/>
                <a:cs typeface="Verdana"/>
              </a:rPr>
              <a:t>always write-consistent</a:t>
            </a:r>
            <a:endParaRPr sz="1191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69391" y="2172887"/>
            <a:ext cx="3796693" cy="888767"/>
            <a:chOff x="3967479" y="3283473"/>
            <a:chExt cx="5737225" cy="1343025"/>
          </a:xfrm>
        </p:grpSpPr>
        <p:sp>
          <p:nvSpPr>
            <p:cNvPr id="15" name="object 15"/>
            <p:cNvSpPr/>
            <p:nvPr/>
          </p:nvSpPr>
          <p:spPr>
            <a:xfrm>
              <a:off x="3972559" y="3288553"/>
              <a:ext cx="1554480" cy="0"/>
            </a:xfrm>
            <a:custGeom>
              <a:avLst/>
              <a:gdLst/>
              <a:ahLst/>
              <a:cxnLst/>
              <a:rect l="l" t="t" r="r" b="b"/>
              <a:pathLst>
                <a:path w="1554479">
                  <a:moveTo>
                    <a:pt x="0" y="0"/>
                  </a:moveTo>
                  <a:lnTo>
                    <a:pt x="1553882" y="1"/>
                  </a:lnTo>
                </a:path>
              </a:pathLst>
            </a:custGeom>
            <a:ln w="10159">
              <a:solidFill>
                <a:srgbClr val="011E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88293" y="3347425"/>
              <a:ext cx="2802255" cy="1264285"/>
            </a:xfrm>
            <a:custGeom>
              <a:avLst/>
              <a:gdLst/>
              <a:ahLst/>
              <a:cxnLst/>
              <a:rect l="l" t="t" r="r" b="b"/>
              <a:pathLst>
                <a:path w="2802254" h="1264285">
                  <a:moveTo>
                    <a:pt x="2633468" y="253372"/>
                  </a:moveTo>
                  <a:lnTo>
                    <a:pt x="168474" y="253372"/>
                  </a:lnTo>
                  <a:lnTo>
                    <a:pt x="123687" y="259390"/>
                  </a:lnTo>
                  <a:lnTo>
                    <a:pt x="83442" y="276374"/>
                  </a:lnTo>
                  <a:lnTo>
                    <a:pt x="49345" y="302717"/>
                  </a:lnTo>
                  <a:lnTo>
                    <a:pt x="23001" y="336815"/>
                  </a:lnTo>
                  <a:lnTo>
                    <a:pt x="6018" y="377060"/>
                  </a:lnTo>
                  <a:lnTo>
                    <a:pt x="0" y="421848"/>
                  </a:lnTo>
                  <a:lnTo>
                    <a:pt x="0" y="1095724"/>
                  </a:lnTo>
                  <a:lnTo>
                    <a:pt x="6018" y="1140511"/>
                  </a:lnTo>
                  <a:lnTo>
                    <a:pt x="23001" y="1180757"/>
                  </a:lnTo>
                  <a:lnTo>
                    <a:pt x="49345" y="1214854"/>
                  </a:lnTo>
                  <a:lnTo>
                    <a:pt x="83442" y="1241198"/>
                  </a:lnTo>
                  <a:lnTo>
                    <a:pt x="123687" y="1258181"/>
                  </a:lnTo>
                  <a:lnTo>
                    <a:pt x="168474" y="1264199"/>
                  </a:lnTo>
                  <a:lnTo>
                    <a:pt x="2633468" y="1264199"/>
                  </a:lnTo>
                  <a:lnTo>
                    <a:pt x="2678255" y="1258181"/>
                  </a:lnTo>
                  <a:lnTo>
                    <a:pt x="2718500" y="1241198"/>
                  </a:lnTo>
                  <a:lnTo>
                    <a:pt x="2752597" y="1214854"/>
                  </a:lnTo>
                  <a:lnTo>
                    <a:pt x="2778941" y="1180757"/>
                  </a:lnTo>
                  <a:lnTo>
                    <a:pt x="2795924" y="1140511"/>
                  </a:lnTo>
                  <a:lnTo>
                    <a:pt x="2801942" y="1095724"/>
                  </a:lnTo>
                  <a:lnTo>
                    <a:pt x="2801942" y="421848"/>
                  </a:lnTo>
                  <a:lnTo>
                    <a:pt x="2795924" y="377060"/>
                  </a:lnTo>
                  <a:lnTo>
                    <a:pt x="2778941" y="336815"/>
                  </a:lnTo>
                  <a:lnTo>
                    <a:pt x="2752597" y="302717"/>
                  </a:lnTo>
                  <a:lnTo>
                    <a:pt x="2718500" y="276374"/>
                  </a:lnTo>
                  <a:lnTo>
                    <a:pt x="2678255" y="259390"/>
                  </a:lnTo>
                  <a:lnTo>
                    <a:pt x="2633468" y="253372"/>
                  </a:lnTo>
                  <a:close/>
                </a:path>
                <a:path w="2802254" h="1264285">
                  <a:moveTo>
                    <a:pt x="1346583" y="0"/>
                  </a:moveTo>
                  <a:lnTo>
                    <a:pt x="466990" y="253372"/>
                  </a:lnTo>
                  <a:lnTo>
                    <a:pt x="1167476" y="253372"/>
                  </a:lnTo>
                  <a:lnTo>
                    <a:pt x="1346583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88293" y="3347424"/>
              <a:ext cx="2802255" cy="1264285"/>
            </a:xfrm>
            <a:custGeom>
              <a:avLst/>
              <a:gdLst/>
              <a:ahLst/>
              <a:cxnLst/>
              <a:rect l="l" t="t" r="r" b="b"/>
              <a:pathLst>
                <a:path w="2802254" h="1264285">
                  <a:moveTo>
                    <a:pt x="0" y="421848"/>
                  </a:moveTo>
                  <a:lnTo>
                    <a:pt x="6018" y="377060"/>
                  </a:lnTo>
                  <a:lnTo>
                    <a:pt x="23001" y="336815"/>
                  </a:lnTo>
                  <a:lnTo>
                    <a:pt x="49345" y="302718"/>
                  </a:lnTo>
                  <a:lnTo>
                    <a:pt x="83442" y="276374"/>
                  </a:lnTo>
                  <a:lnTo>
                    <a:pt x="123687" y="259391"/>
                  </a:lnTo>
                  <a:lnTo>
                    <a:pt x="168475" y="253373"/>
                  </a:lnTo>
                  <a:lnTo>
                    <a:pt x="466990" y="253373"/>
                  </a:lnTo>
                  <a:lnTo>
                    <a:pt x="1346584" y="0"/>
                  </a:lnTo>
                  <a:lnTo>
                    <a:pt x="1167476" y="253373"/>
                  </a:lnTo>
                  <a:lnTo>
                    <a:pt x="2633468" y="253373"/>
                  </a:lnTo>
                  <a:lnTo>
                    <a:pt x="2678255" y="259391"/>
                  </a:lnTo>
                  <a:lnTo>
                    <a:pt x="2718500" y="276374"/>
                  </a:lnTo>
                  <a:lnTo>
                    <a:pt x="2752598" y="302718"/>
                  </a:lnTo>
                  <a:lnTo>
                    <a:pt x="2778941" y="336815"/>
                  </a:lnTo>
                  <a:lnTo>
                    <a:pt x="2795925" y="377060"/>
                  </a:lnTo>
                  <a:lnTo>
                    <a:pt x="2801943" y="421848"/>
                  </a:lnTo>
                  <a:lnTo>
                    <a:pt x="2801943" y="674550"/>
                  </a:lnTo>
                  <a:lnTo>
                    <a:pt x="2801943" y="1095724"/>
                  </a:lnTo>
                  <a:lnTo>
                    <a:pt x="2795925" y="1140511"/>
                  </a:lnTo>
                  <a:lnTo>
                    <a:pt x="2778941" y="1180757"/>
                  </a:lnTo>
                  <a:lnTo>
                    <a:pt x="2752598" y="1214854"/>
                  </a:lnTo>
                  <a:lnTo>
                    <a:pt x="2718500" y="1241197"/>
                  </a:lnTo>
                  <a:lnTo>
                    <a:pt x="2678255" y="1258181"/>
                  </a:lnTo>
                  <a:lnTo>
                    <a:pt x="2633468" y="1264199"/>
                  </a:lnTo>
                  <a:lnTo>
                    <a:pt x="1167476" y="1264199"/>
                  </a:lnTo>
                  <a:lnTo>
                    <a:pt x="466990" y="1264199"/>
                  </a:lnTo>
                  <a:lnTo>
                    <a:pt x="168475" y="1264199"/>
                  </a:lnTo>
                  <a:lnTo>
                    <a:pt x="123687" y="1258181"/>
                  </a:lnTo>
                  <a:lnTo>
                    <a:pt x="83442" y="1241197"/>
                  </a:lnTo>
                  <a:lnTo>
                    <a:pt x="49345" y="1214854"/>
                  </a:lnTo>
                  <a:lnTo>
                    <a:pt x="23001" y="1180757"/>
                  </a:lnTo>
                  <a:lnTo>
                    <a:pt x="6018" y="1140511"/>
                  </a:lnTo>
                  <a:lnTo>
                    <a:pt x="0" y="1095724"/>
                  </a:lnTo>
                  <a:lnTo>
                    <a:pt x="0" y="674550"/>
                  </a:lnTo>
                  <a:lnTo>
                    <a:pt x="0" y="421845"/>
                  </a:lnTo>
                  <a:close/>
                </a:path>
              </a:pathLst>
            </a:custGeom>
            <a:ln w="28186">
              <a:solidFill>
                <a:srgbClr val="5757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68069" y="2450390"/>
            <a:ext cx="1522459" cy="507615"/>
          </a:xfrm>
          <a:prstGeom prst="rect">
            <a:avLst/>
          </a:prstGeom>
        </p:spPr>
        <p:txBody>
          <a:bodyPr vert="horz" wrap="square" lIns="0" tIns="34457" rIns="0" bIns="0" rtlCol="0">
            <a:spAutoFit/>
          </a:bodyPr>
          <a:lstStyle/>
          <a:p>
            <a:pPr marL="8405" marR="3362" algn="ctr">
              <a:lnSpc>
                <a:spcPct val="85600"/>
              </a:lnSpc>
              <a:spcBef>
                <a:spcPts val="271"/>
              </a:spcBef>
            </a:pP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1191" spc="7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will</a:t>
            </a:r>
            <a:r>
              <a:rPr sz="1191" spc="-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spc="-7" dirty="0">
                <a:solidFill>
                  <a:srgbClr val="FFFFFF"/>
                </a:solidFill>
                <a:latin typeface="Verdana"/>
                <a:cs typeface="Verdana"/>
              </a:rPr>
              <a:t>eventually </a:t>
            </a:r>
            <a:r>
              <a:rPr sz="1191" dirty="0">
                <a:solidFill>
                  <a:srgbClr val="FFFFFF"/>
                </a:solidFill>
                <a:latin typeface="Verdana"/>
                <a:cs typeface="Verdana"/>
              </a:rPr>
              <a:t>converge to</a:t>
            </a:r>
            <a:r>
              <a:rPr sz="1191" spc="7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91" spc="-7" dirty="0">
                <a:solidFill>
                  <a:srgbClr val="FFFFFF"/>
                </a:solidFill>
                <a:latin typeface="Verdana"/>
                <a:cs typeface="Verdana"/>
              </a:rPr>
              <a:t>agreed values</a:t>
            </a:r>
            <a:endParaRPr sz="1191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09882" y="2176248"/>
            <a:ext cx="2309953" cy="0"/>
          </a:xfrm>
          <a:custGeom>
            <a:avLst/>
            <a:gdLst/>
            <a:ahLst/>
            <a:cxnLst/>
            <a:rect l="l" t="t" r="r" b="b"/>
            <a:pathLst>
              <a:path w="3490595">
                <a:moveTo>
                  <a:pt x="0" y="0"/>
                </a:moveTo>
                <a:lnTo>
                  <a:pt x="3490259" y="1"/>
                </a:lnTo>
              </a:path>
            </a:pathLst>
          </a:custGeom>
          <a:ln w="10159">
            <a:solidFill>
              <a:srgbClr val="011E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5600700" y="3165522"/>
            <a:ext cx="1391771" cy="139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15">
              <a:lnSpc>
                <a:spcPts val="870"/>
              </a:lnSpc>
            </a:pPr>
            <a:fld id="{81D60167-4931-47E6-BA6A-407CBD079E47}" type="slidenum">
              <a:rPr spc="-17" dirty="0"/>
              <a:pPr marL="25215">
                <a:lnSpc>
                  <a:spcPts val="870"/>
                </a:lnSpc>
              </a:pPr>
              <a:t>28</a:t>
            </a:fld>
            <a:endParaRPr spc="-17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51" y="38913"/>
            <a:ext cx="3731139" cy="586698"/>
          </a:xfrm>
          <a:prstGeom prst="rect">
            <a:avLst/>
          </a:prstGeom>
        </p:spPr>
        <p:txBody>
          <a:bodyPr vert="horz" wrap="square" lIns="0" tIns="154304" rIns="0" bIns="0" rtlCol="0">
            <a:spAutoFit/>
          </a:bodyPr>
          <a:lstStyle/>
          <a:p>
            <a:pPr marL="2238214">
              <a:spcBef>
                <a:spcPts val="66"/>
              </a:spcBef>
            </a:pPr>
            <a:r>
              <a:rPr spc="-99" dirty="0"/>
              <a:t>Wrap-</a:t>
            </a:r>
            <a:r>
              <a:rPr spc="-43" dirty="0"/>
              <a:t>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98425" y="789343"/>
            <a:ext cx="4702268" cy="22239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73981" indent="-165576">
              <a:spcBef>
                <a:spcPts val="66"/>
              </a:spcBef>
              <a:buSzPct val="85714"/>
              <a:buFont typeface="Arial"/>
              <a:buChar char="•"/>
              <a:tabLst>
                <a:tab pos="173981" algn="l"/>
              </a:tabLst>
            </a:pP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Distributed</a:t>
            </a:r>
            <a:r>
              <a:rPr sz="139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Systems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dirty="0">
                <a:solidFill>
                  <a:srgbClr val="292934"/>
                </a:solidFill>
                <a:latin typeface="Wingdings"/>
                <a:cs typeface="Wingdings"/>
              </a:rPr>
              <a:t></a:t>
            </a:r>
            <a:r>
              <a:rPr sz="1390" spc="172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39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90" spc="1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90" spc="-7" dirty="0">
                <a:solidFill>
                  <a:srgbClr val="292934"/>
                </a:solidFill>
                <a:latin typeface="Verdana"/>
                <a:cs typeface="Verdana"/>
              </a:rPr>
              <a:t>scaling</a:t>
            </a:r>
            <a:endParaRPr sz="139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86671" y="1191268"/>
            <a:ext cx="2755386" cy="1671638"/>
            <a:chOff x="518036" y="1800138"/>
            <a:chExt cx="4163695" cy="2526030"/>
          </a:xfrm>
        </p:grpSpPr>
        <p:sp>
          <p:nvSpPr>
            <p:cNvPr id="5" name="object 5"/>
            <p:cNvSpPr/>
            <p:nvPr/>
          </p:nvSpPr>
          <p:spPr>
            <a:xfrm>
              <a:off x="524809" y="1806911"/>
              <a:ext cx="4149725" cy="2512695"/>
            </a:xfrm>
            <a:custGeom>
              <a:avLst/>
              <a:gdLst/>
              <a:ahLst/>
              <a:cxnLst/>
              <a:rect l="l" t="t" r="r" b="b"/>
              <a:pathLst>
                <a:path w="4149725" h="2512695">
                  <a:moveTo>
                    <a:pt x="3730957" y="0"/>
                  </a:moveTo>
                  <a:lnTo>
                    <a:pt x="418756" y="0"/>
                  </a:lnTo>
                  <a:lnTo>
                    <a:pt x="369920" y="2817"/>
                  </a:lnTo>
                  <a:lnTo>
                    <a:pt x="322739" y="11059"/>
                  </a:lnTo>
                  <a:lnTo>
                    <a:pt x="277526" y="24412"/>
                  </a:lnTo>
                  <a:lnTo>
                    <a:pt x="234597" y="42562"/>
                  </a:lnTo>
                  <a:lnTo>
                    <a:pt x="194265" y="65195"/>
                  </a:lnTo>
                  <a:lnTo>
                    <a:pt x="156845" y="91996"/>
                  </a:lnTo>
                  <a:lnTo>
                    <a:pt x="122650" y="122651"/>
                  </a:lnTo>
                  <a:lnTo>
                    <a:pt x="91996" y="156845"/>
                  </a:lnTo>
                  <a:lnTo>
                    <a:pt x="65195" y="194266"/>
                  </a:lnTo>
                  <a:lnTo>
                    <a:pt x="42562" y="234598"/>
                  </a:lnTo>
                  <a:lnTo>
                    <a:pt x="24412" y="277527"/>
                  </a:lnTo>
                  <a:lnTo>
                    <a:pt x="11059" y="322739"/>
                  </a:lnTo>
                  <a:lnTo>
                    <a:pt x="2817" y="369921"/>
                  </a:lnTo>
                  <a:lnTo>
                    <a:pt x="0" y="418757"/>
                  </a:lnTo>
                  <a:lnTo>
                    <a:pt x="0" y="2093725"/>
                  </a:lnTo>
                  <a:lnTo>
                    <a:pt x="2817" y="2142561"/>
                  </a:lnTo>
                  <a:lnTo>
                    <a:pt x="11059" y="2189742"/>
                  </a:lnTo>
                  <a:lnTo>
                    <a:pt x="24412" y="2234954"/>
                  </a:lnTo>
                  <a:lnTo>
                    <a:pt x="42562" y="2277883"/>
                  </a:lnTo>
                  <a:lnTo>
                    <a:pt x="65195" y="2318215"/>
                  </a:lnTo>
                  <a:lnTo>
                    <a:pt x="91996" y="2355636"/>
                  </a:lnTo>
                  <a:lnTo>
                    <a:pt x="122650" y="2389830"/>
                  </a:lnTo>
                  <a:lnTo>
                    <a:pt x="156845" y="2420485"/>
                  </a:lnTo>
                  <a:lnTo>
                    <a:pt x="194265" y="2447286"/>
                  </a:lnTo>
                  <a:lnTo>
                    <a:pt x="234597" y="2469918"/>
                  </a:lnTo>
                  <a:lnTo>
                    <a:pt x="277526" y="2488068"/>
                  </a:lnTo>
                  <a:lnTo>
                    <a:pt x="322739" y="2501421"/>
                  </a:lnTo>
                  <a:lnTo>
                    <a:pt x="369920" y="2509664"/>
                  </a:lnTo>
                  <a:lnTo>
                    <a:pt x="418756" y="2512481"/>
                  </a:lnTo>
                  <a:lnTo>
                    <a:pt x="3730957" y="2512481"/>
                  </a:lnTo>
                  <a:lnTo>
                    <a:pt x="3779793" y="2509664"/>
                  </a:lnTo>
                  <a:lnTo>
                    <a:pt x="3826974" y="2501421"/>
                  </a:lnTo>
                  <a:lnTo>
                    <a:pt x="3872186" y="2488068"/>
                  </a:lnTo>
                  <a:lnTo>
                    <a:pt x="3915115" y="2469918"/>
                  </a:lnTo>
                  <a:lnTo>
                    <a:pt x="3955447" y="2447286"/>
                  </a:lnTo>
                  <a:lnTo>
                    <a:pt x="3992868" y="2420485"/>
                  </a:lnTo>
                  <a:lnTo>
                    <a:pt x="4027062" y="2389830"/>
                  </a:lnTo>
                  <a:lnTo>
                    <a:pt x="4057717" y="2355636"/>
                  </a:lnTo>
                  <a:lnTo>
                    <a:pt x="4084518" y="2318215"/>
                  </a:lnTo>
                  <a:lnTo>
                    <a:pt x="4107150" y="2277883"/>
                  </a:lnTo>
                  <a:lnTo>
                    <a:pt x="4125300" y="2234954"/>
                  </a:lnTo>
                  <a:lnTo>
                    <a:pt x="4138654" y="2189742"/>
                  </a:lnTo>
                  <a:lnTo>
                    <a:pt x="4146896" y="2142561"/>
                  </a:lnTo>
                  <a:lnTo>
                    <a:pt x="4149713" y="2093725"/>
                  </a:lnTo>
                  <a:lnTo>
                    <a:pt x="4149713" y="418757"/>
                  </a:lnTo>
                  <a:lnTo>
                    <a:pt x="4146896" y="369921"/>
                  </a:lnTo>
                  <a:lnTo>
                    <a:pt x="4138654" y="322739"/>
                  </a:lnTo>
                  <a:lnTo>
                    <a:pt x="4125300" y="277527"/>
                  </a:lnTo>
                  <a:lnTo>
                    <a:pt x="4107150" y="234598"/>
                  </a:lnTo>
                  <a:lnTo>
                    <a:pt x="4084518" y="194266"/>
                  </a:lnTo>
                  <a:lnTo>
                    <a:pt x="4057717" y="156845"/>
                  </a:lnTo>
                  <a:lnTo>
                    <a:pt x="4027062" y="122651"/>
                  </a:lnTo>
                  <a:lnTo>
                    <a:pt x="3992868" y="91996"/>
                  </a:lnTo>
                  <a:lnTo>
                    <a:pt x="3955447" y="65195"/>
                  </a:lnTo>
                  <a:lnTo>
                    <a:pt x="3915115" y="42562"/>
                  </a:lnTo>
                  <a:lnTo>
                    <a:pt x="3872186" y="24412"/>
                  </a:lnTo>
                  <a:lnTo>
                    <a:pt x="3826974" y="11059"/>
                  </a:lnTo>
                  <a:lnTo>
                    <a:pt x="3779793" y="2817"/>
                  </a:lnTo>
                  <a:lnTo>
                    <a:pt x="3730957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4809" y="1806911"/>
              <a:ext cx="4149725" cy="2512695"/>
            </a:xfrm>
            <a:custGeom>
              <a:avLst/>
              <a:gdLst/>
              <a:ahLst/>
              <a:cxnLst/>
              <a:rect l="l" t="t" r="r" b="b"/>
              <a:pathLst>
                <a:path w="4149725" h="2512695">
                  <a:moveTo>
                    <a:pt x="0" y="418756"/>
                  </a:moveTo>
                  <a:lnTo>
                    <a:pt x="2817" y="369920"/>
                  </a:lnTo>
                  <a:lnTo>
                    <a:pt x="11059" y="322739"/>
                  </a:lnTo>
                  <a:lnTo>
                    <a:pt x="24412" y="277527"/>
                  </a:lnTo>
                  <a:lnTo>
                    <a:pt x="42562" y="234598"/>
                  </a:lnTo>
                  <a:lnTo>
                    <a:pt x="65195" y="194266"/>
                  </a:lnTo>
                  <a:lnTo>
                    <a:pt x="91996" y="156845"/>
                  </a:lnTo>
                  <a:lnTo>
                    <a:pt x="122650" y="122651"/>
                  </a:lnTo>
                  <a:lnTo>
                    <a:pt x="156845" y="91996"/>
                  </a:lnTo>
                  <a:lnTo>
                    <a:pt x="194265" y="65195"/>
                  </a:lnTo>
                  <a:lnTo>
                    <a:pt x="234597" y="42562"/>
                  </a:lnTo>
                  <a:lnTo>
                    <a:pt x="277527" y="24412"/>
                  </a:lnTo>
                  <a:lnTo>
                    <a:pt x="322739" y="11059"/>
                  </a:lnTo>
                  <a:lnTo>
                    <a:pt x="369920" y="2817"/>
                  </a:lnTo>
                  <a:lnTo>
                    <a:pt x="418756" y="0"/>
                  </a:lnTo>
                  <a:lnTo>
                    <a:pt x="3730957" y="0"/>
                  </a:lnTo>
                  <a:lnTo>
                    <a:pt x="3779793" y="2817"/>
                  </a:lnTo>
                  <a:lnTo>
                    <a:pt x="3826974" y="11059"/>
                  </a:lnTo>
                  <a:lnTo>
                    <a:pt x="3872186" y="24412"/>
                  </a:lnTo>
                  <a:lnTo>
                    <a:pt x="3915116" y="42562"/>
                  </a:lnTo>
                  <a:lnTo>
                    <a:pt x="3955448" y="65195"/>
                  </a:lnTo>
                  <a:lnTo>
                    <a:pt x="3992868" y="91996"/>
                  </a:lnTo>
                  <a:lnTo>
                    <a:pt x="4027063" y="122651"/>
                  </a:lnTo>
                  <a:lnTo>
                    <a:pt x="4057717" y="156845"/>
                  </a:lnTo>
                  <a:lnTo>
                    <a:pt x="4084518" y="194266"/>
                  </a:lnTo>
                  <a:lnTo>
                    <a:pt x="4107151" y="234598"/>
                  </a:lnTo>
                  <a:lnTo>
                    <a:pt x="4125301" y="277527"/>
                  </a:lnTo>
                  <a:lnTo>
                    <a:pt x="4138654" y="322739"/>
                  </a:lnTo>
                  <a:lnTo>
                    <a:pt x="4146896" y="369920"/>
                  </a:lnTo>
                  <a:lnTo>
                    <a:pt x="4149714" y="418756"/>
                  </a:lnTo>
                  <a:lnTo>
                    <a:pt x="4149714" y="2093725"/>
                  </a:lnTo>
                  <a:lnTo>
                    <a:pt x="4146896" y="2142561"/>
                  </a:lnTo>
                  <a:lnTo>
                    <a:pt x="4138654" y="2189742"/>
                  </a:lnTo>
                  <a:lnTo>
                    <a:pt x="4125301" y="2234954"/>
                  </a:lnTo>
                  <a:lnTo>
                    <a:pt x="4107151" y="2277884"/>
                  </a:lnTo>
                  <a:lnTo>
                    <a:pt x="4084518" y="2318216"/>
                  </a:lnTo>
                  <a:lnTo>
                    <a:pt x="4057717" y="2355636"/>
                  </a:lnTo>
                  <a:lnTo>
                    <a:pt x="4027063" y="2389831"/>
                  </a:lnTo>
                  <a:lnTo>
                    <a:pt x="3992868" y="2420485"/>
                  </a:lnTo>
                  <a:lnTo>
                    <a:pt x="3955448" y="2447286"/>
                  </a:lnTo>
                  <a:lnTo>
                    <a:pt x="3915116" y="2469919"/>
                  </a:lnTo>
                  <a:lnTo>
                    <a:pt x="3872186" y="2488069"/>
                  </a:lnTo>
                  <a:lnTo>
                    <a:pt x="3826974" y="2501422"/>
                  </a:lnTo>
                  <a:lnTo>
                    <a:pt x="3779793" y="2509664"/>
                  </a:lnTo>
                  <a:lnTo>
                    <a:pt x="3730957" y="2512482"/>
                  </a:lnTo>
                  <a:lnTo>
                    <a:pt x="418756" y="2512482"/>
                  </a:lnTo>
                  <a:lnTo>
                    <a:pt x="369920" y="2509664"/>
                  </a:lnTo>
                  <a:lnTo>
                    <a:pt x="322739" y="2501422"/>
                  </a:lnTo>
                  <a:lnTo>
                    <a:pt x="277527" y="2488069"/>
                  </a:lnTo>
                  <a:lnTo>
                    <a:pt x="234597" y="2469919"/>
                  </a:lnTo>
                  <a:lnTo>
                    <a:pt x="194265" y="2447286"/>
                  </a:lnTo>
                  <a:lnTo>
                    <a:pt x="156845" y="2420485"/>
                  </a:lnTo>
                  <a:lnTo>
                    <a:pt x="122650" y="2389831"/>
                  </a:lnTo>
                  <a:lnTo>
                    <a:pt x="91996" y="2355636"/>
                  </a:lnTo>
                  <a:lnTo>
                    <a:pt x="65195" y="2318216"/>
                  </a:lnTo>
                  <a:lnTo>
                    <a:pt x="42562" y="2277884"/>
                  </a:lnTo>
                  <a:lnTo>
                    <a:pt x="24412" y="2234954"/>
                  </a:lnTo>
                  <a:lnTo>
                    <a:pt x="11059" y="2189742"/>
                  </a:lnTo>
                  <a:lnTo>
                    <a:pt x="2817" y="2142561"/>
                  </a:lnTo>
                  <a:lnTo>
                    <a:pt x="0" y="2093725"/>
                  </a:lnTo>
                  <a:lnTo>
                    <a:pt x="0" y="418756"/>
                  </a:lnTo>
                  <a:close/>
                </a:path>
              </a:pathLst>
            </a:custGeom>
            <a:ln w="13546">
              <a:solidFill>
                <a:srgbClr val="8A8A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63876" y="1142204"/>
            <a:ext cx="2296085" cy="1588020"/>
          </a:xfrm>
          <a:prstGeom prst="rect">
            <a:avLst/>
          </a:prstGeom>
        </p:spPr>
        <p:txBody>
          <a:bodyPr vert="horz" wrap="square" lIns="0" tIns="102954" rIns="0" bIns="0" rtlCol="0">
            <a:spAutoFit/>
          </a:bodyPr>
          <a:lstStyle/>
          <a:p>
            <a:pPr marL="8405">
              <a:spcBef>
                <a:spcPts val="811"/>
              </a:spcBef>
            </a:pPr>
            <a:r>
              <a:rPr sz="1456" b="1" spc="-7" dirty="0">
                <a:solidFill>
                  <a:srgbClr val="292934"/>
                </a:solidFill>
                <a:latin typeface="Verdana"/>
                <a:cs typeface="Verdana"/>
              </a:rPr>
              <a:t>Replication</a:t>
            </a:r>
            <a:endParaRPr sz="1456">
              <a:latin typeface="Verdana"/>
              <a:cs typeface="Verdana"/>
            </a:endParaRPr>
          </a:p>
          <a:p>
            <a:pPr marL="171879" marR="273998" indent="-163895">
              <a:lnSpc>
                <a:spcPts val="1316"/>
              </a:lnSpc>
              <a:spcBef>
                <a:spcPts val="847"/>
              </a:spcBef>
              <a:buSzPct val="84210"/>
              <a:buFont typeface="Arial"/>
              <a:buChar char="•"/>
              <a:tabLst>
                <a:tab pos="171879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125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copies</a:t>
            </a:r>
            <a:r>
              <a:rPr sz="1257" spc="2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25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3" dirty="0">
                <a:solidFill>
                  <a:srgbClr val="292934"/>
                </a:solidFill>
                <a:latin typeface="Verdana"/>
                <a:cs typeface="Verdana"/>
              </a:rPr>
              <a:t>each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25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partition</a:t>
            </a:r>
            <a:endParaRPr sz="1257">
              <a:latin typeface="Verdana"/>
              <a:cs typeface="Verdana"/>
            </a:endParaRPr>
          </a:p>
          <a:p>
            <a:pPr marL="171879" indent="-163475">
              <a:spcBef>
                <a:spcPts val="592"/>
              </a:spcBef>
              <a:buSzPct val="84210"/>
              <a:buFont typeface="Arial"/>
              <a:buChar char="•"/>
              <a:tabLst>
                <a:tab pos="171879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Improves fault</a:t>
            </a:r>
            <a:r>
              <a:rPr sz="1257" spc="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tolerance</a:t>
            </a:r>
            <a:endParaRPr sz="1257">
              <a:latin typeface="Verdana"/>
              <a:cs typeface="Verdana"/>
            </a:endParaRPr>
          </a:p>
          <a:p>
            <a:pPr marL="171879" indent="-163475">
              <a:spcBef>
                <a:spcPts val="682"/>
              </a:spcBef>
              <a:buSzPct val="84210"/>
              <a:buFont typeface="Arial"/>
              <a:buChar char="•"/>
              <a:tabLst>
                <a:tab pos="171879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Read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r>
              <a:rPr sz="1257" spc="-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ok</a:t>
            </a:r>
            <a:endParaRPr sz="1257">
              <a:latin typeface="Verdana"/>
              <a:cs typeface="Verdana"/>
            </a:endParaRPr>
          </a:p>
          <a:p>
            <a:pPr marL="171879" indent="-163475">
              <a:spcBef>
                <a:spcPts val="606"/>
              </a:spcBef>
              <a:buSzPct val="84210"/>
              <a:buFont typeface="Arial"/>
              <a:buChar char="•"/>
              <a:tabLst>
                <a:tab pos="171879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1257" spc="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r>
              <a:rPr sz="1257" spc="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suffers</a:t>
            </a:r>
            <a:endParaRPr sz="1257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02724" y="1191268"/>
            <a:ext cx="2896160" cy="1671638"/>
            <a:chOff x="5075627" y="1800138"/>
            <a:chExt cx="4376420" cy="2526030"/>
          </a:xfrm>
        </p:grpSpPr>
        <p:sp>
          <p:nvSpPr>
            <p:cNvPr id="9" name="object 9"/>
            <p:cNvSpPr/>
            <p:nvPr/>
          </p:nvSpPr>
          <p:spPr>
            <a:xfrm>
              <a:off x="5082400" y="1806911"/>
              <a:ext cx="4363085" cy="2512695"/>
            </a:xfrm>
            <a:custGeom>
              <a:avLst/>
              <a:gdLst/>
              <a:ahLst/>
              <a:cxnLst/>
              <a:rect l="l" t="t" r="r" b="b"/>
              <a:pathLst>
                <a:path w="4363084" h="2512695">
                  <a:moveTo>
                    <a:pt x="3943761" y="0"/>
                  </a:moveTo>
                  <a:lnTo>
                    <a:pt x="418757" y="0"/>
                  </a:lnTo>
                  <a:lnTo>
                    <a:pt x="369921" y="2817"/>
                  </a:lnTo>
                  <a:lnTo>
                    <a:pt x="322739" y="11059"/>
                  </a:lnTo>
                  <a:lnTo>
                    <a:pt x="277527" y="24412"/>
                  </a:lnTo>
                  <a:lnTo>
                    <a:pt x="234598" y="42562"/>
                  </a:lnTo>
                  <a:lnTo>
                    <a:pt x="194266" y="65195"/>
                  </a:lnTo>
                  <a:lnTo>
                    <a:pt x="156845" y="91996"/>
                  </a:lnTo>
                  <a:lnTo>
                    <a:pt x="122651" y="122651"/>
                  </a:lnTo>
                  <a:lnTo>
                    <a:pt x="91996" y="156845"/>
                  </a:lnTo>
                  <a:lnTo>
                    <a:pt x="65195" y="194266"/>
                  </a:lnTo>
                  <a:lnTo>
                    <a:pt x="42562" y="234598"/>
                  </a:lnTo>
                  <a:lnTo>
                    <a:pt x="24412" y="277527"/>
                  </a:lnTo>
                  <a:lnTo>
                    <a:pt x="11059" y="322739"/>
                  </a:lnTo>
                  <a:lnTo>
                    <a:pt x="2817" y="369921"/>
                  </a:lnTo>
                  <a:lnTo>
                    <a:pt x="0" y="418757"/>
                  </a:lnTo>
                  <a:lnTo>
                    <a:pt x="0" y="2093724"/>
                  </a:lnTo>
                  <a:lnTo>
                    <a:pt x="2817" y="2142560"/>
                  </a:lnTo>
                  <a:lnTo>
                    <a:pt x="11059" y="2189741"/>
                  </a:lnTo>
                  <a:lnTo>
                    <a:pt x="24412" y="2234954"/>
                  </a:lnTo>
                  <a:lnTo>
                    <a:pt x="42562" y="2277883"/>
                  </a:lnTo>
                  <a:lnTo>
                    <a:pt x="65195" y="2318215"/>
                  </a:lnTo>
                  <a:lnTo>
                    <a:pt x="91996" y="2355635"/>
                  </a:lnTo>
                  <a:lnTo>
                    <a:pt x="122651" y="2389830"/>
                  </a:lnTo>
                  <a:lnTo>
                    <a:pt x="156845" y="2420485"/>
                  </a:lnTo>
                  <a:lnTo>
                    <a:pt x="194266" y="2447286"/>
                  </a:lnTo>
                  <a:lnTo>
                    <a:pt x="234598" y="2469918"/>
                  </a:lnTo>
                  <a:lnTo>
                    <a:pt x="277527" y="2488068"/>
                  </a:lnTo>
                  <a:lnTo>
                    <a:pt x="322739" y="2501421"/>
                  </a:lnTo>
                  <a:lnTo>
                    <a:pt x="369921" y="2509664"/>
                  </a:lnTo>
                  <a:lnTo>
                    <a:pt x="418757" y="2512481"/>
                  </a:lnTo>
                  <a:lnTo>
                    <a:pt x="3943761" y="2512481"/>
                  </a:lnTo>
                  <a:lnTo>
                    <a:pt x="3992597" y="2509664"/>
                  </a:lnTo>
                  <a:lnTo>
                    <a:pt x="4039778" y="2501421"/>
                  </a:lnTo>
                  <a:lnTo>
                    <a:pt x="4084991" y="2488068"/>
                  </a:lnTo>
                  <a:lnTo>
                    <a:pt x="4127920" y="2469918"/>
                  </a:lnTo>
                  <a:lnTo>
                    <a:pt x="4168252" y="2447286"/>
                  </a:lnTo>
                  <a:lnTo>
                    <a:pt x="4205672" y="2420485"/>
                  </a:lnTo>
                  <a:lnTo>
                    <a:pt x="4239867" y="2389830"/>
                  </a:lnTo>
                  <a:lnTo>
                    <a:pt x="4270522" y="2355635"/>
                  </a:lnTo>
                  <a:lnTo>
                    <a:pt x="4297323" y="2318215"/>
                  </a:lnTo>
                  <a:lnTo>
                    <a:pt x="4319955" y="2277883"/>
                  </a:lnTo>
                  <a:lnTo>
                    <a:pt x="4338105" y="2234954"/>
                  </a:lnTo>
                  <a:lnTo>
                    <a:pt x="4351458" y="2189741"/>
                  </a:lnTo>
                  <a:lnTo>
                    <a:pt x="4359701" y="2142560"/>
                  </a:lnTo>
                  <a:lnTo>
                    <a:pt x="4362518" y="2093724"/>
                  </a:lnTo>
                  <a:lnTo>
                    <a:pt x="4362518" y="418757"/>
                  </a:lnTo>
                  <a:lnTo>
                    <a:pt x="4359701" y="369921"/>
                  </a:lnTo>
                  <a:lnTo>
                    <a:pt x="4351458" y="322739"/>
                  </a:lnTo>
                  <a:lnTo>
                    <a:pt x="4338105" y="277527"/>
                  </a:lnTo>
                  <a:lnTo>
                    <a:pt x="4319955" y="234598"/>
                  </a:lnTo>
                  <a:lnTo>
                    <a:pt x="4297323" y="194266"/>
                  </a:lnTo>
                  <a:lnTo>
                    <a:pt x="4270522" y="156845"/>
                  </a:lnTo>
                  <a:lnTo>
                    <a:pt x="4239867" y="122651"/>
                  </a:lnTo>
                  <a:lnTo>
                    <a:pt x="4205672" y="91996"/>
                  </a:lnTo>
                  <a:lnTo>
                    <a:pt x="4168252" y="65195"/>
                  </a:lnTo>
                  <a:lnTo>
                    <a:pt x="4127920" y="42562"/>
                  </a:lnTo>
                  <a:lnTo>
                    <a:pt x="4084991" y="24412"/>
                  </a:lnTo>
                  <a:lnTo>
                    <a:pt x="4039778" y="11059"/>
                  </a:lnTo>
                  <a:lnTo>
                    <a:pt x="3992597" y="2817"/>
                  </a:lnTo>
                  <a:lnTo>
                    <a:pt x="3943761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82400" y="1806911"/>
              <a:ext cx="4363085" cy="2512695"/>
            </a:xfrm>
            <a:custGeom>
              <a:avLst/>
              <a:gdLst/>
              <a:ahLst/>
              <a:cxnLst/>
              <a:rect l="l" t="t" r="r" b="b"/>
              <a:pathLst>
                <a:path w="4363084" h="2512695">
                  <a:moveTo>
                    <a:pt x="0" y="418757"/>
                  </a:moveTo>
                  <a:lnTo>
                    <a:pt x="2817" y="369921"/>
                  </a:lnTo>
                  <a:lnTo>
                    <a:pt x="11059" y="322740"/>
                  </a:lnTo>
                  <a:lnTo>
                    <a:pt x="24412" y="277527"/>
                  </a:lnTo>
                  <a:lnTo>
                    <a:pt x="42562" y="234598"/>
                  </a:lnTo>
                  <a:lnTo>
                    <a:pt x="65195" y="194266"/>
                  </a:lnTo>
                  <a:lnTo>
                    <a:pt x="91996" y="156845"/>
                  </a:lnTo>
                  <a:lnTo>
                    <a:pt x="122651" y="122651"/>
                  </a:lnTo>
                  <a:lnTo>
                    <a:pt x="156845" y="91996"/>
                  </a:lnTo>
                  <a:lnTo>
                    <a:pt x="194266" y="65195"/>
                  </a:lnTo>
                  <a:lnTo>
                    <a:pt x="234598" y="42562"/>
                  </a:lnTo>
                  <a:lnTo>
                    <a:pt x="277527" y="24412"/>
                  </a:lnTo>
                  <a:lnTo>
                    <a:pt x="322739" y="11059"/>
                  </a:lnTo>
                  <a:lnTo>
                    <a:pt x="369921" y="2817"/>
                  </a:lnTo>
                  <a:lnTo>
                    <a:pt x="418757" y="0"/>
                  </a:lnTo>
                  <a:lnTo>
                    <a:pt x="3943762" y="0"/>
                  </a:lnTo>
                  <a:lnTo>
                    <a:pt x="3992598" y="2817"/>
                  </a:lnTo>
                  <a:lnTo>
                    <a:pt x="4039779" y="11059"/>
                  </a:lnTo>
                  <a:lnTo>
                    <a:pt x="4084991" y="24412"/>
                  </a:lnTo>
                  <a:lnTo>
                    <a:pt x="4127921" y="42562"/>
                  </a:lnTo>
                  <a:lnTo>
                    <a:pt x="4168253" y="65195"/>
                  </a:lnTo>
                  <a:lnTo>
                    <a:pt x="4205673" y="91996"/>
                  </a:lnTo>
                  <a:lnTo>
                    <a:pt x="4239868" y="122651"/>
                  </a:lnTo>
                  <a:lnTo>
                    <a:pt x="4270523" y="156845"/>
                  </a:lnTo>
                  <a:lnTo>
                    <a:pt x="4297324" y="194266"/>
                  </a:lnTo>
                  <a:lnTo>
                    <a:pt x="4319956" y="234598"/>
                  </a:lnTo>
                  <a:lnTo>
                    <a:pt x="4338106" y="277527"/>
                  </a:lnTo>
                  <a:lnTo>
                    <a:pt x="4351459" y="322740"/>
                  </a:lnTo>
                  <a:lnTo>
                    <a:pt x="4359702" y="369921"/>
                  </a:lnTo>
                  <a:lnTo>
                    <a:pt x="4362519" y="418757"/>
                  </a:lnTo>
                  <a:lnTo>
                    <a:pt x="4362519" y="2093724"/>
                  </a:lnTo>
                  <a:lnTo>
                    <a:pt x="4359702" y="2142560"/>
                  </a:lnTo>
                  <a:lnTo>
                    <a:pt x="4351459" y="2189742"/>
                  </a:lnTo>
                  <a:lnTo>
                    <a:pt x="4338106" y="2234954"/>
                  </a:lnTo>
                  <a:lnTo>
                    <a:pt x="4319956" y="2277883"/>
                  </a:lnTo>
                  <a:lnTo>
                    <a:pt x="4297324" y="2318215"/>
                  </a:lnTo>
                  <a:lnTo>
                    <a:pt x="4270523" y="2355636"/>
                  </a:lnTo>
                  <a:lnTo>
                    <a:pt x="4239868" y="2389831"/>
                  </a:lnTo>
                  <a:lnTo>
                    <a:pt x="4205673" y="2420485"/>
                  </a:lnTo>
                  <a:lnTo>
                    <a:pt x="4168253" y="2447286"/>
                  </a:lnTo>
                  <a:lnTo>
                    <a:pt x="4127921" y="2469919"/>
                  </a:lnTo>
                  <a:lnTo>
                    <a:pt x="4084991" y="2488069"/>
                  </a:lnTo>
                  <a:lnTo>
                    <a:pt x="4039779" y="2501422"/>
                  </a:lnTo>
                  <a:lnTo>
                    <a:pt x="3992598" y="2509664"/>
                  </a:lnTo>
                  <a:lnTo>
                    <a:pt x="3943762" y="2512482"/>
                  </a:lnTo>
                  <a:lnTo>
                    <a:pt x="418757" y="2512482"/>
                  </a:lnTo>
                  <a:lnTo>
                    <a:pt x="369921" y="2509664"/>
                  </a:lnTo>
                  <a:lnTo>
                    <a:pt x="322739" y="2501422"/>
                  </a:lnTo>
                  <a:lnTo>
                    <a:pt x="277527" y="2488069"/>
                  </a:lnTo>
                  <a:lnTo>
                    <a:pt x="234598" y="2469919"/>
                  </a:lnTo>
                  <a:lnTo>
                    <a:pt x="194266" y="2447286"/>
                  </a:lnTo>
                  <a:lnTo>
                    <a:pt x="156845" y="2420485"/>
                  </a:lnTo>
                  <a:lnTo>
                    <a:pt x="122651" y="2389831"/>
                  </a:lnTo>
                  <a:lnTo>
                    <a:pt x="91996" y="2355636"/>
                  </a:lnTo>
                  <a:lnTo>
                    <a:pt x="65195" y="2318215"/>
                  </a:lnTo>
                  <a:lnTo>
                    <a:pt x="42562" y="2277883"/>
                  </a:lnTo>
                  <a:lnTo>
                    <a:pt x="24412" y="2234954"/>
                  </a:lnTo>
                  <a:lnTo>
                    <a:pt x="11059" y="2189742"/>
                  </a:lnTo>
                  <a:lnTo>
                    <a:pt x="2817" y="2142560"/>
                  </a:lnTo>
                  <a:lnTo>
                    <a:pt x="0" y="2093724"/>
                  </a:lnTo>
                  <a:lnTo>
                    <a:pt x="0" y="418757"/>
                  </a:lnTo>
                  <a:close/>
                </a:path>
              </a:pathLst>
            </a:custGeom>
            <a:ln w="13546">
              <a:solidFill>
                <a:srgbClr val="8A8A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91663" y="1248895"/>
            <a:ext cx="1571625" cy="232522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456" b="1" spc="-7" dirty="0">
                <a:solidFill>
                  <a:srgbClr val="292934"/>
                </a:solidFill>
                <a:latin typeface="Verdana"/>
                <a:cs typeface="Verdana"/>
              </a:rPr>
              <a:t>Fragmentation</a:t>
            </a:r>
            <a:endParaRPr sz="1456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91663" y="1552463"/>
            <a:ext cx="2269191" cy="921408"/>
          </a:xfrm>
          <a:prstGeom prst="rect">
            <a:avLst/>
          </a:prstGeom>
        </p:spPr>
        <p:txBody>
          <a:bodyPr vert="horz" wrap="square" lIns="0" tIns="34038" rIns="0" bIns="0" rtlCol="0">
            <a:spAutoFit/>
          </a:bodyPr>
          <a:lstStyle/>
          <a:p>
            <a:pPr marL="171879" marR="416041" indent="-163895">
              <a:lnSpc>
                <a:spcPts val="1316"/>
              </a:lnSpc>
              <a:spcBef>
                <a:spcPts val="268"/>
              </a:spcBef>
              <a:buSzPct val="84210"/>
              <a:buFont typeface="Arial"/>
              <a:buChar char="•"/>
              <a:tabLst>
                <a:tab pos="171879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1257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machines</a:t>
            </a:r>
            <a:r>
              <a:rPr sz="1257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distribute</a:t>
            </a:r>
            <a:r>
              <a:rPr sz="1257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3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1257">
              <a:latin typeface="Verdana"/>
              <a:cs typeface="Verdana"/>
            </a:endParaRPr>
          </a:p>
          <a:p>
            <a:pPr marL="171879" indent="-163475">
              <a:spcBef>
                <a:spcPts val="592"/>
              </a:spcBef>
              <a:buSzPct val="84210"/>
              <a:buFont typeface="Arial"/>
              <a:buChar char="•"/>
              <a:tabLst>
                <a:tab pos="171879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1257" spc="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r>
              <a:rPr sz="1257" spc="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17" dirty="0">
                <a:solidFill>
                  <a:srgbClr val="292934"/>
                </a:solidFill>
                <a:latin typeface="Verdana"/>
                <a:cs typeface="Verdana"/>
              </a:rPr>
              <a:t>ok</a:t>
            </a:r>
            <a:endParaRPr sz="1257">
              <a:latin typeface="Verdana"/>
              <a:cs typeface="Verdana"/>
            </a:endParaRPr>
          </a:p>
          <a:p>
            <a:pPr marL="171879" indent="-163475">
              <a:spcBef>
                <a:spcPts val="685"/>
              </a:spcBef>
              <a:buSzPct val="84210"/>
              <a:buFont typeface="Arial"/>
              <a:buChar char="•"/>
              <a:tabLst>
                <a:tab pos="171879" algn="l"/>
              </a:tabLst>
            </a:pP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Read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r>
              <a:rPr sz="1257" spc="-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257" spc="-7" dirty="0">
                <a:solidFill>
                  <a:srgbClr val="292934"/>
                </a:solidFill>
                <a:latin typeface="Verdana"/>
                <a:cs typeface="Verdana"/>
              </a:rPr>
              <a:t>suffers</a:t>
            </a:r>
            <a:endParaRPr sz="1257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315" algn="l"/>
              </a:tabLst>
            </a:pPr>
            <a:r>
              <a:rPr spc="225" dirty="0"/>
              <a:t>CONSISTENT</a:t>
            </a:r>
            <a:r>
              <a:rPr dirty="0"/>
              <a:t>	</a:t>
            </a:r>
            <a:r>
              <a:rPr spc="215" dirty="0"/>
              <a:t>HASHING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1363291"/>
            <a:ext cx="3496055" cy="35156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81600" y="859170"/>
            <a:ext cx="3160395" cy="171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36363"/>
                </a:solidFill>
                <a:latin typeface="Inconsolata"/>
                <a:cs typeface="Inconsolata"/>
              </a:rPr>
              <a:t>1</a:t>
            </a:r>
            <a:r>
              <a:rPr sz="2400" b="1" spc="-300" dirty="0">
                <a:solidFill>
                  <a:srgbClr val="636363"/>
                </a:solidFill>
                <a:latin typeface="Inconsolata"/>
                <a:cs typeface="Inconsolata"/>
              </a:rPr>
              <a:t> </a:t>
            </a:r>
            <a:r>
              <a:rPr sz="2400" b="1" spc="-50" dirty="0">
                <a:solidFill>
                  <a:srgbClr val="636363"/>
                </a:solidFill>
                <a:latin typeface="Inconsolata"/>
                <a:cs typeface="Inconsolata"/>
              </a:rPr>
              <a:t>0</a:t>
            </a:r>
            <a:endParaRPr sz="2400" dirty="0">
              <a:latin typeface="Inconsolata"/>
              <a:cs typeface="Inconsolat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2400" dirty="0">
              <a:latin typeface="Inconsolata"/>
              <a:cs typeface="Inconsolata"/>
            </a:endParaRPr>
          </a:p>
          <a:p>
            <a:pPr marR="5080" algn="r">
              <a:lnSpc>
                <a:spcPct val="100000"/>
              </a:lnSpc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P1</a:t>
            </a:r>
            <a:endParaRPr sz="2000" dirty="0">
              <a:latin typeface="Inconsolata"/>
              <a:cs typeface="Inconsolat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 dirty="0">
              <a:latin typeface="Inconsolata"/>
              <a:cs typeface="Inconsolata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P3</a:t>
            </a:r>
            <a:endParaRPr sz="2000" dirty="0">
              <a:latin typeface="Inconsolata"/>
              <a:cs typeface="Inconsolat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5672" y="37921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P2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78240" y="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59" h="274320">
                <a:moveTo>
                  <a:pt x="365759" y="0"/>
                </a:moveTo>
                <a:lnTo>
                  <a:pt x="0" y="0"/>
                </a:lnTo>
                <a:lnTo>
                  <a:pt x="0" y="274320"/>
                </a:lnTo>
                <a:lnTo>
                  <a:pt x="365759" y="274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917940" y="23317"/>
            <a:ext cx="193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1F1F1"/>
                </a:solidFill>
                <a:latin typeface="Arial"/>
                <a:cs typeface="Arial"/>
              </a:rPr>
              <a:t>45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8000" y="4476750"/>
            <a:ext cx="3683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b="1" spc="-325" dirty="0">
                <a:solidFill>
                  <a:srgbClr val="636363"/>
                </a:solidFill>
                <a:latin typeface="Inconsolata"/>
                <a:cs typeface="Inconsolata"/>
              </a:rPr>
              <a:t>0.5</a:t>
            </a:r>
            <a:endParaRPr sz="2400" dirty="0">
              <a:latin typeface="Inconsolata"/>
              <a:cs typeface="Inconsolata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EE04012-0AE9-E329-951E-CE67119E5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426" y="1562955"/>
            <a:ext cx="4589621" cy="2215991"/>
          </a:xfrm>
        </p:spPr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US" altLang="en-US" b="0" dirty="0"/>
              <a:t>Consistent Hashing is a technique used in distributed systems to </a:t>
            </a:r>
            <a:r>
              <a:rPr lang="en-US" altLang="en-US" b="0" dirty="0">
                <a:solidFill>
                  <a:srgbClr val="FF0000"/>
                </a:solidFill>
              </a:rPr>
              <a:t>distribute data efficiently across multiple servers</a:t>
            </a:r>
            <a:r>
              <a:rPr lang="en-US" altLang="en-US" b="0" dirty="0"/>
              <a:t> while minimizing disruption when </a:t>
            </a:r>
            <a:r>
              <a:rPr lang="en-US" altLang="en-US" b="0" dirty="0">
                <a:solidFill>
                  <a:srgbClr val="FF0000"/>
                </a:solidFill>
              </a:rPr>
              <a:t>servers are added or removed</a:t>
            </a:r>
            <a:r>
              <a:rPr lang="en-US" altLang="en-US" b="0" dirty="0"/>
              <a:t>. </a:t>
            </a:r>
          </a:p>
          <a:p>
            <a:pPr marL="342900" indent="-342900">
              <a:lnSpc>
                <a:spcPct val="80000"/>
              </a:lnSpc>
            </a:pPr>
            <a:endParaRPr lang="en-US" altLang="en-US" b="0" dirty="0"/>
          </a:p>
          <a:p>
            <a:pPr marL="342900" indent="-342900">
              <a:lnSpc>
                <a:spcPct val="80000"/>
              </a:lnSpc>
            </a:pPr>
            <a:r>
              <a:rPr lang="en-US" altLang="en-US" b="0" dirty="0"/>
              <a:t>It is widely used in caching (Memcached, Redis Cluster), distributed databases (DynamoDB, Cassandra), and load balancing.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315" algn="l"/>
              </a:tabLst>
            </a:pPr>
            <a:r>
              <a:rPr spc="225" dirty="0"/>
              <a:t>CONSISTENT</a:t>
            </a:r>
            <a:r>
              <a:rPr dirty="0"/>
              <a:t>	</a:t>
            </a:r>
            <a:r>
              <a:rPr spc="215" dirty="0"/>
              <a:t>HASHING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823" y="1107947"/>
            <a:ext cx="3496055" cy="35615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52035" y="910844"/>
            <a:ext cx="445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36363"/>
                </a:solidFill>
                <a:latin typeface="Inconsolata"/>
                <a:cs typeface="Inconsolata"/>
              </a:rPr>
              <a:t>1</a:t>
            </a:r>
            <a:r>
              <a:rPr sz="2400" b="1" spc="-300" dirty="0">
                <a:solidFill>
                  <a:srgbClr val="636363"/>
                </a:solidFill>
                <a:latin typeface="Inconsolata"/>
                <a:cs typeface="Inconsolata"/>
              </a:rPr>
              <a:t> </a:t>
            </a:r>
            <a:r>
              <a:rPr sz="2400" b="1" spc="-50" dirty="0">
                <a:solidFill>
                  <a:srgbClr val="636363"/>
                </a:solidFill>
                <a:latin typeface="Inconsolata"/>
                <a:cs typeface="Inconsolata"/>
              </a:rPr>
              <a:t>0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4498" y="926338"/>
            <a:ext cx="1041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105" dirty="0">
                <a:solidFill>
                  <a:srgbClr val="C30037"/>
                </a:solidFill>
                <a:latin typeface="Times New Roman"/>
                <a:cs typeface="Times New Roman"/>
              </a:rPr>
              <a:t>hash(key1)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0809" y="170180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P1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2354" y="229527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P3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5672" y="37921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P2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8240" y="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59" h="274320">
                <a:moveTo>
                  <a:pt x="365759" y="0"/>
                </a:moveTo>
                <a:lnTo>
                  <a:pt x="0" y="0"/>
                </a:lnTo>
                <a:lnTo>
                  <a:pt x="0" y="274320"/>
                </a:lnTo>
                <a:lnTo>
                  <a:pt x="365759" y="274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917940" y="23317"/>
            <a:ext cx="193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1F1F1"/>
                </a:solidFill>
                <a:latin typeface="Arial"/>
                <a:cs typeface="Arial"/>
              </a:rPr>
              <a:t>46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35602" y="4706248"/>
            <a:ext cx="3683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b="1" spc="-325" dirty="0">
                <a:solidFill>
                  <a:srgbClr val="636363"/>
                </a:solidFill>
                <a:latin typeface="Inconsolata"/>
                <a:cs typeface="Inconsolata"/>
              </a:rPr>
              <a:t>0.5</a:t>
            </a:r>
            <a:endParaRPr sz="2400">
              <a:latin typeface="Inconsolata"/>
              <a:cs typeface="Inconsolat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315" algn="l"/>
              </a:tabLst>
            </a:pPr>
            <a:r>
              <a:rPr spc="225" dirty="0"/>
              <a:t>CONSISTENT</a:t>
            </a:r>
            <a:r>
              <a:rPr dirty="0"/>
              <a:t>	</a:t>
            </a:r>
            <a:r>
              <a:rPr spc="215" dirty="0"/>
              <a:t>HASHING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8135" y="1107947"/>
            <a:ext cx="3952493" cy="35933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52035" y="910844"/>
            <a:ext cx="445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36363"/>
                </a:solidFill>
                <a:latin typeface="Inconsolata"/>
                <a:cs typeface="Inconsolata"/>
              </a:rPr>
              <a:t>1</a:t>
            </a:r>
            <a:r>
              <a:rPr sz="2400" b="1" spc="-300" dirty="0">
                <a:solidFill>
                  <a:srgbClr val="636363"/>
                </a:solidFill>
                <a:latin typeface="Inconsolata"/>
                <a:cs typeface="Inconsolata"/>
              </a:rPr>
              <a:t> </a:t>
            </a:r>
            <a:r>
              <a:rPr sz="2400" b="1" spc="-50" dirty="0">
                <a:solidFill>
                  <a:srgbClr val="636363"/>
                </a:solidFill>
                <a:latin typeface="Inconsolata"/>
                <a:cs typeface="Inconsolata"/>
              </a:rPr>
              <a:t>0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2654" y="3449192"/>
            <a:ext cx="10775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85" dirty="0">
                <a:solidFill>
                  <a:srgbClr val="C30037"/>
                </a:solidFill>
                <a:latin typeface="Times New Roman"/>
                <a:cs typeface="Times New Roman"/>
              </a:rPr>
              <a:t>hash(key2)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4498" y="926338"/>
            <a:ext cx="1041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105" dirty="0">
                <a:solidFill>
                  <a:srgbClr val="C30037"/>
                </a:solidFill>
                <a:latin typeface="Times New Roman"/>
                <a:cs typeface="Times New Roman"/>
              </a:rPr>
              <a:t>hash(key1)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0809" y="170180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P1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2354" y="229527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P3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5672" y="37921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P2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78240" y="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59" h="274320">
                <a:moveTo>
                  <a:pt x="365759" y="0"/>
                </a:moveTo>
                <a:lnTo>
                  <a:pt x="0" y="0"/>
                </a:lnTo>
                <a:lnTo>
                  <a:pt x="0" y="274320"/>
                </a:lnTo>
                <a:lnTo>
                  <a:pt x="365759" y="274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17940" y="23317"/>
            <a:ext cx="193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1F1F1"/>
                </a:solidFill>
                <a:latin typeface="Arial"/>
                <a:cs typeface="Arial"/>
              </a:rPr>
              <a:t>47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35602" y="4706248"/>
            <a:ext cx="3683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b="1" spc="-325" dirty="0">
                <a:solidFill>
                  <a:srgbClr val="636363"/>
                </a:solidFill>
                <a:latin typeface="Inconsolata"/>
                <a:cs typeface="Inconsolata"/>
              </a:rPr>
              <a:t>0.5</a:t>
            </a:r>
            <a:endParaRPr sz="2400">
              <a:latin typeface="Inconsolata"/>
              <a:cs typeface="Inconsolat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315" algn="l"/>
              </a:tabLst>
            </a:pPr>
            <a:r>
              <a:rPr spc="225" dirty="0"/>
              <a:t>CONSISTENT</a:t>
            </a:r>
            <a:r>
              <a:rPr dirty="0"/>
              <a:t>	</a:t>
            </a:r>
            <a:r>
              <a:rPr spc="215" dirty="0"/>
              <a:t>HASHING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6248" y="1153858"/>
            <a:ext cx="3564381" cy="35474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32354" y="910844"/>
            <a:ext cx="3160395" cy="171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36363"/>
                </a:solidFill>
                <a:latin typeface="Inconsolata"/>
                <a:cs typeface="Inconsolata"/>
              </a:rPr>
              <a:t>1</a:t>
            </a:r>
            <a:r>
              <a:rPr sz="2400" b="1" spc="-300" dirty="0">
                <a:solidFill>
                  <a:srgbClr val="636363"/>
                </a:solidFill>
                <a:latin typeface="Inconsolata"/>
                <a:cs typeface="Inconsolata"/>
              </a:rPr>
              <a:t> </a:t>
            </a:r>
            <a:r>
              <a:rPr sz="2400" b="1" spc="-50" dirty="0">
                <a:solidFill>
                  <a:srgbClr val="636363"/>
                </a:solidFill>
                <a:latin typeface="Inconsolata"/>
                <a:cs typeface="Inconsolata"/>
              </a:rPr>
              <a:t>0</a:t>
            </a:r>
            <a:endParaRPr sz="2400">
              <a:latin typeface="Inconsolata"/>
              <a:cs typeface="Inconsolat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2400">
              <a:latin typeface="Inconsolata"/>
              <a:cs typeface="Inconsolata"/>
            </a:endParaRPr>
          </a:p>
          <a:p>
            <a:pPr marR="5080" algn="r">
              <a:lnSpc>
                <a:spcPct val="100000"/>
              </a:lnSpc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P1</a:t>
            </a:r>
            <a:endParaRPr sz="2000">
              <a:latin typeface="Inconsolata"/>
              <a:cs typeface="Inconsolat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Inconsolata"/>
              <a:cs typeface="Inconsolata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P3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6623" y="395274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P4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5672" y="37921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P2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78240" y="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59" h="274320">
                <a:moveTo>
                  <a:pt x="365759" y="0"/>
                </a:moveTo>
                <a:lnTo>
                  <a:pt x="0" y="0"/>
                </a:lnTo>
                <a:lnTo>
                  <a:pt x="0" y="274320"/>
                </a:lnTo>
                <a:lnTo>
                  <a:pt x="365759" y="274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917940" y="23317"/>
            <a:ext cx="193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1F1F1"/>
                </a:solidFill>
                <a:latin typeface="Arial"/>
                <a:cs typeface="Arial"/>
              </a:rPr>
              <a:t>48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35602" y="4706248"/>
            <a:ext cx="3683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b="1" spc="-325" dirty="0">
                <a:solidFill>
                  <a:srgbClr val="636363"/>
                </a:solidFill>
                <a:latin typeface="Inconsolata"/>
                <a:cs typeface="Inconsolata"/>
              </a:rPr>
              <a:t>0.5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6791" y="3949090"/>
            <a:ext cx="1380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95" dirty="0">
                <a:solidFill>
                  <a:srgbClr val="C30037"/>
                </a:solidFill>
                <a:latin typeface="Times New Roman"/>
                <a:cs typeface="Times New Roman"/>
              </a:rPr>
              <a:t>New</a:t>
            </a:r>
            <a:r>
              <a:rPr sz="2000" b="1" i="1" spc="-120" dirty="0">
                <a:solidFill>
                  <a:srgbClr val="C30037"/>
                </a:solidFill>
                <a:latin typeface="Times New Roman"/>
                <a:cs typeface="Times New Roman"/>
              </a:rPr>
              <a:t> </a:t>
            </a:r>
            <a:r>
              <a:rPr sz="2000" b="1" i="1" spc="-50" dirty="0">
                <a:solidFill>
                  <a:srgbClr val="C30037"/>
                </a:solidFill>
                <a:latin typeface="Times New Roman"/>
                <a:cs typeface="Times New Roman"/>
              </a:rPr>
              <a:t>Partition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315" algn="l"/>
              </a:tabLst>
            </a:pPr>
            <a:r>
              <a:rPr spc="225" dirty="0"/>
              <a:t>CONSISTENT</a:t>
            </a:r>
            <a:r>
              <a:rPr dirty="0"/>
              <a:t>	</a:t>
            </a:r>
            <a:r>
              <a:rPr spc="215" dirty="0"/>
              <a:t>HASHING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6248" y="1153858"/>
            <a:ext cx="3564381" cy="35474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69841" y="2466593"/>
            <a:ext cx="1271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C30037"/>
                </a:solidFill>
                <a:latin typeface="Times New Roman"/>
                <a:cs typeface="Times New Roman"/>
              </a:rPr>
              <a:t>If</a:t>
            </a:r>
            <a:r>
              <a:rPr sz="1600" b="1" i="1" spc="-65" dirty="0">
                <a:solidFill>
                  <a:srgbClr val="C30037"/>
                </a:solidFill>
                <a:latin typeface="Times New Roman"/>
                <a:cs typeface="Times New Roman"/>
              </a:rPr>
              <a:t> </a:t>
            </a:r>
            <a:r>
              <a:rPr sz="1600" b="1" i="1" spc="-75" dirty="0">
                <a:solidFill>
                  <a:srgbClr val="C30037"/>
                </a:solidFill>
                <a:latin typeface="Times New Roman"/>
                <a:cs typeface="Times New Roman"/>
              </a:rPr>
              <a:t>hash(key)=P4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52035" y="910844"/>
            <a:ext cx="1640205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36363"/>
                </a:solidFill>
                <a:latin typeface="Inconsolata"/>
                <a:cs typeface="Inconsolata"/>
              </a:rPr>
              <a:t>1</a:t>
            </a:r>
            <a:r>
              <a:rPr sz="2400" b="1" spc="-300" dirty="0">
                <a:solidFill>
                  <a:srgbClr val="636363"/>
                </a:solidFill>
                <a:latin typeface="Inconsolata"/>
                <a:cs typeface="Inconsolata"/>
              </a:rPr>
              <a:t> </a:t>
            </a:r>
            <a:r>
              <a:rPr sz="2400" b="1" spc="-50" dirty="0">
                <a:solidFill>
                  <a:srgbClr val="636363"/>
                </a:solidFill>
                <a:latin typeface="Inconsolata"/>
                <a:cs typeface="Inconsolata"/>
              </a:rPr>
              <a:t>0</a:t>
            </a:r>
            <a:endParaRPr sz="2400">
              <a:latin typeface="Inconsolata"/>
              <a:cs typeface="Inconsolat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2400">
              <a:latin typeface="Inconsolata"/>
              <a:cs typeface="Inconsolata"/>
            </a:endParaRPr>
          </a:p>
          <a:p>
            <a:pPr marR="5080" algn="r">
              <a:lnSpc>
                <a:spcPct val="100000"/>
              </a:lnSpc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P1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54" y="229527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P3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6623" y="395274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P4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5672" y="37921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P2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8240" y="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59" h="274320">
                <a:moveTo>
                  <a:pt x="365759" y="0"/>
                </a:moveTo>
                <a:lnTo>
                  <a:pt x="0" y="0"/>
                </a:lnTo>
                <a:lnTo>
                  <a:pt x="0" y="274320"/>
                </a:lnTo>
                <a:lnTo>
                  <a:pt x="365759" y="274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917940" y="23317"/>
            <a:ext cx="193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1F1F1"/>
                </a:solidFill>
                <a:latin typeface="Arial"/>
                <a:cs typeface="Arial"/>
              </a:rPr>
              <a:t>49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35602" y="4706248"/>
            <a:ext cx="3683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b="1" spc="-325" dirty="0">
                <a:solidFill>
                  <a:srgbClr val="636363"/>
                </a:solidFill>
                <a:latin typeface="Inconsolata"/>
                <a:cs typeface="Inconsolata"/>
              </a:rPr>
              <a:t>0.5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6791" y="3949090"/>
            <a:ext cx="1380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95" dirty="0">
                <a:solidFill>
                  <a:srgbClr val="C30037"/>
                </a:solidFill>
                <a:latin typeface="Times New Roman"/>
                <a:cs typeface="Times New Roman"/>
              </a:rPr>
              <a:t>New</a:t>
            </a:r>
            <a:r>
              <a:rPr sz="2000" b="1" i="1" spc="-120" dirty="0">
                <a:solidFill>
                  <a:srgbClr val="C30037"/>
                </a:solidFill>
                <a:latin typeface="Times New Roman"/>
                <a:cs typeface="Times New Roman"/>
              </a:rPr>
              <a:t> </a:t>
            </a:r>
            <a:r>
              <a:rPr sz="2000" b="1" i="1" spc="-50" dirty="0">
                <a:solidFill>
                  <a:srgbClr val="C30037"/>
                </a:solidFill>
                <a:latin typeface="Times New Roman"/>
                <a:cs typeface="Times New Roman"/>
              </a:rPr>
              <a:t>Partition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315" algn="l"/>
              </a:tabLst>
            </a:pPr>
            <a:r>
              <a:rPr spc="225" dirty="0"/>
              <a:t>CONSISTENT</a:t>
            </a:r>
            <a:r>
              <a:rPr dirty="0"/>
              <a:t>	</a:t>
            </a:r>
            <a:r>
              <a:rPr spc="215" dirty="0"/>
              <a:t>HASHING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823" y="1153858"/>
            <a:ext cx="3527805" cy="35474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52035" y="910844"/>
            <a:ext cx="445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36363"/>
                </a:solidFill>
                <a:latin typeface="Inconsolata"/>
                <a:cs typeface="Inconsolata"/>
              </a:rPr>
              <a:t>1</a:t>
            </a:r>
            <a:r>
              <a:rPr sz="2400" b="1" spc="-300" dirty="0">
                <a:solidFill>
                  <a:srgbClr val="636363"/>
                </a:solidFill>
                <a:latin typeface="Inconsolata"/>
                <a:cs typeface="Inconsolata"/>
              </a:rPr>
              <a:t> </a:t>
            </a:r>
            <a:r>
              <a:rPr sz="2400" b="1" spc="-50" dirty="0">
                <a:solidFill>
                  <a:srgbClr val="636363"/>
                </a:solidFill>
                <a:latin typeface="Inconsolata"/>
                <a:cs typeface="Inconsolata"/>
              </a:rPr>
              <a:t>0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97351" y="127330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P5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0809" y="170180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P1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2354" y="229527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P3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6623" y="395274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P4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5672" y="37921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P2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78240" y="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59" h="274320">
                <a:moveTo>
                  <a:pt x="365759" y="0"/>
                </a:moveTo>
                <a:lnTo>
                  <a:pt x="0" y="0"/>
                </a:lnTo>
                <a:lnTo>
                  <a:pt x="0" y="274320"/>
                </a:lnTo>
                <a:lnTo>
                  <a:pt x="365759" y="274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17940" y="23317"/>
            <a:ext cx="193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1F1F1"/>
                </a:solidFill>
                <a:latin typeface="Arial"/>
                <a:cs typeface="Arial"/>
              </a:rPr>
              <a:t>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35602" y="4706248"/>
            <a:ext cx="3683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b="1" spc="-325" dirty="0">
                <a:solidFill>
                  <a:srgbClr val="636363"/>
                </a:solidFill>
                <a:latin typeface="Inconsolata"/>
                <a:cs typeface="Inconsolata"/>
              </a:rPr>
              <a:t>0.5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5736" y="1244853"/>
            <a:ext cx="13804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95" dirty="0">
                <a:solidFill>
                  <a:srgbClr val="C30037"/>
                </a:solidFill>
                <a:latin typeface="Times New Roman"/>
                <a:cs typeface="Times New Roman"/>
              </a:rPr>
              <a:t>New</a:t>
            </a:r>
            <a:r>
              <a:rPr sz="2000" b="1" i="1" spc="-120" dirty="0">
                <a:solidFill>
                  <a:srgbClr val="C30037"/>
                </a:solidFill>
                <a:latin typeface="Times New Roman"/>
                <a:cs typeface="Times New Roman"/>
              </a:rPr>
              <a:t> </a:t>
            </a:r>
            <a:r>
              <a:rPr sz="2000" b="1" i="1" spc="-50" dirty="0">
                <a:solidFill>
                  <a:srgbClr val="C30037"/>
                </a:solidFill>
                <a:latin typeface="Times New Roman"/>
                <a:cs typeface="Times New Roman"/>
              </a:rPr>
              <a:t>Partition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315" algn="l"/>
              </a:tabLst>
            </a:pPr>
            <a:r>
              <a:rPr spc="225" dirty="0"/>
              <a:t>CONSISTENT</a:t>
            </a:r>
            <a:r>
              <a:rPr dirty="0"/>
              <a:t>	</a:t>
            </a:r>
            <a:r>
              <a:rPr spc="215" dirty="0"/>
              <a:t>HASHING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823" y="1153858"/>
            <a:ext cx="3639312" cy="35474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32354" y="910844"/>
            <a:ext cx="3160395" cy="171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 algn="ctr">
              <a:lnSpc>
                <a:spcPts val="2870"/>
              </a:lnSpc>
              <a:spcBef>
                <a:spcPts val="100"/>
              </a:spcBef>
            </a:pPr>
            <a:r>
              <a:rPr sz="2400" b="1" dirty="0">
                <a:solidFill>
                  <a:srgbClr val="636363"/>
                </a:solidFill>
                <a:latin typeface="Inconsolata"/>
                <a:cs typeface="Inconsolata"/>
              </a:rPr>
              <a:t>1</a:t>
            </a:r>
            <a:r>
              <a:rPr sz="2400" b="1" spc="-300" dirty="0">
                <a:solidFill>
                  <a:srgbClr val="636363"/>
                </a:solidFill>
                <a:latin typeface="Inconsolata"/>
                <a:cs typeface="Inconsolata"/>
              </a:rPr>
              <a:t> </a:t>
            </a:r>
            <a:r>
              <a:rPr sz="2400" b="1" spc="-50" dirty="0">
                <a:solidFill>
                  <a:srgbClr val="636363"/>
                </a:solidFill>
                <a:latin typeface="Inconsolata"/>
                <a:cs typeface="Inconsolata"/>
              </a:rPr>
              <a:t>0</a:t>
            </a:r>
            <a:endParaRPr sz="2400">
              <a:latin typeface="Inconsolata"/>
              <a:cs typeface="Inconsolata"/>
            </a:endParaRPr>
          </a:p>
          <a:p>
            <a:pPr marL="877569">
              <a:lnSpc>
                <a:spcPts val="2390"/>
              </a:lnSpc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P5</a:t>
            </a:r>
            <a:endParaRPr sz="2000">
              <a:latin typeface="Inconsolata"/>
              <a:cs typeface="Inconsolata"/>
            </a:endParaRPr>
          </a:p>
          <a:p>
            <a:pPr marL="2891155">
              <a:lnSpc>
                <a:spcPct val="100000"/>
              </a:lnSpc>
              <a:spcBef>
                <a:spcPts val="97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P1</a:t>
            </a:r>
            <a:endParaRPr sz="2000">
              <a:latin typeface="Inconsolata"/>
              <a:cs typeface="Inconsolat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000">
              <a:latin typeface="Inconsolata"/>
              <a:cs typeface="Inconsolata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P3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6623" y="395274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P4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5672" y="37921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P2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1809" y="2934157"/>
            <a:ext cx="2825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P6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78240" y="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59" h="274320">
                <a:moveTo>
                  <a:pt x="365759" y="0"/>
                </a:moveTo>
                <a:lnTo>
                  <a:pt x="0" y="0"/>
                </a:lnTo>
                <a:lnTo>
                  <a:pt x="0" y="274320"/>
                </a:lnTo>
                <a:lnTo>
                  <a:pt x="365759" y="274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917940" y="23317"/>
            <a:ext cx="193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1F1F1"/>
                </a:solidFill>
                <a:latin typeface="Arial"/>
                <a:cs typeface="Arial"/>
              </a:rPr>
              <a:t>51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7971" y="2926461"/>
            <a:ext cx="1380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95" dirty="0">
                <a:solidFill>
                  <a:srgbClr val="C30037"/>
                </a:solidFill>
                <a:latin typeface="Times New Roman"/>
                <a:cs typeface="Times New Roman"/>
              </a:rPr>
              <a:t>New</a:t>
            </a:r>
            <a:r>
              <a:rPr sz="2000" b="1" i="1" spc="-120" dirty="0">
                <a:solidFill>
                  <a:srgbClr val="C30037"/>
                </a:solidFill>
                <a:latin typeface="Times New Roman"/>
                <a:cs typeface="Times New Roman"/>
              </a:rPr>
              <a:t> </a:t>
            </a:r>
            <a:r>
              <a:rPr sz="2000" b="1" i="1" spc="-50" dirty="0">
                <a:solidFill>
                  <a:srgbClr val="C30037"/>
                </a:solidFill>
                <a:latin typeface="Times New Roman"/>
                <a:cs typeface="Times New Roman"/>
              </a:rPr>
              <a:t>Partition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87667" y="2916935"/>
            <a:ext cx="365760" cy="419100"/>
          </a:xfrm>
          <a:custGeom>
            <a:avLst/>
            <a:gdLst/>
            <a:ahLst/>
            <a:cxnLst/>
            <a:rect l="l" t="t" r="r" b="b"/>
            <a:pathLst>
              <a:path w="365759" h="419100">
                <a:moveTo>
                  <a:pt x="182880" y="0"/>
                </a:moveTo>
                <a:lnTo>
                  <a:pt x="0" y="209550"/>
                </a:lnTo>
                <a:lnTo>
                  <a:pt x="182880" y="419100"/>
                </a:lnTo>
                <a:lnTo>
                  <a:pt x="182880" y="314325"/>
                </a:lnTo>
                <a:lnTo>
                  <a:pt x="365760" y="314325"/>
                </a:lnTo>
                <a:lnTo>
                  <a:pt x="365760" y="104775"/>
                </a:lnTo>
                <a:lnTo>
                  <a:pt x="182880" y="104775"/>
                </a:lnTo>
                <a:lnTo>
                  <a:pt x="182880" y="0"/>
                </a:lnTo>
                <a:close/>
              </a:path>
            </a:pathLst>
          </a:custGeom>
          <a:solidFill>
            <a:srgbClr val="C300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35602" y="4706248"/>
            <a:ext cx="3683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b="1" spc="-325" dirty="0">
                <a:solidFill>
                  <a:srgbClr val="636363"/>
                </a:solidFill>
                <a:latin typeface="Inconsolata"/>
                <a:cs typeface="Inconsolata"/>
              </a:rPr>
              <a:t>0.5</a:t>
            </a:r>
            <a:endParaRPr sz="2400">
              <a:latin typeface="Inconsolata"/>
              <a:cs typeface="Inconsolat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315" algn="l"/>
              </a:tabLst>
            </a:pPr>
            <a:r>
              <a:rPr spc="225" dirty="0"/>
              <a:t>CONSISTENT</a:t>
            </a:r>
            <a:r>
              <a:rPr dirty="0"/>
              <a:t>	</a:t>
            </a:r>
            <a:r>
              <a:rPr spc="215" dirty="0"/>
              <a:t>HASHING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823" y="1153858"/>
            <a:ext cx="3639312" cy="35156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52035" y="910844"/>
            <a:ext cx="445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36363"/>
                </a:solidFill>
                <a:latin typeface="Inconsolata"/>
                <a:cs typeface="Inconsolata"/>
              </a:rPr>
              <a:t>1</a:t>
            </a:r>
            <a:r>
              <a:rPr sz="2400" b="1" spc="-300" dirty="0">
                <a:solidFill>
                  <a:srgbClr val="636363"/>
                </a:solidFill>
                <a:latin typeface="Inconsolata"/>
                <a:cs typeface="Inconsolata"/>
              </a:rPr>
              <a:t> </a:t>
            </a:r>
            <a:r>
              <a:rPr sz="2400" b="1" spc="-50" dirty="0">
                <a:solidFill>
                  <a:srgbClr val="636363"/>
                </a:solidFill>
                <a:latin typeface="Inconsolata"/>
                <a:cs typeface="Inconsolata"/>
              </a:rPr>
              <a:t>0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9059" y="1298575"/>
            <a:ext cx="1900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90" dirty="0">
                <a:solidFill>
                  <a:srgbClr val="636363"/>
                </a:solidFill>
                <a:latin typeface="Times New Roman"/>
                <a:cs typeface="Times New Roman"/>
              </a:rPr>
              <a:t>Replication</a:t>
            </a:r>
            <a:r>
              <a:rPr sz="1800" b="1" i="1" spc="-75" dirty="0">
                <a:solidFill>
                  <a:srgbClr val="636363"/>
                </a:solidFill>
                <a:latin typeface="Times New Roman"/>
                <a:cs typeface="Times New Roman"/>
              </a:rPr>
              <a:t> </a:t>
            </a:r>
            <a:r>
              <a:rPr sz="1800" b="1" i="1" spc="-114" dirty="0">
                <a:solidFill>
                  <a:srgbClr val="636363"/>
                </a:solidFill>
                <a:latin typeface="Times New Roman"/>
                <a:cs typeface="Times New Roman"/>
              </a:rPr>
              <a:t>Factor</a:t>
            </a:r>
            <a:r>
              <a:rPr sz="1800" b="1" i="1" spc="-75" dirty="0">
                <a:solidFill>
                  <a:srgbClr val="636363"/>
                </a:solidFill>
                <a:latin typeface="Times New Roman"/>
                <a:cs typeface="Times New Roman"/>
              </a:rPr>
              <a:t> </a:t>
            </a:r>
            <a:r>
              <a:rPr sz="1800" b="1" i="1" spc="-100" dirty="0">
                <a:solidFill>
                  <a:srgbClr val="636363"/>
                </a:solidFill>
                <a:latin typeface="Times New Roman"/>
                <a:cs typeface="Times New Roman"/>
              </a:rPr>
              <a:t>=</a:t>
            </a:r>
            <a:r>
              <a:rPr sz="1800" b="1" i="1" spc="-55" dirty="0">
                <a:solidFill>
                  <a:srgbClr val="636363"/>
                </a:solidFill>
                <a:latin typeface="Times New Roman"/>
                <a:cs typeface="Times New Roman"/>
              </a:rPr>
              <a:t> </a:t>
            </a:r>
            <a:r>
              <a:rPr sz="1800" b="1" i="1" spc="-50" dirty="0">
                <a:solidFill>
                  <a:srgbClr val="636363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7351" y="127330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P5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0809" y="170180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P1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2354" y="229527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P3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6623" y="395274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P4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65672" y="37921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P2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1809" y="2934157"/>
            <a:ext cx="2825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P6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8240" y="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59" h="274320">
                <a:moveTo>
                  <a:pt x="365759" y="0"/>
                </a:moveTo>
                <a:lnTo>
                  <a:pt x="0" y="0"/>
                </a:lnTo>
                <a:lnTo>
                  <a:pt x="0" y="274320"/>
                </a:lnTo>
                <a:lnTo>
                  <a:pt x="365759" y="274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917940" y="23317"/>
            <a:ext cx="193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1F1F1"/>
                </a:solidFill>
                <a:latin typeface="Arial"/>
                <a:cs typeface="Arial"/>
              </a:rPr>
              <a:t>52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35602" y="4706248"/>
            <a:ext cx="3683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b="1" spc="-325" dirty="0">
                <a:solidFill>
                  <a:srgbClr val="636363"/>
                </a:solidFill>
                <a:latin typeface="Inconsolata"/>
                <a:cs typeface="Inconsolata"/>
              </a:rPr>
              <a:t>0.5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581" y="5026541"/>
            <a:ext cx="81089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25"/>
              </a:lnSpc>
            </a:pPr>
            <a:r>
              <a:rPr sz="700" b="1" spc="-70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15-</a:t>
            </a:r>
            <a:r>
              <a:rPr sz="700" b="1" spc="-10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445/645</a:t>
            </a:r>
            <a:r>
              <a:rPr sz="700" b="1" spc="-5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700" b="1" spc="-10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(Fall</a:t>
            </a:r>
            <a:r>
              <a:rPr sz="700" b="1" spc="-35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700" b="1" spc="-10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2023)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315" algn="l"/>
              </a:tabLst>
            </a:pPr>
            <a:r>
              <a:rPr spc="225" dirty="0"/>
              <a:t>CONSISTENT</a:t>
            </a:r>
            <a:r>
              <a:rPr dirty="0"/>
              <a:t>	</a:t>
            </a:r>
            <a:r>
              <a:rPr spc="215" dirty="0"/>
              <a:t>HASHING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823" y="1107947"/>
            <a:ext cx="4555998" cy="35615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52035" y="910844"/>
            <a:ext cx="445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36363"/>
                </a:solidFill>
                <a:latin typeface="Inconsolata"/>
                <a:cs typeface="Inconsolata"/>
              </a:rPr>
              <a:t>1</a:t>
            </a:r>
            <a:r>
              <a:rPr sz="2400" b="1" spc="-300" dirty="0">
                <a:solidFill>
                  <a:srgbClr val="636363"/>
                </a:solidFill>
                <a:latin typeface="Inconsolata"/>
                <a:cs typeface="Inconsolata"/>
              </a:rPr>
              <a:t> </a:t>
            </a:r>
            <a:r>
              <a:rPr sz="2400" b="1" spc="-50" dirty="0">
                <a:solidFill>
                  <a:srgbClr val="636363"/>
                </a:solidFill>
                <a:latin typeface="Inconsolata"/>
                <a:cs typeface="Inconsolata"/>
              </a:rPr>
              <a:t>0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4498" y="851937"/>
            <a:ext cx="2324735" cy="74676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000" b="1" i="1" spc="-25" dirty="0">
                <a:solidFill>
                  <a:srgbClr val="C30037"/>
                </a:solidFill>
                <a:latin typeface="Times New Roman"/>
                <a:cs typeface="Times New Roman"/>
              </a:rPr>
              <a:t>hash(key1)</a:t>
            </a:r>
            <a:endParaRPr sz="2000">
              <a:latin typeface="Times New Roman"/>
              <a:cs typeface="Times New Roman"/>
            </a:endParaRPr>
          </a:p>
          <a:p>
            <a:pPr marL="436880">
              <a:lnSpc>
                <a:spcPct val="100000"/>
              </a:lnSpc>
              <a:spcBef>
                <a:spcPts val="525"/>
              </a:spcBef>
            </a:pPr>
            <a:r>
              <a:rPr sz="1800" b="1" i="1" spc="-90" dirty="0">
                <a:solidFill>
                  <a:srgbClr val="636363"/>
                </a:solidFill>
                <a:latin typeface="Times New Roman"/>
                <a:cs typeface="Times New Roman"/>
              </a:rPr>
              <a:t>Replication</a:t>
            </a:r>
            <a:r>
              <a:rPr sz="1800" b="1" i="1" spc="-75" dirty="0">
                <a:solidFill>
                  <a:srgbClr val="636363"/>
                </a:solidFill>
                <a:latin typeface="Times New Roman"/>
                <a:cs typeface="Times New Roman"/>
              </a:rPr>
              <a:t> </a:t>
            </a:r>
            <a:r>
              <a:rPr sz="1800" b="1" i="1" spc="-114" dirty="0">
                <a:solidFill>
                  <a:srgbClr val="636363"/>
                </a:solidFill>
                <a:latin typeface="Times New Roman"/>
                <a:cs typeface="Times New Roman"/>
              </a:rPr>
              <a:t>Factor</a:t>
            </a:r>
            <a:r>
              <a:rPr sz="1800" b="1" i="1" spc="-75" dirty="0">
                <a:solidFill>
                  <a:srgbClr val="636363"/>
                </a:solidFill>
                <a:latin typeface="Times New Roman"/>
                <a:cs typeface="Times New Roman"/>
              </a:rPr>
              <a:t> </a:t>
            </a:r>
            <a:r>
              <a:rPr sz="1800" b="1" i="1" spc="-100" dirty="0">
                <a:solidFill>
                  <a:srgbClr val="636363"/>
                </a:solidFill>
                <a:latin typeface="Times New Roman"/>
                <a:cs typeface="Times New Roman"/>
              </a:rPr>
              <a:t>=</a:t>
            </a:r>
            <a:r>
              <a:rPr sz="1800" b="1" i="1" spc="-55" dirty="0">
                <a:solidFill>
                  <a:srgbClr val="636363"/>
                </a:solidFill>
                <a:latin typeface="Times New Roman"/>
                <a:cs typeface="Times New Roman"/>
              </a:rPr>
              <a:t> </a:t>
            </a:r>
            <a:r>
              <a:rPr sz="1800" b="1" i="1" spc="-50" dirty="0">
                <a:solidFill>
                  <a:srgbClr val="636363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7351" y="127330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P5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0809" y="170180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P1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2354" y="229527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P3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6623" y="395274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P4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65672" y="37921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P2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1809" y="2934157"/>
            <a:ext cx="2825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P6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8240" y="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59" h="274320">
                <a:moveTo>
                  <a:pt x="365759" y="0"/>
                </a:moveTo>
                <a:lnTo>
                  <a:pt x="0" y="0"/>
                </a:lnTo>
                <a:lnTo>
                  <a:pt x="0" y="274320"/>
                </a:lnTo>
                <a:lnTo>
                  <a:pt x="365759" y="274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917940" y="23317"/>
            <a:ext cx="193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1F1F1"/>
                </a:solidFill>
                <a:latin typeface="Arial"/>
                <a:cs typeface="Arial"/>
              </a:rPr>
              <a:t>53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35602" y="4706248"/>
            <a:ext cx="3683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b="1" spc="-325" dirty="0">
                <a:solidFill>
                  <a:srgbClr val="636363"/>
                </a:solidFill>
                <a:latin typeface="Inconsolata"/>
                <a:cs typeface="Inconsolata"/>
              </a:rPr>
              <a:t>0.5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581" y="5026541"/>
            <a:ext cx="81089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25"/>
              </a:lnSpc>
            </a:pPr>
            <a:r>
              <a:rPr sz="700" b="1" spc="-70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15-</a:t>
            </a:r>
            <a:r>
              <a:rPr sz="700" b="1" spc="-10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445/645</a:t>
            </a:r>
            <a:r>
              <a:rPr sz="700" b="1" spc="-5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700" b="1" spc="-10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(Fall</a:t>
            </a:r>
            <a:r>
              <a:rPr sz="700" b="1" spc="-35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700" b="1" spc="-10" dirty="0">
                <a:solidFill>
                  <a:srgbClr val="7E7E7E"/>
                </a:solidFill>
                <a:latin typeface="Times New Roman"/>
                <a:cs typeface="Times New Roman"/>
                <a:hlinkClick r:id="rId3"/>
              </a:rPr>
              <a:t>2023)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819911"/>
            <a:ext cx="5486400" cy="18415"/>
          </a:xfrm>
          <a:custGeom>
            <a:avLst/>
            <a:gdLst/>
            <a:ahLst/>
            <a:cxnLst/>
            <a:rect l="l" t="t" r="r" b="b"/>
            <a:pathLst>
              <a:path w="5486400" h="18415">
                <a:moveTo>
                  <a:pt x="5486400" y="0"/>
                </a:moveTo>
                <a:lnTo>
                  <a:pt x="0" y="0"/>
                </a:lnTo>
                <a:lnTo>
                  <a:pt x="0" y="18287"/>
                </a:lnTo>
                <a:lnTo>
                  <a:pt x="5486400" y="18287"/>
                </a:lnTo>
                <a:lnTo>
                  <a:pt x="5486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315" algn="l"/>
              </a:tabLst>
            </a:pPr>
            <a:r>
              <a:rPr spc="225" dirty="0"/>
              <a:t>CONSISTENT</a:t>
            </a:r>
            <a:r>
              <a:rPr dirty="0"/>
              <a:t>	</a:t>
            </a:r>
            <a:r>
              <a:rPr spc="215" dirty="0"/>
              <a:t>HASHING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823" y="1107947"/>
            <a:ext cx="4555998" cy="35615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52035" y="910844"/>
            <a:ext cx="445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36363"/>
                </a:solidFill>
                <a:latin typeface="Inconsolata"/>
                <a:cs typeface="Inconsolata"/>
              </a:rPr>
              <a:t>1</a:t>
            </a:r>
            <a:r>
              <a:rPr sz="2400" b="1" spc="-300" dirty="0">
                <a:solidFill>
                  <a:srgbClr val="636363"/>
                </a:solidFill>
                <a:latin typeface="Inconsolata"/>
                <a:cs typeface="Inconsolata"/>
              </a:rPr>
              <a:t> </a:t>
            </a:r>
            <a:r>
              <a:rPr sz="2400" b="1" spc="-50" dirty="0">
                <a:solidFill>
                  <a:srgbClr val="636363"/>
                </a:solidFill>
                <a:latin typeface="Inconsolata"/>
                <a:cs typeface="Inconsolata"/>
              </a:rPr>
              <a:t>0</a:t>
            </a:r>
            <a:endParaRPr sz="2400">
              <a:latin typeface="Inconsolata"/>
              <a:cs typeface="Inconsolat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4498" y="851937"/>
            <a:ext cx="2324735" cy="74676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000" b="1" i="1" spc="-25" dirty="0">
                <a:solidFill>
                  <a:srgbClr val="C30037"/>
                </a:solidFill>
                <a:latin typeface="Times New Roman"/>
                <a:cs typeface="Times New Roman"/>
              </a:rPr>
              <a:t>hash(key1)</a:t>
            </a:r>
            <a:endParaRPr sz="2000">
              <a:latin typeface="Times New Roman"/>
              <a:cs typeface="Times New Roman"/>
            </a:endParaRPr>
          </a:p>
          <a:p>
            <a:pPr marL="436880">
              <a:lnSpc>
                <a:spcPct val="100000"/>
              </a:lnSpc>
              <a:spcBef>
                <a:spcPts val="525"/>
              </a:spcBef>
            </a:pPr>
            <a:r>
              <a:rPr sz="1800" b="1" i="1" spc="-90" dirty="0">
                <a:solidFill>
                  <a:srgbClr val="636363"/>
                </a:solidFill>
                <a:latin typeface="Times New Roman"/>
                <a:cs typeface="Times New Roman"/>
              </a:rPr>
              <a:t>Replication</a:t>
            </a:r>
            <a:r>
              <a:rPr sz="1800" b="1" i="1" spc="-75" dirty="0">
                <a:solidFill>
                  <a:srgbClr val="636363"/>
                </a:solidFill>
                <a:latin typeface="Times New Roman"/>
                <a:cs typeface="Times New Roman"/>
              </a:rPr>
              <a:t> </a:t>
            </a:r>
            <a:r>
              <a:rPr sz="1800" b="1" i="1" spc="-114" dirty="0">
                <a:solidFill>
                  <a:srgbClr val="636363"/>
                </a:solidFill>
                <a:latin typeface="Times New Roman"/>
                <a:cs typeface="Times New Roman"/>
              </a:rPr>
              <a:t>Factor</a:t>
            </a:r>
            <a:r>
              <a:rPr sz="1800" b="1" i="1" spc="-75" dirty="0">
                <a:solidFill>
                  <a:srgbClr val="636363"/>
                </a:solidFill>
                <a:latin typeface="Times New Roman"/>
                <a:cs typeface="Times New Roman"/>
              </a:rPr>
              <a:t> </a:t>
            </a:r>
            <a:r>
              <a:rPr sz="1800" b="1" i="1" spc="-100" dirty="0">
                <a:solidFill>
                  <a:srgbClr val="636363"/>
                </a:solidFill>
                <a:latin typeface="Times New Roman"/>
                <a:cs typeface="Times New Roman"/>
              </a:rPr>
              <a:t>=</a:t>
            </a:r>
            <a:r>
              <a:rPr sz="1800" b="1" i="1" spc="-55" dirty="0">
                <a:solidFill>
                  <a:srgbClr val="636363"/>
                </a:solidFill>
                <a:latin typeface="Times New Roman"/>
                <a:cs typeface="Times New Roman"/>
              </a:rPr>
              <a:t> </a:t>
            </a:r>
            <a:r>
              <a:rPr sz="1800" b="1" i="1" spc="-50" dirty="0">
                <a:solidFill>
                  <a:srgbClr val="636363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7351" y="127330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P5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0809" y="170180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P1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2354" y="229527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P3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6623" y="395274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P4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65672" y="37921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P2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1809" y="2934157"/>
            <a:ext cx="2825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Inconsolata"/>
                <a:cs typeface="Inconsolata"/>
              </a:rPr>
              <a:t>P6</a:t>
            </a:r>
            <a:endParaRPr sz="2000">
              <a:latin typeface="Inconsolata"/>
              <a:cs typeface="Inconsolat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8240" y="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59" h="274320">
                <a:moveTo>
                  <a:pt x="365759" y="0"/>
                </a:moveTo>
                <a:lnTo>
                  <a:pt x="0" y="0"/>
                </a:lnTo>
                <a:lnTo>
                  <a:pt x="0" y="274320"/>
                </a:lnTo>
                <a:lnTo>
                  <a:pt x="365759" y="274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917940" y="23317"/>
            <a:ext cx="193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1F1F1"/>
                </a:solidFill>
                <a:latin typeface="Arial"/>
                <a:cs typeface="Arial"/>
              </a:rPr>
              <a:t>54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0174" y="2945937"/>
            <a:ext cx="1460500" cy="313055"/>
            <a:chOff x="230174" y="2945937"/>
            <a:chExt cx="1460500" cy="313055"/>
          </a:xfrm>
        </p:grpSpPr>
        <p:sp>
          <p:nvSpPr>
            <p:cNvPr id="16" name="object 16"/>
            <p:cNvSpPr/>
            <p:nvPr/>
          </p:nvSpPr>
          <p:spPr>
            <a:xfrm>
              <a:off x="832180" y="3028607"/>
              <a:ext cx="858519" cy="148590"/>
            </a:xfrm>
            <a:custGeom>
              <a:avLst/>
              <a:gdLst/>
              <a:ahLst/>
              <a:cxnLst/>
              <a:rect l="l" t="t" r="r" b="b"/>
              <a:pathLst>
                <a:path w="858519" h="148589">
                  <a:moveTo>
                    <a:pt x="79209" y="60274"/>
                  </a:moveTo>
                  <a:lnTo>
                    <a:pt x="78562" y="54267"/>
                  </a:lnTo>
                  <a:lnTo>
                    <a:pt x="74663" y="50406"/>
                  </a:lnTo>
                  <a:lnTo>
                    <a:pt x="66903" y="48475"/>
                  </a:lnTo>
                  <a:lnTo>
                    <a:pt x="58699" y="48475"/>
                  </a:lnTo>
                  <a:lnTo>
                    <a:pt x="34048" y="53695"/>
                  </a:lnTo>
                  <a:lnTo>
                    <a:pt x="15633" y="67678"/>
                  </a:lnTo>
                  <a:lnTo>
                    <a:pt x="4038" y="87934"/>
                  </a:lnTo>
                  <a:lnTo>
                    <a:pt x="0" y="111975"/>
                  </a:lnTo>
                  <a:lnTo>
                    <a:pt x="2387" y="128447"/>
                  </a:lnTo>
                  <a:lnTo>
                    <a:pt x="9118" y="139776"/>
                  </a:lnTo>
                  <a:lnTo>
                    <a:pt x="19481" y="146329"/>
                  </a:lnTo>
                  <a:lnTo>
                    <a:pt x="32804" y="148437"/>
                  </a:lnTo>
                  <a:lnTo>
                    <a:pt x="44462" y="147434"/>
                  </a:lnTo>
                  <a:lnTo>
                    <a:pt x="73367" y="119697"/>
                  </a:lnTo>
                  <a:lnTo>
                    <a:pt x="64566" y="119405"/>
                  </a:lnTo>
                  <a:lnTo>
                    <a:pt x="57912" y="123431"/>
                  </a:lnTo>
                  <a:lnTo>
                    <a:pt x="50406" y="126441"/>
                  </a:lnTo>
                  <a:lnTo>
                    <a:pt x="42519" y="127635"/>
                  </a:lnTo>
                  <a:lnTo>
                    <a:pt x="32575" y="127635"/>
                  </a:lnTo>
                  <a:lnTo>
                    <a:pt x="28282" y="120129"/>
                  </a:lnTo>
                  <a:lnTo>
                    <a:pt x="28282" y="107683"/>
                  </a:lnTo>
                  <a:lnTo>
                    <a:pt x="30099" y="93002"/>
                  </a:lnTo>
                  <a:lnTo>
                    <a:pt x="35585" y="80149"/>
                  </a:lnTo>
                  <a:lnTo>
                    <a:pt x="44754" y="71031"/>
                  </a:lnTo>
                  <a:lnTo>
                    <a:pt x="57632" y="67564"/>
                  </a:lnTo>
                  <a:lnTo>
                    <a:pt x="62382" y="67564"/>
                  </a:lnTo>
                  <a:lnTo>
                    <a:pt x="66255" y="68427"/>
                  </a:lnTo>
                  <a:lnTo>
                    <a:pt x="70358" y="69926"/>
                  </a:lnTo>
                  <a:lnTo>
                    <a:pt x="73812" y="69926"/>
                  </a:lnTo>
                  <a:lnTo>
                    <a:pt x="79209" y="60274"/>
                  </a:lnTo>
                  <a:close/>
                </a:path>
                <a:path w="858519" h="148589">
                  <a:moveTo>
                    <a:pt x="186436" y="53416"/>
                  </a:moveTo>
                  <a:lnTo>
                    <a:pt x="179133" y="51917"/>
                  </a:lnTo>
                  <a:lnTo>
                    <a:pt x="170726" y="50292"/>
                  </a:lnTo>
                  <a:lnTo>
                    <a:pt x="162026" y="49009"/>
                  </a:lnTo>
                  <a:lnTo>
                    <a:pt x="158178" y="48768"/>
                  </a:lnTo>
                  <a:lnTo>
                    <a:pt x="158178" y="67995"/>
                  </a:lnTo>
                  <a:lnTo>
                    <a:pt x="157746" y="70142"/>
                  </a:lnTo>
                  <a:lnTo>
                    <a:pt x="157530" y="70789"/>
                  </a:lnTo>
                  <a:lnTo>
                    <a:pt x="157302" y="72936"/>
                  </a:lnTo>
                  <a:lnTo>
                    <a:pt x="151015" y="96151"/>
                  </a:lnTo>
                  <a:lnTo>
                    <a:pt x="141655" y="112941"/>
                  </a:lnTo>
                  <a:lnTo>
                    <a:pt x="131330" y="123126"/>
                  </a:lnTo>
                  <a:lnTo>
                    <a:pt x="122135" y="126555"/>
                  </a:lnTo>
                  <a:lnTo>
                    <a:pt x="117614" y="126555"/>
                  </a:lnTo>
                  <a:lnTo>
                    <a:pt x="115023" y="121831"/>
                  </a:lnTo>
                  <a:lnTo>
                    <a:pt x="115023" y="112826"/>
                  </a:lnTo>
                  <a:lnTo>
                    <a:pt x="131457" y="72644"/>
                  </a:lnTo>
                  <a:lnTo>
                    <a:pt x="149326" y="66497"/>
                  </a:lnTo>
                  <a:lnTo>
                    <a:pt x="152552" y="66497"/>
                  </a:lnTo>
                  <a:lnTo>
                    <a:pt x="155803" y="67144"/>
                  </a:lnTo>
                  <a:lnTo>
                    <a:pt x="158178" y="67995"/>
                  </a:lnTo>
                  <a:lnTo>
                    <a:pt x="158178" y="48768"/>
                  </a:lnTo>
                  <a:lnTo>
                    <a:pt x="118745" y="57340"/>
                  </a:lnTo>
                  <a:lnTo>
                    <a:pt x="91567" y="92773"/>
                  </a:lnTo>
                  <a:lnTo>
                    <a:pt x="87388" y="116903"/>
                  </a:lnTo>
                  <a:lnTo>
                    <a:pt x="87388" y="117119"/>
                  </a:lnTo>
                  <a:lnTo>
                    <a:pt x="88861" y="130886"/>
                  </a:lnTo>
                  <a:lnTo>
                    <a:pt x="93052" y="140665"/>
                  </a:lnTo>
                  <a:lnTo>
                    <a:pt x="99593" y="146507"/>
                  </a:lnTo>
                  <a:lnTo>
                    <a:pt x="108115" y="148437"/>
                  </a:lnTo>
                  <a:lnTo>
                    <a:pt x="120942" y="146380"/>
                  </a:lnTo>
                  <a:lnTo>
                    <a:pt x="132765" y="140792"/>
                  </a:lnTo>
                  <a:lnTo>
                    <a:pt x="142887" y="132600"/>
                  </a:lnTo>
                  <a:lnTo>
                    <a:pt x="147599" y="126555"/>
                  </a:lnTo>
                  <a:lnTo>
                    <a:pt x="150622" y="122694"/>
                  </a:lnTo>
                  <a:lnTo>
                    <a:pt x="149974" y="128485"/>
                  </a:lnTo>
                  <a:lnTo>
                    <a:pt x="149110" y="139649"/>
                  </a:lnTo>
                  <a:lnTo>
                    <a:pt x="149542" y="148437"/>
                  </a:lnTo>
                  <a:lnTo>
                    <a:pt x="155168" y="148437"/>
                  </a:lnTo>
                  <a:lnTo>
                    <a:pt x="168541" y="147586"/>
                  </a:lnTo>
                  <a:lnTo>
                    <a:pt x="175653" y="144576"/>
                  </a:lnTo>
                  <a:lnTo>
                    <a:pt x="175488" y="139649"/>
                  </a:lnTo>
                  <a:lnTo>
                    <a:pt x="175628" y="133426"/>
                  </a:lnTo>
                  <a:lnTo>
                    <a:pt x="181673" y="82042"/>
                  </a:lnTo>
                  <a:lnTo>
                    <a:pt x="184353" y="64757"/>
                  </a:lnTo>
                  <a:lnTo>
                    <a:pt x="186436" y="53416"/>
                  </a:lnTo>
                  <a:close/>
                </a:path>
                <a:path w="858519" h="148589">
                  <a:moveTo>
                    <a:pt x="261327" y="55765"/>
                  </a:moveTo>
                  <a:lnTo>
                    <a:pt x="257429" y="51701"/>
                  </a:lnTo>
                  <a:lnTo>
                    <a:pt x="249021" y="48475"/>
                  </a:lnTo>
                  <a:lnTo>
                    <a:pt x="240169" y="48475"/>
                  </a:lnTo>
                  <a:lnTo>
                    <a:pt x="224586" y="51066"/>
                  </a:lnTo>
                  <a:lnTo>
                    <a:pt x="212661" y="58102"/>
                  </a:lnTo>
                  <a:lnTo>
                    <a:pt x="204939" y="68478"/>
                  </a:lnTo>
                  <a:lnTo>
                    <a:pt x="202196" y="81089"/>
                  </a:lnTo>
                  <a:lnTo>
                    <a:pt x="202907" y="87350"/>
                  </a:lnTo>
                  <a:lnTo>
                    <a:pt x="205295" y="93370"/>
                  </a:lnTo>
                  <a:lnTo>
                    <a:pt x="209753" y="99301"/>
                  </a:lnTo>
                  <a:lnTo>
                    <a:pt x="216662" y="105321"/>
                  </a:lnTo>
                  <a:lnTo>
                    <a:pt x="229806" y="114554"/>
                  </a:lnTo>
                  <a:lnTo>
                    <a:pt x="233045" y="117767"/>
                  </a:lnTo>
                  <a:lnTo>
                    <a:pt x="233045" y="125704"/>
                  </a:lnTo>
                  <a:lnTo>
                    <a:pt x="228511" y="128930"/>
                  </a:lnTo>
                  <a:lnTo>
                    <a:pt x="213855" y="128930"/>
                  </a:lnTo>
                  <a:lnTo>
                    <a:pt x="204558" y="125920"/>
                  </a:lnTo>
                  <a:lnTo>
                    <a:pt x="194640" y="120992"/>
                  </a:lnTo>
                  <a:lnTo>
                    <a:pt x="191604" y="133642"/>
                  </a:lnTo>
                  <a:lnTo>
                    <a:pt x="195503" y="140081"/>
                  </a:lnTo>
                  <a:lnTo>
                    <a:pt x="198513" y="144373"/>
                  </a:lnTo>
                  <a:lnTo>
                    <a:pt x="207810" y="148437"/>
                  </a:lnTo>
                  <a:lnTo>
                    <a:pt x="218376" y="148437"/>
                  </a:lnTo>
                  <a:lnTo>
                    <a:pt x="235673" y="145554"/>
                  </a:lnTo>
                  <a:lnTo>
                    <a:pt x="248475" y="138010"/>
                  </a:lnTo>
                  <a:lnTo>
                    <a:pt x="256425" y="127533"/>
                  </a:lnTo>
                  <a:lnTo>
                    <a:pt x="259156" y="115836"/>
                  </a:lnTo>
                  <a:lnTo>
                    <a:pt x="258356" y="109220"/>
                  </a:lnTo>
                  <a:lnTo>
                    <a:pt x="255816" y="103314"/>
                  </a:lnTo>
                  <a:lnTo>
                    <a:pt x="251333" y="97764"/>
                  </a:lnTo>
                  <a:lnTo>
                    <a:pt x="244703" y="92240"/>
                  </a:lnTo>
                  <a:lnTo>
                    <a:pt x="230251" y="82156"/>
                  </a:lnTo>
                  <a:lnTo>
                    <a:pt x="227228" y="79146"/>
                  </a:lnTo>
                  <a:lnTo>
                    <a:pt x="227228" y="69723"/>
                  </a:lnTo>
                  <a:lnTo>
                    <a:pt x="232194" y="67144"/>
                  </a:lnTo>
                  <a:lnTo>
                    <a:pt x="242328" y="67144"/>
                  </a:lnTo>
                  <a:lnTo>
                    <a:pt x="245567" y="67995"/>
                  </a:lnTo>
                  <a:lnTo>
                    <a:pt x="256349" y="71856"/>
                  </a:lnTo>
                  <a:lnTo>
                    <a:pt x="261099" y="61785"/>
                  </a:lnTo>
                  <a:lnTo>
                    <a:pt x="261327" y="55765"/>
                  </a:lnTo>
                  <a:close/>
                </a:path>
                <a:path w="858519" h="148589">
                  <a:moveTo>
                    <a:pt x="335762" y="55765"/>
                  </a:moveTo>
                  <a:lnTo>
                    <a:pt x="331889" y="51701"/>
                  </a:lnTo>
                  <a:lnTo>
                    <a:pt x="323469" y="48475"/>
                  </a:lnTo>
                  <a:lnTo>
                    <a:pt x="314617" y="48475"/>
                  </a:lnTo>
                  <a:lnTo>
                    <a:pt x="299021" y="51066"/>
                  </a:lnTo>
                  <a:lnTo>
                    <a:pt x="287096" y="58102"/>
                  </a:lnTo>
                  <a:lnTo>
                    <a:pt x="279374" y="68478"/>
                  </a:lnTo>
                  <a:lnTo>
                    <a:pt x="276631" y="81089"/>
                  </a:lnTo>
                  <a:lnTo>
                    <a:pt x="277342" y="87350"/>
                  </a:lnTo>
                  <a:lnTo>
                    <a:pt x="279742" y="93370"/>
                  </a:lnTo>
                  <a:lnTo>
                    <a:pt x="284200" y="99301"/>
                  </a:lnTo>
                  <a:lnTo>
                    <a:pt x="291096" y="105321"/>
                  </a:lnTo>
                  <a:lnTo>
                    <a:pt x="304253" y="114554"/>
                  </a:lnTo>
                  <a:lnTo>
                    <a:pt x="307479" y="117767"/>
                  </a:lnTo>
                  <a:lnTo>
                    <a:pt x="307479" y="125704"/>
                  </a:lnTo>
                  <a:lnTo>
                    <a:pt x="302958" y="128930"/>
                  </a:lnTo>
                  <a:lnTo>
                    <a:pt x="288290" y="128930"/>
                  </a:lnTo>
                  <a:lnTo>
                    <a:pt x="279006" y="125920"/>
                  </a:lnTo>
                  <a:lnTo>
                    <a:pt x="269087" y="120992"/>
                  </a:lnTo>
                  <a:lnTo>
                    <a:pt x="266052" y="133642"/>
                  </a:lnTo>
                  <a:lnTo>
                    <a:pt x="269951" y="140081"/>
                  </a:lnTo>
                  <a:lnTo>
                    <a:pt x="272961" y="144373"/>
                  </a:lnTo>
                  <a:lnTo>
                    <a:pt x="282257" y="148437"/>
                  </a:lnTo>
                  <a:lnTo>
                    <a:pt x="292823" y="148437"/>
                  </a:lnTo>
                  <a:lnTo>
                    <a:pt x="310121" y="145554"/>
                  </a:lnTo>
                  <a:lnTo>
                    <a:pt x="322922" y="138010"/>
                  </a:lnTo>
                  <a:lnTo>
                    <a:pt x="330873" y="127533"/>
                  </a:lnTo>
                  <a:lnTo>
                    <a:pt x="333603" y="115836"/>
                  </a:lnTo>
                  <a:lnTo>
                    <a:pt x="332803" y="109220"/>
                  </a:lnTo>
                  <a:lnTo>
                    <a:pt x="330263" y="103314"/>
                  </a:lnTo>
                  <a:lnTo>
                    <a:pt x="325767" y="97764"/>
                  </a:lnTo>
                  <a:lnTo>
                    <a:pt x="319138" y="92240"/>
                  </a:lnTo>
                  <a:lnTo>
                    <a:pt x="304698" y="82156"/>
                  </a:lnTo>
                  <a:lnTo>
                    <a:pt x="301663" y="79146"/>
                  </a:lnTo>
                  <a:lnTo>
                    <a:pt x="301663" y="69723"/>
                  </a:lnTo>
                  <a:lnTo>
                    <a:pt x="306641" y="67144"/>
                  </a:lnTo>
                  <a:lnTo>
                    <a:pt x="316776" y="67144"/>
                  </a:lnTo>
                  <a:lnTo>
                    <a:pt x="320014" y="67995"/>
                  </a:lnTo>
                  <a:lnTo>
                    <a:pt x="330796" y="71856"/>
                  </a:lnTo>
                  <a:lnTo>
                    <a:pt x="335546" y="61785"/>
                  </a:lnTo>
                  <a:lnTo>
                    <a:pt x="335762" y="55765"/>
                  </a:lnTo>
                  <a:close/>
                </a:path>
                <a:path w="858519" h="148589">
                  <a:moveTo>
                    <a:pt x="446900" y="53416"/>
                  </a:moveTo>
                  <a:lnTo>
                    <a:pt x="439597" y="51917"/>
                  </a:lnTo>
                  <a:lnTo>
                    <a:pt x="431177" y="50292"/>
                  </a:lnTo>
                  <a:lnTo>
                    <a:pt x="422465" y="49009"/>
                  </a:lnTo>
                  <a:lnTo>
                    <a:pt x="418630" y="48768"/>
                  </a:lnTo>
                  <a:lnTo>
                    <a:pt x="418630" y="67995"/>
                  </a:lnTo>
                  <a:lnTo>
                    <a:pt x="418185" y="70142"/>
                  </a:lnTo>
                  <a:lnTo>
                    <a:pt x="417969" y="70789"/>
                  </a:lnTo>
                  <a:lnTo>
                    <a:pt x="417766" y="72936"/>
                  </a:lnTo>
                  <a:lnTo>
                    <a:pt x="411480" y="96151"/>
                  </a:lnTo>
                  <a:lnTo>
                    <a:pt x="402120" y="112941"/>
                  </a:lnTo>
                  <a:lnTo>
                    <a:pt x="391782" y="123126"/>
                  </a:lnTo>
                  <a:lnTo>
                    <a:pt x="382574" y="126555"/>
                  </a:lnTo>
                  <a:lnTo>
                    <a:pt x="378053" y="126555"/>
                  </a:lnTo>
                  <a:lnTo>
                    <a:pt x="375462" y="121831"/>
                  </a:lnTo>
                  <a:lnTo>
                    <a:pt x="375462" y="112826"/>
                  </a:lnTo>
                  <a:lnTo>
                    <a:pt x="391896" y="72644"/>
                  </a:lnTo>
                  <a:lnTo>
                    <a:pt x="409765" y="66497"/>
                  </a:lnTo>
                  <a:lnTo>
                    <a:pt x="413016" y="66497"/>
                  </a:lnTo>
                  <a:lnTo>
                    <a:pt x="416255" y="67144"/>
                  </a:lnTo>
                  <a:lnTo>
                    <a:pt x="418630" y="67995"/>
                  </a:lnTo>
                  <a:lnTo>
                    <a:pt x="418630" y="48768"/>
                  </a:lnTo>
                  <a:lnTo>
                    <a:pt x="379196" y="57340"/>
                  </a:lnTo>
                  <a:lnTo>
                    <a:pt x="352018" y="92773"/>
                  </a:lnTo>
                  <a:lnTo>
                    <a:pt x="347827" y="116903"/>
                  </a:lnTo>
                  <a:lnTo>
                    <a:pt x="347827" y="117119"/>
                  </a:lnTo>
                  <a:lnTo>
                    <a:pt x="349300" y="130886"/>
                  </a:lnTo>
                  <a:lnTo>
                    <a:pt x="353491" y="140665"/>
                  </a:lnTo>
                  <a:lnTo>
                    <a:pt x="360032" y="146507"/>
                  </a:lnTo>
                  <a:lnTo>
                    <a:pt x="368554" y="148437"/>
                  </a:lnTo>
                  <a:lnTo>
                    <a:pt x="381381" y="146380"/>
                  </a:lnTo>
                  <a:lnTo>
                    <a:pt x="393217" y="140792"/>
                  </a:lnTo>
                  <a:lnTo>
                    <a:pt x="403339" y="132600"/>
                  </a:lnTo>
                  <a:lnTo>
                    <a:pt x="408063" y="126555"/>
                  </a:lnTo>
                  <a:lnTo>
                    <a:pt x="411073" y="122694"/>
                  </a:lnTo>
                  <a:lnTo>
                    <a:pt x="410857" y="124409"/>
                  </a:lnTo>
                  <a:lnTo>
                    <a:pt x="410413" y="128485"/>
                  </a:lnTo>
                  <a:lnTo>
                    <a:pt x="409562" y="139649"/>
                  </a:lnTo>
                  <a:lnTo>
                    <a:pt x="409994" y="148437"/>
                  </a:lnTo>
                  <a:lnTo>
                    <a:pt x="415607" y="148437"/>
                  </a:lnTo>
                  <a:lnTo>
                    <a:pt x="428980" y="147586"/>
                  </a:lnTo>
                  <a:lnTo>
                    <a:pt x="436105" y="144576"/>
                  </a:lnTo>
                  <a:lnTo>
                    <a:pt x="435940" y="139649"/>
                  </a:lnTo>
                  <a:lnTo>
                    <a:pt x="436079" y="133426"/>
                  </a:lnTo>
                  <a:lnTo>
                    <a:pt x="442125" y="82042"/>
                  </a:lnTo>
                  <a:lnTo>
                    <a:pt x="444804" y="64757"/>
                  </a:lnTo>
                  <a:lnTo>
                    <a:pt x="446900" y="53416"/>
                  </a:lnTo>
                  <a:close/>
                </a:path>
                <a:path w="858519" h="148589">
                  <a:moveTo>
                    <a:pt x="554748" y="68935"/>
                  </a:moveTo>
                  <a:lnTo>
                    <a:pt x="552196" y="58077"/>
                  </a:lnTo>
                  <a:lnTo>
                    <a:pt x="546252" y="51003"/>
                  </a:lnTo>
                  <a:lnTo>
                    <a:pt x="536651" y="48475"/>
                  </a:lnTo>
                  <a:lnTo>
                    <a:pt x="524002" y="50609"/>
                  </a:lnTo>
                  <a:lnTo>
                    <a:pt x="513080" y="56464"/>
                  </a:lnTo>
                  <a:lnTo>
                    <a:pt x="503694" y="65316"/>
                  </a:lnTo>
                  <a:lnTo>
                    <a:pt x="495642" y="76365"/>
                  </a:lnTo>
                  <a:lnTo>
                    <a:pt x="494995" y="76365"/>
                  </a:lnTo>
                  <a:lnTo>
                    <a:pt x="497801" y="55130"/>
                  </a:lnTo>
                  <a:lnTo>
                    <a:pt x="497382" y="48475"/>
                  </a:lnTo>
                  <a:lnTo>
                    <a:pt x="494995" y="48475"/>
                  </a:lnTo>
                  <a:lnTo>
                    <a:pt x="490702" y="49136"/>
                  </a:lnTo>
                  <a:lnTo>
                    <a:pt x="475132" y="52463"/>
                  </a:lnTo>
                  <a:lnTo>
                    <a:pt x="469963" y="53835"/>
                  </a:lnTo>
                  <a:lnTo>
                    <a:pt x="470128" y="58534"/>
                  </a:lnTo>
                  <a:lnTo>
                    <a:pt x="469646" y="65824"/>
                  </a:lnTo>
                  <a:lnTo>
                    <a:pt x="468515" y="75653"/>
                  </a:lnTo>
                  <a:lnTo>
                    <a:pt x="466737" y="87947"/>
                  </a:lnTo>
                  <a:lnTo>
                    <a:pt x="459206" y="135521"/>
                  </a:lnTo>
                  <a:lnTo>
                    <a:pt x="457022" y="147586"/>
                  </a:lnTo>
                  <a:lnTo>
                    <a:pt x="471055" y="147370"/>
                  </a:lnTo>
                  <a:lnTo>
                    <a:pt x="477964" y="145656"/>
                  </a:lnTo>
                  <a:lnTo>
                    <a:pt x="483565" y="142214"/>
                  </a:lnTo>
                  <a:lnTo>
                    <a:pt x="485305" y="139649"/>
                  </a:lnTo>
                  <a:lnTo>
                    <a:pt x="485952" y="135356"/>
                  </a:lnTo>
                  <a:lnTo>
                    <a:pt x="494525" y="103365"/>
                  </a:lnTo>
                  <a:lnTo>
                    <a:pt x="504748" y="83604"/>
                  </a:lnTo>
                  <a:lnTo>
                    <a:pt x="514680" y="73571"/>
                  </a:lnTo>
                  <a:lnTo>
                    <a:pt x="522414" y="70789"/>
                  </a:lnTo>
                  <a:lnTo>
                    <a:pt x="528447" y="70789"/>
                  </a:lnTo>
                  <a:lnTo>
                    <a:pt x="528675" y="78295"/>
                  </a:lnTo>
                  <a:lnTo>
                    <a:pt x="520471" y="124206"/>
                  </a:lnTo>
                  <a:lnTo>
                    <a:pt x="518528" y="136639"/>
                  </a:lnTo>
                  <a:lnTo>
                    <a:pt x="518756" y="148437"/>
                  </a:lnTo>
                  <a:lnTo>
                    <a:pt x="525030" y="148234"/>
                  </a:lnTo>
                  <a:lnTo>
                    <a:pt x="532371" y="147561"/>
                  </a:lnTo>
                  <a:lnTo>
                    <a:pt x="540080" y="146367"/>
                  </a:lnTo>
                  <a:lnTo>
                    <a:pt x="545947" y="144589"/>
                  </a:lnTo>
                  <a:lnTo>
                    <a:pt x="546011" y="139217"/>
                  </a:lnTo>
                  <a:lnTo>
                    <a:pt x="546481" y="132918"/>
                  </a:lnTo>
                  <a:lnTo>
                    <a:pt x="547268" y="125844"/>
                  </a:lnTo>
                  <a:lnTo>
                    <a:pt x="549744" y="108737"/>
                  </a:lnTo>
                  <a:lnTo>
                    <a:pt x="554151" y="82804"/>
                  </a:lnTo>
                  <a:lnTo>
                    <a:pt x="554748" y="68935"/>
                  </a:lnTo>
                  <a:close/>
                </a:path>
                <a:path w="858519" h="148589">
                  <a:moveTo>
                    <a:pt x="677468" y="2997"/>
                  </a:moveTo>
                  <a:lnTo>
                    <a:pt x="677456" y="1930"/>
                  </a:lnTo>
                  <a:lnTo>
                    <a:pt x="676935" y="0"/>
                  </a:lnTo>
                  <a:lnTo>
                    <a:pt x="668731" y="0"/>
                  </a:lnTo>
                  <a:lnTo>
                    <a:pt x="655777" y="1930"/>
                  </a:lnTo>
                  <a:lnTo>
                    <a:pt x="649744" y="2997"/>
                  </a:lnTo>
                  <a:lnTo>
                    <a:pt x="648868" y="13119"/>
                  </a:lnTo>
                  <a:lnTo>
                    <a:pt x="647026" y="27343"/>
                  </a:lnTo>
                  <a:lnTo>
                    <a:pt x="644867" y="41732"/>
                  </a:lnTo>
                  <a:lnTo>
                    <a:pt x="643039" y="52336"/>
                  </a:lnTo>
                  <a:lnTo>
                    <a:pt x="640676" y="50952"/>
                  </a:lnTo>
                  <a:lnTo>
                    <a:pt x="640676" y="70789"/>
                  </a:lnTo>
                  <a:lnTo>
                    <a:pt x="640245" y="72720"/>
                  </a:lnTo>
                  <a:lnTo>
                    <a:pt x="639597" y="75933"/>
                  </a:lnTo>
                  <a:lnTo>
                    <a:pt x="639381" y="77647"/>
                  </a:lnTo>
                  <a:lnTo>
                    <a:pt x="633107" y="98386"/>
                  </a:lnTo>
                  <a:lnTo>
                    <a:pt x="623862" y="113665"/>
                  </a:lnTo>
                  <a:lnTo>
                    <a:pt x="613854" y="123113"/>
                  </a:lnTo>
                  <a:lnTo>
                    <a:pt x="605282" y="126352"/>
                  </a:lnTo>
                  <a:lnTo>
                    <a:pt x="600303" y="126352"/>
                  </a:lnTo>
                  <a:lnTo>
                    <a:pt x="596849" y="121208"/>
                  </a:lnTo>
                  <a:lnTo>
                    <a:pt x="596849" y="111125"/>
                  </a:lnTo>
                  <a:lnTo>
                    <a:pt x="598716" y="96278"/>
                  </a:lnTo>
                  <a:lnTo>
                    <a:pt x="604431" y="81813"/>
                  </a:lnTo>
                  <a:lnTo>
                    <a:pt x="614248" y="70840"/>
                  </a:lnTo>
                  <a:lnTo>
                    <a:pt x="628370" y="66497"/>
                  </a:lnTo>
                  <a:lnTo>
                    <a:pt x="634187" y="66497"/>
                  </a:lnTo>
                  <a:lnTo>
                    <a:pt x="637857" y="68211"/>
                  </a:lnTo>
                  <a:lnTo>
                    <a:pt x="640676" y="70789"/>
                  </a:lnTo>
                  <a:lnTo>
                    <a:pt x="640676" y="50952"/>
                  </a:lnTo>
                  <a:lnTo>
                    <a:pt x="639381" y="50190"/>
                  </a:lnTo>
                  <a:lnTo>
                    <a:pt x="633564" y="48475"/>
                  </a:lnTo>
                  <a:lnTo>
                    <a:pt x="627075" y="48475"/>
                  </a:lnTo>
                  <a:lnTo>
                    <a:pt x="602462" y="54013"/>
                  </a:lnTo>
                  <a:lnTo>
                    <a:pt x="584073" y="68808"/>
                  </a:lnTo>
                  <a:lnTo>
                    <a:pt x="572566" y="90106"/>
                  </a:lnTo>
                  <a:lnTo>
                    <a:pt x="568591" y="115201"/>
                  </a:lnTo>
                  <a:lnTo>
                    <a:pt x="570153" y="129260"/>
                  </a:lnTo>
                  <a:lnTo>
                    <a:pt x="574636" y="139700"/>
                  </a:lnTo>
                  <a:lnTo>
                    <a:pt x="581698" y="146202"/>
                  </a:lnTo>
                  <a:lnTo>
                    <a:pt x="591032" y="148437"/>
                  </a:lnTo>
                  <a:lnTo>
                    <a:pt x="591235" y="148437"/>
                  </a:lnTo>
                  <a:lnTo>
                    <a:pt x="630212" y="126352"/>
                  </a:lnTo>
                  <a:lnTo>
                    <a:pt x="633336" y="122275"/>
                  </a:lnTo>
                  <a:lnTo>
                    <a:pt x="633222" y="123990"/>
                  </a:lnTo>
                  <a:lnTo>
                    <a:pt x="632891" y="127000"/>
                  </a:lnTo>
                  <a:lnTo>
                    <a:pt x="632688" y="129781"/>
                  </a:lnTo>
                  <a:lnTo>
                    <a:pt x="632244" y="138582"/>
                  </a:lnTo>
                  <a:lnTo>
                    <a:pt x="633120" y="148437"/>
                  </a:lnTo>
                  <a:lnTo>
                    <a:pt x="638289" y="148437"/>
                  </a:lnTo>
                  <a:lnTo>
                    <a:pt x="652322" y="147802"/>
                  </a:lnTo>
                  <a:lnTo>
                    <a:pt x="659218" y="144792"/>
                  </a:lnTo>
                  <a:lnTo>
                    <a:pt x="659307" y="132029"/>
                  </a:lnTo>
                  <a:lnTo>
                    <a:pt x="659739" y="123990"/>
                  </a:lnTo>
                  <a:lnTo>
                    <a:pt x="659904" y="122275"/>
                  </a:lnTo>
                  <a:lnTo>
                    <a:pt x="660552" y="115201"/>
                  </a:lnTo>
                  <a:lnTo>
                    <a:pt x="663054" y="97320"/>
                  </a:lnTo>
                  <a:lnTo>
                    <a:pt x="667613" y="66497"/>
                  </a:lnTo>
                  <a:lnTo>
                    <a:pt x="669772" y="52336"/>
                  </a:lnTo>
                  <a:lnTo>
                    <a:pt x="672236" y="36195"/>
                  </a:lnTo>
                  <a:lnTo>
                    <a:pt x="676706" y="7708"/>
                  </a:lnTo>
                  <a:lnTo>
                    <a:pt x="677468" y="2997"/>
                  </a:lnTo>
                  <a:close/>
                </a:path>
                <a:path w="858519" h="148589">
                  <a:moveTo>
                    <a:pt x="760425" y="52336"/>
                  </a:moveTo>
                  <a:lnTo>
                    <a:pt x="758482" y="50190"/>
                  </a:lnTo>
                  <a:lnTo>
                    <a:pt x="754189" y="48475"/>
                  </a:lnTo>
                  <a:lnTo>
                    <a:pt x="751357" y="48475"/>
                  </a:lnTo>
                  <a:lnTo>
                    <a:pt x="743940" y="49745"/>
                  </a:lnTo>
                  <a:lnTo>
                    <a:pt x="735393" y="54432"/>
                  </a:lnTo>
                  <a:lnTo>
                    <a:pt x="726363" y="63868"/>
                  </a:lnTo>
                  <a:lnTo>
                    <a:pt x="717473" y="79375"/>
                  </a:lnTo>
                  <a:lnTo>
                    <a:pt x="716826" y="79375"/>
                  </a:lnTo>
                  <a:lnTo>
                    <a:pt x="718312" y="66484"/>
                  </a:lnTo>
                  <a:lnTo>
                    <a:pt x="718477" y="56769"/>
                  </a:lnTo>
                  <a:lnTo>
                    <a:pt x="717715" y="50622"/>
                  </a:lnTo>
                  <a:lnTo>
                    <a:pt x="716407" y="48475"/>
                  </a:lnTo>
                  <a:lnTo>
                    <a:pt x="712736" y="48475"/>
                  </a:lnTo>
                  <a:lnTo>
                    <a:pt x="696544" y="52120"/>
                  </a:lnTo>
                  <a:lnTo>
                    <a:pt x="692454" y="54051"/>
                  </a:lnTo>
                  <a:lnTo>
                    <a:pt x="692873" y="57912"/>
                  </a:lnTo>
                  <a:lnTo>
                    <a:pt x="692670" y="67779"/>
                  </a:lnTo>
                  <a:lnTo>
                    <a:pt x="689851" y="91173"/>
                  </a:lnTo>
                  <a:lnTo>
                    <a:pt x="686917" y="111658"/>
                  </a:lnTo>
                  <a:lnTo>
                    <a:pt x="683793" y="131483"/>
                  </a:lnTo>
                  <a:lnTo>
                    <a:pt x="681012" y="147586"/>
                  </a:lnTo>
                  <a:lnTo>
                    <a:pt x="687920" y="147370"/>
                  </a:lnTo>
                  <a:lnTo>
                    <a:pt x="702386" y="145656"/>
                  </a:lnTo>
                  <a:lnTo>
                    <a:pt x="706043" y="143510"/>
                  </a:lnTo>
                  <a:lnTo>
                    <a:pt x="708431" y="142430"/>
                  </a:lnTo>
                  <a:lnTo>
                    <a:pt x="709701" y="140716"/>
                  </a:lnTo>
                  <a:lnTo>
                    <a:pt x="710361" y="136639"/>
                  </a:lnTo>
                  <a:lnTo>
                    <a:pt x="717969" y="106591"/>
                  </a:lnTo>
                  <a:lnTo>
                    <a:pt x="726440" y="88163"/>
                  </a:lnTo>
                  <a:lnTo>
                    <a:pt x="734580" y="78905"/>
                  </a:lnTo>
                  <a:lnTo>
                    <a:pt x="741210" y="76365"/>
                  </a:lnTo>
                  <a:lnTo>
                    <a:pt x="744893" y="76365"/>
                  </a:lnTo>
                  <a:lnTo>
                    <a:pt x="748118" y="77647"/>
                  </a:lnTo>
                  <a:lnTo>
                    <a:pt x="750709" y="78943"/>
                  </a:lnTo>
                  <a:lnTo>
                    <a:pt x="754443" y="73520"/>
                  </a:lnTo>
                  <a:lnTo>
                    <a:pt x="757758" y="66281"/>
                  </a:lnTo>
                  <a:lnTo>
                    <a:pt x="759968" y="58724"/>
                  </a:lnTo>
                  <a:lnTo>
                    <a:pt x="760425" y="52336"/>
                  </a:lnTo>
                  <a:close/>
                </a:path>
                <a:path w="858519" h="148589">
                  <a:moveTo>
                    <a:pt x="857961" y="53416"/>
                  </a:moveTo>
                  <a:lnTo>
                    <a:pt x="850658" y="51917"/>
                  </a:lnTo>
                  <a:lnTo>
                    <a:pt x="842238" y="50292"/>
                  </a:lnTo>
                  <a:lnTo>
                    <a:pt x="833526" y="49009"/>
                  </a:lnTo>
                  <a:lnTo>
                    <a:pt x="829703" y="48768"/>
                  </a:lnTo>
                  <a:lnTo>
                    <a:pt x="829703" y="67995"/>
                  </a:lnTo>
                  <a:lnTo>
                    <a:pt x="829271" y="70142"/>
                  </a:lnTo>
                  <a:lnTo>
                    <a:pt x="829056" y="70789"/>
                  </a:lnTo>
                  <a:lnTo>
                    <a:pt x="828827" y="72936"/>
                  </a:lnTo>
                  <a:lnTo>
                    <a:pt x="822540" y="96151"/>
                  </a:lnTo>
                  <a:lnTo>
                    <a:pt x="813181" y="112941"/>
                  </a:lnTo>
                  <a:lnTo>
                    <a:pt x="802855" y="123126"/>
                  </a:lnTo>
                  <a:lnTo>
                    <a:pt x="793661" y="126555"/>
                  </a:lnTo>
                  <a:lnTo>
                    <a:pt x="789114" y="126555"/>
                  </a:lnTo>
                  <a:lnTo>
                    <a:pt x="786523" y="121831"/>
                  </a:lnTo>
                  <a:lnTo>
                    <a:pt x="786523" y="112826"/>
                  </a:lnTo>
                  <a:lnTo>
                    <a:pt x="802970" y="72644"/>
                  </a:lnTo>
                  <a:lnTo>
                    <a:pt x="820851" y="66497"/>
                  </a:lnTo>
                  <a:lnTo>
                    <a:pt x="824077" y="66497"/>
                  </a:lnTo>
                  <a:lnTo>
                    <a:pt x="827316" y="67144"/>
                  </a:lnTo>
                  <a:lnTo>
                    <a:pt x="829703" y="67995"/>
                  </a:lnTo>
                  <a:lnTo>
                    <a:pt x="829703" y="48768"/>
                  </a:lnTo>
                  <a:lnTo>
                    <a:pt x="790257" y="57340"/>
                  </a:lnTo>
                  <a:lnTo>
                    <a:pt x="763092" y="92773"/>
                  </a:lnTo>
                  <a:lnTo>
                    <a:pt x="758913" y="116903"/>
                  </a:lnTo>
                  <a:lnTo>
                    <a:pt x="758913" y="117119"/>
                  </a:lnTo>
                  <a:lnTo>
                    <a:pt x="760387" y="130886"/>
                  </a:lnTo>
                  <a:lnTo>
                    <a:pt x="764578" y="140665"/>
                  </a:lnTo>
                  <a:lnTo>
                    <a:pt x="771118" y="146507"/>
                  </a:lnTo>
                  <a:lnTo>
                    <a:pt x="779640" y="148437"/>
                  </a:lnTo>
                  <a:lnTo>
                    <a:pt x="792467" y="146380"/>
                  </a:lnTo>
                  <a:lnTo>
                    <a:pt x="804278" y="140792"/>
                  </a:lnTo>
                  <a:lnTo>
                    <a:pt x="814400" y="132600"/>
                  </a:lnTo>
                  <a:lnTo>
                    <a:pt x="819124" y="126555"/>
                  </a:lnTo>
                  <a:lnTo>
                    <a:pt x="822147" y="122694"/>
                  </a:lnTo>
                  <a:lnTo>
                    <a:pt x="821918" y="124409"/>
                  </a:lnTo>
                  <a:lnTo>
                    <a:pt x="821499" y="128485"/>
                  </a:lnTo>
                  <a:lnTo>
                    <a:pt x="820623" y="139649"/>
                  </a:lnTo>
                  <a:lnTo>
                    <a:pt x="821067" y="148437"/>
                  </a:lnTo>
                  <a:lnTo>
                    <a:pt x="826668" y="148437"/>
                  </a:lnTo>
                  <a:lnTo>
                    <a:pt x="840066" y="147586"/>
                  </a:lnTo>
                  <a:lnTo>
                    <a:pt x="847178" y="144576"/>
                  </a:lnTo>
                  <a:lnTo>
                    <a:pt x="847013" y="139649"/>
                  </a:lnTo>
                  <a:lnTo>
                    <a:pt x="847140" y="133426"/>
                  </a:lnTo>
                  <a:lnTo>
                    <a:pt x="853186" y="82042"/>
                  </a:lnTo>
                  <a:lnTo>
                    <a:pt x="855599" y="66497"/>
                  </a:lnTo>
                  <a:lnTo>
                    <a:pt x="855865" y="64757"/>
                  </a:lnTo>
                  <a:lnTo>
                    <a:pt x="857961" y="53416"/>
                  </a:lnTo>
                  <a:close/>
                </a:path>
              </a:pathLst>
            </a:custGeom>
            <a:solidFill>
              <a:srgbClr val="3735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1547" y="2974933"/>
              <a:ext cx="375920" cy="184785"/>
            </a:xfrm>
            <a:custGeom>
              <a:avLst/>
              <a:gdLst/>
              <a:ahLst/>
              <a:cxnLst/>
              <a:rect l="l" t="t" r="r" b="b"/>
              <a:pathLst>
                <a:path w="375920" h="184785">
                  <a:moveTo>
                    <a:pt x="239436" y="0"/>
                  </a:moveTo>
                  <a:lnTo>
                    <a:pt x="179715" y="364"/>
                  </a:lnTo>
                  <a:lnTo>
                    <a:pt x="120805" y="10111"/>
                  </a:lnTo>
                  <a:lnTo>
                    <a:pt x="70418" y="27567"/>
                  </a:lnTo>
                  <a:lnTo>
                    <a:pt x="31515" y="50953"/>
                  </a:lnTo>
                  <a:lnTo>
                    <a:pt x="0" y="108399"/>
                  </a:lnTo>
                  <a:lnTo>
                    <a:pt x="12075" y="136669"/>
                  </a:lnTo>
                  <a:lnTo>
                    <a:pt x="40894" y="159660"/>
                  </a:lnTo>
                  <a:lnTo>
                    <a:pt x="83236" y="176118"/>
                  </a:lnTo>
                  <a:lnTo>
                    <a:pt x="135878" y="184790"/>
                  </a:lnTo>
                  <a:lnTo>
                    <a:pt x="195601" y="184423"/>
                  </a:lnTo>
                  <a:lnTo>
                    <a:pt x="254513" y="174673"/>
                  </a:lnTo>
                  <a:lnTo>
                    <a:pt x="304898" y="157215"/>
                  </a:lnTo>
                  <a:lnTo>
                    <a:pt x="343799" y="133827"/>
                  </a:lnTo>
                  <a:lnTo>
                    <a:pt x="375318" y="76383"/>
                  </a:lnTo>
                  <a:lnTo>
                    <a:pt x="363237" y="48112"/>
                  </a:lnTo>
                  <a:lnTo>
                    <a:pt x="334417" y="25124"/>
                  </a:lnTo>
                  <a:lnTo>
                    <a:pt x="292077" y="8670"/>
                  </a:lnTo>
                  <a:lnTo>
                    <a:pt x="239436" y="0"/>
                  </a:lnTo>
                  <a:close/>
                </a:path>
              </a:pathLst>
            </a:custGeom>
            <a:solidFill>
              <a:srgbClr val="BAE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557" y="2981187"/>
              <a:ext cx="246051" cy="17186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496" y="2980175"/>
              <a:ext cx="199184" cy="15441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390" y="2952542"/>
              <a:ext cx="591852" cy="17186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38335" y="2945937"/>
              <a:ext cx="588645" cy="170815"/>
            </a:xfrm>
            <a:custGeom>
              <a:avLst/>
              <a:gdLst/>
              <a:ahLst/>
              <a:cxnLst/>
              <a:rect l="l" t="t" r="r" b="b"/>
              <a:pathLst>
                <a:path w="588644" h="170814">
                  <a:moveTo>
                    <a:pt x="246586" y="14340"/>
                  </a:moveTo>
                  <a:lnTo>
                    <a:pt x="244887" y="33804"/>
                  </a:lnTo>
                  <a:lnTo>
                    <a:pt x="235909" y="35530"/>
                  </a:lnTo>
                  <a:lnTo>
                    <a:pt x="201399" y="43608"/>
                  </a:lnTo>
                  <a:lnTo>
                    <a:pt x="127603" y="72959"/>
                  </a:lnTo>
                  <a:lnTo>
                    <a:pt x="87654" y="96935"/>
                  </a:lnTo>
                  <a:lnTo>
                    <a:pt x="45230" y="128916"/>
                  </a:lnTo>
                  <a:lnTo>
                    <a:pt x="0" y="170252"/>
                  </a:lnTo>
                  <a:lnTo>
                    <a:pt x="35185" y="148816"/>
                  </a:lnTo>
                  <a:lnTo>
                    <a:pt x="98828" y="103714"/>
                  </a:lnTo>
                  <a:lnTo>
                    <a:pt x="133717" y="83060"/>
                  </a:lnTo>
                  <a:lnTo>
                    <a:pt x="174938" y="65680"/>
                  </a:lnTo>
                  <a:lnTo>
                    <a:pt x="225706" y="53081"/>
                  </a:lnTo>
                  <a:lnTo>
                    <a:pt x="289239" y="46767"/>
                  </a:lnTo>
                  <a:lnTo>
                    <a:pt x="410371" y="46767"/>
                  </a:lnTo>
                  <a:lnTo>
                    <a:pt x="410341" y="45365"/>
                  </a:lnTo>
                  <a:lnTo>
                    <a:pt x="413646" y="40524"/>
                  </a:lnTo>
                  <a:lnTo>
                    <a:pt x="396544" y="40524"/>
                  </a:lnTo>
                  <a:lnTo>
                    <a:pt x="400337" y="38027"/>
                  </a:lnTo>
                  <a:lnTo>
                    <a:pt x="380215" y="38027"/>
                  </a:lnTo>
                  <a:lnTo>
                    <a:pt x="383303" y="31802"/>
                  </a:lnTo>
                  <a:lnTo>
                    <a:pt x="355757" y="31802"/>
                  </a:lnTo>
                  <a:lnTo>
                    <a:pt x="356241" y="31178"/>
                  </a:lnTo>
                  <a:lnTo>
                    <a:pt x="268531" y="31178"/>
                  </a:lnTo>
                  <a:lnTo>
                    <a:pt x="266047" y="30554"/>
                  </a:lnTo>
                  <a:lnTo>
                    <a:pt x="254104" y="30554"/>
                  </a:lnTo>
                  <a:lnTo>
                    <a:pt x="247824" y="28681"/>
                  </a:lnTo>
                  <a:lnTo>
                    <a:pt x="246586" y="14340"/>
                  </a:lnTo>
                  <a:close/>
                </a:path>
                <a:path w="588644" h="170814">
                  <a:moveTo>
                    <a:pt x="410371" y="46767"/>
                  </a:moveTo>
                  <a:lnTo>
                    <a:pt x="289239" y="46767"/>
                  </a:lnTo>
                  <a:lnTo>
                    <a:pt x="371189" y="53041"/>
                  </a:lnTo>
                  <a:lnTo>
                    <a:pt x="430658" y="71506"/>
                  </a:lnTo>
                  <a:lnTo>
                    <a:pt x="470239" y="91010"/>
                  </a:lnTo>
                  <a:lnTo>
                    <a:pt x="492526" y="100403"/>
                  </a:lnTo>
                  <a:lnTo>
                    <a:pt x="527204" y="100960"/>
                  </a:lnTo>
                  <a:lnTo>
                    <a:pt x="548763" y="95493"/>
                  </a:lnTo>
                  <a:lnTo>
                    <a:pt x="566204" y="78917"/>
                  </a:lnTo>
                  <a:lnTo>
                    <a:pt x="566652" y="78258"/>
                  </a:lnTo>
                  <a:lnTo>
                    <a:pt x="524539" y="78258"/>
                  </a:lnTo>
                  <a:lnTo>
                    <a:pt x="536339" y="71097"/>
                  </a:lnTo>
                  <a:lnTo>
                    <a:pt x="487520" y="71097"/>
                  </a:lnTo>
                  <a:lnTo>
                    <a:pt x="491380" y="67976"/>
                  </a:lnTo>
                  <a:lnTo>
                    <a:pt x="470581" y="67976"/>
                  </a:lnTo>
                  <a:lnTo>
                    <a:pt x="479574" y="59860"/>
                  </a:lnTo>
                  <a:lnTo>
                    <a:pt x="425398" y="59860"/>
                  </a:lnTo>
                  <a:lnTo>
                    <a:pt x="435040" y="49265"/>
                  </a:lnTo>
                  <a:lnTo>
                    <a:pt x="414111" y="49265"/>
                  </a:lnTo>
                  <a:lnTo>
                    <a:pt x="410402" y="48192"/>
                  </a:lnTo>
                  <a:lnTo>
                    <a:pt x="410371" y="46767"/>
                  </a:lnTo>
                  <a:close/>
                </a:path>
                <a:path w="588644" h="170814">
                  <a:moveTo>
                    <a:pt x="588527" y="46143"/>
                  </a:moveTo>
                  <a:lnTo>
                    <a:pt x="582321" y="52610"/>
                  </a:lnTo>
                  <a:lnTo>
                    <a:pt x="566646" y="66064"/>
                  </a:lnTo>
                  <a:lnTo>
                    <a:pt x="545915" y="77586"/>
                  </a:lnTo>
                  <a:lnTo>
                    <a:pt x="524539" y="78258"/>
                  </a:lnTo>
                  <a:lnTo>
                    <a:pt x="566652" y="78258"/>
                  </a:lnTo>
                  <a:lnTo>
                    <a:pt x="588527" y="46143"/>
                  </a:lnTo>
                  <a:close/>
                </a:path>
                <a:path w="588644" h="170814">
                  <a:moveTo>
                    <a:pt x="567191" y="29930"/>
                  </a:moveTo>
                  <a:lnTo>
                    <a:pt x="559330" y="37369"/>
                  </a:lnTo>
                  <a:lnTo>
                    <a:pt x="539589" y="53199"/>
                  </a:lnTo>
                  <a:lnTo>
                    <a:pt x="513731" y="67686"/>
                  </a:lnTo>
                  <a:lnTo>
                    <a:pt x="487520" y="71097"/>
                  </a:lnTo>
                  <a:lnTo>
                    <a:pt x="536339" y="71097"/>
                  </a:lnTo>
                  <a:lnTo>
                    <a:pt x="538786" y="69612"/>
                  </a:lnTo>
                  <a:lnTo>
                    <a:pt x="547978" y="61696"/>
                  </a:lnTo>
                  <a:lnTo>
                    <a:pt x="556113" y="49979"/>
                  </a:lnTo>
                  <a:lnTo>
                    <a:pt x="567191" y="29930"/>
                  </a:lnTo>
                  <a:close/>
                </a:path>
                <a:path w="588644" h="170814">
                  <a:moveTo>
                    <a:pt x="531429" y="8097"/>
                  </a:moveTo>
                  <a:lnTo>
                    <a:pt x="525213" y="17112"/>
                  </a:lnTo>
                  <a:lnTo>
                    <a:pt x="509782" y="37127"/>
                  </a:lnTo>
                  <a:lnTo>
                    <a:pt x="489962" y="57597"/>
                  </a:lnTo>
                  <a:lnTo>
                    <a:pt x="470581" y="67976"/>
                  </a:lnTo>
                  <a:lnTo>
                    <a:pt x="491380" y="67976"/>
                  </a:lnTo>
                  <a:lnTo>
                    <a:pt x="504790" y="57130"/>
                  </a:lnTo>
                  <a:lnTo>
                    <a:pt x="515120" y="45911"/>
                  </a:lnTo>
                  <a:lnTo>
                    <a:pt x="522628" y="31536"/>
                  </a:lnTo>
                  <a:lnTo>
                    <a:pt x="531429" y="8097"/>
                  </a:lnTo>
                  <a:close/>
                </a:path>
                <a:path w="588644" h="170814">
                  <a:moveTo>
                    <a:pt x="487520" y="11843"/>
                  </a:moveTo>
                  <a:lnTo>
                    <a:pt x="480320" y="20593"/>
                  </a:lnTo>
                  <a:lnTo>
                    <a:pt x="463144" y="39177"/>
                  </a:lnTo>
                  <a:lnTo>
                    <a:pt x="442625" y="56099"/>
                  </a:lnTo>
                  <a:lnTo>
                    <a:pt x="425398" y="59860"/>
                  </a:lnTo>
                  <a:lnTo>
                    <a:pt x="479574" y="59860"/>
                  </a:lnTo>
                  <a:lnTo>
                    <a:pt x="480958" y="58611"/>
                  </a:lnTo>
                  <a:lnTo>
                    <a:pt x="454252" y="58611"/>
                  </a:lnTo>
                  <a:lnTo>
                    <a:pt x="472779" y="41747"/>
                  </a:lnTo>
                  <a:lnTo>
                    <a:pt x="482420" y="31254"/>
                  </a:lnTo>
                  <a:lnTo>
                    <a:pt x="486294" y="22747"/>
                  </a:lnTo>
                  <a:lnTo>
                    <a:pt x="487520" y="11843"/>
                  </a:lnTo>
                  <a:close/>
                </a:path>
                <a:path w="588644" h="170814">
                  <a:moveTo>
                    <a:pt x="508856" y="10594"/>
                  </a:moveTo>
                  <a:lnTo>
                    <a:pt x="503561" y="17797"/>
                  </a:lnTo>
                  <a:lnTo>
                    <a:pt x="490497" y="33432"/>
                  </a:lnTo>
                  <a:lnTo>
                    <a:pt x="472844" y="49791"/>
                  </a:lnTo>
                  <a:lnTo>
                    <a:pt x="454252" y="58611"/>
                  </a:lnTo>
                  <a:lnTo>
                    <a:pt x="480958" y="58611"/>
                  </a:lnTo>
                  <a:lnTo>
                    <a:pt x="486350" y="53745"/>
                  </a:lnTo>
                  <a:lnTo>
                    <a:pt x="495593" y="43024"/>
                  </a:lnTo>
                  <a:lnTo>
                    <a:pt x="501838" y="30554"/>
                  </a:lnTo>
                  <a:lnTo>
                    <a:pt x="508856" y="10594"/>
                  </a:lnTo>
                  <a:close/>
                </a:path>
                <a:path w="588644" h="170814">
                  <a:moveTo>
                    <a:pt x="461160" y="7473"/>
                  </a:moveTo>
                  <a:lnTo>
                    <a:pt x="455219" y="15142"/>
                  </a:lnTo>
                  <a:lnTo>
                    <a:pt x="441397" y="31405"/>
                  </a:lnTo>
                  <a:lnTo>
                    <a:pt x="425694" y="46151"/>
                  </a:lnTo>
                  <a:lnTo>
                    <a:pt x="414111" y="49265"/>
                  </a:lnTo>
                  <a:lnTo>
                    <a:pt x="435040" y="49265"/>
                  </a:lnTo>
                  <a:lnTo>
                    <a:pt x="437958" y="46058"/>
                  </a:lnTo>
                  <a:lnTo>
                    <a:pt x="445870" y="36000"/>
                  </a:lnTo>
                  <a:lnTo>
                    <a:pt x="452486" y="24776"/>
                  </a:lnTo>
                  <a:lnTo>
                    <a:pt x="461160" y="7473"/>
                  </a:lnTo>
                  <a:close/>
                </a:path>
                <a:path w="588644" h="170814">
                  <a:moveTo>
                    <a:pt x="425398" y="25559"/>
                  </a:moveTo>
                  <a:lnTo>
                    <a:pt x="421662" y="28681"/>
                  </a:lnTo>
                  <a:lnTo>
                    <a:pt x="413319" y="34915"/>
                  </a:lnTo>
                  <a:lnTo>
                    <a:pt x="403694" y="40293"/>
                  </a:lnTo>
                  <a:lnTo>
                    <a:pt x="396544" y="40524"/>
                  </a:lnTo>
                  <a:lnTo>
                    <a:pt x="413646" y="40524"/>
                  </a:lnTo>
                  <a:lnTo>
                    <a:pt x="414987" y="38562"/>
                  </a:lnTo>
                  <a:lnTo>
                    <a:pt x="425398" y="25559"/>
                  </a:lnTo>
                  <a:close/>
                </a:path>
                <a:path w="588644" h="170814">
                  <a:moveTo>
                    <a:pt x="427282" y="0"/>
                  </a:moveTo>
                  <a:lnTo>
                    <a:pt x="421253" y="6644"/>
                  </a:lnTo>
                  <a:lnTo>
                    <a:pt x="407281" y="20886"/>
                  </a:lnTo>
                  <a:lnTo>
                    <a:pt x="391543" y="34192"/>
                  </a:lnTo>
                  <a:lnTo>
                    <a:pt x="380215" y="38027"/>
                  </a:lnTo>
                  <a:lnTo>
                    <a:pt x="400337" y="38027"/>
                  </a:lnTo>
                  <a:lnTo>
                    <a:pt x="403400" y="36000"/>
                  </a:lnTo>
                  <a:lnTo>
                    <a:pt x="408851" y="30308"/>
                  </a:lnTo>
                  <a:lnTo>
                    <a:pt x="415860" y="19565"/>
                  </a:lnTo>
                  <a:lnTo>
                    <a:pt x="427282" y="0"/>
                  </a:lnTo>
                  <a:close/>
                </a:path>
                <a:path w="588644" h="170814">
                  <a:moveTo>
                    <a:pt x="398391" y="1395"/>
                  </a:moveTo>
                  <a:lnTo>
                    <a:pt x="395155" y="7041"/>
                  </a:lnTo>
                  <a:lnTo>
                    <a:pt x="386246" y="18933"/>
                  </a:lnTo>
                  <a:lnTo>
                    <a:pt x="372737" y="29677"/>
                  </a:lnTo>
                  <a:lnTo>
                    <a:pt x="355757" y="31802"/>
                  </a:lnTo>
                  <a:lnTo>
                    <a:pt x="383303" y="31802"/>
                  </a:lnTo>
                  <a:lnTo>
                    <a:pt x="398391" y="1395"/>
                  </a:lnTo>
                  <a:close/>
                </a:path>
                <a:path w="588644" h="170814">
                  <a:moveTo>
                    <a:pt x="289867" y="9970"/>
                  </a:moveTo>
                  <a:lnTo>
                    <a:pt x="287593" y="13459"/>
                  </a:lnTo>
                  <a:lnTo>
                    <a:pt x="282025" y="21042"/>
                  </a:lnTo>
                  <a:lnTo>
                    <a:pt x="275044" y="28391"/>
                  </a:lnTo>
                  <a:lnTo>
                    <a:pt x="268531" y="31178"/>
                  </a:lnTo>
                  <a:lnTo>
                    <a:pt x="356241" y="31178"/>
                  </a:lnTo>
                  <a:lnTo>
                    <a:pt x="356725" y="30554"/>
                  </a:lnTo>
                  <a:lnTo>
                    <a:pt x="287983" y="30554"/>
                  </a:lnTo>
                  <a:lnTo>
                    <a:pt x="284233" y="29305"/>
                  </a:lnTo>
                  <a:lnTo>
                    <a:pt x="289867" y="9970"/>
                  </a:lnTo>
                  <a:close/>
                </a:path>
                <a:path w="588644" h="170814">
                  <a:moveTo>
                    <a:pt x="268531" y="8097"/>
                  </a:moveTo>
                  <a:lnTo>
                    <a:pt x="267170" y="11843"/>
                  </a:lnTo>
                  <a:lnTo>
                    <a:pt x="263673" y="20028"/>
                  </a:lnTo>
                  <a:lnTo>
                    <a:pt x="259008" y="27835"/>
                  </a:lnTo>
                  <a:lnTo>
                    <a:pt x="254104" y="30554"/>
                  </a:lnTo>
                  <a:lnTo>
                    <a:pt x="266047" y="30554"/>
                  </a:lnTo>
                  <a:lnTo>
                    <a:pt x="264302" y="30115"/>
                  </a:lnTo>
                  <a:lnTo>
                    <a:pt x="262892" y="27357"/>
                  </a:lnTo>
                  <a:lnTo>
                    <a:pt x="264237" y="21042"/>
                  </a:lnTo>
                  <a:lnTo>
                    <a:pt x="264351" y="20593"/>
                  </a:lnTo>
                  <a:lnTo>
                    <a:pt x="268531" y="8097"/>
                  </a:lnTo>
                  <a:close/>
                </a:path>
                <a:path w="588644" h="170814">
                  <a:moveTo>
                    <a:pt x="310574" y="2478"/>
                  </a:moveTo>
                  <a:lnTo>
                    <a:pt x="307574" y="7041"/>
                  </a:lnTo>
                  <a:lnTo>
                    <a:pt x="300591" y="17112"/>
                  </a:lnTo>
                  <a:lnTo>
                    <a:pt x="293102" y="26694"/>
                  </a:lnTo>
                  <a:lnTo>
                    <a:pt x="287983" y="30554"/>
                  </a:lnTo>
                  <a:lnTo>
                    <a:pt x="356725" y="30554"/>
                  </a:lnTo>
                  <a:lnTo>
                    <a:pt x="360109" y="26188"/>
                  </a:lnTo>
                  <a:lnTo>
                    <a:pt x="329397" y="26184"/>
                  </a:lnTo>
                  <a:lnTo>
                    <a:pt x="323948" y="24274"/>
                  </a:lnTo>
                  <a:lnTo>
                    <a:pt x="324470" y="23686"/>
                  </a:lnTo>
                  <a:lnTo>
                    <a:pt x="309946" y="23686"/>
                  </a:lnTo>
                  <a:lnTo>
                    <a:pt x="303960" y="22302"/>
                  </a:lnTo>
                  <a:lnTo>
                    <a:pt x="302031" y="19631"/>
                  </a:lnTo>
                  <a:lnTo>
                    <a:pt x="304216" y="13686"/>
                  </a:lnTo>
                  <a:lnTo>
                    <a:pt x="310574" y="2478"/>
                  </a:lnTo>
                  <a:close/>
                </a:path>
                <a:path w="588644" h="170814">
                  <a:moveTo>
                    <a:pt x="371403" y="4296"/>
                  </a:moveTo>
                  <a:lnTo>
                    <a:pt x="368105" y="8857"/>
                  </a:lnTo>
                  <a:lnTo>
                    <a:pt x="359108" y="18283"/>
                  </a:lnTo>
                  <a:lnTo>
                    <a:pt x="345757" y="26188"/>
                  </a:lnTo>
                  <a:lnTo>
                    <a:pt x="360112" y="26184"/>
                  </a:lnTo>
                  <a:lnTo>
                    <a:pt x="362351" y="23296"/>
                  </a:lnTo>
                  <a:lnTo>
                    <a:pt x="366178" y="17595"/>
                  </a:lnTo>
                  <a:lnTo>
                    <a:pt x="368707" y="12121"/>
                  </a:lnTo>
                  <a:lnTo>
                    <a:pt x="371403" y="4296"/>
                  </a:lnTo>
                  <a:close/>
                </a:path>
                <a:path w="588644" h="170814">
                  <a:moveTo>
                    <a:pt x="336177" y="10503"/>
                  </a:moveTo>
                  <a:lnTo>
                    <a:pt x="333580" y="12826"/>
                  </a:lnTo>
                  <a:lnTo>
                    <a:pt x="327065" y="17797"/>
                  </a:lnTo>
                  <a:lnTo>
                    <a:pt x="318549" y="22417"/>
                  </a:lnTo>
                  <a:lnTo>
                    <a:pt x="309946" y="23686"/>
                  </a:lnTo>
                  <a:lnTo>
                    <a:pt x="324470" y="23686"/>
                  </a:lnTo>
                  <a:lnTo>
                    <a:pt x="336177" y="10503"/>
                  </a:lnTo>
                  <a:close/>
                </a:path>
              </a:pathLst>
            </a:custGeom>
            <a:solidFill>
              <a:srgbClr val="3735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174" y="3056103"/>
              <a:ext cx="556385" cy="20271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0174" y="3050925"/>
              <a:ext cx="552450" cy="203200"/>
            </a:xfrm>
            <a:custGeom>
              <a:avLst/>
              <a:gdLst/>
              <a:ahLst/>
              <a:cxnLst/>
              <a:rect l="l" t="t" r="r" b="b"/>
              <a:pathLst>
                <a:path w="552450" h="203200">
                  <a:moveTo>
                    <a:pt x="322238" y="134225"/>
                  </a:moveTo>
                  <a:lnTo>
                    <a:pt x="321126" y="145997"/>
                  </a:lnTo>
                  <a:lnTo>
                    <a:pt x="307763" y="203169"/>
                  </a:lnTo>
                  <a:lnTo>
                    <a:pt x="311804" y="192395"/>
                  </a:lnTo>
                  <a:lnTo>
                    <a:pt x="319425" y="167569"/>
                  </a:lnTo>
                  <a:lnTo>
                    <a:pt x="323871" y="139936"/>
                  </a:lnTo>
                  <a:lnTo>
                    <a:pt x="322238" y="134225"/>
                  </a:lnTo>
                  <a:close/>
                </a:path>
                <a:path w="552450" h="203200">
                  <a:moveTo>
                    <a:pt x="359284" y="182299"/>
                  </a:moveTo>
                  <a:lnTo>
                    <a:pt x="357638" y="203169"/>
                  </a:lnTo>
                  <a:lnTo>
                    <a:pt x="358958" y="198260"/>
                  </a:lnTo>
                  <a:lnTo>
                    <a:pt x="359349" y="184368"/>
                  </a:lnTo>
                  <a:lnTo>
                    <a:pt x="359284" y="182299"/>
                  </a:lnTo>
                  <a:close/>
                </a:path>
                <a:path w="552450" h="203200">
                  <a:moveTo>
                    <a:pt x="296368" y="120172"/>
                  </a:moveTo>
                  <a:lnTo>
                    <a:pt x="248962" y="120172"/>
                  </a:lnTo>
                  <a:lnTo>
                    <a:pt x="248344" y="127743"/>
                  </a:lnTo>
                  <a:lnTo>
                    <a:pt x="239784" y="150575"/>
                  </a:lnTo>
                  <a:lnTo>
                    <a:pt x="221164" y="195686"/>
                  </a:lnTo>
                  <a:lnTo>
                    <a:pt x="227477" y="184368"/>
                  </a:lnTo>
                  <a:lnTo>
                    <a:pt x="241920" y="159345"/>
                  </a:lnTo>
                  <a:lnTo>
                    <a:pt x="257753" y="134016"/>
                  </a:lnTo>
                  <a:lnTo>
                    <a:pt x="268232" y="121779"/>
                  </a:lnTo>
                  <a:lnTo>
                    <a:pt x="275701" y="120990"/>
                  </a:lnTo>
                  <a:lnTo>
                    <a:pt x="294281" y="120990"/>
                  </a:lnTo>
                  <a:lnTo>
                    <a:pt x="296368" y="120172"/>
                  </a:lnTo>
                  <a:close/>
                </a:path>
                <a:path w="552450" h="203200">
                  <a:moveTo>
                    <a:pt x="348303" y="143380"/>
                  </a:moveTo>
                  <a:lnTo>
                    <a:pt x="353648" y="155732"/>
                  </a:lnTo>
                  <a:lnTo>
                    <a:pt x="359284" y="182299"/>
                  </a:lnTo>
                  <a:lnTo>
                    <a:pt x="360090" y="172093"/>
                  </a:lnTo>
                  <a:lnTo>
                    <a:pt x="356818" y="153148"/>
                  </a:lnTo>
                  <a:lnTo>
                    <a:pt x="348303" y="143380"/>
                  </a:lnTo>
                  <a:close/>
                </a:path>
                <a:path w="552450" h="203200">
                  <a:moveTo>
                    <a:pt x="412663" y="145035"/>
                  </a:moveTo>
                  <a:lnTo>
                    <a:pt x="415050" y="177911"/>
                  </a:lnTo>
                  <a:lnTo>
                    <a:pt x="416396" y="175302"/>
                  </a:lnTo>
                  <a:lnTo>
                    <a:pt x="416992" y="164404"/>
                  </a:lnTo>
                  <a:lnTo>
                    <a:pt x="412663" y="145035"/>
                  </a:lnTo>
                  <a:close/>
                </a:path>
                <a:path w="552450" h="203200">
                  <a:moveTo>
                    <a:pt x="294281" y="120990"/>
                  </a:moveTo>
                  <a:lnTo>
                    <a:pt x="275701" y="120990"/>
                  </a:lnTo>
                  <a:lnTo>
                    <a:pt x="280396" y="125990"/>
                  </a:lnTo>
                  <a:lnTo>
                    <a:pt x="284301" y="141514"/>
                  </a:lnTo>
                  <a:lnTo>
                    <a:pt x="289401" y="172298"/>
                  </a:lnTo>
                  <a:lnTo>
                    <a:pt x="288538" y="164972"/>
                  </a:lnTo>
                  <a:lnTo>
                    <a:pt x="287140" y="148628"/>
                  </a:lnTo>
                  <a:lnTo>
                    <a:pt x="287015" y="134225"/>
                  </a:lnTo>
                  <a:lnTo>
                    <a:pt x="287082" y="131446"/>
                  </a:lnTo>
                  <a:lnTo>
                    <a:pt x="289881" y="122715"/>
                  </a:lnTo>
                  <a:lnTo>
                    <a:pt x="294281" y="120990"/>
                  </a:lnTo>
                  <a:close/>
                </a:path>
                <a:path w="552450" h="203200">
                  <a:moveTo>
                    <a:pt x="428235" y="93128"/>
                  </a:moveTo>
                  <a:lnTo>
                    <a:pt x="407652" y="93128"/>
                  </a:lnTo>
                  <a:lnTo>
                    <a:pt x="418931" y="97689"/>
                  </a:lnTo>
                  <a:lnTo>
                    <a:pt x="435561" y="118972"/>
                  </a:lnTo>
                  <a:lnTo>
                    <a:pt x="463983" y="162943"/>
                  </a:lnTo>
                  <a:lnTo>
                    <a:pt x="457087" y="151219"/>
                  </a:lnTo>
                  <a:lnTo>
                    <a:pt x="442458" y="125053"/>
                  </a:lnTo>
                  <a:lnTo>
                    <a:pt x="429179" y="97952"/>
                  </a:lnTo>
                  <a:lnTo>
                    <a:pt x="428235" y="93128"/>
                  </a:lnTo>
                  <a:close/>
                </a:path>
                <a:path w="552450" h="203200">
                  <a:moveTo>
                    <a:pt x="366686" y="115945"/>
                  </a:moveTo>
                  <a:lnTo>
                    <a:pt x="336432" y="115945"/>
                  </a:lnTo>
                  <a:lnTo>
                    <a:pt x="347188" y="116138"/>
                  </a:lnTo>
                  <a:lnTo>
                    <a:pt x="355433" y="121001"/>
                  </a:lnTo>
                  <a:lnTo>
                    <a:pt x="365357" y="134851"/>
                  </a:lnTo>
                  <a:lnTo>
                    <a:pt x="381153" y="162006"/>
                  </a:lnTo>
                  <a:lnTo>
                    <a:pt x="376904" y="153953"/>
                  </a:lnTo>
                  <a:lnTo>
                    <a:pt x="369040" y="136164"/>
                  </a:lnTo>
                  <a:lnTo>
                    <a:pt x="364881" y="118200"/>
                  </a:lnTo>
                  <a:lnTo>
                    <a:pt x="366686" y="115945"/>
                  </a:lnTo>
                  <a:close/>
                </a:path>
                <a:path w="552450" h="203200">
                  <a:moveTo>
                    <a:pt x="259276" y="108562"/>
                  </a:moveTo>
                  <a:lnTo>
                    <a:pt x="184082" y="108562"/>
                  </a:lnTo>
                  <a:lnTo>
                    <a:pt x="190680" y="108665"/>
                  </a:lnTo>
                  <a:lnTo>
                    <a:pt x="196757" y="111350"/>
                  </a:lnTo>
                  <a:lnTo>
                    <a:pt x="202341" y="117100"/>
                  </a:lnTo>
                  <a:lnTo>
                    <a:pt x="204427" y="120990"/>
                  </a:lnTo>
                  <a:lnTo>
                    <a:pt x="204522" y="121779"/>
                  </a:lnTo>
                  <a:lnTo>
                    <a:pt x="203051" y="126807"/>
                  </a:lnTo>
                  <a:lnTo>
                    <a:pt x="195402" y="137039"/>
                  </a:lnTo>
                  <a:lnTo>
                    <a:pt x="179759" y="155457"/>
                  </a:lnTo>
                  <a:lnTo>
                    <a:pt x="185598" y="149932"/>
                  </a:lnTo>
                  <a:lnTo>
                    <a:pt x="198938" y="137917"/>
                  </a:lnTo>
                  <a:lnTo>
                    <a:pt x="213510" y="126252"/>
                  </a:lnTo>
                  <a:lnTo>
                    <a:pt x="223049" y="121779"/>
                  </a:lnTo>
                  <a:lnTo>
                    <a:pt x="242843" y="121779"/>
                  </a:lnTo>
                  <a:lnTo>
                    <a:pt x="243756" y="120846"/>
                  </a:lnTo>
                  <a:lnTo>
                    <a:pt x="248962" y="120172"/>
                  </a:lnTo>
                  <a:lnTo>
                    <a:pt x="296368" y="120172"/>
                  </a:lnTo>
                  <a:lnTo>
                    <a:pt x="313862" y="113312"/>
                  </a:lnTo>
                  <a:lnTo>
                    <a:pt x="368794" y="113312"/>
                  </a:lnTo>
                  <a:lnTo>
                    <a:pt x="371751" y="109620"/>
                  </a:lnTo>
                  <a:lnTo>
                    <a:pt x="399371" y="109620"/>
                  </a:lnTo>
                  <a:lnTo>
                    <a:pt x="399243" y="109297"/>
                  </a:lnTo>
                  <a:lnTo>
                    <a:pt x="268785" y="109297"/>
                  </a:lnTo>
                  <a:lnTo>
                    <a:pt x="259276" y="108562"/>
                  </a:lnTo>
                  <a:close/>
                </a:path>
                <a:path w="552450" h="203200">
                  <a:moveTo>
                    <a:pt x="242843" y="121779"/>
                  </a:moveTo>
                  <a:lnTo>
                    <a:pt x="223049" y="121779"/>
                  </a:lnTo>
                  <a:lnTo>
                    <a:pt x="226758" y="123358"/>
                  </a:lnTo>
                  <a:lnTo>
                    <a:pt x="227830" y="126857"/>
                  </a:lnTo>
                  <a:lnTo>
                    <a:pt x="227950" y="127743"/>
                  </a:lnTo>
                  <a:lnTo>
                    <a:pt x="226796" y="136746"/>
                  </a:lnTo>
                  <a:lnTo>
                    <a:pt x="226354" y="139044"/>
                  </a:lnTo>
                  <a:lnTo>
                    <a:pt x="223049" y="155457"/>
                  </a:lnTo>
                  <a:lnTo>
                    <a:pt x="225271" y="150384"/>
                  </a:lnTo>
                  <a:lnTo>
                    <a:pt x="230701" y="139044"/>
                  </a:lnTo>
                  <a:lnTo>
                    <a:pt x="237481" y="127259"/>
                  </a:lnTo>
                  <a:lnTo>
                    <a:pt x="242843" y="121779"/>
                  </a:lnTo>
                  <a:close/>
                </a:path>
                <a:path w="552450" h="203200">
                  <a:moveTo>
                    <a:pt x="400861" y="113374"/>
                  </a:moveTo>
                  <a:lnTo>
                    <a:pt x="411675" y="140614"/>
                  </a:lnTo>
                  <a:lnTo>
                    <a:pt x="412663" y="145035"/>
                  </a:lnTo>
                  <a:lnTo>
                    <a:pt x="412108" y="137384"/>
                  </a:lnTo>
                  <a:lnTo>
                    <a:pt x="406617" y="116761"/>
                  </a:lnTo>
                  <a:lnTo>
                    <a:pt x="400861" y="113374"/>
                  </a:lnTo>
                  <a:close/>
                </a:path>
                <a:path w="552450" h="203200">
                  <a:moveTo>
                    <a:pt x="368794" y="113312"/>
                  </a:moveTo>
                  <a:lnTo>
                    <a:pt x="313862" y="113312"/>
                  </a:lnTo>
                  <a:lnTo>
                    <a:pt x="323718" y="118558"/>
                  </a:lnTo>
                  <a:lnTo>
                    <a:pt x="323196" y="124081"/>
                  </a:lnTo>
                  <a:lnTo>
                    <a:pt x="344143" y="138608"/>
                  </a:lnTo>
                  <a:lnTo>
                    <a:pt x="348303" y="143380"/>
                  </a:lnTo>
                  <a:lnTo>
                    <a:pt x="336432" y="115945"/>
                  </a:lnTo>
                  <a:lnTo>
                    <a:pt x="366686" y="115945"/>
                  </a:lnTo>
                  <a:lnTo>
                    <a:pt x="368794" y="113312"/>
                  </a:lnTo>
                  <a:close/>
                </a:path>
                <a:path w="552450" h="203200">
                  <a:moveTo>
                    <a:pt x="214878" y="103959"/>
                  </a:moveTo>
                  <a:lnTo>
                    <a:pt x="147197" y="103959"/>
                  </a:lnTo>
                  <a:lnTo>
                    <a:pt x="159054" y="105886"/>
                  </a:lnTo>
                  <a:lnTo>
                    <a:pt x="160706" y="112035"/>
                  </a:lnTo>
                  <a:lnTo>
                    <a:pt x="159591" y="117889"/>
                  </a:lnTo>
                  <a:lnTo>
                    <a:pt x="154206" y="126857"/>
                  </a:lnTo>
                  <a:lnTo>
                    <a:pt x="143052" y="142359"/>
                  </a:lnTo>
                  <a:lnTo>
                    <a:pt x="146316" y="138176"/>
                  </a:lnTo>
                  <a:lnTo>
                    <a:pt x="154580" y="128553"/>
                  </a:lnTo>
                  <a:lnTo>
                    <a:pt x="165550" y="117882"/>
                  </a:lnTo>
                  <a:lnTo>
                    <a:pt x="176934" y="110556"/>
                  </a:lnTo>
                  <a:lnTo>
                    <a:pt x="184082" y="108562"/>
                  </a:lnTo>
                  <a:lnTo>
                    <a:pt x="259276" y="108562"/>
                  </a:lnTo>
                  <a:lnTo>
                    <a:pt x="224634" y="105874"/>
                  </a:lnTo>
                  <a:lnTo>
                    <a:pt x="214878" y="103959"/>
                  </a:lnTo>
                  <a:close/>
                </a:path>
                <a:path w="552450" h="203200">
                  <a:moveTo>
                    <a:pt x="172060" y="94573"/>
                  </a:moveTo>
                  <a:lnTo>
                    <a:pt x="75999" y="94573"/>
                  </a:lnTo>
                  <a:lnTo>
                    <a:pt x="94665" y="94604"/>
                  </a:lnTo>
                  <a:lnTo>
                    <a:pt x="112349" y="95855"/>
                  </a:lnTo>
                  <a:lnTo>
                    <a:pt x="123289" y="99326"/>
                  </a:lnTo>
                  <a:lnTo>
                    <a:pt x="127128" y="103594"/>
                  </a:lnTo>
                  <a:lnTo>
                    <a:pt x="125761" y="108914"/>
                  </a:lnTo>
                  <a:lnTo>
                    <a:pt x="116806" y="118796"/>
                  </a:lnTo>
                  <a:lnTo>
                    <a:pt x="97880" y="136746"/>
                  </a:lnTo>
                  <a:lnTo>
                    <a:pt x="106673" y="129676"/>
                  </a:lnTo>
                  <a:lnTo>
                    <a:pt x="126425" y="115320"/>
                  </a:lnTo>
                  <a:lnTo>
                    <a:pt x="147197" y="103959"/>
                  </a:lnTo>
                  <a:lnTo>
                    <a:pt x="214878" y="103959"/>
                  </a:lnTo>
                  <a:lnTo>
                    <a:pt x="185900" y="98271"/>
                  </a:lnTo>
                  <a:lnTo>
                    <a:pt x="172060" y="94573"/>
                  </a:lnTo>
                  <a:close/>
                </a:path>
                <a:path w="552450" h="203200">
                  <a:moveTo>
                    <a:pt x="318384" y="120743"/>
                  </a:moveTo>
                  <a:lnTo>
                    <a:pt x="322238" y="134225"/>
                  </a:lnTo>
                  <a:lnTo>
                    <a:pt x="323196" y="124081"/>
                  </a:lnTo>
                  <a:lnTo>
                    <a:pt x="318384" y="120743"/>
                  </a:lnTo>
                  <a:close/>
                </a:path>
                <a:path w="552450" h="203200">
                  <a:moveTo>
                    <a:pt x="466516" y="76147"/>
                  </a:moveTo>
                  <a:lnTo>
                    <a:pt x="449079" y="76147"/>
                  </a:lnTo>
                  <a:lnTo>
                    <a:pt x="456497" y="81590"/>
                  </a:lnTo>
                  <a:lnTo>
                    <a:pt x="472913" y="98318"/>
                  </a:lnTo>
                  <a:lnTo>
                    <a:pt x="503828" y="131446"/>
                  </a:lnTo>
                  <a:lnTo>
                    <a:pt x="496601" y="122569"/>
                  </a:lnTo>
                  <a:lnTo>
                    <a:pt x="481314" y="102524"/>
                  </a:lnTo>
                  <a:lnTo>
                    <a:pt x="467559" y="81192"/>
                  </a:lnTo>
                  <a:lnTo>
                    <a:pt x="466516" y="76147"/>
                  </a:lnTo>
                  <a:close/>
                </a:path>
                <a:path w="552450" h="203200">
                  <a:moveTo>
                    <a:pt x="399371" y="109620"/>
                  </a:moveTo>
                  <a:lnTo>
                    <a:pt x="371751" y="109620"/>
                  </a:lnTo>
                  <a:lnTo>
                    <a:pt x="394518" y="109640"/>
                  </a:lnTo>
                  <a:lnTo>
                    <a:pt x="400861" y="113374"/>
                  </a:lnTo>
                  <a:lnTo>
                    <a:pt x="399371" y="109620"/>
                  </a:lnTo>
                  <a:close/>
                </a:path>
                <a:path w="552450" h="203200">
                  <a:moveTo>
                    <a:pt x="491971" y="0"/>
                  </a:moveTo>
                  <a:lnTo>
                    <a:pt x="480922" y="9517"/>
                  </a:lnTo>
                  <a:lnTo>
                    <a:pt x="453382" y="46410"/>
                  </a:lnTo>
                  <a:lnTo>
                    <a:pt x="415869" y="74534"/>
                  </a:lnTo>
                  <a:lnTo>
                    <a:pt x="370415" y="94238"/>
                  </a:lnTo>
                  <a:lnTo>
                    <a:pt x="319049" y="105874"/>
                  </a:lnTo>
                  <a:lnTo>
                    <a:pt x="268785" y="109297"/>
                  </a:lnTo>
                  <a:lnTo>
                    <a:pt x="399243" y="109297"/>
                  </a:lnTo>
                  <a:lnTo>
                    <a:pt x="395284" y="99326"/>
                  </a:lnTo>
                  <a:lnTo>
                    <a:pt x="407652" y="93128"/>
                  </a:lnTo>
                  <a:lnTo>
                    <a:pt x="428235" y="93128"/>
                  </a:lnTo>
                  <a:lnTo>
                    <a:pt x="426336" y="83423"/>
                  </a:lnTo>
                  <a:lnTo>
                    <a:pt x="430923" y="80985"/>
                  </a:lnTo>
                  <a:lnTo>
                    <a:pt x="445195" y="80985"/>
                  </a:lnTo>
                  <a:lnTo>
                    <a:pt x="445159" y="76873"/>
                  </a:lnTo>
                  <a:lnTo>
                    <a:pt x="449079" y="76147"/>
                  </a:lnTo>
                  <a:lnTo>
                    <a:pt x="466516" y="76147"/>
                  </a:lnTo>
                  <a:lnTo>
                    <a:pt x="464925" y="68454"/>
                  </a:lnTo>
                  <a:lnTo>
                    <a:pt x="470174" y="64896"/>
                  </a:lnTo>
                  <a:lnTo>
                    <a:pt x="476833" y="64896"/>
                  </a:lnTo>
                  <a:lnTo>
                    <a:pt x="467213" y="56337"/>
                  </a:lnTo>
                  <a:lnTo>
                    <a:pt x="464925" y="47835"/>
                  </a:lnTo>
                  <a:lnTo>
                    <a:pt x="473908" y="43925"/>
                  </a:lnTo>
                  <a:lnTo>
                    <a:pt x="500634" y="43925"/>
                  </a:lnTo>
                  <a:lnTo>
                    <a:pt x="499745" y="40389"/>
                  </a:lnTo>
                  <a:lnTo>
                    <a:pt x="502865" y="38078"/>
                  </a:lnTo>
                  <a:lnTo>
                    <a:pt x="513571" y="38078"/>
                  </a:lnTo>
                  <a:lnTo>
                    <a:pt x="507282" y="30099"/>
                  </a:lnTo>
                  <a:lnTo>
                    <a:pt x="506575" y="25403"/>
                  </a:lnTo>
                  <a:lnTo>
                    <a:pt x="509868" y="24130"/>
                  </a:lnTo>
                  <a:lnTo>
                    <a:pt x="523325" y="24130"/>
                  </a:lnTo>
                  <a:lnTo>
                    <a:pt x="521159" y="23044"/>
                  </a:lnTo>
                  <a:lnTo>
                    <a:pt x="507264" y="15136"/>
                  </a:lnTo>
                  <a:lnTo>
                    <a:pt x="500687" y="9205"/>
                  </a:lnTo>
                  <a:lnTo>
                    <a:pt x="500746" y="6313"/>
                  </a:lnTo>
                  <a:lnTo>
                    <a:pt x="503511" y="5967"/>
                  </a:lnTo>
                  <a:lnTo>
                    <a:pt x="512528" y="5967"/>
                  </a:lnTo>
                  <a:lnTo>
                    <a:pt x="507400" y="3086"/>
                  </a:lnTo>
                  <a:lnTo>
                    <a:pt x="491971" y="0"/>
                  </a:lnTo>
                  <a:close/>
                </a:path>
                <a:path w="552450" h="203200">
                  <a:moveTo>
                    <a:pt x="445195" y="80985"/>
                  </a:moveTo>
                  <a:lnTo>
                    <a:pt x="430923" y="80985"/>
                  </a:lnTo>
                  <a:lnTo>
                    <a:pt x="435949" y="82642"/>
                  </a:lnTo>
                  <a:lnTo>
                    <a:pt x="444559" y="90613"/>
                  </a:lnTo>
                  <a:lnTo>
                    <a:pt x="459900" y="107120"/>
                  </a:lnTo>
                  <a:lnTo>
                    <a:pt x="456846" y="102789"/>
                  </a:lnTo>
                  <a:lnTo>
                    <a:pt x="450528" y="93050"/>
                  </a:lnTo>
                  <a:lnTo>
                    <a:pt x="445211" y="82784"/>
                  </a:lnTo>
                  <a:lnTo>
                    <a:pt x="445195" y="80985"/>
                  </a:lnTo>
                  <a:close/>
                </a:path>
                <a:path w="552450" h="203200">
                  <a:moveTo>
                    <a:pt x="0" y="76873"/>
                  </a:moveTo>
                  <a:lnTo>
                    <a:pt x="9232" y="83448"/>
                  </a:lnTo>
                  <a:lnTo>
                    <a:pt x="21225" y="89149"/>
                  </a:lnTo>
                  <a:lnTo>
                    <a:pt x="38134" y="93185"/>
                  </a:lnTo>
                  <a:lnTo>
                    <a:pt x="62114" y="94765"/>
                  </a:lnTo>
                  <a:lnTo>
                    <a:pt x="75999" y="94573"/>
                  </a:lnTo>
                  <a:lnTo>
                    <a:pt x="172060" y="94573"/>
                  </a:lnTo>
                  <a:lnTo>
                    <a:pt x="151524" y="89085"/>
                  </a:lnTo>
                  <a:lnTo>
                    <a:pt x="134562" y="86932"/>
                  </a:lnTo>
                  <a:lnTo>
                    <a:pt x="36513" y="86932"/>
                  </a:lnTo>
                  <a:lnTo>
                    <a:pt x="0" y="76873"/>
                  </a:lnTo>
                  <a:close/>
                </a:path>
                <a:path w="552450" h="203200">
                  <a:moveTo>
                    <a:pt x="481163" y="68748"/>
                  </a:moveTo>
                  <a:lnTo>
                    <a:pt x="482367" y="69820"/>
                  </a:lnTo>
                  <a:lnTo>
                    <a:pt x="499469" y="82299"/>
                  </a:lnTo>
                  <a:lnTo>
                    <a:pt x="507596" y="87789"/>
                  </a:lnTo>
                  <a:lnTo>
                    <a:pt x="487509" y="72751"/>
                  </a:lnTo>
                  <a:lnTo>
                    <a:pt x="481163" y="68748"/>
                  </a:lnTo>
                  <a:close/>
                </a:path>
                <a:path w="552450" h="203200">
                  <a:moveTo>
                    <a:pt x="110775" y="83912"/>
                  </a:moveTo>
                  <a:lnTo>
                    <a:pt x="72938" y="86236"/>
                  </a:lnTo>
                  <a:lnTo>
                    <a:pt x="36513" y="86932"/>
                  </a:lnTo>
                  <a:lnTo>
                    <a:pt x="134562" y="86932"/>
                  </a:lnTo>
                  <a:lnTo>
                    <a:pt x="110775" y="83912"/>
                  </a:lnTo>
                  <a:close/>
                </a:path>
                <a:path w="552450" h="203200">
                  <a:moveTo>
                    <a:pt x="513571" y="38078"/>
                  </a:moveTo>
                  <a:lnTo>
                    <a:pt x="502865" y="38078"/>
                  </a:lnTo>
                  <a:lnTo>
                    <a:pt x="509395" y="40621"/>
                  </a:lnTo>
                  <a:lnTo>
                    <a:pt x="524275" y="50999"/>
                  </a:lnTo>
                  <a:lnTo>
                    <a:pt x="552447" y="72196"/>
                  </a:lnTo>
                  <a:lnTo>
                    <a:pt x="545699" y="66802"/>
                  </a:lnTo>
                  <a:lnTo>
                    <a:pt x="530689" y="54304"/>
                  </a:lnTo>
                  <a:lnTo>
                    <a:pt x="515266" y="40228"/>
                  </a:lnTo>
                  <a:lnTo>
                    <a:pt x="513571" y="38078"/>
                  </a:lnTo>
                  <a:close/>
                </a:path>
                <a:path w="552450" h="203200">
                  <a:moveTo>
                    <a:pt x="476833" y="64896"/>
                  </a:moveTo>
                  <a:lnTo>
                    <a:pt x="470174" y="64896"/>
                  </a:lnTo>
                  <a:lnTo>
                    <a:pt x="476368" y="65724"/>
                  </a:lnTo>
                  <a:lnTo>
                    <a:pt x="481163" y="68748"/>
                  </a:lnTo>
                  <a:lnTo>
                    <a:pt x="476833" y="64896"/>
                  </a:lnTo>
                  <a:close/>
                </a:path>
                <a:path w="552450" h="203200">
                  <a:moveTo>
                    <a:pt x="500634" y="43925"/>
                  </a:moveTo>
                  <a:lnTo>
                    <a:pt x="473908" y="43925"/>
                  </a:lnTo>
                  <a:lnTo>
                    <a:pt x="482686" y="44477"/>
                  </a:lnTo>
                  <a:lnTo>
                    <a:pt x="496466" y="51161"/>
                  </a:lnTo>
                  <a:lnTo>
                    <a:pt x="520453" y="65646"/>
                  </a:lnTo>
                  <a:lnTo>
                    <a:pt x="516646" y="62401"/>
                  </a:lnTo>
                  <a:lnTo>
                    <a:pt x="508575" y="54889"/>
                  </a:lnTo>
                  <a:lnTo>
                    <a:pt x="501266" y="46440"/>
                  </a:lnTo>
                  <a:lnTo>
                    <a:pt x="500634" y="43925"/>
                  </a:lnTo>
                  <a:close/>
                </a:path>
                <a:path w="552450" h="203200">
                  <a:moveTo>
                    <a:pt x="523325" y="24130"/>
                  </a:moveTo>
                  <a:lnTo>
                    <a:pt x="509868" y="24130"/>
                  </a:lnTo>
                  <a:lnTo>
                    <a:pt x="520338" y="26542"/>
                  </a:lnTo>
                  <a:lnTo>
                    <a:pt x="541160" y="32903"/>
                  </a:lnTo>
                  <a:lnTo>
                    <a:pt x="534924" y="29947"/>
                  </a:lnTo>
                  <a:lnTo>
                    <a:pt x="523325" y="24130"/>
                  </a:lnTo>
                  <a:close/>
                </a:path>
                <a:path w="552450" h="203200">
                  <a:moveTo>
                    <a:pt x="512528" y="5967"/>
                  </a:moveTo>
                  <a:lnTo>
                    <a:pt x="503511" y="5967"/>
                  </a:lnTo>
                  <a:lnTo>
                    <a:pt x="511455" y="8722"/>
                  </a:lnTo>
                  <a:lnTo>
                    <a:pt x="527047" y="15136"/>
                  </a:lnTo>
                  <a:lnTo>
                    <a:pt x="521121" y="10793"/>
                  </a:lnTo>
                  <a:lnTo>
                    <a:pt x="512528" y="5967"/>
                  </a:lnTo>
                  <a:close/>
                </a:path>
              </a:pathLst>
            </a:custGeom>
            <a:solidFill>
              <a:srgbClr val="3735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657594" y="877495"/>
            <a:ext cx="1030605" cy="164465"/>
          </a:xfrm>
          <a:custGeom>
            <a:avLst/>
            <a:gdLst/>
            <a:ahLst/>
            <a:cxnLst/>
            <a:rect l="l" t="t" r="r" b="b"/>
            <a:pathLst>
              <a:path w="1030605" h="164465">
                <a:moveTo>
                  <a:pt x="77696" y="9328"/>
                </a:moveTo>
                <a:lnTo>
                  <a:pt x="44095" y="15674"/>
                </a:lnTo>
                <a:lnTo>
                  <a:pt x="19771" y="32679"/>
                </a:lnTo>
                <a:lnTo>
                  <a:pt x="4986" y="57292"/>
                </a:lnTo>
                <a:lnTo>
                  <a:pt x="0" y="86465"/>
                </a:lnTo>
                <a:lnTo>
                  <a:pt x="4836" y="115829"/>
                </a:lnTo>
                <a:lnTo>
                  <a:pt x="19329" y="140607"/>
                </a:lnTo>
                <a:lnTo>
                  <a:pt x="43454" y="157727"/>
                </a:lnTo>
                <a:lnTo>
                  <a:pt x="77189" y="164117"/>
                </a:lnTo>
                <a:lnTo>
                  <a:pt x="92845" y="162632"/>
                </a:lnTo>
                <a:lnTo>
                  <a:pt x="106389" y="158854"/>
                </a:lnTo>
                <a:lnTo>
                  <a:pt x="117228" y="153800"/>
                </a:lnTo>
                <a:lnTo>
                  <a:pt x="124769" y="148486"/>
                </a:lnTo>
                <a:lnTo>
                  <a:pt x="117988" y="136888"/>
                </a:lnTo>
                <a:lnTo>
                  <a:pt x="77696" y="136888"/>
                </a:lnTo>
                <a:lnTo>
                  <a:pt x="58948" y="132827"/>
                </a:lnTo>
                <a:lnTo>
                  <a:pt x="45586" y="121793"/>
                </a:lnTo>
                <a:lnTo>
                  <a:pt x="37586" y="105512"/>
                </a:lnTo>
                <a:lnTo>
                  <a:pt x="34925" y="85709"/>
                </a:lnTo>
                <a:lnTo>
                  <a:pt x="37649" y="66541"/>
                </a:lnTo>
                <a:lnTo>
                  <a:pt x="45712" y="50922"/>
                </a:lnTo>
                <a:lnTo>
                  <a:pt x="58948" y="40407"/>
                </a:lnTo>
                <a:lnTo>
                  <a:pt x="77189" y="36556"/>
                </a:lnTo>
                <a:lnTo>
                  <a:pt x="113572" y="36556"/>
                </a:lnTo>
                <a:lnTo>
                  <a:pt x="122997" y="21177"/>
                </a:lnTo>
                <a:lnTo>
                  <a:pt x="113641" y="16135"/>
                </a:lnTo>
                <a:lnTo>
                  <a:pt x="103194" y="12416"/>
                </a:lnTo>
                <a:lnTo>
                  <a:pt x="91322" y="10116"/>
                </a:lnTo>
                <a:lnTo>
                  <a:pt x="77696" y="9328"/>
                </a:lnTo>
                <a:close/>
              </a:path>
              <a:path w="1030605" h="164465">
                <a:moveTo>
                  <a:pt x="111355" y="125543"/>
                </a:moveTo>
                <a:lnTo>
                  <a:pt x="105064" y="129762"/>
                </a:lnTo>
                <a:lnTo>
                  <a:pt x="97657" y="133390"/>
                </a:lnTo>
                <a:lnTo>
                  <a:pt x="88685" y="135931"/>
                </a:lnTo>
                <a:lnTo>
                  <a:pt x="77696" y="136888"/>
                </a:lnTo>
                <a:lnTo>
                  <a:pt x="117988" y="136888"/>
                </a:lnTo>
                <a:lnTo>
                  <a:pt x="111355" y="125543"/>
                </a:lnTo>
                <a:close/>
              </a:path>
              <a:path w="1030605" h="164465">
                <a:moveTo>
                  <a:pt x="113572" y="36556"/>
                </a:moveTo>
                <a:lnTo>
                  <a:pt x="77189" y="36556"/>
                </a:lnTo>
                <a:lnTo>
                  <a:pt x="86644" y="37151"/>
                </a:lnTo>
                <a:lnTo>
                  <a:pt x="94747" y="38857"/>
                </a:lnTo>
                <a:lnTo>
                  <a:pt x="101853" y="41555"/>
                </a:lnTo>
                <a:lnTo>
                  <a:pt x="108318" y="45128"/>
                </a:lnTo>
                <a:lnTo>
                  <a:pt x="113572" y="36556"/>
                </a:lnTo>
                <a:close/>
              </a:path>
              <a:path w="1030605" h="164465">
                <a:moveTo>
                  <a:pt x="186774" y="49404"/>
                </a:moveTo>
                <a:lnTo>
                  <a:pt x="161924" y="54454"/>
                </a:lnTo>
                <a:lnTo>
                  <a:pt x="144762" y="67682"/>
                </a:lnTo>
                <a:lnTo>
                  <a:pt x="134813" y="86205"/>
                </a:lnTo>
                <a:lnTo>
                  <a:pt x="131602" y="107138"/>
                </a:lnTo>
                <a:lnTo>
                  <a:pt x="134813" y="127954"/>
                </a:lnTo>
                <a:lnTo>
                  <a:pt x="144762" y="146216"/>
                </a:lnTo>
                <a:lnTo>
                  <a:pt x="161924" y="159185"/>
                </a:lnTo>
                <a:lnTo>
                  <a:pt x="186774" y="164117"/>
                </a:lnTo>
                <a:lnTo>
                  <a:pt x="211813" y="158992"/>
                </a:lnTo>
                <a:lnTo>
                  <a:pt x="229165" y="145618"/>
                </a:lnTo>
                <a:lnTo>
                  <a:pt x="231720" y="140924"/>
                </a:lnTo>
                <a:lnTo>
                  <a:pt x="187533" y="140924"/>
                </a:lnTo>
                <a:lnTo>
                  <a:pt x="176994" y="138363"/>
                </a:lnTo>
                <a:lnTo>
                  <a:pt x="169849" y="131217"/>
                </a:lnTo>
                <a:lnTo>
                  <a:pt x="165788" y="120288"/>
                </a:lnTo>
                <a:lnTo>
                  <a:pt x="164572" y="107138"/>
                </a:lnTo>
                <a:lnTo>
                  <a:pt x="164522" y="106130"/>
                </a:lnTo>
                <a:lnTo>
                  <a:pt x="165590" y="92555"/>
                </a:lnTo>
                <a:lnTo>
                  <a:pt x="169216" y="81801"/>
                </a:lnTo>
                <a:lnTo>
                  <a:pt x="175927" y="74828"/>
                </a:lnTo>
                <a:lnTo>
                  <a:pt x="186268" y="72346"/>
                </a:lnTo>
                <a:lnTo>
                  <a:pt x="232068" y="72346"/>
                </a:lnTo>
                <a:lnTo>
                  <a:pt x="229165" y="67179"/>
                </a:lnTo>
                <a:lnTo>
                  <a:pt x="211742" y="54297"/>
                </a:lnTo>
                <a:lnTo>
                  <a:pt x="186774" y="49404"/>
                </a:lnTo>
                <a:close/>
              </a:path>
              <a:path w="1030605" h="164465">
                <a:moveTo>
                  <a:pt x="232068" y="72346"/>
                </a:moveTo>
                <a:lnTo>
                  <a:pt x="186268" y="72346"/>
                </a:lnTo>
                <a:lnTo>
                  <a:pt x="196956" y="74946"/>
                </a:lnTo>
                <a:lnTo>
                  <a:pt x="204205" y="82179"/>
                </a:lnTo>
                <a:lnTo>
                  <a:pt x="208369" y="93193"/>
                </a:lnTo>
                <a:lnTo>
                  <a:pt x="209804" y="107138"/>
                </a:lnTo>
                <a:lnTo>
                  <a:pt x="208673" y="120926"/>
                </a:lnTo>
                <a:lnTo>
                  <a:pt x="204932" y="131595"/>
                </a:lnTo>
                <a:lnTo>
                  <a:pt x="198060" y="138481"/>
                </a:lnTo>
                <a:lnTo>
                  <a:pt x="187533" y="140924"/>
                </a:lnTo>
                <a:lnTo>
                  <a:pt x="231720" y="140924"/>
                </a:lnTo>
                <a:lnTo>
                  <a:pt x="239304" y="126997"/>
                </a:lnTo>
                <a:lnTo>
                  <a:pt x="242705" y="106130"/>
                </a:lnTo>
                <a:lnTo>
                  <a:pt x="239375" y="85355"/>
                </a:lnTo>
                <a:lnTo>
                  <a:pt x="232068" y="72346"/>
                </a:lnTo>
                <a:close/>
              </a:path>
              <a:path w="1030605" h="164465">
                <a:moveTo>
                  <a:pt x="291043" y="51925"/>
                </a:moveTo>
                <a:lnTo>
                  <a:pt x="259661" y="51925"/>
                </a:lnTo>
                <a:lnTo>
                  <a:pt x="259785" y="129325"/>
                </a:lnTo>
                <a:lnTo>
                  <a:pt x="261385" y="142380"/>
                </a:lnTo>
                <a:lnTo>
                  <a:pt x="267001" y="153654"/>
                </a:lnTo>
                <a:lnTo>
                  <a:pt x="277171" y="161147"/>
                </a:lnTo>
                <a:lnTo>
                  <a:pt x="292562" y="163865"/>
                </a:lnTo>
                <a:lnTo>
                  <a:pt x="304967" y="162250"/>
                </a:lnTo>
                <a:lnTo>
                  <a:pt x="314928" y="158129"/>
                </a:lnTo>
                <a:lnTo>
                  <a:pt x="322564" y="152590"/>
                </a:lnTo>
                <a:lnTo>
                  <a:pt x="327993" y="146721"/>
                </a:lnTo>
                <a:lnTo>
                  <a:pt x="358685" y="146721"/>
                </a:lnTo>
                <a:lnTo>
                  <a:pt x="358118" y="139469"/>
                </a:lnTo>
                <a:lnTo>
                  <a:pt x="358090" y="138403"/>
                </a:lnTo>
                <a:lnTo>
                  <a:pt x="294840" y="138403"/>
                </a:lnTo>
                <a:lnTo>
                  <a:pt x="291043" y="133106"/>
                </a:lnTo>
                <a:lnTo>
                  <a:pt x="291043" y="51925"/>
                </a:lnTo>
                <a:close/>
              </a:path>
              <a:path w="1030605" h="164465">
                <a:moveTo>
                  <a:pt x="358685" y="146721"/>
                </a:moveTo>
                <a:lnTo>
                  <a:pt x="327993" y="146721"/>
                </a:lnTo>
                <a:lnTo>
                  <a:pt x="328246" y="151259"/>
                </a:lnTo>
                <a:lnTo>
                  <a:pt x="329259" y="158318"/>
                </a:lnTo>
                <a:lnTo>
                  <a:pt x="330271" y="161343"/>
                </a:lnTo>
                <a:lnTo>
                  <a:pt x="360894" y="161343"/>
                </a:lnTo>
                <a:lnTo>
                  <a:pt x="359779" y="155597"/>
                </a:lnTo>
                <a:lnTo>
                  <a:pt x="358806" y="148266"/>
                </a:lnTo>
                <a:lnTo>
                  <a:pt x="358685" y="146721"/>
                </a:lnTo>
                <a:close/>
              </a:path>
              <a:path w="1030605" h="164465">
                <a:moveTo>
                  <a:pt x="357857" y="52177"/>
                </a:moveTo>
                <a:lnTo>
                  <a:pt x="326981" y="52177"/>
                </a:lnTo>
                <a:lnTo>
                  <a:pt x="326981" y="125291"/>
                </a:lnTo>
                <a:lnTo>
                  <a:pt x="324185" y="128403"/>
                </a:lnTo>
                <a:lnTo>
                  <a:pt x="319420" y="132792"/>
                </a:lnTo>
                <a:lnTo>
                  <a:pt x="312994" y="136709"/>
                </a:lnTo>
                <a:lnTo>
                  <a:pt x="305216" y="138403"/>
                </a:lnTo>
                <a:lnTo>
                  <a:pt x="358090" y="138403"/>
                </a:lnTo>
                <a:lnTo>
                  <a:pt x="357946" y="132792"/>
                </a:lnTo>
                <a:lnTo>
                  <a:pt x="357857" y="52177"/>
                </a:lnTo>
                <a:close/>
              </a:path>
              <a:path w="1030605" h="164465">
                <a:moveTo>
                  <a:pt x="435047" y="49404"/>
                </a:moveTo>
                <a:lnTo>
                  <a:pt x="411751" y="53210"/>
                </a:lnTo>
                <a:lnTo>
                  <a:pt x="393320" y="64343"/>
                </a:lnTo>
                <a:lnTo>
                  <a:pt x="381200" y="82378"/>
                </a:lnTo>
                <a:lnTo>
                  <a:pt x="376838" y="106888"/>
                </a:lnTo>
                <a:lnTo>
                  <a:pt x="380792" y="130295"/>
                </a:lnTo>
                <a:lnTo>
                  <a:pt x="392149" y="148360"/>
                </a:lnTo>
                <a:lnTo>
                  <a:pt x="410150" y="159996"/>
                </a:lnTo>
                <a:lnTo>
                  <a:pt x="434034" y="164117"/>
                </a:lnTo>
                <a:lnTo>
                  <a:pt x="447400" y="163081"/>
                </a:lnTo>
                <a:lnTo>
                  <a:pt x="457444" y="160556"/>
                </a:lnTo>
                <a:lnTo>
                  <a:pt x="464641" y="157416"/>
                </a:lnTo>
                <a:lnTo>
                  <a:pt x="469466" y="154536"/>
                </a:lnTo>
                <a:lnTo>
                  <a:pt x="463071" y="140418"/>
                </a:lnTo>
                <a:lnTo>
                  <a:pt x="436818" y="140418"/>
                </a:lnTo>
                <a:lnTo>
                  <a:pt x="424793" y="137861"/>
                </a:lnTo>
                <a:lnTo>
                  <a:pt x="416350" y="130743"/>
                </a:lnTo>
                <a:lnTo>
                  <a:pt x="411372" y="119890"/>
                </a:lnTo>
                <a:lnTo>
                  <a:pt x="409739" y="106130"/>
                </a:lnTo>
                <a:lnTo>
                  <a:pt x="411431" y="92528"/>
                </a:lnTo>
                <a:lnTo>
                  <a:pt x="416445" y="82022"/>
                </a:lnTo>
                <a:lnTo>
                  <a:pt x="424686" y="75251"/>
                </a:lnTo>
                <a:lnTo>
                  <a:pt x="436059" y="72853"/>
                </a:lnTo>
                <a:lnTo>
                  <a:pt x="461774" y="72853"/>
                </a:lnTo>
                <a:lnTo>
                  <a:pt x="468707" y="57976"/>
                </a:lnTo>
                <a:lnTo>
                  <a:pt x="463696" y="55254"/>
                </a:lnTo>
                <a:lnTo>
                  <a:pt x="456527" y="52461"/>
                </a:lnTo>
                <a:lnTo>
                  <a:pt x="447032" y="50282"/>
                </a:lnTo>
                <a:lnTo>
                  <a:pt x="435047" y="49404"/>
                </a:lnTo>
                <a:close/>
              </a:path>
              <a:path w="1030605" h="164465">
                <a:moveTo>
                  <a:pt x="460102" y="133863"/>
                </a:moveTo>
                <a:lnTo>
                  <a:pt x="449472" y="140418"/>
                </a:lnTo>
                <a:lnTo>
                  <a:pt x="463071" y="140418"/>
                </a:lnTo>
                <a:lnTo>
                  <a:pt x="460102" y="133863"/>
                </a:lnTo>
                <a:close/>
              </a:path>
              <a:path w="1030605" h="164465">
                <a:moveTo>
                  <a:pt x="461774" y="72853"/>
                </a:moveTo>
                <a:lnTo>
                  <a:pt x="446942" y="72853"/>
                </a:lnTo>
                <a:lnTo>
                  <a:pt x="454028" y="76128"/>
                </a:lnTo>
                <a:lnTo>
                  <a:pt x="458836" y="79156"/>
                </a:lnTo>
                <a:lnTo>
                  <a:pt x="461774" y="72853"/>
                </a:lnTo>
                <a:close/>
              </a:path>
              <a:path w="1030605" h="164465">
                <a:moveTo>
                  <a:pt x="516286" y="0"/>
                </a:moveTo>
                <a:lnTo>
                  <a:pt x="485410" y="0"/>
                </a:lnTo>
                <a:lnTo>
                  <a:pt x="485410" y="161343"/>
                </a:lnTo>
                <a:lnTo>
                  <a:pt x="516286" y="161343"/>
                </a:lnTo>
                <a:lnTo>
                  <a:pt x="516286" y="88230"/>
                </a:lnTo>
                <a:lnTo>
                  <a:pt x="519188" y="84952"/>
                </a:lnTo>
                <a:lnTo>
                  <a:pt x="523973" y="80636"/>
                </a:lnTo>
                <a:lnTo>
                  <a:pt x="530486" y="76778"/>
                </a:lnTo>
                <a:lnTo>
                  <a:pt x="538304" y="75120"/>
                </a:lnTo>
                <a:lnTo>
                  <a:pt x="582147" y="75120"/>
                </a:lnTo>
                <a:lnTo>
                  <a:pt x="581628" y="70889"/>
                </a:lnTo>
                <a:lnTo>
                  <a:pt x="578713" y="65035"/>
                </a:lnTo>
                <a:lnTo>
                  <a:pt x="516286" y="65035"/>
                </a:lnTo>
                <a:lnTo>
                  <a:pt x="516286" y="0"/>
                </a:lnTo>
                <a:close/>
              </a:path>
              <a:path w="1030605" h="164465">
                <a:moveTo>
                  <a:pt x="582147" y="75120"/>
                </a:moveTo>
                <a:lnTo>
                  <a:pt x="548680" y="75120"/>
                </a:lnTo>
                <a:lnTo>
                  <a:pt x="552477" y="80416"/>
                </a:lnTo>
                <a:lnTo>
                  <a:pt x="552477" y="161343"/>
                </a:lnTo>
                <a:lnTo>
                  <a:pt x="583352" y="161343"/>
                </a:lnTo>
                <a:lnTo>
                  <a:pt x="583352" y="84952"/>
                </a:lnTo>
                <a:lnTo>
                  <a:pt x="582147" y="75120"/>
                </a:lnTo>
                <a:close/>
              </a:path>
              <a:path w="1030605" h="164465">
                <a:moveTo>
                  <a:pt x="550452" y="49404"/>
                </a:moveTo>
                <a:lnTo>
                  <a:pt x="538316" y="50996"/>
                </a:lnTo>
                <a:lnTo>
                  <a:pt x="528718" y="54951"/>
                </a:lnTo>
                <a:lnTo>
                  <a:pt x="521446" y="60041"/>
                </a:lnTo>
                <a:lnTo>
                  <a:pt x="516286" y="65035"/>
                </a:lnTo>
                <a:lnTo>
                  <a:pt x="578713" y="65035"/>
                </a:lnTo>
                <a:lnTo>
                  <a:pt x="576013" y="59615"/>
                </a:lnTo>
                <a:lnTo>
                  <a:pt x="565842" y="52122"/>
                </a:lnTo>
                <a:lnTo>
                  <a:pt x="550452" y="49404"/>
                </a:lnTo>
                <a:close/>
              </a:path>
              <a:path w="1030605" h="164465">
                <a:moveTo>
                  <a:pt x="639537" y="0"/>
                </a:moveTo>
                <a:lnTo>
                  <a:pt x="608408" y="0"/>
                </a:lnTo>
                <a:lnTo>
                  <a:pt x="608408" y="155293"/>
                </a:lnTo>
                <a:lnTo>
                  <a:pt x="614391" y="157735"/>
                </a:lnTo>
                <a:lnTo>
                  <a:pt x="624004" y="160650"/>
                </a:lnTo>
                <a:lnTo>
                  <a:pt x="637271" y="163093"/>
                </a:lnTo>
                <a:lnTo>
                  <a:pt x="654215" y="164117"/>
                </a:lnTo>
                <a:lnTo>
                  <a:pt x="677483" y="160300"/>
                </a:lnTo>
                <a:lnTo>
                  <a:pt x="696100" y="149085"/>
                </a:lnTo>
                <a:lnTo>
                  <a:pt x="702306" y="139914"/>
                </a:lnTo>
                <a:lnTo>
                  <a:pt x="646117" y="139914"/>
                </a:lnTo>
                <a:lnTo>
                  <a:pt x="641561" y="138403"/>
                </a:lnTo>
                <a:lnTo>
                  <a:pt x="639537" y="137645"/>
                </a:lnTo>
                <a:lnTo>
                  <a:pt x="639537" y="81677"/>
                </a:lnTo>
                <a:lnTo>
                  <a:pt x="641308" y="79406"/>
                </a:lnTo>
                <a:lnTo>
                  <a:pt x="648394" y="73607"/>
                </a:lnTo>
                <a:lnTo>
                  <a:pt x="705420" y="73607"/>
                </a:lnTo>
                <a:lnTo>
                  <a:pt x="699897" y="63459"/>
                </a:lnTo>
                <a:lnTo>
                  <a:pt x="696113" y="60749"/>
                </a:lnTo>
                <a:lnTo>
                  <a:pt x="639537" y="60749"/>
                </a:lnTo>
                <a:lnTo>
                  <a:pt x="639537" y="0"/>
                </a:lnTo>
                <a:close/>
              </a:path>
              <a:path w="1030605" h="164465">
                <a:moveTo>
                  <a:pt x="705420" y="73607"/>
                </a:moveTo>
                <a:lnTo>
                  <a:pt x="657505" y="73607"/>
                </a:lnTo>
                <a:lnTo>
                  <a:pt x="667644" y="75813"/>
                </a:lnTo>
                <a:lnTo>
                  <a:pt x="674652" y="82179"/>
                </a:lnTo>
                <a:lnTo>
                  <a:pt x="678717" y="92327"/>
                </a:lnTo>
                <a:lnTo>
                  <a:pt x="680030" y="105878"/>
                </a:lnTo>
                <a:lnTo>
                  <a:pt x="678238" y="120662"/>
                </a:lnTo>
                <a:lnTo>
                  <a:pt x="673102" y="131310"/>
                </a:lnTo>
                <a:lnTo>
                  <a:pt x="664975" y="137751"/>
                </a:lnTo>
                <a:lnTo>
                  <a:pt x="654215" y="139914"/>
                </a:lnTo>
                <a:lnTo>
                  <a:pt x="702306" y="139914"/>
                </a:lnTo>
                <a:lnTo>
                  <a:pt x="708454" y="130826"/>
                </a:lnTo>
                <a:lnTo>
                  <a:pt x="712930" y="105878"/>
                </a:lnTo>
                <a:lnTo>
                  <a:pt x="709498" y="81100"/>
                </a:lnTo>
                <a:lnTo>
                  <a:pt x="705420" y="73607"/>
                </a:lnTo>
                <a:close/>
              </a:path>
              <a:path w="1030605" h="164465">
                <a:moveTo>
                  <a:pt x="666363" y="49404"/>
                </a:moveTo>
                <a:lnTo>
                  <a:pt x="657758" y="50467"/>
                </a:lnTo>
                <a:lnTo>
                  <a:pt x="650293" y="53186"/>
                </a:lnTo>
                <a:lnTo>
                  <a:pt x="644155" y="56849"/>
                </a:lnTo>
                <a:lnTo>
                  <a:pt x="639537" y="60749"/>
                </a:lnTo>
                <a:lnTo>
                  <a:pt x="696113" y="60749"/>
                </a:lnTo>
                <a:lnTo>
                  <a:pt x="685170" y="52910"/>
                </a:lnTo>
                <a:lnTo>
                  <a:pt x="666363" y="49404"/>
                </a:lnTo>
                <a:close/>
              </a:path>
              <a:path w="1030605" h="164465">
                <a:moveTo>
                  <a:pt x="815064" y="74113"/>
                </a:moveTo>
                <a:lnTo>
                  <a:pt x="782781" y="74113"/>
                </a:lnTo>
                <a:lnTo>
                  <a:pt x="786577" y="79658"/>
                </a:lnTo>
                <a:lnTo>
                  <a:pt x="786577" y="94785"/>
                </a:lnTo>
                <a:lnTo>
                  <a:pt x="782781" y="94785"/>
                </a:lnTo>
                <a:lnTo>
                  <a:pt x="761368" y="96845"/>
                </a:lnTo>
                <a:lnTo>
                  <a:pt x="742636" y="103514"/>
                </a:lnTo>
                <a:lnTo>
                  <a:pt x="729361" y="115525"/>
                </a:lnTo>
                <a:lnTo>
                  <a:pt x="724319" y="133611"/>
                </a:lnTo>
                <a:lnTo>
                  <a:pt x="726866" y="146713"/>
                </a:lnTo>
                <a:lnTo>
                  <a:pt x="733873" y="156364"/>
                </a:lnTo>
                <a:lnTo>
                  <a:pt x="744391" y="162328"/>
                </a:lnTo>
                <a:lnTo>
                  <a:pt x="757473" y="164369"/>
                </a:lnTo>
                <a:lnTo>
                  <a:pt x="768094" y="162939"/>
                </a:lnTo>
                <a:lnTo>
                  <a:pt x="776770" y="159358"/>
                </a:lnTo>
                <a:lnTo>
                  <a:pt x="783453" y="154690"/>
                </a:lnTo>
                <a:lnTo>
                  <a:pt x="788095" y="149998"/>
                </a:lnTo>
                <a:lnTo>
                  <a:pt x="818634" y="149998"/>
                </a:lnTo>
                <a:lnTo>
                  <a:pt x="818402" y="148233"/>
                </a:lnTo>
                <a:lnTo>
                  <a:pt x="817915" y="141931"/>
                </a:lnTo>
                <a:lnTo>
                  <a:pt x="760256" y="141931"/>
                </a:lnTo>
                <a:lnTo>
                  <a:pt x="753929" y="138653"/>
                </a:lnTo>
                <a:lnTo>
                  <a:pt x="753929" y="130837"/>
                </a:lnTo>
                <a:lnTo>
                  <a:pt x="756053" y="122908"/>
                </a:lnTo>
                <a:lnTo>
                  <a:pt x="761996" y="117507"/>
                </a:lnTo>
                <a:lnTo>
                  <a:pt x="771119" y="114422"/>
                </a:lnTo>
                <a:lnTo>
                  <a:pt x="782781" y="113441"/>
                </a:lnTo>
                <a:lnTo>
                  <a:pt x="817453" y="113441"/>
                </a:lnTo>
                <a:lnTo>
                  <a:pt x="817453" y="90499"/>
                </a:lnTo>
                <a:lnTo>
                  <a:pt x="815064" y="74113"/>
                </a:lnTo>
                <a:close/>
              </a:path>
              <a:path w="1030605" h="164465">
                <a:moveTo>
                  <a:pt x="818634" y="149998"/>
                </a:moveTo>
                <a:lnTo>
                  <a:pt x="788095" y="149998"/>
                </a:lnTo>
                <a:lnTo>
                  <a:pt x="788349" y="153276"/>
                </a:lnTo>
                <a:lnTo>
                  <a:pt x="788855" y="158822"/>
                </a:lnTo>
                <a:lnTo>
                  <a:pt x="789867" y="161596"/>
                </a:lnTo>
                <a:lnTo>
                  <a:pt x="820490" y="161596"/>
                </a:lnTo>
                <a:lnTo>
                  <a:pt x="819375" y="155624"/>
                </a:lnTo>
                <a:lnTo>
                  <a:pt x="818634" y="149998"/>
                </a:lnTo>
                <a:close/>
              </a:path>
              <a:path w="1030605" h="164465">
                <a:moveTo>
                  <a:pt x="817453" y="113441"/>
                </a:moveTo>
                <a:lnTo>
                  <a:pt x="786577" y="113441"/>
                </a:lnTo>
                <a:lnTo>
                  <a:pt x="786577" y="132854"/>
                </a:lnTo>
                <a:lnTo>
                  <a:pt x="777466" y="141931"/>
                </a:lnTo>
                <a:lnTo>
                  <a:pt x="817915" y="141931"/>
                </a:lnTo>
                <a:lnTo>
                  <a:pt x="817714" y="139331"/>
                </a:lnTo>
                <a:lnTo>
                  <a:pt x="817572" y="133611"/>
                </a:lnTo>
                <a:lnTo>
                  <a:pt x="817453" y="113441"/>
                </a:lnTo>
                <a:close/>
              </a:path>
              <a:path w="1030605" h="164465">
                <a:moveTo>
                  <a:pt x="772657" y="49656"/>
                </a:moveTo>
                <a:lnTo>
                  <a:pt x="756654" y="51287"/>
                </a:lnTo>
                <a:lnTo>
                  <a:pt x="743901" y="55329"/>
                </a:lnTo>
                <a:lnTo>
                  <a:pt x="734327" y="60505"/>
                </a:lnTo>
                <a:lnTo>
                  <a:pt x="727862" y="65539"/>
                </a:lnTo>
                <a:lnTo>
                  <a:pt x="741275" y="84198"/>
                </a:lnTo>
                <a:lnTo>
                  <a:pt x="745340" y="81452"/>
                </a:lnTo>
                <a:lnTo>
                  <a:pt x="751399" y="78116"/>
                </a:lnTo>
                <a:lnTo>
                  <a:pt x="759355" y="75299"/>
                </a:lnTo>
                <a:lnTo>
                  <a:pt x="769114" y="74113"/>
                </a:lnTo>
                <a:lnTo>
                  <a:pt x="815064" y="74113"/>
                </a:lnTo>
                <a:lnTo>
                  <a:pt x="814724" y="71780"/>
                </a:lnTo>
                <a:lnTo>
                  <a:pt x="806444" y="59111"/>
                </a:lnTo>
                <a:lnTo>
                  <a:pt x="792469" y="51925"/>
                </a:lnTo>
                <a:lnTo>
                  <a:pt x="772657" y="49656"/>
                </a:lnTo>
                <a:close/>
              </a:path>
              <a:path w="1030605" h="164465">
                <a:moveTo>
                  <a:pt x="844280" y="132350"/>
                </a:moveTo>
                <a:lnTo>
                  <a:pt x="833903" y="153780"/>
                </a:lnTo>
                <a:lnTo>
                  <a:pt x="840139" y="157310"/>
                </a:lnTo>
                <a:lnTo>
                  <a:pt x="848677" y="160650"/>
                </a:lnTo>
                <a:lnTo>
                  <a:pt x="859634" y="163140"/>
                </a:lnTo>
                <a:lnTo>
                  <a:pt x="873131" y="164117"/>
                </a:lnTo>
                <a:lnTo>
                  <a:pt x="891404" y="161860"/>
                </a:lnTo>
                <a:lnTo>
                  <a:pt x="905241" y="155135"/>
                </a:lnTo>
                <a:lnTo>
                  <a:pt x="914094" y="144014"/>
                </a:lnTo>
                <a:lnTo>
                  <a:pt x="914652" y="141426"/>
                </a:lnTo>
                <a:lnTo>
                  <a:pt x="871359" y="141426"/>
                </a:lnTo>
                <a:lnTo>
                  <a:pt x="862608" y="140434"/>
                </a:lnTo>
                <a:lnTo>
                  <a:pt x="854877" y="138023"/>
                </a:lnTo>
                <a:lnTo>
                  <a:pt x="848618" y="135045"/>
                </a:lnTo>
                <a:lnTo>
                  <a:pt x="844280" y="132350"/>
                </a:lnTo>
                <a:close/>
              </a:path>
              <a:path w="1030605" h="164465">
                <a:moveTo>
                  <a:pt x="878446" y="49404"/>
                </a:moveTo>
                <a:lnTo>
                  <a:pt x="861390" y="51776"/>
                </a:lnTo>
                <a:lnTo>
                  <a:pt x="848297" y="58544"/>
                </a:lnTo>
                <a:lnTo>
                  <a:pt x="839902" y="69188"/>
                </a:lnTo>
                <a:lnTo>
                  <a:pt x="836940" y="83187"/>
                </a:lnTo>
                <a:lnTo>
                  <a:pt x="838561" y="94221"/>
                </a:lnTo>
                <a:lnTo>
                  <a:pt x="871992" y="120256"/>
                </a:lnTo>
                <a:lnTo>
                  <a:pt x="880913" y="123967"/>
                </a:lnTo>
                <a:lnTo>
                  <a:pt x="886892" y="127584"/>
                </a:lnTo>
                <a:lnTo>
                  <a:pt x="889075" y="132100"/>
                </a:lnTo>
                <a:lnTo>
                  <a:pt x="889075" y="138149"/>
                </a:lnTo>
                <a:lnTo>
                  <a:pt x="882748" y="141426"/>
                </a:lnTo>
                <a:lnTo>
                  <a:pt x="914652" y="141426"/>
                </a:lnTo>
                <a:lnTo>
                  <a:pt x="917420" y="128568"/>
                </a:lnTo>
                <a:lnTo>
                  <a:pt x="915214" y="116703"/>
                </a:lnTo>
                <a:lnTo>
                  <a:pt x="909068" y="107769"/>
                </a:lnTo>
                <a:lnTo>
                  <a:pt x="899696" y="100914"/>
                </a:lnTo>
                <a:lnTo>
                  <a:pt x="887810" y="95289"/>
                </a:lnTo>
                <a:lnTo>
                  <a:pt x="878912" y="91988"/>
                </a:lnTo>
                <a:lnTo>
                  <a:pt x="871676" y="89112"/>
                </a:lnTo>
                <a:lnTo>
                  <a:pt x="866812" y="85859"/>
                </a:lnTo>
                <a:lnTo>
                  <a:pt x="865032" y="81425"/>
                </a:lnTo>
                <a:lnTo>
                  <a:pt x="865032" y="75624"/>
                </a:lnTo>
                <a:lnTo>
                  <a:pt x="869588" y="72094"/>
                </a:lnTo>
                <a:lnTo>
                  <a:pt x="906705" y="72094"/>
                </a:lnTo>
                <a:lnTo>
                  <a:pt x="913877" y="57976"/>
                </a:lnTo>
                <a:lnTo>
                  <a:pt x="908839" y="55467"/>
                </a:lnTo>
                <a:lnTo>
                  <a:pt x="901286" y="52651"/>
                </a:lnTo>
                <a:lnTo>
                  <a:pt x="891171" y="50353"/>
                </a:lnTo>
                <a:lnTo>
                  <a:pt x="878446" y="49404"/>
                </a:lnTo>
                <a:close/>
              </a:path>
              <a:path w="1030605" h="164465">
                <a:moveTo>
                  <a:pt x="906705" y="72094"/>
                </a:moveTo>
                <a:lnTo>
                  <a:pt x="890340" y="72094"/>
                </a:lnTo>
                <a:lnTo>
                  <a:pt x="898945" y="76382"/>
                </a:lnTo>
                <a:lnTo>
                  <a:pt x="903248" y="78901"/>
                </a:lnTo>
                <a:lnTo>
                  <a:pt x="906705" y="72094"/>
                </a:lnTo>
                <a:close/>
              </a:path>
              <a:path w="1030605" h="164465">
                <a:moveTo>
                  <a:pt x="982715" y="49404"/>
                </a:moveTo>
                <a:lnTo>
                  <a:pt x="961255" y="53375"/>
                </a:lnTo>
                <a:lnTo>
                  <a:pt x="943899" y="64721"/>
                </a:lnTo>
                <a:lnTo>
                  <a:pt x="932285" y="82590"/>
                </a:lnTo>
                <a:lnTo>
                  <a:pt x="928050" y="106130"/>
                </a:lnTo>
                <a:lnTo>
                  <a:pt x="931909" y="129975"/>
                </a:lnTo>
                <a:lnTo>
                  <a:pt x="943171" y="148265"/>
                </a:lnTo>
                <a:lnTo>
                  <a:pt x="961361" y="159984"/>
                </a:lnTo>
                <a:lnTo>
                  <a:pt x="986005" y="164117"/>
                </a:lnTo>
                <a:lnTo>
                  <a:pt x="1001028" y="163030"/>
                </a:lnTo>
                <a:lnTo>
                  <a:pt x="1012421" y="160335"/>
                </a:lnTo>
                <a:lnTo>
                  <a:pt x="1020919" y="156884"/>
                </a:lnTo>
                <a:lnTo>
                  <a:pt x="1027258" y="153528"/>
                </a:lnTo>
                <a:lnTo>
                  <a:pt x="1021184" y="141426"/>
                </a:lnTo>
                <a:lnTo>
                  <a:pt x="988789" y="141426"/>
                </a:lnTo>
                <a:lnTo>
                  <a:pt x="977183" y="139476"/>
                </a:lnTo>
                <a:lnTo>
                  <a:pt x="968827" y="133957"/>
                </a:lnTo>
                <a:lnTo>
                  <a:pt x="963556" y="125366"/>
                </a:lnTo>
                <a:lnTo>
                  <a:pt x="961203" y="114198"/>
                </a:lnTo>
                <a:lnTo>
                  <a:pt x="1030294" y="114198"/>
                </a:lnTo>
                <a:lnTo>
                  <a:pt x="1029571" y="93524"/>
                </a:lnTo>
                <a:lnTo>
                  <a:pt x="960950" y="93524"/>
                </a:lnTo>
                <a:lnTo>
                  <a:pt x="963418" y="84141"/>
                </a:lnTo>
                <a:lnTo>
                  <a:pt x="967783" y="77264"/>
                </a:lnTo>
                <a:lnTo>
                  <a:pt x="974047" y="73034"/>
                </a:lnTo>
                <a:lnTo>
                  <a:pt x="982209" y="71592"/>
                </a:lnTo>
                <a:lnTo>
                  <a:pt x="1023040" y="71592"/>
                </a:lnTo>
                <a:lnTo>
                  <a:pt x="1020930" y="66485"/>
                </a:lnTo>
                <a:lnTo>
                  <a:pt x="1005311" y="53784"/>
                </a:lnTo>
                <a:lnTo>
                  <a:pt x="982715" y="49404"/>
                </a:lnTo>
                <a:close/>
              </a:path>
              <a:path w="1030605" h="164465">
                <a:moveTo>
                  <a:pt x="1017387" y="133863"/>
                </a:moveTo>
                <a:lnTo>
                  <a:pt x="1012670" y="136215"/>
                </a:lnTo>
                <a:lnTo>
                  <a:pt x="1006600" y="138685"/>
                </a:lnTo>
                <a:lnTo>
                  <a:pt x="998774" y="140634"/>
                </a:lnTo>
                <a:lnTo>
                  <a:pt x="988789" y="141426"/>
                </a:lnTo>
                <a:lnTo>
                  <a:pt x="1021184" y="141426"/>
                </a:lnTo>
                <a:lnTo>
                  <a:pt x="1017387" y="133863"/>
                </a:lnTo>
                <a:close/>
              </a:path>
              <a:path w="1030605" h="164465">
                <a:moveTo>
                  <a:pt x="1023040" y="71592"/>
                </a:moveTo>
                <a:lnTo>
                  <a:pt x="982209" y="71592"/>
                </a:lnTo>
                <a:lnTo>
                  <a:pt x="990573" y="73318"/>
                </a:lnTo>
                <a:lnTo>
                  <a:pt x="996160" y="78021"/>
                </a:lnTo>
                <a:lnTo>
                  <a:pt x="999328" y="84993"/>
                </a:lnTo>
                <a:lnTo>
                  <a:pt x="1000431" y="93524"/>
                </a:lnTo>
                <a:lnTo>
                  <a:pt x="1029571" y="93524"/>
                </a:lnTo>
                <a:lnTo>
                  <a:pt x="1029338" y="86843"/>
                </a:lnTo>
                <a:lnTo>
                  <a:pt x="1023040" y="71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1915" y="797574"/>
            <a:ext cx="335280" cy="334010"/>
          </a:xfrm>
          <a:custGeom>
            <a:avLst/>
            <a:gdLst/>
            <a:ahLst/>
            <a:cxnLst/>
            <a:rect l="l" t="t" r="r" b="b"/>
            <a:pathLst>
              <a:path w="335280" h="334009">
                <a:moveTo>
                  <a:pt x="167539" y="0"/>
                </a:moveTo>
                <a:lnTo>
                  <a:pt x="123054" y="5955"/>
                </a:lnTo>
                <a:lnTo>
                  <a:pt x="83047" y="22764"/>
                </a:lnTo>
                <a:lnTo>
                  <a:pt x="49129" y="48846"/>
                </a:lnTo>
                <a:lnTo>
                  <a:pt x="22908" y="82616"/>
                </a:lnTo>
                <a:lnTo>
                  <a:pt x="5995" y="122492"/>
                </a:lnTo>
                <a:lnTo>
                  <a:pt x="0" y="166890"/>
                </a:lnTo>
                <a:lnTo>
                  <a:pt x="5977" y="211205"/>
                </a:lnTo>
                <a:lnTo>
                  <a:pt x="22852" y="251060"/>
                </a:lnTo>
                <a:lnTo>
                  <a:pt x="49034" y="284850"/>
                </a:lnTo>
                <a:lnTo>
                  <a:pt x="82935" y="310971"/>
                </a:lnTo>
                <a:lnTo>
                  <a:pt x="122966" y="327819"/>
                </a:lnTo>
                <a:lnTo>
                  <a:pt x="167539" y="333792"/>
                </a:lnTo>
                <a:lnTo>
                  <a:pt x="212064" y="327819"/>
                </a:lnTo>
                <a:lnTo>
                  <a:pt x="252028" y="311027"/>
                </a:lnTo>
                <a:lnTo>
                  <a:pt x="285946" y="284944"/>
                </a:lnTo>
                <a:lnTo>
                  <a:pt x="312166" y="251172"/>
                </a:lnTo>
                <a:lnTo>
                  <a:pt x="324281" y="222608"/>
                </a:lnTo>
                <a:lnTo>
                  <a:pt x="167539" y="222608"/>
                </a:lnTo>
                <a:lnTo>
                  <a:pt x="140701" y="222237"/>
                </a:lnTo>
                <a:lnTo>
                  <a:pt x="90061" y="219417"/>
                </a:lnTo>
                <a:lnTo>
                  <a:pt x="55499" y="203376"/>
                </a:lnTo>
                <a:lnTo>
                  <a:pt x="54412" y="196136"/>
                </a:lnTo>
                <a:lnTo>
                  <a:pt x="54412" y="131090"/>
                </a:lnTo>
                <a:lnTo>
                  <a:pt x="93366" y="108331"/>
                </a:lnTo>
                <a:lnTo>
                  <a:pt x="101738" y="108157"/>
                </a:lnTo>
                <a:lnTo>
                  <a:pt x="323000" y="108157"/>
                </a:lnTo>
                <a:lnTo>
                  <a:pt x="312166" y="82616"/>
                </a:lnTo>
                <a:lnTo>
                  <a:pt x="285946" y="48846"/>
                </a:lnTo>
                <a:lnTo>
                  <a:pt x="252028" y="22764"/>
                </a:lnTo>
                <a:lnTo>
                  <a:pt x="212022" y="5955"/>
                </a:lnTo>
                <a:lnTo>
                  <a:pt x="167539" y="0"/>
                </a:lnTo>
                <a:close/>
              </a:path>
              <a:path w="335280" h="334009">
                <a:moveTo>
                  <a:pt x="323000" y="108157"/>
                </a:moveTo>
                <a:lnTo>
                  <a:pt x="233842" y="108157"/>
                </a:lnTo>
                <a:lnTo>
                  <a:pt x="242214" y="108331"/>
                </a:lnTo>
                <a:lnTo>
                  <a:pt x="250704" y="108788"/>
                </a:lnTo>
                <a:lnTo>
                  <a:pt x="281168" y="131090"/>
                </a:lnTo>
                <a:lnTo>
                  <a:pt x="280876" y="147245"/>
                </a:lnTo>
                <a:lnTo>
                  <a:pt x="280755" y="160337"/>
                </a:lnTo>
                <a:lnTo>
                  <a:pt x="279575" y="203376"/>
                </a:lnTo>
                <a:lnTo>
                  <a:pt x="245014" y="219417"/>
                </a:lnTo>
                <a:lnTo>
                  <a:pt x="194377" y="222237"/>
                </a:lnTo>
                <a:lnTo>
                  <a:pt x="167539" y="222608"/>
                </a:lnTo>
                <a:lnTo>
                  <a:pt x="324281" y="222608"/>
                </a:lnTo>
                <a:lnTo>
                  <a:pt x="329079" y="211293"/>
                </a:lnTo>
                <a:lnTo>
                  <a:pt x="335075" y="166890"/>
                </a:lnTo>
                <a:lnTo>
                  <a:pt x="329079" y="122492"/>
                </a:lnTo>
                <a:lnTo>
                  <a:pt x="323000" y="108157"/>
                </a:lnTo>
                <a:close/>
              </a:path>
              <a:path w="335280" h="334009">
                <a:moveTo>
                  <a:pt x="229793" y="108157"/>
                </a:moveTo>
                <a:lnTo>
                  <a:pt x="105787" y="108157"/>
                </a:lnTo>
                <a:lnTo>
                  <a:pt x="109077" y="111183"/>
                </a:lnTo>
                <a:lnTo>
                  <a:pt x="109077" y="161598"/>
                </a:lnTo>
                <a:lnTo>
                  <a:pt x="167792" y="160337"/>
                </a:lnTo>
                <a:lnTo>
                  <a:pt x="226503" y="160337"/>
                </a:lnTo>
                <a:lnTo>
                  <a:pt x="226503" y="111183"/>
                </a:lnTo>
                <a:lnTo>
                  <a:pt x="229793" y="108157"/>
                </a:lnTo>
                <a:close/>
              </a:path>
              <a:path w="335280" h="334009">
                <a:moveTo>
                  <a:pt x="226503" y="160337"/>
                </a:moveTo>
                <a:lnTo>
                  <a:pt x="167792" y="160337"/>
                </a:lnTo>
                <a:lnTo>
                  <a:pt x="226503" y="161598"/>
                </a:lnTo>
                <a:lnTo>
                  <a:pt x="226503" y="160337"/>
                </a:lnTo>
                <a:close/>
              </a:path>
            </a:pathLst>
          </a:custGeom>
          <a:solidFill>
            <a:srgbClr val="D6171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" y="2353055"/>
            <a:ext cx="1463039" cy="38252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0450" y="3568240"/>
            <a:ext cx="303758" cy="301751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583590" y="3470135"/>
            <a:ext cx="580390" cy="394970"/>
          </a:xfrm>
          <a:custGeom>
            <a:avLst/>
            <a:gdLst/>
            <a:ahLst/>
            <a:cxnLst/>
            <a:rect l="l" t="t" r="r" b="b"/>
            <a:pathLst>
              <a:path w="580390" h="394970">
                <a:moveTo>
                  <a:pt x="148145" y="112712"/>
                </a:moveTo>
                <a:lnTo>
                  <a:pt x="140893" y="109651"/>
                </a:lnTo>
                <a:lnTo>
                  <a:pt x="133794" y="107480"/>
                </a:lnTo>
                <a:lnTo>
                  <a:pt x="126847" y="106159"/>
                </a:lnTo>
                <a:lnTo>
                  <a:pt x="120053" y="105727"/>
                </a:lnTo>
                <a:lnTo>
                  <a:pt x="110680" y="106400"/>
                </a:lnTo>
                <a:lnTo>
                  <a:pt x="70573" y="129463"/>
                </a:lnTo>
                <a:lnTo>
                  <a:pt x="59397" y="147383"/>
                </a:lnTo>
                <a:lnTo>
                  <a:pt x="59397" y="112915"/>
                </a:lnTo>
                <a:lnTo>
                  <a:pt x="0" y="112915"/>
                </a:lnTo>
                <a:lnTo>
                  <a:pt x="0" y="386969"/>
                </a:lnTo>
                <a:lnTo>
                  <a:pt x="68757" y="386969"/>
                </a:lnTo>
                <a:lnTo>
                  <a:pt x="68757" y="275945"/>
                </a:lnTo>
                <a:lnTo>
                  <a:pt x="68554" y="262623"/>
                </a:lnTo>
                <a:lnTo>
                  <a:pt x="69227" y="236258"/>
                </a:lnTo>
                <a:lnTo>
                  <a:pt x="74650" y="197650"/>
                </a:lnTo>
                <a:lnTo>
                  <a:pt x="98945" y="167005"/>
                </a:lnTo>
                <a:lnTo>
                  <a:pt x="106654" y="165773"/>
                </a:lnTo>
                <a:lnTo>
                  <a:pt x="111747" y="165773"/>
                </a:lnTo>
                <a:lnTo>
                  <a:pt x="118567" y="167894"/>
                </a:lnTo>
                <a:lnTo>
                  <a:pt x="126657" y="171919"/>
                </a:lnTo>
                <a:lnTo>
                  <a:pt x="148145" y="112712"/>
                </a:lnTo>
                <a:close/>
              </a:path>
              <a:path w="580390" h="394970">
                <a:moveTo>
                  <a:pt x="243725" y="112915"/>
                </a:moveTo>
                <a:lnTo>
                  <a:pt x="174129" y="112915"/>
                </a:lnTo>
                <a:lnTo>
                  <a:pt x="174129" y="387388"/>
                </a:lnTo>
                <a:lnTo>
                  <a:pt x="243725" y="387388"/>
                </a:lnTo>
                <a:lnTo>
                  <a:pt x="243725" y="112915"/>
                </a:lnTo>
                <a:close/>
              </a:path>
              <a:path w="580390" h="394970">
                <a:moveTo>
                  <a:pt x="253517" y="44831"/>
                </a:moveTo>
                <a:lnTo>
                  <a:pt x="233464" y="7404"/>
                </a:lnTo>
                <a:lnTo>
                  <a:pt x="209029" y="0"/>
                </a:lnTo>
                <a:lnTo>
                  <a:pt x="200139" y="787"/>
                </a:lnTo>
                <a:lnTo>
                  <a:pt x="168198" y="26962"/>
                </a:lnTo>
                <a:lnTo>
                  <a:pt x="164973" y="43776"/>
                </a:lnTo>
                <a:lnTo>
                  <a:pt x="165773" y="52933"/>
                </a:lnTo>
                <a:lnTo>
                  <a:pt x="192455" y="85928"/>
                </a:lnTo>
                <a:lnTo>
                  <a:pt x="209664" y="89230"/>
                </a:lnTo>
                <a:lnTo>
                  <a:pt x="218300" y="88430"/>
                </a:lnTo>
                <a:lnTo>
                  <a:pt x="250304" y="61925"/>
                </a:lnTo>
                <a:lnTo>
                  <a:pt x="253517" y="44831"/>
                </a:lnTo>
                <a:close/>
              </a:path>
              <a:path w="580390" h="394970">
                <a:moveTo>
                  <a:pt x="579843" y="112915"/>
                </a:moveTo>
                <a:lnTo>
                  <a:pt x="513854" y="112915"/>
                </a:lnTo>
                <a:lnTo>
                  <a:pt x="513854" y="249732"/>
                </a:lnTo>
                <a:lnTo>
                  <a:pt x="512533" y="267093"/>
                </a:lnTo>
                <a:lnTo>
                  <a:pt x="492366" y="308940"/>
                </a:lnTo>
                <a:lnTo>
                  <a:pt x="453809" y="329958"/>
                </a:lnTo>
                <a:lnTo>
                  <a:pt x="438086" y="331355"/>
                </a:lnTo>
                <a:lnTo>
                  <a:pt x="422757" y="329895"/>
                </a:lnTo>
                <a:lnTo>
                  <a:pt x="384429" y="308305"/>
                </a:lnTo>
                <a:lnTo>
                  <a:pt x="364299" y="266700"/>
                </a:lnTo>
                <a:lnTo>
                  <a:pt x="362940" y="249732"/>
                </a:lnTo>
                <a:lnTo>
                  <a:pt x="364261" y="232918"/>
                </a:lnTo>
                <a:lnTo>
                  <a:pt x="384225" y="191998"/>
                </a:lnTo>
                <a:lnTo>
                  <a:pt x="422427" y="170802"/>
                </a:lnTo>
                <a:lnTo>
                  <a:pt x="437870" y="169379"/>
                </a:lnTo>
                <a:lnTo>
                  <a:pt x="453720" y="170764"/>
                </a:lnTo>
                <a:lnTo>
                  <a:pt x="492366" y="191782"/>
                </a:lnTo>
                <a:lnTo>
                  <a:pt x="512508" y="232676"/>
                </a:lnTo>
                <a:lnTo>
                  <a:pt x="513854" y="249732"/>
                </a:lnTo>
                <a:lnTo>
                  <a:pt x="513854" y="112915"/>
                </a:lnTo>
                <a:lnTo>
                  <a:pt x="510870" y="112915"/>
                </a:lnTo>
                <a:lnTo>
                  <a:pt x="510870" y="143154"/>
                </a:lnTo>
                <a:lnTo>
                  <a:pt x="501383" y="134480"/>
                </a:lnTo>
                <a:lnTo>
                  <a:pt x="459384" y="111201"/>
                </a:lnTo>
                <a:lnTo>
                  <a:pt x="423824" y="105943"/>
                </a:lnTo>
                <a:lnTo>
                  <a:pt x="397713" y="108483"/>
                </a:lnTo>
                <a:lnTo>
                  <a:pt x="351739" y="128778"/>
                </a:lnTo>
                <a:lnTo>
                  <a:pt x="315264" y="168300"/>
                </a:lnTo>
                <a:lnTo>
                  <a:pt x="296329" y="220459"/>
                </a:lnTo>
                <a:lnTo>
                  <a:pt x="293966" y="250786"/>
                </a:lnTo>
                <a:lnTo>
                  <a:pt x="296443" y="280162"/>
                </a:lnTo>
                <a:lnTo>
                  <a:pt x="316064" y="331457"/>
                </a:lnTo>
                <a:lnTo>
                  <a:pt x="353529" y="371259"/>
                </a:lnTo>
                <a:lnTo>
                  <a:pt x="399834" y="391795"/>
                </a:lnTo>
                <a:lnTo>
                  <a:pt x="425729" y="394360"/>
                </a:lnTo>
                <a:lnTo>
                  <a:pt x="437476" y="393852"/>
                </a:lnTo>
                <a:lnTo>
                  <a:pt x="480225" y="381165"/>
                </a:lnTo>
                <a:lnTo>
                  <a:pt x="510870" y="358419"/>
                </a:lnTo>
                <a:lnTo>
                  <a:pt x="510870" y="387388"/>
                </a:lnTo>
                <a:lnTo>
                  <a:pt x="579843" y="387388"/>
                </a:lnTo>
                <a:lnTo>
                  <a:pt x="579843" y="358419"/>
                </a:lnTo>
                <a:lnTo>
                  <a:pt x="579843" y="331355"/>
                </a:lnTo>
                <a:lnTo>
                  <a:pt x="579843" y="169379"/>
                </a:lnTo>
                <a:lnTo>
                  <a:pt x="579843" y="143154"/>
                </a:lnTo>
                <a:lnTo>
                  <a:pt x="579843" y="112915"/>
                </a:lnTo>
                <a:close/>
              </a:path>
            </a:pathLst>
          </a:custGeom>
          <a:solidFill>
            <a:srgbClr val="6163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34967" y="3477107"/>
            <a:ext cx="273050" cy="381000"/>
          </a:xfrm>
          <a:custGeom>
            <a:avLst/>
            <a:gdLst/>
            <a:ahLst/>
            <a:cxnLst/>
            <a:rect l="l" t="t" r="r" b="b"/>
            <a:pathLst>
              <a:path w="273050" h="381000">
                <a:moveTo>
                  <a:pt x="69396" y="0"/>
                </a:moveTo>
                <a:lnTo>
                  <a:pt x="0" y="0"/>
                </a:lnTo>
                <a:lnTo>
                  <a:pt x="0" y="380408"/>
                </a:lnTo>
                <a:lnTo>
                  <a:pt x="69396" y="380408"/>
                </a:lnTo>
                <a:lnTo>
                  <a:pt x="69396" y="253957"/>
                </a:lnTo>
                <a:lnTo>
                  <a:pt x="186694" y="380408"/>
                </a:lnTo>
                <a:lnTo>
                  <a:pt x="272685" y="380408"/>
                </a:lnTo>
                <a:lnTo>
                  <a:pt x="139431" y="237674"/>
                </a:lnTo>
                <a:lnTo>
                  <a:pt x="258220" y="105942"/>
                </a:lnTo>
                <a:lnTo>
                  <a:pt x="171360" y="105942"/>
                </a:lnTo>
                <a:lnTo>
                  <a:pt x="69396" y="219278"/>
                </a:lnTo>
                <a:lnTo>
                  <a:pt x="69396" y="0"/>
                </a:lnTo>
                <a:close/>
              </a:path>
            </a:pathLst>
          </a:custGeom>
          <a:solidFill>
            <a:srgbClr val="61636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229896" y="1891050"/>
            <a:ext cx="1461135" cy="252729"/>
            <a:chOff x="229896" y="1891050"/>
            <a:chExt cx="1461135" cy="252729"/>
          </a:xfrm>
        </p:grpSpPr>
        <p:sp>
          <p:nvSpPr>
            <p:cNvPr id="31" name="object 31"/>
            <p:cNvSpPr/>
            <p:nvPr/>
          </p:nvSpPr>
          <p:spPr>
            <a:xfrm>
              <a:off x="229896" y="1891050"/>
              <a:ext cx="1461135" cy="252729"/>
            </a:xfrm>
            <a:custGeom>
              <a:avLst/>
              <a:gdLst/>
              <a:ahLst/>
              <a:cxnLst/>
              <a:rect l="l" t="t" r="r" b="b"/>
              <a:pathLst>
                <a:path w="1461135" h="252730">
                  <a:moveTo>
                    <a:pt x="1461030" y="0"/>
                  </a:moveTo>
                  <a:lnTo>
                    <a:pt x="0" y="0"/>
                  </a:lnTo>
                  <a:lnTo>
                    <a:pt x="0" y="252267"/>
                  </a:lnTo>
                  <a:lnTo>
                    <a:pt x="1461030" y="252267"/>
                  </a:lnTo>
                  <a:lnTo>
                    <a:pt x="1461030" y="0"/>
                  </a:lnTo>
                  <a:close/>
                </a:path>
              </a:pathLst>
            </a:custGeom>
            <a:solidFill>
              <a:srgbClr val="C437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0225" y="1965407"/>
              <a:ext cx="122142" cy="10911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4766" y="1966693"/>
              <a:ext cx="79169" cy="10729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260" y="1964862"/>
              <a:ext cx="110703" cy="11095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5801" y="1966693"/>
              <a:ext cx="89746" cy="10728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6255" y="1965164"/>
              <a:ext cx="81254" cy="11036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89649" y="1966693"/>
              <a:ext cx="81254" cy="10728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231460" y="1966692"/>
              <a:ext cx="12700" cy="107314"/>
            </a:xfrm>
            <a:custGeom>
              <a:avLst/>
              <a:gdLst/>
              <a:ahLst/>
              <a:cxnLst/>
              <a:rect l="l" t="t" r="r" b="b"/>
              <a:pathLst>
                <a:path w="12700" h="107314">
                  <a:moveTo>
                    <a:pt x="12268" y="0"/>
                  </a:moveTo>
                  <a:lnTo>
                    <a:pt x="0" y="0"/>
                  </a:lnTo>
                  <a:lnTo>
                    <a:pt x="0" y="107290"/>
                  </a:lnTo>
                  <a:lnTo>
                    <a:pt x="12268" y="107290"/>
                  </a:lnTo>
                  <a:lnTo>
                    <a:pt x="12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12684" y="1966693"/>
              <a:ext cx="92410" cy="10729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461350" y="1966950"/>
              <a:ext cx="136525" cy="107950"/>
            </a:xfrm>
            <a:custGeom>
              <a:avLst/>
              <a:gdLst/>
              <a:ahLst/>
              <a:cxnLst/>
              <a:rect l="l" t="t" r="r" b="b"/>
              <a:pathLst>
                <a:path w="136525" h="107950">
                  <a:moveTo>
                    <a:pt x="136029" y="46863"/>
                  </a:moveTo>
                  <a:lnTo>
                    <a:pt x="12217" y="46863"/>
                  </a:lnTo>
                  <a:lnTo>
                    <a:pt x="12217" y="11391"/>
                  </a:lnTo>
                  <a:lnTo>
                    <a:pt x="78409" y="11391"/>
                  </a:lnTo>
                  <a:lnTo>
                    <a:pt x="78409" y="0"/>
                  </a:lnTo>
                  <a:lnTo>
                    <a:pt x="0" y="0"/>
                  </a:lnTo>
                  <a:lnTo>
                    <a:pt x="0" y="11391"/>
                  </a:lnTo>
                  <a:lnTo>
                    <a:pt x="0" y="46863"/>
                  </a:lnTo>
                  <a:lnTo>
                    <a:pt x="0" y="58254"/>
                  </a:lnTo>
                  <a:lnTo>
                    <a:pt x="0" y="96253"/>
                  </a:lnTo>
                  <a:lnTo>
                    <a:pt x="0" y="107657"/>
                  </a:lnTo>
                  <a:lnTo>
                    <a:pt x="79184" y="107657"/>
                  </a:lnTo>
                  <a:lnTo>
                    <a:pt x="79184" y="96253"/>
                  </a:lnTo>
                  <a:lnTo>
                    <a:pt x="12217" y="96253"/>
                  </a:lnTo>
                  <a:lnTo>
                    <a:pt x="12217" y="58254"/>
                  </a:lnTo>
                  <a:lnTo>
                    <a:pt x="136029" y="58254"/>
                  </a:lnTo>
                  <a:lnTo>
                    <a:pt x="136029" y="46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/>
          <p:nvPr/>
        </p:nvSpPr>
        <p:spPr>
          <a:xfrm>
            <a:off x="234305" y="4086612"/>
            <a:ext cx="1289685" cy="186055"/>
          </a:xfrm>
          <a:custGeom>
            <a:avLst/>
            <a:gdLst/>
            <a:ahLst/>
            <a:cxnLst/>
            <a:rect l="l" t="t" r="r" b="b"/>
            <a:pathLst>
              <a:path w="1289685" h="186054">
                <a:moveTo>
                  <a:pt x="27378" y="134211"/>
                </a:moveTo>
                <a:lnTo>
                  <a:pt x="0" y="163863"/>
                </a:lnTo>
                <a:lnTo>
                  <a:pt x="13412" y="173860"/>
                </a:lnTo>
                <a:lnTo>
                  <a:pt x="28184" y="180639"/>
                </a:lnTo>
                <a:lnTo>
                  <a:pt x="44163" y="184492"/>
                </a:lnTo>
                <a:lnTo>
                  <a:pt x="61199" y="185711"/>
                </a:lnTo>
                <a:lnTo>
                  <a:pt x="88112" y="182163"/>
                </a:lnTo>
                <a:lnTo>
                  <a:pt x="110419" y="171373"/>
                </a:lnTo>
                <a:lnTo>
                  <a:pt x="125629" y="153121"/>
                </a:lnTo>
                <a:lnTo>
                  <a:pt x="126177" y="150597"/>
                </a:lnTo>
                <a:lnTo>
                  <a:pt x="62810" y="150597"/>
                </a:lnTo>
                <a:lnTo>
                  <a:pt x="52744" y="149463"/>
                </a:lnTo>
                <a:lnTo>
                  <a:pt x="43282" y="146208"/>
                </a:lnTo>
                <a:lnTo>
                  <a:pt x="34726" y="141050"/>
                </a:lnTo>
                <a:lnTo>
                  <a:pt x="27378" y="134211"/>
                </a:lnTo>
                <a:close/>
              </a:path>
              <a:path w="1289685" h="186054">
                <a:moveTo>
                  <a:pt x="75693" y="0"/>
                </a:moveTo>
                <a:lnTo>
                  <a:pt x="49459" y="3644"/>
                </a:lnTo>
                <a:lnTo>
                  <a:pt x="27076" y="14531"/>
                </a:lnTo>
                <a:lnTo>
                  <a:pt x="11487" y="32586"/>
                </a:lnTo>
                <a:lnTo>
                  <a:pt x="5636" y="57738"/>
                </a:lnTo>
                <a:lnTo>
                  <a:pt x="18973" y="89733"/>
                </a:lnTo>
                <a:lnTo>
                  <a:pt x="48314" y="104754"/>
                </a:lnTo>
                <a:lnTo>
                  <a:pt x="77655" y="114800"/>
                </a:lnTo>
                <a:lnTo>
                  <a:pt x="90992" y="131870"/>
                </a:lnTo>
                <a:lnTo>
                  <a:pt x="88513" y="140063"/>
                </a:lnTo>
                <a:lnTo>
                  <a:pt x="82033" y="145915"/>
                </a:lnTo>
                <a:lnTo>
                  <a:pt x="72987" y="149426"/>
                </a:lnTo>
                <a:lnTo>
                  <a:pt x="62810" y="150597"/>
                </a:lnTo>
                <a:lnTo>
                  <a:pt x="126177" y="150597"/>
                </a:lnTo>
                <a:lnTo>
                  <a:pt x="131253" y="127188"/>
                </a:lnTo>
                <a:lnTo>
                  <a:pt x="118168" y="94329"/>
                </a:lnTo>
                <a:lnTo>
                  <a:pt x="89382" y="79686"/>
                </a:lnTo>
                <a:lnTo>
                  <a:pt x="60595" y="70456"/>
                </a:lnTo>
                <a:lnTo>
                  <a:pt x="47510" y="53839"/>
                </a:lnTo>
                <a:lnTo>
                  <a:pt x="50202" y="45437"/>
                </a:lnTo>
                <a:lnTo>
                  <a:pt x="56971" y="39890"/>
                </a:lnTo>
                <a:lnTo>
                  <a:pt x="65854" y="36831"/>
                </a:lnTo>
                <a:lnTo>
                  <a:pt x="74889" y="35892"/>
                </a:lnTo>
                <a:lnTo>
                  <a:pt x="114974" y="35892"/>
                </a:lnTo>
                <a:lnTo>
                  <a:pt x="131253" y="18724"/>
                </a:lnTo>
                <a:lnTo>
                  <a:pt x="118949" y="10204"/>
                </a:lnTo>
                <a:lnTo>
                  <a:pt x="105286" y="4389"/>
                </a:lnTo>
                <a:lnTo>
                  <a:pt x="90716" y="1060"/>
                </a:lnTo>
                <a:lnTo>
                  <a:pt x="75693" y="0"/>
                </a:lnTo>
                <a:close/>
              </a:path>
              <a:path w="1289685" h="186054">
                <a:moveTo>
                  <a:pt x="114974" y="35892"/>
                </a:moveTo>
                <a:lnTo>
                  <a:pt x="74889" y="35892"/>
                </a:lnTo>
                <a:lnTo>
                  <a:pt x="82588" y="36624"/>
                </a:lnTo>
                <a:lnTo>
                  <a:pt x="90590" y="38818"/>
                </a:lnTo>
                <a:lnTo>
                  <a:pt x="97987" y="42475"/>
                </a:lnTo>
                <a:lnTo>
                  <a:pt x="103875" y="47597"/>
                </a:lnTo>
                <a:lnTo>
                  <a:pt x="114974" y="35892"/>
                </a:lnTo>
                <a:close/>
              </a:path>
              <a:path w="1289685" h="186054">
                <a:moveTo>
                  <a:pt x="317271" y="0"/>
                </a:moveTo>
                <a:lnTo>
                  <a:pt x="277800" y="6498"/>
                </a:lnTo>
                <a:lnTo>
                  <a:pt x="246709" y="25066"/>
                </a:lnTo>
                <a:lnTo>
                  <a:pt x="226337" y="54314"/>
                </a:lnTo>
                <a:lnTo>
                  <a:pt x="219026" y="92852"/>
                </a:lnTo>
                <a:lnTo>
                  <a:pt x="226337" y="131393"/>
                </a:lnTo>
                <a:lnTo>
                  <a:pt x="246709" y="160643"/>
                </a:lnTo>
                <a:lnTo>
                  <a:pt x="277800" y="179212"/>
                </a:lnTo>
                <a:lnTo>
                  <a:pt x="317271" y="185711"/>
                </a:lnTo>
                <a:lnTo>
                  <a:pt x="335968" y="183919"/>
                </a:lnTo>
                <a:lnTo>
                  <a:pt x="353911" y="178395"/>
                </a:lnTo>
                <a:lnTo>
                  <a:pt x="370042" y="168922"/>
                </a:lnTo>
                <a:lnTo>
                  <a:pt x="383304" y="155279"/>
                </a:lnTo>
                <a:lnTo>
                  <a:pt x="375668" y="149817"/>
                </a:lnTo>
                <a:lnTo>
                  <a:pt x="311634" y="149817"/>
                </a:lnTo>
                <a:lnTo>
                  <a:pt x="291350" y="145525"/>
                </a:lnTo>
                <a:lnTo>
                  <a:pt x="274993" y="133624"/>
                </a:lnTo>
                <a:lnTo>
                  <a:pt x="264073" y="115579"/>
                </a:lnTo>
                <a:lnTo>
                  <a:pt x="260097" y="92852"/>
                </a:lnTo>
                <a:lnTo>
                  <a:pt x="264098" y="70127"/>
                </a:lnTo>
                <a:lnTo>
                  <a:pt x="275195" y="52083"/>
                </a:lnTo>
                <a:lnTo>
                  <a:pt x="292031" y="40184"/>
                </a:lnTo>
                <a:lnTo>
                  <a:pt x="313247" y="35892"/>
                </a:lnTo>
                <a:lnTo>
                  <a:pt x="366036" y="35892"/>
                </a:lnTo>
                <a:lnTo>
                  <a:pt x="378470" y="25745"/>
                </a:lnTo>
                <a:lnTo>
                  <a:pt x="365284" y="13822"/>
                </a:lnTo>
                <a:lnTo>
                  <a:pt x="349683" y="5850"/>
                </a:lnTo>
                <a:lnTo>
                  <a:pt x="333176" y="1389"/>
                </a:lnTo>
                <a:lnTo>
                  <a:pt x="317271" y="0"/>
                </a:lnTo>
                <a:close/>
              </a:path>
              <a:path w="1289685" h="186054">
                <a:moveTo>
                  <a:pt x="349484" y="131089"/>
                </a:moveTo>
                <a:lnTo>
                  <a:pt x="342436" y="138953"/>
                </a:lnTo>
                <a:lnTo>
                  <a:pt x="333577" y="144842"/>
                </a:lnTo>
                <a:lnTo>
                  <a:pt x="323209" y="148537"/>
                </a:lnTo>
                <a:lnTo>
                  <a:pt x="311634" y="149817"/>
                </a:lnTo>
                <a:lnTo>
                  <a:pt x="375668" y="149817"/>
                </a:lnTo>
                <a:lnTo>
                  <a:pt x="349484" y="131089"/>
                </a:lnTo>
                <a:close/>
              </a:path>
              <a:path w="1289685" h="186054">
                <a:moveTo>
                  <a:pt x="366036" y="35892"/>
                </a:moveTo>
                <a:lnTo>
                  <a:pt x="313247" y="35892"/>
                </a:lnTo>
                <a:lnTo>
                  <a:pt x="323979" y="36892"/>
                </a:lnTo>
                <a:lnTo>
                  <a:pt x="333276" y="39794"/>
                </a:lnTo>
                <a:lnTo>
                  <a:pt x="341214" y="44452"/>
                </a:lnTo>
                <a:lnTo>
                  <a:pt x="347870" y="50718"/>
                </a:lnTo>
                <a:lnTo>
                  <a:pt x="366036" y="35892"/>
                </a:lnTo>
                <a:close/>
              </a:path>
              <a:path w="1289685" h="186054">
                <a:moveTo>
                  <a:pt x="498456" y="4678"/>
                </a:moveTo>
                <a:lnTo>
                  <a:pt x="448526" y="4678"/>
                </a:lnTo>
                <a:lnTo>
                  <a:pt x="516976" y="106121"/>
                </a:lnTo>
                <a:lnTo>
                  <a:pt x="516976" y="181810"/>
                </a:lnTo>
                <a:lnTo>
                  <a:pt x="557237" y="181810"/>
                </a:lnTo>
                <a:lnTo>
                  <a:pt x="557237" y="106121"/>
                </a:lnTo>
                <a:lnTo>
                  <a:pt x="580930" y="71006"/>
                </a:lnTo>
                <a:lnTo>
                  <a:pt x="537103" y="71006"/>
                </a:lnTo>
                <a:lnTo>
                  <a:pt x="498456" y="4678"/>
                </a:lnTo>
                <a:close/>
              </a:path>
              <a:path w="1289685" h="186054">
                <a:moveTo>
                  <a:pt x="625686" y="4678"/>
                </a:moveTo>
                <a:lnTo>
                  <a:pt x="578174" y="4678"/>
                </a:lnTo>
                <a:lnTo>
                  <a:pt x="537103" y="71006"/>
                </a:lnTo>
                <a:lnTo>
                  <a:pt x="580930" y="71006"/>
                </a:lnTo>
                <a:lnTo>
                  <a:pt x="625686" y="4678"/>
                </a:lnTo>
                <a:close/>
              </a:path>
              <a:path w="1289685" h="186054">
                <a:moveTo>
                  <a:pt x="747286" y="4678"/>
                </a:moveTo>
                <a:lnTo>
                  <a:pt x="707045" y="4678"/>
                </a:lnTo>
                <a:lnTo>
                  <a:pt x="707045" y="181029"/>
                </a:lnTo>
                <a:lnTo>
                  <a:pt x="821339" y="181029"/>
                </a:lnTo>
                <a:lnTo>
                  <a:pt x="821339" y="145135"/>
                </a:lnTo>
                <a:lnTo>
                  <a:pt x="747286" y="145135"/>
                </a:lnTo>
                <a:lnTo>
                  <a:pt x="747286" y="4678"/>
                </a:lnTo>
                <a:close/>
              </a:path>
              <a:path w="1289685" h="186054">
                <a:moveTo>
                  <a:pt x="952641" y="4678"/>
                </a:moveTo>
                <a:lnTo>
                  <a:pt x="912333" y="4678"/>
                </a:lnTo>
                <a:lnTo>
                  <a:pt x="912333" y="181029"/>
                </a:lnTo>
                <a:lnTo>
                  <a:pt x="1026695" y="181029"/>
                </a:lnTo>
                <a:lnTo>
                  <a:pt x="1026695" y="145135"/>
                </a:lnTo>
                <a:lnTo>
                  <a:pt x="952641" y="145135"/>
                </a:lnTo>
                <a:lnTo>
                  <a:pt x="952641" y="4678"/>
                </a:lnTo>
                <a:close/>
              </a:path>
              <a:path w="1289685" h="186054">
                <a:moveTo>
                  <a:pt x="1209486" y="3899"/>
                </a:moveTo>
                <a:lnTo>
                  <a:pt x="1176476" y="3899"/>
                </a:lnTo>
                <a:lnTo>
                  <a:pt x="1097535" y="181029"/>
                </a:lnTo>
                <a:lnTo>
                  <a:pt x="1141860" y="181029"/>
                </a:lnTo>
                <a:lnTo>
                  <a:pt x="1157126" y="143574"/>
                </a:lnTo>
                <a:lnTo>
                  <a:pt x="1170049" y="110799"/>
                </a:lnTo>
                <a:lnTo>
                  <a:pt x="1192613" y="56181"/>
                </a:lnTo>
                <a:lnTo>
                  <a:pt x="1233024" y="56181"/>
                </a:lnTo>
                <a:lnTo>
                  <a:pt x="1209486" y="3899"/>
                </a:lnTo>
                <a:close/>
              </a:path>
              <a:path w="1289685" h="186054">
                <a:moveTo>
                  <a:pt x="1233024" y="56181"/>
                </a:moveTo>
                <a:lnTo>
                  <a:pt x="1192613" y="56181"/>
                </a:lnTo>
                <a:lnTo>
                  <a:pt x="1215110" y="110799"/>
                </a:lnTo>
                <a:lnTo>
                  <a:pt x="1228836" y="143574"/>
                </a:lnTo>
                <a:lnTo>
                  <a:pt x="1244906" y="181029"/>
                </a:lnTo>
                <a:lnTo>
                  <a:pt x="1289231" y="181029"/>
                </a:lnTo>
                <a:lnTo>
                  <a:pt x="1233024" y="56181"/>
                </a:lnTo>
                <a:close/>
              </a:path>
            </a:pathLst>
          </a:custGeom>
          <a:solidFill>
            <a:srgbClr val="3729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21311" y="4212580"/>
            <a:ext cx="67724" cy="6564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59562" y="1350483"/>
            <a:ext cx="1401377" cy="323041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4435602" y="4706248"/>
            <a:ext cx="3683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b="1" spc="-325" dirty="0">
                <a:solidFill>
                  <a:srgbClr val="636363"/>
                </a:solidFill>
                <a:latin typeface="Inconsolata"/>
                <a:cs typeface="Inconsolata"/>
              </a:rPr>
              <a:t>0.5</a:t>
            </a:r>
            <a:endParaRPr sz="2400">
              <a:latin typeface="Inconsolata"/>
              <a:cs typeface="Inconsolat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0EAD-D43E-9927-831B-F6CDC2A4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8801"/>
            <a:ext cx="5638165" cy="430887"/>
          </a:xfrm>
        </p:spPr>
        <p:txBody>
          <a:bodyPr/>
          <a:lstStyle/>
          <a:p>
            <a:r>
              <a:rPr lang="en-US" dirty="0"/>
              <a:t>Distributed ID generator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B1A06-957F-0399-83E8-A97C15E0C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25" y="666750"/>
            <a:ext cx="7997275" cy="3139321"/>
          </a:xfrm>
        </p:spPr>
        <p:txBody>
          <a:bodyPr/>
          <a:lstStyle/>
          <a:p>
            <a:r>
              <a:rPr lang="en-US" sz="2400" dirty="0"/>
              <a:t>Functional Requirements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Each ID generated by the system must be unique across the entire distributed environment.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IDs should consist solely of numerical values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Each ID should fit into a 64-bit integer, which can store values up to approximately 9.22 × 10^18.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IDs should reflect the order of creation based on time, meaning newer IDs are larger than older ones.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system must generate a large number of unique IDs efficiently, specifically at least 10,000 IDs per second.</a:t>
            </a:r>
          </a:p>
        </p:txBody>
      </p:sp>
    </p:spTree>
    <p:extLst>
      <p:ext uri="{BB962C8B-B14F-4D97-AF65-F5344CB8AC3E}">
        <p14:creationId xmlns:p14="http://schemas.microsoft.com/office/powerpoint/2010/main" val="18716564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3C55A-FA46-1A61-4277-7D276F838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CBD7-2CE9-E215-D492-69A9F2E34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8801"/>
            <a:ext cx="5638165" cy="430887"/>
          </a:xfrm>
        </p:spPr>
        <p:txBody>
          <a:bodyPr/>
          <a:lstStyle/>
          <a:p>
            <a:r>
              <a:rPr lang="en-US" dirty="0"/>
              <a:t>Distributed ID generator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A92E6-DC40-0967-4AB4-9173D66D8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25" y="666750"/>
            <a:ext cx="7997275" cy="3416320"/>
          </a:xfrm>
        </p:spPr>
        <p:txBody>
          <a:bodyPr/>
          <a:lstStyle/>
          <a:p>
            <a:r>
              <a:rPr lang="en-US" sz="2400" dirty="0"/>
              <a:t>Nonfunctional Requirements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ID generation system should scale effectively as the number of servers or data centers increases.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ID generation should be fast, with minimal delay to avoid becoming a bottleneck in the system.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system should be reliable, with minimal risk of failure, even in the case of hardware or network issues.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system should not rely on a central authority or server to generate IDs, reducing the risk of a single point of failure.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design should be straightforward to implement and maintain, with clear procedures for handling system upgrades or scaling.</a:t>
            </a:r>
          </a:p>
        </p:txBody>
      </p:sp>
    </p:spTree>
    <p:extLst>
      <p:ext uri="{BB962C8B-B14F-4D97-AF65-F5344CB8AC3E}">
        <p14:creationId xmlns:p14="http://schemas.microsoft.com/office/powerpoint/2010/main" val="23693117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514350"/>
            <a:ext cx="8252524" cy="447011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E5D77-EF51-32C0-52E7-3CCE541A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11F44-923B-87B7-4E35-568873724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8801"/>
            <a:ext cx="5638165" cy="430887"/>
          </a:xfrm>
        </p:spPr>
        <p:txBody>
          <a:bodyPr/>
          <a:lstStyle/>
          <a:p>
            <a:r>
              <a:rPr lang="en-US" dirty="0"/>
              <a:t>Distributed ID generator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E3D30-DF72-F723-EED5-576BEB132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25" y="666750"/>
            <a:ext cx="7997275" cy="2123658"/>
          </a:xfrm>
        </p:spPr>
        <p:txBody>
          <a:bodyPr/>
          <a:lstStyle/>
          <a:p>
            <a:r>
              <a:rPr lang="en-US" sz="2400" dirty="0"/>
              <a:t>Solution:</a:t>
            </a:r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Ticket Server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Multi-master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UUID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ULID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Twitter snowflake</a:t>
            </a:r>
          </a:p>
        </p:txBody>
      </p:sp>
    </p:spTree>
    <p:extLst>
      <p:ext uri="{BB962C8B-B14F-4D97-AF65-F5344CB8AC3E}">
        <p14:creationId xmlns:p14="http://schemas.microsoft.com/office/powerpoint/2010/main" val="15973842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D1AD6-792D-2EF6-B859-EF39A38AE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20" y="837958"/>
            <a:ext cx="8668960" cy="346758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49C4799-CCB1-A897-82EF-F6C22FA1FE9B}"/>
              </a:ext>
            </a:extLst>
          </p:cNvPr>
          <p:cNvSpPr txBox="1">
            <a:spLocks/>
          </p:cNvSpPr>
          <p:nvPr/>
        </p:nvSpPr>
        <p:spPr>
          <a:xfrm>
            <a:off x="384725" y="58801"/>
            <a:ext cx="5638165" cy="43088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Distributed ID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171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0A1BC5-6DD0-9B48-4989-7961BE403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1" y="380694"/>
            <a:ext cx="8907118" cy="438211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B0DDBB4-C3B8-0664-40AE-BFEC8D4F7B88}"/>
              </a:ext>
            </a:extLst>
          </p:cNvPr>
          <p:cNvSpPr txBox="1">
            <a:spLocks/>
          </p:cNvSpPr>
          <p:nvPr/>
        </p:nvSpPr>
        <p:spPr>
          <a:xfrm>
            <a:off x="384725" y="58801"/>
            <a:ext cx="5638165" cy="43088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Distributed ID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472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6491B7-511B-3916-C59B-B997A26B3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88" y="1428590"/>
            <a:ext cx="8764223" cy="228631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4F38C35-1D2C-197C-4C14-03E800AF5A00}"/>
              </a:ext>
            </a:extLst>
          </p:cNvPr>
          <p:cNvSpPr txBox="1">
            <a:spLocks/>
          </p:cNvSpPr>
          <p:nvPr/>
        </p:nvSpPr>
        <p:spPr>
          <a:xfrm>
            <a:off x="384725" y="58801"/>
            <a:ext cx="5638165" cy="43088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Distributed ID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261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7C040-E375-AF9B-F118-19DCB6AD2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127" y="933221"/>
            <a:ext cx="6239746" cy="327705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95C578-CC1F-DDD9-4529-F8A1F2D1A623}"/>
              </a:ext>
            </a:extLst>
          </p:cNvPr>
          <p:cNvSpPr txBox="1">
            <a:spLocks/>
          </p:cNvSpPr>
          <p:nvPr/>
        </p:nvSpPr>
        <p:spPr>
          <a:xfrm>
            <a:off x="384725" y="58801"/>
            <a:ext cx="5638165" cy="43088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Distributed ID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9083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AE571-3911-A108-76F8-F998C834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2479-E3DC-8698-74E3-359DC644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8801"/>
            <a:ext cx="5638165" cy="430887"/>
          </a:xfrm>
        </p:spPr>
        <p:txBody>
          <a:bodyPr/>
          <a:lstStyle/>
          <a:p>
            <a:r>
              <a:rPr lang="en-US" sz="2800" dirty="0"/>
              <a:t>Snowflake 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77C51-1595-0B33-DDA1-9ED7AED23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943" y="570656"/>
            <a:ext cx="7997275" cy="304698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vi-VN" dirty="0"/>
              <a:t>Sign Bit (1 bit): luôn là 0</a:t>
            </a:r>
          </a:p>
          <a:p>
            <a:pPr marL="342900" indent="-342900">
              <a:buFont typeface="+mj-lt"/>
              <a:buAutoNum type="arabicPeriod"/>
            </a:pPr>
            <a:r>
              <a:rPr lang="vi-VN" dirty="0"/>
              <a:t>Timestamp (41 bits): số milisecond kể từ Twitter epoch (mốc 2010-11-04).</a:t>
            </a:r>
          </a:p>
          <a:p>
            <a:pPr marL="342900" indent="-342900">
              <a:buFont typeface="+mj-lt"/>
              <a:buAutoNum type="arabicPeriod"/>
            </a:pPr>
            <a:r>
              <a:rPr lang="vi-VN" dirty="0"/>
              <a:t>Datacenter ID (5 bits): mã định danh cho datacenter. Giá trị được khởi tạo khi bắt đầu chạy trình Snowflake generator.</a:t>
            </a:r>
          </a:p>
          <a:p>
            <a:pPr marL="342900" indent="-342900">
              <a:buFont typeface="+mj-lt"/>
              <a:buAutoNum type="arabicPeriod"/>
            </a:pPr>
            <a:r>
              <a:rPr lang="vi-VN" dirty="0"/>
              <a:t>Machine ID (5 bits): mã định danh cho máy trong datacenter. Giá trị được khởi tạo khi bắt đầu chạy trình Snowflake generator.</a:t>
            </a:r>
          </a:p>
          <a:p>
            <a:pPr marL="342900" indent="-342900">
              <a:buFont typeface="+mj-lt"/>
              <a:buAutoNum type="arabicPeriod"/>
            </a:pPr>
            <a:r>
              <a:rPr lang="vi-VN" dirty="0"/>
              <a:t>Sequence Number (12 bits): Số đếm tăng dần cho các ID được sinh trong một mili giây. Số đếm này sẽ reset về 0 khi sang milisecond khác. Dùng để đảm bảo tính duy nhất trong một mili giây. Như vậy, 1 máy có sinh 2 ^ 12 (=4096) IDs trong vòng 1 mili giây.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17879-6524-87A2-ACA8-7DB16F8A8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7644"/>
            <a:ext cx="9050013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3619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440FCA-6CDF-3D34-740C-865EB34D4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114"/>
            <a:ext cx="9144000" cy="452927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4378DF5-AB59-7A9B-76EB-A21D267842C5}"/>
              </a:ext>
            </a:extLst>
          </p:cNvPr>
          <p:cNvSpPr txBox="1">
            <a:spLocks/>
          </p:cNvSpPr>
          <p:nvPr/>
        </p:nvSpPr>
        <p:spPr>
          <a:xfrm>
            <a:off x="384725" y="58801"/>
            <a:ext cx="5638165" cy="43088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Distributed ID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08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2476</Words>
  <Application>Microsoft Office PowerPoint</Application>
  <PresentationFormat>On-screen Show (16:9)</PresentationFormat>
  <Paragraphs>757</Paragraphs>
  <Slides>49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1" baseType="lpstr">
      <vt:lpstr>Arial</vt:lpstr>
      <vt:lpstr>Arial MT</vt:lpstr>
      <vt:lpstr>Calibri</vt:lpstr>
      <vt:lpstr>Georgia</vt:lpstr>
      <vt:lpstr>Inconsolata</vt:lpstr>
      <vt:lpstr>Lato</vt:lpstr>
      <vt:lpstr>Lato Black</vt:lpstr>
      <vt:lpstr>Times New Roman</vt:lpstr>
      <vt:lpstr>Trebuchet MS</vt:lpstr>
      <vt:lpstr>Verdana</vt:lpstr>
      <vt:lpstr>Wingdings</vt:lpstr>
      <vt:lpstr>Office Theme</vt:lpstr>
      <vt:lpstr>Distributed Databases</vt:lpstr>
      <vt:lpstr>Learning objectives</vt:lpstr>
      <vt:lpstr>Distributed Database (DDB)</vt:lpstr>
      <vt:lpstr>Why do we need Distributed Databases?</vt:lpstr>
      <vt:lpstr>Data Access 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Distributed Databases</vt:lpstr>
      <vt:lpstr>Distributed Database Management</vt:lpstr>
      <vt:lpstr>Challenges</vt:lpstr>
      <vt:lpstr>Distributed Strategies</vt:lpstr>
      <vt:lpstr>Homogeneous Distributed DB</vt:lpstr>
      <vt:lpstr>Heterogeneous Distributed DB</vt:lpstr>
      <vt:lpstr>Heterogeneous DATABASE EXAMPLE</vt:lpstr>
      <vt:lpstr>Distributed DB Setup Method</vt:lpstr>
      <vt:lpstr>Replication</vt:lpstr>
      <vt:lpstr>Fragmentation (or Partition)</vt:lpstr>
      <vt:lpstr>Horizontal Fragmentation</vt:lpstr>
      <vt:lpstr>Example: Horizontal Fragmentation</vt:lpstr>
      <vt:lpstr>Horizontal Fragmentation</vt:lpstr>
      <vt:lpstr>Vertical Fragmentation</vt:lpstr>
      <vt:lpstr>Example: Vertical Fragmentation</vt:lpstr>
      <vt:lpstr>Vertical Fragmentation</vt:lpstr>
      <vt:lpstr>Hybrid Setup</vt:lpstr>
      <vt:lpstr>BASE Consistency Model</vt:lpstr>
      <vt:lpstr>Wrap-Up</vt:lpstr>
      <vt:lpstr>CONSISTENT HASHING</vt:lpstr>
      <vt:lpstr>CONSISTENT HASHING</vt:lpstr>
      <vt:lpstr>CONSISTENT HASHING</vt:lpstr>
      <vt:lpstr>CONSISTENT HASHING</vt:lpstr>
      <vt:lpstr>CONSISTENT HASHING</vt:lpstr>
      <vt:lpstr>CONSISTENT HASHING</vt:lpstr>
      <vt:lpstr>CONSISTENT HASHING</vt:lpstr>
      <vt:lpstr>CONSISTENT HASHING</vt:lpstr>
      <vt:lpstr>CONSISTENT HASHING</vt:lpstr>
      <vt:lpstr>CONSISTENT HASHING</vt:lpstr>
      <vt:lpstr>Distributed ID generator</vt:lpstr>
      <vt:lpstr>Distributed ID generator</vt:lpstr>
      <vt:lpstr>PowerPoint Presentation</vt:lpstr>
      <vt:lpstr>Distributed ID generator</vt:lpstr>
      <vt:lpstr>PowerPoint Presentation</vt:lpstr>
      <vt:lpstr>PowerPoint Presentation</vt:lpstr>
      <vt:lpstr>PowerPoint Presentation</vt:lpstr>
      <vt:lpstr>PowerPoint Presentation</vt:lpstr>
      <vt:lpstr>Snowflake ID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Trang Nguyen Thuy</cp:lastModifiedBy>
  <cp:revision>11</cp:revision>
  <dcterms:created xsi:type="dcterms:W3CDTF">2024-11-10T16:01:56Z</dcterms:created>
  <dcterms:modified xsi:type="dcterms:W3CDTF">2025-03-01T01:58:17Z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