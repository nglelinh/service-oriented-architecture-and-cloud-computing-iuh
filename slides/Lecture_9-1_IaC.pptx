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658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027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1616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027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027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63D1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3825"/>
            <a:ext cx="3011804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027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946351"/>
            <a:ext cx="8138159" cy="3302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1616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027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99814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3999" y="0"/>
                </a:lnTo>
              </a:path>
            </a:pathLst>
          </a:custGeom>
          <a:ln w="19049">
            <a:solidFill>
              <a:srgbClr val="63D1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3474" y="1532366"/>
            <a:ext cx="59372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45" dirty="0">
                <a:solidFill>
                  <a:srgbClr val="FFFFFF"/>
                </a:solidFill>
              </a:rPr>
              <a:t>Infrastructure</a:t>
            </a:r>
            <a:r>
              <a:rPr sz="4800" spc="-210" dirty="0">
                <a:solidFill>
                  <a:srgbClr val="FFFFFF"/>
                </a:solidFill>
              </a:rPr>
              <a:t> </a:t>
            </a:r>
            <a:r>
              <a:rPr sz="4800" spc="145" dirty="0">
                <a:solidFill>
                  <a:srgbClr val="FFFFFF"/>
                </a:solidFill>
              </a:rPr>
              <a:t>as</a:t>
            </a:r>
            <a:r>
              <a:rPr sz="4800" spc="-210" dirty="0">
                <a:solidFill>
                  <a:srgbClr val="FFFFFF"/>
                </a:solidFill>
              </a:rPr>
              <a:t> </a:t>
            </a:r>
            <a:r>
              <a:rPr sz="4800" spc="175" dirty="0">
                <a:solidFill>
                  <a:srgbClr val="FFFFFF"/>
                </a:solidFill>
              </a:rPr>
              <a:t>Code</a:t>
            </a:r>
            <a:endParaRPr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Problem</a:t>
            </a:r>
            <a:r>
              <a:rPr spc="-160" dirty="0"/>
              <a:t> </a:t>
            </a:r>
            <a:r>
              <a:rPr spc="-60" dirty="0"/>
              <a:t>Statement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16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pc="-90" dirty="0"/>
              <a:t>Distribute</a:t>
            </a:r>
            <a:r>
              <a:rPr spc="-105" dirty="0"/>
              <a:t>d</a:t>
            </a:r>
            <a:r>
              <a:rPr spc="-190" dirty="0"/>
              <a:t> </a:t>
            </a:r>
            <a:r>
              <a:rPr spc="-85" dirty="0"/>
              <a:t>applications…</a:t>
            </a:r>
          </a:p>
          <a:p>
            <a:pPr marL="836294" lvl="1" indent="-367030">
              <a:lnSpc>
                <a:spcPct val="100000"/>
              </a:lnSpc>
              <a:spcBef>
                <a:spcPts val="106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Are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sensitiv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ho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w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5" dirty="0">
                <a:solidFill>
                  <a:srgbClr val="616161"/>
                </a:solidFill>
                <a:latin typeface="Verdana"/>
                <a:cs typeface="Verdana"/>
              </a:rPr>
              <a:t>the</a:t>
            </a:r>
            <a:r>
              <a:rPr sz="1800" spc="-140" dirty="0">
                <a:solidFill>
                  <a:srgbClr val="616161"/>
                </a:solidFill>
                <a:latin typeface="Verdana"/>
                <a:cs typeface="Verdana"/>
              </a:rPr>
              <a:t>y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ar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configured</a:t>
            </a:r>
            <a:endParaRPr sz="1800">
              <a:latin typeface="Verdana"/>
              <a:cs typeface="Verdana"/>
            </a:endParaRPr>
          </a:p>
          <a:p>
            <a:pPr marL="1293495" lvl="2" indent="-367030">
              <a:lnSpc>
                <a:spcPct val="100000"/>
              </a:lnSpc>
              <a:spcBef>
                <a:spcPts val="1065"/>
              </a:spcBef>
              <a:buFont typeface="Arial MT"/>
              <a:buChar char="■"/>
              <a:tabLst>
                <a:tab pos="1293495" algn="l"/>
                <a:tab pos="1294130" algn="l"/>
              </a:tabLst>
            </a:pPr>
            <a:r>
              <a:rPr sz="1800" spc="-150" dirty="0">
                <a:solidFill>
                  <a:srgbClr val="616161"/>
                </a:solidFill>
                <a:latin typeface="Verdana"/>
                <a:cs typeface="Verdana"/>
              </a:rPr>
              <a:t>i.e.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Needs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Verdana"/>
                <a:cs typeface="Verdana"/>
              </a:rPr>
              <a:t>of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database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server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616161"/>
                </a:solidFill>
                <a:latin typeface="Verdana"/>
                <a:cs typeface="Verdana"/>
              </a:rPr>
              <a:t>will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be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different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than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an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web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server</a:t>
            </a:r>
            <a:endParaRPr sz="1800">
              <a:latin typeface="Verdana"/>
              <a:cs typeface="Verdana"/>
            </a:endParaRPr>
          </a:p>
          <a:p>
            <a:pPr marL="836294" lvl="1" indent="-367030">
              <a:lnSpc>
                <a:spcPct val="100000"/>
              </a:lnSpc>
              <a:spcBef>
                <a:spcPts val="106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Are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updated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continuously</a:t>
            </a:r>
            <a:endParaRPr sz="1800">
              <a:latin typeface="Verdana"/>
              <a:cs typeface="Verdana"/>
            </a:endParaRPr>
          </a:p>
          <a:p>
            <a:pPr marL="1293495" lvl="2" indent="-367030">
              <a:lnSpc>
                <a:spcPct val="100000"/>
              </a:lnSpc>
              <a:spcBef>
                <a:spcPts val="1065"/>
              </a:spcBef>
              <a:buFont typeface="Arial MT"/>
              <a:buChar char="■"/>
              <a:tabLst>
                <a:tab pos="1293495" algn="l"/>
                <a:tab pos="1294130" algn="l"/>
              </a:tabLst>
            </a:pPr>
            <a:r>
              <a:rPr sz="1800" spc="-65" dirty="0">
                <a:solidFill>
                  <a:srgbClr val="616161"/>
                </a:solidFill>
                <a:latin typeface="Verdana"/>
                <a:cs typeface="Verdana"/>
              </a:rPr>
              <a:t>New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code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and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patches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are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deployed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daily,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Verdana"/>
                <a:cs typeface="Verdana"/>
              </a:rPr>
              <a:t>if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not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hourly</a:t>
            </a:r>
            <a:endParaRPr sz="1800">
              <a:latin typeface="Verdana"/>
              <a:cs typeface="Verdana"/>
            </a:endParaRPr>
          </a:p>
          <a:p>
            <a:pPr marL="366395" marR="3461385" lvl="1" indent="-366395" algn="r">
              <a:lnSpc>
                <a:spcPct val="100000"/>
              </a:lnSpc>
              <a:spcBef>
                <a:spcPts val="1065"/>
              </a:spcBef>
              <a:buFont typeface="Arial MT"/>
              <a:buChar char="○"/>
              <a:tabLst>
                <a:tab pos="366395" algn="l"/>
                <a:tab pos="836930" algn="l"/>
              </a:tabLst>
            </a:pPr>
            <a:r>
              <a:rPr sz="1800" spc="-20" dirty="0">
                <a:solidFill>
                  <a:srgbClr val="616161"/>
                </a:solidFill>
                <a:latin typeface="Verdana"/>
                <a:cs typeface="Verdana"/>
              </a:rPr>
              <a:t>Wil</a:t>
            </a:r>
            <a:r>
              <a:rPr sz="1800" spc="-10" dirty="0">
                <a:solidFill>
                  <a:srgbClr val="616161"/>
                </a:solidFill>
                <a:latin typeface="Verdana"/>
                <a:cs typeface="Verdana"/>
              </a:rPr>
              <a:t>l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b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operate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b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y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team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1800" spc="-30" dirty="0">
                <a:solidFill>
                  <a:srgbClr val="616161"/>
                </a:solidFill>
                <a:latin typeface="Verdana"/>
                <a:cs typeface="Verdana"/>
              </a:rPr>
              <a:t>f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50" dirty="0">
                <a:solidFill>
                  <a:srgbClr val="616161"/>
                </a:solidFill>
                <a:latin typeface="Verdana"/>
                <a:cs typeface="Verdana"/>
              </a:rPr>
              <a:t>humans</a:t>
            </a:r>
            <a:endParaRPr sz="1800">
              <a:latin typeface="Verdana"/>
              <a:cs typeface="Verdana"/>
            </a:endParaRPr>
          </a:p>
          <a:p>
            <a:pPr marL="366395" marR="3495040" lvl="2" indent="-366395" algn="r">
              <a:lnSpc>
                <a:spcPct val="100000"/>
              </a:lnSpc>
              <a:spcBef>
                <a:spcPts val="1065"/>
              </a:spcBef>
              <a:buFont typeface="Arial MT"/>
              <a:buChar char="■"/>
              <a:tabLst>
                <a:tab pos="366395" algn="l"/>
                <a:tab pos="367030" algn="l"/>
              </a:tabLst>
            </a:pPr>
            <a:r>
              <a:rPr sz="1800" spc="-160" dirty="0">
                <a:solidFill>
                  <a:srgbClr val="616161"/>
                </a:solidFill>
                <a:latin typeface="Verdana"/>
                <a:cs typeface="Verdana"/>
              </a:rPr>
              <a:t>i.e</a:t>
            </a:r>
            <a:r>
              <a:rPr sz="1800" spc="-135" dirty="0">
                <a:solidFill>
                  <a:srgbClr val="616161"/>
                </a:solidFill>
                <a:latin typeface="Verdana"/>
                <a:cs typeface="Verdana"/>
              </a:rPr>
              <a:t>.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Verdana"/>
                <a:cs typeface="Verdana"/>
              </a:rPr>
              <a:t>Possibilit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y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1800" spc="-30" dirty="0">
                <a:solidFill>
                  <a:srgbClr val="616161"/>
                </a:solidFill>
                <a:latin typeface="Verdana"/>
                <a:cs typeface="Verdana"/>
              </a:rPr>
              <a:t>f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“operato</a:t>
            </a:r>
            <a:r>
              <a:rPr sz="1800" spc="-70" dirty="0">
                <a:solidFill>
                  <a:srgbClr val="616161"/>
                </a:solidFill>
                <a:latin typeface="Verdana"/>
                <a:cs typeface="Verdana"/>
              </a:rPr>
              <a:t>r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error”</a:t>
            </a:r>
            <a:endParaRPr sz="1800">
              <a:latin typeface="Verdana"/>
              <a:cs typeface="Verdana"/>
            </a:endParaRPr>
          </a:p>
          <a:p>
            <a:pPr marL="836294" lvl="1" indent="-367030">
              <a:lnSpc>
                <a:spcPct val="100000"/>
              </a:lnSpc>
              <a:spcBef>
                <a:spcPts val="106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Ru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n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1800" spc="-70" dirty="0">
                <a:solidFill>
                  <a:srgbClr val="616161"/>
                </a:solidFill>
                <a:latin typeface="Verdana"/>
                <a:cs typeface="Verdana"/>
              </a:rPr>
              <a:t>n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tens/hundreds/thousand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1800" spc="-30" dirty="0">
                <a:solidFill>
                  <a:srgbClr val="616161"/>
                </a:solidFill>
                <a:latin typeface="Verdana"/>
                <a:cs typeface="Verdana"/>
              </a:rPr>
              <a:t>f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nodes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8922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How</a:t>
            </a:r>
            <a:r>
              <a:rPr spc="-135" dirty="0"/>
              <a:t> </a:t>
            </a:r>
            <a:r>
              <a:rPr spc="70" dirty="0"/>
              <a:t>do</a:t>
            </a:r>
            <a:r>
              <a:rPr spc="-130" dirty="0"/>
              <a:t> </a:t>
            </a:r>
            <a:r>
              <a:rPr spc="10" dirty="0"/>
              <a:t>we</a:t>
            </a:r>
            <a:r>
              <a:rPr spc="-130" dirty="0"/>
              <a:t> </a:t>
            </a:r>
            <a:r>
              <a:rPr spc="5" dirty="0"/>
              <a:t>deploy</a:t>
            </a:r>
            <a:r>
              <a:rPr spc="-130" dirty="0"/>
              <a:t> </a:t>
            </a:r>
            <a:r>
              <a:rPr spc="-20" dirty="0"/>
              <a:t>our</a:t>
            </a:r>
            <a:r>
              <a:rPr spc="-130" dirty="0"/>
              <a:t> </a:t>
            </a:r>
            <a:r>
              <a:rPr spc="35" dirty="0"/>
              <a:t>Cloud</a:t>
            </a:r>
            <a:r>
              <a:rPr spc="-135" dirty="0"/>
              <a:t> </a:t>
            </a:r>
            <a:r>
              <a:rPr spc="-65" dirty="0"/>
              <a:t>infrastructure?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81606"/>
            <a:ext cx="3717290" cy="1128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75" dirty="0">
                <a:solidFill>
                  <a:srgbClr val="616161"/>
                </a:solidFill>
                <a:latin typeface="Tahoma"/>
                <a:cs typeface="Tahoma"/>
              </a:rPr>
              <a:t>Approaches:</a:t>
            </a:r>
            <a:endParaRPr sz="1800">
              <a:latin typeface="Tahoma"/>
              <a:cs typeface="Tahoma"/>
            </a:endParaRPr>
          </a:p>
          <a:p>
            <a:pPr marL="469900" indent="-367030">
              <a:lnSpc>
                <a:spcPct val="100000"/>
              </a:lnSpc>
              <a:spcBef>
                <a:spcPts val="1889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800" b="1" spc="-75" dirty="0">
                <a:solidFill>
                  <a:srgbClr val="616161"/>
                </a:solidFill>
                <a:latin typeface="Tahoma"/>
                <a:cs typeface="Tahoma"/>
              </a:rPr>
              <a:t>Setu</a:t>
            </a:r>
            <a:r>
              <a:rPr sz="1800" b="1" spc="-80" dirty="0">
                <a:solidFill>
                  <a:srgbClr val="616161"/>
                </a:solidFill>
                <a:latin typeface="Tahoma"/>
                <a:cs typeface="Tahoma"/>
              </a:rPr>
              <a:t>p</a:t>
            </a:r>
            <a:r>
              <a:rPr sz="1800" b="1" spc="-55" dirty="0">
                <a:solidFill>
                  <a:srgbClr val="616161"/>
                </a:solidFill>
                <a:latin typeface="Tahoma"/>
                <a:cs typeface="Tahoma"/>
              </a:rPr>
              <a:t> </a:t>
            </a:r>
            <a:r>
              <a:rPr sz="1800" b="1" spc="-60" dirty="0">
                <a:solidFill>
                  <a:srgbClr val="616161"/>
                </a:solidFill>
                <a:latin typeface="Tahoma"/>
                <a:cs typeface="Tahoma"/>
              </a:rPr>
              <a:t>everythin</a:t>
            </a:r>
            <a:r>
              <a:rPr sz="1800" b="1" spc="-65" dirty="0">
                <a:solidFill>
                  <a:srgbClr val="616161"/>
                </a:solidFill>
                <a:latin typeface="Tahoma"/>
                <a:cs typeface="Tahoma"/>
              </a:rPr>
              <a:t>g</a:t>
            </a:r>
            <a:r>
              <a:rPr sz="1800" b="1" spc="-60" dirty="0">
                <a:solidFill>
                  <a:srgbClr val="616161"/>
                </a:solidFill>
                <a:latin typeface="Tahoma"/>
                <a:cs typeface="Tahoma"/>
              </a:rPr>
              <a:t> </a:t>
            </a:r>
            <a:r>
              <a:rPr sz="1800" b="1" spc="-65" dirty="0">
                <a:solidFill>
                  <a:srgbClr val="616161"/>
                </a:solidFill>
                <a:latin typeface="Tahoma"/>
                <a:cs typeface="Tahoma"/>
              </a:rPr>
              <a:t>manually!</a:t>
            </a:r>
            <a:endParaRPr sz="1800">
              <a:latin typeface="Tahoma"/>
              <a:cs typeface="Tahoma"/>
            </a:endParaRPr>
          </a:p>
          <a:p>
            <a:pPr marL="927100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926465" algn="l"/>
                <a:tab pos="927100" algn="l"/>
              </a:tabLst>
            </a:pP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Doe</a:t>
            </a:r>
            <a:r>
              <a:rPr sz="1800" spc="-65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thi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scale?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Clearl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y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no.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8922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How</a:t>
            </a:r>
            <a:r>
              <a:rPr spc="-135" dirty="0"/>
              <a:t> </a:t>
            </a:r>
            <a:r>
              <a:rPr spc="70" dirty="0"/>
              <a:t>do</a:t>
            </a:r>
            <a:r>
              <a:rPr spc="-130" dirty="0"/>
              <a:t> </a:t>
            </a:r>
            <a:r>
              <a:rPr spc="10" dirty="0"/>
              <a:t>we</a:t>
            </a:r>
            <a:r>
              <a:rPr spc="-130" dirty="0"/>
              <a:t> </a:t>
            </a:r>
            <a:r>
              <a:rPr spc="5" dirty="0"/>
              <a:t>deploy</a:t>
            </a:r>
            <a:r>
              <a:rPr spc="-130" dirty="0"/>
              <a:t> </a:t>
            </a:r>
            <a:r>
              <a:rPr spc="-20" dirty="0"/>
              <a:t>our</a:t>
            </a:r>
            <a:r>
              <a:rPr spc="-130" dirty="0"/>
              <a:t> </a:t>
            </a:r>
            <a:r>
              <a:rPr spc="35" dirty="0"/>
              <a:t>Cloud</a:t>
            </a:r>
            <a:r>
              <a:rPr spc="-135" dirty="0"/>
              <a:t> </a:t>
            </a:r>
            <a:r>
              <a:rPr spc="-65" dirty="0"/>
              <a:t>infrastructure?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81606"/>
            <a:ext cx="6411595" cy="2385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75" dirty="0">
                <a:solidFill>
                  <a:srgbClr val="616161"/>
                </a:solidFill>
                <a:latin typeface="Tahoma"/>
                <a:cs typeface="Tahoma"/>
              </a:rPr>
              <a:t>Approaches:</a:t>
            </a:r>
            <a:endParaRPr sz="1800">
              <a:latin typeface="Tahoma"/>
              <a:cs typeface="Tahoma"/>
            </a:endParaRPr>
          </a:p>
          <a:p>
            <a:pPr marL="469900" indent="-367030">
              <a:lnSpc>
                <a:spcPct val="100000"/>
              </a:lnSpc>
              <a:spcBef>
                <a:spcPts val="1889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800" b="1" spc="-75" dirty="0">
                <a:solidFill>
                  <a:srgbClr val="616161"/>
                </a:solidFill>
                <a:latin typeface="Tahoma"/>
                <a:cs typeface="Tahoma"/>
              </a:rPr>
              <a:t>Setu</a:t>
            </a:r>
            <a:r>
              <a:rPr sz="1800" b="1" spc="-80" dirty="0">
                <a:solidFill>
                  <a:srgbClr val="616161"/>
                </a:solidFill>
                <a:latin typeface="Tahoma"/>
                <a:cs typeface="Tahoma"/>
              </a:rPr>
              <a:t>p</a:t>
            </a:r>
            <a:r>
              <a:rPr sz="1800" b="1" spc="-55" dirty="0">
                <a:solidFill>
                  <a:srgbClr val="616161"/>
                </a:solidFill>
                <a:latin typeface="Tahoma"/>
                <a:cs typeface="Tahoma"/>
              </a:rPr>
              <a:t> </a:t>
            </a:r>
            <a:r>
              <a:rPr sz="1800" b="1" spc="-60" dirty="0">
                <a:solidFill>
                  <a:srgbClr val="616161"/>
                </a:solidFill>
                <a:latin typeface="Tahoma"/>
                <a:cs typeface="Tahoma"/>
              </a:rPr>
              <a:t>everythin</a:t>
            </a:r>
            <a:r>
              <a:rPr sz="1800" b="1" spc="-65" dirty="0">
                <a:solidFill>
                  <a:srgbClr val="616161"/>
                </a:solidFill>
                <a:latin typeface="Tahoma"/>
                <a:cs typeface="Tahoma"/>
              </a:rPr>
              <a:t>g</a:t>
            </a:r>
            <a:r>
              <a:rPr sz="1800" b="1" spc="-60" dirty="0">
                <a:solidFill>
                  <a:srgbClr val="616161"/>
                </a:solidFill>
                <a:latin typeface="Tahoma"/>
                <a:cs typeface="Tahoma"/>
              </a:rPr>
              <a:t> </a:t>
            </a:r>
            <a:r>
              <a:rPr sz="1800" b="1" spc="-65" dirty="0">
                <a:solidFill>
                  <a:srgbClr val="616161"/>
                </a:solidFill>
                <a:latin typeface="Tahoma"/>
                <a:cs typeface="Tahoma"/>
              </a:rPr>
              <a:t>manually!</a:t>
            </a:r>
            <a:endParaRPr sz="1800">
              <a:latin typeface="Tahoma"/>
              <a:cs typeface="Tahoma"/>
            </a:endParaRPr>
          </a:p>
          <a:p>
            <a:pPr marL="927100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926465" algn="l"/>
                <a:tab pos="927100" algn="l"/>
              </a:tabLst>
            </a:pP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Doe</a:t>
            </a:r>
            <a:r>
              <a:rPr sz="1800" spc="-65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thi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scale?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Clearl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y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no.</a:t>
            </a:r>
            <a:endParaRPr sz="1800">
              <a:latin typeface="Verdana"/>
              <a:cs typeface="Verdana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800" b="1" spc="-60" dirty="0">
                <a:solidFill>
                  <a:srgbClr val="616161"/>
                </a:solidFill>
                <a:latin typeface="Tahoma"/>
                <a:cs typeface="Tahoma"/>
              </a:rPr>
              <a:t>Custo</a:t>
            </a:r>
            <a:r>
              <a:rPr sz="1800" b="1" spc="-95" dirty="0">
                <a:solidFill>
                  <a:srgbClr val="616161"/>
                </a:solidFill>
                <a:latin typeface="Tahoma"/>
                <a:cs typeface="Tahoma"/>
              </a:rPr>
              <a:t>m</a:t>
            </a:r>
            <a:r>
              <a:rPr sz="1800" b="1" spc="-55" dirty="0">
                <a:solidFill>
                  <a:srgbClr val="616161"/>
                </a:solidFill>
                <a:latin typeface="Tahoma"/>
                <a:cs typeface="Tahoma"/>
              </a:rPr>
              <a:t> </a:t>
            </a:r>
            <a:r>
              <a:rPr sz="1800" b="1" spc="-65" dirty="0">
                <a:solidFill>
                  <a:srgbClr val="616161"/>
                </a:solidFill>
                <a:latin typeface="Tahoma"/>
                <a:cs typeface="Tahoma"/>
              </a:rPr>
              <a:t>scripts</a:t>
            </a:r>
            <a:endParaRPr sz="1800">
              <a:latin typeface="Tahoma"/>
              <a:cs typeface="Tahoma"/>
            </a:endParaRPr>
          </a:p>
          <a:p>
            <a:pPr marL="927100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926465" algn="l"/>
                <a:tab pos="927100" algn="l"/>
              </a:tabLst>
            </a:pP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Us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40" dirty="0">
                <a:solidFill>
                  <a:srgbClr val="616161"/>
                </a:solidFill>
                <a:latin typeface="Verdana"/>
                <a:cs typeface="Verdana"/>
              </a:rPr>
              <a:t>you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r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clou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provider’s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70" dirty="0">
                <a:solidFill>
                  <a:srgbClr val="616161"/>
                </a:solidFill>
                <a:latin typeface="Verdana"/>
                <a:cs typeface="Verdana"/>
              </a:rPr>
              <a:t>AP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I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creat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machines</a:t>
            </a:r>
            <a:endParaRPr sz="1800">
              <a:latin typeface="Verdana"/>
              <a:cs typeface="Verdana"/>
            </a:endParaRPr>
          </a:p>
          <a:p>
            <a:pPr marL="927100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926465" algn="l"/>
                <a:tab pos="927100" algn="l"/>
              </a:tabLst>
            </a:pP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Programmaticall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y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SS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H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Verdana"/>
                <a:cs typeface="Verdana"/>
              </a:rPr>
              <a:t>int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th</a:t>
            </a: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machin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800" spc="-50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tasks</a:t>
            </a:r>
            <a:endParaRPr sz="1800">
              <a:latin typeface="Verdana"/>
              <a:cs typeface="Verdana"/>
            </a:endParaRPr>
          </a:p>
          <a:p>
            <a:pPr marL="927100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926465" algn="l"/>
                <a:tab pos="927100" algn="l"/>
              </a:tabLst>
            </a:pP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Does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this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scale?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5" dirty="0">
                <a:solidFill>
                  <a:srgbClr val="616161"/>
                </a:solidFill>
                <a:latin typeface="Verdana"/>
                <a:cs typeface="Verdana"/>
              </a:rPr>
              <a:t>Maybe...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but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5" dirty="0">
                <a:solidFill>
                  <a:srgbClr val="616161"/>
                </a:solidFill>
                <a:latin typeface="Verdana"/>
                <a:cs typeface="Verdana"/>
              </a:rPr>
              <a:t>why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reinvent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the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wheel?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8922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How</a:t>
            </a:r>
            <a:r>
              <a:rPr spc="-135" dirty="0"/>
              <a:t> </a:t>
            </a:r>
            <a:r>
              <a:rPr spc="70" dirty="0"/>
              <a:t>do</a:t>
            </a:r>
            <a:r>
              <a:rPr spc="-130" dirty="0"/>
              <a:t> </a:t>
            </a:r>
            <a:r>
              <a:rPr spc="10" dirty="0"/>
              <a:t>we</a:t>
            </a:r>
            <a:r>
              <a:rPr spc="-130" dirty="0"/>
              <a:t> </a:t>
            </a:r>
            <a:r>
              <a:rPr spc="5" dirty="0"/>
              <a:t>deploy</a:t>
            </a:r>
            <a:r>
              <a:rPr spc="-130" dirty="0"/>
              <a:t> </a:t>
            </a:r>
            <a:r>
              <a:rPr spc="-20" dirty="0"/>
              <a:t>our</a:t>
            </a:r>
            <a:r>
              <a:rPr spc="-130" dirty="0"/>
              <a:t> </a:t>
            </a:r>
            <a:r>
              <a:rPr spc="35" dirty="0"/>
              <a:t>Cloud</a:t>
            </a:r>
            <a:r>
              <a:rPr spc="-135" dirty="0"/>
              <a:t> </a:t>
            </a:r>
            <a:r>
              <a:rPr spc="-65" dirty="0"/>
              <a:t>infrastructure?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81606"/>
            <a:ext cx="7390130" cy="3642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75" dirty="0">
                <a:solidFill>
                  <a:srgbClr val="616161"/>
                </a:solidFill>
                <a:latin typeface="Tahoma"/>
                <a:cs typeface="Tahoma"/>
              </a:rPr>
              <a:t>Approaches:</a:t>
            </a:r>
            <a:endParaRPr sz="1800">
              <a:latin typeface="Tahoma"/>
              <a:cs typeface="Tahoma"/>
            </a:endParaRPr>
          </a:p>
          <a:p>
            <a:pPr marL="469900" indent="-367030">
              <a:lnSpc>
                <a:spcPct val="100000"/>
              </a:lnSpc>
              <a:spcBef>
                <a:spcPts val="1889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800" b="1" spc="-75" dirty="0">
                <a:solidFill>
                  <a:srgbClr val="616161"/>
                </a:solidFill>
                <a:latin typeface="Tahoma"/>
                <a:cs typeface="Tahoma"/>
              </a:rPr>
              <a:t>Setu</a:t>
            </a:r>
            <a:r>
              <a:rPr sz="1800" b="1" spc="-80" dirty="0">
                <a:solidFill>
                  <a:srgbClr val="616161"/>
                </a:solidFill>
                <a:latin typeface="Tahoma"/>
                <a:cs typeface="Tahoma"/>
              </a:rPr>
              <a:t>p</a:t>
            </a:r>
            <a:r>
              <a:rPr sz="1800" b="1" spc="-55" dirty="0">
                <a:solidFill>
                  <a:srgbClr val="616161"/>
                </a:solidFill>
                <a:latin typeface="Tahoma"/>
                <a:cs typeface="Tahoma"/>
              </a:rPr>
              <a:t> </a:t>
            </a:r>
            <a:r>
              <a:rPr sz="1800" b="1" spc="-60" dirty="0">
                <a:solidFill>
                  <a:srgbClr val="616161"/>
                </a:solidFill>
                <a:latin typeface="Tahoma"/>
                <a:cs typeface="Tahoma"/>
              </a:rPr>
              <a:t>everythin</a:t>
            </a:r>
            <a:r>
              <a:rPr sz="1800" b="1" spc="-65" dirty="0">
                <a:solidFill>
                  <a:srgbClr val="616161"/>
                </a:solidFill>
                <a:latin typeface="Tahoma"/>
                <a:cs typeface="Tahoma"/>
              </a:rPr>
              <a:t>g</a:t>
            </a:r>
            <a:r>
              <a:rPr sz="1800" b="1" spc="-60" dirty="0">
                <a:solidFill>
                  <a:srgbClr val="616161"/>
                </a:solidFill>
                <a:latin typeface="Tahoma"/>
                <a:cs typeface="Tahoma"/>
              </a:rPr>
              <a:t> </a:t>
            </a:r>
            <a:r>
              <a:rPr sz="1800" b="1" spc="-65" dirty="0">
                <a:solidFill>
                  <a:srgbClr val="616161"/>
                </a:solidFill>
                <a:latin typeface="Tahoma"/>
                <a:cs typeface="Tahoma"/>
              </a:rPr>
              <a:t>manually!</a:t>
            </a:r>
            <a:endParaRPr sz="1800">
              <a:latin typeface="Tahoma"/>
              <a:cs typeface="Tahoma"/>
            </a:endParaRPr>
          </a:p>
          <a:p>
            <a:pPr marL="927100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926465" algn="l"/>
                <a:tab pos="927100" algn="l"/>
              </a:tabLst>
            </a:pP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Doe</a:t>
            </a:r>
            <a:r>
              <a:rPr sz="1800" spc="-65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thi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scale?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Clearl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y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no.</a:t>
            </a:r>
            <a:endParaRPr sz="1800">
              <a:latin typeface="Verdana"/>
              <a:cs typeface="Verdana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800" b="1" spc="-60" dirty="0">
                <a:solidFill>
                  <a:srgbClr val="616161"/>
                </a:solidFill>
                <a:latin typeface="Tahoma"/>
                <a:cs typeface="Tahoma"/>
              </a:rPr>
              <a:t>Custo</a:t>
            </a:r>
            <a:r>
              <a:rPr sz="1800" b="1" spc="-95" dirty="0">
                <a:solidFill>
                  <a:srgbClr val="616161"/>
                </a:solidFill>
                <a:latin typeface="Tahoma"/>
                <a:cs typeface="Tahoma"/>
              </a:rPr>
              <a:t>m</a:t>
            </a:r>
            <a:r>
              <a:rPr sz="1800" b="1" spc="-55" dirty="0">
                <a:solidFill>
                  <a:srgbClr val="616161"/>
                </a:solidFill>
                <a:latin typeface="Tahoma"/>
                <a:cs typeface="Tahoma"/>
              </a:rPr>
              <a:t> </a:t>
            </a:r>
            <a:r>
              <a:rPr sz="1800" b="1" spc="-65" dirty="0">
                <a:solidFill>
                  <a:srgbClr val="616161"/>
                </a:solidFill>
                <a:latin typeface="Tahoma"/>
                <a:cs typeface="Tahoma"/>
              </a:rPr>
              <a:t>scripts</a:t>
            </a:r>
            <a:endParaRPr sz="1800">
              <a:latin typeface="Tahoma"/>
              <a:cs typeface="Tahoma"/>
            </a:endParaRPr>
          </a:p>
          <a:p>
            <a:pPr marL="927100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926465" algn="l"/>
                <a:tab pos="927100" algn="l"/>
              </a:tabLst>
            </a:pP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Us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40" dirty="0">
                <a:solidFill>
                  <a:srgbClr val="616161"/>
                </a:solidFill>
                <a:latin typeface="Verdana"/>
                <a:cs typeface="Verdana"/>
              </a:rPr>
              <a:t>you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r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clou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provider’s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70" dirty="0">
                <a:solidFill>
                  <a:srgbClr val="616161"/>
                </a:solidFill>
                <a:latin typeface="Verdana"/>
                <a:cs typeface="Verdana"/>
              </a:rPr>
              <a:t>AP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I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creat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machines</a:t>
            </a:r>
            <a:endParaRPr sz="1800">
              <a:latin typeface="Verdana"/>
              <a:cs typeface="Verdana"/>
            </a:endParaRPr>
          </a:p>
          <a:p>
            <a:pPr marL="927100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926465" algn="l"/>
                <a:tab pos="927100" algn="l"/>
              </a:tabLst>
            </a:pP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Programmaticall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y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SS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H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Verdana"/>
                <a:cs typeface="Verdana"/>
              </a:rPr>
              <a:t>int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th</a:t>
            </a: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machin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800" spc="-50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tasks</a:t>
            </a:r>
            <a:endParaRPr sz="1800">
              <a:latin typeface="Verdana"/>
              <a:cs typeface="Verdana"/>
            </a:endParaRPr>
          </a:p>
          <a:p>
            <a:pPr marL="927100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926465" algn="l"/>
                <a:tab pos="927100" algn="l"/>
              </a:tabLst>
            </a:pP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Does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this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scale?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5" dirty="0">
                <a:solidFill>
                  <a:srgbClr val="616161"/>
                </a:solidFill>
                <a:latin typeface="Verdana"/>
                <a:cs typeface="Verdana"/>
              </a:rPr>
              <a:t>Maybe...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but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5" dirty="0">
                <a:solidFill>
                  <a:srgbClr val="616161"/>
                </a:solidFill>
                <a:latin typeface="Verdana"/>
                <a:cs typeface="Verdana"/>
              </a:rPr>
              <a:t>why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reinvent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the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wheel?</a:t>
            </a:r>
            <a:endParaRPr sz="1800">
              <a:latin typeface="Verdana"/>
              <a:cs typeface="Verdana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800" b="1" spc="-95" dirty="0">
                <a:solidFill>
                  <a:srgbClr val="616161"/>
                </a:solidFill>
                <a:latin typeface="Tahoma"/>
                <a:cs typeface="Tahoma"/>
              </a:rPr>
              <a:t>Infrastructur</a:t>
            </a:r>
            <a:r>
              <a:rPr sz="1800" b="1" spc="-105" dirty="0">
                <a:solidFill>
                  <a:srgbClr val="616161"/>
                </a:solidFill>
                <a:latin typeface="Tahoma"/>
                <a:cs typeface="Tahoma"/>
              </a:rPr>
              <a:t>e</a:t>
            </a:r>
            <a:r>
              <a:rPr sz="1800" b="1" spc="-60" dirty="0">
                <a:solidFill>
                  <a:srgbClr val="616161"/>
                </a:solidFill>
                <a:latin typeface="Tahoma"/>
                <a:cs typeface="Tahoma"/>
              </a:rPr>
              <a:t> </a:t>
            </a:r>
            <a:r>
              <a:rPr sz="1800" b="1" spc="-80" dirty="0">
                <a:solidFill>
                  <a:srgbClr val="616161"/>
                </a:solidFill>
                <a:latin typeface="Tahoma"/>
                <a:cs typeface="Tahoma"/>
              </a:rPr>
              <a:t>a</a:t>
            </a:r>
            <a:r>
              <a:rPr sz="1800" b="1" spc="-65" dirty="0">
                <a:solidFill>
                  <a:srgbClr val="616161"/>
                </a:solidFill>
                <a:latin typeface="Tahoma"/>
                <a:cs typeface="Tahoma"/>
              </a:rPr>
              <a:t>s</a:t>
            </a:r>
            <a:r>
              <a:rPr sz="1800" b="1" spc="-55" dirty="0">
                <a:solidFill>
                  <a:srgbClr val="616161"/>
                </a:solidFill>
                <a:latin typeface="Tahoma"/>
                <a:cs typeface="Tahoma"/>
              </a:rPr>
              <a:t> </a:t>
            </a:r>
            <a:r>
              <a:rPr sz="1800" b="1" spc="-50" dirty="0">
                <a:solidFill>
                  <a:srgbClr val="616161"/>
                </a:solidFill>
                <a:latin typeface="Tahoma"/>
                <a:cs typeface="Tahoma"/>
              </a:rPr>
              <a:t>Code</a:t>
            </a:r>
            <a:endParaRPr sz="1800">
              <a:latin typeface="Tahoma"/>
              <a:cs typeface="Tahoma"/>
            </a:endParaRPr>
          </a:p>
          <a:p>
            <a:pPr marL="927100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926465" algn="l"/>
                <a:tab pos="927100" algn="l"/>
              </a:tabLst>
            </a:pP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Declare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your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infrastructure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setup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in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specific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format</a:t>
            </a:r>
            <a:endParaRPr sz="1800">
              <a:latin typeface="Verdana"/>
              <a:cs typeface="Verdana"/>
            </a:endParaRPr>
          </a:p>
          <a:p>
            <a:pPr marL="927100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926465" algn="l"/>
                <a:tab pos="927100" algn="l"/>
              </a:tabLst>
            </a:pP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Your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60" dirty="0">
                <a:solidFill>
                  <a:srgbClr val="616161"/>
                </a:solidFill>
                <a:latin typeface="Verdana"/>
                <a:cs typeface="Verdana"/>
              </a:rPr>
              <a:t>Ia</a:t>
            </a:r>
            <a:r>
              <a:rPr sz="1800" spc="-215" dirty="0">
                <a:solidFill>
                  <a:srgbClr val="616161"/>
                </a:solidFill>
                <a:latin typeface="Verdana"/>
                <a:cs typeface="Verdana"/>
              </a:rPr>
              <a:t>C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framewor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k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deploys/update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40" dirty="0">
                <a:solidFill>
                  <a:srgbClr val="616161"/>
                </a:solidFill>
                <a:latin typeface="Verdana"/>
                <a:cs typeface="Verdana"/>
              </a:rPr>
              <a:t>you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r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clou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infrastructure!</a:t>
            </a:r>
            <a:endParaRPr sz="1800">
              <a:latin typeface="Verdana"/>
              <a:cs typeface="Verdana"/>
            </a:endParaRPr>
          </a:p>
          <a:p>
            <a:pPr marL="927100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926465" algn="l"/>
                <a:tab pos="927100" algn="l"/>
              </a:tabLst>
            </a:pP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Doe</a:t>
            </a:r>
            <a:r>
              <a:rPr sz="1800" spc="-65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thi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scale?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Yes!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4081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Infrastructure</a:t>
            </a:r>
            <a:r>
              <a:rPr spc="-125" dirty="0"/>
              <a:t> </a:t>
            </a:r>
            <a:r>
              <a:rPr spc="85" dirty="0"/>
              <a:t>as</a:t>
            </a:r>
            <a:r>
              <a:rPr spc="-125" dirty="0"/>
              <a:t> </a:t>
            </a:r>
            <a:r>
              <a:rPr spc="100" dirty="0"/>
              <a:t>Code</a:t>
            </a:r>
            <a:r>
              <a:rPr spc="-125" dirty="0"/>
              <a:t> </a:t>
            </a:r>
            <a:r>
              <a:rPr spc="30" dirty="0"/>
              <a:t>Ideas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8136890" cy="312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Approaches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Verdana"/>
                <a:cs typeface="Verdana"/>
              </a:rPr>
              <a:t>to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“writing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down”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cloud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configuration: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616161"/>
              </a:buClr>
              <a:buFont typeface="Arial MT"/>
              <a:buChar char="●"/>
            </a:pPr>
            <a:endParaRPr sz="2000">
              <a:latin typeface="Verdana"/>
              <a:cs typeface="Verdana"/>
            </a:endParaRPr>
          </a:p>
          <a:p>
            <a:pPr marL="836294" marR="452120" lvl="1" indent="-367030">
              <a:lnSpc>
                <a:spcPct val="114599"/>
              </a:lnSpc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800" b="1" spc="-70" dirty="0">
                <a:solidFill>
                  <a:srgbClr val="616161"/>
                </a:solidFill>
                <a:latin typeface="Tahoma"/>
                <a:cs typeface="Tahoma"/>
              </a:rPr>
              <a:t>Declarative:</a:t>
            </a:r>
            <a:r>
              <a:rPr sz="1800" b="1" spc="-75" dirty="0">
                <a:solidFill>
                  <a:srgbClr val="616161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Define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the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target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state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Verdana"/>
                <a:cs typeface="Verdana"/>
              </a:rPr>
              <a:t>of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your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cloud.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i="1" spc="-100" dirty="0">
                <a:solidFill>
                  <a:srgbClr val="616161"/>
                </a:solidFill>
                <a:latin typeface="Verdana"/>
                <a:cs typeface="Verdana"/>
              </a:rPr>
              <a:t>What</a:t>
            </a:r>
            <a:r>
              <a:rPr sz="1800" i="1" spc="-17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should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the </a:t>
            </a:r>
            <a:r>
              <a:rPr sz="1800" spc="-62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eventua</a:t>
            </a:r>
            <a:r>
              <a:rPr sz="1800" spc="-55" dirty="0">
                <a:solidFill>
                  <a:srgbClr val="616161"/>
                </a:solidFill>
                <a:latin typeface="Verdana"/>
                <a:cs typeface="Verdana"/>
              </a:rPr>
              <a:t>l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clou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deploymen</a:t>
            </a:r>
            <a:r>
              <a:rPr sz="1800" spc="-60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616161"/>
                </a:solidFill>
                <a:latin typeface="Verdana"/>
                <a:cs typeface="Verdana"/>
              </a:rPr>
              <a:t>loo</a:t>
            </a:r>
            <a:r>
              <a:rPr sz="1800" spc="-65" dirty="0">
                <a:solidFill>
                  <a:srgbClr val="616161"/>
                </a:solidFill>
                <a:latin typeface="Verdana"/>
                <a:cs typeface="Verdana"/>
              </a:rPr>
              <a:t>k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like?</a:t>
            </a:r>
            <a:endParaRPr sz="18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616161"/>
              </a:buClr>
              <a:buFont typeface="Arial"/>
              <a:buChar char="○"/>
            </a:pPr>
            <a:endParaRPr sz="2000">
              <a:latin typeface="Verdana"/>
              <a:cs typeface="Verdana"/>
            </a:endParaRPr>
          </a:p>
          <a:p>
            <a:pPr marL="836294" marR="505459" lvl="1" indent="-367030">
              <a:lnSpc>
                <a:spcPct val="114599"/>
              </a:lnSpc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800" b="1" spc="-105" dirty="0">
                <a:solidFill>
                  <a:srgbClr val="616161"/>
                </a:solidFill>
                <a:latin typeface="Tahoma"/>
                <a:cs typeface="Tahoma"/>
              </a:rPr>
              <a:t>Imperative:</a:t>
            </a:r>
            <a:r>
              <a:rPr sz="1800" b="1" spc="-60" dirty="0">
                <a:solidFill>
                  <a:srgbClr val="616161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Define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how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the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configuration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system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should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setup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the </a:t>
            </a:r>
            <a:r>
              <a:rPr sz="1800" spc="-61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cloud.</a:t>
            </a:r>
            <a:r>
              <a:rPr sz="1800" spc="-17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i="1" spc="-55" dirty="0">
                <a:solidFill>
                  <a:srgbClr val="616161"/>
                </a:solidFill>
                <a:latin typeface="Verdana"/>
                <a:cs typeface="Verdana"/>
              </a:rPr>
              <a:t>How</a:t>
            </a:r>
            <a:r>
              <a:rPr sz="1800" i="1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should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the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system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deploy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your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application?</a:t>
            </a:r>
            <a:endParaRPr sz="18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616161"/>
              </a:buClr>
              <a:buFont typeface="Arial"/>
              <a:buChar char="○"/>
            </a:pPr>
            <a:endParaRPr sz="2000">
              <a:latin typeface="Verdana"/>
              <a:cs typeface="Verdana"/>
            </a:endParaRPr>
          </a:p>
          <a:p>
            <a:pPr marL="836294" marR="5080" lvl="1" indent="-367030">
              <a:lnSpc>
                <a:spcPct val="114599"/>
              </a:lnSpc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800" b="1" spc="-75" dirty="0">
                <a:solidFill>
                  <a:srgbClr val="616161"/>
                </a:solidFill>
                <a:latin typeface="Tahoma"/>
                <a:cs typeface="Tahoma"/>
              </a:rPr>
              <a:t>Intelligent:</a:t>
            </a:r>
            <a:r>
              <a:rPr sz="1800" b="1" spc="-10" dirty="0">
                <a:solidFill>
                  <a:srgbClr val="616161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Define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relationships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and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constraints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between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services,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and </a:t>
            </a:r>
            <a:r>
              <a:rPr sz="1800" spc="-61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the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system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616161"/>
                </a:solidFill>
                <a:latin typeface="Verdana"/>
                <a:cs typeface="Verdana"/>
              </a:rPr>
              <a:t>will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figure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out</a:t>
            </a:r>
            <a:r>
              <a:rPr sz="18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i="1" spc="-95" dirty="0">
                <a:solidFill>
                  <a:srgbClr val="616161"/>
                </a:solidFill>
                <a:latin typeface="Verdana"/>
                <a:cs typeface="Verdana"/>
              </a:rPr>
              <a:t>how</a:t>
            </a:r>
            <a:r>
              <a:rPr sz="1800" i="1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and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i="1" spc="-110" dirty="0">
                <a:solidFill>
                  <a:srgbClr val="616161"/>
                </a:solidFill>
                <a:latin typeface="Verdana"/>
                <a:cs typeface="Verdana"/>
              </a:rPr>
              <a:t>what</a:t>
            </a:r>
            <a:r>
              <a:rPr sz="1800" i="1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Verdana"/>
                <a:cs typeface="Verdana"/>
              </a:rPr>
              <a:t>to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update.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4081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Infrastructure</a:t>
            </a:r>
            <a:r>
              <a:rPr spc="-125" dirty="0"/>
              <a:t> </a:t>
            </a:r>
            <a:r>
              <a:rPr spc="85" dirty="0"/>
              <a:t>as</a:t>
            </a:r>
            <a:r>
              <a:rPr spc="-125" dirty="0"/>
              <a:t> </a:t>
            </a:r>
            <a:r>
              <a:rPr spc="100" dirty="0"/>
              <a:t>Code</a:t>
            </a:r>
            <a:r>
              <a:rPr spc="-125" dirty="0"/>
              <a:t> </a:t>
            </a:r>
            <a:r>
              <a:rPr spc="30" dirty="0"/>
              <a:t>Ideas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143115" cy="1557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Approache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o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updatin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g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clou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configuration: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616161"/>
              </a:buClr>
              <a:buFont typeface="Arial MT"/>
              <a:buChar char="●"/>
            </a:pPr>
            <a:endParaRPr sz="2250">
              <a:latin typeface="Verdana"/>
              <a:cs typeface="Verdana"/>
            </a:endParaRPr>
          </a:p>
          <a:p>
            <a:pPr marL="836294" lvl="1" indent="-367030">
              <a:lnSpc>
                <a:spcPct val="100000"/>
              </a:lnSpc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800" b="1" spc="-150" dirty="0">
                <a:solidFill>
                  <a:srgbClr val="616161"/>
                </a:solidFill>
                <a:latin typeface="Tahoma"/>
                <a:cs typeface="Tahoma"/>
              </a:rPr>
              <a:t>Push</a:t>
            </a:r>
            <a:r>
              <a:rPr sz="1800" spc="-150" dirty="0">
                <a:solidFill>
                  <a:srgbClr val="616161"/>
                </a:solidFill>
                <a:latin typeface="Verdana"/>
                <a:cs typeface="Verdana"/>
              </a:rPr>
              <a:t>: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central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server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616161"/>
                </a:solidFill>
                <a:latin typeface="Verdana"/>
                <a:cs typeface="Verdana"/>
              </a:rPr>
              <a:t>tells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child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servers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their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configuration</a:t>
            </a:r>
            <a:endParaRPr sz="18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616161"/>
              </a:buClr>
              <a:buFont typeface="Arial"/>
              <a:buChar char="○"/>
            </a:pPr>
            <a:endParaRPr sz="2250">
              <a:latin typeface="Verdana"/>
              <a:cs typeface="Verdana"/>
            </a:endParaRPr>
          </a:p>
          <a:p>
            <a:pPr marL="836294" lvl="1" indent="-367030">
              <a:lnSpc>
                <a:spcPct val="100000"/>
              </a:lnSpc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800" b="1" spc="-95" dirty="0">
                <a:solidFill>
                  <a:srgbClr val="616161"/>
                </a:solidFill>
                <a:latin typeface="Tahoma"/>
                <a:cs typeface="Tahoma"/>
              </a:rPr>
              <a:t>Pull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: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Child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servers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request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configuration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from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central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server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9" y="1216355"/>
            <a:ext cx="4499610" cy="2909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b="1" spc="-70" dirty="0">
                <a:solidFill>
                  <a:srgbClr val="616161"/>
                </a:solidFill>
                <a:latin typeface="Tahoma"/>
                <a:cs typeface="Tahoma"/>
              </a:rPr>
              <a:t>Ansible</a:t>
            </a:r>
            <a:r>
              <a:rPr sz="1800" b="1" spc="-45" dirty="0">
                <a:solidFill>
                  <a:srgbClr val="616161"/>
                </a:solidFill>
                <a:latin typeface="Tahoma"/>
                <a:cs typeface="Tahoma"/>
              </a:rPr>
              <a:t>:</a:t>
            </a:r>
            <a:r>
              <a:rPr sz="1800" b="1" spc="-40" dirty="0">
                <a:solidFill>
                  <a:srgbClr val="616161"/>
                </a:solidFill>
                <a:latin typeface="Tahoma"/>
                <a:cs typeface="Tahom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Declarative/Imperative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;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5" dirty="0">
                <a:solidFill>
                  <a:srgbClr val="616161"/>
                </a:solidFill>
                <a:latin typeface="Verdana"/>
                <a:cs typeface="Verdana"/>
              </a:rPr>
              <a:t>Push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616161"/>
              </a:buClr>
              <a:buFont typeface="Arial"/>
              <a:buChar char="●"/>
            </a:pPr>
            <a:endParaRPr sz="225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b="1" spc="-100" dirty="0">
                <a:solidFill>
                  <a:srgbClr val="616161"/>
                </a:solidFill>
                <a:latin typeface="Tahoma"/>
                <a:cs typeface="Tahoma"/>
              </a:rPr>
              <a:t>Puppet</a:t>
            </a:r>
            <a:r>
              <a:rPr sz="1800" b="1" spc="-60" dirty="0">
                <a:solidFill>
                  <a:srgbClr val="616161"/>
                </a:solidFill>
                <a:latin typeface="Tahoma"/>
                <a:cs typeface="Tahoma"/>
              </a:rPr>
              <a:t>:</a:t>
            </a:r>
            <a:r>
              <a:rPr sz="1800" b="1" spc="-35" dirty="0">
                <a:solidFill>
                  <a:srgbClr val="616161"/>
                </a:solidFill>
                <a:latin typeface="Tahoma"/>
                <a:cs typeface="Tahom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Declarative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;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Verdana"/>
                <a:cs typeface="Verdana"/>
              </a:rPr>
              <a:t>Pull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616161"/>
              </a:buClr>
              <a:buFont typeface="Arial"/>
              <a:buChar char="●"/>
            </a:pPr>
            <a:endParaRPr sz="225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b="1" spc="-100" dirty="0">
                <a:solidFill>
                  <a:srgbClr val="616161"/>
                </a:solidFill>
                <a:latin typeface="Tahoma"/>
                <a:cs typeface="Tahoma"/>
              </a:rPr>
              <a:t>Chef</a:t>
            </a:r>
            <a:r>
              <a:rPr sz="1800" b="1" spc="-60" dirty="0">
                <a:solidFill>
                  <a:srgbClr val="616161"/>
                </a:solidFill>
                <a:latin typeface="Tahoma"/>
                <a:cs typeface="Tahoma"/>
              </a:rPr>
              <a:t>:</a:t>
            </a:r>
            <a:r>
              <a:rPr sz="1800" b="1" spc="-50" dirty="0">
                <a:solidFill>
                  <a:srgbClr val="616161"/>
                </a:solidFill>
                <a:latin typeface="Tahoma"/>
                <a:cs typeface="Tahoma"/>
              </a:rPr>
              <a:t> </a:t>
            </a:r>
            <a:r>
              <a:rPr sz="1800" spc="-155" dirty="0">
                <a:solidFill>
                  <a:srgbClr val="616161"/>
                </a:solidFill>
                <a:latin typeface="Verdana"/>
                <a:cs typeface="Verdana"/>
              </a:rPr>
              <a:t>Imperative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;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Verdana"/>
                <a:cs typeface="Verdana"/>
              </a:rPr>
              <a:t>Pull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616161"/>
              </a:buClr>
              <a:buFont typeface="Arial"/>
              <a:buChar char="●"/>
            </a:pPr>
            <a:endParaRPr sz="26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b="1" spc="-110" dirty="0">
                <a:solidFill>
                  <a:srgbClr val="616161"/>
                </a:solidFill>
                <a:latin typeface="Tahoma"/>
                <a:cs typeface="Tahoma"/>
              </a:rPr>
              <a:t>Salt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:</a:t>
            </a:r>
            <a:r>
              <a:rPr sz="1800" spc="21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Declarative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616161"/>
              </a:buClr>
              <a:buFont typeface="Arial"/>
              <a:buChar char="●"/>
            </a:pPr>
            <a:endParaRPr sz="26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b="1" spc="-90" dirty="0">
                <a:solidFill>
                  <a:srgbClr val="616161"/>
                </a:solidFill>
                <a:latin typeface="Tahoma"/>
                <a:cs typeface="Tahoma"/>
              </a:rPr>
              <a:t>Terraform</a:t>
            </a:r>
            <a:r>
              <a:rPr sz="1800" b="1" spc="-55" dirty="0">
                <a:solidFill>
                  <a:srgbClr val="616161"/>
                </a:solidFill>
                <a:latin typeface="Tahoma"/>
                <a:cs typeface="Tahoma"/>
              </a:rPr>
              <a:t>:</a:t>
            </a:r>
            <a:r>
              <a:rPr sz="1800" b="1" spc="-75" dirty="0">
                <a:solidFill>
                  <a:srgbClr val="616161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Declarative/Intelligent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;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5" dirty="0">
                <a:solidFill>
                  <a:srgbClr val="616161"/>
                </a:solidFill>
                <a:latin typeface="Verdana"/>
                <a:cs typeface="Verdana"/>
              </a:rPr>
              <a:t>Push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0025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Infrastructure</a:t>
            </a:r>
            <a:r>
              <a:rPr spc="-125" dirty="0"/>
              <a:t> </a:t>
            </a:r>
            <a:r>
              <a:rPr spc="85" dirty="0"/>
              <a:t>as</a:t>
            </a:r>
            <a:r>
              <a:rPr spc="-125" dirty="0"/>
              <a:t> </a:t>
            </a:r>
            <a:r>
              <a:rPr spc="100" dirty="0"/>
              <a:t>Code</a:t>
            </a:r>
            <a:r>
              <a:rPr spc="-125" dirty="0"/>
              <a:t> </a:t>
            </a:r>
            <a:r>
              <a:rPr dirty="0"/>
              <a:t>Solutions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2550" y="477650"/>
            <a:ext cx="1112924" cy="11541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15289" y="1943642"/>
            <a:ext cx="2440854" cy="88299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20609" y="477650"/>
            <a:ext cx="1427026" cy="14484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43692" y="2282228"/>
            <a:ext cx="2296154" cy="131262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90915" y="3987450"/>
            <a:ext cx="3953559" cy="9503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5595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Terraform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915909" cy="2814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Create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b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y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HashiCorp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;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Verdana"/>
                <a:cs typeface="Verdana"/>
              </a:rPr>
              <a:t>Ope</a:t>
            </a:r>
            <a:r>
              <a:rPr sz="1800" spc="-65" dirty="0">
                <a:solidFill>
                  <a:srgbClr val="616161"/>
                </a:solidFill>
                <a:latin typeface="Verdana"/>
                <a:cs typeface="Verdana"/>
              </a:rPr>
              <a:t>n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source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616161"/>
              </a:buClr>
              <a:buFont typeface="Arial MT"/>
              <a:buChar char="●"/>
            </a:pPr>
            <a:endParaRPr sz="225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Clou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Platfor</a:t>
            </a:r>
            <a:r>
              <a:rPr sz="1800" spc="-150" dirty="0">
                <a:solidFill>
                  <a:srgbClr val="616161"/>
                </a:solidFill>
                <a:latin typeface="Verdana"/>
                <a:cs typeface="Verdana"/>
              </a:rPr>
              <a:t>m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Agnostic</a:t>
            </a:r>
            <a:endParaRPr sz="1800">
              <a:latin typeface="Verdana"/>
              <a:cs typeface="Verdana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Support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Verdana"/>
                <a:cs typeface="Verdana"/>
              </a:rPr>
              <a:t>for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AWS,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5" dirty="0">
                <a:solidFill>
                  <a:srgbClr val="616161"/>
                </a:solidFill>
                <a:latin typeface="Verdana"/>
                <a:cs typeface="Verdana"/>
              </a:rPr>
              <a:t>GCP,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45" dirty="0">
                <a:solidFill>
                  <a:srgbClr val="616161"/>
                </a:solidFill>
                <a:latin typeface="Verdana"/>
                <a:cs typeface="Verdana"/>
              </a:rPr>
              <a:t>Azure,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Kubernetes,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Heroku,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and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bunch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more</a:t>
            </a:r>
            <a:endParaRPr sz="18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616161"/>
              </a:buClr>
              <a:buFont typeface="Arial MT"/>
              <a:buChar char="○"/>
            </a:pPr>
            <a:endParaRPr sz="225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Statefu</a:t>
            </a:r>
            <a:r>
              <a:rPr sz="1800" spc="-55" dirty="0">
                <a:solidFill>
                  <a:srgbClr val="616161"/>
                </a:solidFill>
                <a:latin typeface="Verdana"/>
                <a:cs typeface="Verdana"/>
              </a:rPr>
              <a:t>l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an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environmen</a:t>
            </a:r>
            <a:r>
              <a:rPr sz="1800" spc="-70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aware</a:t>
            </a:r>
            <a:endParaRPr sz="1800">
              <a:latin typeface="Verdana"/>
              <a:cs typeface="Verdana"/>
            </a:endParaRPr>
          </a:p>
          <a:p>
            <a:pPr marL="836294" marR="104139" lvl="1" indent="-367030">
              <a:lnSpc>
                <a:spcPct val="114599"/>
              </a:lnSpc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Internal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resource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graph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used</a:t>
            </a:r>
            <a:r>
              <a:rPr sz="1800" spc="-17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Verdana"/>
                <a:cs typeface="Verdana"/>
              </a:rPr>
              <a:t>to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create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cloud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resources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in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the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correct </a:t>
            </a:r>
            <a:r>
              <a:rPr sz="1800" spc="-62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order</a:t>
            </a:r>
            <a:endParaRPr sz="1800">
              <a:latin typeface="Verdana"/>
              <a:cs typeface="Verdana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Internal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state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and</a:t>
            </a:r>
            <a:r>
              <a:rPr sz="1800" spc="-17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configuration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can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be</a:t>
            </a:r>
            <a:r>
              <a:rPr sz="1800" spc="-17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easily</a:t>
            </a:r>
            <a:r>
              <a:rPr sz="1800" spc="-17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version-controlled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0083" y="222512"/>
            <a:ext cx="4258067" cy="10177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1757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Terraform</a:t>
            </a:r>
            <a:r>
              <a:rPr spc="-125" dirty="0"/>
              <a:t> </a:t>
            </a:r>
            <a:r>
              <a:rPr spc="35" dirty="0"/>
              <a:t>Resource</a:t>
            </a:r>
            <a:r>
              <a:rPr spc="-125" dirty="0"/>
              <a:t> </a:t>
            </a:r>
            <a:r>
              <a:rPr dirty="0"/>
              <a:t>Graph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25100"/>
            <a:ext cx="9143999" cy="33198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3025" y="4902801"/>
            <a:ext cx="17360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" dirty="0">
                <a:latin typeface="Arial MT"/>
                <a:cs typeface="Arial MT"/>
              </a:rPr>
              <a:t>https://github.com/hashicorp/terraform/issues/1997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3058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Terraform</a:t>
            </a:r>
            <a:r>
              <a:rPr spc="-125" dirty="0"/>
              <a:t> </a:t>
            </a:r>
            <a:r>
              <a:rPr spc="-45" dirty="0"/>
              <a:t>Definitions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798434" cy="25400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Provider:</a:t>
            </a:r>
            <a:endParaRPr sz="1800">
              <a:latin typeface="Verdana"/>
              <a:cs typeface="Verdana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Interacts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wit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h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clou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servic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(i.e</a:t>
            </a:r>
            <a:r>
              <a:rPr sz="1800" spc="-155" dirty="0">
                <a:solidFill>
                  <a:srgbClr val="616161"/>
                </a:solidFill>
                <a:latin typeface="Verdana"/>
                <a:cs typeface="Verdana"/>
              </a:rPr>
              <a:t>.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55" dirty="0">
                <a:solidFill>
                  <a:srgbClr val="616161"/>
                </a:solidFill>
                <a:latin typeface="Verdana"/>
                <a:cs typeface="Verdana"/>
              </a:rPr>
              <a:t>GCP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,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40" dirty="0">
                <a:solidFill>
                  <a:srgbClr val="616161"/>
                </a:solidFill>
                <a:latin typeface="Verdana"/>
                <a:cs typeface="Verdana"/>
              </a:rPr>
              <a:t>AWS</a:t>
            </a:r>
            <a:r>
              <a:rPr sz="1800" spc="-65" dirty="0">
                <a:solidFill>
                  <a:srgbClr val="616161"/>
                </a:solidFill>
                <a:latin typeface="Verdana"/>
                <a:cs typeface="Verdana"/>
              </a:rPr>
              <a:t>,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55" dirty="0">
                <a:solidFill>
                  <a:srgbClr val="616161"/>
                </a:solidFill>
                <a:latin typeface="Verdana"/>
                <a:cs typeface="Verdana"/>
              </a:rPr>
              <a:t>Azure)</a:t>
            </a:r>
            <a:endParaRPr sz="1800">
              <a:latin typeface="Verdana"/>
              <a:cs typeface="Verdana"/>
            </a:endParaRPr>
          </a:p>
          <a:p>
            <a:pPr marL="836294" marR="5080" lvl="1" indent="-367030">
              <a:lnSpc>
                <a:spcPct val="114599"/>
              </a:lnSpc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Affects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change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in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cloud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service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(i.e.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creating/destroying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resources) </a:t>
            </a:r>
            <a:r>
              <a:rPr sz="1800" spc="-62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usin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g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th</a:t>
            </a: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service’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55" dirty="0">
                <a:solidFill>
                  <a:srgbClr val="616161"/>
                </a:solidFill>
                <a:latin typeface="Verdana"/>
                <a:cs typeface="Verdana"/>
              </a:rPr>
              <a:t>API</a:t>
            </a:r>
            <a:endParaRPr sz="18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616161"/>
              </a:buClr>
              <a:buFont typeface="Arial MT"/>
              <a:buChar char="○"/>
            </a:pPr>
            <a:endParaRPr sz="225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35" dirty="0">
                <a:solidFill>
                  <a:srgbClr val="616161"/>
                </a:solidFill>
                <a:latin typeface="Verdana"/>
                <a:cs typeface="Verdana"/>
              </a:rPr>
              <a:t>Resource:</a:t>
            </a:r>
            <a:endParaRPr sz="1800">
              <a:latin typeface="Verdana"/>
              <a:cs typeface="Verdana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n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infrastructur</a:t>
            </a: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component</a:t>
            </a:r>
            <a:endParaRPr sz="1800">
              <a:latin typeface="Verdana"/>
              <a:cs typeface="Verdana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150" dirty="0">
                <a:solidFill>
                  <a:srgbClr val="616161"/>
                </a:solidFill>
                <a:latin typeface="Verdana"/>
                <a:cs typeface="Verdana"/>
              </a:rPr>
              <a:t>i.e.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VMs,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Networks,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Containers,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Hard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Drives,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Storage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Buckets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9883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Terraform</a:t>
            </a:r>
            <a:r>
              <a:rPr spc="-125" dirty="0"/>
              <a:t> </a:t>
            </a:r>
            <a:r>
              <a:rPr spc="65" dirty="0"/>
              <a:t>Modules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6866890" cy="320548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Terraform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uses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5" dirty="0">
                <a:solidFill>
                  <a:srgbClr val="616161"/>
                </a:solidFill>
                <a:latin typeface="Verdana"/>
                <a:cs typeface="Verdana"/>
              </a:rPr>
              <a:t>*.tf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Verdana"/>
                <a:cs typeface="Verdana"/>
              </a:rPr>
              <a:t>files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Verdana"/>
                <a:cs typeface="Verdana"/>
              </a:rPr>
              <a:t>for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configuration</a:t>
            </a:r>
            <a:endParaRPr sz="18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Commo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n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40" dirty="0">
                <a:solidFill>
                  <a:srgbClr val="616161"/>
                </a:solidFill>
                <a:latin typeface="Verdana"/>
                <a:cs typeface="Verdana"/>
              </a:rPr>
              <a:t>semantics:</a:t>
            </a:r>
            <a:endParaRPr sz="1800">
              <a:latin typeface="Verdana"/>
              <a:cs typeface="Verdana"/>
            </a:endParaRPr>
          </a:p>
          <a:p>
            <a:pPr marL="836294" lvl="1" indent="-367030">
              <a:lnSpc>
                <a:spcPct val="100000"/>
              </a:lnSpc>
              <a:spcBef>
                <a:spcPts val="715"/>
              </a:spcBef>
              <a:buSzPct val="128571"/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variables.tf</a:t>
            </a:r>
            <a:endParaRPr sz="1400">
              <a:latin typeface="Verdana"/>
              <a:cs typeface="Verdana"/>
            </a:endParaRPr>
          </a:p>
          <a:p>
            <a:pPr marL="1293495" lvl="2" indent="-336550">
              <a:lnSpc>
                <a:spcPct val="100000"/>
              </a:lnSpc>
              <a:spcBef>
                <a:spcPts val="409"/>
              </a:spcBef>
              <a:buFont typeface="Arial MT"/>
              <a:buChar char="■"/>
              <a:tabLst>
                <a:tab pos="1293495" algn="l"/>
                <a:tab pos="1294130" algn="l"/>
              </a:tabLst>
            </a:pPr>
            <a:r>
              <a:rPr sz="1400" spc="-30" dirty="0">
                <a:solidFill>
                  <a:srgbClr val="616161"/>
                </a:solidFill>
                <a:latin typeface="Verdana"/>
                <a:cs typeface="Verdana"/>
              </a:rPr>
              <a:t>Hold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variables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that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30" dirty="0">
                <a:solidFill>
                  <a:srgbClr val="616161"/>
                </a:solidFill>
                <a:latin typeface="Verdana"/>
                <a:cs typeface="Verdana"/>
              </a:rPr>
              <a:t>may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change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over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the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616161"/>
                </a:solidFill>
                <a:latin typeface="Verdana"/>
                <a:cs typeface="Verdana"/>
              </a:rPr>
              <a:t>lifetime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Verdana"/>
                <a:cs typeface="Verdana"/>
              </a:rPr>
              <a:t>of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the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configuration</a:t>
            </a:r>
            <a:endParaRPr sz="1400">
              <a:latin typeface="Verdana"/>
              <a:cs typeface="Verdana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Font typeface="Arial MT"/>
              <a:buChar char="■"/>
              <a:tabLst>
                <a:tab pos="1293495" algn="l"/>
                <a:tab pos="1294130" algn="l"/>
              </a:tabLst>
            </a:pPr>
            <a:r>
              <a:rPr sz="1400" spc="-125" dirty="0">
                <a:solidFill>
                  <a:srgbClr val="616161"/>
                </a:solidFill>
                <a:latin typeface="Verdana"/>
                <a:cs typeface="Verdana"/>
              </a:rPr>
              <a:t>i.e</a:t>
            </a:r>
            <a:r>
              <a:rPr sz="1400" spc="-105" dirty="0">
                <a:solidFill>
                  <a:srgbClr val="616161"/>
                </a:solidFill>
                <a:latin typeface="Verdana"/>
                <a:cs typeface="Verdana"/>
              </a:rPr>
              <a:t>.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616161"/>
                </a:solidFill>
                <a:latin typeface="Verdana"/>
                <a:cs typeface="Verdana"/>
              </a:rPr>
              <a:t>Instanc</a:t>
            </a:r>
            <a:r>
              <a:rPr sz="1400" spc="-105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sizing</a:t>
            </a:r>
            <a:r>
              <a:rPr sz="1400" spc="-65" dirty="0">
                <a:solidFill>
                  <a:srgbClr val="616161"/>
                </a:solidFill>
                <a:latin typeface="Verdana"/>
                <a:cs typeface="Verdana"/>
              </a:rPr>
              <a:t>,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database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tabl</a:t>
            </a:r>
            <a:r>
              <a:rPr sz="1400" spc="-65" dirty="0">
                <a:solidFill>
                  <a:srgbClr val="616161"/>
                </a:solidFill>
                <a:latin typeface="Verdana"/>
                <a:cs typeface="Verdana"/>
              </a:rPr>
              <a:t>e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20" dirty="0">
                <a:solidFill>
                  <a:srgbClr val="616161"/>
                </a:solidFill>
                <a:latin typeface="Verdana"/>
                <a:cs typeface="Verdana"/>
              </a:rPr>
              <a:t>names</a:t>
            </a:r>
            <a:r>
              <a:rPr sz="1400" spc="-65" dirty="0">
                <a:solidFill>
                  <a:srgbClr val="616161"/>
                </a:solidFill>
                <a:latin typeface="Verdana"/>
                <a:cs typeface="Verdana"/>
              </a:rPr>
              <a:t>,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616161"/>
                </a:solidFill>
                <a:latin typeface="Verdana"/>
                <a:cs typeface="Verdana"/>
              </a:rPr>
              <a:t>etc.</a:t>
            </a:r>
            <a:endParaRPr sz="1400">
              <a:latin typeface="Verdana"/>
              <a:cs typeface="Verdana"/>
            </a:endParaRPr>
          </a:p>
          <a:p>
            <a:pPr lvl="2">
              <a:lnSpc>
                <a:spcPct val="100000"/>
              </a:lnSpc>
              <a:spcBef>
                <a:spcPts val="30"/>
              </a:spcBef>
              <a:buClr>
                <a:srgbClr val="616161"/>
              </a:buClr>
              <a:buFont typeface="Arial MT"/>
              <a:buChar char="■"/>
            </a:pPr>
            <a:endParaRPr sz="18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main.tf</a:t>
            </a:r>
            <a:endParaRPr sz="1400">
              <a:latin typeface="Verdana"/>
              <a:cs typeface="Verdana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Font typeface="Arial MT"/>
              <a:buChar char="■"/>
              <a:tabLst>
                <a:tab pos="1293495" algn="l"/>
                <a:tab pos="1294130" algn="l"/>
              </a:tabLst>
            </a:pPr>
            <a:r>
              <a:rPr sz="1400" spc="-114" dirty="0">
                <a:solidFill>
                  <a:srgbClr val="616161"/>
                </a:solidFill>
                <a:latin typeface="Verdana"/>
                <a:cs typeface="Verdana"/>
              </a:rPr>
              <a:t>Impor</a:t>
            </a: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t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variables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an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10" dirty="0">
                <a:solidFill>
                  <a:srgbClr val="616161"/>
                </a:solidFill>
                <a:latin typeface="Verdana"/>
                <a:cs typeface="Verdana"/>
              </a:rPr>
              <a:t>an</a:t>
            </a:r>
            <a:r>
              <a:rPr sz="1400" spc="-100" dirty="0">
                <a:solidFill>
                  <a:srgbClr val="616161"/>
                </a:solidFill>
                <a:latin typeface="Verdana"/>
                <a:cs typeface="Verdana"/>
              </a:rPr>
              <a:t>y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necessary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modules.</a:t>
            </a:r>
            <a:endParaRPr sz="1400">
              <a:latin typeface="Verdana"/>
              <a:cs typeface="Verdana"/>
            </a:endParaRPr>
          </a:p>
          <a:p>
            <a:pPr lvl="2">
              <a:lnSpc>
                <a:spcPct val="100000"/>
              </a:lnSpc>
              <a:spcBef>
                <a:spcPts val="35"/>
              </a:spcBef>
              <a:buClr>
                <a:srgbClr val="616161"/>
              </a:buClr>
              <a:buFont typeface="Arial MT"/>
              <a:buChar char="■"/>
            </a:pPr>
            <a:endParaRPr sz="18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Other</a:t>
            </a: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(i.e</a:t>
            </a:r>
            <a:r>
              <a:rPr sz="1400" spc="-120" dirty="0">
                <a:solidFill>
                  <a:srgbClr val="616161"/>
                </a:solidFill>
                <a:latin typeface="Verdana"/>
                <a:cs typeface="Verdana"/>
              </a:rPr>
              <a:t>.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10" dirty="0">
                <a:solidFill>
                  <a:srgbClr val="616161"/>
                </a:solidFill>
                <a:latin typeface="Verdana"/>
                <a:cs typeface="Verdana"/>
              </a:rPr>
              <a:t>ec2.tf)</a:t>
            </a:r>
            <a:endParaRPr sz="1400">
              <a:latin typeface="Verdana"/>
              <a:cs typeface="Verdana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Font typeface="Arial MT"/>
              <a:buChar char="■"/>
              <a:tabLst>
                <a:tab pos="1293495" algn="l"/>
                <a:tab pos="1294130" algn="l"/>
              </a:tabLst>
            </a:pP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Service-specific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configuration</a:t>
            </a:r>
            <a:endParaRPr sz="1400">
              <a:latin typeface="Verdana"/>
              <a:cs typeface="Verdana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Font typeface="Arial MT"/>
              <a:buChar char="■"/>
              <a:tabLst>
                <a:tab pos="1293495" algn="l"/>
                <a:tab pos="1294130" algn="l"/>
              </a:tabLst>
            </a:pP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Usually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10" dirty="0">
                <a:solidFill>
                  <a:srgbClr val="616161"/>
                </a:solidFill>
                <a:latin typeface="Verdana"/>
                <a:cs typeface="Verdana"/>
              </a:rPr>
              <a:t>1-file-per-service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(i.e.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616161"/>
                </a:solidFill>
                <a:latin typeface="Verdana"/>
                <a:cs typeface="Verdana"/>
              </a:rPr>
              <a:t>one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55" dirty="0">
                <a:solidFill>
                  <a:srgbClr val="616161"/>
                </a:solidFill>
                <a:latin typeface="Verdana"/>
                <a:cs typeface="Verdana"/>
              </a:rPr>
              <a:t>for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30" dirty="0">
                <a:solidFill>
                  <a:srgbClr val="616161"/>
                </a:solidFill>
                <a:latin typeface="Verdana"/>
                <a:cs typeface="Verdana"/>
              </a:rPr>
              <a:t>EC2,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and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another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55" dirty="0">
                <a:solidFill>
                  <a:srgbClr val="616161"/>
                </a:solidFill>
                <a:latin typeface="Verdana"/>
                <a:cs typeface="Verdana"/>
              </a:rPr>
              <a:t>for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05" dirty="0">
                <a:solidFill>
                  <a:srgbClr val="616161"/>
                </a:solidFill>
                <a:latin typeface="Verdana"/>
                <a:cs typeface="Verdana"/>
              </a:rPr>
              <a:t>DynamoDB)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6943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Terraform</a:t>
            </a:r>
            <a:r>
              <a:rPr spc="-125" dirty="0"/>
              <a:t> </a:t>
            </a:r>
            <a:r>
              <a:rPr spc="-5" dirty="0"/>
              <a:t>Syntax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447915" cy="1597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Basic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configuration</a:t>
            </a:r>
            <a:r>
              <a:rPr sz="1800" spc="-17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language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that</a:t>
            </a:r>
            <a:r>
              <a:rPr sz="1800" spc="-17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supports</a:t>
            </a:r>
            <a:r>
              <a:rPr sz="1800" spc="-17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some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interpolation,</a:t>
            </a:r>
            <a:r>
              <a:rPr sz="1800" spc="-17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but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is </a:t>
            </a:r>
            <a:r>
              <a:rPr sz="1800" spc="-61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generall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y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declarative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616161"/>
              </a:buClr>
              <a:buFont typeface="Arial MT"/>
              <a:buChar char="●"/>
            </a:pPr>
            <a:endParaRPr sz="225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Useful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Verdana"/>
                <a:cs typeface="Verdana"/>
              </a:rPr>
              <a:t>to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lookup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and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30" dirty="0">
                <a:solidFill>
                  <a:srgbClr val="616161"/>
                </a:solidFill>
                <a:latin typeface="Verdana"/>
                <a:cs typeface="Verdana"/>
              </a:rPr>
              <a:t>use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examples</a:t>
            </a:r>
            <a:endParaRPr sz="1800">
              <a:latin typeface="Verdana"/>
              <a:cs typeface="Verdana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Many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open-source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Terraform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templates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are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available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6943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Terraform</a:t>
            </a:r>
            <a:r>
              <a:rPr spc="-125" dirty="0"/>
              <a:t> </a:t>
            </a:r>
            <a:r>
              <a:rPr spc="-5" dirty="0"/>
              <a:t>Syntax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700" y="1017724"/>
            <a:ext cx="4829883" cy="382097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6943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Terraform</a:t>
            </a:r>
            <a:r>
              <a:rPr spc="-125" dirty="0"/>
              <a:t> </a:t>
            </a:r>
            <a:r>
              <a:rPr spc="-5" dirty="0"/>
              <a:t>Syntax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1700" y="1017724"/>
            <a:ext cx="5111115" cy="3821429"/>
            <a:chOff x="311700" y="1017724"/>
            <a:chExt cx="5111115" cy="38214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700" y="1017724"/>
              <a:ext cx="4829883" cy="38209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43565" y="1424349"/>
              <a:ext cx="1423035" cy="97790"/>
            </a:xfrm>
            <a:custGeom>
              <a:avLst/>
              <a:gdLst/>
              <a:ahLst/>
              <a:cxnLst/>
              <a:rect l="l" t="t" r="r" b="b"/>
              <a:pathLst>
                <a:path w="1423035" h="97790">
                  <a:moveTo>
                    <a:pt x="1422534" y="0"/>
                  </a:moveTo>
                  <a:lnTo>
                    <a:pt x="0" y="97472"/>
                  </a:lnTo>
                </a:path>
              </a:pathLst>
            </a:custGeom>
            <a:ln w="38099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52018" y="1439988"/>
              <a:ext cx="214898" cy="16366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644086" y="3084559"/>
              <a:ext cx="1759585" cy="533400"/>
            </a:xfrm>
            <a:custGeom>
              <a:avLst/>
              <a:gdLst/>
              <a:ahLst/>
              <a:cxnLst/>
              <a:rect l="l" t="t" r="r" b="b"/>
              <a:pathLst>
                <a:path w="1759585" h="533400">
                  <a:moveTo>
                    <a:pt x="1759413" y="532840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9557" y="3005280"/>
              <a:ext cx="221819" cy="15855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895965" y="2684574"/>
              <a:ext cx="1423035" cy="97790"/>
            </a:xfrm>
            <a:custGeom>
              <a:avLst/>
              <a:gdLst/>
              <a:ahLst/>
              <a:cxnLst/>
              <a:rect l="l" t="t" r="r" b="b"/>
              <a:pathLst>
                <a:path w="1423035" h="97789">
                  <a:moveTo>
                    <a:pt x="1422534" y="0"/>
                  </a:moveTo>
                  <a:lnTo>
                    <a:pt x="0" y="97472"/>
                  </a:lnTo>
                </a:path>
              </a:pathLst>
            </a:custGeom>
            <a:ln w="38099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04418" y="2700213"/>
              <a:ext cx="214898" cy="163667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295650" y="1225581"/>
            <a:ext cx="862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Variable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76525" y="3480605"/>
            <a:ext cx="2179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Variable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Interpolation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91525" y="2485806"/>
            <a:ext cx="1003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Resource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6943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Terraform</a:t>
            </a:r>
            <a:r>
              <a:rPr spc="-125" dirty="0"/>
              <a:t> </a:t>
            </a:r>
            <a:r>
              <a:rPr spc="-5" dirty="0"/>
              <a:t>Syntax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7062" y="2814774"/>
            <a:ext cx="4829874" cy="211434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213999" y="2287049"/>
            <a:ext cx="430530" cy="471805"/>
            <a:chOff x="3213999" y="2287049"/>
            <a:chExt cx="430530" cy="471805"/>
          </a:xfrm>
        </p:grpSpPr>
        <p:sp>
          <p:nvSpPr>
            <p:cNvPr id="5" name="object 5"/>
            <p:cNvSpPr/>
            <p:nvPr/>
          </p:nvSpPr>
          <p:spPr>
            <a:xfrm>
              <a:off x="3233049" y="2306099"/>
              <a:ext cx="276225" cy="305435"/>
            </a:xfrm>
            <a:custGeom>
              <a:avLst/>
              <a:gdLst/>
              <a:ahLst/>
              <a:cxnLst/>
              <a:rect l="l" t="t" r="r" b="b"/>
              <a:pathLst>
                <a:path w="276225" h="305435">
                  <a:moveTo>
                    <a:pt x="0" y="0"/>
                  </a:moveTo>
                  <a:lnTo>
                    <a:pt x="276002" y="305318"/>
                  </a:lnTo>
                </a:path>
              </a:pathLst>
            </a:custGeom>
            <a:ln w="38099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43318" y="2550167"/>
              <a:ext cx="200730" cy="2085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312970" y="1669231"/>
            <a:ext cx="1703705" cy="517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Resource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Type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Arial MT"/>
                <a:cs typeface="Arial MT"/>
              </a:rPr>
              <a:t>(Defined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by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Provider)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17021" y="1669231"/>
            <a:ext cx="1676400" cy="517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Resource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Name</a:t>
            </a:r>
            <a:endParaRPr sz="1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Arial MT"/>
                <a:cs typeface="Arial MT"/>
              </a:rPr>
              <a:t>(Defined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by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You)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703464" y="2205099"/>
            <a:ext cx="414020" cy="454659"/>
            <a:chOff x="4703464" y="2205099"/>
            <a:chExt cx="414020" cy="454659"/>
          </a:xfrm>
        </p:grpSpPr>
        <p:sp>
          <p:nvSpPr>
            <p:cNvPr id="10" name="object 10"/>
            <p:cNvSpPr/>
            <p:nvPr/>
          </p:nvSpPr>
          <p:spPr>
            <a:xfrm>
              <a:off x="4838346" y="2224149"/>
              <a:ext cx="260350" cy="288290"/>
            </a:xfrm>
            <a:custGeom>
              <a:avLst/>
              <a:gdLst/>
              <a:ahLst/>
              <a:cxnLst/>
              <a:rect l="l" t="t" r="r" b="b"/>
              <a:pathLst>
                <a:path w="260350" h="288289">
                  <a:moveTo>
                    <a:pt x="259953" y="0"/>
                  </a:moveTo>
                  <a:lnTo>
                    <a:pt x="0" y="288082"/>
                  </a:lnTo>
                </a:path>
              </a:pathLst>
            </a:custGeom>
            <a:ln w="38099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03464" y="2451022"/>
              <a:ext cx="200653" cy="2086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4226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Terraform</a:t>
            </a:r>
            <a:r>
              <a:rPr spc="-125" dirty="0"/>
              <a:t> </a:t>
            </a:r>
            <a:r>
              <a:rPr spc="50" dirty="0"/>
              <a:t>Commands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8108950" cy="27241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terrafor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m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get</a:t>
            </a:r>
            <a:endParaRPr sz="18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-55" dirty="0">
                <a:solidFill>
                  <a:srgbClr val="616161"/>
                </a:solidFill>
                <a:latin typeface="Verdana"/>
                <a:cs typeface="Verdana"/>
              </a:rPr>
              <a:t>Download</a:t>
            </a:r>
            <a:r>
              <a:rPr sz="1400" spc="-45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an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update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45" dirty="0">
                <a:solidFill>
                  <a:srgbClr val="616161"/>
                </a:solidFill>
                <a:latin typeface="Verdana"/>
                <a:cs typeface="Verdana"/>
              </a:rPr>
              <a:t>loca</a:t>
            </a:r>
            <a:r>
              <a:rPr sz="1400" spc="-25" dirty="0">
                <a:solidFill>
                  <a:srgbClr val="616161"/>
                </a:solidFill>
                <a:latin typeface="Verdana"/>
                <a:cs typeface="Verdana"/>
              </a:rPr>
              <a:t>l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terrafor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m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modules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616161"/>
              </a:buClr>
              <a:buFont typeface="Arial MT"/>
              <a:buChar char="○"/>
            </a:pPr>
            <a:endParaRPr sz="18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terrafor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m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plan</a:t>
            </a:r>
            <a:endParaRPr sz="1800">
              <a:latin typeface="Verdana"/>
              <a:cs typeface="Verdana"/>
            </a:endParaRPr>
          </a:p>
          <a:p>
            <a:pPr marL="836294" marR="184785" lvl="1" indent="-336550">
              <a:lnSpc>
                <a:spcPct val="116100"/>
              </a:lnSpc>
              <a:spcBef>
                <a:spcPts val="6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Creates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an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execution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plan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Verdana"/>
                <a:cs typeface="Verdana"/>
              </a:rPr>
              <a:t>to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transform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the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state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in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616161"/>
                </a:solidFill>
                <a:latin typeface="Verdana"/>
                <a:cs typeface="Verdana"/>
              </a:rPr>
              <a:t>your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cloud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Verdana"/>
                <a:cs typeface="Verdana"/>
              </a:rPr>
              <a:t>to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the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state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Verdana"/>
                <a:cs typeface="Verdana"/>
              </a:rPr>
              <a:t>of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616161"/>
                </a:solidFill>
                <a:latin typeface="Verdana"/>
                <a:cs typeface="Verdana"/>
              </a:rPr>
              <a:t>your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current </a:t>
            </a:r>
            <a:r>
              <a:rPr sz="1400" spc="-4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40" dirty="0">
                <a:solidFill>
                  <a:srgbClr val="616161"/>
                </a:solidFill>
                <a:latin typeface="Verdana"/>
                <a:cs typeface="Verdana"/>
              </a:rPr>
              <a:t>local</a:t>
            </a:r>
            <a:r>
              <a:rPr sz="1400" spc="-15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configuration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616161"/>
              </a:buClr>
              <a:buFont typeface="Arial MT"/>
              <a:buChar char="○"/>
            </a:pPr>
            <a:endParaRPr sz="180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spcBef>
                <a:spcPts val="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terrafor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m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apply</a:t>
            </a:r>
            <a:endParaRPr sz="18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Runs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the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execution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Verdana"/>
                <a:cs typeface="Verdana"/>
              </a:rPr>
              <a:t>plan,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616161"/>
                </a:solidFill>
                <a:latin typeface="Verdana"/>
                <a:cs typeface="Verdana"/>
              </a:rPr>
              <a:t>and</a:t>
            </a:r>
            <a:r>
              <a:rPr sz="1400" spc="-14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Verdana"/>
                <a:cs typeface="Verdana"/>
              </a:rPr>
              <a:t>creates/updates/deletes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resources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in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616161"/>
                </a:solidFill>
                <a:latin typeface="Verdana"/>
                <a:cs typeface="Verdana"/>
              </a:rPr>
              <a:t>your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616161"/>
                </a:solidFill>
                <a:latin typeface="Verdana"/>
                <a:cs typeface="Verdana"/>
              </a:rPr>
              <a:t>cloud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as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necessary</a:t>
            </a:r>
            <a:endParaRPr sz="1400">
              <a:latin typeface="Verdana"/>
              <a:cs typeface="Verdana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Can</a:t>
            </a:r>
            <a:r>
              <a:rPr sz="1400" spc="-15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616161"/>
                </a:solidFill>
                <a:latin typeface="Verdana"/>
                <a:cs typeface="Verdana"/>
              </a:rPr>
              <a:t>be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616161"/>
                </a:solidFill>
                <a:latin typeface="Verdana"/>
                <a:cs typeface="Verdana"/>
              </a:rPr>
              <a:t>a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destructive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616161"/>
                </a:solidFill>
                <a:latin typeface="Verdana"/>
                <a:cs typeface="Verdana"/>
              </a:rPr>
              <a:t>action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40" dirty="0">
                <a:solidFill>
                  <a:srgbClr val="616161"/>
                </a:solidFill>
                <a:latin typeface="Verdana"/>
                <a:cs typeface="Verdana"/>
              </a:rPr>
              <a:t>if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616161"/>
                </a:solidFill>
                <a:latin typeface="Verdana"/>
                <a:cs typeface="Verdana"/>
              </a:rPr>
              <a:t>you’re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616161"/>
                </a:solidFill>
                <a:latin typeface="Verdana"/>
                <a:cs typeface="Verdana"/>
              </a:rPr>
              <a:t>not</a:t>
            </a:r>
            <a:r>
              <a:rPr sz="1400" spc="-14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616161"/>
                </a:solidFill>
                <a:latin typeface="Verdana"/>
                <a:cs typeface="Verdana"/>
              </a:rPr>
              <a:t>careful!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3159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Terraform</a:t>
            </a:r>
            <a:r>
              <a:rPr spc="-125" dirty="0"/>
              <a:t> </a:t>
            </a:r>
            <a:r>
              <a:rPr spc="120" dirty="0"/>
              <a:t>Use</a:t>
            </a:r>
            <a:r>
              <a:rPr spc="-125" dirty="0"/>
              <a:t> </a:t>
            </a:r>
            <a:r>
              <a:rPr spc="120" dirty="0"/>
              <a:t>Cases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924800" cy="31686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Complex</a:t>
            </a:r>
            <a:r>
              <a:rPr sz="1800" spc="-70" dirty="0">
                <a:solidFill>
                  <a:srgbClr val="616161"/>
                </a:solidFill>
                <a:latin typeface="Verdana"/>
                <a:cs typeface="Verdana"/>
              </a:rPr>
              <a:t>,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Multi-Tiere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d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Applications</a:t>
            </a:r>
            <a:endParaRPr sz="1800">
              <a:latin typeface="Verdana"/>
              <a:cs typeface="Verdana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Terraform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modules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are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easily</a:t>
            </a:r>
            <a:r>
              <a:rPr sz="1800" spc="-17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composable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into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complex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architectures</a:t>
            </a:r>
            <a:endParaRPr sz="18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616161"/>
              </a:buClr>
              <a:buFont typeface="Arial MT"/>
              <a:buChar char="○"/>
            </a:pPr>
            <a:endParaRPr sz="225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25" dirty="0">
                <a:solidFill>
                  <a:srgbClr val="616161"/>
                </a:solidFill>
                <a:latin typeface="Verdana"/>
                <a:cs typeface="Verdana"/>
              </a:rPr>
              <a:t>Temporar</a:t>
            </a:r>
            <a:r>
              <a:rPr sz="1800" spc="-114" dirty="0">
                <a:solidFill>
                  <a:srgbClr val="616161"/>
                </a:solidFill>
                <a:latin typeface="Verdana"/>
                <a:cs typeface="Verdana"/>
              </a:rPr>
              <a:t>y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Environments</a:t>
            </a:r>
            <a:endParaRPr sz="1800">
              <a:latin typeface="Verdana"/>
              <a:cs typeface="Verdana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Useful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Verdana"/>
                <a:cs typeface="Verdana"/>
              </a:rPr>
              <a:t>for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creating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staging/testing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environments</a:t>
            </a:r>
            <a:endParaRPr sz="1800">
              <a:latin typeface="Verdana"/>
              <a:cs typeface="Verdana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120" dirty="0">
                <a:solidFill>
                  <a:srgbClr val="616161"/>
                </a:solidFill>
                <a:latin typeface="Verdana"/>
                <a:cs typeface="Verdana"/>
              </a:rPr>
              <a:t>Can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create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Verdana"/>
                <a:cs typeface="Verdana"/>
              </a:rPr>
              <a:t>identical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infrastructure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Verdana"/>
                <a:cs typeface="Verdana"/>
              </a:rPr>
              <a:t>setup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Verdana"/>
                <a:cs typeface="Verdana"/>
              </a:rPr>
              <a:t>to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production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environment</a:t>
            </a:r>
            <a:endParaRPr sz="18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616161"/>
              </a:buClr>
              <a:buFont typeface="Arial MT"/>
              <a:buChar char="○"/>
            </a:pPr>
            <a:endParaRPr sz="2250">
              <a:latin typeface="Verdana"/>
              <a:cs typeface="Verdana"/>
            </a:endParaRPr>
          </a:p>
          <a:p>
            <a:pPr marL="379095" indent="-367030">
              <a:lnSpc>
                <a:spcPct val="100000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Deploying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Across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Verdana"/>
                <a:cs typeface="Verdana"/>
              </a:rPr>
              <a:t>Multiple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Cloud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Providers</a:t>
            </a:r>
            <a:endParaRPr sz="1800">
              <a:latin typeface="Verdana"/>
              <a:cs typeface="Verdana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Terrafor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m </a:t>
            </a:r>
            <a:r>
              <a:rPr sz="1800" spc="-55" dirty="0">
                <a:solidFill>
                  <a:srgbClr val="616161"/>
                </a:solidFill>
                <a:latin typeface="Verdana"/>
                <a:cs typeface="Verdana"/>
              </a:rPr>
              <a:t>i</a:t>
            </a:r>
            <a:r>
              <a:rPr sz="1800" spc="-95" dirty="0">
                <a:solidFill>
                  <a:srgbClr val="616161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platfor</a:t>
            </a:r>
            <a:r>
              <a:rPr sz="1800" spc="-150" dirty="0">
                <a:solidFill>
                  <a:srgbClr val="616161"/>
                </a:solidFill>
                <a:latin typeface="Verdana"/>
                <a:cs typeface="Verdana"/>
              </a:rPr>
              <a:t>m</a:t>
            </a:r>
            <a:r>
              <a:rPr sz="1800" spc="-19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agnostic</a:t>
            </a:r>
            <a:endParaRPr sz="1800">
              <a:latin typeface="Verdana"/>
              <a:cs typeface="Verdana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Similar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Verdana"/>
                <a:cs typeface="Verdana"/>
              </a:rPr>
              <a:t>configurations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Verdana"/>
                <a:cs typeface="Verdana"/>
              </a:rPr>
              <a:t>can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be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automatically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Verdana"/>
                <a:cs typeface="Verdana"/>
              </a:rPr>
              <a:t>replicated</a:t>
            </a:r>
            <a:r>
              <a:rPr sz="1800" spc="-185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Verdana"/>
                <a:cs typeface="Verdana"/>
              </a:rPr>
              <a:t>across</a:t>
            </a:r>
            <a:r>
              <a:rPr sz="1800" spc="-180" dirty="0">
                <a:solidFill>
                  <a:srgbClr val="616161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Verdana"/>
                <a:cs typeface="Verdana"/>
              </a:rPr>
              <a:t>clouds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717</Words>
  <Application>Microsoft Office PowerPoint</Application>
  <PresentationFormat>On-screen Show (16:9)</PresentationFormat>
  <Paragraphs>126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Arial MT</vt:lpstr>
      <vt:lpstr>Calibri</vt:lpstr>
      <vt:lpstr>Tahoma</vt:lpstr>
      <vt:lpstr>Trebuchet MS</vt:lpstr>
      <vt:lpstr>Verdana</vt:lpstr>
      <vt:lpstr>Office Theme</vt:lpstr>
      <vt:lpstr>Infrastructure as Code</vt:lpstr>
      <vt:lpstr>Problem Statement</vt:lpstr>
      <vt:lpstr>How do we deploy our Cloud infrastructure?</vt:lpstr>
      <vt:lpstr>How do we deploy our Cloud infrastructure?</vt:lpstr>
      <vt:lpstr>How do we deploy our Cloud infrastructure?</vt:lpstr>
      <vt:lpstr>Infrastructure as Code Ideas</vt:lpstr>
      <vt:lpstr>Infrastructure as Code Ideas</vt:lpstr>
      <vt:lpstr>Infrastructure as Code Solutions</vt:lpstr>
      <vt:lpstr>Terraform</vt:lpstr>
      <vt:lpstr>Terraform Resource Graph</vt:lpstr>
      <vt:lpstr>Terraform Definitions</vt:lpstr>
      <vt:lpstr>Terraform Modules</vt:lpstr>
      <vt:lpstr>Terraform Syntax</vt:lpstr>
      <vt:lpstr>Terraform Syntax</vt:lpstr>
      <vt:lpstr>Terraform Syntax</vt:lpstr>
      <vt:lpstr>Terraform Syntax</vt:lpstr>
      <vt:lpstr>Terraform Commands</vt:lpstr>
      <vt:lpstr>Terraform Use Cases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Trang Nguyen Thuy</cp:lastModifiedBy>
  <cp:revision>3</cp:revision>
  <dcterms:created xsi:type="dcterms:W3CDTF">2024-11-10T16:04:34Z</dcterms:created>
  <dcterms:modified xsi:type="dcterms:W3CDTF">2025-02-09T13:49:36Z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